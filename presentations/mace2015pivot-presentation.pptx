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Default Extension="emf" ContentType="image/x-e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8"/>
  </p:notesMasterIdLst>
  <p:sldIdLst>
    <p:sldId id="321" r:id="rId2"/>
    <p:sldId id="336" r:id="rId3"/>
    <p:sldId id="284" r:id="rId4"/>
    <p:sldId id="277" r:id="rId5"/>
    <p:sldId id="285" r:id="rId6"/>
    <p:sldId id="286" r:id="rId7"/>
    <p:sldId id="287" r:id="rId8"/>
    <p:sldId id="291" r:id="rId9"/>
    <p:sldId id="292" r:id="rId10"/>
    <p:sldId id="295" r:id="rId11"/>
    <p:sldId id="297" r:id="rId12"/>
    <p:sldId id="298" r:id="rId13"/>
    <p:sldId id="421" r:id="rId14"/>
    <p:sldId id="337" r:id="rId15"/>
    <p:sldId id="338" r:id="rId16"/>
    <p:sldId id="340" r:id="rId17"/>
    <p:sldId id="341" r:id="rId18"/>
    <p:sldId id="418" r:id="rId19"/>
    <p:sldId id="306" r:id="rId20"/>
    <p:sldId id="264" r:id="rId21"/>
    <p:sldId id="268" r:id="rId22"/>
    <p:sldId id="272" r:id="rId23"/>
    <p:sldId id="307" r:id="rId24"/>
    <p:sldId id="345" r:id="rId25"/>
    <p:sldId id="348" r:id="rId26"/>
    <p:sldId id="349" r:id="rId27"/>
    <p:sldId id="350" r:id="rId28"/>
    <p:sldId id="352" r:id="rId29"/>
    <p:sldId id="353" r:id="rId30"/>
    <p:sldId id="375" r:id="rId31"/>
    <p:sldId id="376" r:id="rId32"/>
    <p:sldId id="378" r:id="rId33"/>
    <p:sldId id="404" r:id="rId34"/>
    <p:sldId id="383" r:id="rId35"/>
    <p:sldId id="384" r:id="rId36"/>
    <p:sldId id="385" r:id="rId37"/>
    <p:sldId id="389" r:id="rId38"/>
    <p:sldId id="387" r:id="rId39"/>
    <p:sldId id="398" r:id="rId40"/>
    <p:sldId id="399" r:id="rId41"/>
    <p:sldId id="400" r:id="rId42"/>
    <p:sldId id="402" r:id="rId43"/>
    <p:sldId id="408" r:id="rId44"/>
    <p:sldId id="410" r:id="rId45"/>
    <p:sldId id="371" r:id="rId46"/>
    <p:sldId id="411" r:id="rId47"/>
  </p:sldIdLst>
  <p:sldSz cx="9144000" cy="6858000" type="screen4x3"/>
  <p:notesSz cx="6858000" cy="9144000"/>
  <p:defaultTex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on" initials="J" lastIdx="14" clrIdx="0">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23642F"/>
    <a:srgbClr val="2F2364"/>
    <a:srgbClr val="78719B"/>
    <a:srgbClr val="4472C4"/>
    <a:srgbClr val="9DC3E6"/>
    <a:srgbClr val="EAEAEA"/>
    <a:srgbClr val="7C7C7C"/>
    <a:srgbClr val="FFD96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255" autoAdjust="0"/>
    <p:restoredTop sz="69368" autoAdjust="0"/>
  </p:normalViewPr>
  <p:slideViewPr>
    <p:cSldViewPr snapToGrid="0">
      <p:cViewPr varScale="1">
        <p:scale>
          <a:sx n="100" d="100"/>
          <a:sy n="100" d="100"/>
        </p:scale>
        <p:origin x="122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commentAuthors" Target="commentAuthor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6EA8F5-96EA-4C64-9A97-E5CCA0DF1132}" type="datetimeFigureOut">
              <a:rPr lang="en-US" smtClean="0"/>
              <a:t>10/14/15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14202D-1DA8-470D-B47B-7A6843417B4C}" type="slidenum">
              <a:rPr lang="en-US" smtClean="0"/>
              <a:t>‹#›</a:t>
            </a:fld>
            <a:endParaRPr lang="en-US"/>
          </a:p>
        </p:txBody>
      </p:sp>
    </p:spTree>
    <p:extLst>
      <p:ext uri="{BB962C8B-B14F-4D97-AF65-F5344CB8AC3E}">
        <p14:creationId xmlns:p14="http://schemas.microsoft.com/office/powerpoint/2010/main" val="671713980"/>
      </p:ext>
    </p:extLst>
  </p:cSld>
  <p:clrMap bg1="lt1" tx1="dk1" bg2="lt2" tx2="dk2" accent1="accent1" accent2="accent2" accent3="accent3" accent4="accent4" accent5="accent5" accent6="accent6" hlink="hlink" folHlink="folHlink"/>
  <p:notesStyle>
    <a:lvl1pPr marL="0" algn="l" defTabSz="914363" rtl="0" eaLnBrk="1" latinLnBrk="0" hangingPunct="1">
      <a:defRPr sz="1200" kern="1200">
        <a:solidFill>
          <a:schemeClr val="tx1"/>
        </a:solidFill>
        <a:latin typeface="+mn-lt"/>
        <a:ea typeface="+mn-ea"/>
        <a:cs typeface="+mn-cs"/>
      </a:defRPr>
    </a:lvl1pPr>
    <a:lvl2pPr marL="457182" algn="l" defTabSz="914363" rtl="0" eaLnBrk="1" latinLnBrk="0" hangingPunct="1">
      <a:defRPr sz="1200" kern="1200">
        <a:solidFill>
          <a:schemeClr val="tx1"/>
        </a:solidFill>
        <a:latin typeface="+mn-lt"/>
        <a:ea typeface="+mn-ea"/>
        <a:cs typeface="+mn-cs"/>
      </a:defRPr>
    </a:lvl2pPr>
    <a:lvl3pPr marL="914363" algn="l" defTabSz="914363" rtl="0" eaLnBrk="1" latinLnBrk="0" hangingPunct="1">
      <a:defRPr sz="1200" kern="1200">
        <a:solidFill>
          <a:schemeClr val="tx1"/>
        </a:solidFill>
        <a:latin typeface="+mn-lt"/>
        <a:ea typeface="+mn-ea"/>
        <a:cs typeface="+mn-cs"/>
      </a:defRPr>
    </a:lvl3pPr>
    <a:lvl4pPr marL="1371545" algn="l" defTabSz="914363" rtl="0" eaLnBrk="1" latinLnBrk="0" hangingPunct="1">
      <a:defRPr sz="1200" kern="1200">
        <a:solidFill>
          <a:schemeClr val="tx1"/>
        </a:solidFill>
        <a:latin typeface="+mn-lt"/>
        <a:ea typeface="+mn-ea"/>
        <a:cs typeface="+mn-cs"/>
      </a:defRPr>
    </a:lvl4pPr>
    <a:lvl5pPr marL="1828727" algn="l" defTabSz="914363" rtl="0" eaLnBrk="1" latinLnBrk="0" hangingPunct="1">
      <a:defRPr sz="1200" kern="1200">
        <a:solidFill>
          <a:schemeClr val="tx1"/>
        </a:solidFill>
        <a:latin typeface="+mn-lt"/>
        <a:ea typeface="+mn-ea"/>
        <a:cs typeface="+mn-cs"/>
      </a:defRPr>
    </a:lvl5pPr>
    <a:lvl6pPr marL="2285909" algn="l" defTabSz="914363" rtl="0" eaLnBrk="1" latinLnBrk="0" hangingPunct="1">
      <a:defRPr sz="1200" kern="1200">
        <a:solidFill>
          <a:schemeClr val="tx1"/>
        </a:solidFill>
        <a:latin typeface="+mn-lt"/>
        <a:ea typeface="+mn-ea"/>
        <a:cs typeface="+mn-cs"/>
      </a:defRPr>
    </a:lvl6pPr>
    <a:lvl7pPr marL="2743090" algn="l" defTabSz="914363" rtl="0" eaLnBrk="1" latinLnBrk="0" hangingPunct="1">
      <a:defRPr sz="1200" kern="1200">
        <a:solidFill>
          <a:schemeClr val="tx1"/>
        </a:solidFill>
        <a:latin typeface="+mn-lt"/>
        <a:ea typeface="+mn-ea"/>
        <a:cs typeface="+mn-cs"/>
      </a:defRPr>
    </a:lvl7pPr>
    <a:lvl8pPr marL="3200272" algn="l" defTabSz="914363" rtl="0" eaLnBrk="1" latinLnBrk="0" hangingPunct="1">
      <a:defRPr sz="1200" kern="1200">
        <a:solidFill>
          <a:schemeClr val="tx1"/>
        </a:solidFill>
        <a:latin typeface="+mn-lt"/>
        <a:ea typeface="+mn-ea"/>
        <a:cs typeface="+mn-cs"/>
      </a:defRPr>
    </a:lvl8pPr>
    <a:lvl9pPr marL="3657454" algn="l" defTabSz="914363"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Pivot Tracing is joint</a:t>
            </a:r>
            <a:r>
              <a:rPr lang="en-US" baseline="0" dirty="0" smtClean="0"/>
              <a:t> work between Jonathan Mace, Ryan </a:t>
            </a:r>
            <a:r>
              <a:rPr lang="en-US" baseline="0" dirty="0" err="1" smtClean="0"/>
              <a:t>Roelke</a:t>
            </a:r>
            <a:r>
              <a:rPr lang="en-US" baseline="0" dirty="0" smtClean="0"/>
              <a:t>, and Rodrigo Fonseca of Brown University.</a:t>
            </a:r>
          </a:p>
          <a:p>
            <a:endParaRPr lang="en-US" baseline="0" dirty="0" smtClean="0"/>
          </a:p>
          <a:p>
            <a:r>
              <a:rPr lang="en-US" baseline="0" dirty="0" smtClean="0"/>
              <a:t>If you are using these slides, please let me (Jon) know!</a:t>
            </a:r>
          </a:p>
        </p:txBody>
      </p:sp>
      <p:sp>
        <p:nvSpPr>
          <p:cNvPr id="4" name="Slide Number Placeholder 3"/>
          <p:cNvSpPr>
            <a:spLocks noGrp="1"/>
          </p:cNvSpPr>
          <p:nvPr>
            <p:ph type="sldNum" sz="quarter" idx="10"/>
          </p:nvPr>
        </p:nvSpPr>
        <p:spPr/>
        <p:txBody>
          <a:bodyPr/>
          <a:lstStyle/>
          <a:p>
            <a:fld id="{2914202D-1DA8-470D-B47B-7A6843417B4C}" type="slidenum">
              <a:rPr lang="en-US" smtClean="0"/>
              <a:t>1</a:t>
            </a:fld>
            <a:endParaRPr lang="en-US"/>
          </a:p>
        </p:txBody>
      </p:sp>
    </p:spTree>
    <p:extLst>
      <p:ext uri="{BB962C8B-B14F-4D97-AF65-F5344CB8AC3E}">
        <p14:creationId xmlns:p14="http://schemas.microsoft.com/office/powerpoint/2010/main" val="10426137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Pivot Tracing is about dynamically instrumenting live distributed systems to get</a:t>
            </a:r>
            <a:r>
              <a:rPr lang="en-US" baseline="0" dirty="0" smtClean="0"/>
              <a:t> real-time </a:t>
            </a:r>
            <a:r>
              <a:rPr lang="en-US" baseline="0" dirty="0" smtClean="0"/>
              <a:t>statistics where </a:t>
            </a:r>
            <a:r>
              <a:rPr lang="en-US" baseline="0" dirty="0" smtClean="0"/>
              <a:t>we are able to correlate and group events across different processes, machines and applications</a:t>
            </a:r>
            <a:r>
              <a:rPr lang="en-US" baseline="0" dirty="0" smtClean="0"/>
              <a:t>.</a:t>
            </a:r>
          </a:p>
          <a:p>
            <a:endParaRPr lang="en-US" baseline="0" dirty="0" smtClean="0"/>
          </a:p>
          <a:p>
            <a:r>
              <a:rPr lang="en-US" baseline="0" dirty="0" smtClean="0"/>
              <a:t>We begin with </a:t>
            </a:r>
            <a:r>
              <a:rPr lang="en-US" baseline="0" dirty="0" smtClean="0"/>
              <a:t>an example in order to make </a:t>
            </a:r>
            <a:r>
              <a:rPr lang="en-US" baseline="0" dirty="0" smtClean="0"/>
              <a:t>the discussion </a:t>
            </a:r>
            <a:r>
              <a:rPr lang="en-US" baseline="0" dirty="0" smtClean="0"/>
              <a:t>concrete</a:t>
            </a:r>
            <a:r>
              <a:rPr lang="en-US" baseline="0" dirty="0" smtClean="0"/>
              <a:t>.</a:t>
            </a:r>
          </a:p>
          <a:p>
            <a:endParaRPr lang="en-US" baseline="0" dirty="0" smtClean="0"/>
          </a:p>
          <a:p>
            <a:r>
              <a:rPr lang="en-US" baseline="0" dirty="0" smtClean="0"/>
              <a:t>To begin with, imagine you are operating a cluster running the Hadoop stack</a:t>
            </a:r>
            <a:endParaRPr lang="en-US" dirty="0"/>
          </a:p>
        </p:txBody>
      </p:sp>
      <p:sp>
        <p:nvSpPr>
          <p:cNvPr id="4" name="Slide Number Placeholder 3"/>
          <p:cNvSpPr>
            <a:spLocks noGrp="1"/>
          </p:cNvSpPr>
          <p:nvPr>
            <p:ph type="sldNum" sz="quarter" idx="10"/>
          </p:nvPr>
        </p:nvSpPr>
        <p:spPr/>
        <p:txBody>
          <a:bodyPr/>
          <a:lstStyle/>
          <a:p>
            <a:fld id="{2914202D-1DA8-470D-B47B-7A6843417B4C}" type="slidenum">
              <a:rPr lang="en-US" smtClean="0"/>
              <a:t>2</a:t>
            </a:fld>
            <a:endParaRPr lang="en-US"/>
          </a:p>
        </p:txBody>
      </p:sp>
    </p:spTree>
    <p:extLst>
      <p:ext uri="{BB962C8B-B14F-4D97-AF65-F5344CB8AC3E}">
        <p14:creationId xmlns:p14="http://schemas.microsoft.com/office/powerpoint/2010/main" val="40612969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A typical Hadoop deployment might </a:t>
            </a:r>
            <a:r>
              <a:rPr lang="en-US" baseline="0" dirty="0" smtClean="0"/>
              <a:t>comprise:</a:t>
            </a:r>
            <a:endParaRPr lang="en-US" baseline="0" dirty="0" smtClean="0"/>
          </a:p>
          <a:p>
            <a:pPr marL="171450" indent="-171450">
              <a:buFont typeface="Arial" charset="0"/>
              <a:buChar char="•"/>
            </a:pPr>
            <a:r>
              <a:rPr lang="en-US" baseline="0" dirty="0" smtClean="0"/>
              <a:t>HDFS, the </a:t>
            </a:r>
            <a:r>
              <a:rPr lang="en-US" baseline="0" dirty="0" err="1" smtClean="0"/>
              <a:t>hadoop</a:t>
            </a:r>
            <a:r>
              <a:rPr lang="en-US" baseline="0" dirty="0" smtClean="0"/>
              <a:t> distributed file system</a:t>
            </a:r>
          </a:p>
          <a:p>
            <a:pPr marL="171450" indent="-171450">
              <a:buFont typeface="Arial" charset="0"/>
              <a:buChar char="•"/>
            </a:pPr>
            <a:r>
              <a:rPr lang="en-US" baseline="0" dirty="0" err="1" smtClean="0"/>
              <a:t>Hbase</a:t>
            </a:r>
            <a:r>
              <a:rPr lang="en-US" baseline="0" dirty="0" smtClean="0"/>
              <a:t>, a distributed database,</a:t>
            </a:r>
          </a:p>
          <a:p>
            <a:pPr marL="171450" indent="-171450">
              <a:buFont typeface="Arial" charset="0"/>
              <a:buChar char="•"/>
            </a:pPr>
            <a:r>
              <a:rPr lang="en-US" baseline="0" dirty="0" err="1" smtClean="0"/>
              <a:t>MapReduce</a:t>
            </a:r>
            <a:r>
              <a:rPr lang="en-US" baseline="0" dirty="0" smtClean="0"/>
              <a:t>, a data analytics framework</a:t>
            </a:r>
          </a:p>
          <a:p>
            <a:endParaRPr lang="en-US" baseline="0" dirty="0" smtClean="0"/>
          </a:p>
          <a:p>
            <a:r>
              <a:rPr lang="en-US" baseline="0" dirty="0" smtClean="0"/>
              <a:t>Let’s add some users and workloads to the cluster</a:t>
            </a:r>
            <a:endParaRPr lang="en-US" dirty="0"/>
          </a:p>
        </p:txBody>
      </p:sp>
      <p:sp>
        <p:nvSpPr>
          <p:cNvPr id="4" name="Slide Number Placeholder 3"/>
          <p:cNvSpPr>
            <a:spLocks noGrp="1"/>
          </p:cNvSpPr>
          <p:nvPr>
            <p:ph type="sldNum" sz="quarter" idx="10"/>
          </p:nvPr>
        </p:nvSpPr>
        <p:spPr/>
        <p:txBody>
          <a:bodyPr/>
          <a:lstStyle/>
          <a:p>
            <a:fld id="{2914202D-1DA8-470D-B47B-7A6843417B4C}" type="slidenum">
              <a:rPr lang="en-US" smtClean="0"/>
              <a:t>3</a:t>
            </a:fld>
            <a:endParaRPr lang="en-US"/>
          </a:p>
        </p:txBody>
      </p:sp>
    </p:spTree>
    <p:extLst>
      <p:ext uri="{BB962C8B-B14F-4D97-AF65-F5344CB8AC3E}">
        <p14:creationId xmlns:p14="http://schemas.microsoft.com/office/powerpoint/2010/main" val="21018036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Let’s say we </a:t>
            </a:r>
            <a:r>
              <a:rPr lang="en-US" baseline="0" dirty="0" smtClean="0"/>
              <a:t>have:</a:t>
            </a:r>
          </a:p>
          <a:p>
            <a:pPr marL="171450" indent="-171450">
              <a:buFont typeface="Arial" charset="0"/>
              <a:buChar char="•"/>
            </a:pPr>
            <a:r>
              <a:rPr lang="en-US" baseline="0" dirty="0" smtClean="0"/>
              <a:t>Two </a:t>
            </a:r>
            <a:r>
              <a:rPr lang="en-US" baseline="0" dirty="0" smtClean="0"/>
              <a:t>direct clients of HDFS,</a:t>
            </a:r>
          </a:p>
          <a:p>
            <a:pPr marL="171450" indent="-171450">
              <a:buFont typeface="Arial" charset="0"/>
              <a:buChar char="•"/>
            </a:pPr>
            <a:r>
              <a:rPr lang="en-US" baseline="0" dirty="0" smtClean="0"/>
              <a:t>Two </a:t>
            </a:r>
            <a:r>
              <a:rPr lang="en-US" baseline="0" dirty="0" err="1" smtClean="0"/>
              <a:t>Hbase</a:t>
            </a:r>
            <a:r>
              <a:rPr lang="en-US" baseline="0" dirty="0" smtClean="0"/>
              <a:t> clients, indirectly accessing HDFS</a:t>
            </a:r>
          </a:p>
          <a:p>
            <a:pPr marL="171450" indent="-171450">
              <a:buFont typeface="Arial" charset="0"/>
              <a:buChar char="•"/>
            </a:pPr>
            <a:r>
              <a:rPr lang="en-US" baseline="0" dirty="0" smtClean="0"/>
              <a:t>Two </a:t>
            </a:r>
            <a:r>
              <a:rPr lang="en-US" baseline="0" dirty="0" err="1" smtClean="0"/>
              <a:t>MapReduce</a:t>
            </a:r>
            <a:r>
              <a:rPr lang="en-US" baseline="0" dirty="0" smtClean="0"/>
              <a:t> jobs, sorting data that resides in HDFS</a:t>
            </a:r>
          </a:p>
          <a:p>
            <a:endParaRPr lang="en-US" baseline="0" dirty="0" smtClean="0"/>
          </a:p>
          <a:p>
            <a:r>
              <a:rPr lang="en-US" dirty="0" smtClean="0"/>
              <a:t>In this scenario, how might you go about monitoring</a:t>
            </a:r>
            <a:r>
              <a:rPr lang="en-US" baseline="0" dirty="0" smtClean="0"/>
              <a:t> the cluster’s disk usage?</a:t>
            </a:r>
          </a:p>
        </p:txBody>
      </p:sp>
      <p:sp>
        <p:nvSpPr>
          <p:cNvPr id="4" name="Slide Number Placeholder 3"/>
          <p:cNvSpPr>
            <a:spLocks noGrp="1"/>
          </p:cNvSpPr>
          <p:nvPr>
            <p:ph type="sldNum" sz="quarter" idx="10"/>
          </p:nvPr>
        </p:nvSpPr>
        <p:spPr/>
        <p:txBody>
          <a:bodyPr/>
          <a:lstStyle/>
          <a:p>
            <a:fld id="{2914202D-1DA8-470D-B47B-7A6843417B4C}" type="slidenum">
              <a:rPr lang="en-US" smtClean="0"/>
              <a:t>4</a:t>
            </a:fld>
            <a:endParaRPr lang="en-US"/>
          </a:p>
        </p:txBody>
      </p:sp>
    </p:spTree>
    <p:extLst>
      <p:ext uri="{BB962C8B-B14F-4D97-AF65-F5344CB8AC3E}">
        <p14:creationId xmlns:p14="http://schemas.microsoft.com/office/powerpoint/2010/main" val="31845160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US" baseline="0" dirty="0" smtClean="0"/>
              <a:t>HDFS </a:t>
            </a:r>
            <a:r>
              <a:rPr lang="en-US" baseline="0" dirty="0" smtClean="0"/>
              <a:t>is a reasonable place to start because it is our underlying </a:t>
            </a:r>
            <a:r>
              <a:rPr lang="en-US" baseline="0" dirty="0" err="1" smtClean="0"/>
              <a:t>filesystem</a:t>
            </a:r>
            <a:r>
              <a:rPr lang="en-US" baseline="0" dirty="0" smtClean="0"/>
              <a:t>, and it conveniently has </a:t>
            </a:r>
            <a:r>
              <a:rPr lang="en-US" baseline="0" dirty="0" err="1" smtClean="0"/>
              <a:t>DataNodeMetrics</a:t>
            </a:r>
            <a:r>
              <a:rPr lang="en-US" baseline="0" dirty="0" smtClean="0"/>
              <a:t> which track disk (read and write) throughput on each </a:t>
            </a:r>
            <a:r>
              <a:rPr lang="en-US" baseline="0" dirty="0" smtClean="0"/>
              <a:t>machine.</a:t>
            </a:r>
            <a:endParaRPr lang="en-US" baseline="0" dirty="0" smtClean="0"/>
          </a:p>
          <a:p>
            <a:pPr marL="0" marR="0" indent="0" algn="l" defTabSz="914363" rtl="0" eaLnBrk="1" fontAlgn="auto" latinLnBrk="0" hangingPunct="1">
              <a:lnSpc>
                <a:spcPct val="100000"/>
              </a:lnSpc>
              <a:spcBef>
                <a:spcPts val="0"/>
              </a:spcBef>
              <a:spcAft>
                <a:spcPts val="0"/>
              </a:spcAft>
              <a:buClrTx/>
              <a:buSzTx/>
              <a:buFontTx/>
              <a:buNone/>
              <a:tabLst/>
              <a:defRPr/>
            </a:pPr>
            <a:endParaRPr lang="en-US" baseline="0" dirty="0" smtClean="0"/>
          </a:p>
          <a:p>
            <a:r>
              <a:rPr lang="en-US" baseline="0" dirty="0" smtClean="0"/>
              <a:t>If you ran the setup I described, as we did, then you could plot disk throughput over time, grouped by machine, like this</a:t>
            </a:r>
          </a:p>
          <a:p>
            <a:endParaRPr lang="en-US" baseline="0" dirty="0" smtClean="0"/>
          </a:p>
          <a:p>
            <a:endParaRPr lang="en-US" baseline="0" dirty="0" smtClean="0"/>
          </a:p>
        </p:txBody>
      </p:sp>
      <p:sp>
        <p:nvSpPr>
          <p:cNvPr id="4" name="Slide Number Placeholder 3"/>
          <p:cNvSpPr>
            <a:spLocks noGrp="1"/>
          </p:cNvSpPr>
          <p:nvPr>
            <p:ph type="sldNum" sz="quarter" idx="10"/>
          </p:nvPr>
        </p:nvSpPr>
        <p:spPr/>
        <p:txBody>
          <a:bodyPr/>
          <a:lstStyle/>
          <a:p>
            <a:fld id="{2914202D-1DA8-470D-B47B-7A6843417B4C}" type="slidenum">
              <a:rPr lang="en-US" smtClean="0"/>
              <a:t>5</a:t>
            </a:fld>
            <a:endParaRPr lang="en-US"/>
          </a:p>
        </p:txBody>
      </p:sp>
    </p:spTree>
    <p:extLst>
      <p:ext uri="{BB962C8B-B14F-4D97-AF65-F5344CB8AC3E}">
        <p14:creationId xmlns:p14="http://schemas.microsoft.com/office/powerpoint/2010/main" val="34170705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But what if you wanted to attribute</a:t>
            </a:r>
            <a:r>
              <a:rPr lang="en-US" baseline="0" dirty="0" smtClean="0"/>
              <a:t> disk consumption to the </a:t>
            </a:r>
            <a:r>
              <a:rPr lang="en-US" dirty="0" smtClean="0"/>
              <a:t>applications</a:t>
            </a:r>
            <a:r>
              <a:rPr lang="en-US" baseline="0" dirty="0" smtClean="0"/>
              <a:t> sitting on top of HDFS?</a:t>
            </a:r>
          </a:p>
          <a:p>
            <a:endParaRPr lang="en-US" baseline="0" dirty="0" smtClean="0"/>
          </a:p>
          <a:p>
            <a:r>
              <a:rPr lang="en-US" baseline="0" dirty="0" smtClean="0"/>
              <a:t>Well, HDFS doesn’t provide such a grouping, and neither does it report disk consumption statistics back to its clients.</a:t>
            </a:r>
          </a:p>
          <a:p>
            <a:endParaRPr lang="en-US" baseline="0" dirty="0" smtClean="0"/>
          </a:p>
          <a:p>
            <a:r>
              <a:rPr lang="en-US" baseline="0" dirty="0" smtClean="0"/>
              <a:t>However, Pivot Tracing can capture this type of grouping, and we plot the data in this figure, where we can see disk throughput attributed to the applications directly accessing HDFS.</a:t>
            </a:r>
          </a:p>
        </p:txBody>
      </p:sp>
      <p:sp>
        <p:nvSpPr>
          <p:cNvPr id="4" name="Slide Number Placeholder 3"/>
          <p:cNvSpPr>
            <a:spLocks noGrp="1"/>
          </p:cNvSpPr>
          <p:nvPr>
            <p:ph type="sldNum" sz="quarter" idx="10"/>
          </p:nvPr>
        </p:nvSpPr>
        <p:spPr/>
        <p:txBody>
          <a:bodyPr/>
          <a:lstStyle/>
          <a:p>
            <a:fld id="{2914202D-1DA8-470D-B47B-7A6843417B4C}" type="slidenum">
              <a:rPr lang="en-US" smtClean="0"/>
              <a:t>6</a:t>
            </a:fld>
            <a:endParaRPr lang="en-US"/>
          </a:p>
        </p:txBody>
      </p:sp>
    </p:spTree>
    <p:extLst>
      <p:ext uri="{BB962C8B-B14F-4D97-AF65-F5344CB8AC3E}">
        <p14:creationId xmlns:p14="http://schemas.microsoft.com/office/powerpoint/2010/main" val="22242443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Now suppose you are interested in disk throughput grouped by top level client application.</a:t>
            </a:r>
          </a:p>
          <a:p>
            <a:r>
              <a:rPr lang="en-US" dirty="0" smtClean="0"/>
              <a:t>That is</a:t>
            </a:r>
            <a:r>
              <a:rPr lang="en-US" baseline="0" dirty="0" smtClean="0"/>
              <a:t> a particularly useful grouping – it tells you which workloads and users are the ones ultimately consuming the disk.</a:t>
            </a:r>
            <a:endParaRPr lang="en-US" dirty="0" smtClean="0"/>
          </a:p>
          <a:p>
            <a:endParaRPr lang="en-US" dirty="0" smtClean="0"/>
          </a:p>
          <a:p>
            <a:r>
              <a:rPr lang="en-US" dirty="0" smtClean="0"/>
              <a:t>For</a:t>
            </a:r>
            <a:r>
              <a:rPr lang="en-US" baseline="0" dirty="0" smtClean="0"/>
              <a:t> the same reasons as before, HDFS doesn’t provide this metric grouping, because it doesn’t have visibility into any of the other applications running on the cluster.</a:t>
            </a:r>
          </a:p>
          <a:p>
            <a:endParaRPr lang="en-US" baseline="0" dirty="0" smtClean="0"/>
          </a:p>
          <a:p>
            <a:r>
              <a:rPr lang="en-US" baseline="0" dirty="0" smtClean="0"/>
              <a:t>We can query this relation with Pivot Tracing though, and this figure shows the HDFS disk throughput grouped by top-level client application.</a:t>
            </a:r>
          </a:p>
        </p:txBody>
      </p:sp>
      <p:sp>
        <p:nvSpPr>
          <p:cNvPr id="4" name="Slide Number Placeholder 3"/>
          <p:cNvSpPr>
            <a:spLocks noGrp="1"/>
          </p:cNvSpPr>
          <p:nvPr>
            <p:ph type="sldNum" sz="quarter" idx="10"/>
          </p:nvPr>
        </p:nvSpPr>
        <p:spPr/>
        <p:txBody>
          <a:bodyPr/>
          <a:lstStyle/>
          <a:p>
            <a:fld id="{2914202D-1DA8-470D-B47B-7A6843417B4C}" type="slidenum">
              <a:rPr lang="en-US" smtClean="0"/>
              <a:t>7</a:t>
            </a:fld>
            <a:endParaRPr lang="en-US"/>
          </a:p>
        </p:txBody>
      </p:sp>
    </p:spTree>
    <p:extLst>
      <p:ext uri="{BB962C8B-B14F-4D97-AF65-F5344CB8AC3E}">
        <p14:creationId xmlns:p14="http://schemas.microsoft.com/office/powerpoint/2010/main" val="38659919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US" baseline="0" dirty="0" smtClean="0"/>
              <a:t>Now, the original question was about how disk bandwidth was being used across the </a:t>
            </a:r>
            <a:r>
              <a:rPr lang="en-US" b="1" baseline="0" dirty="0" smtClean="0"/>
              <a:t>cluster</a:t>
            </a:r>
            <a:r>
              <a:rPr lang="en-US" baseline="0" dirty="0" smtClean="0"/>
              <a:t>, not just from within HDFS.</a:t>
            </a:r>
          </a:p>
          <a:p>
            <a:pPr marL="0" marR="0" indent="0" algn="l" defTabSz="914363"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363" rtl="0" eaLnBrk="1" fontAlgn="auto" latinLnBrk="0" hangingPunct="1">
              <a:lnSpc>
                <a:spcPct val="100000"/>
              </a:lnSpc>
              <a:spcBef>
                <a:spcPts val="0"/>
              </a:spcBef>
              <a:spcAft>
                <a:spcPts val="0"/>
              </a:spcAft>
              <a:buClrTx/>
              <a:buSzTx/>
              <a:buFontTx/>
              <a:buNone/>
              <a:tabLst/>
              <a:defRPr/>
            </a:pPr>
            <a:r>
              <a:rPr lang="en-US" baseline="0" dirty="0" err="1" smtClean="0"/>
              <a:t>DataNodeMetrics</a:t>
            </a:r>
            <a:r>
              <a:rPr lang="en-US" baseline="0" dirty="0" smtClean="0"/>
              <a:t> will miss, for example, the disk accesses made by </a:t>
            </a:r>
            <a:r>
              <a:rPr lang="en-US" baseline="0" dirty="0" err="1" smtClean="0"/>
              <a:t>MapReduce</a:t>
            </a:r>
            <a:r>
              <a:rPr lang="en-US" baseline="0" dirty="0" smtClean="0"/>
              <a:t> jobs to spill intermediary outputs.</a:t>
            </a:r>
          </a:p>
          <a:p>
            <a:pPr marL="0" marR="0" indent="0" algn="l" defTabSz="914363"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363" rtl="0" eaLnBrk="1" fontAlgn="auto" latinLnBrk="0" hangingPunct="1">
              <a:lnSpc>
                <a:spcPct val="100000"/>
              </a:lnSpc>
              <a:spcBef>
                <a:spcPts val="0"/>
              </a:spcBef>
              <a:spcAft>
                <a:spcPts val="0"/>
              </a:spcAft>
              <a:buClrTx/>
              <a:buSzTx/>
              <a:buFontTx/>
              <a:buNone/>
              <a:tabLst/>
              <a:defRPr/>
            </a:pPr>
            <a:r>
              <a:rPr lang="en-US" baseline="0" dirty="0" smtClean="0"/>
              <a:t>Where else could you get disk metrics?  Well, cluster managers typically expose disk statistics broken down by process.</a:t>
            </a:r>
          </a:p>
          <a:p>
            <a:pPr marL="0" marR="0" indent="0" algn="l" defTabSz="914363" rtl="0" eaLnBrk="1" fontAlgn="auto" latinLnBrk="0" hangingPunct="1">
              <a:lnSpc>
                <a:spcPct val="100000"/>
              </a:lnSpc>
              <a:spcBef>
                <a:spcPts val="0"/>
              </a:spcBef>
              <a:spcAft>
                <a:spcPts val="0"/>
              </a:spcAft>
              <a:buClrTx/>
              <a:buSzTx/>
              <a:buFontTx/>
              <a:buNone/>
              <a:tabLst/>
              <a:defRPr/>
            </a:pPr>
            <a:r>
              <a:rPr lang="en-US" baseline="0" dirty="0" smtClean="0"/>
              <a:t>An equivalent strategy would be to instrument Java’s IO streams within all Java processes to intercept all disk consumption.&lt;click&gt;</a:t>
            </a:r>
          </a:p>
          <a:p>
            <a:pPr marL="0" marR="0" indent="0" algn="l" defTabSz="914363"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363" rtl="0" eaLnBrk="1" fontAlgn="auto" latinLnBrk="0" hangingPunct="1">
              <a:lnSpc>
                <a:spcPct val="100000"/>
              </a:lnSpc>
              <a:spcBef>
                <a:spcPts val="0"/>
              </a:spcBef>
              <a:spcAft>
                <a:spcPts val="0"/>
              </a:spcAft>
              <a:buClrTx/>
              <a:buSzTx/>
              <a:buFontTx/>
              <a:buNone/>
              <a:tabLst/>
              <a:defRPr/>
            </a:pPr>
            <a:r>
              <a:rPr lang="en-US" baseline="0" dirty="0" smtClean="0"/>
              <a:t>In this scenario, you would be able to capture the extra disk consumption made from these three constituent </a:t>
            </a:r>
            <a:r>
              <a:rPr lang="en-US" baseline="0" dirty="0" err="1" smtClean="0"/>
              <a:t>MapReduce</a:t>
            </a:r>
            <a:r>
              <a:rPr lang="en-US" baseline="0" dirty="0" smtClean="0"/>
              <a:t> processes,</a:t>
            </a:r>
          </a:p>
          <a:p>
            <a:pPr marL="0" marR="0" indent="0" algn="l" defTabSz="914363" rtl="0" eaLnBrk="1" fontAlgn="auto" latinLnBrk="0" hangingPunct="1">
              <a:lnSpc>
                <a:spcPct val="100000"/>
              </a:lnSpc>
              <a:spcBef>
                <a:spcPts val="0"/>
              </a:spcBef>
              <a:spcAft>
                <a:spcPts val="0"/>
              </a:spcAft>
              <a:buClrTx/>
              <a:buSzTx/>
              <a:buFontTx/>
              <a:buNone/>
              <a:tabLst/>
              <a:defRPr/>
            </a:pPr>
            <a:r>
              <a:rPr lang="en-US" baseline="0" dirty="0" smtClean="0"/>
              <a:t>But now you lack visibility within the processes</a:t>
            </a:r>
            <a:endParaRPr lang="en-US" dirty="0" smtClean="0"/>
          </a:p>
        </p:txBody>
      </p:sp>
      <p:sp>
        <p:nvSpPr>
          <p:cNvPr id="4" name="Slide Number Placeholder 3"/>
          <p:cNvSpPr>
            <a:spLocks noGrp="1"/>
          </p:cNvSpPr>
          <p:nvPr>
            <p:ph type="sldNum" sz="quarter" idx="10"/>
          </p:nvPr>
        </p:nvSpPr>
        <p:spPr/>
        <p:txBody>
          <a:bodyPr/>
          <a:lstStyle/>
          <a:p>
            <a:fld id="{2914202D-1DA8-470D-B47B-7A6843417B4C}" type="slidenum">
              <a:rPr lang="en-US" smtClean="0"/>
              <a:t>8</a:t>
            </a:fld>
            <a:endParaRPr lang="en-US"/>
          </a:p>
        </p:txBody>
      </p:sp>
    </p:spTree>
    <p:extLst>
      <p:ext uri="{BB962C8B-B14F-4D97-AF65-F5344CB8AC3E}">
        <p14:creationId xmlns:p14="http://schemas.microsoft.com/office/powerpoint/2010/main" val="29440028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Finally, how might you be able to capture all of this disk consumption while still attributing</a:t>
            </a:r>
            <a:r>
              <a:rPr lang="en-US" baseline="0" dirty="0" smtClean="0"/>
              <a:t> it to top-level clients?</a:t>
            </a:r>
          </a:p>
          <a:p>
            <a:endParaRPr lang="en-US" baseline="0" dirty="0" smtClean="0"/>
          </a:p>
          <a:p>
            <a:r>
              <a:rPr lang="en-US" baseline="0" dirty="0" smtClean="0"/>
              <a:t>This figure shows not only which top-level client applications are responsible for disk access, but also from which processes.</a:t>
            </a:r>
          </a:p>
          <a:p>
            <a:pPr marL="0" marR="0" indent="0" algn="l" defTabSz="914363" rtl="0" eaLnBrk="1" fontAlgn="auto" latinLnBrk="0" hangingPunct="1">
              <a:lnSpc>
                <a:spcPct val="100000"/>
              </a:lnSpc>
              <a:spcBef>
                <a:spcPts val="0"/>
              </a:spcBef>
              <a:spcAft>
                <a:spcPts val="0"/>
              </a:spcAft>
              <a:buClrTx/>
              <a:buSzTx/>
              <a:buFontTx/>
              <a:buNone/>
              <a:tabLst/>
              <a:defRPr/>
            </a:pPr>
            <a:r>
              <a:rPr lang="en-US" baseline="0" dirty="0" smtClean="0"/>
              <a:t>In the rest of this talk, I’ll show how Pivot Tracing can obtain and correlate these metrics as well as any others from arbitrary points in the system.</a:t>
            </a:r>
          </a:p>
          <a:p>
            <a:pPr marL="0" marR="0" indent="0" algn="l" defTabSz="914363"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363" rtl="0" eaLnBrk="1" fontAlgn="auto" latinLnBrk="0" hangingPunct="1">
              <a:lnSpc>
                <a:spcPct val="100000"/>
              </a:lnSpc>
              <a:spcBef>
                <a:spcPts val="0"/>
              </a:spcBef>
              <a:spcAft>
                <a:spcPts val="0"/>
              </a:spcAft>
              <a:buClrTx/>
              <a:buSzTx/>
              <a:buFontTx/>
              <a:buNone/>
              <a:tabLst/>
              <a:defRPr/>
            </a:pPr>
            <a:r>
              <a:rPr lang="en-US" baseline="0" dirty="0" smtClean="0"/>
              <a:t>We’ll also come back to this example and I’ll show how we we used Pivot Tracing to uncover a bug in HDFS that was seriously affecting the </a:t>
            </a:r>
            <a:r>
              <a:rPr lang="en-US" baseline="0" dirty="0" err="1" smtClean="0"/>
              <a:t>FSRead</a:t>
            </a:r>
            <a:r>
              <a:rPr lang="en-US" baseline="0" dirty="0" smtClean="0"/>
              <a:t> workload</a:t>
            </a:r>
          </a:p>
          <a:p>
            <a:endParaRPr lang="en-US" baseline="0" dirty="0" smtClean="0"/>
          </a:p>
          <a:p>
            <a:r>
              <a:rPr lang="en-US" baseline="0" dirty="0" smtClean="0"/>
              <a:t>But before that, there are two important reasons why this is hard to do today</a:t>
            </a:r>
          </a:p>
        </p:txBody>
      </p:sp>
      <p:sp>
        <p:nvSpPr>
          <p:cNvPr id="4" name="Slide Number Placeholder 3"/>
          <p:cNvSpPr>
            <a:spLocks noGrp="1"/>
          </p:cNvSpPr>
          <p:nvPr>
            <p:ph type="sldNum" sz="quarter" idx="10"/>
          </p:nvPr>
        </p:nvSpPr>
        <p:spPr/>
        <p:txBody>
          <a:bodyPr/>
          <a:lstStyle/>
          <a:p>
            <a:fld id="{2914202D-1DA8-470D-B47B-7A6843417B4C}" type="slidenum">
              <a:rPr lang="en-US" smtClean="0"/>
              <a:t>9</a:t>
            </a:fld>
            <a:endParaRPr lang="en-US"/>
          </a:p>
        </p:txBody>
      </p:sp>
    </p:spTree>
    <p:extLst>
      <p:ext uri="{BB962C8B-B14F-4D97-AF65-F5344CB8AC3E}">
        <p14:creationId xmlns:p14="http://schemas.microsoft.com/office/powerpoint/2010/main" val="32396828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first reason is that today, logging</a:t>
            </a:r>
            <a:r>
              <a:rPr lang="en-US" baseline="0" dirty="0" smtClean="0"/>
              <a:t> and monitoring tools are incorporated into the system at development time, so we have to decide a priori what to log and monitor.</a:t>
            </a:r>
          </a:p>
          <a:p>
            <a:endParaRPr lang="en-US" baseline="0" dirty="0" smtClean="0"/>
          </a:p>
          <a:p>
            <a:r>
              <a:rPr lang="en-US" baseline="0" dirty="0" smtClean="0"/>
              <a:t>When we encounter problems in a deployed system, the logging and monitoring tools in place often don’t have the right information to diagnose a </a:t>
            </a:r>
            <a:r>
              <a:rPr lang="en-US" baseline="0" dirty="0" smtClean="0"/>
              <a:t>problem.</a:t>
            </a:r>
            <a:endParaRPr lang="en-US" baseline="0" dirty="0" smtClean="0"/>
          </a:p>
          <a:p>
            <a:r>
              <a:rPr lang="en-US" baseline="0" dirty="0" smtClean="0"/>
              <a:t>Simultaneously</a:t>
            </a:r>
            <a:r>
              <a:rPr lang="en-US" baseline="0" dirty="0" smtClean="0"/>
              <a:t>, they probably have a lot of irrelevant information.</a:t>
            </a:r>
          </a:p>
          <a:p>
            <a:endParaRPr lang="en-US" baseline="0" dirty="0" smtClean="0"/>
          </a:p>
          <a:p>
            <a:r>
              <a:rPr lang="en-US" baseline="0" dirty="0" smtClean="0"/>
              <a:t>If the user needs information that the system doesn’t currently report, then they must go back to the developers or patch the software themselves.</a:t>
            </a:r>
          </a:p>
          <a:p>
            <a:r>
              <a:rPr lang="en-US" baseline="0" dirty="0" smtClean="0"/>
              <a:t>We </a:t>
            </a:r>
            <a:r>
              <a:rPr lang="en-US" baseline="0" dirty="0" smtClean="0"/>
              <a:t>have to consider whether it is worth the cost of adding additional instrumentation to solve a problem that most users won’t need?</a:t>
            </a:r>
          </a:p>
          <a:p>
            <a:endParaRPr lang="en-US" baseline="0" dirty="0" smtClean="0"/>
          </a:p>
          <a:p>
            <a:r>
              <a:rPr lang="en-US" baseline="0" dirty="0" smtClean="0"/>
              <a:t>We’ve found ample evidence of </a:t>
            </a:r>
            <a:r>
              <a:rPr lang="en-US" baseline="0" dirty="0" smtClean="0"/>
              <a:t>this </a:t>
            </a:r>
            <a:r>
              <a:rPr lang="en-US" baseline="0" dirty="0" smtClean="0"/>
              <a:t>on </a:t>
            </a:r>
            <a:r>
              <a:rPr lang="en-US" baseline="0" dirty="0" smtClean="0"/>
              <a:t>Apache’s </a:t>
            </a:r>
            <a:r>
              <a:rPr lang="en-US" baseline="0" dirty="0" smtClean="0"/>
              <a:t>issue trackers, where users are requesting additional instrumentation or different breakdowns of information.</a:t>
            </a:r>
          </a:p>
          <a:p>
            <a:endParaRPr lang="en-US" baseline="0" dirty="0" smtClean="0"/>
          </a:p>
          <a:p>
            <a:pPr marL="0" marR="0" indent="0" algn="l" defTabSz="914363" rtl="0" eaLnBrk="1" fontAlgn="auto" latinLnBrk="0" hangingPunct="1">
              <a:lnSpc>
                <a:spcPct val="100000"/>
              </a:lnSpc>
              <a:spcBef>
                <a:spcPts val="0"/>
              </a:spcBef>
              <a:spcAft>
                <a:spcPts val="0"/>
              </a:spcAft>
              <a:buClrTx/>
              <a:buSzTx/>
              <a:buFontTx/>
              <a:buNone/>
              <a:tabLst/>
              <a:defRPr/>
            </a:pPr>
            <a:r>
              <a:rPr lang="en-US" dirty="0" smtClean="0"/>
              <a:t>For example, this</a:t>
            </a:r>
            <a:r>
              <a:rPr lang="en-US" baseline="0" dirty="0" smtClean="0"/>
              <a:t> issue is requesting a simple breakdown of HDFS usage by user and group, similar to what I demonstrated at the </a:t>
            </a:r>
            <a:r>
              <a:rPr lang="en-US" baseline="0" dirty="0" smtClean="0"/>
              <a:t>beginning, </a:t>
            </a:r>
            <a:r>
              <a:rPr lang="en-US" baseline="0" dirty="0" smtClean="0"/>
              <a:t>but remains unresolved after more than a year</a:t>
            </a:r>
          </a:p>
        </p:txBody>
      </p:sp>
      <p:sp>
        <p:nvSpPr>
          <p:cNvPr id="4" name="Slide Number Placeholder 3"/>
          <p:cNvSpPr>
            <a:spLocks noGrp="1"/>
          </p:cNvSpPr>
          <p:nvPr>
            <p:ph type="sldNum" sz="quarter" idx="10"/>
          </p:nvPr>
        </p:nvSpPr>
        <p:spPr/>
        <p:txBody>
          <a:bodyPr/>
          <a:lstStyle/>
          <a:p>
            <a:fld id="{2914202D-1DA8-470D-B47B-7A6843417B4C}" type="slidenum">
              <a:rPr lang="en-US" smtClean="0"/>
              <a:t>10</a:t>
            </a:fld>
            <a:endParaRPr lang="en-US"/>
          </a:p>
        </p:txBody>
      </p:sp>
    </p:spTree>
    <p:extLst>
      <p:ext uri="{BB962C8B-B14F-4D97-AF65-F5344CB8AC3E}">
        <p14:creationId xmlns:p14="http://schemas.microsoft.com/office/powerpoint/2010/main" val="3466243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second reason why this is hard to do today is</a:t>
            </a:r>
            <a:r>
              <a:rPr lang="en-US" baseline="0" dirty="0" smtClean="0"/>
              <a:t> that we often want to correlate information from different services and applications, and there are myriad ways to break down and group even just a single metric.</a:t>
            </a:r>
          </a:p>
          <a:p>
            <a:r>
              <a:rPr lang="en-US" baseline="0" dirty="0" smtClean="0"/>
              <a:t>As we saw, even though disk is fundamental to HDFS, it can’t account for all of the different ways an operator might want to break down and group those metrics.</a:t>
            </a:r>
          </a:p>
          <a:p>
            <a:endParaRPr lang="en-US" dirty="0" smtClean="0"/>
          </a:p>
          <a:p>
            <a:pPr marL="0" marR="0" indent="0" algn="l" defTabSz="914363" rtl="0" eaLnBrk="1" fontAlgn="auto" latinLnBrk="0" hangingPunct="1">
              <a:lnSpc>
                <a:spcPct val="100000"/>
              </a:lnSpc>
              <a:spcBef>
                <a:spcPts val="0"/>
              </a:spcBef>
              <a:spcAft>
                <a:spcPts val="0"/>
              </a:spcAft>
              <a:buClrTx/>
              <a:buSzTx/>
              <a:buFontTx/>
              <a:buNone/>
              <a:tabLst/>
              <a:defRPr/>
            </a:pPr>
            <a:r>
              <a:rPr lang="en-US" dirty="0" smtClean="0"/>
              <a:t>Correlating events across</a:t>
            </a:r>
            <a:r>
              <a:rPr lang="en-US" baseline="0" dirty="0" smtClean="0"/>
              <a:t> multiple systems is especially difficult when systems are designed to compose, because i</a:t>
            </a:r>
            <a:r>
              <a:rPr lang="en-US" dirty="0" smtClean="0"/>
              <a:t>t’s rare that systems embed monitoring that relate to other services</a:t>
            </a:r>
          </a:p>
          <a:p>
            <a:pPr marL="0" marR="0" indent="0" algn="l" defTabSz="914363"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363" rtl="0" eaLnBrk="1" fontAlgn="auto" latinLnBrk="0" hangingPunct="1">
              <a:lnSpc>
                <a:spcPct val="100000"/>
              </a:lnSpc>
              <a:spcBef>
                <a:spcPts val="0"/>
              </a:spcBef>
              <a:spcAft>
                <a:spcPts val="0"/>
              </a:spcAft>
              <a:buClrTx/>
              <a:buSzTx/>
              <a:buFontTx/>
              <a:buNone/>
              <a:tabLst/>
              <a:defRPr/>
            </a:pPr>
            <a:r>
              <a:rPr lang="en-US" baseline="0" dirty="0" smtClean="0"/>
              <a:t>Consider Netflix’s </a:t>
            </a:r>
            <a:r>
              <a:rPr lang="en-US" baseline="0" dirty="0" err="1" smtClean="0"/>
              <a:t>microservices</a:t>
            </a:r>
            <a:r>
              <a:rPr lang="en-US" baseline="0" dirty="0" smtClean="0"/>
              <a:t> “death star</a:t>
            </a:r>
            <a:r>
              <a:rPr lang="en-US" baseline="0" dirty="0" smtClean="0"/>
              <a:t>”:</a:t>
            </a:r>
            <a:endParaRPr lang="en-US" baseline="0" dirty="0" smtClean="0"/>
          </a:p>
          <a:p>
            <a:pPr marL="171450" marR="0" indent="-171450" algn="l" defTabSz="914363" rtl="0" eaLnBrk="1" fontAlgn="auto" latinLnBrk="0" hangingPunct="1">
              <a:lnSpc>
                <a:spcPct val="100000"/>
              </a:lnSpc>
              <a:spcBef>
                <a:spcPts val="0"/>
              </a:spcBef>
              <a:spcAft>
                <a:spcPts val="0"/>
              </a:spcAft>
              <a:buClrTx/>
              <a:buSzTx/>
              <a:buFont typeface="Arial" charset="0"/>
              <a:buChar char="•"/>
              <a:tabLst/>
              <a:defRPr/>
            </a:pPr>
            <a:r>
              <a:rPr lang="en-US" baseline="0" dirty="0" smtClean="0"/>
              <a:t>The </a:t>
            </a:r>
            <a:r>
              <a:rPr lang="en-US" baseline="0" dirty="0" smtClean="0"/>
              <a:t>global configuration is constantly changing</a:t>
            </a:r>
          </a:p>
          <a:p>
            <a:pPr marL="171450" indent="-171450">
              <a:buFont typeface="Arial" charset="0"/>
              <a:buChar char="•"/>
            </a:pPr>
            <a:r>
              <a:rPr lang="en-US" baseline="0" dirty="0" smtClean="0"/>
              <a:t>Dependencies aren’t going to be known in advance,</a:t>
            </a:r>
          </a:p>
          <a:p>
            <a:pPr marL="171450" indent="-171450">
              <a:buFont typeface="Arial" charset="0"/>
              <a:buChar char="•"/>
            </a:pPr>
            <a:r>
              <a:rPr lang="en-US" baseline="0" dirty="0" smtClean="0"/>
              <a:t>Neither </a:t>
            </a:r>
            <a:r>
              <a:rPr lang="en-US" baseline="0" dirty="0" smtClean="0"/>
              <a:t>are the questions asked by users and operators</a:t>
            </a:r>
          </a:p>
        </p:txBody>
      </p:sp>
      <p:sp>
        <p:nvSpPr>
          <p:cNvPr id="4" name="Slide Number Placeholder 3"/>
          <p:cNvSpPr>
            <a:spLocks noGrp="1"/>
          </p:cNvSpPr>
          <p:nvPr>
            <p:ph type="sldNum" sz="quarter" idx="10"/>
          </p:nvPr>
        </p:nvSpPr>
        <p:spPr/>
        <p:txBody>
          <a:bodyPr/>
          <a:lstStyle/>
          <a:p>
            <a:fld id="{AAD4D5AE-91A4-BE4E-B7FC-F1521B88728F}" type="slidenum">
              <a:rPr lang="en-US" smtClean="0"/>
              <a:pPr/>
              <a:t>11</a:t>
            </a:fld>
            <a:endParaRPr lang="en-US"/>
          </a:p>
        </p:txBody>
      </p:sp>
    </p:spTree>
    <p:extLst>
      <p:ext uri="{BB962C8B-B14F-4D97-AF65-F5344CB8AC3E}">
        <p14:creationId xmlns:p14="http://schemas.microsoft.com/office/powerpoint/2010/main" val="20202282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Pivot Tracing addresses both of these challenges by combining two key techniques</a:t>
            </a:r>
          </a:p>
          <a:p>
            <a:endParaRPr lang="en-US" dirty="0" smtClean="0"/>
          </a:p>
          <a:p>
            <a:r>
              <a:rPr lang="en-US" dirty="0" smtClean="0"/>
              <a:t>We use dynamic instrumentation so that we can defer until</a:t>
            </a:r>
            <a:r>
              <a:rPr lang="en-US" baseline="0" dirty="0" smtClean="0"/>
              <a:t> runtime our choice about </a:t>
            </a:r>
            <a:r>
              <a:rPr lang="en-US" i="1" baseline="0" dirty="0" smtClean="0"/>
              <a:t>what</a:t>
            </a:r>
            <a:r>
              <a:rPr lang="en-US" i="0" baseline="0" dirty="0" smtClean="0"/>
              <a:t> to monitor</a:t>
            </a:r>
          </a:p>
          <a:p>
            <a:endParaRPr lang="en-US" i="0" baseline="0" dirty="0" smtClean="0"/>
          </a:p>
          <a:p>
            <a:r>
              <a:rPr lang="en-US" i="0" baseline="0" dirty="0" smtClean="0"/>
              <a:t>And we use techniques from causal tracing so that we can correlate events from different points in the system at runtime</a:t>
            </a:r>
          </a:p>
        </p:txBody>
      </p:sp>
      <p:sp>
        <p:nvSpPr>
          <p:cNvPr id="4" name="Slide Number Placeholder 3"/>
          <p:cNvSpPr>
            <a:spLocks noGrp="1"/>
          </p:cNvSpPr>
          <p:nvPr>
            <p:ph type="sldNum" sz="quarter" idx="10"/>
          </p:nvPr>
        </p:nvSpPr>
        <p:spPr/>
        <p:txBody>
          <a:bodyPr/>
          <a:lstStyle/>
          <a:p>
            <a:fld id="{2914202D-1DA8-470D-B47B-7A6843417B4C}" type="slidenum">
              <a:rPr lang="en-US" smtClean="0"/>
              <a:t>12</a:t>
            </a:fld>
            <a:endParaRPr lang="en-US"/>
          </a:p>
        </p:txBody>
      </p:sp>
    </p:spTree>
    <p:extLst>
      <p:ext uri="{BB962C8B-B14F-4D97-AF65-F5344CB8AC3E}">
        <p14:creationId xmlns:p14="http://schemas.microsoft.com/office/powerpoint/2010/main" val="3863300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US" baseline="0" dirty="0" smtClean="0"/>
              <a:t>A natural way to expose these two features is to first model system events as the tuples of a streaming, distributed data set, over which we </a:t>
            </a:r>
            <a:r>
              <a:rPr lang="en-US" baseline="0" dirty="0" smtClean="0"/>
              <a:t>can </a:t>
            </a:r>
            <a:r>
              <a:rPr lang="en-US" b="1" baseline="0" dirty="0" smtClean="0"/>
              <a:t>dynamically</a:t>
            </a:r>
            <a:r>
              <a:rPr lang="en-US" b="0" baseline="0" dirty="0" smtClean="0"/>
              <a:t> evaluate relational queries</a:t>
            </a:r>
          </a:p>
          <a:p>
            <a:pPr marL="0" marR="0" indent="0" algn="l" defTabSz="914363" rtl="0" eaLnBrk="1" fontAlgn="auto" latinLnBrk="0" hangingPunct="1">
              <a:lnSpc>
                <a:spcPct val="100000"/>
              </a:lnSpc>
              <a:spcBef>
                <a:spcPts val="0"/>
              </a:spcBef>
              <a:spcAft>
                <a:spcPts val="0"/>
              </a:spcAft>
              <a:buClrTx/>
              <a:buSzTx/>
              <a:buFontTx/>
              <a:buNone/>
              <a:tabLst/>
              <a:defRPr/>
            </a:pPr>
            <a:endParaRPr lang="en-US" b="0" baseline="0" dirty="0" smtClean="0"/>
          </a:p>
          <a:p>
            <a:r>
              <a:rPr lang="en-US" baseline="0" dirty="0" smtClean="0"/>
              <a:t>Second, in order to express causality, we introduce the happened-before join operator, which joins tuples based on </a:t>
            </a:r>
            <a:r>
              <a:rPr lang="en-US" baseline="0" dirty="0" err="1" smtClean="0"/>
              <a:t>lamport’s</a:t>
            </a:r>
            <a:r>
              <a:rPr lang="en-US" baseline="0" dirty="0" smtClean="0"/>
              <a:t> happened-before relation</a:t>
            </a:r>
          </a:p>
          <a:p>
            <a:r>
              <a:rPr lang="en-US" baseline="0" dirty="0" smtClean="0"/>
              <a:t>With the happened-before join we’re subsequently able to to group and filter events based on properties of any events that causally precede them in an execution.</a:t>
            </a:r>
          </a:p>
          <a:p>
            <a:endParaRPr lang="en-US" baseline="0" dirty="0" smtClean="0"/>
          </a:p>
          <a:p>
            <a:r>
              <a:rPr lang="en-US" dirty="0" smtClean="0"/>
              <a:t>While these are general concepts</a:t>
            </a:r>
            <a:r>
              <a:rPr lang="en-US" baseline="0" dirty="0" smtClean="0"/>
              <a:t> that can apply to any distributed systems, for concreteness I’ll be presenting Pivot Tracing in the context of our Java prototype and the Hadoop stack.</a:t>
            </a:r>
            <a:endParaRPr lang="en-US" dirty="0"/>
          </a:p>
        </p:txBody>
      </p:sp>
      <p:sp>
        <p:nvSpPr>
          <p:cNvPr id="4" name="Slide Number Placeholder 3"/>
          <p:cNvSpPr>
            <a:spLocks noGrp="1"/>
          </p:cNvSpPr>
          <p:nvPr>
            <p:ph type="sldNum" sz="quarter" idx="10"/>
          </p:nvPr>
        </p:nvSpPr>
        <p:spPr/>
        <p:txBody>
          <a:bodyPr/>
          <a:lstStyle/>
          <a:p>
            <a:fld id="{2914202D-1DA8-470D-B47B-7A6843417B4C}" type="slidenum">
              <a:rPr lang="en-US" smtClean="0"/>
              <a:t>13</a:t>
            </a:fld>
            <a:endParaRPr lang="en-US"/>
          </a:p>
        </p:txBody>
      </p:sp>
    </p:spTree>
    <p:extLst>
      <p:ext uri="{BB962C8B-B14F-4D97-AF65-F5344CB8AC3E}">
        <p14:creationId xmlns:p14="http://schemas.microsoft.com/office/powerpoint/2010/main" val="6771101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914202D-1DA8-470D-B47B-7A6843417B4C}" type="slidenum">
              <a:rPr lang="en-US" smtClean="0"/>
              <a:t>14</a:t>
            </a:fld>
            <a:endParaRPr lang="en-US"/>
          </a:p>
        </p:txBody>
      </p:sp>
    </p:spTree>
    <p:extLst>
      <p:ext uri="{BB962C8B-B14F-4D97-AF65-F5344CB8AC3E}">
        <p14:creationId xmlns:p14="http://schemas.microsoft.com/office/powerpoint/2010/main" val="21498841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In our previous Hadoop example we were looking at </a:t>
            </a:r>
            <a:r>
              <a:rPr lang="en-US" baseline="0" dirty="0" err="1" smtClean="0"/>
              <a:t>DataNodeMetrics</a:t>
            </a:r>
            <a:r>
              <a:rPr lang="en-US" baseline="0" dirty="0" smtClean="0"/>
              <a:t> in HDFS,</a:t>
            </a:r>
          </a:p>
          <a:p>
            <a:endParaRPr lang="en-US" baseline="0" dirty="0" smtClean="0"/>
          </a:p>
          <a:p>
            <a:r>
              <a:rPr lang="en-US" baseline="0" dirty="0" smtClean="0"/>
              <a:t>Then we view each literal invocation of this </a:t>
            </a:r>
            <a:r>
              <a:rPr lang="en-US" baseline="0" dirty="0" smtClean="0"/>
              <a:t>“</a:t>
            </a:r>
            <a:r>
              <a:rPr lang="en-US" baseline="0" dirty="0" err="1" smtClean="0"/>
              <a:t>incrementBytesRead</a:t>
            </a:r>
            <a:r>
              <a:rPr lang="en-US" baseline="0" dirty="0" smtClean="0"/>
              <a:t>” function as a tuple containing features of the event, </a:t>
            </a:r>
            <a:r>
              <a:rPr lang="en-US" baseline="0" dirty="0" smtClean="0"/>
              <a:t>e.g.,</a:t>
            </a:r>
          </a:p>
          <a:p>
            <a:pPr marL="171450" indent="-171450">
              <a:buFont typeface="Arial" charset="0"/>
              <a:buChar char="•"/>
            </a:pPr>
            <a:r>
              <a:rPr lang="en-US" baseline="0" dirty="0" smtClean="0"/>
              <a:t>the </a:t>
            </a:r>
            <a:r>
              <a:rPr lang="en-US" baseline="0" dirty="0" smtClean="0"/>
              <a:t>name of the function invoked, </a:t>
            </a:r>
            <a:endParaRPr lang="en-US" baseline="0" dirty="0" smtClean="0"/>
          </a:p>
          <a:p>
            <a:pPr marL="171450" indent="-171450">
              <a:buFont typeface="Arial" charset="0"/>
              <a:buChar char="•"/>
            </a:pPr>
            <a:r>
              <a:rPr lang="en-US" baseline="0" dirty="0" smtClean="0"/>
              <a:t>the </a:t>
            </a:r>
            <a:r>
              <a:rPr lang="en-US" baseline="0" dirty="0" smtClean="0"/>
              <a:t>values of local or global variables at that point In time</a:t>
            </a:r>
            <a:r>
              <a:rPr lang="en-US" baseline="0" dirty="0" smtClean="0"/>
              <a:t>,</a:t>
            </a:r>
          </a:p>
          <a:p>
            <a:pPr marL="171450" indent="-171450">
              <a:buFont typeface="Arial" charset="0"/>
              <a:buChar char="•"/>
            </a:pPr>
            <a:r>
              <a:rPr lang="en-US" baseline="0" dirty="0" smtClean="0"/>
              <a:t>the </a:t>
            </a:r>
            <a:r>
              <a:rPr lang="en-US" baseline="0" dirty="0" smtClean="0"/>
              <a:t>hostname of the machine, </a:t>
            </a:r>
            <a:endParaRPr lang="en-US" baseline="0" dirty="0" smtClean="0"/>
          </a:p>
          <a:p>
            <a:pPr marL="171450" indent="-171450">
              <a:buFont typeface="Arial" charset="0"/>
              <a:buChar char="•"/>
            </a:pPr>
            <a:r>
              <a:rPr lang="en-US" baseline="0" dirty="0" smtClean="0"/>
              <a:t>a timestamp</a:t>
            </a:r>
          </a:p>
          <a:p>
            <a:r>
              <a:rPr lang="en-US" baseline="0" dirty="0" smtClean="0"/>
              <a:t>In </a:t>
            </a:r>
            <a:r>
              <a:rPr lang="en-US" baseline="0" dirty="0" smtClean="0"/>
              <a:t>the tuple shown here, for example, we </a:t>
            </a:r>
            <a:r>
              <a:rPr lang="en-US" baseline="0" dirty="0" smtClean="0"/>
              <a:t>have the </a:t>
            </a:r>
            <a:r>
              <a:rPr lang="en-US" baseline="0" dirty="0" smtClean="0"/>
              <a:t>value “Hop01” for host and the value 10 for delta</a:t>
            </a:r>
          </a:p>
          <a:p>
            <a:endParaRPr lang="en-US" baseline="0" dirty="0" smtClean="0"/>
          </a:p>
          <a:p>
            <a:r>
              <a:rPr lang="en-US" baseline="0" dirty="0" smtClean="0"/>
              <a:t>As an example of how Pivot Tracing expresses relational queries over this dataset, t</a:t>
            </a:r>
            <a:r>
              <a:rPr lang="en-US" dirty="0" smtClean="0"/>
              <a:t>he very first figure </a:t>
            </a:r>
            <a:r>
              <a:rPr lang="en-US" dirty="0" smtClean="0"/>
              <a:t>in this</a:t>
            </a:r>
            <a:r>
              <a:rPr lang="en-US" baseline="0" dirty="0" smtClean="0"/>
              <a:t> presentation --</a:t>
            </a:r>
            <a:r>
              <a:rPr lang="en-US" dirty="0" smtClean="0"/>
              <a:t> </a:t>
            </a:r>
            <a:r>
              <a:rPr lang="en-US" dirty="0" smtClean="0"/>
              <a:t>plotting disk throughput</a:t>
            </a:r>
            <a:r>
              <a:rPr lang="en-US" baseline="0" dirty="0" smtClean="0"/>
              <a:t> by </a:t>
            </a:r>
            <a:r>
              <a:rPr lang="en-US" baseline="0" dirty="0" smtClean="0"/>
              <a:t>host -- </a:t>
            </a:r>
            <a:r>
              <a:rPr lang="en-US" baseline="0" dirty="0" smtClean="0"/>
              <a:t>can be expressed as this query</a:t>
            </a:r>
          </a:p>
          <a:p>
            <a:endParaRPr lang="en-US" baseline="0" dirty="0" smtClean="0"/>
          </a:p>
          <a:p>
            <a:r>
              <a:rPr lang="en-US" baseline="0" dirty="0" smtClean="0"/>
              <a:t>This </a:t>
            </a:r>
            <a:r>
              <a:rPr lang="en-US" baseline="0" dirty="0" smtClean="0"/>
              <a:t>query:</a:t>
            </a:r>
          </a:p>
          <a:p>
            <a:pPr marL="171450" indent="-171450">
              <a:buFont typeface="Arial" charset="0"/>
              <a:buChar char="•"/>
            </a:pPr>
            <a:r>
              <a:rPr lang="en-US" baseline="0" dirty="0" smtClean="0"/>
              <a:t>Takes the </a:t>
            </a:r>
            <a:r>
              <a:rPr lang="en-US" baseline="0" dirty="0" smtClean="0"/>
              <a:t>tuples produced by the increment bytes read </a:t>
            </a:r>
            <a:r>
              <a:rPr lang="en-US" baseline="0" dirty="0" smtClean="0"/>
              <a:t>function</a:t>
            </a:r>
            <a:endParaRPr lang="en-US" baseline="0" dirty="0" smtClean="0"/>
          </a:p>
          <a:p>
            <a:pPr marL="171450" indent="-171450">
              <a:buFont typeface="Arial" charset="0"/>
              <a:buChar char="•"/>
            </a:pPr>
            <a:r>
              <a:rPr lang="en-US" baseline="0" dirty="0" smtClean="0"/>
              <a:t>Groups them by </a:t>
            </a:r>
            <a:r>
              <a:rPr lang="en-US" baseline="0" dirty="0" smtClean="0"/>
              <a:t>hostname</a:t>
            </a:r>
            <a:endParaRPr lang="en-US" baseline="0" dirty="0" smtClean="0"/>
          </a:p>
          <a:p>
            <a:pPr marL="171450" indent="-171450">
              <a:buFont typeface="Arial" charset="0"/>
              <a:buChar char="•"/>
            </a:pPr>
            <a:r>
              <a:rPr lang="en-US" baseline="0" dirty="0" smtClean="0"/>
              <a:t>And Outputs the sum of the delta variable for each group</a:t>
            </a:r>
          </a:p>
          <a:p>
            <a:endParaRPr lang="en-US" dirty="0" smtClean="0"/>
          </a:p>
          <a:p>
            <a:r>
              <a:rPr lang="en-US" dirty="0" smtClean="0"/>
              <a:t>We use the term </a:t>
            </a:r>
            <a:r>
              <a:rPr lang="en-US" i="1" dirty="0" err="1" smtClean="0"/>
              <a:t>tracepoints</a:t>
            </a:r>
            <a:r>
              <a:rPr lang="en-US" dirty="0" smtClean="0"/>
              <a:t> to refer to these places in the code where </a:t>
            </a:r>
            <a:r>
              <a:rPr lang="en-US" dirty="0" err="1" smtClean="0"/>
              <a:t>PivotTracing</a:t>
            </a:r>
            <a:r>
              <a:rPr lang="en-US" dirty="0" smtClean="0"/>
              <a:t> can add instrumentation</a:t>
            </a:r>
          </a:p>
          <a:p>
            <a:r>
              <a:rPr lang="en-US" dirty="0" smtClean="0"/>
              <a:t>A </a:t>
            </a:r>
            <a:r>
              <a:rPr lang="en-US" dirty="0" err="1" smtClean="0"/>
              <a:t>tracepoint</a:t>
            </a:r>
            <a:r>
              <a:rPr lang="en-US" dirty="0" smtClean="0"/>
              <a:t> specifies,</a:t>
            </a:r>
            <a:r>
              <a:rPr lang="en-US" baseline="0" dirty="0" smtClean="0"/>
              <a:t> for example, a class and method signature, like aspect oriented programming, and has several variables that queries can refer </a:t>
            </a:r>
            <a:r>
              <a:rPr lang="en-US" baseline="0" dirty="0" smtClean="0"/>
              <a:t>to</a:t>
            </a:r>
            <a:endParaRPr lang="en-US" dirty="0" smtClean="0"/>
          </a:p>
          <a:p>
            <a:endParaRPr lang="en-US" baseline="0" dirty="0"/>
          </a:p>
        </p:txBody>
      </p:sp>
      <p:sp>
        <p:nvSpPr>
          <p:cNvPr id="4" name="Slide Number Placeholder 3"/>
          <p:cNvSpPr>
            <a:spLocks noGrp="1"/>
          </p:cNvSpPr>
          <p:nvPr>
            <p:ph type="sldNum" sz="quarter" idx="10"/>
          </p:nvPr>
        </p:nvSpPr>
        <p:spPr/>
        <p:txBody>
          <a:bodyPr/>
          <a:lstStyle/>
          <a:p>
            <a:fld id="{79AB24F9-AB45-4E31-870F-94F4990D8FAE}" type="slidenum">
              <a:rPr lang="en-US" smtClean="0"/>
              <a:t>15</a:t>
            </a:fld>
            <a:endParaRPr lang="en-US"/>
          </a:p>
        </p:txBody>
      </p:sp>
    </p:spTree>
    <p:extLst>
      <p:ext uri="{BB962C8B-B14F-4D97-AF65-F5344CB8AC3E}">
        <p14:creationId xmlns:p14="http://schemas.microsoft.com/office/powerpoint/2010/main" val="31335313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Key</a:t>
            </a:r>
            <a:r>
              <a:rPr lang="en-US" baseline="0" dirty="0" smtClean="0"/>
              <a:t> to Pivot Tracing is the ability to correlate with events that occur elsewhere across the system -- for example, we saw the same graph grouped by client application.</a:t>
            </a:r>
          </a:p>
          <a:p>
            <a:endParaRPr lang="en-US" baseline="0" dirty="0" smtClean="0"/>
          </a:p>
          <a:p>
            <a:r>
              <a:rPr lang="en-US" baseline="0" dirty="0" smtClean="0"/>
              <a:t>In </a:t>
            </a:r>
            <a:r>
              <a:rPr lang="en-US" baseline="0" dirty="0" smtClean="0"/>
              <a:t>order to produce this graph, we have to relate the </a:t>
            </a:r>
            <a:r>
              <a:rPr lang="en-US" baseline="0" dirty="0" err="1" smtClean="0"/>
              <a:t>DataNodeMetrics</a:t>
            </a:r>
            <a:r>
              <a:rPr lang="en-US" baseline="0" dirty="0" smtClean="0"/>
              <a:t> </a:t>
            </a:r>
            <a:r>
              <a:rPr lang="en-US" baseline="0" dirty="0" err="1" smtClean="0"/>
              <a:t>tracepoint</a:t>
            </a:r>
            <a:r>
              <a:rPr lang="en-US" baseline="0" dirty="0" smtClean="0"/>
              <a:t> </a:t>
            </a:r>
            <a:r>
              <a:rPr lang="en-US" baseline="0" dirty="0" smtClean="0"/>
              <a:t>with the client process that initiated the request.</a:t>
            </a:r>
          </a:p>
          <a:p>
            <a:endParaRPr lang="en-US" baseline="0" dirty="0" smtClean="0"/>
          </a:p>
          <a:p>
            <a:r>
              <a:rPr lang="en-US" baseline="0" dirty="0" smtClean="0"/>
              <a:t>The happened-before join enables us to express this sort of relation, with which we can write queries to join tuples from multiple </a:t>
            </a:r>
            <a:r>
              <a:rPr lang="en-US" baseline="0" dirty="0" err="1" smtClean="0"/>
              <a:t>tracepoints</a:t>
            </a:r>
            <a:r>
              <a:rPr lang="en-US" baseline="0" dirty="0" smtClean="0"/>
              <a:t> based on </a:t>
            </a:r>
            <a:r>
              <a:rPr lang="en-US" baseline="0" dirty="0" err="1" smtClean="0"/>
              <a:t>Lamport’s</a:t>
            </a:r>
            <a:r>
              <a:rPr lang="en-US" baseline="0" dirty="0" smtClean="0"/>
              <a:t> happened-before </a:t>
            </a:r>
            <a:r>
              <a:rPr lang="en-US" baseline="0" dirty="0" smtClean="0"/>
              <a:t>relation.</a:t>
            </a:r>
          </a:p>
        </p:txBody>
      </p:sp>
      <p:sp>
        <p:nvSpPr>
          <p:cNvPr id="4" name="Slide Number Placeholder 3"/>
          <p:cNvSpPr>
            <a:spLocks noGrp="1"/>
          </p:cNvSpPr>
          <p:nvPr>
            <p:ph type="sldNum" sz="quarter" idx="10"/>
          </p:nvPr>
        </p:nvSpPr>
        <p:spPr/>
        <p:txBody>
          <a:bodyPr/>
          <a:lstStyle/>
          <a:p>
            <a:fld id="{79AB24F9-AB45-4E31-870F-94F4990D8FAE}" type="slidenum">
              <a:rPr lang="en-US" smtClean="0"/>
              <a:t>16</a:t>
            </a:fld>
            <a:endParaRPr lang="en-US"/>
          </a:p>
        </p:txBody>
      </p:sp>
    </p:spTree>
    <p:extLst>
      <p:ext uri="{BB962C8B-B14F-4D97-AF65-F5344CB8AC3E}">
        <p14:creationId xmlns:p14="http://schemas.microsoft.com/office/powerpoint/2010/main" val="17752520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Suppose a request first passes through the </a:t>
            </a:r>
            <a:r>
              <a:rPr lang="en-US" baseline="0" dirty="0" err="1" smtClean="0"/>
              <a:t>ClientProtocols</a:t>
            </a:r>
            <a:r>
              <a:rPr lang="en-US" baseline="0" dirty="0" smtClean="0"/>
              <a:t> </a:t>
            </a:r>
            <a:r>
              <a:rPr lang="en-US" baseline="0" dirty="0" err="1" smtClean="0"/>
              <a:t>tracepoint</a:t>
            </a:r>
            <a:r>
              <a:rPr lang="en-US" baseline="0" dirty="0" smtClean="0"/>
              <a:t>, producing </a:t>
            </a:r>
            <a:r>
              <a:rPr lang="en-US" baseline="0" dirty="0" smtClean="0"/>
              <a:t>a tuple that contains, </a:t>
            </a:r>
            <a:r>
              <a:rPr lang="en-US" baseline="0" dirty="0" smtClean="0"/>
              <a:t>among other things, the client’s process name </a:t>
            </a:r>
            <a:r>
              <a:rPr lang="en-US" baseline="0" dirty="0" err="1" smtClean="0"/>
              <a:t>Hget</a:t>
            </a:r>
            <a:r>
              <a:rPr lang="en-US" baseline="0" dirty="0" smtClean="0"/>
              <a:t>.</a:t>
            </a:r>
            <a:endParaRPr lang="en-US" baseline="0" dirty="0" smtClean="0"/>
          </a:p>
          <a:p>
            <a:endParaRPr lang="en-US" baseline="0" dirty="0" smtClean="0"/>
          </a:p>
          <a:p>
            <a:r>
              <a:rPr lang="en-US" baseline="0" dirty="0" smtClean="0"/>
              <a:t>Next, the request continues and subsequently passes through the </a:t>
            </a:r>
            <a:r>
              <a:rPr lang="en-US" baseline="0" dirty="0" err="1" smtClean="0"/>
              <a:t>DataNodeMetrics</a:t>
            </a:r>
            <a:r>
              <a:rPr lang="en-US" baseline="0" dirty="0" smtClean="0"/>
              <a:t> </a:t>
            </a:r>
            <a:r>
              <a:rPr lang="en-US" baseline="0" dirty="0" err="1" smtClean="0"/>
              <a:t>tracepoint</a:t>
            </a:r>
            <a:r>
              <a:rPr lang="en-US" baseline="0" dirty="0" smtClean="0"/>
              <a:t>, producing </a:t>
            </a:r>
            <a:r>
              <a:rPr lang="en-US" baseline="0" dirty="0" smtClean="0"/>
              <a:t>a tuple that contains, among other </a:t>
            </a:r>
            <a:r>
              <a:rPr lang="en-US" baseline="0" dirty="0" smtClean="0"/>
              <a:t>things, the value of the delta variable, which is 10.</a:t>
            </a:r>
          </a:p>
          <a:p>
            <a:endParaRPr lang="en-US" baseline="0" dirty="0" smtClean="0"/>
          </a:p>
          <a:p>
            <a:r>
              <a:rPr lang="en-US" baseline="0" dirty="0" smtClean="0"/>
              <a:t>Since these two invocations satisfy the happened-before relation, a happened-before join between </a:t>
            </a:r>
            <a:r>
              <a:rPr lang="en-US" baseline="0" dirty="0" err="1" smtClean="0"/>
              <a:t>ClientProtocols</a:t>
            </a:r>
            <a:r>
              <a:rPr lang="en-US" baseline="0" dirty="0" smtClean="0"/>
              <a:t> and </a:t>
            </a:r>
            <a:r>
              <a:rPr lang="en-US" baseline="0" dirty="0" err="1" smtClean="0"/>
              <a:t>DataNodeMetrics</a:t>
            </a:r>
            <a:r>
              <a:rPr lang="en-US" baseline="0" dirty="0" smtClean="0"/>
              <a:t> would </a:t>
            </a:r>
            <a:r>
              <a:rPr lang="en-US" baseline="0" dirty="0" smtClean="0"/>
              <a:t>produce </a:t>
            </a:r>
            <a:r>
              <a:rPr lang="en-US" baseline="0" dirty="0" smtClean="0"/>
              <a:t>a tuple containing </a:t>
            </a:r>
            <a:r>
              <a:rPr lang="en-US" baseline="0" dirty="0" smtClean="0"/>
              <a:t>all of the values from both </a:t>
            </a:r>
            <a:r>
              <a:rPr lang="en-US" baseline="0" dirty="0" err="1" smtClean="0"/>
              <a:t>tracepoints</a:t>
            </a:r>
            <a:r>
              <a:rPr lang="en-US" baseline="0" dirty="0" smtClean="0"/>
              <a:t>, including both the client’s process name </a:t>
            </a:r>
            <a:r>
              <a:rPr lang="en-US" baseline="0" dirty="0" err="1" smtClean="0"/>
              <a:t>HGet</a:t>
            </a:r>
            <a:r>
              <a:rPr lang="en-US" baseline="0" dirty="0" smtClean="0"/>
              <a:t> </a:t>
            </a:r>
            <a:r>
              <a:rPr lang="en-US" baseline="0" dirty="0" smtClean="0"/>
              <a:t>and the </a:t>
            </a:r>
            <a:r>
              <a:rPr lang="en-US" baseline="0" dirty="0" smtClean="0"/>
              <a:t>value 10 for delta.</a:t>
            </a:r>
          </a:p>
          <a:p>
            <a:endParaRPr lang="en-US" baseline="0" dirty="0" smtClean="0"/>
          </a:p>
          <a:p>
            <a:pPr marL="0" marR="0" indent="0" algn="l" defTabSz="914363" rtl="0" eaLnBrk="1" fontAlgn="auto" latinLnBrk="0" hangingPunct="1">
              <a:lnSpc>
                <a:spcPct val="100000"/>
              </a:lnSpc>
              <a:spcBef>
                <a:spcPts val="0"/>
              </a:spcBef>
              <a:spcAft>
                <a:spcPts val="0"/>
              </a:spcAft>
              <a:buClrTx/>
              <a:buSzTx/>
              <a:buFontTx/>
              <a:buNone/>
              <a:tabLst/>
              <a:defRPr/>
            </a:pPr>
            <a:r>
              <a:rPr lang="en-US" baseline="0" dirty="0" smtClean="0"/>
              <a:t>With the happened-before join, we can write this query to </a:t>
            </a:r>
            <a:r>
              <a:rPr lang="en-US" i="1" baseline="0" dirty="0" smtClean="0"/>
              <a:t>join</a:t>
            </a:r>
            <a:r>
              <a:rPr lang="en-US" i="0" baseline="0" dirty="0" smtClean="0"/>
              <a:t> every pair of tuples from </a:t>
            </a:r>
            <a:r>
              <a:rPr lang="en-US" i="0" baseline="0" dirty="0" err="1" smtClean="0"/>
              <a:t>ClientProtocols</a:t>
            </a:r>
            <a:r>
              <a:rPr lang="en-US" i="0" baseline="0" dirty="0" smtClean="0"/>
              <a:t> and </a:t>
            </a:r>
            <a:r>
              <a:rPr lang="en-US" i="0" baseline="0" dirty="0" err="1" smtClean="0"/>
              <a:t>DataNodeMetrics</a:t>
            </a:r>
            <a:r>
              <a:rPr lang="en-US" i="0" baseline="0" dirty="0" smtClean="0"/>
              <a:t> that satisfy the happened-before relation.  </a:t>
            </a:r>
            <a:endParaRPr lang="en-US" baseline="0" dirty="0" smtClean="0"/>
          </a:p>
        </p:txBody>
      </p:sp>
      <p:sp>
        <p:nvSpPr>
          <p:cNvPr id="4" name="Slide Number Placeholder 3"/>
          <p:cNvSpPr>
            <a:spLocks noGrp="1"/>
          </p:cNvSpPr>
          <p:nvPr>
            <p:ph type="sldNum" sz="quarter" idx="10"/>
          </p:nvPr>
        </p:nvSpPr>
        <p:spPr/>
        <p:txBody>
          <a:bodyPr/>
          <a:lstStyle/>
          <a:p>
            <a:fld id="{79AB24F9-AB45-4E31-870F-94F4990D8FAE}" type="slidenum">
              <a:rPr lang="en-US" smtClean="0"/>
              <a:t>17</a:t>
            </a:fld>
            <a:endParaRPr lang="en-US"/>
          </a:p>
        </p:txBody>
      </p:sp>
    </p:spTree>
    <p:extLst>
      <p:ext uri="{BB962C8B-B14F-4D97-AF65-F5344CB8AC3E}">
        <p14:creationId xmlns:p14="http://schemas.microsoft.com/office/powerpoint/2010/main" val="6039164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This query does the following:</a:t>
            </a:r>
          </a:p>
          <a:p>
            <a:pPr marL="228600" indent="-228600">
              <a:buFont typeface="+mj-lt"/>
              <a:buAutoNum type="arabicPeriod"/>
            </a:pPr>
            <a:r>
              <a:rPr lang="en-US" baseline="0" dirty="0" smtClean="0"/>
              <a:t>It </a:t>
            </a:r>
            <a:r>
              <a:rPr lang="en-US" baseline="0" dirty="0" smtClean="0"/>
              <a:t>selects the tuples produced whenever </a:t>
            </a:r>
            <a:r>
              <a:rPr lang="en-US" baseline="0" dirty="0" err="1" smtClean="0"/>
              <a:t>DataNodeMetrics</a:t>
            </a:r>
            <a:r>
              <a:rPr lang="en-US" baseline="0" dirty="0" smtClean="0"/>
              <a:t> is invoked</a:t>
            </a:r>
          </a:p>
          <a:p>
            <a:pPr marL="228600" indent="-228600">
              <a:buFont typeface="+mj-lt"/>
              <a:buAutoNum type="arabicPeriod"/>
            </a:pPr>
            <a:r>
              <a:rPr lang="en-US" baseline="0" dirty="0" smtClean="0"/>
              <a:t>It performs a happened-before join with earlier tuples produced by the </a:t>
            </a:r>
            <a:r>
              <a:rPr lang="en-US" baseline="0" dirty="0" err="1" smtClean="0"/>
              <a:t>ClientProtocols</a:t>
            </a:r>
            <a:r>
              <a:rPr lang="en-US" baseline="0" dirty="0" smtClean="0"/>
              <a:t> </a:t>
            </a:r>
            <a:r>
              <a:rPr lang="en-US" baseline="0" dirty="0" err="1" smtClean="0"/>
              <a:t>tracepoint</a:t>
            </a:r>
            <a:endParaRPr lang="en-US" baseline="0" dirty="0" smtClean="0"/>
          </a:p>
          <a:p>
            <a:pPr marL="228600" indent="-228600">
              <a:buFont typeface="+mj-lt"/>
              <a:buAutoNum type="arabicPeriod"/>
            </a:pPr>
            <a:r>
              <a:rPr lang="en-US" baseline="0" dirty="0" smtClean="0"/>
              <a:t>Groups results by the </a:t>
            </a:r>
            <a:r>
              <a:rPr lang="en-US" baseline="0" dirty="0" err="1" smtClean="0"/>
              <a:t>procname</a:t>
            </a:r>
            <a:r>
              <a:rPr lang="en-US" baseline="0" dirty="0" smtClean="0"/>
              <a:t> at </a:t>
            </a:r>
            <a:r>
              <a:rPr lang="en-US" baseline="0" dirty="0" err="1" smtClean="0"/>
              <a:t>ClientProtocols</a:t>
            </a:r>
            <a:endParaRPr lang="en-US" baseline="0" dirty="0" smtClean="0"/>
          </a:p>
          <a:p>
            <a:pPr marL="228600" indent="-228600">
              <a:buFont typeface="+mj-lt"/>
              <a:buAutoNum type="arabicPeriod"/>
            </a:pPr>
            <a:r>
              <a:rPr lang="en-US" baseline="0" dirty="0" smtClean="0"/>
              <a:t>Then for each group, sums up the delta variable from </a:t>
            </a:r>
            <a:r>
              <a:rPr lang="en-US" baseline="0" dirty="0" err="1" smtClean="0"/>
              <a:t>DataNodeMetrics</a:t>
            </a:r>
            <a:endParaRPr lang="en-US" baseline="0" dirty="0" smtClean="0"/>
          </a:p>
          <a:p>
            <a:endParaRPr lang="en-US" baseline="0" dirty="0" smtClean="0"/>
          </a:p>
          <a:p>
            <a:r>
              <a:rPr lang="en-US" baseline="0" dirty="0" smtClean="0"/>
              <a:t>In the example shown here, this query would produce a tuple like this, containing both the process name </a:t>
            </a:r>
            <a:r>
              <a:rPr lang="en-US" baseline="0" dirty="0" err="1" smtClean="0"/>
              <a:t>HGet</a:t>
            </a:r>
            <a:r>
              <a:rPr lang="en-US" baseline="0" dirty="0" smtClean="0"/>
              <a:t> </a:t>
            </a:r>
            <a:r>
              <a:rPr lang="en-US" baseline="0" dirty="0" smtClean="0"/>
              <a:t>and the value 10 of delta.</a:t>
            </a:r>
          </a:p>
        </p:txBody>
      </p:sp>
      <p:sp>
        <p:nvSpPr>
          <p:cNvPr id="4" name="Slide Number Placeholder 3"/>
          <p:cNvSpPr>
            <a:spLocks noGrp="1"/>
          </p:cNvSpPr>
          <p:nvPr>
            <p:ph type="sldNum" sz="quarter" idx="10"/>
          </p:nvPr>
        </p:nvSpPr>
        <p:spPr/>
        <p:txBody>
          <a:bodyPr/>
          <a:lstStyle/>
          <a:p>
            <a:fld id="{79AB24F9-AB45-4E31-870F-94F4990D8FAE}" type="slidenum">
              <a:rPr lang="en-US" smtClean="0"/>
              <a:t>18</a:t>
            </a:fld>
            <a:endParaRPr lang="en-US"/>
          </a:p>
        </p:txBody>
      </p:sp>
    </p:spTree>
    <p:extLst>
      <p:ext uri="{BB962C8B-B14F-4D97-AF65-F5344CB8AC3E}">
        <p14:creationId xmlns:p14="http://schemas.microsoft.com/office/powerpoint/2010/main" val="8031740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Pivot</a:t>
            </a:r>
            <a:r>
              <a:rPr lang="en-US" baseline="0" dirty="0" smtClean="0"/>
              <a:t> Tracing overcomes the aforementioned challenges by utilizing two components</a:t>
            </a:r>
          </a:p>
          <a:p>
            <a:endParaRPr lang="en-US" baseline="0" dirty="0" smtClean="0"/>
          </a:p>
          <a:p>
            <a:r>
              <a:rPr lang="en-US" baseline="0" dirty="0" smtClean="0"/>
              <a:t>First, queries are dynamically installed into a system at runtime using dynamic instrumentation.  </a:t>
            </a:r>
          </a:p>
          <a:p>
            <a:r>
              <a:rPr lang="en-US" baseline="0" dirty="0" smtClean="0"/>
              <a:t>A system needs to add a Pivot Tracing agent to perform this dynamic instrumentation.</a:t>
            </a:r>
          </a:p>
          <a:p>
            <a:endParaRPr lang="en-US" baseline="0" dirty="0" smtClean="0"/>
          </a:p>
          <a:p>
            <a:r>
              <a:rPr lang="en-US" baseline="0" dirty="0" smtClean="0"/>
              <a:t>Second, a system needs to support our Baggage abstraction.</a:t>
            </a:r>
          </a:p>
          <a:p>
            <a:r>
              <a:rPr lang="en-US" baseline="0" dirty="0" smtClean="0"/>
              <a:t>Baggage is what enables us to implement the happened-before join and thereby causally relate events from different parts of the system.</a:t>
            </a:r>
          </a:p>
          <a:p>
            <a:endParaRPr lang="en-US" baseline="0" dirty="0" smtClean="0"/>
          </a:p>
          <a:p>
            <a:r>
              <a:rPr lang="en-US" baseline="0" dirty="0" smtClean="0"/>
              <a:t>We’ll briefly look at Baggage in more detail.</a:t>
            </a:r>
            <a:endParaRPr lang="en-US" dirty="0" smtClean="0"/>
          </a:p>
        </p:txBody>
      </p:sp>
      <p:sp>
        <p:nvSpPr>
          <p:cNvPr id="4" name="Slide Number Placeholder 3"/>
          <p:cNvSpPr>
            <a:spLocks noGrp="1"/>
          </p:cNvSpPr>
          <p:nvPr>
            <p:ph type="sldNum" sz="quarter" idx="10"/>
          </p:nvPr>
        </p:nvSpPr>
        <p:spPr/>
        <p:txBody>
          <a:bodyPr/>
          <a:lstStyle/>
          <a:p>
            <a:fld id="{AAD4D5AE-91A4-BE4E-B7FC-F1521B88728F}" type="slidenum">
              <a:rPr lang="en-US" smtClean="0"/>
              <a:pPr/>
              <a:t>19</a:t>
            </a:fld>
            <a:endParaRPr lang="en-US"/>
          </a:p>
        </p:txBody>
      </p:sp>
    </p:spTree>
    <p:extLst>
      <p:ext uri="{BB962C8B-B14F-4D97-AF65-F5344CB8AC3E}">
        <p14:creationId xmlns:p14="http://schemas.microsoft.com/office/powerpoint/2010/main" val="10224509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US" baseline="0" dirty="0" smtClean="0"/>
              <a:t>Baggage </a:t>
            </a:r>
            <a:r>
              <a:rPr lang="en-US" baseline="0" dirty="0" smtClean="0"/>
              <a:t>is </a:t>
            </a:r>
            <a:r>
              <a:rPr lang="en-US" baseline="0" dirty="0" smtClean="0"/>
              <a:t>simply a generic key-value </a:t>
            </a:r>
            <a:r>
              <a:rPr lang="en-US" baseline="0" dirty="0" smtClean="0"/>
              <a:t>container propagated along the execution path of a request</a:t>
            </a:r>
            <a:r>
              <a:rPr lang="en-US" baseline="0" dirty="0" smtClean="0"/>
              <a:t>.</a:t>
            </a:r>
          </a:p>
          <a:p>
            <a:pPr marL="0" marR="0" indent="0" algn="l" defTabSz="914363"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363" rtl="0" eaLnBrk="1" fontAlgn="auto" latinLnBrk="0" hangingPunct="1">
              <a:lnSpc>
                <a:spcPct val="100000"/>
              </a:lnSpc>
              <a:spcBef>
                <a:spcPts val="0"/>
              </a:spcBef>
              <a:spcAft>
                <a:spcPts val="0"/>
              </a:spcAft>
              <a:buClrTx/>
              <a:buSzTx/>
              <a:buFontTx/>
              <a:buNone/>
              <a:tabLst/>
              <a:defRPr/>
            </a:pPr>
            <a:r>
              <a:rPr lang="en-US" baseline="0" dirty="0" smtClean="0"/>
              <a:t>It is a generalization of the metadata propagation techniques used in previous causal tracing work</a:t>
            </a:r>
            <a:r>
              <a:rPr lang="en-US" baseline="0" dirty="0" smtClean="0"/>
              <a:t>.</a:t>
            </a:r>
          </a:p>
          <a:p>
            <a:pPr marL="0" marR="0" indent="0" algn="l" defTabSz="914363"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363" rtl="0" eaLnBrk="1" fontAlgn="auto" latinLnBrk="0" hangingPunct="1">
              <a:lnSpc>
                <a:spcPct val="100000"/>
              </a:lnSpc>
              <a:spcBef>
                <a:spcPts val="0"/>
              </a:spcBef>
              <a:spcAft>
                <a:spcPts val="0"/>
              </a:spcAft>
              <a:buClrTx/>
              <a:buSzTx/>
              <a:buFontTx/>
              <a:buNone/>
              <a:tabLst/>
              <a:defRPr/>
            </a:pPr>
            <a:r>
              <a:rPr lang="en-US" baseline="0" dirty="0" smtClean="0"/>
              <a:t>It’s implemented at the granularity of an individual request within a workload</a:t>
            </a:r>
          </a:p>
        </p:txBody>
      </p:sp>
      <p:sp>
        <p:nvSpPr>
          <p:cNvPr id="4" name="Slide Number Placeholder 3"/>
          <p:cNvSpPr>
            <a:spLocks noGrp="1"/>
          </p:cNvSpPr>
          <p:nvPr>
            <p:ph type="sldNum" sz="quarter" idx="10"/>
          </p:nvPr>
        </p:nvSpPr>
        <p:spPr/>
        <p:txBody>
          <a:bodyPr/>
          <a:lstStyle/>
          <a:p>
            <a:fld id="{2914202D-1DA8-470D-B47B-7A6843417B4C}" type="slidenum">
              <a:rPr lang="en-US" smtClean="0"/>
              <a:t>20</a:t>
            </a:fld>
            <a:endParaRPr lang="en-US"/>
          </a:p>
        </p:txBody>
      </p:sp>
    </p:spTree>
    <p:extLst>
      <p:ext uri="{BB962C8B-B14F-4D97-AF65-F5344CB8AC3E}">
        <p14:creationId xmlns:p14="http://schemas.microsoft.com/office/powerpoint/2010/main" val="14667465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With baggage, we can propagate state alongside a request for use</a:t>
            </a:r>
            <a:r>
              <a:rPr lang="en-US" baseline="0" dirty="0" smtClean="0"/>
              <a:t> </a:t>
            </a:r>
            <a:r>
              <a:rPr lang="en-US" baseline="0" dirty="0" smtClean="0"/>
              <a:t>later.</a:t>
            </a:r>
            <a:endParaRPr lang="en-US" dirty="0" smtClean="0"/>
          </a:p>
          <a:p>
            <a:endParaRPr lang="en-US" dirty="0" smtClean="0"/>
          </a:p>
          <a:p>
            <a:r>
              <a:rPr lang="en-US" dirty="0" smtClean="0"/>
              <a:t>For example, suppose we have two </a:t>
            </a:r>
            <a:r>
              <a:rPr lang="en-US" dirty="0" err="1" smtClean="0"/>
              <a:t>tracepoints</a:t>
            </a:r>
            <a:r>
              <a:rPr lang="en-US" dirty="0" smtClean="0"/>
              <a:t> A and B.</a:t>
            </a:r>
          </a:p>
          <a:p>
            <a:endParaRPr lang="en-US" dirty="0" smtClean="0"/>
          </a:p>
          <a:p>
            <a:r>
              <a:rPr lang="en-US" dirty="0" smtClean="0"/>
              <a:t>At </a:t>
            </a:r>
            <a:r>
              <a:rPr lang="en-US" dirty="0" err="1" smtClean="0"/>
              <a:t>tracepoint</a:t>
            </a:r>
            <a:r>
              <a:rPr lang="en-US" dirty="0" smtClean="0"/>
              <a:t> A, we can put the </a:t>
            </a:r>
            <a:r>
              <a:rPr lang="en-US" dirty="0" err="1" smtClean="0"/>
              <a:t>clientName</a:t>
            </a:r>
            <a:r>
              <a:rPr lang="en-US" dirty="0" smtClean="0"/>
              <a:t> </a:t>
            </a:r>
            <a:r>
              <a:rPr lang="en-US" dirty="0" err="1" smtClean="0"/>
              <a:t>FSRead</a:t>
            </a:r>
            <a:r>
              <a:rPr lang="en-US" dirty="0" smtClean="0"/>
              <a:t> into the </a:t>
            </a:r>
            <a:r>
              <a:rPr lang="en-US" dirty="0" smtClean="0"/>
              <a:t>baggage.</a:t>
            </a:r>
          </a:p>
          <a:p>
            <a:endParaRPr lang="en-US" dirty="0" smtClean="0"/>
          </a:p>
          <a:p>
            <a:r>
              <a:rPr lang="en-US" dirty="0" smtClean="0"/>
              <a:t>Then later at </a:t>
            </a:r>
            <a:r>
              <a:rPr lang="en-US" dirty="0" err="1" smtClean="0"/>
              <a:t>tracepoint</a:t>
            </a:r>
            <a:r>
              <a:rPr lang="en-US" baseline="0" dirty="0" smtClean="0"/>
              <a:t> B, we can get the </a:t>
            </a:r>
            <a:r>
              <a:rPr lang="en-US" baseline="0" dirty="0" err="1" smtClean="0"/>
              <a:t>clientName</a:t>
            </a:r>
            <a:r>
              <a:rPr lang="en-US" baseline="0" dirty="0" smtClean="0"/>
              <a:t> from the baggage, and we’ll get back </a:t>
            </a:r>
            <a:r>
              <a:rPr lang="en-US" baseline="0" dirty="0" err="1" smtClean="0"/>
              <a:t>FSRead</a:t>
            </a:r>
            <a:r>
              <a:rPr lang="en-US" baseline="0" dirty="0" smtClean="0"/>
              <a:t>.</a:t>
            </a:r>
            <a:endParaRPr lang="en-US" baseline="0" dirty="0" smtClean="0"/>
          </a:p>
        </p:txBody>
      </p:sp>
      <p:sp>
        <p:nvSpPr>
          <p:cNvPr id="4" name="Slide Number Placeholder 3"/>
          <p:cNvSpPr>
            <a:spLocks noGrp="1"/>
          </p:cNvSpPr>
          <p:nvPr>
            <p:ph type="sldNum" sz="quarter" idx="10"/>
          </p:nvPr>
        </p:nvSpPr>
        <p:spPr/>
        <p:txBody>
          <a:bodyPr/>
          <a:lstStyle/>
          <a:p>
            <a:fld id="{2914202D-1DA8-470D-B47B-7A6843417B4C}" type="slidenum">
              <a:rPr lang="en-US" smtClean="0"/>
              <a:t>21</a:t>
            </a:fld>
            <a:endParaRPr lang="en-US"/>
          </a:p>
        </p:txBody>
      </p:sp>
    </p:spTree>
    <p:extLst>
      <p:ext uri="{BB962C8B-B14F-4D97-AF65-F5344CB8AC3E}">
        <p14:creationId xmlns:p14="http://schemas.microsoft.com/office/powerpoint/2010/main" val="20318472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US" baseline="0" dirty="0" smtClean="0"/>
              <a:t>This combination of a Pivot Tracing agent to perform dynamic instrumentation, and Baggage to propagate </a:t>
            </a:r>
            <a:r>
              <a:rPr lang="en-US" baseline="0" dirty="0" smtClean="0"/>
              <a:t>metadata </a:t>
            </a:r>
            <a:r>
              <a:rPr lang="en-US" dirty="0" smtClean="0"/>
              <a:t>is </a:t>
            </a:r>
            <a:r>
              <a:rPr lang="en-US" dirty="0" smtClean="0"/>
              <a:t>what is needed for a system</a:t>
            </a:r>
            <a:r>
              <a:rPr lang="en-US" baseline="0" dirty="0" smtClean="0"/>
              <a:t> to be pivot tracing enabled</a:t>
            </a:r>
            <a:endParaRPr lang="en-US" dirty="0"/>
          </a:p>
        </p:txBody>
      </p:sp>
      <p:sp>
        <p:nvSpPr>
          <p:cNvPr id="4" name="Slide Number Placeholder 3"/>
          <p:cNvSpPr>
            <a:spLocks noGrp="1"/>
          </p:cNvSpPr>
          <p:nvPr>
            <p:ph type="sldNum" sz="quarter" idx="10"/>
          </p:nvPr>
        </p:nvSpPr>
        <p:spPr/>
        <p:txBody>
          <a:bodyPr/>
          <a:lstStyle/>
          <a:p>
            <a:fld id="{2914202D-1DA8-470D-B47B-7A6843417B4C}" type="slidenum">
              <a:rPr lang="en-US" smtClean="0"/>
              <a:t>22</a:t>
            </a:fld>
            <a:endParaRPr lang="en-US"/>
          </a:p>
        </p:txBody>
      </p:sp>
    </p:spTree>
    <p:extLst>
      <p:ext uri="{BB962C8B-B14F-4D97-AF65-F5344CB8AC3E}">
        <p14:creationId xmlns:p14="http://schemas.microsoft.com/office/powerpoint/2010/main" val="8292410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AD4D5AE-91A4-BE4E-B7FC-F1521B88728F}" type="slidenum">
              <a:rPr lang="en-US" smtClean="0"/>
              <a:pPr/>
              <a:t>23</a:t>
            </a:fld>
            <a:endParaRPr lang="en-US"/>
          </a:p>
        </p:txBody>
      </p:sp>
    </p:spTree>
    <p:extLst>
      <p:ext uri="{BB962C8B-B14F-4D97-AF65-F5344CB8AC3E}">
        <p14:creationId xmlns:p14="http://schemas.microsoft.com/office/powerpoint/2010/main" val="26711652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 start with our instrumented</a:t>
            </a:r>
            <a:r>
              <a:rPr lang="en-US" baseline="0" dirty="0" smtClean="0"/>
              <a:t> system, and users of the system submitting various workloads.</a:t>
            </a:r>
            <a:endParaRPr lang="en-US" dirty="0"/>
          </a:p>
        </p:txBody>
      </p:sp>
      <p:sp>
        <p:nvSpPr>
          <p:cNvPr id="4" name="Slide Number Placeholder 3"/>
          <p:cNvSpPr>
            <a:spLocks noGrp="1"/>
          </p:cNvSpPr>
          <p:nvPr>
            <p:ph type="sldNum" sz="quarter" idx="10"/>
          </p:nvPr>
        </p:nvSpPr>
        <p:spPr/>
        <p:txBody>
          <a:bodyPr/>
          <a:lstStyle/>
          <a:p>
            <a:fld id="{2914202D-1DA8-470D-B47B-7A6843417B4C}" type="slidenum">
              <a:rPr lang="en-US" smtClean="0"/>
              <a:t>24</a:t>
            </a:fld>
            <a:endParaRPr lang="en-US"/>
          </a:p>
        </p:txBody>
      </p:sp>
    </p:spTree>
    <p:extLst>
      <p:ext uri="{BB962C8B-B14F-4D97-AF65-F5344CB8AC3E}">
        <p14:creationId xmlns:p14="http://schemas.microsoft.com/office/powerpoint/2010/main" val="11486851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As introduced earlier, we have several </a:t>
            </a:r>
            <a:r>
              <a:rPr lang="en-US" dirty="0" err="1" smtClean="0"/>
              <a:t>tracepoints</a:t>
            </a:r>
            <a:r>
              <a:rPr lang="en-US" dirty="0" smtClean="0"/>
              <a:t> defined that refer to places in the code where Pivot Tracing can add</a:t>
            </a:r>
            <a:r>
              <a:rPr lang="en-US" baseline="0" dirty="0" smtClean="0"/>
              <a:t> instrumentation</a:t>
            </a:r>
          </a:p>
          <a:p>
            <a:pPr marL="0" marR="0" indent="0" algn="l" defTabSz="914363" rtl="0" eaLnBrk="1" fontAlgn="auto" latinLnBrk="0" hangingPunct="1">
              <a:lnSpc>
                <a:spcPct val="100000"/>
              </a:lnSpc>
              <a:spcBef>
                <a:spcPts val="0"/>
              </a:spcBef>
              <a:spcAft>
                <a:spcPts val="0"/>
              </a:spcAft>
              <a:buClrTx/>
              <a:buSzTx/>
              <a:buFontTx/>
              <a:buNone/>
              <a:tabLst/>
              <a:defRPr/>
            </a:pPr>
            <a:r>
              <a:rPr lang="en-US" baseline="0" dirty="0" smtClean="0"/>
              <a:t>Here </a:t>
            </a:r>
            <a:r>
              <a:rPr lang="en-US" baseline="0" dirty="0" smtClean="0"/>
              <a:t>we highlight </a:t>
            </a:r>
            <a:r>
              <a:rPr lang="en-US" baseline="0" dirty="0" err="1" smtClean="0"/>
              <a:t>tracepoints</a:t>
            </a:r>
            <a:r>
              <a:rPr lang="en-US" baseline="0" dirty="0" smtClean="0"/>
              <a:t> A and B as examples</a:t>
            </a:r>
          </a:p>
          <a:p>
            <a:pPr marL="0" marR="0" indent="0" algn="l" defTabSz="914363"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363" rtl="0" eaLnBrk="1" fontAlgn="auto" latinLnBrk="0" hangingPunct="1">
              <a:lnSpc>
                <a:spcPct val="100000"/>
              </a:lnSpc>
              <a:spcBef>
                <a:spcPts val="0"/>
              </a:spcBef>
              <a:spcAft>
                <a:spcPts val="0"/>
              </a:spcAft>
              <a:buClrTx/>
              <a:buSzTx/>
              <a:buFontTx/>
              <a:buNone/>
              <a:tabLst/>
              <a:defRPr/>
            </a:pPr>
            <a:r>
              <a:rPr lang="en-US" baseline="0" dirty="0" err="1" smtClean="0"/>
              <a:t>Tracepoints</a:t>
            </a:r>
            <a:r>
              <a:rPr lang="en-US" baseline="0" dirty="0" smtClean="0"/>
              <a:t> export identifiers for variables in the code that queries may refer </a:t>
            </a:r>
            <a:r>
              <a:rPr lang="en-US" baseline="0" dirty="0" smtClean="0"/>
              <a:t>to, and </a:t>
            </a:r>
            <a:r>
              <a:rPr lang="en-US" baseline="0" dirty="0" smtClean="0"/>
              <a:t>pivot tracing also exports several default variables such as hostname and </a:t>
            </a:r>
            <a:r>
              <a:rPr lang="en-US" baseline="0" dirty="0" smtClean="0"/>
              <a:t>timestamp.</a:t>
            </a:r>
            <a:endParaRPr lang="en-US" baseline="0" dirty="0" smtClean="0"/>
          </a:p>
          <a:p>
            <a:pPr marL="0" marR="0" indent="0" algn="l" defTabSz="914363" rtl="0" eaLnBrk="1" fontAlgn="auto" latinLnBrk="0" hangingPunct="1">
              <a:lnSpc>
                <a:spcPct val="100000"/>
              </a:lnSpc>
              <a:spcBef>
                <a:spcPts val="0"/>
              </a:spcBef>
              <a:spcAft>
                <a:spcPts val="0"/>
              </a:spcAft>
              <a:buClrTx/>
              <a:buSzTx/>
              <a:buFontTx/>
              <a:buNone/>
              <a:tabLst/>
              <a:defRPr/>
            </a:pPr>
            <a:endParaRPr lang="en-US" baseline="0" dirty="0" smtClean="0"/>
          </a:p>
          <a:p>
            <a:r>
              <a:rPr lang="en-US" baseline="0" dirty="0" err="1" smtClean="0"/>
              <a:t>Tracepoints</a:t>
            </a:r>
            <a:r>
              <a:rPr lang="en-US" baseline="0" dirty="0" smtClean="0"/>
              <a:t> are only references to locations in code – they are not baked into the system and they don’t require a priori </a:t>
            </a:r>
            <a:r>
              <a:rPr lang="en-US" baseline="0" dirty="0" smtClean="0"/>
              <a:t>modifications.</a:t>
            </a:r>
            <a:endParaRPr lang="en-US" baseline="0" dirty="0" smtClean="0"/>
          </a:p>
          <a:p>
            <a:r>
              <a:rPr lang="en-US" baseline="0" dirty="0" smtClean="0"/>
              <a:t>They can be considered like recipes for how to instrument the </a:t>
            </a:r>
            <a:r>
              <a:rPr lang="en-US" baseline="0" dirty="0" smtClean="0"/>
              <a:t>system.</a:t>
            </a:r>
            <a:endParaRPr lang="en-US" baseline="0" dirty="0" smtClean="0"/>
          </a:p>
          <a:p>
            <a:pPr marL="0" marR="0" indent="0" algn="l" defTabSz="914363" rtl="0" eaLnBrk="1" fontAlgn="auto" latinLnBrk="0" hangingPunct="1">
              <a:lnSpc>
                <a:spcPct val="100000"/>
              </a:lnSpc>
              <a:spcBef>
                <a:spcPts val="0"/>
              </a:spcBef>
              <a:spcAft>
                <a:spcPts val="0"/>
              </a:spcAft>
              <a:buClrTx/>
              <a:buSzTx/>
              <a:buFontTx/>
              <a:buNone/>
              <a:tabLst/>
              <a:defRPr/>
            </a:pPr>
            <a:r>
              <a:rPr lang="en-US" dirty="0" smtClean="0"/>
              <a:t>Defining and using </a:t>
            </a:r>
            <a:r>
              <a:rPr lang="en-US" dirty="0" err="1" smtClean="0"/>
              <a:t>tracepoints</a:t>
            </a:r>
            <a:r>
              <a:rPr lang="en-US" dirty="0" smtClean="0"/>
              <a:t> isn’t difficult – people do this sort of thing today with systems like </a:t>
            </a:r>
            <a:r>
              <a:rPr lang="en-US" dirty="0" smtClean="0"/>
              <a:t>D-Trace.</a:t>
            </a:r>
            <a:endParaRPr lang="en-US" baseline="0" dirty="0" smtClean="0"/>
          </a:p>
        </p:txBody>
      </p:sp>
      <p:sp>
        <p:nvSpPr>
          <p:cNvPr id="4" name="Slide Number Placeholder 3"/>
          <p:cNvSpPr>
            <a:spLocks noGrp="1"/>
          </p:cNvSpPr>
          <p:nvPr>
            <p:ph type="sldNum" sz="quarter" idx="10"/>
          </p:nvPr>
        </p:nvSpPr>
        <p:spPr/>
        <p:txBody>
          <a:bodyPr/>
          <a:lstStyle/>
          <a:p>
            <a:fld id="{2914202D-1DA8-470D-B47B-7A6843417B4C}" type="slidenum">
              <a:rPr lang="en-US" smtClean="0"/>
              <a:t>25</a:t>
            </a:fld>
            <a:endParaRPr lang="en-US"/>
          </a:p>
        </p:txBody>
      </p:sp>
    </p:spTree>
    <p:extLst>
      <p:ext uri="{BB962C8B-B14F-4D97-AF65-F5344CB8AC3E}">
        <p14:creationId xmlns:p14="http://schemas.microsoft.com/office/powerpoint/2010/main" val="38094367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Now we can write queries</a:t>
            </a:r>
            <a:r>
              <a:rPr lang="en-US" baseline="0" dirty="0" smtClean="0"/>
              <a:t> about the values exported by </a:t>
            </a:r>
            <a:r>
              <a:rPr lang="en-US" baseline="0" dirty="0" err="1" smtClean="0"/>
              <a:t>tracepoints</a:t>
            </a:r>
            <a:r>
              <a:rPr lang="en-US" baseline="0" dirty="0" smtClean="0"/>
              <a:t>.</a:t>
            </a:r>
            <a:endParaRPr lang="en-US" dirty="0" smtClean="0"/>
          </a:p>
          <a:p>
            <a:endParaRPr lang="en-US" dirty="0" smtClean="0"/>
          </a:p>
          <a:p>
            <a:r>
              <a:rPr lang="en-US" dirty="0" smtClean="0"/>
              <a:t>Pivot Tracing’s query language is a simple relation query language like SQL</a:t>
            </a:r>
            <a:r>
              <a:rPr lang="en-US" baseline="0" dirty="0" smtClean="0"/>
              <a:t> and </a:t>
            </a:r>
            <a:r>
              <a:rPr lang="en-US" baseline="0" dirty="0" smtClean="0"/>
              <a:t>LINQ.</a:t>
            </a:r>
            <a:endParaRPr lang="en-US" baseline="0" dirty="0" smtClean="0"/>
          </a:p>
          <a:p>
            <a:endParaRPr lang="en-US" baseline="0" dirty="0" smtClean="0"/>
          </a:p>
          <a:p>
            <a:r>
              <a:rPr lang="en-US" baseline="0" dirty="0" smtClean="0"/>
              <a:t>Here, this user is writing a query performing a happened-before join between A and B.</a:t>
            </a:r>
          </a:p>
          <a:p>
            <a:r>
              <a:rPr lang="en-US" baseline="0" dirty="0" smtClean="0"/>
              <a:t>The query groups by process Name from </a:t>
            </a:r>
            <a:r>
              <a:rPr lang="en-US" baseline="0" dirty="0" err="1" smtClean="0"/>
              <a:t>tracepoint</a:t>
            </a:r>
            <a:r>
              <a:rPr lang="en-US" baseline="0" dirty="0" smtClean="0"/>
              <a:t> A, and sums up delta from </a:t>
            </a:r>
            <a:r>
              <a:rPr lang="en-US" baseline="0" dirty="0" err="1" smtClean="0"/>
              <a:t>tracepoint</a:t>
            </a:r>
            <a:r>
              <a:rPr lang="en-US" baseline="0" dirty="0" smtClean="0"/>
              <a:t> B</a:t>
            </a:r>
          </a:p>
          <a:p>
            <a:endParaRPr lang="en-US" baseline="0" dirty="0" smtClean="0"/>
          </a:p>
          <a:p>
            <a:r>
              <a:rPr lang="en-US" baseline="0" dirty="0" smtClean="0"/>
              <a:t>The output of a query is a stream of tuples over time.</a:t>
            </a:r>
            <a:endParaRPr lang="en-US" dirty="0"/>
          </a:p>
        </p:txBody>
      </p:sp>
      <p:sp>
        <p:nvSpPr>
          <p:cNvPr id="4" name="Slide Number Placeholder 3"/>
          <p:cNvSpPr>
            <a:spLocks noGrp="1"/>
          </p:cNvSpPr>
          <p:nvPr>
            <p:ph type="sldNum" sz="quarter" idx="10"/>
          </p:nvPr>
        </p:nvSpPr>
        <p:spPr/>
        <p:txBody>
          <a:bodyPr/>
          <a:lstStyle/>
          <a:p>
            <a:fld id="{2914202D-1DA8-470D-B47B-7A6843417B4C}" type="slidenum">
              <a:rPr lang="en-US" smtClean="0"/>
              <a:t>26</a:t>
            </a:fld>
            <a:endParaRPr lang="en-US"/>
          </a:p>
        </p:txBody>
      </p:sp>
    </p:spTree>
    <p:extLst>
      <p:ext uri="{BB962C8B-B14F-4D97-AF65-F5344CB8AC3E}">
        <p14:creationId xmlns:p14="http://schemas.microsoft.com/office/powerpoint/2010/main" val="196449399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Users submit queries to the Pivot Tracing front end which compiles</a:t>
            </a:r>
            <a:r>
              <a:rPr lang="en-US" baseline="0" dirty="0" smtClean="0"/>
              <a:t> the query into advice, an intermediate representation of the instrumentation needed to evaluate the query.</a:t>
            </a:r>
          </a:p>
          <a:p>
            <a:endParaRPr lang="en-US" baseline="0" dirty="0" smtClean="0"/>
          </a:p>
          <a:p>
            <a:r>
              <a:rPr lang="en-US" baseline="0" dirty="0" smtClean="0"/>
              <a:t>Advice is ultimately installed at the </a:t>
            </a:r>
            <a:r>
              <a:rPr lang="en-US" baseline="0" dirty="0" err="1" smtClean="0"/>
              <a:t>tracepoints</a:t>
            </a:r>
            <a:r>
              <a:rPr lang="en-US" baseline="0" dirty="0" smtClean="0"/>
              <a:t> referenced by the query.</a:t>
            </a:r>
          </a:p>
          <a:p>
            <a:endParaRPr lang="en-US" baseline="0" dirty="0" smtClean="0"/>
          </a:p>
          <a:p>
            <a:r>
              <a:rPr lang="en-US" baseline="0" dirty="0" smtClean="0"/>
              <a:t>Advice has a limited instruction set; it can observe the values of </a:t>
            </a:r>
            <a:r>
              <a:rPr lang="en-US" baseline="0" dirty="0" err="1" smtClean="0"/>
              <a:t>tracepoint</a:t>
            </a:r>
            <a:r>
              <a:rPr lang="en-US" baseline="0" dirty="0" smtClean="0"/>
              <a:t>-exported variables, pack values into the baggage, filter out unwanted values, unpack values, and emit tuples for global aggregation</a:t>
            </a:r>
          </a:p>
        </p:txBody>
      </p:sp>
      <p:sp>
        <p:nvSpPr>
          <p:cNvPr id="4" name="Slide Number Placeholder 3"/>
          <p:cNvSpPr>
            <a:spLocks noGrp="1"/>
          </p:cNvSpPr>
          <p:nvPr>
            <p:ph type="sldNum" sz="quarter" idx="10"/>
          </p:nvPr>
        </p:nvSpPr>
        <p:spPr/>
        <p:txBody>
          <a:bodyPr/>
          <a:lstStyle/>
          <a:p>
            <a:fld id="{2914202D-1DA8-470D-B47B-7A6843417B4C}" type="slidenum">
              <a:rPr lang="en-US" smtClean="0"/>
              <a:t>27</a:t>
            </a:fld>
            <a:endParaRPr lang="en-US"/>
          </a:p>
        </p:txBody>
      </p:sp>
    </p:spTree>
    <p:extLst>
      <p:ext uri="{BB962C8B-B14F-4D97-AF65-F5344CB8AC3E}">
        <p14:creationId xmlns:p14="http://schemas.microsoft.com/office/powerpoint/2010/main" val="13535224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pivot tracing front end then sends the advice to the pivot tracing agents, which dynamically add</a:t>
            </a:r>
            <a:r>
              <a:rPr lang="en-US" baseline="0" dirty="0" smtClean="0"/>
              <a:t> the advice to the requisite </a:t>
            </a:r>
            <a:r>
              <a:rPr lang="en-US" baseline="0" dirty="0" err="1" smtClean="0"/>
              <a:t>tracepoints</a:t>
            </a:r>
            <a:r>
              <a:rPr lang="en-US" baseline="0" dirty="0" smtClean="0"/>
              <a:t>.  We call this process weaving.</a:t>
            </a:r>
            <a:endParaRPr lang="en-US" dirty="0"/>
          </a:p>
        </p:txBody>
      </p:sp>
      <p:sp>
        <p:nvSpPr>
          <p:cNvPr id="4" name="Slide Number Placeholder 3"/>
          <p:cNvSpPr>
            <a:spLocks noGrp="1"/>
          </p:cNvSpPr>
          <p:nvPr>
            <p:ph type="sldNum" sz="quarter" idx="10"/>
          </p:nvPr>
        </p:nvSpPr>
        <p:spPr/>
        <p:txBody>
          <a:bodyPr/>
          <a:lstStyle/>
          <a:p>
            <a:fld id="{2914202D-1DA8-470D-B47B-7A6843417B4C}" type="slidenum">
              <a:rPr lang="en-US" smtClean="0"/>
              <a:t>28</a:t>
            </a:fld>
            <a:endParaRPr lang="en-US"/>
          </a:p>
        </p:txBody>
      </p:sp>
    </p:spTree>
    <p:extLst>
      <p:ext uri="{BB962C8B-B14F-4D97-AF65-F5344CB8AC3E}">
        <p14:creationId xmlns:p14="http://schemas.microsoft.com/office/powerpoint/2010/main" val="130406220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At this point, we can look at how happened-before</a:t>
            </a:r>
            <a:r>
              <a:rPr lang="en-US" baseline="0" dirty="0" smtClean="0"/>
              <a:t> join is evaluated.</a:t>
            </a:r>
          </a:p>
          <a:p>
            <a:endParaRPr lang="en-US" dirty="0" smtClean="0"/>
          </a:p>
          <a:p>
            <a:r>
              <a:rPr lang="en-US" dirty="0" smtClean="0"/>
              <a:t>When a request passes through </a:t>
            </a:r>
            <a:r>
              <a:rPr lang="en-US" dirty="0" err="1" smtClean="0"/>
              <a:t>tracepoint</a:t>
            </a:r>
            <a:r>
              <a:rPr lang="en-US" dirty="0" smtClean="0"/>
              <a:t> A, the advice A1 will be invoked.  This will observe the process</a:t>
            </a:r>
            <a:r>
              <a:rPr lang="en-US" baseline="0" dirty="0" smtClean="0"/>
              <a:t> name and pack it into the baggage.</a:t>
            </a:r>
          </a:p>
          <a:p>
            <a:endParaRPr lang="en-US" baseline="0" dirty="0" smtClean="0"/>
          </a:p>
          <a:p>
            <a:r>
              <a:rPr lang="en-US" baseline="0" dirty="0" smtClean="0"/>
              <a:t>Subsequently, if the request passes through </a:t>
            </a:r>
            <a:r>
              <a:rPr lang="en-US" baseline="0" dirty="0" err="1" smtClean="0"/>
              <a:t>tracepoint</a:t>
            </a:r>
            <a:r>
              <a:rPr lang="en-US" baseline="0" dirty="0" smtClean="0"/>
              <a:t> B, the advice B1 will be invoked.  This will observe the value of the ‘delta’ variable, unpack the previously packed process name, and emit an output tuple.  </a:t>
            </a:r>
          </a:p>
          <a:p>
            <a:r>
              <a:rPr lang="en-US" baseline="0" dirty="0" smtClean="0"/>
              <a:t>If there is no process name in the baggage, then nothing is emitted</a:t>
            </a:r>
          </a:p>
          <a:p>
            <a:endParaRPr lang="en-US" baseline="0" dirty="0" smtClean="0"/>
          </a:p>
          <a:p>
            <a:r>
              <a:rPr lang="en-US" baseline="0" dirty="0" smtClean="0"/>
              <a:t>Since baggage explicitly follows the path of a request as it executes, happened-before join can be explicitly evaluated inline with the request, avoiding a costly global evaluation.</a:t>
            </a:r>
          </a:p>
          <a:p>
            <a:r>
              <a:rPr lang="en-US" baseline="0" dirty="0" smtClean="0"/>
              <a:t>In this </a:t>
            </a:r>
            <a:r>
              <a:rPr lang="en-US" baseline="0" dirty="0" smtClean="0"/>
              <a:t>demonstration we used a simple serial </a:t>
            </a:r>
            <a:r>
              <a:rPr lang="en-US" baseline="0" dirty="0" smtClean="0"/>
              <a:t>request as an illustration, but </a:t>
            </a:r>
            <a:r>
              <a:rPr lang="en-US" baseline="0" dirty="0" smtClean="0"/>
              <a:t>the </a:t>
            </a:r>
            <a:r>
              <a:rPr lang="en-US" baseline="0" dirty="0" smtClean="0"/>
              <a:t>paper </a:t>
            </a:r>
            <a:r>
              <a:rPr lang="en-US" baseline="0" dirty="0" smtClean="0"/>
              <a:t>outlines </a:t>
            </a:r>
            <a:r>
              <a:rPr lang="en-US" baseline="0" dirty="0" smtClean="0"/>
              <a:t>how </a:t>
            </a:r>
            <a:r>
              <a:rPr lang="en-US" baseline="0" dirty="0" smtClean="0"/>
              <a:t>Pivot Tracing evaluates </a:t>
            </a:r>
            <a:r>
              <a:rPr lang="en-US" baseline="0" dirty="0" smtClean="0"/>
              <a:t>happened-before join in the general case for executions that arbitrarily branch and rejoin</a:t>
            </a:r>
            <a:r>
              <a:rPr lang="en-US" baseline="0" dirty="0" smtClean="0"/>
              <a:t>.</a:t>
            </a:r>
            <a:endParaRPr lang="en-US" baseline="0" dirty="0" smtClean="0"/>
          </a:p>
          <a:p>
            <a:endParaRPr lang="en-US" baseline="0" dirty="0" smtClean="0"/>
          </a:p>
          <a:p>
            <a:r>
              <a:rPr lang="en-US" baseline="0" dirty="0" smtClean="0"/>
              <a:t>Finally, the local pivot tracing agents aggregate output tuples </a:t>
            </a:r>
            <a:r>
              <a:rPr lang="en-US" baseline="0" dirty="0" smtClean="0"/>
              <a:t>locally and </a:t>
            </a:r>
            <a:r>
              <a:rPr lang="en-US" baseline="0" dirty="0" smtClean="0"/>
              <a:t>periodically publish tuples back to the pivot tracing front end and ultimately back to the user.</a:t>
            </a:r>
            <a:endParaRPr lang="en-US" dirty="0"/>
          </a:p>
        </p:txBody>
      </p:sp>
      <p:sp>
        <p:nvSpPr>
          <p:cNvPr id="4" name="Slide Number Placeholder 3"/>
          <p:cNvSpPr>
            <a:spLocks noGrp="1"/>
          </p:cNvSpPr>
          <p:nvPr>
            <p:ph type="sldNum" sz="quarter" idx="10"/>
          </p:nvPr>
        </p:nvSpPr>
        <p:spPr/>
        <p:txBody>
          <a:bodyPr/>
          <a:lstStyle/>
          <a:p>
            <a:fld id="{2914202D-1DA8-470D-B47B-7A6843417B4C}" type="slidenum">
              <a:rPr lang="en-US" smtClean="0"/>
              <a:t>29</a:t>
            </a:fld>
            <a:endParaRPr lang="en-US"/>
          </a:p>
        </p:txBody>
      </p:sp>
    </p:spTree>
    <p:extLst>
      <p:ext uri="{BB962C8B-B14F-4D97-AF65-F5344CB8AC3E}">
        <p14:creationId xmlns:p14="http://schemas.microsoft.com/office/powerpoint/2010/main" val="21425591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 implemented</a:t>
            </a:r>
            <a:r>
              <a:rPr lang="en-US" baseline="0" dirty="0" smtClean="0"/>
              <a:t> a pivot tracing prototype and evaluated it in the context of the Hadoop stack</a:t>
            </a:r>
            <a:endParaRPr lang="en-US" dirty="0"/>
          </a:p>
        </p:txBody>
      </p:sp>
      <p:sp>
        <p:nvSpPr>
          <p:cNvPr id="4" name="Slide Number Placeholder 3"/>
          <p:cNvSpPr>
            <a:spLocks noGrp="1"/>
          </p:cNvSpPr>
          <p:nvPr>
            <p:ph type="sldNum" sz="quarter" idx="10"/>
          </p:nvPr>
        </p:nvSpPr>
        <p:spPr/>
        <p:txBody>
          <a:bodyPr/>
          <a:lstStyle/>
          <a:p>
            <a:fld id="{2914202D-1DA8-470D-B47B-7A6843417B4C}" type="slidenum">
              <a:rPr lang="en-US" smtClean="0"/>
              <a:t>30</a:t>
            </a:fld>
            <a:endParaRPr lang="en-US"/>
          </a:p>
        </p:txBody>
      </p:sp>
    </p:spTree>
    <p:extLst>
      <p:ext uri="{BB962C8B-B14F-4D97-AF65-F5344CB8AC3E}">
        <p14:creationId xmlns:p14="http://schemas.microsoft.com/office/powerpoint/2010/main" val="9499087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Our prototype has the following components</a:t>
            </a:r>
            <a:endParaRPr lang="en-US" baseline="0" dirty="0" smtClean="0"/>
          </a:p>
          <a:p>
            <a:endParaRPr lang="en-US" baseline="0" dirty="0" smtClean="0"/>
          </a:p>
          <a:p>
            <a:r>
              <a:rPr lang="en-US" baseline="0" dirty="0" smtClean="0"/>
              <a:t>First, a pivot tracing agent thread runs inside each pivot tracing enabled process.  The agent implements the advice API outlined and uses </a:t>
            </a:r>
            <a:r>
              <a:rPr lang="en-US" baseline="0" dirty="0" err="1" smtClean="0"/>
              <a:t>javassist</a:t>
            </a:r>
            <a:r>
              <a:rPr lang="en-US" baseline="0" dirty="0" smtClean="0"/>
              <a:t> to dynamically rewrite and reload classes</a:t>
            </a:r>
          </a:p>
          <a:p>
            <a:r>
              <a:rPr lang="en-US" baseline="0" dirty="0" smtClean="0"/>
              <a:t>We use a </a:t>
            </a:r>
            <a:r>
              <a:rPr lang="en-US" baseline="0" dirty="0" err="1" smtClean="0"/>
              <a:t>pubsub</a:t>
            </a:r>
            <a:r>
              <a:rPr lang="en-US" baseline="0" dirty="0" smtClean="0"/>
              <a:t> system to receive weave commands from the front end and send back tuples produced by queries.</a:t>
            </a:r>
          </a:p>
          <a:p>
            <a:endParaRPr lang="en-US" baseline="0" dirty="0" smtClean="0"/>
          </a:p>
          <a:p>
            <a:r>
              <a:rPr lang="en-US" baseline="0" dirty="0" smtClean="0"/>
              <a:t>We implemented a baggage library with a straightforward API.  The data format is specified using protocol buffers, so baggage can be propagated between systems written in different languages.</a:t>
            </a:r>
          </a:p>
          <a:p>
            <a:r>
              <a:rPr lang="en-US" baseline="0" dirty="0" smtClean="0"/>
              <a:t>Our baggage library uses thread-local storage within a process and has methods to serialize baggage for inclusion in remote procedure calls</a:t>
            </a:r>
          </a:p>
          <a:p>
            <a:endParaRPr lang="en-US" baseline="0" dirty="0" smtClean="0"/>
          </a:p>
          <a:p>
            <a:r>
              <a:rPr lang="en-US" baseline="0" dirty="0" smtClean="0"/>
              <a:t>Finally, we implemented a pivot tracing front-end for writing queries, compiling them to advice, and submitting them to the PT agents.  </a:t>
            </a:r>
          </a:p>
          <a:p>
            <a:r>
              <a:rPr lang="en-US" baseline="0" dirty="0" smtClean="0"/>
              <a:t>The front end implements several query optimizations outlined in the paper, that let us push operations close to their source.</a:t>
            </a:r>
          </a:p>
        </p:txBody>
      </p:sp>
      <p:sp>
        <p:nvSpPr>
          <p:cNvPr id="4" name="Slide Number Placeholder 3"/>
          <p:cNvSpPr>
            <a:spLocks noGrp="1"/>
          </p:cNvSpPr>
          <p:nvPr>
            <p:ph type="sldNum" sz="quarter" idx="10"/>
          </p:nvPr>
        </p:nvSpPr>
        <p:spPr/>
        <p:txBody>
          <a:bodyPr/>
          <a:lstStyle/>
          <a:p>
            <a:fld id="{2914202D-1DA8-470D-B47B-7A6843417B4C}" type="slidenum">
              <a:rPr lang="en-US" smtClean="0"/>
              <a:t>31</a:t>
            </a:fld>
            <a:endParaRPr lang="en-US"/>
          </a:p>
        </p:txBody>
      </p:sp>
    </p:spTree>
    <p:extLst>
      <p:ext uri="{BB962C8B-B14F-4D97-AF65-F5344CB8AC3E}">
        <p14:creationId xmlns:p14="http://schemas.microsoft.com/office/powerpoint/2010/main" val="366928180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 instrumented several systems in the Hadoop stack with Pivot Tracing,</a:t>
            </a:r>
            <a:r>
              <a:rPr lang="en-US" baseline="0" dirty="0" smtClean="0"/>
              <a:t> each of which only required between 50 and 200 lines of code per system for adding baggage.</a:t>
            </a:r>
          </a:p>
          <a:p>
            <a:endParaRPr lang="en-US" baseline="0" dirty="0" smtClean="0"/>
          </a:p>
          <a:p>
            <a:r>
              <a:rPr lang="en-US" baseline="0" dirty="0" smtClean="0"/>
              <a:t>Primarily, this was at the boundaries of execution</a:t>
            </a:r>
          </a:p>
          <a:p>
            <a:endParaRPr lang="en-US" baseline="0" dirty="0" smtClean="0"/>
          </a:p>
          <a:p>
            <a:r>
              <a:rPr lang="en-US" baseline="0" dirty="0" smtClean="0"/>
              <a:t>This was a one-time modification as a prerequisite to supporting pivot tracing.</a:t>
            </a:r>
            <a:endParaRPr lang="en-US" dirty="0"/>
          </a:p>
        </p:txBody>
      </p:sp>
      <p:sp>
        <p:nvSpPr>
          <p:cNvPr id="4" name="Slide Number Placeholder 3"/>
          <p:cNvSpPr>
            <a:spLocks noGrp="1"/>
          </p:cNvSpPr>
          <p:nvPr>
            <p:ph type="sldNum" sz="quarter" idx="10"/>
          </p:nvPr>
        </p:nvSpPr>
        <p:spPr/>
        <p:txBody>
          <a:bodyPr/>
          <a:lstStyle/>
          <a:p>
            <a:fld id="{2914202D-1DA8-470D-B47B-7A6843417B4C}" type="slidenum">
              <a:rPr lang="en-US" smtClean="0"/>
              <a:t>32</a:t>
            </a:fld>
            <a:endParaRPr lang="en-US"/>
          </a:p>
        </p:txBody>
      </p:sp>
    </p:spTree>
    <p:extLst>
      <p:ext uri="{BB962C8B-B14F-4D97-AF65-F5344CB8AC3E}">
        <p14:creationId xmlns:p14="http://schemas.microsoft.com/office/powerpoint/2010/main" val="7149031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With pivot tracing enabled, we recorded a baseline overhead</a:t>
            </a:r>
            <a:r>
              <a:rPr lang="en-US" baseline="0" dirty="0" smtClean="0"/>
              <a:t> of only 0.3% in application-level benchmarks when no queries installed.</a:t>
            </a:r>
          </a:p>
          <a:p>
            <a:endParaRPr lang="en-US" baseline="0" dirty="0" smtClean="0"/>
          </a:p>
          <a:p>
            <a:r>
              <a:rPr lang="en-US" baseline="0" dirty="0" smtClean="0"/>
              <a:t>This is because baggage propagation alone is relatively cheap, and there is no overhead for queries or </a:t>
            </a:r>
            <a:r>
              <a:rPr lang="en-US" baseline="0" dirty="0" err="1" smtClean="0"/>
              <a:t>tracepoints</a:t>
            </a:r>
            <a:r>
              <a:rPr lang="en-US" baseline="0" dirty="0" smtClean="0"/>
              <a:t> until after they’ve been installed.</a:t>
            </a:r>
          </a:p>
          <a:p>
            <a:endParaRPr lang="en-US" baseline="0" dirty="0" smtClean="0"/>
          </a:p>
          <a:p>
            <a:r>
              <a:rPr lang="en-US" baseline="0" dirty="0" smtClean="0"/>
              <a:t>On the same application level benchmarks, we recorded a maximum of 14.3% overhead incurred from queries presented in the paper.</a:t>
            </a:r>
          </a:p>
          <a:p>
            <a:r>
              <a:rPr lang="en-US" baseline="0" dirty="0" smtClean="0"/>
              <a:t>This benchmark represents the worst case possible, where requests were sub-millisecond, CPU-only, lock-free lookups</a:t>
            </a:r>
          </a:p>
          <a:p>
            <a:endParaRPr lang="en-US" baseline="0" dirty="0" smtClean="0"/>
          </a:p>
          <a:p>
            <a:r>
              <a:rPr lang="en-US" baseline="0" dirty="0" smtClean="0"/>
              <a:t>Of all the queries in the paper, the largest baggage size was only about 137 bytes.  </a:t>
            </a:r>
          </a:p>
        </p:txBody>
      </p:sp>
      <p:sp>
        <p:nvSpPr>
          <p:cNvPr id="4" name="Slide Number Placeholder 3"/>
          <p:cNvSpPr>
            <a:spLocks noGrp="1"/>
          </p:cNvSpPr>
          <p:nvPr>
            <p:ph type="sldNum" sz="quarter" idx="10"/>
          </p:nvPr>
        </p:nvSpPr>
        <p:spPr/>
        <p:txBody>
          <a:bodyPr/>
          <a:lstStyle/>
          <a:p>
            <a:fld id="{2914202D-1DA8-470D-B47B-7A6843417B4C}" type="slidenum">
              <a:rPr lang="en-US" smtClean="0"/>
              <a:t>33</a:t>
            </a:fld>
            <a:endParaRPr lang="en-US"/>
          </a:p>
        </p:txBody>
      </p:sp>
    </p:spTree>
    <p:extLst>
      <p:ext uri="{BB962C8B-B14F-4D97-AF65-F5344CB8AC3E}">
        <p14:creationId xmlns:p14="http://schemas.microsoft.com/office/powerpoint/2010/main" val="350798027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the paper we demonstrate pivot tracing in three different </a:t>
            </a:r>
            <a:r>
              <a:rPr lang="en-US" i="1" dirty="0" smtClean="0"/>
              <a:t>kinds</a:t>
            </a:r>
            <a:r>
              <a:rPr lang="en-US" dirty="0" smtClean="0"/>
              <a:t> of scenario</a:t>
            </a:r>
          </a:p>
          <a:p>
            <a:endParaRPr lang="en-US" dirty="0" smtClean="0"/>
          </a:p>
          <a:p>
            <a:r>
              <a:rPr lang="en-US" dirty="0" smtClean="0"/>
              <a:t>First, Pivot Tracing can</a:t>
            </a:r>
            <a:r>
              <a:rPr lang="en-US" baseline="0" dirty="0" smtClean="0"/>
              <a:t> relate arbitrary metrics at one point in the system with identifiers meaningful elsewhere.</a:t>
            </a:r>
          </a:p>
          <a:p>
            <a:r>
              <a:rPr lang="en-US" baseline="0" dirty="0" smtClean="0"/>
              <a:t>The figures I showed early on in this talk are examples taken from this demonstration</a:t>
            </a:r>
          </a:p>
          <a:p>
            <a:r>
              <a:rPr lang="en-US" baseline="0" dirty="0" smtClean="0"/>
              <a:t>For many types of query, the overhead is sufficiently low that long-lived health monitoring can be implemented using Pivot Tracing</a:t>
            </a:r>
          </a:p>
        </p:txBody>
      </p:sp>
      <p:sp>
        <p:nvSpPr>
          <p:cNvPr id="4" name="Slide Number Placeholder 3"/>
          <p:cNvSpPr>
            <a:spLocks noGrp="1"/>
          </p:cNvSpPr>
          <p:nvPr>
            <p:ph type="sldNum" sz="quarter" idx="10"/>
          </p:nvPr>
        </p:nvSpPr>
        <p:spPr/>
        <p:txBody>
          <a:bodyPr/>
          <a:lstStyle/>
          <a:p>
            <a:fld id="{2914202D-1DA8-470D-B47B-7A6843417B4C}" type="slidenum">
              <a:rPr lang="en-US" smtClean="0"/>
              <a:t>34</a:t>
            </a:fld>
            <a:endParaRPr lang="en-US"/>
          </a:p>
        </p:txBody>
      </p:sp>
    </p:spTree>
    <p:extLst>
      <p:ext uri="{BB962C8B-B14F-4D97-AF65-F5344CB8AC3E}">
        <p14:creationId xmlns:p14="http://schemas.microsoft.com/office/powerpoint/2010/main" val="187703071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Second, Pivot Tracing can measure</a:t>
            </a:r>
            <a:r>
              <a:rPr lang="en-US" baseline="0" dirty="0" smtClean="0"/>
              <a:t> latencies by using the timestamps from two or more </a:t>
            </a:r>
            <a:r>
              <a:rPr lang="en-US" baseline="0" dirty="0" err="1" smtClean="0"/>
              <a:t>tracepoints</a:t>
            </a:r>
            <a:r>
              <a:rPr lang="en-US" baseline="0" dirty="0" smtClean="0"/>
              <a:t>.</a:t>
            </a:r>
          </a:p>
          <a:p>
            <a:r>
              <a:rPr lang="en-US" baseline="0" dirty="0" smtClean="0"/>
              <a:t>We diagnosed a limping hardware problem that was affecting end-to-end request latencies.</a:t>
            </a:r>
            <a:endParaRPr lang="en-US" dirty="0" smtClean="0"/>
          </a:p>
        </p:txBody>
      </p:sp>
      <p:sp>
        <p:nvSpPr>
          <p:cNvPr id="4" name="Slide Number Placeholder 3"/>
          <p:cNvSpPr>
            <a:spLocks noGrp="1"/>
          </p:cNvSpPr>
          <p:nvPr>
            <p:ph type="sldNum" sz="quarter" idx="10"/>
          </p:nvPr>
        </p:nvSpPr>
        <p:spPr/>
        <p:txBody>
          <a:bodyPr/>
          <a:lstStyle/>
          <a:p>
            <a:fld id="{2914202D-1DA8-470D-B47B-7A6843417B4C}" type="slidenum">
              <a:rPr lang="en-US" smtClean="0"/>
              <a:t>35</a:t>
            </a:fld>
            <a:endParaRPr lang="en-US"/>
          </a:p>
        </p:txBody>
      </p:sp>
    </p:spTree>
    <p:extLst>
      <p:ext uri="{BB962C8B-B14F-4D97-AF65-F5344CB8AC3E}">
        <p14:creationId xmlns:p14="http://schemas.microsoft.com/office/powerpoint/2010/main" val="149416854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Finally, pivot tracing can be used to debug recurring problems in distributed </a:t>
            </a:r>
            <a:r>
              <a:rPr lang="en-US" dirty="0" smtClean="0"/>
              <a:t>systems</a:t>
            </a:r>
            <a:r>
              <a:rPr lang="en-US" baseline="0" dirty="0" smtClean="0"/>
              <a:t> </a:t>
            </a:r>
            <a:r>
              <a:rPr lang="en-US" dirty="0" smtClean="0"/>
              <a:t>where </a:t>
            </a:r>
            <a:r>
              <a:rPr lang="en-US" dirty="0" smtClean="0"/>
              <a:t>the kinds</a:t>
            </a:r>
            <a:r>
              <a:rPr lang="en-US" baseline="0" dirty="0" smtClean="0"/>
              <a:t> of debugging information we need is very specific to the problem and is unlikely to be included in existing system logs or metrics.</a:t>
            </a:r>
          </a:p>
          <a:p>
            <a:endParaRPr lang="en-US" baseline="0" dirty="0" smtClean="0"/>
          </a:p>
          <a:p>
            <a:r>
              <a:rPr lang="en-US" baseline="0" dirty="0" smtClean="0"/>
              <a:t>I’m going to present this problem here now, and I refer you to the paper for details on the other two</a:t>
            </a:r>
          </a:p>
          <a:p>
            <a:r>
              <a:rPr lang="en-US" baseline="0" dirty="0" smtClean="0"/>
              <a:t>To describe this problem I’ll come back to HDFS, and describe it in a little more detail</a:t>
            </a:r>
            <a:endParaRPr lang="en-US" dirty="0"/>
          </a:p>
        </p:txBody>
      </p:sp>
      <p:sp>
        <p:nvSpPr>
          <p:cNvPr id="4" name="Slide Number Placeholder 3"/>
          <p:cNvSpPr>
            <a:spLocks noGrp="1"/>
          </p:cNvSpPr>
          <p:nvPr>
            <p:ph type="sldNum" sz="quarter" idx="10"/>
          </p:nvPr>
        </p:nvSpPr>
        <p:spPr/>
        <p:txBody>
          <a:bodyPr/>
          <a:lstStyle/>
          <a:p>
            <a:fld id="{2914202D-1DA8-470D-B47B-7A6843417B4C}" type="slidenum">
              <a:rPr lang="en-US" smtClean="0"/>
              <a:t>36</a:t>
            </a:fld>
            <a:endParaRPr lang="en-US"/>
          </a:p>
        </p:txBody>
      </p:sp>
    </p:spTree>
    <p:extLst>
      <p:ext uri="{BB962C8B-B14F-4D97-AF65-F5344CB8AC3E}">
        <p14:creationId xmlns:p14="http://schemas.microsoft.com/office/powerpoint/2010/main" val="191639991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HDFS comprises a central </a:t>
            </a:r>
            <a:r>
              <a:rPr lang="en-US" baseline="0" dirty="0" err="1" smtClean="0"/>
              <a:t>namenode</a:t>
            </a:r>
            <a:r>
              <a:rPr lang="en-US" baseline="0" dirty="0" smtClean="0"/>
              <a:t> that stores the </a:t>
            </a:r>
            <a:r>
              <a:rPr lang="en-US" baseline="0" dirty="0" err="1" smtClean="0"/>
              <a:t>filesystem</a:t>
            </a:r>
            <a:r>
              <a:rPr lang="en-US" baseline="0" dirty="0" smtClean="0"/>
              <a:t> metadata and several </a:t>
            </a:r>
            <a:r>
              <a:rPr lang="en-US" baseline="0" dirty="0" err="1" smtClean="0"/>
              <a:t>datanodes</a:t>
            </a:r>
            <a:r>
              <a:rPr lang="en-US" baseline="0" dirty="0" smtClean="0"/>
              <a:t> that store the data of the files</a:t>
            </a:r>
          </a:p>
          <a:p>
            <a:endParaRPr lang="en-US" baseline="0" dirty="0" smtClean="0"/>
          </a:p>
          <a:p>
            <a:r>
              <a:rPr lang="en-US" baseline="0" dirty="0" smtClean="0"/>
              <a:t>To store a file in HDFS, it is broken up into blocks that are replicated across the </a:t>
            </a:r>
            <a:r>
              <a:rPr lang="en-US" baseline="0" dirty="0" err="1" smtClean="0"/>
              <a:t>datanodes</a:t>
            </a:r>
            <a:r>
              <a:rPr lang="en-US" baseline="0" dirty="0" smtClean="0"/>
              <a:t>.</a:t>
            </a:r>
          </a:p>
          <a:p>
            <a:r>
              <a:rPr lang="en-US" baseline="0" dirty="0" smtClean="0"/>
              <a:t>The HDFS </a:t>
            </a:r>
            <a:r>
              <a:rPr lang="en-US" baseline="0" dirty="0" err="1" smtClean="0"/>
              <a:t>namenode</a:t>
            </a:r>
            <a:r>
              <a:rPr lang="en-US" baseline="0" dirty="0" smtClean="0"/>
              <a:t> maintains the mapping from files to blocks and their locations</a:t>
            </a:r>
          </a:p>
          <a:p>
            <a:r>
              <a:rPr lang="en-US" baseline="0" dirty="0" smtClean="0"/>
              <a:t>Here I’m showing the file is replicated on </a:t>
            </a:r>
            <a:r>
              <a:rPr lang="en-US" baseline="0" dirty="0" err="1" smtClean="0"/>
              <a:t>datanodes</a:t>
            </a:r>
            <a:r>
              <a:rPr lang="en-US" baseline="0" dirty="0" smtClean="0"/>
              <a:t> 2, 3, and 5.</a:t>
            </a:r>
          </a:p>
          <a:p>
            <a:endParaRPr lang="en-US" baseline="0" dirty="0" smtClean="0"/>
          </a:p>
          <a:p>
            <a:r>
              <a:rPr lang="en-US" baseline="0" dirty="0" smtClean="0"/>
              <a:t>To lookup a file, a client first contacts the </a:t>
            </a:r>
            <a:r>
              <a:rPr lang="en-US" baseline="0" dirty="0" err="1" smtClean="0"/>
              <a:t>hdfs</a:t>
            </a:r>
            <a:r>
              <a:rPr lang="en-US" baseline="0" dirty="0" smtClean="0"/>
              <a:t> </a:t>
            </a:r>
            <a:r>
              <a:rPr lang="en-US" baseline="0" dirty="0" err="1" smtClean="0"/>
              <a:t>namenode</a:t>
            </a:r>
            <a:r>
              <a:rPr lang="en-US" baseline="0" dirty="0" smtClean="0"/>
              <a:t> to find out which </a:t>
            </a:r>
            <a:r>
              <a:rPr lang="en-US" baseline="0" dirty="0" err="1" smtClean="0"/>
              <a:t>datanodes</a:t>
            </a:r>
            <a:r>
              <a:rPr lang="en-US" baseline="0" dirty="0" smtClean="0"/>
              <a:t> have the file.</a:t>
            </a:r>
          </a:p>
          <a:p>
            <a:r>
              <a:rPr lang="en-US" baseline="0" dirty="0" smtClean="0"/>
              <a:t>To do this, the client invokes a </a:t>
            </a:r>
            <a:r>
              <a:rPr lang="en-US" baseline="0" dirty="0" err="1" smtClean="0"/>
              <a:t>namenode</a:t>
            </a:r>
            <a:r>
              <a:rPr lang="en-US" baseline="0" dirty="0" smtClean="0"/>
              <a:t> procedure called </a:t>
            </a:r>
            <a:r>
              <a:rPr lang="en-US" baseline="0" dirty="0" err="1" smtClean="0"/>
              <a:t>GetBlockLocations</a:t>
            </a:r>
            <a:r>
              <a:rPr lang="en-US" baseline="0" dirty="0" smtClean="0"/>
              <a:t>, passing the filename.</a:t>
            </a:r>
          </a:p>
          <a:p>
            <a:r>
              <a:rPr lang="en-US" baseline="0" dirty="0" smtClean="0"/>
              <a:t>The </a:t>
            </a:r>
            <a:r>
              <a:rPr lang="en-US" baseline="0" dirty="0" err="1" smtClean="0"/>
              <a:t>namenode</a:t>
            </a:r>
            <a:r>
              <a:rPr lang="en-US" baseline="0" dirty="0" smtClean="0"/>
              <a:t> returns the list of replicas of the files.</a:t>
            </a:r>
          </a:p>
          <a:p>
            <a:endParaRPr lang="en-US" baseline="0" dirty="0" smtClean="0"/>
          </a:p>
          <a:p>
            <a:r>
              <a:rPr lang="en-US" baseline="0" dirty="0" smtClean="0"/>
              <a:t>Subsequently, the client selects one of the replicas to read from, according to HDFS’s replica selection policy.</a:t>
            </a:r>
          </a:p>
          <a:p>
            <a:r>
              <a:rPr lang="en-US" b="0" baseline="0" dirty="0" smtClean="0"/>
              <a:t>The goal of the policy is to minimize network load by selecting topologically close replicas.</a:t>
            </a:r>
          </a:p>
          <a:p>
            <a:r>
              <a:rPr lang="en-US" baseline="0" dirty="0" smtClean="0"/>
              <a:t>First, if the client is running on the same </a:t>
            </a:r>
            <a:r>
              <a:rPr lang="en-US" b="1" baseline="0" dirty="0" smtClean="0"/>
              <a:t>machine</a:t>
            </a:r>
            <a:r>
              <a:rPr lang="en-US" baseline="0" dirty="0" smtClean="0"/>
              <a:t> as a </a:t>
            </a:r>
            <a:r>
              <a:rPr lang="en-US" baseline="0" dirty="0" err="1" smtClean="0"/>
              <a:t>datanode</a:t>
            </a:r>
            <a:r>
              <a:rPr lang="en-US" baseline="0" dirty="0" smtClean="0"/>
              <a:t> that has a replica, then that local replica is selected</a:t>
            </a:r>
          </a:p>
          <a:p>
            <a:r>
              <a:rPr lang="en-US" baseline="0" dirty="0" smtClean="0"/>
              <a:t>Second, if there are any replicas on the same </a:t>
            </a:r>
            <a:r>
              <a:rPr lang="en-US" b="1" baseline="0" dirty="0" smtClean="0"/>
              <a:t>rack</a:t>
            </a:r>
            <a:r>
              <a:rPr lang="en-US" b="0" baseline="0" dirty="0" smtClean="0"/>
              <a:t> of machines, then a random rack-local replica is selected. The policy uses randomization to break ties in order to spread load.</a:t>
            </a:r>
          </a:p>
          <a:p>
            <a:r>
              <a:rPr lang="en-US" b="0" baseline="0" dirty="0" smtClean="0"/>
              <a:t>Finally, if there are no local or rack-local replicas, then a random off-rack replica is selected.</a:t>
            </a:r>
          </a:p>
          <a:p>
            <a:endParaRPr lang="en-US" b="0" baseline="0" dirty="0" smtClean="0"/>
          </a:p>
          <a:p>
            <a:r>
              <a:rPr lang="en-US" b="0" baseline="0" dirty="0" smtClean="0"/>
              <a:t>Once a replica is selected, the client contacts the replica to read the file.</a:t>
            </a:r>
          </a:p>
          <a:p>
            <a:r>
              <a:rPr lang="en-US" b="0" baseline="0" dirty="0" smtClean="0"/>
              <a:t>The client invokes the </a:t>
            </a:r>
            <a:r>
              <a:rPr lang="en-US" b="0" baseline="0" dirty="0" err="1" smtClean="0"/>
              <a:t>DataNode’s</a:t>
            </a:r>
            <a:r>
              <a:rPr lang="en-US" b="0" baseline="0" dirty="0" smtClean="0"/>
              <a:t> </a:t>
            </a:r>
            <a:r>
              <a:rPr lang="en-US" b="0" baseline="0" dirty="0" err="1" smtClean="0"/>
              <a:t>DataTransferProtocol</a:t>
            </a:r>
            <a:r>
              <a:rPr lang="en-US" b="0" baseline="0" dirty="0" smtClean="0"/>
              <a:t>, which subsequently returns the contents of the file.</a:t>
            </a:r>
            <a:endParaRPr lang="en-US" dirty="0"/>
          </a:p>
        </p:txBody>
      </p:sp>
      <p:sp>
        <p:nvSpPr>
          <p:cNvPr id="4" name="Slide Number Placeholder 3"/>
          <p:cNvSpPr>
            <a:spLocks noGrp="1"/>
          </p:cNvSpPr>
          <p:nvPr>
            <p:ph type="sldNum" sz="quarter" idx="10"/>
          </p:nvPr>
        </p:nvSpPr>
        <p:spPr/>
        <p:txBody>
          <a:bodyPr/>
          <a:lstStyle/>
          <a:p>
            <a:fld id="{2914202D-1DA8-470D-B47B-7A6843417B4C}" type="slidenum">
              <a:rPr lang="en-US" smtClean="0"/>
              <a:t>37</a:t>
            </a:fld>
            <a:endParaRPr lang="en-US"/>
          </a:p>
        </p:txBody>
      </p:sp>
    </p:spTree>
    <p:extLst>
      <p:ext uri="{BB962C8B-B14F-4D97-AF65-F5344CB8AC3E}">
        <p14:creationId xmlns:p14="http://schemas.microsoft.com/office/powerpoint/2010/main" val="353563251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this scenario, I was setting up an 8-node cluster with</a:t>
            </a:r>
            <a:r>
              <a:rPr lang="en-US" baseline="0" dirty="0" smtClean="0"/>
              <a:t> a simple benchmark workload</a:t>
            </a:r>
          </a:p>
          <a:p>
            <a:endParaRPr lang="en-US" baseline="0" dirty="0" smtClean="0"/>
          </a:p>
          <a:p>
            <a:r>
              <a:rPr lang="en-US" baseline="0" dirty="0" smtClean="0"/>
              <a:t>I had set up 8 </a:t>
            </a:r>
            <a:r>
              <a:rPr lang="en-US" baseline="0" dirty="0" err="1" smtClean="0"/>
              <a:t>identicial</a:t>
            </a:r>
            <a:r>
              <a:rPr lang="en-US" baseline="0" dirty="0" smtClean="0"/>
              <a:t> machines, each running an HDFS </a:t>
            </a:r>
            <a:r>
              <a:rPr lang="en-US" baseline="0" dirty="0" err="1" smtClean="0"/>
              <a:t>datanode</a:t>
            </a:r>
            <a:r>
              <a:rPr lang="en-US" baseline="0" dirty="0" smtClean="0"/>
              <a:t> and the same client workload generator.</a:t>
            </a:r>
          </a:p>
          <a:p>
            <a:r>
              <a:rPr lang="en-US" baseline="0" dirty="0" smtClean="0"/>
              <a:t>The workload generators were all reading randomly from the same large set of files</a:t>
            </a:r>
          </a:p>
          <a:p>
            <a:endParaRPr lang="en-US" baseline="0" dirty="0" smtClean="0"/>
          </a:p>
          <a:p>
            <a:r>
              <a:rPr lang="en-US" baseline="0" dirty="0" smtClean="0"/>
              <a:t>The HDFS </a:t>
            </a:r>
            <a:r>
              <a:rPr lang="en-US" baseline="0" dirty="0" err="1" smtClean="0"/>
              <a:t>namenode</a:t>
            </a:r>
            <a:r>
              <a:rPr lang="en-US" baseline="0" dirty="0" smtClean="0"/>
              <a:t> was running on a separate machine.</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2914202D-1DA8-470D-B47B-7A6843417B4C}" type="slidenum">
              <a:rPr lang="en-US" smtClean="0"/>
              <a:t>38</a:t>
            </a:fld>
            <a:endParaRPr lang="en-US"/>
          </a:p>
        </p:txBody>
      </p:sp>
    </p:spTree>
    <p:extLst>
      <p:ext uri="{BB962C8B-B14F-4D97-AF65-F5344CB8AC3E}">
        <p14:creationId xmlns:p14="http://schemas.microsoft.com/office/powerpoint/2010/main" val="148747429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Given that I was running the same simple workload on all of my machines, I was expecting to see more or less uniform throughput across my workload generators.</a:t>
            </a:r>
          </a:p>
          <a:p>
            <a:endParaRPr lang="en-US" baseline="0" dirty="0" smtClean="0"/>
          </a:p>
          <a:p>
            <a:r>
              <a:rPr lang="en-US" baseline="0" dirty="0" smtClean="0"/>
              <a:t>But this wasn’t the case, as I show in this figure here, each line is the throughput of one workload generator</a:t>
            </a:r>
          </a:p>
          <a:p>
            <a:r>
              <a:rPr lang="en-US" baseline="0" dirty="0" smtClean="0"/>
              <a:t>We see that two of the workload generators were seeing consistently lower throughput</a:t>
            </a:r>
          </a:p>
          <a:p>
            <a:endParaRPr lang="en-US" baseline="0" dirty="0" smtClean="0"/>
          </a:p>
          <a:p>
            <a:r>
              <a:rPr lang="en-US" baseline="0" dirty="0" smtClean="0"/>
              <a:t>Furthermore, I was also expecting to see uniform throughput on the </a:t>
            </a:r>
            <a:r>
              <a:rPr lang="en-US" baseline="0" dirty="0" err="1" smtClean="0"/>
              <a:t>datanodes</a:t>
            </a:r>
            <a:r>
              <a:rPr lang="en-US" baseline="0" dirty="0" smtClean="0"/>
              <a:t>, since the workload generators were just reading at random.</a:t>
            </a:r>
          </a:p>
          <a:p>
            <a:r>
              <a:rPr lang="en-US" baseline="0" dirty="0" smtClean="0"/>
              <a:t>In this case, the HDFS </a:t>
            </a:r>
            <a:r>
              <a:rPr lang="en-US" baseline="0" dirty="0" err="1" smtClean="0"/>
              <a:t>datanodes</a:t>
            </a:r>
            <a:r>
              <a:rPr lang="en-US" baseline="0" dirty="0" smtClean="0"/>
              <a:t> were seeing drastically different throughput – each line here is the throughput of one </a:t>
            </a:r>
            <a:r>
              <a:rPr lang="en-US" baseline="0" dirty="0" err="1" smtClean="0"/>
              <a:t>datanode</a:t>
            </a:r>
            <a:endParaRPr lang="en-US" baseline="0" dirty="0" smtClean="0"/>
          </a:p>
          <a:p>
            <a:endParaRPr lang="en-US" baseline="0" dirty="0" smtClean="0"/>
          </a:p>
          <a:p>
            <a:r>
              <a:rPr lang="en-US" baseline="0" dirty="0" smtClean="0"/>
              <a:t>So clearly, there is something very suspicious going on, and we’ll walk through the steps of figuring out what </a:t>
            </a:r>
            <a:r>
              <a:rPr lang="en-US" baseline="0" smtClean="0"/>
              <a:t>it was.</a:t>
            </a:r>
            <a:endParaRPr lang="en-US" baseline="0" dirty="0" smtClean="0"/>
          </a:p>
          <a:p>
            <a:endParaRPr lang="en-US" baseline="0" dirty="0" smtClean="0"/>
          </a:p>
        </p:txBody>
      </p:sp>
      <p:sp>
        <p:nvSpPr>
          <p:cNvPr id="4" name="Slide Number Placeholder 3"/>
          <p:cNvSpPr>
            <a:spLocks noGrp="1"/>
          </p:cNvSpPr>
          <p:nvPr>
            <p:ph type="sldNum" sz="quarter" idx="10"/>
          </p:nvPr>
        </p:nvSpPr>
        <p:spPr/>
        <p:txBody>
          <a:bodyPr/>
          <a:lstStyle/>
          <a:p>
            <a:fld id="{2914202D-1DA8-470D-B47B-7A6843417B4C}" type="slidenum">
              <a:rPr lang="en-US" smtClean="0"/>
              <a:t>39</a:t>
            </a:fld>
            <a:endParaRPr lang="en-US"/>
          </a:p>
        </p:txBody>
      </p:sp>
    </p:spTree>
    <p:extLst>
      <p:ext uri="{BB962C8B-B14F-4D97-AF65-F5344CB8AC3E}">
        <p14:creationId xmlns:p14="http://schemas.microsoft.com/office/powerpoint/2010/main" val="7697763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My initial hypothesis</a:t>
            </a:r>
            <a:r>
              <a:rPr lang="en-US" baseline="0" dirty="0" smtClean="0"/>
              <a:t> here is that the simple workload generator I wrote probably just has a few bugs and isn’t actually behaving as I intended it to.</a:t>
            </a:r>
          </a:p>
          <a:p>
            <a:r>
              <a:rPr lang="en-US" baseline="0" dirty="0" smtClean="0"/>
              <a:t>In particular, since the throughput was so skewed across the HDFS </a:t>
            </a:r>
            <a:r>
              <a:rPr lang="en-US" baseline="0" dirty="0" err="1" smtClean="0"/>
              <a:t>datanodes</a:t>
            </a:r>
            <a:r>
              <a:rPr lang="en-US" baseline="0" dirty="0" smtClean="0"/>
              <a:t>, maybe I wasn’t actually randomly selecting files</a:t>
            </a:r>
          </a:p>
          <a:p>
            <a:endParaRPr lang="en-US" baseline="0" dirty="0" smtClean="0"/>
          </a:p>
          <a:p>
            <a:r>
              <a:rPr lang="en-US" baseline="0" dirty="0" smtClean="0"/>
              <a:t>To debug this, I wrote a query to look at the HDFS </a:t>
            </a:r>
            <a:r>
              <a:rPr lang="en-US" baseline="0" dirty="0" err="1" smtClean="0"/>
              <a:t>namenode</a:t>
            </a:r>
            <a:r>
              <a:rPr lang="en-US" baseline="0" dirty="0" smtClean="0"/>
              <a:t> and ask the question: which files are the ones that are actually being looked up?</a:t>
            </a:r>
          </a:p>
          <a:p>
            <a:r>
              <a:rPr lang="en-US" i="0" baseline="0" dirty="0" smtClean="0"/>
              <a:t>The query shown here simply counts how many times each file is looked up, at the </a:t>
            </a:r>
            <a:r>
              <a:rPr lang="en-US" i="0" baseline="0" dirty="0" err="1" smtClean="0"/>
              <a:t>NameNode’s</a:t>
            </a:r>
            <a:r>
              <a:rPr lang="en-US" i="0" baseline="0" dirty="0" smtClean="0"/>
              <a:t> </a:t>
            </a:r>
            <a:r>
              <a:rPr lang="en-US" i="0" baseline="0" dirty="0" err="1" smtClean="0"/>
              <a:t>GetBlockLocations</a:t>
            </a:r>
            <a:r>
              <a:rPr lang="en-US" i="0" baseline="0" dirty="0" smtClean="0"/>
              <a:t> </a:t>
            </a:r>
            <a:r>
              <a:rPr lang="en-US" i="0" baseline="0" dirty="0" err="1" smtClean="0"/>
              <a:t>tracepoint</a:t>
            </a:r>
            <a:r>
              <a:rPr lang="en-US" i="0" baseline="0" dirty="0" smtClean="0"/>
              <a:t>.</a:t>
            </a:r>
          </a:p>
          <a:p>
            <a:endParaRPr lang="en-US" i="0" baseline="0" dirty="0" smtClean="0"/>
          </a:p>
          <a:p>
            <a:r>
              <a:rPr lang="en-US" i="0" baseline="0" dirty="0" smtClean="0"/>
              <a:t>We can aggregate over a period of time and plot a frequency distribution like this</a:t>
            </a:r>
          </a:p>
          <a:p>
            <a:r>
              <a:rPr lang="en-US" i="0" baseline="0" dirty="0" smtClean="0"/>
              <a:t>A binomial distribution is indicative that files are being randomly selected for read.</a:t>
            </a:r>
          </a:p>
          <a:p>
            <a:endParaRPr lang="en-US" i="0" baseline="0" dirty="0" smtClean="0"/>
          </a:p>
          <a:p>
            <a:r>
              <a:rPr lang="en-US" i="0" baseline="0" dirty="0" smtClean="0"/>
              <a:t>However, we specifically want this distribution for each of our clients.</a:t>
            </a:r>
          </a:p>
          <a:p>
            <a:r>
              <a:rPr lang="en-US" i="0" baseline="0" dirty="0" smtClean="0"/>
              <a:t>We can expand the query and write a happened-before join with a </a:t>
            </a:r>
            <a:r>
              <a:rPr lang="en-US" i="0" baseline="0" dirty="0" err="1" smtClean="0"/>
              <a:t>tracepoint</a:t>
            </a:r>
            <a:r>
              <a:rPr lang="en-US" i="0" baseline="0" dirty="0" smtClean="0"/>
              <a:t> within each client</a:t>
            </a:r>
          </a:p>
          <a:p>
            <a:r>
              <a:rPr lang="en-US" i="0" baseline="0" dirty="0" smtClean="0"/>
              <a:t>We first join to the tuples from the client’s </a:t>
            </a:r>
            <a:r>
              <a:rPr lang="en-US" i="0" baseline="0" dirty="0" err="1" smtClean="0"/>
              <a:t>tracepoint</a:t>
            </a:r>
            <a:r>
              <a:rPr lang="en-US" i="0" baseline="0" dirty="0" smtClean="0"/>
              <a:t>,</a:t>
            </a:r>
          </a:p>
          <a:p>
            <a:r>
              <a:rPr lang="en-US" i="0" baseline="0" dirty="0" smtClean="0"/>
              <a:t>Add the client hostname to the </a:t>
            </a:r>
            <a:r>
              <a:rPr lang="en-US" i="0" baseline="0" dirty="0" err="1" smtClean="0"/>
              <a:t>groupby</a:t>
            </a:r>
            <a:endParaRPr lang="en-US" i="0" baseline="0" dirty="0" smtClean="0"/>
          </a:p>
          <a:p>
            <a:r>
              <a:rPr lang="en-US" i="0" baseline="0" dirty="0" smtClean="0"/>
              <a:t>And add the client hostname to the output tuple</a:t>
            </a:r>
          </a:p>
          <a:p>
            <a:endParaRPr lang="en-US" i="0" baseline="0" dirty="0" smtClean="0"/>
          </a:p>
          <a:p>
            <a:r>
              <a:rPr lang="en-US" i="0" baseline="0" dirty="0" smtClean="0"/>
              <a:t>The output data is now broken down by each client, so</a:t>
            </a:r>
          </a:p>
          <a:p>
            <a:r>
              <a:rPr lang="en-US" i="0" baseline="0" dirty="0" smtClean="0"/>
              <a:t>We can plot the same frequency distribution but now individually for each client.</a:t>
            </a:r>
          </a:p>
          <a:p>
            <a:r>
              <a:rPr lang="en-US" i="0" baseline="0" dirty="0" smtClean="0"/>
              <a:t>These distributions all have the same shape, meaning each client is indeed randomly selecting files.</a:t>
            </a:r>
          </a:p>
          <a:p>
            <a:endParaRPr lang="en-US" i="0" baseline="0" dirty="0" smtClean="0"/>
          </a:p>
          <a:p>
            <a:r>
              <a:rPr lang="en-US" i="0" baseline="0" dirty="0" smtClean="0"/>
              <a:t>So this is not the cause for the drastically skewed </a:t>
            </a:r>
            <a:r>
              <a:rPr lang="en-US" i="0" baseline="0" dirty="0" err="1" smtClean="0"/>
              <a:t>DataNode</a:t>
            </a:r>
            <a:r>
              <a:rPr lang="en-US" i="0" baseline="0" dirty="0" smtClean="0"/>
              <a:t> throughput</a:t>
            </a:r>
            <a:endParaRPr lang="en-US" baseline="0" dirty="0" smtClean="0"/>
          </a:p>
        </p:txBody>
      </p:sp>
      <p:sp>
        <p:nvSpPr>
          <p:cNvPr id="4" name="Slide Number Placeholder 3"/>
          <p:cNvSpPr>
            <a:spLocks noGrp="1"/>
          </p:cNvSpPr>
          <p:nvPr>
            <p:ph type="sldNum" sz="quarter" idx="10"/>
          </p:nvPr>
        </p:nvSpPr>
        <p:spPr/>
        <p:txBody>
          <a:bodyPr/>
          <a:lstStyle/>
          <a:p>
            <a:fld id="{2914202D-1DA8-470D-B47B-7A6843417B4C}" type="slidenum">
              <a:rPr lang="en-US" smtClean="0"/>
              <a:t>40</a:t>
            </a:fld>
            <a:endParaRPr lang="en-US"/>
          </a:p>
        </p:txBody>
      </p:sp>
    </p:spTree>
    <p:extLst>
      <p:ext uri="{BB962C8B-B14F-4D97-AF65-F5344CB8AC3E}">
        <p14:creationId xmlns:p14="http://schemas.microsoft.com/office/powerpoint/2010/main" val="400488354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Maybe it’s because the files themselves are skewed across the </a:t>
            </a:r>
            <a:r>
              <a:rPr lang="en-US" dirty="0" err="1" smtClean="0"/>
              <a:t>DataNodes</a:t>
            </a:r>
            <a:r>
              <a:rPr lang="en-US" dirty="0" smtClean="0"/>
              <a:t>.</a:t>
            </a:r>
          </a:p>
          <a:p>
            <a:r>
              <a:rPr lang="en-US" dirty="0" smtClean="0"/>
              <a:t>If som</a:t>
            </a:r>
            <a:r>
              <a:rPr lang="en-US" baseline="0" dirty="0" smtClean="0"/>
              <a:t>e </a:t>
            </a:r>
            <a:r>
              <a:rPr lang="en-US" baseline="0" dirty="0" err="1" smtClean="0"/>
              <a:t>DataNodes</a:t>
            </a:r>
            <a:r>
              <a:rPr lang="en-US" baseline="0" dirty="0" smtClean="0"/>
              <a:t> store more replicas than others, and we’re reading files uniformly at random, then that would likely lead to heavier load on those </a:t>
            </a:r>
            <a:r>
              <a:rPr lang="en-US" baseline="0" dirty="0" err="1" smtClean="0"/>
              <a:t>DataNodes</a:t>
            </a:r>
            <a:endParaRPr lang="en-US" baseline="0" dirty="0" smtClean="0"/>
          </a:p>
          <a:p>
            <a:endParaRPr lang="en-US" baseline="0" dirty="0" smtClean="0"/>
          </a:p>
          <a:p>
            <a:r>
              <a:rPr lang="en-US" baseline="0" dirty="0" smtClean="0"/>
              <a:t>So we ask the question – how often is each </a:t>
            </a:r>
            <a:r>
              <a:rPr lang="en-US" baseline="0" dirty="0" err="1" smtClean="0"/>
              <a:t>datanode</a:t>
            </a:r>
            <a:r>
              <a:rPr lang="en-US" baseline="0" dirty="0" smtClean="0"/>
              <a:t> a replica host?</a:t>
            </a:r>
          </a:p>
          <a:p>
            <a:endParaRPr lang="en-US" baseline="0" dirty="0" smtClean="0"/>
          </a:p>
          <a:p>
            <a:r>
              <a:rPr lang="en-US" baseline="0" dirty="0" smtClean="0"/>
              <a:t>We ran this query over a period of time and counted the frequency that each </a:t>
            </a:r>
            <a:r>
              <a:rPr lang="en-US" baseline="0" dirty="0" err="1" smtClean="0"/>
              <a:t>DataNode</a:t>
            </a:r>
            <a:r>
              <a:rPr lang="en-US" baseline="0" dirty="0" smtClean="0"/>
              <a:t> appears as a replica.</a:t>
            </a:r>
          </a:p>
          <a:p>
            <a:r>
              <a:rPr lang="en-US" baseline="0" dirty="0" smtClean="0"/>
              <a:t>This figure shows that, barring minor variations, replicas are mostly distributed evenly across the </a:t>
            </a:r>
            <a:r>
              <a:rPr lang="en-US" baseline="0" dirty="0" err="1" smtClean="0"/>
              <a:t>DataNodes</a:t>
            </a:r>
            <a:r>
              <a:rPr lang="en-US" baseline="0" dirty="0" smtClean="0"/>
              <a:t>.</a:t>
            </a:r>
          </a:p>
          <a:p>
            <a:endParaRPr lang="en-US" baseline="0" dirty="0" smtClean="0"/>
          </a:p>
          <a:p>
            <a:r>
              <a:rPr lang="en-US" baseline="0" dirty="0" smtClean="0"/>
              <a:t>As with the previous query, we want to check that this is individually the case for each client,</a:t>
            </a:r>
          </a:p>
          <a:p>
            <a:r>
              <a:rPr lang="en-US" baseline="0" dirty="0" smtClean="0"/>
              <a:t>So just like before we modify the query to join with and group by the Client.</a:t>
            </a:r>
          </a:p>
          <a:p>
            <a:endParaRPr lang="en-US" baseline="0" dirty="0" smtClean="0"/>
          </a:p>
          <a:p>
            <a:r>
              <a:rPr lang="en-US" baseline="0" dirty="0" smtClean="0"/>
              <a:t>We can now plot the results individually for each client</a:t>
            </a:r>
          </a:p>
          <a:p>
            <a:r>
              <a:rPr lang="en-US" baseline="0" dirty="0" smtClean="0"/>
              <a:t>This result is still the expected behavior for HDFS – that replicas are distributed evenly – and thereby doesn’t account for our weird throughput problem</a:t>
            </a:r>
          </a:p>
        </p:txBody>
      </p:sp>
      <p:sp>
        <p:nvSpPr>
          <p:cNvPr id="4" name="Slide Number Placeholder 3"/>
          <p:cNvSpPr>
            <a:spLocks noGrp="1"/>
          </p:cNvSpPr>
          <p:nvPr>
            <p:ph type="sldNum" sz="quarter" idx="10"/>
          </p:nvPr>
        </p:nvSpPr>
        <p:spPr/>
        <p:txBody>
          <a:bodyPr/>
          <a:lstStyle/>
          <a:p>
            <a:fld id="{2914202D-1DA8-470D-B47B-7A6843417B4C}" type="slidenum">
              <a:rPr lang="en-US" smtClean="0"/>
              <a:t>41</a:t>
            </a:fld>
            <a:endParaRPr lang="en-US"/>
          </a:p>
        </p:txBody>
      </p:sp>
    </p:spTree>
    <p:extLst>
      <p:ext uri="{BB962C8B-B14F-4D97-AF65-F5344CB8AC3E}">
        <p14:creationId xmlns:p14="http://schemas.microsoft.com/office/powerpoint/2010/main" val="408630019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 clients are selecting files uniformly at random, and those files are distributed across </a:t>
            </a:r>
            <a:r>
              <a:rPr lang="en-US" dirty="0" err="1" smtClean="0"/>
              <a:t>DataNodes</a:t>
            </a:r>
            <a:r>
              <a:rPr lang="en-US" dirty="0" smtClean="0"/>
              <a:t> uniformly at random.</a:t>
            </a:r>
          </a:p>
          <a:p>
            <a:r>
              <a:rPr lang="en-US" dirty="0" smtClean="0"/>
              <a:t>Yet, the HDFS</a:t>
            </a:r>
            <a:r>
              <a:rPr lang="en-US" baseline="0" dirty="0" smtClean="0"/>
              <a:t> load is ultimately highly skewed.</a:t>
            </a:r>
            <a:endParaRPr lang="en-US" dirty="0" smtClean="0"/>
          </a:p>
          <a:p>
            <a:r>
              <a:rPr lang="en-US" dirty="0" smtClean="0"/>
              <a:t>So perhaps the issue</a:t>
            </a:r>
            <a:r>
              <a:rPr lang="en-US" baseline="0" dirty="0" smtClean="0"/>
              <a:t> lies in the client’s selection of which replica to read from?</a:t>
            </a:r>
          </a:p>
          <a:p>
            <a:endParaRPr lang="en-US" baseline="0" dirty="0" smtClean="0"/>
          </a:p>
          <a:p>
            <a:r>
              <a:rPr lang="en-US" dirty="0" smtClean="0"/>
              <a:t>As</a:t>
            </a:r>
            <a:r>
              <a:rPr lang="en-US" baseline="0" dirty="0" smtClean="0"/>
              <a:t> mentioned before, the HDFS replica selection policy will perform a local read if it’s able to, but if not then it should randomly select from replicas on the same rack.</a:t>
            </a:r>
          </a:p>
          <a:p>
            <a:endParaRPr lang="en-US" baseline="0" dirty="0" smtClean="0"/>
          </a:p>
          <a:p>
            <a:r>
              <a:rPr lang="en-US" dirty="0" smtClean="0"/>
              <a:t>So let’s ask the following question: when a file is read from a </a:t>
            </a:r>
            <a:r>
              <a:rPr lang="en-US" dirty="0" err="1" smtClean="0"/>
              <a:t>DataNode</a:t>
            </a:r>
            <a:r>
              <a:rPr lang="en-US" dirty="0" smtClean="0"/>
              <a:t>, where</a:t>
            </a:r>
            <a:r>
              <a:rPr lang="en-US" baseline="0" dirty="0" smtClean="0"/>
              <a:t> else </a:t>
            </a:r>
            <a:r>
              <a:rPr lang="en-US" i="1" baseline="0" dirty="0" smtClean="0"/>
              <a:t>could</a:t>
            </a:r>
            <a:r>
              <a:rPr lang="en-US" i="0" baseline="0" dirty="0" smtClean="0"/>
              <a:t> it have been read from?</a:t>
            </a:r>
          </a:p>
          <a:p>
            <a:endParaRPr lang="en-US" i="0" baseline="0" dirty="0" smtClean="0"/>
          </a:p>
          <a:p>
            <a:r>
              <a:rPr lang="en-US" i="0" baseline="0" dirty="0" smtClean="0"/>
              <a:t>To answer this, we can a query that relates the initial </a:t>
            </a:r>
            <a:r>
              <a:rPr lang="en-US" i="0" baseline="0" dirty="0" err="1" smtClean="0"/>
              <a:t>NameNode</a:t>
            </a:r>
            <a:r>
              <a:rPr lang="en-US" i="0" baseline="0" dirty="0" smtClean="0"/>
              <a:t> invocation of </a:t>
            </a:r>
            <a:r>
              <a:rPr lang="en-US" i="0" baseline="0" dirty="0" err="1" smtClean="0"/>
              <a:t>GetBlockLocations</a:t>
            </a:r>
            <a:r>
              <a:rPr lang="en-US" i="0" baseline="0" dirty="0" smtClean="0"/>
              <a:t>, with the subsequent invocation of the </a:t>
            </a:r>
            <a:r>
              <a:rPr lang="en-US" i="0" baseline="0" dirty="0" err="1" smtClean="0"/>
              <a:t>DataTransferProtocol</a:t>
            </a:r>
            <a:r>
              <a:rPr lang="en-US" i="0" baseline="0" dirty="0" smtClean="0"/>
              <a:t> on the replica that the client ends up selecting.</a:t>
            </a:r>
          </a:p>
          <a:p>
            <a:r>
              <a:rPr lang="en-US" i="0" baseline="0" dirty="0" smtClean="0"/>
              <a:t>This query performs a happened-before join between the two </a:t>
            </a:r>
            <a:r>
              <a:rPr lang="en-US" i="0" baseline="0" dirty="0" err="1" smtClean="0"/>
              <a:t>tracepoints</a:t>
            </a:r>
            <a:r>
              <a:rPr lang="en-US" i="0" baseline="0" dirty="0" smtClean="0"/>
              <a:t>, then counts how often each pair occurs, of candidate replica and actual replica.</a:t>
            </a:r>
          </a:p>
          <a:p>
            <a:endParaRPr lang="en-US" i="0" baseline="0" dirty="0" smtClean="0"/>
          </a:p>
          <a:p>
            <a:r>
              <a:rPr lang="en-US" i="0" baseline="0" dirty="0" smtClean="0"/>
              <a:t>We’re going to make our query a little bit more specific.  </a:t>
            </a:r>
          </a:p>
          <a:p>
            <a:r>
              <a:rPr lang="en-US" i="0" baseline="0" dirty="0" smtClean="0"/>
              <a:t>We know that clients will try to first read locally.  What we care about is when client’s can’t read locally and have to choose some random other replica.</a:t>
            </a:r>
          </a:p>
          <a:p>
            <a:endParaRPr lang="en-US" i="0" baseline="0" dirty="0" smtClean="0"/>
          </a:p>
          <a:p>
            <a:r>
              <a:rPr lang="en-US" i="0" baseline="0" dirty="0" smtClean="0"/>
              <a:t>So we’re going to expand our query to also take into account the initiating client</a:t>
            </a:r>
          </a:p>
          <a:p>
            <a:r>
              <a:rPr lang="en-US" i="0" baseline="0" dirty="0" smtClean="0"/>
              <a:t>We’re only going to produce tuples if the hostname of the client is different to the hostname of the </a:t>
            </a:r>
            <a:r>
              <a:rPr lang="en-US" i="0" baseline="0" dirty="0" err="1" smtClean="0"/>
              <a:t>datanode</a:t>
            </a:r>
            <a:r>
              <a:rPr lang="en-US" i="0" baseline="0" dirty="0" smtClean="0"/>
              <a:t> where the data is read.</a:t>
            </a:r>
          </a:p>
          <a:p>
            <a:endParaRPr lang="en-US" i="0" baseline="0" dirty="0" smtClean="0"/>
          </a:p>
          <a:p>
            <a:pPr marL="0" marR="0" indent="0" algn="l" defTabSz="914363" rtl="0" eaLnBrk="1" fontAlgn="auto" latinLnBrk="0" hangingPunct="1">
              <a:lnSpc>
                <a:spcPct val="100000"/>
              </a:lnSpc>
              <a:spcBef>
                <a:spcPts val="0"/>
              </a:spcBef>
              <a:spcAft>
                <a:spcPts val="0"/>
              </a:spcAft>
              <a:buClrTx/>
              <a:buSzTx/>
              <a:buFontTx/>
              <a:buNone/>
              <a:tabLst/>
              <a:defRPr/>
            </a:pPr>
            <a:r>
              <a:rPr lang="en-US" dirty="0" smtClean="0"/>
              <a:t>So we ran this query</a:t>
            </a:r>
            <a:r>
              <a:rPr lang="en-US" baseline="0" dirty="0" smtClean="0"/>
              <a:t>, and I’ll pull up a figure showing the query results in a moment.</a:t>
            </a:r>
          </a:p>
          <a:p>
            <a:pPr marL="0" marR="0" indent="0" algn="l" defTabSz="914363" rtl="0" eaLnBrk="1" fontAlgn="auto" latinLnBrk="0" hangingPunct="1">
              <a:lnSpc>
                <a:spcPct val="100000"/>
              </a:lnSpc>
              <a:spcBef>
                <a:spcPts val="0"/>
              </a:spcBef>
              <a:spcAft>
                <a:spcPts val="0"/>
              </a:spcAft>
              <a:buClrTx/>
              <a:buSzTx/>
              <a:buFontTx/>
              <a:buNone/>
              <a:tabLst/>
              <a:defRPr/>
            </a:pPr>
            <a:r>
              <a:rPr lang="en-US" baseline="0" dirty="0" smtClean="0"/>
              <a:t>The result that we expect to see is along the lines of:</a:t>
            </a:r>
          </a:p>
        </p:txBody>
      </p:sp>
      <p:sp>
        <p:nvSpPr>
          <p:cNvPr id="4" name="Slide Number Placeholder 3"/>
          <p:cNvSpPr>
            <a:spLocks noGrp="1"/>
          </p:cNvSpPr>
          <p:nvPr>
            <p:ph type="sldNum" sz="quarter" idx="10"/>
          </p:nvPr>
        </p:nvSpPr>
        <p:spPr/>
        <p:txBody>
          <a:bodyPr/>
          <a:lstStyle/>
          <a:p>
            <a:fld id="{2914202D-1DA8-470D-B47B-7A6843417B4C}" type="slidenum">
              <a:rPr lang="en-US" smtClean="0"/>
              <a:t>42</a:t>
            </a:fld>
            <a:endParaRPr lang="en-US"/>
          </a:p>
        </p:txBody>
      </p:sp>
    </p:spTree>
    <p:extLst>
      <p:ext uri="{BB962C8B-B14F-4D97-AF65-F5344CB8AC3E}">
        <p14:creationId xmlns:p14="http://schemas.microsoft.com/office/powerpoint/2010/main" val="296196520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Whenever a client gets to choose between a replica on B and a replica on D, about 50% of the time B is selected, and 50% of the time D is selected</a:t>
            </a:r>
          </a:p>
          <a:p>
            <a:endParaRPr lang="en-US" dirty="0" smtClean="0"/>
          </a:p>
          <a:p>
            <a:r>
              <a:rPr lang="en-US" dirty="0" smtClean="0"/>
              <a:t>I’m going to plot the matrix of replica</a:t>
            </a:r>
            <a:r>
              <a:rPr lang="en-US" baseline="0" dirty="0" smtClean="0"/>
              <a:t> selection preferences starting with </a:t>
            </a:r>
            <a:r>
              <a:rPr lang="en-US" baseline="0" dirty="0" err="1" smtClean="0"/>
              <a:t>DataNode</a:t>
            </a:r>
            <a:r>
              <a:rPr lang="en-US" baseline="0" dirty="0" smtClean="0"/>
              <a:t> A</a:t>
            </a:r>
          </a:p>
          <a:p>
            <a:r>
              <a:rPr lang="en-US" baseline="0" dirty="0" smtClean="0"/>
              <a:t>This highlighted cell tells us that when choosing between a replica on A and a replica on C, clients are selecting A 100% of the time, … and C 0% of the time</a:t>
            </a:r>
          </a:p>
          <a:p>
            <a:endParaRPr lang="en-US" baseline="0" dirty="0" smtClean="0"/>
          </a:p>
          <a:p>
            <a:r>
              <a:rPr lang="en-US" baseline="0" dirty="0" smtClean="0"/>
              <a:t>Looking now at B, for example,</a:t>
            </a:r>
          </a:p>
          <a:p>
            <a:r>
              <a:rPr lang="en-US" baseline="0" dirty="0" smtClean="0"/>
              <a:t>This highlighted cell tells us that when choosing between a replica on B and a replica on D, clients are selecting B 0% of the time, … and D 100% of the time.</a:t>
            </a:r>
          </a:p>
          <a:p>
            <a:endParaRPr lang="en-US" baseline="0" dirty="0" smtClean="0"/>
          </a:p>
          <a:p>
            <a:r>
              <a:rPr lang="en-US" baseline="0" dirty="0" smtClean="0"/>
              <a:t>As it turns out, there is clearly a preferred order of replicas, where A is the first preference, followed by D, then B, and so on.</a:t>
            </a:r>
          </a:p>
          <a:p>
            <a:r>
              <a:rPr lang="en-US" baseline="0" dirty="0" smtClean="0"/>
              <a:t>This shouldn’t be the case!  We are supposed to be selecting replicas randomly, and this figure should be completely uniform!</a:t>
            </a:r>
          </a:p>
          <a:p>
            <a:endParaRPr lang="en-US" baseline="0" dirty="0" smtClean="0"/>
          </a:p>
        </p:txBody>
      </p:sp>
      <p:sp>
        <p:nvSpPr>
          <p:cNvPr id="4" name="Slide Number Placeholder 3"/>
          <p:cNvSpPr>
            <a:spLocks noGrp="1"/>
          </p:cNvSpPr>
          <p:nvPr>
            <p:ph type="sldNum" sz="quarter" idx="10"/>
          </p:nvPr>
        </p:nvSpPr>
        <p:spPr/>
        <p:txBody>
          <a:bodyPr/>
          <a:lstStyle/>
          <a:p>
            <a:fld id="{2914202D-1DA8-470D-B47B-7A6843417B4C}" type="slidenum">
              <a:rPr lang="en-US" smtClean="0"/>
              <a:t>43</a:t>
            </a:fld>
            <a:endParaRPr lang="en-US"/>
          </a:p>
        </p:txBody>
      </p:sp>
    </p:spTree>
    <p:extLst>
      <p:ext uri="{BB962C8B-B14F-4D97-AF65-F5344CB8AC3E}">
        <p14:creationId xmlns:p14="http://schemas.microsoft.com/office/powerpoint/2010/main" val="30806148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It turns out that this is the cause for the weird throughput variations we originally saw.</a:t>
            </a:r>
          </a:p>
          <a:p>
            <a:r>
              <a:rPr lang="en-US" baseline="0" dirty="0" smtClean="0"/>
              <a:t>What was happening was that the </a:t>
            </a:r>
            <a:r>
              <a:rPr lang="en-US" baseline="0" dirty="0" err="1" smtClean="0"/>
              <a:t>NameNode</a:t>
            </a:r>
            <a:r>
              <a:rPr lang="en-US" baseline="0" dirty="0" smtClean="0"/>
              <a:t> was not randomizing the replicas list returned back to the client, and the client was always selecting the first replica from the list.</a:t>
            </a:r>
          </a:p>
          <a:p>
            <a:r>
              <a:rPr lang="en-US" baseline="0" dirty="0" smtClean="0"/>
              <a:t>This lead to high load on some machines and very little on others</a:t>
            </a:r>
          </a:p>
          <a:p>
            <a:r>
              <a:rPr lang="en-US" baseline="0" dirty="0" smtClean="0"/>
              <a:t>We did not know about this bug before discovering it with Pivot Tracing.  It turns out another HDFS user had also discovered the bug, and since then it has been fixed in release 2.5 of HDFS.</a:t>
            </a:r>
          </a:p>
          <a:p>
            <a:endParaRPr lang="en-US" baseline="0" dirty="0" smtClean="0"/>
          </a:p>
          <a:p>
            <a:r>
              <a:rPr lang="en-US" baseline="0" dirty="0" smtClean="0"/>
              <a:t>This experiment demonstrates the kind of seamless correlations Pivot Tracing can perform at runtime, even for very specific one-off metrics</a:t>
            </a:r>
          </a:p>
          <a:p>
            <a:r>
              <a:rPr lang="en-US" baseline="0" dirty="0" smtClean="0"/>
              <a:t>The overhead of evaluating these queries is quite low</a:t>
            </a:r>
          </a:p>
          <a:p>
            <a:r>
              <a:rPr lang="en-US" baseline="0" dirty="0" smtClean="0"/>
              <a:t>With all of the queries from this experiment installed, we only imposed an application-level overhead of 1.5% on the workloads we were running – that overhead includes both the overhead of adding pivot tracing, and the evaluating the queries.</a:t>
            </a:r>
          </a:p>
        </p:txBody>
      </p:sp>
      <p:sp>
        <p:nvSpPr>
          <p:cNvPr id="4" name="Slide Number Placeholder 3"/>
          <p:cNvSpPr>
            <a:spLocks noGrp="1"/>
          </p:cNvSpPr>
          <p:nvPr>
            <p:ph type="sldNum" sz="quarter" idx="10"/>
          </p:nvPr>
        </p:nvSpPr>
        <p:spPr/>
        <p:txBody>
          <a:bodyPr/>
          <a:lstStyle/>
          <a:p>
            <a:fld id="{2914202D-1DA8-470D-B47B-7A6843417B4C}" type="slidenum">
              <a:rPr lang="en-US" smtClean="0"/>
              <a:t>44</a:t>
            </a:fld>
            <a:endParaRPr lang="en-US"/>
          </a:p>
        </p:txBody>
      </p:sp>
    </p:spTree>
    <p:extLst>
      <p:ext uri="{BB962C8B-B14F-4D97-AF65-F5344CB8AC3E}">
        <p14:creationId xmlns:p14="http://schemas.microsoft.com/office/powerpoint/2010/main" val="283833819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conclude, with</a:t>
            </a:r>
            <a:r>
              <a:rPr lang="en-US" baseline="0" dirty="0" smtClean="0"/>
              <a:t> Pivot Tracing we introduced the Happened-before join, the enables queries to be contextualized by </a:t>
            </a:r>
            <a:r>
              <a:rPr lang="en-US" baseline="0" dirty="0" err="1" smtClean="0"/>
              <a:t>lamport’s</a:t>
            </a:r>
            <a:r>
              <a:rPr lang="en-US" baseline="0" dirty="0" smtClean="0"/>
              <a:t> happened-before relation.</a:t>
            </a:r>
          </a:p>
          <a:p>
            <a:endParaRPr lang="en-US" baseline="0" dirty="0" smtClean="0"/>
          </a:p>
          <a:p>
            <a:r>
              <a:rPr lang="en-US" baseline="0" dirty="0" smtClean="0"/>
              <a:t>Pivot Tracing addresses the limitations of logging and debugging in distributed systems by combining dynamic instrumentation with causal tracing techniques, to enable efficient runtime evaluation of the happened-before join.</a:t>
            </a:r>
          </a:p>
          <a:p>
            <a:endParaRPr lang="en-US" baseline="0" dirty="0" smtClean="0"/>
          </a:p>
          <a:p>
            <a:r>
              <a:rPr lang="en-US" baseline="0" dirty="0" smtClean="0"/>
              <a:t>The overheads of evaluating the happened-before join are sufficiently low that we believe Pivot Tracing is suitable for production systems, both for high-level standing queries and for digging deeper when necessary</a:t>
            </a:r>
            <a:r>
              <a:rPr lang="en-US" baseline="0" dirty="0" smtClean="0"/>
              <a:t>.</a:t>
            </a:r>
            <a:endParaRPr lang="en-US" baseline="0" dirty="0" smtClean="0"/>
          </a:p>
        </p:txBody>
      </p:sp>
      <p:sp>
        <p:nvSpPr>
          <p:cNvPr id="4" name="Slide Number Placeholder 3"/>
          <p:cNvSpPr>
            <a:spLocks noGrp="1"/>
          </p:cNvSpPr>
          <p:nvPr>
            <p:ph type="sldNum" sz="quarter" idx="10"/>
          </p:nvPr>
        </p:nvSpPr>
        <p:spPr/>
        <p:txBody>
          <a:bodyPr/>
          <a:lstStyle/>
          <a:p>
            <a:fld id="{2914202D-1DA8-470D-B47B-7A6843417B4C}" type="slidenum">
              <a:rPr lang="en-US" smtClean="0"/>
              <a:t>45</a:t>
            </a:fld>
            <a:endParaRPr lang="en-US"/>
          </a:p>
        </p:txBody>
      </p:sp>
    </p:spTree>
    <p:extLst>
      <p:ext uri="{BB962C8B-B14F-4D97-AF65-F5344CB8AC3E}">
        <p14:creationId xmlns:p14="http://schemas.microsoft.com/office/powerpoint/2010/main" val="12633386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smtClean="0"/>
          </a:p>
        </p:txBody>
      </p:sp>
      <p:sp>
        <p:nvSpPr>
          <p:cNvPr id="4" name="Slide Number Placeholder 3"/>
          <p:cNvSpPr>
            <a:spLocks noGrp="1"/>
          </p:cNvSpPr>
          <p:nvPr>
            <p:ph type="sldNum" sz="quarter" idx="10"/>
          </p:nvPr>
        </p:nvSpPr>
        <p:spPr/>
        <p:txBody>
          <a:bodyPr/>
          <a:lstStyle/>
          <a:p>
            <a:fld id="{2914202D-1DA8-470D-B47B-7A6843417B4C}" type="slidenum">
              <a:rPr lang="en-US" smtClean="0"/>
              <a:t>46</a:t>
            </a:fld>
            <a:endParaRPr lang="en-US"/>
          </a:p>
        </p:txBody>
      </p:sp>
    </p:spTree>
    <p:extLst>
      <p:ext uri="{BB962C8B-B14F-4D97-AF65-F5344CB8AC3E}">
        <p14:creationId xmlns:p14="http://schemas.microsoft.com/office/powerpoint/2010/main" val="8534432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182" indent="0" algn="ctr">
              <a:buNone/>
              <a:defRPr sz="2000"/>
            </a:lvl2pPr>
            <a:lvl3pPr marL="914363" indent="0" algn="ctr">
              <a:buNone/>
              <a:defRPr sz="1800"/>
            </a:lvl3pPr>
            <a:lvl4pPr marL="1371545" indent="0" algn="ctr">
              <a:buNone/>
              <a:defRPr sz="1600"/>
            </a:lvl4pPr>
            <a:lvl5pPr marL="1828727" indent="0" algn="ctr">
              <a:buNone/>
              <a:defRPr sz="1600"/>
            </a:lvl5pPr>
            <a:lvl6pPr marL="2285909" indent="0" algn="ctr">
              <a:buNone/>
              <a:defRPr sz="1600"/>
            </a:lvl6pPr>
            <a:lvl7pPr marL="2743090" indent="0" algn="ctr">
              <a:buNone/>
              <a:defRPr sz="1600"/>
            </a:lvl7pPr>
            <a:lvl8pPr marL="3200272" indent="0" algn="ctr">
              <a:buNone/>
              <a:defRPr sz="1600"/>
            </a:lvl8pPr>
            <a:lvl9pPr marL="3657454"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031CC51A-E982-5D46-8C82-35E1E7B0B97B}" type="datetime1">
              <a:rPr lang="en-US" smtClean="0"/>
              <a:t>10/14/15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31E30F-8439-471B-9257-EDD8E85CDBC8}" type="slidenum">
              <a:rPr lang="en-US" smtClean="0"/>
              <a:t>‹#›</a:t>
            </a:fld>
            <a:endParaRPr lang="en-US"/>
          </a:p>
        </p:txBody>
      </p:sp>
    </p:spTree>
    <p:extLst>
      <p:ext uri="{BB962C8B-B14F-4D97-AF65-F5344CB8AC3E}">
        <p14:creationId xmlns:p14="http://schemas.microsoft.com/office/powerpoint/2010/main" val="398526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0C8B3FA-D4FD-4D41-9BA0-24D5709F1CDC}" type="datetime1">
              <a:rPr lang="en-US" smtClean="0"/>
              <a:t>10/14/15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31E30F-8439-471B-9257-EDD8E85CDBC8}" type="slidenum">
              <a:rPr lang="en-US" smtClean="0"/>
              <a:t>‹#›</a:t>
            </a:fld>
            <a:endParaRPr lang="en-US"/>
          </a:p>
        </p:txBody>
      </p:sp>
    </p:spTree>
    <p:extLst>
      <p:ext uri="{BB962C8B-B14F-4D97-AF65-F5344CB8AC3E}">
        <p14:creationId xmlns:p14="http://schemas.microsoft.com/office/powerpoint/2010/main" val="35050005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0"/>
            <a:ext cx="78867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623888" y="4589465"/>
            <a:ext cx="7886700" cy="1500187"/>
          </a:xfrm>
        </p:spPr>
        <p:txBody>
          <a:bodyPr/>
          <a:lstStyle>
            <a:lvl1pPr marL="0" indent="0">
              <a:buNone/>
              <a:defRPr sz="2400">
                <a:solidFill>
                  <a:schemeClr val="tx1"/>
                </a:solidFill>
              </a:defRPr>
            </a:lvl1pPr>
            <a:lvl2pPr marL="457182" indent="0">
              <a:buNone/>
              <a:defRPr sz="2000">
                <a:solidFill>
                  <a:schemeClr val="tx1">
                    <a:tint val="75000"/>
                  </a:schemeClr>
                </a:solidFill>
              </a:defRPr>
            </a:lvl2pPr>
            <a:lvl3pPr marL="914363" indent="0">
              <a:buNone/>
              <a:defRPr sz="1800">
                <a:solidFill>
                  <a:schemeClr val="tx1">
                    <a:tint val="75000"/>
                  </a:schemeClr>
                </a:solidFill>
              </a:defRPr>
            </a:lvl3pPr>
            <a:lvl4pPr marL="1371545" indent="0">
              <a:buNone/>
              <a:defRPr sz="1600">
                <a:solidFill>
                  <a:schemeClr val="tx1">
                    <a:tint val="75000"/>
                  </a:schemeClr>
                </a:solidFill>
              </a:defRPr>
            </a:lvl4pPr>
            <a:lvl5pPr marL="1828727" indent="0">
              <a:buNone/>
              <a:defRPr sz="1600">
                <a:solidFill>
                  <a:schemeClr val="tx1">
                    <a:tint val="75000"/>
                  </a:schemeClr>
                </a:solidFill>
              </a:defRPr>
            </a:lvl5pPr>
            <a:lvl6pPr marL="2285909" indent="0">
              <a:buNone/>
              <a:defRPr sz="1600">
                <a:solidFill>
                  <a:schemeClr val="tx1">
                    <a:tint val="75000"/>
                  </a:schemeClr>
                </a:solidFill>
              </a:defRPr>
            </a:lvl6pPr>
            <a:lvl7pPr marL="2743090" indent="0">
              <a:buNone/>
              <a:defRPr sz="1600">
                <a:solidFill>
                  <a:schemeClr val="tx1">
                    <a:tint val="75000"/>
                  </a:schemeClr>
                </a:solidFill>
              </a:defRPr>
            </a:lvl7pPr>
            <a:lvl8pPr marL="3200272" indent="0">
              <a:buNone/>
              <a:defRPr sz="1600">
                <a:solidFill>
                  <a:schemeClr val="tx1">
                    <a:tint val="75000"/>
                  </a:schemeClr>
                </a:solidFill>
              </a:defRPr>
            </a:lvl8pPr>
            <a:lvl9pPr marL="3657454"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A7B78A8-C360-E347-95E9-DB5F3959A9F2}" type="datetime1">
              <a:rPr lang="en-US" smtClean="0"/>
              <a:t>10/14/15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31E30F-8439-471B-9257-EDD8E85CDBC8}" type="slidenum">
              <a:rPr lang="en-US" smtClean="0"/>
              <a:t>‹#›</a:t>
            </a:fld>
            <a:endParaRPr lang="en-US"/>
          </a:p>
        </p:txBody>
      </p:sp>
    </p:spTree>
    <p:extLst>
      <p:ext uri="{BB962C8B-B14F-4D97-AF65-F5344CB8AC3E}">
        <p14:creationId xmlns:p14="http://schemas.microsoft.com/office/powerpoint/2010/main" val="39762476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2CB794B8-D4DE-5E49-9A59-BDA984E8AFD9}" type="datetime1">
              <a:rPr lang="en-US" smtClean="0"/>
              <a:t>10/14/15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31E30F-8439-471B-9257-EDD8E85CDBC8}" type="slidenum">
              <a:rPr lang="en-US" smtClean="0"/>
              <a:t>‹#›</a:t>
            </a:fld>
            <a:endParaRPr lang="en-US"/>
          </a:p>
        </p:txBody>
      </p:sp>
    </p:spTree>
    <p:extLst>
      <p:ext uri="{BB962C8B-B14F-4D97-AF65-F5344CB8AC3E}">
        <p14:creationId xmlns:p14="http://schemas.microsoft.com/office/powerpoint/2010/main" val="37526782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7"/>
            <a:ext cx="78867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29151" y="1681163"/>
            <a:ext cx="3887391" cy="823912"/>
          </a:xfrm>
        </p:spPr>
        <p:txBody>
          <a:bodyPr anchor="b"/>
          <a:lstStyle>
            <a:lvl1pPr marL="0" indent="0">
              <a:buNone/>
              <a:defRPr sz="24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1"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696CD95-6111-AE44-87C0-7FF2130472B7}" type="datetime1">
              <a:rPr lang="en-US" smtClean="0"/>
              <a:t>10/14/15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431E30F-8439-471B-9257-EDD8E85CDBC8}" type="slidenum">
              <a:rPr lang="en-US" smtClean="0"/>
              <a:t>‹#›</a:t>
            </a:fld>
            <a:endParaRPr lang="en-US"/>
          </a:p>
        </p:txBody>
      </p:sp>
    </p:spTree>
    <p:extLst>
      <p:ext uri="{BB962C8B-B14F-4D97-AF65-F5344CB8AC3E}">
        <p14:creationId xmlns:p14="http://schemas.microsoft.com/office/powerpoint/2010/main" val="30663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40FFE88-5242-1B48-9577-7BE7A383A38B}" type="datetime1">
              <a:rPr lang="en-US" smtClean="0"/>
              <a:t>10/14/15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431E30F-8439-471B-9257-EDD8E85CDBC8}" type="slidenum">
              <a:rPr lang="en-US" smtClean="0"/>
              <a:t>‹#›</a:t>
            </a:fld>
            <a:endParaRPr lang="en-US"/>
          </a:p>
        </p:txBody>
      </p:sp>
    </p:spTree>
    <p:extLst>
      <p:ext uri="{BB962C8B-B14F-4D97-AF65-F5344CB8AC3E}">
        <p14:creationId xmlns:p14="http://schemas.microsoft.com/office/powerpoint/2010/main" val="36067912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067A49-E5DD-F348-AB94-6F5642C5BBB8}" type="datetime1">
              <a:rPr lang="en-US" smtClean="0"/>
              <a:t>10/14/15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431E30F-8439-471B-9257-EDD8E85CDBC8}" type="slidenum">
              <a:rPr lang="en-US" smtClean="0"/>
              <a:t>‹#›</a:t>
            </a:fld>
            <a:endParaRPr lang="en-US"/>
          </a:p>
        </p:txBody>
      </p:sp>
    </p:spTree>
    <p:extLst>
      <p:ext uri="{BB962C8B-B14F-4D97-AF65-F5344CB8AC3E}">
        <p14:creationId xmlns:p14="http://schemas.microsoft.com/office/powerpoint/2010/main" val="9429037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3887391" y="987427"/>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182" indent="0">
              <a:buNone/>
              <a:defRPr sz="1400"/>
            </a:lvl2pPr>
            <a:lvl3pPr marL="914363" indent="0">
              <a:buNone/>
              <a:defRPr sz="1200"/>
            </a:lvl3pPr>
            <a:lvl4pPr marL="1371545" indent="0">
              <a:buNone/>
              <a:defRPr sz="1000"/>
            </a:lvl4pPr>
            <a:lvl5pPr marL="1828727" indent="0">
              <a:buNone/>
              <a:defRPr sz="1000"/>
            </a:lvl5pPr>
            <a:lvl6pPr marL="2285909" indent="0">
              <a:buNone/>
              <a:defRPr sz="1000"/>
            </a:lvl6pPr>
            <a:lvl7pPr marL="2743090" indent="0">
              <a:buNone/>
              <a:defRPr sz="1000"/>
            </a:lvl7pPr>
            <a:lvl8pPr marL="3200272" indent="0">
              <a:buNone/>
              <a:defRPr sz="1000"/>
            </a:lvl8pPr>
            <a:lvl9pPr marL="3657454"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A4A80DC-18B3-2C4B-8537-39E01501CEB8}" type="datetime1">
              <a:rPr lang="en-US" smtClean="0"/>
              <a:t>10/14/15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31E30F-8439-471B-9257-EDD8E85CDBC8}" type="slidenum">
              <a:rPr lang="en-US" smtClean="0"/>
              <a:t>‹#›</a:t>
            </a:fld>
            <a:endParaRPr lang="en-US"/>
          </a:p>
        </p:txBody>
      </p:sp>
    </p:spTree>
    <p:extLst>
      <p:ext uri="{BB962C8B-B14F-4D97-AF65-F5344CB8AC3E}">
        <p14:creationId xmlns:p14="http://schemas.microsoft.com/office/powerpoint/2010/main" val="29935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887391" y="987427"/>
            <a:ext cx="4629150" cy="4873625"/>
          </a:xfrm>
        </p:spPr>
        <p:txBody>
          <a:bodyPr anchor="t"/>
          <a:lstStyle>
            <a:lvl1pPr marL="0" indent="0">
              <a:buNone/>
              <a:defRPr sz="3200"/>
            </a:lvl1pPr>
            <a:lvl2pPr marL="457182" indent="0">
              <a:buNone/>
              <a:defRPr sz="2800"/>
            </a:lvl2pPr>
            <a:lvl3pPr marL="914363" indent="0">
              <a:buNone/>
              <a:defRPr sz="2400"/>
            </a:lvl3pPr>
            <a:lvl4pPr marL="1371545" indent="0">
              <a:buNone/>
              <a:defRPr sz="2000"/>
            </a:lvl4pPr>
            <a:lvl5pPr marL="1828727" indent="0">
              <a:buNone/>
              <a:defRPr sz="2000"/>
            </a:lvl5pPr>
            <a:lvl6pPr marL="2285909" indent="0">
              <a:buNone/>
              <a:defRPr sz="2000"/>
            </a:lvl6pPr>
            <a:lvl7pPr marL="2743090" indent="0">
              <a:buNone/>
              <a:defRPr sz="2000"/>
            </a:lvl7pPr>
            <a:lvl8pPr marL="3200272" indent="0">
              <a:buNone/>
              <a:defRPr sz="2000"/>
            </a:lvl8pPr>
            <a:lvl9pPr marL="3657454"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182" indent="0">
              <a:buNone/>
              <a:defRPr sz="1400"/>
            </a:lvl2pPr>
            <a:lvl3pPr marL="914363" indent="0">
              <a:buNone/>
              <a:defRPr sz="1200"/>
            </a:lvl3pPr>
            <a:lvl4pPr marL="1371545" indent="0">
              <a:buNone/>
              <a:defRPr sz="1000"/>
            </a:lvl4pPr>
            <a:lvl5pPr marL="1828727" indent="0">
              <a:buNone/>
              <a:defRPr sz="1000"/>
            </a:lvl5pPr>
            <a:lvl6pPr marL="2285909" indent="0">
              <a:buNone/>
              <a:defRPr sz="1000"/>
            </a:lvl6pPr>
            <a:lvl7pPr marL="2743090" indent="0">
              <a:buNone/>
              <a:defRPr sz="1000"/>
            </a:lvl7pPr>
            <a:lvl8pPr marL="3200272" indent="0">
              <a:buNone/>
              <a:defRPr sz="1000"/>
            </a:lvl8pPr>
            <a:lvl9pPr marL="3657454"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A54E195-0479-4D46-BF66-32C6E3AE5080}" type="datetime1">
              <a:rPr lang="en-US" smtClean="0"/>
              <a:t>10/14/15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31E30F-8439-471B-9257-EDD8E85CDBC8}" type="slidenum">
              <a:rPr lang="en-US" smtClean="0"/>
              <a:t>‹#›</a:t>
            </a:fld>
            <a:endParaRPr lang="en-US"/>
          </a:p>
        </p:txBody>
      </p:sp>
    </p:spTree>
    <p:extLst>
      <p:ext uri="{BB962C8B-B14F-4D97-AF65-F5344CB8AC3E}">
        <p14:creationId xmlns:p14="http://schemas.microsoft.com/office/powerpoint/2010/main" val="24666250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85387D8-AE73-E942-B92F-A7F41DE0DBF7}" type="datetime1">
              <a:rPr lang="en-US" smtClean="0"/>
              <a:t>10/14/15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31E30F-8439-471B-9257-EDD8E85CDBC8}" type="slidenum">
              <a:rPr lang="en-US" smtClean="0"/>
              <a:t>‹#›</a:t>
            </a:fld>
            <a:endParaRPr lang="en-US"/>
          </a:p>
        </p:txBody>
      </p:sp>
    </p:spTree>
    <p:extLst>
      <p:ext uri="{BB962C8B-B14F-4D97-AF65-F5344CB8AC3E}">
        <p14:creationId xmlns:p14="http://schemas.microsoft.com/office/powerpoint/2010/main" val="34281528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5"/>
            <a:ext cx="1971675"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1" y="365125"/>
            <a:ext cx="5800725"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4D45626-8AEF-D04B-8CDC-34F3F242FCF7}" type="datetime1">
              <a:rPr lang="en-US" smtClean="0"/>
              <a:t>10/14/15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31E30F-8439-471B-9257-EDD8E85CDBC8}" type="slidenum">
              <a:rPr lang="en-US" smtClean="0"/>
              <a:t>‹#›</a:t>
            </a:fld>
            <a:endParaRPr lang="en-US"/>
          </a:p>
        </p:txBody>
      </p:sp>
    </p:spTree>
    <p:extLst>
      <p:ext uri="{BB962C8B-B14F-4D97-AF65-F5344CB8AC3E}">
        <p14:creationId xmlns:p14="http://schemas.microsoft.com/office/powerpoint/2010/main" val="1070137407"/>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7"/>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6356352"/>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796604-1048-EF4A-8E36-417320849161}" type="datetime1">
              <a:rPr lang="en-US" smtClean="0"/>
              <a:t>10/14/15</a:t>
            </a:fld>
            <a:endParaRPr lang="en-US"/>
          </a:p>
        </p:txBody>
      </p:sp>
      <p:sp>
        <p:nvSpPr>
          <p:cNvPr id="5" name="Footer Placeholder 4"/>
          <p:cNvSpPr>
            <a:spLocks noGrp="1"/>
          </p:cNvSpPr>
          <p:nvPr>
            <p:ph type="ftr" sz="quarter" idx="3"/>
          </p:nvPr>
        </p:nvSpPr>
        <p:spPr>
          <a:xfrm>
            <a:off x="3028950" y="6356352"/>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2"/>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31E30F-8439-471B-9257-EDD8E85CDBC8}" type="slidenum">
              <a:rPr lang="en-US" smtClean="0"/>
              <a:t>‹#›</a:t>
            </a:fld>
            <a:endParaRPr lang="en-US"/>
          </a:p>
        </p:txBody>
      </p:sp>
    </p:spTree>
    <p:extLst>
      <p:ext uri="{BB962C8B-B14F-4D97-AF65-F5344CB8AC3E}">
        <p14:creationId xmlns:p14="http://schemas.microsoft.com/office/powerpoint/2010/main" val="2543369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363"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1" indent="-228591" algn="l" defTabSz="91436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73" indent="-228591" algn="l" defTabSz="91436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54" indent="-228591" algn="l" defTabSz="91436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36"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18"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99"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81"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63"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45"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3.jpeg"/><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4" Type="http://schemas.openxmlformats.org/officeDocument/2006/relationships/image" Target="../media/image1.jpeg"/><Relationship Id="rId5" Type="http://schemas.openxmlformats.org/officeDocument/2006/relationships/image" Target="../media/image2.png"/><Relationship Id="rId6" Type="http://schemas.openxmlformats.org/officeDocument/2006/relationships/image" Target="../media/image3.jpeg"/><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emf"/></Relationships>
</file>

<file path=ppt/slides/_rels/slide6.xml.rels><?xml version="1.0" encoding="UTF-8" standalone="yes"?>
<Relationships xmlns="http://schemas.openxmlformats.org/package/2006/relationships"><Relationship Id="rId3" Type="http://schemas.openxmlformats.org/officeDocument/2006/relationships/image" Target="../media/image5.emf"/><Relationship Id="rId4" Type="http://schemas.openxmlformats.org/officeDocument/2006/relationships/image" Target="../media/image6.emf"/><Relationship Id="rId5" Type="http://schemas.openxmlformats.org/officeDocument/2006/relationships/image" Target="../media/image7.emf"/><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5.emf"/><Relationship Id="rId4" Type="http://schemas.openxmlformats.org/officeDocument/2006/relationships/image" Target="../media/image7.emf"/><Relationship Id="rId5" Type="http://schemas.openxmlformats.org/officeDocument/2006/relationships/image" Target="../media/image6.emf"/><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image" Target="../media/image5.emf"/><Relationship Id="rId4" Type="http://schemas.openxmlformats.org/officeDocument/2006/relationships/image" Target="../media/image7.emf"/><Relationship Id="rId5" Type="http://schemas.openxmlformats.org/officeDocument/2006/relationships/image" Target="../media/image6.emf"/><Relationship Id="rId6" Type="http://schemas.openxmlformats.org/officeDocument/2006/relationships/image" Target="../media/image8.emf"/><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image" Target="../media/image5.emf"/><Relationship Id="rId4" Type="http://schemas.openxmlformats.org/officeDocument/2006/relationships/image" Target="../media/image8.emf"/><Relationship Id="rId5" Type="http://schemas.openxmlformats.org/officeDocument/2006/relationships/image" Target="../media/image9.png"/><Relationship Id="rId6" Type="http://schemas.openxmlformats.org/officeDocument/2006/relationships/image" Target="../media/image6.emf"/><Relationship Id="rId7" Type="http://schemas.openxmlformats.org/officeDocument/2006/relationships/image" Target="../media/image10.png"/><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image" Target="../media/image5.emf"/><Relationship Id="rId4" Type="http://schemas.openxmlformats.org/officeDocument/2006/relationships/image" Target="../media/image6.emf"/><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emf"/></Relationships>
</file>

<file path=ppt/slides/_rels/slide16.xml.rels><?xml version="1.0" encoding="UTF-8" standalone="yes"?>
<Relationships xmlns="http://schemas.openxmlformats.org/package/2006/relationships"><Relationship Id="rId3" Type="http://schemas.openxmlformats.org/officeDocument/2006/relationships/image" Target="../media/image5.emf"/><Relationship Id="rId4" Type="http://schemas.openxmlformats.org/officeDocument/2006/relationships/image" Target="../media/image6.emf"/><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image" Target="../media/image5.emf"/><Relationship Id="rId4" Type="http://schemas.openxmlformats.org/officeDocument/2006/relationships/image" Target="../media/image6.emf"/><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image" Target="../media/image5.emf"/><Relationship Id="rId4" Type="http://schemas.openxmlformats.org/officeDocument/2006/relationships/image" Target="../media/image6.emf"/><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2.png"/></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4" Type="http://schemas.openxmlformats.org/officeDocument/2006/relationships/image" Target="../media/image14.png"/><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3" Type="http://schemas.openxmlformats.org/officeDocument/2006/relationships/image" Target="../media/image5.emf"/><Relationship Id="rId4" Type="http://schemas.openxmlformats.org/officeDocument/2006/relationships/image" Target="../media/image6.emf"/><Relationship Id="rId5" Type="http://schemas.openxmlformats.org/officeDocument/2006/relationships/image" Target="../media/image8.emf"/><Relationship Id="rId6" Type="http://schemas.openxmlformats.org/officeDocument/2006/relationships/image" Target="../media/image15.png"/><Relationship Id="rId7" Type="http://schemas.openxmlformats.org/officeDocument/2006/relationships/image" Target="../media/image16.png"/><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6.png"/></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4" Type="http://schemas.openxmlformats.org/officeDocument/2006/relationships/image" Target="../media/image18.png"/><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9.png"/></Relationships>
</file>

<file path=ppt/slides/_rels/slide39.xml.rels><?xml version="1.0" encoding="UTF-8" standalone="yes"?>
<Relationships xmlns="http://schemas.openxmlformats.org/package/2006/relationships"><Relationship Id="rId3" Type="http://schemas.openxmlformats.org/officeDocument/2006/relationships/image" Target="../media/image20.png"/><Relationship Id="rId4" Type="http://schemas.openxmlformats.org/officeDocument/2006/relationships/image" Target="../media/image21.png"/><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3" Type="http://schemas.openxmlformats.org/officeDocument/2006/relationships/image" Target="../media/image17.png"/><Relationship Id="rId4" Type="http://schemas.openxmlformats.org/officeDocument/2006/relationships/image" Target="../media/image22.png"/><Relationship Id="rId5" Type="http://schemas.openxmlformats.org/officeDocument/2006/relationships/image" Target="../media/image23.png"/><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3" Type="http://schemas.openxmlformats.org/officeDocument/2006/relationships/image" Target="../media/image17.png"/><Relationship Id="rId4" Type="http://schemas.openxmlformats.org/officeDocument/2006/relationships/image" Target="../media/image22.png"/><Relationship Id="rId5" Type="http://schemas.openxmlformats.org/officeDocument/2006/relationships/image" Target="../media/image24.png"/><Relationship Id="rId6" Type="http://schemas.openxmlformats.org/officeDocument/2006/relationships/image" Target="../media/image23.png"/><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23.png"/><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3" Type="http://schemas.openxmlformats.org/officeDocument/2006/relationships/image" Target="../media/image22.png"/><Relationship Id="rId4" Type="http://schemas.openxmlformats.org/officeDocument/2006/relationships/image" Target="../media/image25.png"/><Relationship Id="rId5" Type="http://schemas.openxmlformats.org/officeDocument/2006/relationships/image" Target="../media/image23.png"/><Relationship Id="rId6" Type="http://schemas.openxmlformats.org/officeDocument/2006/relationships/image" Target="../media/image26.png"/><Relationship Id="rId7" Type="http://schemas.openxmlformats.org/officeDocument/2006/relationships/image" Target="../media/image17.png"/><Relationship Id="rId8" Type="http://schemas.openxmlformats.org/officeDocument/2006/relationships/image" Target="../media/image18.png"/><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3" Type="http://schemas.openxmlformats.org/officeDocument/2006/relationships/image" Target="../media/image23.png"/><Relationship Id="rId4" Type="http://schemas.openxmlformats.org/officeDocument/2006/relationships/image" Target="../media/image22.png"/><Relationship Id="rId5" Type="http://schemas.openxmlformats.org/officeDocument/2006/relationships/image" Target="../media/image26.png"/><Relationship Id="rId6" Type="http://schemas.openxmlformats.org/officeDocument/2006/relationships/image" Target="../media/image25.png"/><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27.jpeg"/><Relationship Id="rId6" Type="http://schemas.openxmlformats.org/officeDocument/2006/relationships/image" Target="../media/image3.jpeg"/><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27.jpeg"/><Relationship Id="rId6" Type="http://schemas.openxmlformats.org/officeDocument/2006/relationships/image" Target="../media/image3.jpeg"/><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ormAutofit/>
          </a:bodyPr>
          <a:lstStyle/>
          <a:p>
            <a:r>
              <a:rPr lang="en-US" dirty="0" smtClean="0"/>
              <a:t>Pivot Tracing</a:t>
            </a:r>
            <a:br>
              <a:rPr lang="en-US" dirty="0" smtClean="0"/>
            </a:br>
            <a:r>
              <a:rPr lang="en-US" sz="4400" dirty="0" smtClean="0"/>
              <a:t>Dynamic Causal Monitoring for Distributed Systems</a:t>
            </a:r>
            <a:endParaRPr lang="en-US" sz="4400" dirty="0"/>
          </a:p>
        </p:txBody>
      </p:sp>
      <p:sp>
        <p:nvSpPr>
          <p:cNvPr id="3" name="Subtitle 2"/>
          <p:cNvSpPr>
            <a:spLocks noGrp="1"/>
          </p:cNvSpPr>
          <p:nvPr>
            <p:ph type="subTitle" idx="1"/>
          </p:nvPr>
        </p:nvSpPr>
        <p:spPr>
          <a:xfrm>
            <a:off x="0" y="4201180"/>
            <a:ext cx="9144000" cy="2267712"/>
          </a:xfrm>
        </p:spPr>
        <p:txBody>
          <a:bodyPr>
            <a:normAutofit/>
          </a:bodyPr>
          <a:lstStyle/>
          <a:p>
            <a:r>
              <a:rPr lang="en-US" sz="2000" b="1" dirty="0" smtClean="0"/>
              <a:t>Jonathan Mace</a:t>
            </a:r>
            <a:r>
              <a:rPr lang="en-US" sz="2000" dirty="0" smtClean="0"/>
              <a:t>, Ryan </a:t>
            </a:r>
            <a:r>
              <a:rPr lang="en-US" sz="2000" dirty="0" err="1" smtClean="0"/>
              <a:t>Roelke</a:t>
            </a:r>
            <a:r>
              <a:rPr lang="en-US" sz="2000" dirty="0" smtClean="0"/>
              <a:t>, Rodrigo Fonseca</a:t>
            </a:r>
          </a:p>
          <a:p>
            <a:r>
              <a:rPr lang="en-US" sz="2000" dirty="0" smtClean="0"/>
              <a:t>Brown University</a:t>
            </a:r>
            <a:endParaRPr lang="en-US" sz="2000" dirty="0"/>
          </a:p>
        </p:txBody>
      </p:sp>
      <p:grpSp>
        <p:nvGrpSpPr>
          <p:cNvPr id="13" name="Group 12"/>
          <p:cNvGrpSpPr/>
          <p:nvPr/>
        </p:nvGrpSpPr>
        <p:grpSpPr>
          <a:xfrm>
            <a:off x="1927842" y="5368141"/>
            <a:ext cx="5256511" cy="1395443"/>
            <a:chOff x="1972171" y="4197709"/>
            <a:chExt cx="5256511" cy="1395443"/>
          </a:xfrm>
        </p:grpSpPr>
        <p:pic>
          <p:nvPicPr>
            <p:cNvPr id="5" name="Picture 2" descr="http://cs.brown.edu/~jcmace/me_small.jpg"/>
            <p:cNvPicPr>
              <a:picLocks noChangeAspect="1" noChangeArrowheads="1"/>
            </p:cNvPicPr>
            <p:nvPr/>
          </p:nvPicPr>
          <p:blipFill rotWithShape="1">
            <a:blip r:embed="rId3">
              <a:extLst>
                <a:ext uri="{28A0092B-C50C-407E-A947-70E740481C1C}">
                  <a14:useLocalDpi xmlns:a14="http://schemas.microsoft.com/office/drawing/2010/main" val="0"/>
                </a:ext>
              </a:extLst>
            </a:blip>
            <a:srcRect l="5635" r="6973" b="3467"/>
            <a:stretch/>
          </p:blipFill>
          <p:spPr bwMode="auto">
            <a:xfrm>
              <a:off x="1972171" y="4197709"/>
              <a:ext cx="1261872" cy="1362456"/>
            </a:xfrm>
            <a:prstGeom prst="rect">
              <a:avLst/>
            </a:prstGeom>
            <a:noFill/>
            <a:extLst>
              <a:ext uri="{909E8E84-426E-40dd-AFC4-6F175D3DCCD1}">
                <a14:hiddenFill xmlns="" xmlns:a14="http://schemas.microsoft.com/office/drawing/2010/main">
                  <a:solidFill>
                    <a:srgbClr val="FFFFFF"/>
                  </a:solidFill>
                </a14:hiddenFill>
              </a:ext>
            </a:extLst>
          </p:spPr>
        </p:pic>
        <p:pic>
          <p:nvPicPr>
            <p:cNvPr id="9" name="Picture 8"/>
            <p:cNvPicPr>
              <a:picLocks noChangeAspect="1"/>
            </p:cNvPicPr>
            <p:nvPr/>
          </p:nvPicPr>
          <p:blipFill>
            <a:blip r:embed="rId4"/>
            <a:stretch>
              <a:fillRect/>
            </a:stretch>
          </p:blipFill>
          <p:spPr>
            <a:xfrm>
              <a:off x="4109094" y="4215905"/>
              <a:ext cx="1015321" cy="1327728"/>
            </a:xfrm>
            <a:prstGeom prst="rect">
              <a:avLst/>
            </a:prstGeom>
          </p:spPr>
        </p:pic>
        <p:pic>
          <p:nvPicPr>
            <p:cNvPr id="11" name="Picture 10" descr="http://cs.brown.edu/~rfonseca/img/rodrigo_sm.jpg"/>
            <p:cNvPicPr>
              <a:picLocks noChangeAspect="1" noChangeArrowheads="1"/>
            </p:cNvPicPr>
            <p:nvPr/>
          </p:nvPicPr>
          <p:blipFill rotWithShape="1">
            <a:blip r:embed="rId5">
              <a:extLst>
                <a:ext uri="{28A0092B-C50C-407E-A947-70E740481C1C}">
                  <a14:useLocalDpi xmlns:a14="http://schemas.microsoft.com/office/drawing/2010/main" val="0"/>
                </a:ext>
              </a:extLst>
            </a:blip>
            <a:srcRect l="1492" r="5772"/>
            <a:stretch/>
          </p:blipFill>
          <p:spPr bwMode="auto">
            <a:xfrm>
              <a:off x="5966810" y="4232437"/>
              <a:ext cx="1261872" cy="1360715"/>
            </a:xfrm>
            <a:prstGeom prst="rect">
              <a:avLst/>
            </a:prstGeom>
            <a:noFill/>
            <a:extLst>
              <a:ext uri="{909E8E84-426E-40dd-AFC4-6F175D3DCCD1}">
                <a14:hiddenFill xmlns:a14="http://schemas.microsoft.com/office/drawing/2010/main" xmlns="">
                  <a:solidFill>
                    <a:srgbClr val="FFFFFF"/>
                  </a:solidFill>
                </a14:hiddenFill>
              </a:ext>
            </a:extLst>
          </p:spPr>
        </p:pic>
      </p:grpSp>
      <p:sp>
        <p:nvSpPr>
          <p:cNvPr id="4" name="Slide Number Placeholder 3"/>
          <p:cNvSpPr>
            <a:spLocks noGrp="1"/>
          </p:cNvSpPr>
          <p:nvPr>
            <p:ph type="sldNum" sz="quarter" idx="12"/>
          </p:nvPr>
        </p:nvSpPr>
        <p:spPr/>
        <p:txBody>
          <a:bodyPr/>
          <a:lstStyle/>
          <a:p>
            <a:fld id="{D431E30F-8439-471B-9257-EDD8E85CDBC8}" type="slidenum">
              <a:rPr lang="en-US" smtClean="0"/>
              <a:t>1</a:t>
            </a:fld>
            <a:endParaRPr lang="en-US"/>
          </a:p>
        </p:txBody>
      </p:sp>
    </p:spTree>
    <p:extLst>
      <p:ext uri="{BB962C8B-B14F-4D97-AF65-F5344CB8AC3E}">
        <p14:creationId xmlns:p14="http://schemas.microsoft.com/office/powerpoint/2010/main" val="8840939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descr="https://cloud.google.com/hadoop/images/hadoop-elephant.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59697" y="5327956"/>
            <a:ext cx="2326293" cy="166297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685800" y="1122363"/>
            <a:ext cx="7772400" cy="2387600"/>
          </a:xfrm>
        </p:spPr>
        <p:txBody>
          <a:bodyPr>
            <a:normAutofit/>
          </a:bodyPr>
          <a:lstStyle/>
          <a:p>
            <a:r>
              <a:rPr lang="en-US" dirty="0" smtClean="0"/>
              <a:t>Pivot Tracing</a:t>
            </a:r>
            <a:br>
              <a:rPr lang="en-US" dirty="0" smtClean="0"/>
            </a:br>
            <a:r>
              <a:rPr lang="en-US" sz="4400" dirty="0" smtClean="0"/>
              <a:t>Dynamic Causal Monitoring for Distributed Systems</a:t>
            </a:r>
            <a:endParaRPr lang="en-US" sz="4400" dirty="0"/>
          </a:p>
        </p:txBody>
      </p:sp>
      <p:sp>
        <p:nvSpPr>
          <p:cNvPr id="3" name="Subtitle 2"/>
          <p:cNvSpPr>
            <a:spLocks noGrp="1"/>
          </p:cNvSpPr>
          <p:nvPr>
            <p:ph type="subTitle" idx="1"/>
          </p:nvPr>
        </p:nvSpPr>
        <p:spPr>
          <a:xfrm>
            <a:off x="0" y="4201180"/>
            <a:ext cx="9144000" cy="2267712"/>
          </a:xfrm>
        </p:spPr>
        <p:txBody>
          <a:bodyPr>
            <a:normAutofit/>
          </a:bodyPr>
          <a:lstStyle/>
          <a:p>
            <a:r>
              <a:rPr lang="en-US" sz="2000" b="1" dirty="0" smtClean="0"/>
              <a:t>Jonathan Mace</a:t>
            </a:r>
            <a:r>
              <a:rPr lang="en-US" sz="2000" dirty="0" smtClean="0"/>
              <a:t>, Ryan </a:t>
            </a:r>
            <a:r>
              <a:rPr lang="en-US" sz="2000" dirty="0" err="1" smtClean="0"/>
              <a:t>Roelke</a:t>
            </a:r>
            <a:r>
              <a:rPr lang="en-US" sz="2000" dirty="0" smtClean="0"/>
              <a:t>, Rodrigo Fonseca</a:t>
            </a:r>
          </a:p>
          <a:p>
            <a:r>
              <a:rPr lang="en-US" sz="2000" dirty="0" smtClean="0"/>
              <a:t>Brown University</a:t>
            </a:r>
            <a:endParaRPr lang="en-US" sz="2000" dirty="0"/>
          </a:p>
        </p:txBody>
      </p:sp>
      <p:grpSp>
        <p:nvGrpSpPr>
          <p:cNvPr id="13" name="Group 12"/>
          <p:cNvGrpSpPr/>
          <p:nvPr/>
        </p:nvGrpSpPr>
        <p:grpSpPr>
          <a:xfrm>
            <a:off x="1927842" y="5368141"/>
            <a:ext cx="5256511" cy="1395443"/>
            <a:chOff x="1972171" y="4197709"/>
            <a:chExt cx="5256511" cy="1395443"/>
          </a:xfrm>
        </p:grpSpPr>
        <p:pic>
          <p:nvPicPr>
            <p:cNvPr id="5" name="Picture 2" descr="http://cs.brown.edu/~jcmace/me_small.jpg"/>
            <p:cNvPicPr>
              <a:picLocks noChangeAspect="1" noChangeArrowheads="1"/>
            </p:cNvPicPr>
            <p:nvPr/>
          </p:nvPicPr>
          <p:blipFill rotWithShape="1">
            <a:blip r:embed="rId4">
              <a:extLst>
                <a:ext uri="{28A0092B-C50C-407E-A947-70E740481C1C}">
                  <a14:useLocalDpi xmlns:a14="http://schemas.microsoft.com/office/drawing/2010/main" val="0"/>
                </a:ext>
              </a:extLst>
            </a:blip>
            <a:srcRect l="5635" r="6973" b="3467"/>
            <a:stretch/>
          </p:blipFill>
          <p:spPr bwMode="auto">
            <a:xfrm>
              <a:off x="1972171" y="4197709"/>
              <a:ext cx="1261872" cy="1362456"/>
            </a:xfrm>
            <a:prstGeom prst="rect">
              <a:avLst/>
            </a:prstGeom>
            <a:noFill/>
            <a:extLst>
              <a:ext uri="{909E8E84-426E-40dd-AFC4-6F175D3DCCD1}">
                <a14:hiddenFill xmlns="" xmlns:a14="http://schemas.microsoft.com/office/drawing/2010/main">
                  <a:solidFill>
                    <a:srgbClr val="FFFFFF"/>
                  </a:solidFill>
                </a14:hiddenFill>
              </a:ext>
            </a:extLst>
          </p:spPr>
        </p:pic>
        <p:pic>
          <p:nvPicPr>
            <p:cNvPr id="9" name="Picture 8"/>
            <p:cNvPicPr>
              <a:picLocks noChangeAspect="1"/>
            </p:cNvPicPr>
            <p:nvPr/>
          </p:nvPicPr>
          <p:blipFill>
            <a:blip r:embed="rId5"/>
            <a:stretch>
              <a:fillRect/>
            </a:stretch>
          </p:blipFill>
          <p:spPr>
            <a:xfrm>
              <a:off x="4109094" y="4215905"/>
              <a:ext cx="1015321" cy="1327728"/>
            </a:xfrm>
            <a:prstGeom prst="rect">
              <a:avLst/>
            </a:prstGeom>
          </p:spPr>
        </p:pic>
        <p:pic>
          <p:nvPicPr>
            <p:cNvPr id="11" name="Picture 10" descr="http://cs.brown.edu/~rfonseca/img/rodrigo_sm.jpg"/>
            <p:cNvPicPr>
              <a:picLocks noChangeAspect="1" noChangeArrowheads="1"/>
            </p:cNvPicPr>
            <p:nvPr/>
          </p:nvPicPr>
          <p:blipFill rotWithShape="1">
            <a:blip r:embed="rId6">
              <a:extLst>
                <a:ext uri="{28A0092B-C50C-407E-A947-70E740481C1C}">
                  <a14:useLocalDpi xmlns:a14="http://schemas.microsoft.com/office/drawing/2010/main" val="0"/>
                </a:ext>
              </a:extLst>
            </a:blip>
            <a:srcRect l="1492" r="5772"/>
            <a:stretch/>
          </p:blipFill>
          <p:spPr bwMode="auto">
            <a:xfrm>
              <a:off x="5966810" y="4232437"/>
              <a:ext cx="1261872" cy="1360715"/>
            </a:xfrm>
            <a:prstGeom prst="rect">
              <a:avLst/>
            </a:prstGeom>
            <a:noFill/>
            <a:extLst>
              <a:ext uri="{909E8E84-426E-40dd-AFC4-6F175D3DCCD1}">
                <a14:hiddenFill xmlns:a14="http://schemas.microsoft.com/office/drawing/2010/main" xmlns="">
                  <a:solidFill>
                    <a:srgbClr val="FFFFFF"/>
                  </a:solidFill>
                </a14:hiddenFill>
              </a:ext>
            </a:extLst>
          </p:spPr>
        </p:pic>
      </p:grpSp>
      <p:sp>
        <p:nvSpPr>
          <p:cNvPr id="8" name="Content Placeholder 2"/>
          <p:cNvSpPr txBox="1">
            <a:spLocks/>
          </p:cNvSpPr>
          <p:nvPr/>
        </p:nvSpPr>
        <p:spPr>
          <a:xfrm>
            <a:off x="628650" y="3353724"/>
            <a:ext cx="7886700" cy="2068195"/>
          </a:xfrm>
          <a:prstGeom prst="rect">
            <a:avLst/>
          </a:prstGeom>
        </p:spPr>
        <p:txBody>
          <a:bodyPr vert="horz" lIns="91440" tIns="45720" rIns="91440" bIns="45720" rtlCol="0">
            <a:normAutofit/>
          </a:bodyPr>
          <a:lstStyle>
            <a:lvl1pPr marL="0" indent="0" algn="ctr" defTabSz="914363"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182" indent="0" algn="ctr" defTabSz="914363"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363" indent="0" algn="ctr" defTabSz="914363"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545" indent="0" algn="ctr" defTabSz="914363"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727" indent="0" algn="ctr" defTabSz="914363"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5909" indent="0" algn="ctr" defTabSz="914363"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090" indent="0" algn="ctr" defTabSz="914363"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272" indent="0" algn="ctr" defTabSz="914363"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454" indent="0" algn="ctr" defTabSz="914363"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800" dirty="0" smtClean="0">
                <a:latin typeface="+mj-lt"/>
              </a:rPr>
              <a:t>Dynamically instrument live distributed systems</a:t>
            </a:r>
          </a:p>
          <a:p>
            <a:endParaRPr lang="en-US" sz="2800" dirty="0">
              <a:latin typeface="+mj-lt"/>
            </a:endParaRPr>
          </a:p>
          <a:p>
            <a:r>
              <a:rPr lang="en-US" sz="2800" dirty="0" smtClean="0">
                <a:latin typeface="+mj-lt"/>
              </a:rPr>
              <a:t>Correlate and group events across components</a:t>
            </a:r>
          </a:p>
        </p:txBody>
      </p:sp>
      <p:sp>
        <p:nvSpPr>
          <p:cNvPr id="10" name="Title 1"/>
          <p:cNvSpPr txBox="1">
            <a:spLocks/>
          </p:cNvSpPr>
          <p:nvPr/>
        </p:nvSpPr>
        <p:spPr>
          <a:xfrm>
            <a:off x="1696059" y="5327956"/>
            <a:ext cx="7886700" cy="1325563"/>
          </a:xfrm>
          <a:prstGeom prst="rect">
            <a:avLst/>
          </a:prstGeom>
        </p:spPr>
        <p:txBody>
          <a:bodyPr vert="horz" lIns="91440" tIns="45720" rIns="91440" bIns="45720" rtlCol="0" anchor="b">
            <a:normAutofit/>
          </a:bodyPr>
          <a:lstStyle>
            <a:lvl1pPr algn="ctr" defTabSz="914363"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dirty="0" smtClean="0"/>
              <a:t>Hadoop Stack</a:t>
            </a:r>
            <a:endParaRPr lang="en-US" sz="5400" dirty="0"/>
          </a:p>
        </p:txBody>
      </p:sp>
      <p:sp>
        <p:nvSpPr>
          <p:cNvPr id="4" name="Slide Number Placeholder 3"/>
          <p:cNvSpPr>
            <a:spLocks noGrp="1"/>
          </p:cNvSpPr>
          <p:nvPr>
            <p:ph type="sldNum" sz="quarter" idx="12"/>
          </p:nvPr>
        </p:nvSpPr>
        <p:spPr/>
        <p:txBody>
          <a:bodyPr/>
          <a:lstStyle/>
          <a:p>
            <a:fld id="{D431E30F-8439-471B-9257-EDD8E85CDBC8}" type="slidenum">
              <a:rPr lang="en-US" smtClean="0"/>
              <a:t>2</a:t>
            </a:fld>
            <a:endParaRPr lang="en-US"/>
          </a:p>
        </p:txBody>
      </p:sp>
    </p:spTree>
    <p:extLst>
      <p:ext uri="{BB962C8B-B14F-4D97-AF65-F5344CB8AC3E}">
        <p14:creationId xmlns:p14="http://schemas.microsoft.com/office/powerpoint/2010/main" val="3676336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nodeType="withEffect">
                                  <p:stCondLst>
                                    <p:cond delay="0"/>
                                  </p:stCondLst>
                                  <p:childTnLst>
                                    <p:animEffect transition="out" filter="fade">
                                      <p:cBhvr>
                                        <p:cTn id="6" dur="500"/>
                                        <p:tgtEl>
                                          <p:spTgt spid="13"/>
                                        </p:tgtEl>
                                      </p:cBhvr>
                                    </p:animEffect>
                                    <p:set>
                                      <p:cBhvr>
                                        <p:cTn id="7" dur="1" fill="hold">
                                          <p:stCondLst>
                                            <p:cond delay="499"/>
                                          </p:stCondLst>
                                        </p:cTn>
                                        <p:tgtEl>
                                          <p:spTgt spid="13"/>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3">
                                            <p:txEl>
                                              <p:pRg st="0" end="0"/>
                                            </p:txEl>
                                          </p:spTgt>
                                        </p:tgtEl>
                                      </p:cBhvr>
                                    </p:animEffect>
                                    <p:set>
                                      <p:cBhvr>
                                        <p:cTn id="10" dur="1" fill="hold">
                                          <p:stCondLst>
                                            <p:cond delay="499"/>
                                          </p:stCondLst>
                                        </p:cTn>
                                        <p:tgtEl>
                                          <p:spTgt spid="3">
                                            <p:txEl>
                                              <p:pRg st="0" end="0"/>
                                            </p:txEl>
                                          </p:spTgt>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500"/>
                                        <p:tgtEl>
                                          <p:spTgt spid="3">
                                            <p:txEl>
                                              <p:pRg st="1" end="1"/>
                                            </p:txEl>
                                          </p:spTgt>
                                        </p:tgtEl>
                                      </p:cBhvr>
                                    </p:animEffect>
                                    <p:set>
                                      <p:cBhvr>
                                        <p:cTn id="13" dur="1" fill="hold">
                                          <p:stCondLst>
                                            <p:cond delay="499"/>
                                          </p:stCondLst>
                                        </p:cTn>
                                        <p:tgtEl>
                                          <p:spTgt spid="3">
                                            <p:txEl>
                                              <p:pRg st="1" end="1"/>
                                            </p:txEl>
                                          </p:spTgt>
                                        </p:tgtEl>
                                        <p:attrNameLst>
                                          <p:attrName>style.visibility</p:attrName>
                                        </p:attrNameLst>
                                      </p:cBhvr>
                                      <p:to>
                                        <p:strVal val="hidden"/>
                                      </p:to>
                                    </p:set>
                                  </p:childTnLst>
                                </p:cTn>
                              </p:par>
                              <p:par>
                                <p:cTn id="14" presetID="0" presetClass="path" presetSubtype="0" accel="50000" decel="50000" fill="hold" grpId="0" nodeType="withEffect">
                                  <p:stCondLst>
                                    <p:cond delay="0"/>
                                  </p:stCondLst>
                                  <p:childTnLst>
                                    <p:animMotion origin="layout" path="M 0 1.48148E-6 L -0.00208 -0.14977 " pathEditMode="relative" rAng="0" ptsTypes="AA">
                                      <p:cBhvr>
                                        <p:cTn id="15" dur="500" fill="hold"/>
                                        <p:tgtEl>
                                          <p:spTgt spid="2"/>
                                        </p:tgtEl>
                                        <p:attrNameLst>
                                          <p:attrName>ppt_x</p:attrName>
                                          <p:attrName>ppt_y</p:attrName>
                                        </p:attrNameLst>
                                      </p:cBhvr>
                                      <p:rCtr x="-104" y="-7477"/>
                                    </p:animMotion>
                                  </p:childTnLst>
                                </p:cTn>
                              </p:par>
                            </p:childTnLst>
                          </p:cTn>
                        </p:par>
                        <p:par>
                          <p:cTn id="16" fill="hold">
                            <p:stCondLst>
                              <p:cond delay="500"/>
                            </p:stCondLst>
                            <p:childTnLst>
                              <p:par>
                                <p:cTn id="17" presetID="10" presetClass="entr" presetSubtype="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par>
                          <p:cTn id="20" fill="hold">
                            <p:stCondLst>
                              <p:cond delay="1000"/>
                            </p:stCondLst>
                            <p:childTnLst>
                              <p:par>
                                <p:cTn id="21" presetID="1" presetClass="entr" presetSubtype="0" fill="hold" nodeType="afterEffect">
                                  <p:stCondLst>
                                    <p:cond delay="0"/>
                                  </p:stCondLst>
                                  <p:childTnLst>
                                    <p:set>
                                      <p:cBhvr>
                                        <p:cTn id="22"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8" grpId="0"/>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1548167" y="890653"/>
            <a:ext cx="4314009" cy="2607290"/>
            <a:chOff x="1548167" y="890653"/>
            <a:chExt cx="4314009" cy="2607290"/>
          </a:xfrm>
        </p:grpSpPr>
        <p:sp>
          <p:nvSpPr>
            <p:cNvPr id="10" name="Rounded Rectangle 9"/>
            <p:cNvSpPr/>
            <p:nvPr/>
          </p:nvSpPr>
          <p:spPr>
            <a:xfrm>
              <a:off x="1854940" y="1157145"/>
              <a:ext cx="4007236" cy="2340798"/>
            </a:xfrm>
            <a:prstGeom prst="roundRect">
              <a:avLst>
                <a:gd name="adj" fmla="val 3932"/>
              </a:avLst>
            </a:prstGeom>
            <a:solidFill>
              <a:schemeClr val="bg1">
                <a:alpha val="25000"/>
              </a:schemeClr>
            </a:solidFill>
            <a:ln w="57150">
              <a:solidFill>
                <a:schemeClr val="tx1">
                  <a:alpha val="2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1" name="Rounded Rectangle 10"/>
            <p:cNvSpPr/>
            <p:nvPr/>
          </p:nvSpPr>
          <p:spPr>
            <a:xfrm>
              <a:off x="1752683" y="1068315"/>
              <a:ext cx="4007236" cy="2340798"/>
            </a:xfrm>
            <a:prstGeom prst="roundRect">
              <a:avLst>
                <a:gd name="adj" fmla="val 3932"/>
              </a:avLst>
            </a:prstGeom>
            <a:solidFill>
              <a:schemeClr val="bg1">
                <a:alpha val="50000"/>
              </a:schemeClr>
            </a:solidFill>
            <a:ln w="571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2" name="Rounded Rectangle 11"/>
            <p:cNvSpPr/>
            <p:nvPr/>
          </p:nvSpPr>
          <p:spPr>
            <a:xfrm>
              <a:off x="1650425" y="979484"/>
              <a:ext cx="4007236" cy="2340798"/>
            </a:xfrm>
            <a:prstGeom prst="roundRect">
              <a:avLst>
                <a:gd name="adj" fmla="val 3932"/>
              </a:avLst>
            </a:prstGeom>
            <a:solidFill>
              <a:schemeClr val="bg1">
                <a:alpha val="75000"/>
              </a:schemeClr>
            </a:solidFill>
            <a:ln w="57150">
              <a:solidFill>
                <a:schemeClr val="tx1">
                  <a:alpha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nvGrpSpPr>
            <p:cNvPr id="13" name="Group 12"/>
            <p:cNvGrpSpPr/>
            <p:nvPr/>
          </p:nvGrpSpPr>
          <p:grpSpPr>
            <a:xfrm>
              <a:off x="1548167" y="890653"/>
              <a:ext cx="4007236" cy="2340798"/>
              <a:chOff x="1548167" y="890653"/>
              <a:chExt cx="4007236" cy="2340798"/>
            </a:xfrm>
          </p:grpSpPr>
          <p:sp>
            <p:nvSpPr>
              <p:cNvPr id="14" name="Rounded Rectangle 13"/>
              <p:cNvSpPr/>
              <p:nvPr/>
            </p:nvSpPr>
            <p:spPr>
              <a:xfrm>
                <a:off x="1548167" y="890653"/>
                <a:ext cx="4007236" cy="2340798"/>
              </a:xfrm>
              <a:prstGeom prst="roundRect">
                <a:avLst>
                  <a:gd name="adj" fmla="val 3932"/>
                </a:avLst>
              </a:prstGeom>
              <a:solidFill>
                <a:schemeClr val="bg1"/>
              </a:solidFill>
              <a:ln w="571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cxnSp>
            <p:nvCxnSpPr>
              <p:cNvPr id="15" name="Straight Connector 14"/>
              <p:cNvCxnSpPr/>
              <p:nvPr/>
            </p:nvCxnSpPr>
            <p:spPr>
              <a:xfrm flipV="1">
                <a:off x="1548167" y="2515146"/>
                <a:ext cx="3999266" cy="4309"/>
              </a:xfrm>
              <a:prstGeom prst="line">
                <a:avLst/>
              </a:prstGeom>
              <a:ln w="571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sp>
        <p:nvSpPr>
          <p:cNvPr id="6" name="Can 5"/>
          <p:cNvSpPr/>
          <p:nvPr/>
        </p:nvSpPr>
        <p:spPr>
          <a:xfrm>
            <a:off x="3003528" y="2602755"/>
            <a:ext cx="904605" cy="528273"/>
          </a:xfrm>
          <a:prstGeom prst="can">
            <a:avLst>
              <a:gd name="adj" fmla="val 50000"/>
            </a:avLst>
          </a:prstGeom>
          <a:solidFill>
            <a:schemeClr val="accent4">
              <a:lumMod val="20000"/>
              <a:lumOff val="8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109728" rIns="0" bIns="0" rtlCol="0" anchor="ctr"/>
          <a:lstStyle/>
          <a:p>
            <a:pPr algn="ctr"/>
            <a:r>
              <a:rPr lang="en-US" sz="2000" b="1" dirty="0">
                <a:solidFill>
                  <a:schemeClr val="tx1"/>
                </a:solidFill>
              </a:rPr>
              <a:t>Disk</a:t>
            </a:r>
          </a:p>
        </p:txBody>
      </p:sp>
      <p:sp>
        <p:nvSpPr>
          <p:cNvPr id="7" name="Rounded Rectangle 6"/>
          <p:cNvSpPr/>
          <p:nvPr/>
        </p:nvSpPr>
        <p:spPr>
          <a:xfrm>
            <a:off x="1667662" y="987617"/>
            <a:ext cx="1056938" cy="641696"/>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b" anchorCtr="0"/>
          <a:lstStyle/>
          <a:p>
            <a:r>
              <a:rPr lang="en-US" sz="2000" dirty="0" err="1">
                <a:solidFill>
                  <a:schemeClr val="tx1"/>
                </a:solidFill>
              </a:rPr>
              <a:t>HBase</a:t>
            </a:r>
            <a:endParaRPr lang="en-US" sz="2000" dirty="0">
              <a:solidFill>
                <a:schemeClr val="tx1"/>
              </a:solidFill>
            </a:endParaRPr>
          </a:p>
        </p:txBody>
      </p:sp>
      <p:sp>
        <p:nvSpPr>
          <p:cNvPr id="8" name="Rounded Rectangle 7"/>
          <p:cNvSpPr/>
          <p:nvPr/>
        </p:nvSpPr>
        <p:spPr>
          <a:xfrm>
            <a:off x="3601331" y="1066452"/>
            <a:ext cx="1840961" cy="484026"/>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r>
              <a:rPr lang="en-US" sz="2000" dirty="0" err="1">
                <a:solidFill>
                  <a:schemeClr val="tx1"/>
                </a:solidFill>
              </a:rPr>
              <a:t>MapReduce</a:t>
            </a:r>
            <a:endParaRPr lang="en-US" sz="2000" dirty="0">
              <a:solidFill>
                <a:schemeClr val="tx1"/>
              </a:solidFill>
            </a:endParaRPr>
          </a:p>
        </p:txBody>
      </p:sp>
      <p:sp>
        <p:nvSpPr>
          <p:cNvPr id="9" name="Rounded Rectangle 8"/>
          <p:cNvSpPr/>
          <p:nvPr/>
        </p:nvSpPr>
        <p:spPr>
          <a:xfrm>
            <a:off x="2641009" y="1743418"/>
            <a:ext cx="1075285" cy="644131"/>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r>
              <a:rPr lang="en-US" sz="2000" dirty="0">
                <a:solidFill>
                  <a:schemeClr val="tx1"/>
                </a:solidFill>
              </a:rPr>
              <a:t>HDFS</a:t>
            </a:r>
          </a:p>
        </p:txBody>
      </p:sp>
      <p:grpSp>
        <p:nvGrpSpPr>
          <p:cNvPr id="16" name="Group 15"/>
          <p:cNvGrpSpPr/>
          <p:nvPr/>
        </p:nvGrpSpPr>
        <p:grpSpPr>
          <a:xfrm>
            <a:off x="5818483" y="696670"/>
            <a:ext cx="1194558" cy="1078020"/>
            <a:chOff x="5818483" y="696670"/>
            <a:chExt cx="1194558" cy="1078020"/>
          </a:xfrm>
        </p:grpSpPr>
        <p:sp>
          <p:nvSpPr>
            <p:cNvPr id="17" name="TextBox 16"/>
            <p:cNvSpPr txBox="1"/>
            <p:nvPr/>
          </p:nvSpPr>
          <p:spPr>
            <a:xfrm rot="1468153">
              <a:off x="5818483" y="904989"/>
              <a:ext cx="1194558" cy="400110"/>
            </a:xfrm>
            <a:prstGeom prst="rect">
              <a:avLst/>
            </a:prstGeom>
            <a:noFill/>
          </p:spPr>
          <p:txBody>
            <a:bodyPr wrap="none" rtlCol="0">
              <a:spAutoFit/>
            </a:bodyPr>
            <a:lstStyle/>
            <a:p>
              <a:r>
                <a:rPr lang="en-US" sz="2000" dirty="0"/>
                <a:t>Machines</a:t>
              </a:r>
            </a:p>
          </p:txBody>
        </p:sp>
        <p:sp>
          <p:nvSpPr>
            <p:cNvPr id="18" name="Right Brace 17"/>
            <p:cNvSpPr/>
            <p:nvPr/>
          </p:nvSpPr>
          <p:spPr>
            <a:xfrm rot="20147132">
              <a:off x="5849694" y="696670"/>
              <a:ext cx="252919" cy="1078020"/>
            </a:xfrm>
            <a:prstGeom prst="rightBrace">
              <a:avLst>
                <a:gd name="adj1" fmla="val 62329"/>
                <a:gd name="adj2" fmla="val 47314"/>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160"/>
            </a:p>
          </p:txBody>
        </p:sp>
      </p:grpSp>
      <p:sp>
        <p:nvSpPr>
          <p:cNvPr id="23" name="Freeform 22"/>
          <p:cNvSpPr/>
          <p:nvPr/>
        </p:nvSpPr>
        <p:spPr>
          <a:xfrm>
            <a:off x="3456781" y="2202681"/>
            <a:ext cx="45719" cy="607451"/>
          </a:xfrm>
          <a:custGeom>
            <a:avLst/>
            <a:gdLst>
              <a:gd name="connsiteX0" fmla="*/ 0 w 0"/>
              <a:gd name="connsiteY0" fmla="*/ 0 h 729575"/>
              <a:gd name="connsiteX1" fmla="*/ 0 w 0"/>
              <a:gd name="connsiteY1" fmla="*/ 729575 h 729575"/>
            </a:gdLst>
            <a:ahLst/>
            <a:cxnLst>
              <a:cxn ang="0">
                <a:pos x="connsiteX0" y="connsiteY0"/>
              </a:cxn>
              <a:cxn ang="0">
                <a:pos x="connsiteX1" y="connsiteY1"/>
              </a:cxn>
            </a:cxnLst>
            <a:rect l="l" t="t" r="r" b="b"/>
            <a:pathLst>
              <a:path h="729575">
                <a:moveTo>
                  <a:pt x="0" y="0"/>
                </a:moveTo>
                <a:lnTo>
                  <a:pt x="0" y="729575"/>
                </a:lnTo>
              </a:path>
            </a:pathLst>
          </a:custGeom>
          <a:noFill/>
          <a:ln w="57150">
            <a:solidFill>
              <a:schemeClr val="tx1"/>
            </a:solidFill>
            <a:prstDash val="sysDot"/>
            <a:headEnd type="oval" w="sm" len="sm"/>
            <a:tailEnd type="stealth"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24" name="Freeform 23"/>
          <p:cNvSpPr/>
          <p:nvPr/>
        </p:nvSpPr>
        <p:spPr>
          <a:xfrm>
            <a:off x="2606092" y="1418502"/>
            <a:ext cx="419756" cy="534284"/>
          </a:xfrm>
          <a:custGeom>
            <a:avLst/>
            <a:gdLst>
              <a:gd name="connsiteX0" fmla="*/ 0 w 680936"/>
              <a:gd name="connsiteY0" fmla="*/ 0 h 1031132"/>
              <a:gd name="connsiteX1" fmla="*/ 680936 w 680936"/>
              <a:gd name="connsiteY1" fmla="*/ 554477 h 1031132"/>
              <a:gd name="connsiteX2" fmla="*/ 680936 w 680936"/>
              <a:gd name="connsiteY2" fmla="*/ 1031132 h 1031132"/>
              <a:gd name="connsiteX0" fmla="*/ 0 w 680936"/>
              <a:gd name="connsiteY0" fmla="*/ 0 h 1031132"/>
              <a:gd name="connsiteX1" fmla="*/ 680936 w 680936"/>
              <a:gd name="connsiteY1" fmla="*/ 309415 h 1031132"/>
              <a:gd name="connsiteX2" fmla="*/ 680936 w 680936"/>
              <a:gd name="connsiteY2" fmla="*/ 1031132 h 1031132"/>
            </a:gdLst>
            <a:ahLst/>
            <a:cxnLst>
              <a:cxn ang="0">
                <a:pos x="connsiteX0" y="connsiteY0"/>
              </a:cxn>
              <a:cxn ang="0">
                <a:pos x="connsiteX1" y="connsiteY1"/>
              </a:cxn>
              <a:cxn ang="0">
                <a:pos x="connsiteX2" y="connsiteY2"/>
              </a:cxn>
            </a:cxnLst>
            <a:rect l="l" t="t" r="r" b="b"/>
            <a:pathLst>
              <a:path w="680936" h="1031132">
                <a:moveTo>
                  <a:pt x="0" y="0"/>
                </a:moveTo>
                <a:lnTo>
                  <a:pt x="680936" y="309415"/>
                </a:lnTo>
                <a:lnTo>
                  <a:pt x="680936" y="1031132"/>
                </a:lnTo>
              </a:path>
            </a:pathLst>
          </a:custGeom>
          <a:noFill/>
          <a:ln w="57150">
            <a:solidFill>
              <a:schemeClr val="tx1"/>
            </a:solidFill>
            <a:prstDash val="sysDot"/>
            <a:headEnd type="oval" w="sm" len="sm"/>
            <a:tailEnd type="stealth"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25" name="Freeform 24"/>
          <p:cNvSpPr/>
          <p:nvPr/>
        </p:nvSpPr>
        <p:spPr>
          <a:xfrm flipV="1">
            <a:off x="2518475" y="1158252"/>
            <a:ext cx="1246125" cy="45719"/>
          </a:xfrm>
          <a:custGeom>
            <a:avLst/>
            <a:gdLst>
              <a:gd name="connsiteX0" fmla="*/ 1342417 w 1342417"/>
              <a:gd name="connsiteY0" fmla="*/ 0 h 0"/>
              <a:gd name="connsiteX1" fmla="*/ 0 w 1342417"/>
              <a:gd name="connsiteY1" fmla="*/ 0 h 0"/>
            </a:gdLst>
            <a:ahLst/>
            <a:cxnLst>
              <a:cxn ang="0">
                <a:pos x="connsiteX0" y="connsiteY0"/>
              </a:cxn>
              <a:cxn ang="0">
                <a:pos x="connsiteX1" y="connsiteY1"/>
              </a:cxn>
            </a:cxnLst>
            <a:rect l="l" t="t" r="r" b="b"/>
            <a:pathLst>
              <a:path w="1342417">
                <a:moveTo>
                  <a:pt x="1342417" y="0"/>
                </a:moveTo>
                <a:lnTo>
                  <a:pt x="0" y="0"/>
                </a:lnTo>
              </a:path>
            </a:pathLst>
          </a:custGeom>
          <a:noFill/>
          <a:ln w="57150">
            <a:solidFill>
              <a:schemeClr val="tx1"/>
            </a:solidFill>
            <a:prstDash val="sysDot"/>
            <a:headEnd type="oval" w="sm" len="sm"/>
            <a:tailEnd type="stealth"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26" name="Freeform 25"/>
          <p:cNvSpPr/>
          <p:nvPr/>
        </p:nvSpPr>
        <p:spPr>
          <a:xfrm>
            <a:off x="3510668" y="1283268"/>
            <a:ext cx="1580525" cy="788454"/>
          </a:xfrm>
          <a:custGeom>
            <a:avLst/>
            <a:gdLst>
              <a:gd name="connsiteX0" fmla="*/ 1731523 w 1731523"/>
              <a:gd name="connsiteY0" fmla="*/ 0 h 885217"/>
              <a:gd name="connsiteX1" fmla="*/ 1731523 w 1731523"/>
              <a:gd name="connsiteY1" fmla="*/ 457200 h 885217"/>
              <a:gd name="connsiteX2" fmla="*/ 389106 w 1731523"/>
              <a:gd name="connsiteY2" fmla="*/ 885217 h 885217"/>
              <a:gd name="connsiteX3" fmla="*/ 0 w 1731523"/>
              <a:gd name="connsiteY3" fmla="*/ 885217 h 885217"/>
            </a:gdLst>
            <a:ahLst/>
            <a:cxnLst>
              <a:cxn ang="0">
                <a:pos x="connsiteX0" y="connsiteY0"/>
              </a:cxn>
              <a:cxn ang="0">
                <a:pos x="connsiteX1" y="connsiteY1"/>
              </a:cxn>
              <a:cxn ang="0">
                <a:pos x="connsiteX2" y="connsiteY2"/>
              </a:cxn>
              <a:cxn ang="0">
                <a:pos x="connsiteX3" y="connsiteY3"/>
              </a:cxn>
            </a:cxnLst>
            <a:rect l="l" t="t" r="r" b="b"/>
            <a:pathLst>
              <a:path w="1731523" h="885217">
                <a:moveTo>
                  <a:pt x="1731523" y="0"/>
                </a:moveTo>
                <a:lnTo>
                  <a:pt x="1731523" y="457200"/>
                </a:lnTo>
                <a:lnTo>
                  <a:pt x="389106" y="885217"/>
                </a:lnTo>
                <a:lnTo>
                  <a:pt x="0" y="885217"/>
                </a:lnTo>
              </a:path>
            </a:pathLst>
          </a:custGeom>
          <a:noFill/>
          <a:ln w="57150">
            <a:solidFill>
              <a:schemeClr val="tx1"/>
            </a:solidFill>
            <a:prstDash val="sysDot"/>
            <a:headEnd type="oval" w="sm" len="sm"/>
            <a:tailEnd type="stealth"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27" name="Freeform 26"/>
          <p:cNvSpPr/>
          <p:nvPr/>
        </p:nvSpPr>
        <p:spPr>
          <a:xfrm>
            <a:off x="3586840" y="1283268"/>
            <a:ext cx="1708420" cy="1498678"/>
          </a:xfrm>
          <a:custGeom>
            <a:avLst/>
            <a:gdLst>
              <a:gd name="connsiteX0" fmla="*/ 1731523 w 1731523"/>
              <a:gd name="connsiteY0" fmla="*/ 0 h 885217"/>
              <a:gd name="connsiteX1" fmla="*/ 1731523 w 1731523"/>
              <a:gd name="connsiteY1" fmla="*/ 457200 h 885217"/>
              <a:gd name="connsiteX2" fmla="*/ 389106 w 1731523"/>
              <a:gd name="connsiteY2" fmla="*/ 885217 h 885217"/>
              <a:gd name="connsiteX3" fmla="*/ 0 w 1731523"/>
              <a:gd name="connsiteY3" fmla="*/ 885217 h 885217"/>
              <a:gd name="connsiteX0" fmla="*/ 1683565 w 1731523"/>
              <a:gd name="connsiteY0" fmla="*/ 0 h 1076620"/>
              <a:gd name="connsiteX1" fmla="*/ 1731523 w 1731523"/>
              <a:gd name="connsiteY1" fmla="*/ 648603 h 1076620"/>
              <a:gd name="connsiteX2" fmla="*/ 389106 w 1731523"/>
              <a:gd name="connsiteY2" fmla="*/ 1076620 h 1076620"/>
              <a:gd name="connsiteX3" fmla="*/ 0 w 1731523"/>
              <a:gd name="connsiteY3" fmla="*/ 1076620 h 1076620"/>
              <a:gd name="connsiteX0" fmla="*/ 1683565 w 1707544"/>
              <a:gd name="connsiteY0" fmla="*/ 0 h 1076620"/>
              <a:gd name="connsiteX1" fmla="*/ 1707544 w 1707544"/>
              <a:gd name="connsiteY1" fmla="*/ 979209 h 1076620"/>
              <a:gd name="connsiteX2" fmla="*/ 389106 w 1707544"/>
              <a:gd name="connsiteY2" fmla="*/ 1076620 h 1076620"/>
              <a:gd name="connsiteX3" fmla="*/ 0 w 1707544"/>
              <a:gd name="connsiteY3" fmla="*/ 1076620 h 1076620"/>
              <a:gd name="connsiteX0" fmla="*/ 1683565 w 1707544"/>
              <a:gd name="connsiteY0" fmla="*/ 0 h 1076620"/>
              <a:gd name="connsiteX1" fmla="*/ 1707544 w 1707544"/>
              <a:gd name="connsiteY1" fmla="*/ 979209 h 1076620"/>
              <a:gd name="connsiteX2" fmla="*/ 0 w 1707544"/>
              <a:gd name="connsiteY2" fmla="*/ 1076620 h 1076620"/>
              <a:gd name="connsiteX0" fmla="*/ 1683565 w 1707544"/>
              <a:gd name="connsiteY0" fmla="*/ 0 h 1624731"/>
              <a:gd name="connsiteX1" fmla="*/ 1707544 w 1707544"/>
              <a:gd name="connsiteY1" fmla="*/ 979209 h 1624731"/>
              <a:gd name="connsiteX2" fmla="*/ 0 w 1707544"/>
              <a:gd name="connsiteY2" fmla="*/ 1624731 h 1624731"/>
              <a:gd name="connsiteX0" fmla="*/ 1683565 w 1684620"/>
              <a:gd name="connsiteY0" fmla="*/ 0 h 1624731"/>
              <a:gd name="connsiteX1" fmla="*/ 1684620 w 1684620"/>
              <a:gd name="connsiteY1" fmla="*/ 979209 h 1624731"/>
              <a:gd name="connsiteX2" fmla="*/ 0 w 1684620"/>
              <a:gd name="connsiteY2" fmla="*/ 1624731 h 1624731"/>
              <a:gd name="connsiteX0" fmla="*/ 1683565 w 1684620"/>
              <a:gd name="connsiteY0" fmla="*/ 0 h 1624731"/>
              <a:gd name="connsiteX1" fmla="*/ 1684620 w 1684620"/>
              <a:gd name="connsiteY1" fmla="*/ 979209 h 1624731"/>
              <a:gd name="connsiteX2" fmla="*/ 0 w 1684620"/>
              <a:gd name="connsiteY2" fmla="*/ 1624731 h 1624731"/>
            </a:gdLst>
            <a:ahLst/>
            <a:cxnLst>
              <a:cxn ang="0">
                <a:pos x="connsiteX0" y="connsiteY0"/>
              </a:cxn>
              <a:cxn ang="0">
                <a:pos x="connsiteX1" y="connsiteY1"/>
              </a:cxn>
              <a:cxn ang="0">
                <a:pos x="connsiteX2" y="connsiteY2"/>
              </a:cxn>
            </a:cxnLst>
            <a:rect l="l" t="t" r="r" b="b"/>
            <a:pathLst>
              <a:path w="1684620" h="1624731">
                <a:moveTo>
                  <a:pt x="1683565" y="0"/>
                </a:moveTo>
                <a:cubicBezTo>
                  <a:pt x="1683917" y="326403"/>
                  <a:pt x="1684268" y="652806"/>
                  <a:pt x="1684620" y="979209"/>
                </a:cubicBezTo>
                <a:lnTo>
                  <a:pt x="0" y="1624731"/>
                </a:lnTo>
              </a:path>
            </a:pathLst>
          </a:custGeom>
          <a:noFill/>
          <a:ln w="57150">
            <a:solidFill>
              <a:schemeClr val="tx1"/>
            </a:solidFill>
            <a:prstDash val="sysDot"/>
            <a:headEnd type="oval" w="sm" len="sm"/>
            <a:tailEnd type="stealth"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pic>
        <p:nvPicPr>
          <p:cNvPr id="30" name="Picture 2" descr="https://cloud.google.com/hadoop/images/hadoop-elephant.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59697" y="5327956"/>
            <a:ext cx="2326293" cy="1662977"/>
          </a:xfrm>
          <a:prstGeom prst="rect">
            <a:avLst/>
          </a:prstGeom>
          <a:noFill/>
          <a:extLst>
            <a:ext uri="{909E8E84-426E-40DD-AFC4-6F175D3DCCD1}">
              <a14:hiddenFill xmlns:a14="http://schemas.microsoft.com/office/drawing/2010/main">
                <a:solidFill>
                  <a:srgbClr val="FFFFFF"/>
                </a:solidFill>
              </a14:hiddenFill>
            </a:ext>
          </a:extLst>
        </p:spPr>
      </p:pic>
      <p:sp>
        <p:nvSpPr>
          <p:cNvPr id="31" name="Title 1"/>
          <p:cNvSpPr txBox="1">
            <a:spLocks/>
          </p:cNvSpPr>
          <p:nvPr/>
        </p:nvSpPr>
        <p:spPr>
          <a:xfrm>
            <a:off x="1696059" y="5327956"/>
            <a:ext cx="7886700" cy="1325563"/>
          </a:xfrm>
          <a:prstGeom prst="rect">
            <a:avLst/>
          </a:prstGeom>
        </p:spPr>
        <p:txBody>
          <a:bodyPr vert="horz" lIns="91440" tIns="45720" rIns="91440" bIns="45720" rtlCol="0" anchor="b">
            <a:normAutofit/>
          </a:bodyPr>
          <a:lstStyle>
            <a:lvl1pPr algn="ctr" defTabSz="914363"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dirty="0" smtClean="0"/>
              <a:t>Hadoop Stack</a:t>
            </a:r>
            <a:endParaRPr lang="en-US" sz="5400" dirty="0"/>
          </a:p>
        </p:txBody>
      </p:sp>
      <p:sp>
        <p:nvSpPr>
          <p:cNvPr id="2" name="Slide Number Placeholder 1"/>
          <p:cNvSpPr>
            <a:spLocks noGrp="1"/>
          </p:cNvSpPr>
          <p:nvPr>
            <p:ph type="sldNum" sz="quarter" idx="12"/>
          </p:nvPr>
        </p:nvSpPr>
        <p:spPr/>
        <p:txBody>
          <a:bodyPr/>
          <a:lstStyle/>
          <a:p>
            <a:fld id="{D431E30F-8439-471B-9257-EDD8E85CDBC8}" type="slidenum">
              <a:rPr lang="en-US" smtClean="0"/>
              <a:t>3</a:t>
            </a:fld>
            <a:endParaRPr lang="en-US"/>
          </a:p>
        </p:txBody>
      </p:sp>
    </p:spTree>
    <p:extLst>
      <p:ext uri="{BB962C8B-B14F-4D97-AF65-F5344CB8AC3E}">
        <p14:creationId xmlns:p14="http://schemas.microsoft.com/office/powerpoint/2010/main" val="1273294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500"/>
                                  </p:stCondLst>
                                  <p:childTnLst>
                                    <p:set>
                                      <p:cBhvr>
                                        <p:cTn id="6" dur="1" fill="hold">
                                          <p:stCondLst>
                                            <p:cond delay="0"/>
                                          </p:stCondLst>
                                        </p:cTn>
                                        <p:tgtEl>
                                          <p:spTgt spid="16"/>
                                        </p:tgtEl>
                                        <p:attrNameLst>
                                          <p:attrName>style.visibility</p:attrName>
                                        </p:attrNameLst>
                                      </p:cBhvr>
                                      <p:to>
                                        <p:strVal val="visible"/>
                                      </p:to>
                                    </p:set>
                                  </p:childTnLst>
                                </p:cTn>
                              </p:par>
                              <p:par>
                                <p:cTn id="7" presetID="10" presetClass="entr" presetSubtype="0" fill="hold" nodeType="withEffect">
                                  <p:stCondLst>
                                    <p:cond delay="5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childTnLst>
                          </p:cTn>
                        </p:par>
                        <p:par>
                          <p:cTn id="10" fill="hold">
                            <p:stCondLst>
                              <p:cond delay="1000"/>
                            </p:stCondLst>
                            <p:childTnLst>
                              <p:par>
                                <p:cTn id="11" presetID="10"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par>
                          <p:cTn id="17" fill="hold">
                            <p:stCondLst>
                              <p:cond delay="1500"/>
                            </p:stCondLst>
                            <p:childTnLst>
                              <p:par>
                                <p:cTn id="18" presetID="22" presetClass="entr" presetSubtype="1" fill="hold" grpId="0" nodeType="after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wipe(up)">
                                      <p:cBhvr>
                                        <p:cTn id="20" dur="5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childTnLst>
                          </p:cTn>
                        </p:par>
                        <p:par>
                          <p:cTn id="26" fill="hold">
                            <p:stCondLst>
                              <p:cond delay="500"/>
                            </p:stCondLst>
                            <p:childTnLst>
                              <p:par>
                                <p:cTn id="27" presetID="22" presetClass="entr" presetSubtype="1" fill="hold" grpId="0" nodeType="after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wipe(up)">
                                      <p:cBhvr>
                                        <p:cTn id="29" dur="500"/>
                                        <p:tgtEl>
                                          <p:spTgt spid="24"/>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childTnLst>
                                </p:cTn>
                              </p:par>
                            </p:childTnLst>
                          </p:cTn>
                        </p:par>
                        <p:par>
                          <p:cTn id="35" fill="hold">
                            <p:stCondLst>
                              <p:cond delay="500"/>
                            </p:stCondLst>
                            <p:childTnLst>
                              <p:par>
                                <p:cTn id="36" presetID="22" presetClass="entr" presetSubtype="2" fill="hold" grpId="0" nodeType="after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wipe(right)">
                                      <p:cBhvr>
                                        <p:cTn id="38" dur="500"/>
                                        <p:tgtEl>
                                          <p:spTgt spid="25"/>
                                        </p:tgtEl>
                                      </p:cBhvr>
                                    </p:animEffect>
                                  </p:childTnLst>
                                </p:cTn>
                              </p:par>
                            </p:childTnLst>
                          </p:cTn>
                        </p:par>
                        <p:par>
                          <p:cTn id="39" fill="hold">
                            <p:stCondLst>
                              <p:cond delay="1000"/>
                            </p:stCondLst>
                            <p:childTnLst>
                              <p:par>
                                <p:cTn id="40" presetID="22" presetClass="entr" presetSubtype="2" fill="hold" grpId="0" nodeType="after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wipe(right)">
                                      <p:cBhvr>
                                        <p:cTn id="42" dur="500"/>
                                        <p:tgtEl>
                                          <p:spTgt spid="26"/>
                                        </p:tgtEl>
                                      </p:cBhvr>
                                    </p:animEffect>
                                  </p:childTnLst>
                                </p:cTn>
                              </p:par>
                            </p:childTnLst>
                          </p:cTn>
                        </p:par>
                        <p:par>
                          <p:cTn id="43" fill="hold">
                            <p:stCondLst>
                              <p:cond delay="1500"/>
                            </p:stCondLst>
                            <p:childTnLst>
                              <p:par>
                                <p:cTn id="44" presetID="22" presetClass="entr" presetSubtype="2" fill="hold" grpId="0" nodeType="after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wipe(right)">
                                      <p:cBhvr>
                                        <p:cTn id="46"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23" grpId="0" animBg="1"/>
      <p:bldP spid="24" grpId="0" animBg="1"/>
      <p:bldP spid="25" grpId="0" animBg="1"/>
      <p:bldP spid="26" grpId="0" animBg="1"/>
      <p:bldP spid="2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Group 52"/>
          <p:cNvGrpSpPr/>
          <p:nvPr/>
        </p:nvGrpSpPr>
        <p:grpSpPr>
          <a:xfrm>
            <a:off x="4940648" y="232518"/>
            <a:ext cx="1842486" cy="463053"/>
            <a:chOff x="4940648" y="232518"/>
            <a:chExt cx="1842486" cy="463053"/>
          </a:xfrm>
        </p:grpSpPr>
        <p:sp>
          <p:nvSpPr>
            <p:cNvPr id="54" name="Rounded Rectangle 53"/>
            <p:cNvSpPr/>
            <p:nvPr/>
          </p:nvSpPr>
          <p:spPr>
            <a:xfrm>
              <a:off x="4940648" y="324227"/>
              <a:ext cx="921528" cy="371344"/>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endParaRPr lang="en-US" sz="2000"/>
            </a:p>
          </p:txBody>
        </p:sp>
        <p:sp>
          <p:nvSpPr>
            <p:cNvPr id="58" name="Rounded Rectangular Callout 57"/>
            <p:cNvSpPr/>
            <p:nvPr/>
          </p:nvSpPr>
          <p:spPr>
            <a:xfrm>
              <a:off x="5671091" y="232518"/>
              <a:ext cx="1112043" cy="254741"/>
            </a:xfrm>
            <a:prstGeom prst="wedgeRoundRectCallout">
              <a:avLst>
                <a:gd name="adj1" fmla="val -62990"/>
                <a:gd name="adj2" fmla="val 5220"/>
                <a:gd name="adj3" fmla="val 16667"/>
              </a:avLst>
            </a:prstGeom>
            <a:solidFill>
              <a:schemeClr val="bg1"/>
            </a:solidFill>
            <a:ln w="28575">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r"/>
              <a:r>
                <a:rPr lang="en-US" sz="1400" dirty="0" smtClean="0">
                  <a:solidFill>
                    <a:schemeClr val="accent5">
                      <a:lumMod val="50000"/>
                    </a:schemeClr>
                  </a:solidFill>
                  <a:latin typeface="Times New Roman" panose="02020603050405020304" pitchFamily="18" charset="0"/>
                  <a:cs typeface="Times New Roman" panose="02020603050405020304" pitchFamily="18" charset="0"/>
                </a:rPr>
                <a:t>MRS</a:t>
              </a:r>
              <a:r>
                <a:rPr lang="en-US" sz="1200" dirty="0" smtClean="0">
                  <a:solidFill>
                    <a:schemeClr val="accent5">
                      <a:lumMod val="50000"/>
                    </a:schemeClr>
                  </a:solidFill>
                  <a:latin typeface="Times New Roman" panose="02020603050405020304" pitchFamily="18" charset="0"/>
                  <a:cs typeface="Times New Roman" panose="02020603050405020304" pitchFamily="18" charset="0"/>
                </a:rPr>
                <a:t>ORT</a:t>
              </a:r>
              <a:r>
                <a:rPr lang="en-US" sz="1400" dirty="0" smtClean="0">
                  <a:solidFill>
                    <a:schemeClr val="accent5">
                      <a:lumMod val="50000"/>
                    </a:schemeClr>
                  </a:solidFill>
                  <a:latin typeface="Times New Roman" panose="02020603050405020304" pitchFamily="18" charset="0"/>
                  <a:cs typeface="Times New Roman" panose="02020603050405020304" pitchFamily="18" charset="0"/>
                </a:rPr>
                <a:t>10</a:t>
              </a:r>
              <a:r>
                <a:rPr lang="en-US" sz="1200" dirty="0" smtClean="0">
                  <a:solidFill>
                    <a:schemeClr val="accent5">
                      <a:lumMod val="50000"/>
                    </a:schemeClr>
                  </a:solidFill>
                  <a:latin typeface="Times New Roman" panose="02020603050405020304" pitchFamily="18" charset="0"/>
                  <a:cs typeface="Times New Roman" panose="02020603050405020304" pitchFamily="18" charset="0"/>
                </a:rPr>
                <a:t>G</a:t>
              </a:r>
              <a:endParaRPr lang="en-US" sz="1400" dirty="0">
                <a:solidFill>
                  <a:schemeClr val="accent5">
                    <a:lumMod val="50000"/>
                  </a:schemeClr>
                </a:solidFill>
                <a:latin typeface="Times New Roman" panose="02020603050405020304" pitchFamily="18" charset="0"/>
                <a:cs typeface="Times New Roman" panose="02020603050405020304" pitchFamily="18" charset="0"/>
              </a:endParaRPr>
            </a:p>
          </p:txBody>
        </p:sp>
      </p:grpSp>
      <p:grpSp>
        <p:nvGrpSpPr>
          <p:cNvPr id="70" name="Group 69"/>
          <p:cNvGrpSpPr/>
          <p:nvPr/>
        </p:nvGrpSpPr>
        <p:grpSpPr>
          <a:xfrm>
            <a:off x="4856344" y="24598"/>
            <a:ext cx="1980291" cy="610402"/>
            <a:chOff x="4856344" y="24598"/>
            <a:chExt cx="1980291" cy="610402"/>
          </a:xfrm>
        </p:grpSpPr>
        <p:sp>
          <p:nvSpPr>
            <p:cNvPr id="71" name="Rounded Rectangle 70"/>
            <p:cNvSpPr/>
            <p:nvPr/>
          </p:nvSpPr>
          <p:spPr>
            <a:xfrm>
              <a:off x="4856344" y="263656"/>
              <a:ext cx="921528" cy="371344"/>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endParaRPr lang="en-US" sz="2000"/>
            </a:p>
          </p:txBody>
        </p:sp>
        <p:sp>
          <p:nvSpPr>
            <p:cNvPr id="72" name="Freeform 71"/>
            <p:cNvSpPr/>
            <p:nvPr/>
          </p:nvSpPr>
          <p:spPr>
            <a:xfrm>
              <a:off x="5155377" y="111478"/>
              <a:ext cx="323462" cy="37800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75" name="Rounded Rectangular Callout 74"/>
            <p:cNvSpPr/>
            <p:nvPr/>
          </p:nvSpPr>
          <p:spPr>
            <a:xfrm>
              <a:off x="5580342" y="24598"/>
              <a:ext cx="1256293" cy="254741"/>
            </a:xfrm>
            <a:prstGeom prst="wedgeRoundRectCallout">
              <a:avLst>
                <a:gd name="adj1" fmla="val -62990"/>
                <a:gd name="adj2" fmla="val 5220"/>
                <a:gd name="adj3" fmla="val 16667"/>
              </a:avLst>
            </a:prstGeom>
            <a:solidFill>
              <a:schemeClr val="bg1"/>
            </a:solidFill>
            <a:ln w="28575">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dirty="0" smtClean="0">
                  <a:solidFill>
                    <a:schemeClr val="accent5">
                      <a:lumMod val="50000"/>
                    </a:schemeClr>
                  </a:solidFill>
                  <a:latin typeface="Times New Roman" panose="02020603050405020304" pitchFamily="18" charset="0"/>
                  <a:cs typeface="Times New Roman" panose="02020603050405020304" pitchFamily="18" charset="0"/>
                </a:rPr>
                <a:t>MRS</a:t>
              </a:r>
              <a:r>
                <a:rPr lang="en-US" sz="1400" dirty="0" smtClean="0">
                  <a:solidFill>
                    <a:schemeClr val="accent5">
                      <a:lumMod val="50000"/>
                    </a:schemeClr>
                  </a:solidFill>
                  <a:latin typeface="Times New Roman" panose="02020603050405020304" pitchFamily="18" charset="0"/>
                  <a:cs typeface="Times New Roman" panose="02020603050405020304" pitchFamily="18" charset="0"/>
                </a:rPr>
                <a:t>ORT</a:t>
              </a:r>
              <a:r>
                <a:rPr lang="en-US" sz="1600" dirty="0" smtClean="0">
                  <a:solidFill>
                    <a:schemeClr val="accent5">
                      <a:lumMod val="50000"/>
                    </a:schemeClr>
                  </a:solidFill>
                  <a:latin typeface="Times New Roman" panose="02020603050405020304" pitchFamily="18" charset="0"/>
                  <a:cs typeface="Times New Roman" panose="02020603050405020304" pitchFamily="18" charset="0"/>
                </a:rPr>
                <a:t>100</a:t>
              </a:r>
              <a:r>
                <a:rPr lang="en-US" sz="1400" dirty="0" smtClean="0">
                  <a:solidFill>
                    <a:schemeClr val="accent5">
                      <a:lumMod val="50000"/>
                    </a:schemeClr>
                  </a:solidFill>
                  <a:latin typeface="Times New Roman" panose="02020603050405020304" pitchFamily="18" charset="0"/>
                  <a:cs typeface="Times New Roman" panose="02020603050405020304" pitchFamily="18" charset="0"/>
                </a:rPr>
                <a:t>G</a:t>
              </a:r>
              <a:endParaRPr lang="en-US" sz="1600" dirty="0">
                <a:solidFill>
                  <a:schemeClr val="accent5">
                    <a:lumMod val="50000"/>
                  </a:schemeClr>
                </a:solidFill>
                <a:latin typeface="Times New Roman" panose="02020603050405020304" pitchFamily="18" charset="0"/>
                <a:cs typeface="Times New Roman" panose="02020603050405020304" pitchFamily="18" charset="0"/>
              </a:endParaRPr>
            </a:p>
          </p:txBody>
        </p:sp>
      </p:grpSp>
      <p:grpSp>
        <p:nvGrpSpPr>
          <p:cNvPr id="76" name="Group 75"/>
          <p:cNvGrpSpPr/>
          <p:nvPr/>
        </p:nvGrpSpPr>
        <p:grpSpPr>
          <a:xfrm>
            <a:off x="3281695" y="206882"/>
            <a:ext cx="1744358" cy="488689"/>
            <a:chOff x="3281695" y="206882"/>
            <a:chExt cx="1744358" cy="488689"/>
          </a:xfrm>
        </p:grpSpPr>
        <p:sp>
          <p:nvSpPr>
            <p:cNvPr id="77" name="Rounded Rectangle 76"/>
            <p:cNvSpPr/>
            <p:nvPr/>
          </p:nvSpPr>
          <p:spPr>
            <a:xfrm>
              <a:off x="3281695" y="324227"/>
              <a:ext cx="921528" cy="371344"/>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endParaRPr lang="en-US" sz="2000"/>
            </a:p>
          </p:txBody>
        </p:sp>
        <p:sp>
          <p:nvSpPr>
            <p:cNvPr id="78" name="Rounded Rectangular Callout 77"/>
            <p:cNvSpPr/>
            <p:nvPr/>
          </p:nvSpPr>
          <p:spPr>
            <a:xfrm>
              <a:off x="4084908" y="206882"/>
              <a:ext cx="941145" cy="254741"/>
            </a:xfrm>
            <a:prstGeom prst="wedgeRoundRectCallout">
              <a:avLst>
                <a:gd name="adj1" fmla="val -62990"/>
                <a:gd name="adj2" fmla="val 5220"/>
                <a:gd name="adj3" fmla="val 16667"/>
              </a:avLst>
            </a:prstGeom>
            <a:solidFill>
              <a:schemeClr val="bg1"/>
            </a:solidFill>
            <a:ln w="28575">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ctr"/>
              <a:r>
                <a:rPr lang="en-US" sz="1600" smtClean="0">
                  <a:solidFill>
                    <a:schemeClr val="accent2">
                      <a:lumMod val="50000"/>
                    </a:schemeClr>
                  </a:solidFill>
                  <a:latin typeface="Times New Roman" panose="02020603050405020304" pitchFamily="18" charset="0"/>
                  <a:cs typeface="Times New Roman" panose="02020603050405020304" pitchFamily="18" charset="0"/>
                </a:rPr>
                <a:t>FS</a:t>
              </a:r>
              <a:r>
                <a:rPr lang="en-US" sz="1200" smtClean="0">
                  <a:solidFill>
                    <a:schemeClr val="accent2">
                      <a:lumMod val="50000"/>
                    </a:schemeClr>
                  </a:solidFill>
                  <a:latin typeface="Times New Roman" panose="02020603050405020304" pitchFamily="18" charset="0"/>
                  <a:cs typeface="Times New Roman" panose="02020603050405020304" pitchFamily="18" charset="0"/>
                </a:rPr>
                <a:t>READ</a:t>
              </a:r>
              <a:r>
                <a:rPr lang="en-US" sz="1600" smtClean="0">
                  <a:solidFill>
                    <a:schemeClr val="accent2">
                      <a:lumMod val="50000"/>
                    </a:schemeClr>
                  </a:solidFill>
                  <a:latin typeface="Times New Roman" panose="02020603050405020304" pitchFamily="18" charset="0"/>
                  <a:cs typeface="Times New Roman" panose="02020603050405020304" pitchFamily="18" charset="0"/>
                </a:rPr>
                <a:t>4</a:t>
              </a:r>
              <a:r>
                <a:rPr lang="en-US" sz="1200" smtClean="0">
                  <a:solidFill>
                    <a:schemeClr val="accent2">
                      <a:lumMod val="50000"/>
                    </a:schemeClr>
                  </a:solidFill>
                  <a:latin typeface="Times New Roman" panose="02020603050405020304" pitchFamily="18" charset="0"/>
                  <a:cs typeface="Times New Roman" panose="02020603050405020304" pitchFamily="18" charset="0"/>
                </a:rPr>
                <a:t>M</a:t>
              </a:r>
              <a:endParaRPr lang="en-US" sz="1600" dirty="0">
                <a:solidFill>
                  <a:schemeClr val="accent2">
                    <a:lumMod val="50000"/>
                  </a:schemeClr>
                </a:solidFill>
                <a:latin typeface="Times New Roman" panose="02020603050405020304" pitchFamily="18" charset="0"/>
                <a:cs typeface="Times New Roman" panose="02020603050405020304" pitchFamily="18" charset="0"/>
              </a:endParaRPr>
            </a:p>
          </p:txBody>
        </p:sp>
      </p:grpSp>
      <p:grpSp>
        <p:nvGrpSpPr>
          <p:cNvPr id="79" name="Group 78"/>
          <p:cNvGrpSpPr/>
          <p:nvPr/>
        </p:nvGrpSpPr>
        <p:grpSpPr>
          <a:xfrm>
            <a:off x="3197391" y="24599"/>
            <a:ext cx="1743257" cy="610401"/>
            <a:chOff x="3197391" y="24599"/>
            <a:chExt cx="1743257" cy="610401"/>
          </a:xfrm>
        </p:grpSpPr>
        <p:sp>
          <p:nvSpPr>
            <p:cNvPr id="80" name="Rounded Rectangle 79"/>
            <p:cNvSpPr/>
            <p:nvPr/>
          </p:nvSpPr>
          <p:spPr>
            <a:xfrm>
              <a:off x="3197391" y="263656"/>
              <a:ext cx="921528" cy="371344"/>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endParaRPr lang="en-US" sz="2000"/>
            </a:p>
          </p:txBody>
        </p:sp>
        <p:sp>
          <p:nvSpPr>
            <p:cNvPr id="81" name="Freeform 80"/>
            <p:cNvSpPr/>
            <p:nvPr/>
          </p:nvSpPr>
          <p:spPr>
            <a:xfrm>
              <a:off x="3496424" y="111478"/>
              <a:ext cx="323462" cy="37800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82" name="Rounded Rectangular Callout 81"/>
            <p:cNvSpPr/>
            <p:nvPr/>
          </p:nvSpPr>
          <p:spPr>
            <a:xfrm>
              <a:off x="3911652" y="24599"/>
              <a:ext cx="1028996" cy="217300"/>
            </a:xfrm>
            <a:prstGeom prst="wedgeRoundRectCallout">
              <a:avLst>
                <a:gd name="adj1" fmla="val -62990"/>
                <a:gd name="adj2" fmla="val 5220"/>
                <a:gd name="adj3" fmla="val 16667"/>
              </a:avLst>
            </a:prstGeom>
            <a:solidFill>
              <a:schemeClr val="bg1"/>
            </a:solidFill>
            <a:ln w="28575">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dirty="0" smtClean="0">
                  <a:solidFill>
                    <a:schemeClr val="accent2">
                      <a:lumMod val="50000"/>
                    </a:schemeClr>
                  </a:solidFill>
                  <a:latin typeface="Times New Roman" panose="02020603050405020304" pitchFamily="18" charset="0"/>
                  <a:cs typeface="Times New Roman" panose="02020603050405020304" pitchFamily="18" charset="0"/>
                </a:rPr>
                <a:t>FS</a:t>
              </a:r>
              <a:r>
                <a:rPr lang="en-US" sz="1200" dirty="0" smtClean="0">
                  <a:solidFill>
                    <a:schemeClr val="accent2">
                      <a:lumMod val="50000"/>
                    </a:schemeClr>
                  </a:solidFill>
                  <a:latin typeface="Times New Roman" panose="02020603050405020304" pitchFamily="18" charset="0"/>
                  <a:cs typeface="Times New Roman" panose="02020603050405020304" pitchFamily="18" charset="0"/>
                </a:rPr>
                <a:t>READ</a:t>
              </a:r>
              <a:r>
                <a:rPr lang="en-US" sz="1600" dirty="0" smtClean="0">
                  <a:solidFill>
                    <a:schemeClr val="accent2">
                      <a:lumMod val="50000"/>
                    </a:schemeClr>
                  </a:solidFill>
                  <a:latin typeface="Times New Roman" panose="02020603050405020304" pitchFamily="18" charset="0"/>
                  <a:cs typeface="Times New Roman" panose="02020603050405020304" pitchFamily="18" charset="0"/>
                </a:rPr>
                <a:t>64</a:t>
              </a:r>
              <a:r>
                <a:rPr lang="en-US" sz="1200" dirty="0" smtClean="0">
                  <a:solidFill>
                    <a:schemeClr val="accent2">
                      <a:lumMod val="50000"/>
                    </a:schemeClr>
                  </a:solidFill>
                  <a:latin typeface="Times New Roman" panose="02020603050405020304" pitchFamily="18" charset="0"/>
                  <a:cs typeface="Times New Roman" panose="02020603050405020304" pitchFamily="18" charset="0"/>
                </a:rPr>
                <a:t>M</a:t>
              </a:r>
              <a:endParaRPr lang="en-US" sz="1600" dirty="0">
                <a:solidFill>
                  <a:schemeClr val="accent2">
                    <a:lumMod val="50000"/>
                  </a:schemeClr>
                </a:solidFill>
                <a:latin typeface="Times New Roman" panose="02020603050405020304" pitchFamily="18" charset="0"/>
                <a:cs typeface="Times New Roman" panose="02020603050405020304" pitchFamily="18" charset="0"/>
              </a:endParaRPr>
            </a:p>
          </p:txBody>
        </p:sp>
      </p:grpSp>
      <p:grpSp>
        <p:nvGrpSpPr>
          <p:cNvPr id="83" name="Group 82"/>
          <p:cNvGrpSpPr/>
          <p:nvPr/>
        </p:nvGrpSpPr>
        <p:grpSpPr>
          <a:xfrm>
            <a:off x="1622743" y="172698"/>
            <a:ext cx="1474512" cy="548273"/>
            <a:chOff x="1622743" y="172698"/>
            <a:chExt cx="1474512" cy="548273"/>
          </a:xfrm>
        </p:grpSpPr>
        <p:sp>
          <p:nvSpPr>
            <p:cNvPr id="84" name="Rounded Rectangle 83"/>
            <p:cNvSpPr/>
            <p:nvPr/>
          </p:nvSpPr>
          <p:spPr>
            <a:xfrm>
              <a:off x="1622743" y="349627"/>
              <a:ext cx="921528" cy="371344"/>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endParaRPr lang="en-US" sz="2000"/>
            </a:p>
          </p:txBody>
        </p:sp>
        <p:sp>
          <p:nvSpPr>
            <p:cNvPr id="88" name="Rounded Rectangular Callout 87"/>
            <p:cNvSpPr/>
            <p:nvPr/>
          </p:nvSpPr>
          <p:spPr>
            <a:xfrm>
              <a:off x="2312703" y="172698"/>
              <a:ext cx="784552" cy="254741"/>
            </a:xfrm>
            <a:prstGeom prst="wedgeRoundRectCallout">
              <a:avLst>
                <a:gd name="adj1" fmla="val -62990"/>
                <a:gd name="adj2" fmla="val 5220"/>
                <a:gd name="adj3" fmla="val 16667"/>
              </a:avLst>
            </a:prstGeom>
            <a:solidFill>
              <a:schemeClr val="bg1"/>
            </a:solidFill>
            <a:ln w="28575">
              <a:solidFill>
                <a:srgbClr val="70AD47"/>
              </a:solidFill>
            </a:ln>
          </p:spPr>
          <p:style>
            <a:lnRef idx="2">
              <a:schemeClr val="accent1">
                <a:shade val="50000"/>
              </a:schemeClr>
            </a:lnRef>
            <a:fillRef idx="1">
              <a:schemeClr val="accent1"/>
            </a:fillRef>
            <a:effectRef idx="0">
              <a:schemeClr val="accent1"/>
            </a:effectRef>
            <a:fontRef idx="minor">
              <a:schemeClr val="lt1"/>
            </a:fontRef>
          </p:style>
          <p:txBody>
            <a:bodyPr lIns="0" tIns="0" rIns="45720" bIns="0" rtlCol="0" anchor="b" anchorCtr="0"/>
            <a:lstStyle/>
            <a:p>
              <a:pPr algn="r"/>
              <a:r>
                <a:rPr lang="en-US" sz="1400" dirty="0" smtClean="0">
                  <a:solidFill>
                    <a:schemeClr val="accent6">
                      <a:lumMod val="50000"/>
                    </a:schemeClr>
                  </a:solidFill>
                  <a:latin typeface="Times New Roman" panose="02020603050405020304" pitchFamily="18" charset="0"/>
                  <a:cs typeface="Times New Roman" panose="02020603050405020304" pitchFamily="18" charset="0"/>
                </a:rPr>
                <a:t>H</a:t>
              </a:r>
              <a:r>
                <a:rPr lang="en-US" sz="1200" dirty="0" smtClean="0">
                  <a:solidFill>
                    <a:schemeClr val="accent6">
                      <a:lumMod val="50000"/>
                    </a:schemeClr>
                  </a:solidFill>
                  <a:latin typeface="Times New Roman" panose="02020603050405020304" pitchFamily="18" charset="0"/>
                  <a:cs typeface="Times New Roman" panose="02020603050405020304" pitchFamily="18" charset="0"/>
                </a:rPr>
                <a:t>SCAN</a:t>
              </a:r>
              <a:endParaRPr lang="en-US" sz="1400" dirty="0">
                <a:solidFill>
                  <a:schemeClr val="accent6">
                    <a:lumMod val="50000"/>
                  </a:schemeClr>
                </a:solidFill>
                <a:latin typeface="Times New Roman" panose="02020603050405020304" pitchFamily="18" charset="0"/>
                <a:cs typeface="Times New Roman" panose="02020603050405020304" pitchFamily="18" charset="0"/>
              </a:endParaRPr>
            </a:p>
          </p:txBody>
        </p:sp>
      </p:grpSp>
      <p:grpSp>
        <p:nvGrpSpPr>
          <p:cNvPr id="89" name="Group 88"/>
          <p:cNvGrpSpPr/>
          <p:nvPr/>
        </p:nvGrpSpPr>
        <p:grpSpPr>
          <a:xfrm>
            <a:off x="1548167" y="24597"/>
            <a:ext cx="1494994" cy="635802"/>
            <a:chOff x="1548167" y="24597"/>
            <a:chExt cx="1494994" cy="635802"/>
          </a:xfrm>
        </p:grpSpPr>
        <p:sp>
          <p:nvSpPr>
            <p:cNvPr id="93" name="Rounded Rectangle 92"/>
            <p:cNvSpPr/>
            <p:nvPr/>
          </p:nvSpPr>
          <p:spPr>
            <a:xfrm>
              <a:off x="1548167" y="289055"/>
              <a:ext cx="921528" cy="371344"/>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endParaRPr lang="en-US" sz="2000"/>
            </a:p>
          </p:txBody>
        </p:sp>
        <p:sp>
          <p:nvSpPr>
            <p:cNvPr id="94" name="Freeform 93"/>
            <p:cNvSpPr/>
            <p:nvPr/>
          </p:nvSpPr>
          <p:spPr>
            <a:xfrm>
              <a:off x="1847200" y="103729"/>
              <a:ext cx="323462" cy="37800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rgbClr val="70AD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95" name="Rounded Rectangular Callout 94"/>
            <p:cNvSpPr/>
            <p:nvPr/>
          </p:nvSpPr>
          <p:spPr>
            <a:xfrm>
              <a:off x="2258609" y="24597"/>
              <a:ext cx="784552" cy="210925"/>
            </a:xfrm>
            <a:prstGeom prst="wedgeRoundRectCallout">
              <a:avLst>
                <a:gd name="adj1" fmla="val -62990"/>
                <a:gd name="adj2" fmla="val 5220"/>
                <a:gd name="adj3" fmla="val 16667"/>
              </a:avLst>
            </a:prstGeom>
            <a:solidFill>
              <a:schemeClr val="bg1"/>
            </a:solidFill>
            <a:ln w="28575">
              <a:solidFill>
                <a:srgbClr val="70AD47"/>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dirty="0" smtClean="0">
                  <a:solidFill>
                    <a:schemeClr val="accent6">
                      <a:lumMod val="50000"/>
                    </a:schemeClr>
                  </a:solidFill>
                  <a:latin typeface="Times New Roman" panose="02020603050405020304" pitchFamily="18" charset="0"/>
                  <a:cs typeface="Times New Roman" panose="02020603050405020304" pitchFamily="18" charset="0"/>
                </a:rPr>
                <a:t>H</a:t>
              </a:r>
              <a:r>
                <a:rPr lang="en-US" sz="1400" dirty="0" smtClean="0">
                  <a:solidFill>
                    <a:schemeClr val="accent6">
                      <a:lumMod val="50000"/>
                    </a:schemeClr>
                  </a:solidFill>
                  <a:latin typeface="Times New Roman" panose="02020603050405020304" pitchFamily="18" charset="0"/>
                  <a:cs typeface="Times New Roman" panose="02020603050405020304" pitchFamily="18" charset="0"/>
                </a:rPr>
                <a:t>GET</a:t>
              </a:r>
              <a:endParaRPr lang="en-US" dirty="0">
                <a:solidFill>
                  <a:schemeClr val="accent6">
                    <a:lumMod val="50000"/>
                  </a:schemeClr>
                </a:solidFill>
                <a:latin typeface="Times New Roman" panose="02020603050405020304" pitchFamily="18" charset="0"/>
                <a:cs typeface="Times New Roman" panose="02020603050405020304" pitchFamily="18" charset="0"/>
              </a:endParaRPr>
            </a:p>
          </p:txBody>
        </p:sp>
      </p:grpSp>
      <p:grpSp>
        <p:nvGrpSpPr>
          <p:cNvPr id="50" name="Group 49"/>
          <p:cNvGrpSpPr/>
          <p:nvPr/>
        </p:nvGrpSpPr>
        <p:grpSpPr>
          <a:xfrm>
            <a:off x="1548167" y="890653"/>
            <a:ext cx="4314009" cy="2607290"/>
            <a:chOff x="1548167" y="890653"/>
            <a:chExt cx="4314009" cy="2607290"/>
          </a:xfrm>
        </p:grpSpPr>
        <p:grpSp>
          <p:nvGrpSpPr>
            <p:cNvPr id="41" name="Group 40"/>
            <p:cNvGrpSpPr/>
            <p:nvPr/>
          </p:nvGrpSpPr>
          <p:grpSpPr>
            <a:xfrm>
              <a:off x="1548167" y="890653"/>
              <a:ext cx="4314009" cy="2607290"/>
              <a:chOff x="1548167" y="890653"/>
              <a:chExt cx="4314009" cy="2607290"/>
            </a:xfrm>
          </p:grpSpPr>
          <p:sp>
            <p:nvSpPr>
              <p:cNvPr id="92" name="Rounded Rectangle 91"/>
              <p:cNvSpPr/>
              <p:nvPr/>
            </p:nvSpPr>
            <p:spPr>
              <a:xfrm>
                <a:off x="1854940" y="1157145"/>
                <a:ext cx="4007236" cy="2340798"/>
              </a:xfrm>
              <a:prstGeom prst="roundRect">
                <a:avLst>
                  <a:gd name="adj" fmla="val 3932"/>
                </a:avLst>
              </a:prstGeom>
              <a:solidFill>
                <a:schemeClr val="bg1">
                  <a:alpha val="25000"/>
                </a:schemeClr>
              </a:solidFill>
              <a:ln w="57150">
                <a:solidFill>
                  <a:schemeClr val="tx1">
                    <a:alpha val="2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91" name="Rounded Rectangle 90"/>
              <p:cNvSpPr/>
              <p:nvPr/>
            </p:nvSpPr>
            <p:spPr>
              <a:xfrm>
                <a:off x="1752683" y="1068315"/>
                <a:ext cx="4007236" cy="2340798"/>
              </a:xfrm>
              <a:prstGeom prst="roundRect">
                <a:avLst>
                  <a:gd name="adj" fmla="val 3932"/>
                </a:avLst>
              </a:prstGeom>
              <a:solidFill>
                <a:schemeClr val="bg1">
                  <a:alpha val="50000"/>
                </a:schemeClr>
              </a:solidFill>
              <a:ln w="571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90" name="Rounded Rectangle 89"/>
              <p:cNvSpPr/>
              <p:nvPr/>
            </p:nvSpPr>
            <p:spPr>
              <a:xfrm>
                <a:off x="1650425" y="979484"/>
                <a:ext cx="4007236" cy="2340798"/>
              </a:xfrm>
              <a:prstGeom prst="roundRect">
                <a:avLst>
                  <a:gd name="adj" fmla="val 3932"/>
                </a:avLst>
              </a:prstGeom>
              <a:solidFill>
                <a:schemeClr val="bg1">
                  <a:alpha val="75000"/>
                </a:schemeClr>
              </a:solidFill>
              <a:ln w="57150">
                <a:solidFill>
                  <a:schemeClr val="tx1">
                    <a:alpha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nvGrpSpPr>
              <p:cNvPr id="40" name="Group 39"/>
              <p:cNvGrpSpPr/>
              <p:nvPr/>
            </p:nvGrpSpPr>
            <p:grpSpPr>
              <a:xfrm>
                <a:off x="1548167" y="890653"/>
                <a:ext cx="4007236" cy="2340798"/>
                <a:chOff x="1548167" y="890653"/>
                <a:chExt cx="4007236" cy="2340798"/>
              </a:xfrm>
            </p:grpSpPr>
            <p:sp>
              <p:nvSpPr>
                <p:cNvPr id="47" name="Rounded Rectangle 46"/>
                <p:cNvSpPr/>
                <p:nvPr/>
              </p:nvSpPr>
              <p:spPr>
                <a:xfrm>
                  <a:off x="1548167" y="890653"/>
                  <a:ext cx="4007236" cy="2340798"/>
                </a:xfrm>
                <a:prstGeom prst="roundRect">
                  <a:avLst>
                    <a:gd name="adj" fmla="val 3932"/>
                  </a:avLst>
                </a:prstGeom>
                <a:solidFill>
                  <a:schemeClr val="bg1"/>
                </a:solidFill>
                <a:ln w="571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cxnSp>
              <p:nvCxnSpPr>
                <p:cNvPr id="52" name="Straight Connector 51"/>
                <p:cNvCxnSpPr/>
                <p:nvPr/>
              </p:nvCxnSpPr>
              <p:spPr>
                <a:xfrm flipV="1">
                  <a:off x="1548167" y="2515146"/>
                  <a:ext cx="3999266" cy="4309"/>
                </a:xfrm>
                <a:prstGeom prst="line">
                  <a:avLst/>
                </a:prstGeom>
                <a:ln w="571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sp>
          <p:nvSpPr>
            <p:cNvPr id="31" name="Can 30"/>
            <p:cNvSpPr/>
            <p:nvPr/>
          </p:nvSpPr>
          <p:spPr>
            <a:xfrm>
              <a:off x="3003528" y="2602755"/>
              <a:ext cx="904605" cy="528273"/>
            </a:xfrm>
            <a:prstGeom prst="can">
              <a:avLst>
                <a:gd name="adj" fmla="val 50000"/>
              </a:avLst>
            </a:prstGeom>
            <a:solidFill>
              <a:schemeClr val="accent4">
                <a:lumMod val="20000"/>
                <a:lumOff val="8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109728" rIns="0" bIns="0" rtlCol="0" anchor="ctr"/>
            <a:lstStyle/>
            <a:p>
              <a:pPr algn="ctr"/>
              <a:r>
                <a:rPr lang="en-US" sz="2000" b="1" dirty="0">
                  <a:solidFill>
                    <a:schemeClr val="tx1"/>
                  </a:solidFill>
                </a:rPr>
                <a:t>Disk</a:t>
              </a:r>
            </a:p>
          </p:txBody>
        </p:sp>
        <p:sp>
          <p:nvSpPr>
            <p:cNvPr id="6" name="Rounded Rectangle 5"/>
            <p:cNvSpPr/>
            <p:nvPr/>
          </p:nvSpPr>
          <p:spPr>
            <a:xfrm>
              <a:off x="1667662" y="987617"/>
              <a:ext cx="1056938" cy="641696"/>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b" anchorCtr="0"/>
            <a:lstStyle/>
            <a:p>
              <a:r>
                <a:rPr lang="en-US" sz="2000" dirty="0" err="1">
                  <a:solidFill>
                    <a:schemeClr val="tx1"/>
                  </a:solidFill>
                </a:rPr>
                <a:t>HBase</a:t>
              </a:r>
              <a:endParaRPr lang="en-US" sz="2000" dirty="0">
                <a:solidFill>
                  <a:schemeClr val="tx1"/>
                </a:solidFill>
              </a:endParaRPr>
            </a:p>
          </p:txBody>
        </p:sp>
        <p:sp>
          <p:nvSpPr>
            <p:cNvPr id="42" name="Rounded Rectangle 41"/>
            <p:cNvSpPr/>
            <p:nvPr/>
          </p:nvSpPr>
          <p:spPr>
            <a:xfrm>
              <a:off x="3601331" y="1066452"/>
              <a:ext cx="1840961" cy="484026"/>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r>
                <a:rPr lang="en-US" sz="2000" dirty="0" err="1">
                  <a:solidFill>
                    <a:schemeClr val="tx1"/>
                  </a:solidFill>
                </a:rPr>
                <a:t>MapReduce</a:t>
              </a:r>
              <a:endParaRPr lang="en-US" sz="2000" dirty="0">
                <a:solidFill>
                  <a:schemeClr val="tx1"/>
                </a:solidFill>
              </a:endParaRPr>
            </a:p>
          </p:txBody>
        </p:sp>
        <p:sp>
          <p:nvSpPr>
            <p:cNvPr id="46" name="Rounded Rectangle 45"/>
            <p:cNvSpPr/>
            <p:nvPr/>
          </p:nvSpPr>
          <p:spPr>
            <a:xfrm>
              <a:off x="2641009" y="1743418"/>
              <a:ext cx="1075285" cy="644131"/>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r>
                <a:rPr lang="en-US" sz="2000" dirty="0">
                  <a:solidFill>
                    <a:schemeClr val="tx1"/>
                  </a:solidFill>
                </a:rPr>
                <a:t>HDFS</a:t>
              </a:r>
            </a:p>
          </p:txBody>
        </p:sp>
      </p:grpSp>
      <p:grpSp>
        <p:nvGrpSpPr>
          <p:cNvPr id="55" name="Group 54"/>
          <p:cNvGrpSpPr/>
          <p:nvPr/>
        </p:nvGrpSpPr>
        <p:grpSpPr>
          <a:xfrm>
            <a:off x="5818483" y="696670"/>
            <a:ext cx="1194558" cy="1078020"/>
            <a:chOff x="5818483" y="696670"/>
            <a:chExt cx="1194558" cy="1078020"/>
          </a:xfrm>
        </p:grpSpPr>
        <p:sp>
          <p:nvSpPr>
            <p:cNvPr id="61" name="TextBox 60"/>
            <p:cNvSpPr txBox="1"/>
            <p:nvPr/>
          </p:nvSpPr>
          <p:spPr>
            <a:xfrm rot="1468153">
              <a:off x="5818483" y="904989"/>
              <a:ext cx="1194558" cy="400110"/>
            </a:xfrm>
            <a:prstGeom prst="rect">
              <a:avLst/>
            </a:prstGeom>
            <a:noFill/>
          </p:spPr>
          <p:txBody>
            <a:bodyPr wrap="none" rtlCol="0">
              <a:spAutoFit/>
            </a:bodyPr>
            <a:lstStyle/>
            <a:p>
              <a:r>
                <a:rPr lang="en-US" sz="2000" dirty="0"/>
                <a:t>Machines</a:t>
              </a:r>
            </a:p>
          </p:txBody>
        </p:sp>
        <p:sp>
          <p:nvSpPr>
            <p:cNvPr id="65" name="Right Brace 64"/>
            <p:cNvSpPr/>
            <p:nvPr/>
          </p:nvSpPr>
          <p:spPr>
            <a:xfrm rot="20147132">
              <a:off x="5849694" y="696670"/>
              <a:ext cx="252919" cy="1078020"/>
            </a:xfrm>
            <a:prstGeom prst="rightBrace">
              <a:avLst>
                <a:gd name="adj1" fmla="val 62329"/>
                <a:gd name="adj2" fmla="val 47314"/>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160"/>
            </a:p>
          </p:txBody>
        </p:sp>
      </p:grpSp>
      <p:sp>
        <p:nvSpPr>
          <p:cNvPr id="85" name="Freeform 84"/>
          <p:cNvSpPr/>
          <p:nvPr/>
        </p:nvSpPr>
        <p:spPr>
          <a:xfrm>
            <a:off x="2003898" y="593389"/>
            <a:ext cx="1334091" cy="2158288"/>
          </a:xfrm>
          <a:custGeom>
            <a:avLst/>
            <a:gdLst>
              <a:gd name="connsiteX0" fmla="*/ 0 w 1206230"/>
              <a:gd name="connsiteY0" fmla="*/ 0 h 2782111"/>
              <a:gd name="connsiteX1" fmla="*/ 0 w 1206230"/>
              <a:gd name="connsiteY1" fmla="*/ 710119 h 2782111"/>
              <a:gd name="connsiteX2" fmla="*/ 573932 w 1206230"/>
              <a:gd name="connsiteY2" fmla="*/ 1206230 h 2782111"/>
              <a:gd name="connsiteX3" fmla="*/ 573932 w 1206230"/>
              <a:gd name="connsiteY3" fmla="*/ 1682885 h 2782111"/>
              <a:gd name="connsiteX4" fmla="*/ 1206230 w 1206230"/>
              <a:gd name="connsiteY4" fmla="*/ 1682885 h 2782111"/>
              <a:gd name="connsiteX5" fmla="*/ 1206230 w 1206230"/>
              <a:gd name="connsiteY5" fmla="*/ 2782111 h 2782111"/>
              <a:gd name="connsiteX0" fmla="*/ 0 w 1206230"/>
              <a:gd name="connsiteY0" fmla="*/ 0 h 2782111"/>
              <a:gd name="connsiteX1" fmla="*/ 0 w 1206230"/>
              <a:gd name="connsiteY1" fmla="*/ 710119 h 2782111"/>
              <a:gd name="connsiteX2" fmla="*/ 573932 w 1206230"/>
              <a:gd name="connsiteY2" fmla="*/ 1206230 h 2782111"/>
              <a:gd name="connsiteX3" fmla="*/ 1206230 w 1206230"/>
              <a:gd name="connsiteY3" fmla="*/ 1682885 h 2782111"/>
              <a:gd name="connsiteX4" fmla="*/ 1206230 w 1206230"/>
              <a:gd name="connsiteY4" fmla="*/ 2782111 h 2782111"/>
              <a:gd name="connsiteX0" fmla="*/ 0 w 1206230"/>
              <a:gd name="connsiteY0" fmla="*/ 0 h 2782111"/>
              <a:gd name="connsiteX1" fmla="*/ 0 w 1206230"/>
              <a:gd name="connsiteY1" fmla="*/ 710119 h 2782111"/>
              <a:gd name="connsiteX2" fmla="*/ 1206230 w 1206230"/>
              <a:gd name="connsiteY2" fmla="*/ 1682885 h 2782111"/>
              <a:gd name="connsiteX3" fmla="*/ 1206230 w 1206230"/>
              <a:gd name="connsiteY3" fmla="*/ 2782111 h 2782111"/>
            </a:gdLst>
            <a:ahLst/>
            <a:cxnLst>
              <a:cxn ang="0">
                <a:pos x="connsiteX0" y="connsiteY0"/>
              </a:cxn>
              <a:cxn ang="0">
                <a:pos x="connsiteX1" y="connsiteY1"/>
              </a:cxn>
              <a:cxn ang="0">
                <a:pos x="connsiteX2" y="connsiteY2"/>
              </a:cxn>
              <a:cxn ang="0">
                <a:pos x="connsiteX3" y="connsiteY3"/>
              </a:cxn>
            </a:cxnLst>
            <a:rect l="l" t="t" r="r" b="b"/>
            <a:pathLst>
              <a:path w="1206230" h="2782111">
                <a:moveTo>
                  <a:pt x="0" y="0"/>
                </a:moveTo>
                <a:lnTo>
                  <a:pt x="0" y="710119"/>
                </a:lnTo>
                <a:lnTo>
                  <a:pt x="1206230" y="1682885"/>
                </a:lnTo>
                <a:lnTo>
                  <a:pt x="1206230" y="2782111"/>
                </a:lnTo>
              </a:path>
            </a:pathLst>
          </a:custGeom>
          <a:noFill/>
          <a:ln w="57150">
            <a:solidFill>
              <a:srgbClr val="70AD47"/>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86" name="Freeform 85"/>
          <p:cNvSpPr/>
          <p:nvPr/>
        </p:nvSpPr>
        <p:spPr>
          <a:xfrm>
            <a:off x="3451101" y="593389"/>
            <a:ext cx="225954" cy="2156477"/>
          </a:xfrm>
          <a:custGeom>
            <a:avLst/>
            <a:gdLst>
              <a:gd name="connsiteX0" fmla="*/ 330740 w 330740"/>
              <a:gd name="connsiteY0" fmla="*/ 0 h 2821022"/>
              <a:gd name="connsiteX1" fmla="*/ 0 w 330740"/>
              <a:gd name="connsiteY1" fmla="*/ 651753 h 2821022"/>
              <a:gd name="connsiteX2" fmla="*/ 0 w 330740"/>
              <a:gd name="connsiteY2" fmla="*/ 2821022 h 2821022"/>
            </a:gdLst>
            <a:ahLst/>
            <a:cxnLst>
              <a:cxn ang="0">
                <a:pos x="connsiteX0" y="connsiteY0"/>
              </a:cxn>
              <a:cxn ang="0">
                <a:pos x="connsiteX1" y="connsiteY1"/>
              </a:cxn>
              <a:cxn ang="0">
                <a:pos x="connsiteX2" y="connsiteY2"/>
              </a:cxn>
            </a:cxnLst>
            <a:rect l="l" t="t" r="r" b="b"/>
            <a:pathLst>
              <a:path w="330740" h="2821022">
                <a:moveTo>
                  <a:pt x="330740" y="0"/>
                </a:moveTo>
                <a:lnTo>
                  <a:pt x="0" y="651753"/>
                </a:lnTo>
                <a:lnTo>
                  <a:pt x="0" y="2821022"/>
                </a:lnTo>
              </a:path>
            </a:pathLst>
          </a:custGeom>
          <a:noFill/>
          <a:ln w="57150">
            <a:solidFill>
              <a:srgbClr val="ED7D3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87" name="Freeform 86"/>
          <p:cNvSpPr/>
          <p:nvPr/>
        </p:nvSpPr>
        <p:spPr>
          <a:xfrm>
            <a:off x="3577771" y="593389"/>
            <a:ext cx="1762714" cy="2156477"/>
          </a:xfrm>
          <a:custGeom>
            <a:avLst/>
            <a:gdLst>
              <a:gd name="connsiteX0" fmla="*/ 1780162 w 1780162"/>
              <a:gd name="connsiteY0" fmla="*/ 0 h 2821022"/>
              <a:gd name="connsiteX1" fmla="*/ 1780162 w 1780162"/>
              <a:gd name="connsiteY1" fmla="*/ 1391056 h 2821022"/>
              <a:gd name="connsiteX2" fmla="*/ 0 w 1780162"/>
              <a:gd name="connsiteY2" fmla="*/ 1391056 h 2821022"/>
              <a:gd name="connsiteX3" fmla="*/ 0 w 1780162"/>
              <a:gd name="connsiteY3" fmla="*/ 2821022 h 2821022"/>
            </a:gdLst>
            <a:ahLst/>
            <a:cxnLst>
              <a:cxn ang="0">
                <a:pos x="connsiteX0" y="connsiteY0"/>
              </a:cxn>
              <a:cxn ang="0">
                <a:pos x="connsiteX1" y="connsiteY1"/>
              </a:cxn>
              <a:cxn ang="0">
                <a:pos x="connsiteX2" y="connsiteY2"/>
              </a:cxn>
              <a:cxn ang="0">
                <a:pos x="connsiteX3" y="connsiteY3"/>
              </a:cxn>
            </a:cxnLst>
            <a:rect l="l" t="t" r="r" b="b"/>
            <a:pathLst>
              <a:path w="1780162" h="2821022">
                <a:moveTo>
                  <a:pt x="1780162" y="0"/>
                </a:moveTo>
                <a:lnTo>
                  <a:pt x="1780162" y="1391056"/>
                </a:lnTo>
                <a:lnTo>
                  <a:pt x="0" y="1391056"/>
                </a:lnTo>
                <a:lnTo>
                  <a:pt x="0" y="2821022"/>
                </a:lnTo>
              </a:path>
            </a:pathLst>
          </a:custGeom>
          <a:noFill/>
          <a:ln w="57150">
            <a:solidFill>
              <a:srgbClr val="4472C4"/>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10" name="Oval 109"/>
          <p:cNvSpPr/>
          <p:nvPr/>
        </p:nvSpPr>
        <p:spPr>
          <a:xfrm>
            <a:off x="1931071" y="526485"/>
            <a:ext cx="164260" cy="164260"/>
          </a:xfrm>
          <a:prstGeom prst="ellipse">
            <a:avLst/>
          </a:prstGeom>
          <a:solidFill>
            <a:srgbClr val="70AD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48" name="Oval 47"/>
          <p:cNvSpPr/>
          <p:nvPr/>
        </p:nvSpPr>
        <p:spPr>
          <a:xfrm>
            <a:off x="3590761" y="511302"/>
            <a:ext cx="164260" cy="164260"/>
          </a:xfrm>
          <a:prstGeom prst="ellips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49" name="Oval 48"/>
          <p:cNvSpPr/>
          <p:nvPr/>
        </p:nvSpPr>
        <p:spPr>
          <a:xfrm>
            <a:off x="5261376" y="527020"/>
            <a:ext cx="164260" cy="164260"/>
          </a:xfrm>
          <a:prstGeom prst="ellipse">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51" name="Title 1"/>
          <p:cNvSpPr txBox="1">
            <a:spLocks/>
          </p:cNvSpPr>
          <p:nvPr/>
        </p:nvSpPr>
        <p:spPr>
          <a:xfrm>
            <a:off x="0" y="5571113"/>
            <a:ext cx="91440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How is disk bandwidth being used?</a:t>
            </a:r>
          </a:p>
        </p:txBody>
      </p:sp>
      <p:pic>
        <p:nvPicPr>
          <p:cNvPr id="59" name="Picture 2" descr="https://cloud.google.com/hadoop/images/hadoop-elephant.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59697" y="5327956"/>
            <a:ext cx="2326293" cy="1662977"/>
          </a:xfrm>
          <a:prstGeom prst="rect">
            <a:avLst/>
          </a:prstGeom>
          <a:noFill/>
          <a:extLst>
            <a:ext uri="{909E8E84-426E-40DD-AFC4-6F175D3DCCD1}">
              <a14:hiddenFill xmlns:a14="http://schemas.microsoft.com/office/drawing/2010/main">
                <a:solidFill>
                  <a:srgbClr val="FFFFFF"/>
                </a:solidFill>
              </a14:hiddenFill>
            </a:ext>
          </a:extLst>
        </p:spPr>
      </p:pic>
      <p:sp>
        <p:nvSpPr>
          <p:cNvPr id="60" name="Title 1"/>
          <p:cNvSpPr txBox="1">
            <a:spLocks/>
          </p:cNvSpPr>
          <p:nvPr/>
        </p:nvSpPr>
        <p:spPr>
          <a:xfrm>
            <a:off x="1696059" y="5327956"/>
            <a:ext cx="7886700" cy="1325563"/>
          </a:xfrm>
          <a:prstGeom prst="rect">
            <a:avLst/>
          </a:prstGeom>
        </p:spPr>
        <p:txBody>
          <a:bodyPr vert="horz" lIns="91440" tIns="45720" rIns="91440" bIns="45720" rtlCol="0" anchor="b">
            <a:normAutofit/>
          </a:bodyPr>
          <a:lstStyle>
            <a:lvl1pPr algn="ctr" defTabSz="914363"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dirty="0" smtClean="0"/>
              <a:t>Hadoop Stack</a:t>
            </a:r>
            <a:endParaRPr lang="en-US" sz="5400" dirty="0"/>
          </a:p>
        </p:txBody>
      </p:sp>
      <p:sp>
        <p:nvSpPr>
          <p:cNvPr id="62" name="Freeform 61"/>
          <p:cNvSpPr/>
          <p:nvPr/>
        </p:nvSpPr>
        <p:spPr>
          <a:xfrm>
            <a:off x="3456781" y="2202681"/>
            <a:ext cx="45719" cy="607451"/>
          </a:xfrm>
          <a:custGeom>
            <a:avLst/>
            <a:gdLst>
              <a:gd name="connsiteX0" fmla="*/ 0 w 0"/>
              <a:gd name="connsiteY0" fmla="*/ 0 h 729575"/>
              <a:gd name="connsiteX1" fmla="*/ 0 w 0"/>
              <a:gd name="connsiteY1" fmla="*/ 729575 h 729575"/>
            </a:gdLst>
            <a:ahLst/>
            <a:cxnLst>
              <a:cxn ang="0">
                <a:pos x="connsiteX0" y="connsiteY0"/>
              </a:cxn>
              <a:cxn ang="0">
                <a:pos x="connsiteX1" y="connsiteY1"/>
              </a:cxn>
            </a:cxnLst>
            <a:rect l="l" t="t" r="r" b="b"/>
            <a:pathLst>
              <a:path h="729575">
                <a:moveTo>
                  <a:pt x="0" y="0"/>
                </a:moveTo>
                <a:lnTo>
                  <a:pt x="0" y="729575"/>
                </a:lnTo>
              </a:path>
            </a:pathLst>
          </a:custGeom>
          <a:noFill/>
          <a:ln w="57150">
            <a:solidFill>
              <a:schemeClr val="tx1"/>
            </a:solidFill>
            <a:prstDash val="sysDot"/>
            <a:headEnd type="oval" w="sm" len="sm"/>
            <a:tailEnd type="stealth"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66" name="Freeform 65"/>
          <p:cNvSpPr/>
          <p:nvPr/>
        </p:nvSpPr>
        <p:spPr>
          <a:xfrm>
            <a:off x="2606092" y="1418502"/>
            <a:ext cx="419756" cy="534284"/>
          </a:xfrm>
          <a:custGeom>
            <a:avLst/>
            <a:gdLst>
              <a:gd name="connsiteX0" fmla="*/ 0 w 680936"/>
              <a:gd name="connsiteY0" fmla="*/ 0 h 1031132"/>
              <a:gd name="connsiteX1" fmla="*/ 680936 w 680936"/>
              <a:gd name="connsiteY1" fmla="*/ 554477 h 1031132"/>
              <a:gd name="connsiteX2" fmla="*/ 680936 w 680936"/>
              <a:gd name="connsiteY2" fmla="*/ 1031132 h 1031132"/>
              <a:gd name="connsiteX0" fmla="*/ 0 w 680936"/>
              <a:gd name="connsiteY0" fmla="*/ 0 h 1031132"/>
              <a:gd name="connsiteX1" fmla="*/ 680936 w 680936"/>
              <a:gd name="connsiteY1" fmla="*/ 309415 h 1031132"/>
              <a:gd name="connsiteX2" fmla="*/ 680936 w 680936"/>
              <a:gd name="connsiteY2" fmla="*/ 1031132 h 1031132"/>
            </a:gdLst>
            <a:ahLst/>
            <a:cxnLst>
              <a:cxn ang="0">
                <a:pos x="connsiteX0" y="connsiteY0"/>
              </a:cxn>
              <a:cxn ang="0">
                <a:pos x="connsiteX1" y="connsiteY1"/>
              </a:cxn>
              <a:cxn ang="0">
                <a:pos x="connsiteX2" y="connsiteY2"/>
              </a:cxn>
            </a:cxnLst>
            <a:rect l="l" t="t" r="r" b="b"/>
            <a:pathLst>
              <a:path w="680936" h="1031132">
                <a:moveTo>
                  <a:pt x="0" y="0"/>
                </a:moveTo>
                <a:lnTo>
                  <a:pt x="680936" y="309415"/>
                </a:lnTo>
                <a:lnTo>
                  <a:pt x="680936" y="1031132"/>
                </a:lnTo>
              </a:path>
            </a:pathLst>
          </a:custGeom>
          <a:noFill/>
          <a:ln w="57150">
            <a:solidFill>
              <a:schemeClr val="tx1"/>
            </a:solidFill>
            <a:prstDash val="sysDot"/>
            <a:headEnd type="oval" w="sm" len="sm"/>
            <a:tailEnd type="stealth"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67" name="Freeform 66"/>
          <p:cNvSpPr/>
          <p:nvPr/>
        </p:nvSpPr>
        <p:spPr>
          <a:xfrm flipV="1">
            <a:off x="2518475" y="1158252"/>
            <a:ext cx="1246125" cy="45719"/>
          </a:xfrm>
          <a:custGeom>
            <a:avLst/>
            <a:gdLst>
              <a:gd name="connsiteX0" fmla="*/ 1342417 w 1342417"/>
              <a:gd name="connsiteY0" fmla="*/ 0 h 0"/>
              <a:gd name="connsiteX1" fmla="*/ 0 w 1342417"/>
              <a:gd name="connsiteY1" fmla="*/ 0 h 0"/>
            </a:gdLst>
            <a:ahLst/>
            <a:cxnLst>
              <a:cxn ang="0">
                <a:pos x="connsiteX0" y="connsiteY0"/>
              </a:cxn>
              <a:cxn ang="0">
                <a:pos x="connsiteX1" y="connsiteY1"/>
              </a:cxn>
            </a:cxnLst>
            <a:rect l="l" t="t" r="r" b="b"/>
            <a:pathLst>
              <a:path w="1342417">
                <a:moveTo>
                  <a:pt x="1342417" y="0"/>
                </a:moveTo>
                <a:lnTo>
                  <a:pt x="0" y="0"/>
                </a:lnTo>
              </a:path>
            </a:pathLst>
          </a:custGeom>
          <a:noFill/>
          <a:ln w="57150">
            <a:solidFill>
              <a:schemeClr val="tx1"/>
            </a:solidFill>
            <a:prstDash val="sysDot"/>
            <a:headEnd type="oval" w="sm" len="sm"/>
            <a:tailEnd type="stealth"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68" name="Freeform 67"/>
          <p:cNvSpPr/>
          <p:nvPr/>
        </p:nvSpPr>
        <p:spPr>
          <a:xfrm>
            <a:off x="3510668" y="1283268"/>
            <a:ext cx="1580525" cy="788454"/>
          </a:xfrm>
          <a:custGeom>
            <a:avLst/>
            <a:gdLst>
              <a:gd name="connsiteX0" fmla="*/ 1731523 w 1731523"/>
              <a:gd name="connsiteY0" fmla="*/ 0 h 885217"/>
              <a:gd name="connsiteX1" fmla="*/ 1731523 w 1731523"/>
              <a:gd name="connsiteY1" fmla="*/ 457200 h 885217"/>
              <a:gd name="connsiteX2" fmla="*/ 389106 w 1731523"/>
              <a:gd name="connsiteY2" fmla="*/ 885217 h 885217"/>
              <a:gd name="connsiteX3" fmla="*/ 0 w 1731523"/>
              <a:gd name="connsiteY3" fmla="*/ 885217 h 885217"/>
            </a:gdLst>
            <a:ahLst/>
            <a:cxnLst>
              <a:cxn ang="0">
                <a:pos x="connsiteX0" y="connsiteY0"/>
              </a:cxn>
              <a:cxn ang="0">
                <a:pos x="connsiteX1" y="connsiteY1"/>
              </a:cxn>
              <a:cxn ang="0">
                <a:pos x="connsiteX2" y="connsiteY2"/>
              </a:cxn>
              <a:cxn ang="0">
                <a:pos x="connsiteX3" y="connsiteY3"/>
              </a:cxn>
            </a:cxnLst>
            <a:rect l="l" t="t" r="r" b="b"/>
            <a:pathLst>
              <a:path w="1731523" h="885217">
                <a:moveTo>
                  <a:pt x="1731523" y="0"/>
                </a:moveTo>
                <a:lnTo>
                  <a:pt x="1731523" y="457200"/>
                </a:lnTo>
                <a:lnTo>
                  <a:pt x="389106" y="885217"/>
                </a:lnTo>
                <a:lnTo>
                  <a:pt x="0" y="885217"/>
                </a:lnTo>
              </a:path>
            </a:pathLst>
          </a:custGeom>
          <a:noFill/>
          <a:ln w="57150">
            <a:solidFill>
              <a:schemeClr val="tx1"/>
            </a:solidFill>
            <a:prstDash val="sysDot"/>
            <a:headEnd type="oval" w="sm" len="sm"/>
            <a:tailEnd type="stealth"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69" name="Freeform 68"/>
          <p:cNvSpPr/>
          <p:nvPr/>
        </p:nvSpPr>
        <p:spPr>
          <a:xfrm>
            <a:off x="3586840" y="1283268"/>
            <a:ext cx="1708420" cy="1498678"/>
          </a:xfrm>
          <a:custGeom>
            <a:avLst/>
            <a:gdLst>
              <a:gd name="connsiteX0" fmla="*/ 1731523 w 1731523"/>
              <a:gd name="connsiteY0" fmla="*/ 0 h 885217"/>
              <a:gd name="connsiteX1" fmla="*/ 1731523 w 1731523"/>
              <a:gd name="connsiteY1" fmla="*/ 457200 h 885217"/>
              <a:gd name="connsiteX2" fmla="*/ 389106 w 1731523"/>
              <a:gd name="connsiteY2" fmla="*/ 885217 h 885217"/>
              <a:gd name="connsiteX3" fmla="*/ 0 w 1731523"/>
              <a:gd name="connsiteY3" fmla="*/ 885217 h 885217"/>
              <a:gd name="connsiteX0" fmla="*/ 1683565 w 1731523"/>
              <a:gd name="connsiteY0" fmla="*/ 0 h 1076620"/>
              <a:gd name="connsiteX1" fmla="*/ 1731523 w 1731523"/>
              <a:gd name="connsiteY1" fmla="*/ 648603 h 1076620"/>
              <a:gd name="connsiteX2" fmla="*/ 389106 w 1731523"/>
              <a:gd name="connsiteY2" fmla="*/ 1076620 h 1076620"/>
              <a:gd name="connsiteX3" fmla="*/ 0 w 1731523"/>
              <a:gd name="connsiteY3" fmla="*/ 1076620 h 1076620"/>
              <a:gd name="connsiteX0" fmla="*/ 1683565 w 1707544"/>
              <a:gd name="connsiteY0" fmla="*/ 0 h 1076620"/>
              <a:gd name="connsiteX1" fmla="*/ 1707544 w 1707544"/>
              <a:gd name="connsiteY1" fmla="*/ 979209 h 1076620"/>
              <a:gd name="connsiteX2" fmla="*/ 389106 w 1707544"/>
              <a:gd name="connsiteY2" fmla="*/ 1076620 h 1076620"/>
              <a:gd name="connsiteX3" fmla="*/ 0 w 1707544"/>
              <a:gd name="connsiteY3" fmla="*/ 1076620 h 1076620"/>
              <a:gd name="connsiteX0" fmla="*/ 1683565 w 1707544"/>
              <a:gd name="connsiteY0" fmla="*/ 0 h 1076620"/>
              <a:gd name="connsiteX1" fmla="*/ 1707544 w 1707544"/>
              <a:gd name="connsiteY1" fmla="*/ 979209 h 1076620"/>
              <a:gd name="connsiteX2" fmla="*/ 0 w 1707544"/>
              <a:gd name="connsiteY2" fmla="*/ 1076620 h 1076620"/>
              <a:gd name="connsiteX0" fmla="*/ 1683565 w 1707544"/>
              <a:gd name="connsiteY0" fmla="*/ 0 h 1624731"/>
              <a:gd name="connsiteX1" fmla="*/ 1707544 w 1707544"/>
              <a:gd name="connsiteY1" fmla="*/ 979209 h 1624731"/>
              <a:gd name="connsiteX2" fmla="*/ 0 w 1707544"/>
              <a:gd name="connsiteY2" fmla="*/ 1624731 h 1624731"/>
              <a:gd name="connsiteX0" fmla="*/ 1683565 w 1684620"/>
              <a:gd name="connsiteY0" fmla="*/ 0 h 1624731"/>
              <a:gd name="connsiteX1" fmla="*/ 1684620 w 1684620"/>
              <a:gd name="connsiteY1" fmla="*/ 979209 h 1624731"/>
              <a:gd name="connsiteX2" fmla="*/ 0 w 1684620"/>
              <a:gd name="connsiteY2" fmla="*/ 1624731 h 1624731"/>
              <a:gd name="connsiteX0" fmla="*/ 1683565 w 1684620"/>
              <a:gd name="connsiteY0" fmla="*/ 0 h 1624731"/>
              <a:gd name="connsiteX1" fmla="*/ 1684620 w 1684620"/>
              <a:gd name="connsiteY1" fmla="*/ 979209 h 1624731"/>
              <a:gd name="connsiteX2" fmla="*/ 0 w 1684620"/>
              <a:gd name="connsiteY2" fmla="*/ 1624731 h 1624731"/>
            </a:gdLst>
            <a:ahLst/>
            <a:cxnLst>
              <a:cxn ang="0">
                <a:pos x="connsiteX0" y="connsiteY0"/>
              </a:cxn>
              <a:cxn ang="0">
                <a:pos x="connsiteX1" y="connsiteY1"/>
              </a:cxn>
              <a:cxn ang="0">
                <a:pos x="connsiteX2" y="connsiteY2"/>
              </a:cxn>
            </a:cxnLst>
            <a:rect l="l" t="t" r="r" b="b"/>
            <a:pathLst>
              <a:path w="1684620" h="1624731">
                <a:moveTo>
                  <a:pt x="1683565" y="0"/>
                </a:moveTo>
                <a:cubicBezTo>
                  <a:pt x="1683917" y="326403"/>
                  <a:pt x="1684268" y="652806"/>
                  <a:pt x="1684620" y="979209"/>
                </a:cubicBezTo>
                <a:lnTo>
                  <a:pt x="0" y="1624731"/>
                </a:lnTo>
              </a:path>
            </a:pathLst>
          </a:custGeom>
          <a:noFill/>
          <a:ln w="57150">
            <a:solidFill>
              <a:schemeClr val="tx1"/>
            </a:solidFill>
            <a:prstDash val="sysDot"/>
            <a:headEnd type="oval" w="sm" len="sm"/>
            <a:tailEnd type="stealth"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2" name="Slide Number Placeholder 1"/>
          <p:cNvSpPr>
            <a:spLocks noGrp="1"/>
          </p:cNvSpPr>
          <p:nvPr>
            <p:ph type="sldNum" sz="quarter" idx="12"/>
          </p:nvPr>
        </p:nvSpPr>
        <p:spPr/>
        <p:txBody>
          <a:bodyPr/>
          <a:lstStyle/>
          <a:p>
            <a:fld id="{D431E30F-8439-471B-9257-EDD8E85CDBC8}" type="slidenum">
              <a:rPr lang="en-US" smtClean="0"/>
              <a:t>4</a:t>
            </a:fld>
            <a:endParaRPr lang="en-US"/>
          </a:p>
        </p:txBody>
      </p:sp>
    </p:spTree>
    <p:extLst>
      <p:ext uri="{BB962C8B-B14F-4D97-AF65-F5344CB8AC3E}">
        <p14:creationId xmlns:p14="http://schemas.microsoft.com/office/powerpoint/2010/main" val="167262438"/>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grpId="1" nodeType="withEffect">
                                      <p:stCondLst>
                                        <p:cond delay="0"/>
                                      </p:stCondLst>
                                      <p:childTnLst>
                                        <p:animEffect transition="out" filter="fade">
                                          <p:cBhvr>
                                            <p:cTn id="6" dur="500"/>
                                            <p:tgtEl>
                                              <p:spTgt spid="62"/>
                                            </p:tgtEl>
                                          </p:cBhvr>
                                        </p:animEffect>
                                        <p:set>
                                          <p:cBhvr>
                                            <p:cTn id="7" dur="1" fill="hold">
                                              <p:stCondLst>
                                                <p:cond delay="499"/>
                                              </p:stCondLst>
                                            </p:cTn>
                                            <p:tgtEl>
                                              <p:spTgt spid="62"/>
                                            </p:tgtEl>
                                            <p:attrNameLst>
                                              <p:attrName>style.visibility</p:attrName>
                                            </p:attrNameLst>
                                          </p:cBhvr>
                                          <p:to>
                                            <p:strVal val="hidden"/>
                                          </p:to>
                                        </p:set>
                                      </p:childTnLst>
                                    </p:cTn>
                                  </p:par>
                                  <p:par>
                                    <p:cTn id="8" presetID="10" presetClass="exit" presetSubtype="0" fill="hold" grpId="1" nodeType="withEffect">
                                      <p:stCondLst>
                                        <p:cond delay="0"/>
                                      </p:stCondLst>
                                      <p:childTnLst>
                                        <p:animEffect transition="out" filter="fade">
                                          <p:cBhvr>
                                            <p:cTn id="9" dur="500"/>
                                            <p:tgtEl>
                                              <p:spTgt spid="66"/>
                                            </p:tgtEl>
                                          </p:cBhvr>
                                        </p:animEffect>
                                        <p:set>
                                          <p:cBhvr>
                                            <p:cTn id="10" dur="1" fill="hold">
                                              <p:stCondLst>
                                                <p:cond delay="499"/>
                                              </p:stCondLst>
                                            </p:cTn>
                                            <p:tgtEl>
                                              <p:spTgt spid="66"/>
                                            </p:tgtEl>
                                            <p:attrNameLst>
                                              <p:attrName>style.visibility</p:attrName>
                                            </p:attrNameLst>
                                          </p:cBhvr>
                                          <p:to>
                                            <p:strVal val="hidden"/>
                                          </p:to>
                                        </p:set>
                                      </p:childTnLst>
                                    </p:cTn>
                                  </p:par>
                                  <p:par>
                                    <p:cTn id="11" presetID="10" presetClass="exit" presetSubtype="0" fill="hold" grpId="1" nodeType="withEffect">
                                      <p:stCondLst>
                                        <p:cond delay="0"/>
                                      </p:stCondLst>
                                      <p:childTnLst>
                                        <p:animEffect transition="out" filter="fade">
                                          <p:cBhvr>
                                            <p:cTn id="12" dur="500"/>
                                            <p:tgtEl>
                                              <p:spTgt spid="67"/>
                                            </p:tgtEl>
                                          </p:cBhvr>
                                        </p:animEffect>
                                        <p:set>
                                          <p:cBhvr>
                                            <p:cTn id="13" dur="1" fill="hold">
                                              <p:stCondLst>
                                                <p:cond delay="499"/>
                                              </p:stCondLst>
                                            </p:cTn>
                                            <p:tgtEl>
                                              <p:spTgt spid="67"/>
                                            </p:tgtEl>
                                            <p:attrNameLst>
                                              <p:attrName>style.visibility</p:attrName>
                                            </p:attrNameLst>
                                          </p:cBhvr>
                                          <p:to>
                                            <p:strVal val="hidden"/>
                                          </p:to>
                                        </p:set>
                                      </p:childTnLst>
                                    </p:cTn>
                                  </p:par>
                                  <p:par>
                                    <p:cTn id="14" presetID="10" presetClass="exit" presetSubtype="0" fill="hold" grpId="1" nodeType="withEffect">
                                      <p:stCondLst>
                                        <p:cond delay="0"/>
                                      </p:stCondLst>
                                      <p:childTnLst>
                                        <p:animEffect transition="out" filter="fade">
                                          <p:cBhvr>
                                            <p:cTn id="15" dur="500"/>
                                            <p:tgtEl>
                                              <p:spTgt spid="68"/>
                                            </p:tgtEl>
                                          </p:cBhvr>
                                        </p:animEffect>
                                        <p:set>
                                          <p:cBhvr>
                                            <p:cTn id="16" dur="1" fill="hold">
                                              <p:stCondLst>
                                                <p:cond delay="499"/>
                                              </p:stCondLst>
                                            </p:cTn>
                                            <p:tgtEl>
                                              <p:spTgt spid="68"/>
                                            </p:tgtEl>
                                            <p:attrNameLst>
                                              <p:attrName>style.visibility</p:attrName>
                                            </p:attrNameLst>
                                          </p:cBhvr>
                                          <p:to>
                                            <p:strVal val="hidden"/>
                                          </p:to>
                                        </p:set>
                                      </p:childTnLst>
                                    </p:cTn>
                                  </p:par>
                                  <p:par>
                                    <p:cTn id="17" presetID="10" presetClass="exit" presetSubtype="0" fill="hold" grpId="1" nodeType="withEffect">
                                      <p:stCondLst>
                                        <p:cond delay="0"/>
                                      </p:stCondLst>
                                      <p:childTnLst>
                                        <p:animEffect transition="out" filter="fade">
                                          <p:cBhvr>
                                            <p:cTn id="18" dur="500"/>
                                            <p:tgtEl>
                                              <p:spTgt spid="69"/>
                                            </p:tgtEl>
                                          </p:cBhvr>
                                        </p:animEffect>
                                        <p:set>
                                          <p:cBhvr>
                                            <p:cTn id="19" dur="1" fill="hold">
                                              <p:stCondLst>
                                                <p:cond delay="499"/>
                                              </p:stCondLst>
                                            </p:cTn>
                                            <p:tgtEl>
                                              <p:spTgt spid="69"/>
                                            </p:tgtEl>
                                            <p:attrNameLst>
                                              <p:attrName>style.visibility</p:attrName>
                                            </p:attrNameLst>
                                          </p:cBhvr>
                                          <p:to>
                                            <p:strVal val="hidden"/>
                                          </p:to>
                                        </p:set>
                                      </p:childTnLst>
                                    </p:cTn>
                                  </p:par>
                                  <p:par>
                                    <p:cTn id="20" presetID="10" presetClass="entr" presetSubtype="0" fill="hold" nodeType="withEffect">
                                      <p:stCondLst>
                                        <p:cond delay="0"/>
                                      </p:stCondLst>
                                      <p:childTnLst>
                                        <p:set>
                                          <p:cBhvr>
                                            <p:cTn id="21" dur="1" fill="hold">
                                              <p:stCondLst>
                                                <p:cond delay="0"/>
                                              </p:stCondLst>
                                            </p:cTn>
                                            <p:tgtEl>
                                              <p:spTgt spid="79"/>
                                            </p:tgtEl>
                                            <p:attrNameLst>
                                              <p:attrName>style.visibility</p:attrName>
                                            </p:attrNameLst>
                                          </p:cBhvr>
                                          <p:to>
                                            <p:strVal val="visible"/>
                                          </p:to>
                                        </p:set>
                                        <p:animEffect transition="in" filter="fade">
                                          <p:cBhvr>
                                            <p:cTn id="22" dur="500"/>
                                            <p:tgtEl>
                                              <p:spTgt spid="79"/>
                                            </p:tgtEl>
                                          </p:cBhvr>
                                        </p:animEffect>
                                      </p:childTnLst>
                                    </p:cTn>
                                  </p:par>
                                </p:childTnLst>
                              </p:cTn>
                            </p:par>
                            <p:par>
                              <p:cTn id="23" fill="hold">
                                <p:stCondLst>
                                  <p:cond delay="500"/>
                                </p:stCondLst>
                                <p:childTnLst>
                                  <p:par>
                                    <p:cTn id="24" presetID="10" presetClass="entr" presetSubtype="0" fill="hold" nodeType="afterEffect">
                                      <p:stCondLst>
                                        <p:cond delay="0"/>
                                      </p:stCondLst>
                                      <p:childTnLst>
                                        <p:set>
                                          <p:cBhvr>
                                            <p:cTn id="25" dur="1" fill="hold">
                                              <p:stCondLst>
                                                <p:cond delay="0"/>
                                              </p:stCondLst>
                                            </p:cTn>
                                            <p:tgtEl>
                                              <p:spTgt spid="76"/>
                                            </p:tgtEl>
                                            <p:attrNameLst>
                                              <p:attrName>style.visibility</p:attrName>
                                            </p:attrNameLst>
                                          </p:cBhvr>
                                          <p:to>
                                            <p:strVal val="visible"/>
                                          </p:to>
                                        </p:set>
                                        <p:animEffect transition="in" filter="fade">
                                          <p:cBhvr>
                                            <p:cTn id="26" dur="500"/>
                                            <p:tgtEl>
                                              <p:spTgt spid="76"/>
                                            </p:tgtEl>
                                          </p:cBhvr>
                                        </p:animEffect>
                                      </p:childTnLst>
                                    </p:cTn>
                                  </p:par>
                                </p:childTnLst>
                              </p:cTn>
                            </p:par>
                            <p:par>
                              <p:cTn id="27" fill="hold">
                                <p:stCondLst>
                                  <p:cond delay="1000"/>
                                </p:stCondLst>
                                <p:childTnLst>
                                  <p:par>
                                    <p:cTn id="28" presetID="10" presetClass="entr" presetSubtype="0" fill="hold" grpId="0" nodeType="afterEffect">
                                      <p:stCondLst>
                                        <p:cond delay="0"/>
                                      </p:stCondLst>
                                      <p:childTnLst>
                                        <p:set>
                                          <p:cBhvr>
                                            <p:cTn id="29" dur="1" fill="hold">
                                              <p:stCondLst>
                                                <p:cond delay="0"/>
                                              </p:stCondLst>
                                            </p:cTn>
                                            <p:tgtEl>
                                              <p:spTgt spid="48"/>
                                            </p:tgtEl>
                                            <p:attrNameLst>
                                              <p:attrName>style.visibility</p:attrName>
                                            </p:attrNameLst>
                                          </p:cBhvr>
                                          <p:to>
                                            <p:strVal val="visible"/>
                                          </p:to>
                                        </p:set>
                                        <p:animEffect transition="in" filter="fade">
                                          <p:cBhvr>
                                            <p:cTn id="30" dur="500"/>
                                            <p:tgtEl>
                                              <p:spTgt spid="48"/>
                                            </p:tgtEl>
                                          </p:cBhvr>
                                        </p:animEffect>
                                      </p:childTnLst>
                                    </p:cTn>
                                  </p:par>
                                  <p:par>
                                    <p:cTn id="31" presetID="0" presetClass="path" presetSubtype="0" repeatCount="indefinite" autoRev="1" fill="hold" grpId="1" nodeType="withEffect" p14:presetBounceEnd="10000">
                                      <p:stCondLst>
                                        <p:cond delay="0"/>
                                      </p:stCondLst>
                                      <p:childTnLst>
                                        <p:animMotion origin="layout" path="M -2.5E-6 -4.07407E-6 L -0.02378 0.07524 L -0.02378 0.3169 " pathEditMode="relative" rAng="0" ptsTypes="AAA" p14:bounceEnd="10000">
                                          <p:cBhvr>
                                            <p:cTn id="32" dur="1000" fill="hold"/>
                                            <p:tgtEl>
                                              <p:spTgt spid="48"/>
                                            </p:tgtEl>
                                            <p:attrNameLst>
                                              <p:attrName>ppt_x</p:attrName>
                                              <p:attrName>ppt_y</p:attrName>
                                            </p:attrNameLst>
                                          </p:cBhvr>
                                          <p:rCtr x="-1198" y="15833"/>
                                        </p:animMotion>
                                      </p:childTnLst>
                                    </p:cTn>
                                  </p:par>
                                  <p:par>
                                    <p:cTn id="33" presetID="22" presetClass="entr" presetSubtype="1" fill="hold" grpId="0" nodeType="withEffect">
                                      <p:stCondLst>
                                        <p:cond delay="0"/>
                                      </p:stCondLst>
                                      <p:childTnLst>
                                        <p:set>
                                          <p:cBhvr>
                                            <p:cTn id="34" dur="1" fill="hold">
                                              <p:stCondLst>
                                                <p:cond delay="0"/>
                                              </p:stCondLst>
                                            </p:cTn>
                                            <p:tgtEl>
                                              <p:spTgt spid="86"/>
                                            </p:tgtEl>
                                            <p:attrNameLst>
                                              <p:attrName>style.visibility</p:attrName>
                                            </p:attrNameLst>
                                          </p:cBhvr>
                                          <p:to>
                                            <p:strVal val="visible"/>
                                          </p:to>
                                        </p:set>
                                        <p:animEffect transition="in" filter="wipe(up)">
                                          <p:cBhvr>
                                            <p:cTn id="35" dur="1000"/>
                                            <p:tgtEl>
                                              <p:spTgt spid="86"/>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xit" presetSubtype="0" fill="hold" grpId="2" nodeType="clickEffect">
                                      <p:stCondLst>
                                        <p:cond delay="0"/>
                                      </p:stCondLst>
                                      <p:childTnLst>
                                        <p:animEffect transition="out" filter="fade">
                                          <p:cBhvr>
                                            <p:cTn id="39" dur="500"/>
                                            <p:tgtEl>
                                              <p:spTgt spid="48"/>
                                            </p:tgtEl>
                                          </p:cBhvr>
                                        </p:animEffect>
                                        <p:set>
                                          <p:cBhvr>
                                            <p:cTn id="40" dur="1" fill="hold">
                                              <p:stCondLst>
                                                <p:cond delay="499"/>
                                              </p:stCondLst>
                                            </p:cTn>
                                            <p:tgtEl>
                                              <p:spTgt spid="48"/>
                                            </p:tgtEl>
                                            <p:attrNameLst>
                                              <p:attrName>style.visibility</p:attrName>
                                            </p:attrNameLst>
                                          </p:cBhvr>
                                          <p:to>
                                            <p:strVal val="hidden"/>
                                          </p:to>
                                        </p:set>
                                      </p:childTnLst>
                                    </p:cTn>
                                  </p:par>
                                  <p:par>
                                    <p:cTn id="41" presetID="10" presetClass="entr" presetSubtype="0" fill="hold" nodeType="withEffect">
                                      <p:stCondLst>
                                        <p:cond delay="0"/>
                                      </p:stCondLst>
                                      <p:childTnLst>
                                        <p:set>
                                          <p:cBhvr>
                                            <p:cTn id="42" dur="1" fill="hold">
                                              <p:stCondLst>
                                                <p:cond delay="0"/>
                                              </p:stCondLst>
                                            </p:cTn>
                                            <p:tgtEl>
                                              <p:spTgt spid="89"/>
                                            </p:tgtEl>
                                            <p:attrNameLst>
                                              <p:attrName>style.visibility</p:attrName>
                                            </p:attrNameLst>
                                          </p:cBhvr>
                                          <p:to>
                                            <p:strVal val="visible"/>
                                          </p:to>
                                        </p:set>
                                        <p:animEffect transition="in" filter="fade">
                                          <p:cBhvr>
                                            <p:cTn id="43" dur="500"/>
                                            <p:tgtEl>
                                              <p:spTgt spid="89"/>
                                            </p:tgtEl>
                                          </p:cBhvr>
                                        </p:animEffect>
                                      </p:childTnLst>
                                    </p:cTn>
                                  </p:par>
                                </p:childTnLst>
                              </p:cTn>
                            </p:par>
                            <p:par>
                              <p:cTn id="44" fill="hold">
                                <p:stCondLst>
                                  <p:cond delay="500"/>
                                </p:stCondLst>
                                <p:childTnLst>
                                  <p:par>
                                    <p:cTn id="45" presetID="10" presetClass="entr" presetSubtype="0" fill="hold" nodeType="afterEffect">
                                      <p:stCondLst>
                                        <p:cond delay="0"/>
                                      </p:stCondLst>
                                      <p:childTnLst>
                                        <p:set>
                                          <p:cBhvr>
                                            <p:cTn id="46" dur="1" fill="hold">
                                              <p:stCondLst>
                                                <p:cond delay="0"/>
                                              </p:stCondLst>
                                            </p:cTn>
                                            <p:tgtEl>
                                              <p:spTgt spid="83"/>
                                            </p:tgtEl>
                                            <p:attrNameLst>
                                              <p:attrName>style.visibility</p:attrName>
                                            </p:attrNameLst>
                                          </p:cBhvr>
                                          <p:to>
                                            <p:strVal val="visible"/>
                                          </p:to>
                                        </p:set>
                                        <p:animEffect transition="in" filter="fade">
                                          <p:cBhvr>
                                            <p:cTn id="47" dur="500"/>
                                            <p:tgtEl>
                                              <p:spTgt spid="83"/>
                                            </p:tgtEl>
                                          </p:cBhvr>
                                        </p:animEffect>
                                      </p:childTnLst>
                                    </p:cTn>
                                  </p:par>
                                </p:childTnLst>
                              </p:cTn>
                            </p:par>
                            <p:par>
                              <p:cTn id="48" fill="hold">
                                <p:stCondLst>
                                  <p:cond delay="1000"/>
                                </p:stCondLst>
                                <p:childTnLst>
                                  <p:par>
                                    <p:cTn id="49" presetID="10" presetClass="entr" presetSubtype="0" fill="hold" grpId="0" nodeType="afterEffect">
                                      <p:stCondLst>
                                        <p:cond delay="0"/>
                                      </p:stCondLst>
                                      <p:childTnLst>
                                        <p:set>
                                          <p:cBhvr>
                                            <p:cTn id="50" dur="1" fill="hold">
                                              <p:stCondLst>
                                                <p:cond delay="0"/>
                                              </p:stCondLst>
                                            </p:cTn>
                                            <p:tgtEl>
                                              <p:spTgt spid="110"/>
                                            </p:tgtEl>
                                            <p:attrNameLst>
                                              <p:attrName>style.visibility</p:attrName>
                                            </p:attrNameLst>
                                          </p:cBhvr>
                                          <p:to>
                                            <p:strVal val="visible"/>
                                          </p:to>
                                        </p:set>
                                        <p:animEffect transition="in" filter="fade">
                                          <p:cBhvr>
                                            <p:cTn id="51" dur="500"/>
                                            <p:tgtEl>
                                              <p:spTgt spid="110"/>
                                            </p:tgtEl>
                                          </p:cBhvr>
                                        </p:animEffect>
                                      </p:childTnLst>
                                    </p:cTn>
                                  </p:par>
                                  <p:par>
                                    <p:cTn id="52" presetID="22" presetClass="entr" presetSubtype="1" fill="hold" grpId="0" nodeType="withEffect">
                                      <p:stCondLst>
                                        <p:cond delay="0"/>
                                      </p:stCondLst>
                                      <p:childTnLst>
                                        <p:set>
                                          <p:cBhvr>
                                            <p:cTn id="53" dur="1" fill="hold">
                                              <p:stCondLst>
                                                <p:cond delay="0"/>
                                              </p:stCondLst>
                                            </p:cTn>
                                            <p:tgtEl>
                                              <p:spTgt spid="85"/>
                                            </p:tgtEl>
                                            <p:attrNameLst>
                                              <p:attrName>style.visibility</p:attrName>
                                            </p:attrNameLst>
                                          </p:cBhvr>
                                          <p:to>
                                            <p:strVal val="visible"/>
                                          </p:to>
                                        </p:set>
                                        <p:animEffect transition="in" filter="wipe(up)">
                                          <p:cBhvr>
                                            <p:cTn id="54" dur="1000"/>
                                            <p:tgtEl>
                                              <p:spTgt spid="85"/>
                                            </p:tgtEl>
                                          </p:cBhvr>
                                        </p:animEffect>
                                      </p:childTnLst>
                                    </p:cTn>
                                  </p:par>
                                  <p:par>
                                    <p:cTn id="55" presetID="0" presetClass="path" presetSubtype="0" fill="hold" grpId="1" nodeType="withEffect">
                                      <p:stCondLst>
                                        <p:cond delay="0"/>
                                      </p:stCondLst>
                                      <p:childTnLst>
                                        <p:animMotion origin="layout" path="M 1.11111E-6 -0.00047 L 1.11111E-6 0.07801 L 0.03194 0.10416 " pathEditMode="relative" rAng="0" ptsTypes="AAA">
                                          <p:cBhvr>
                                            <p:cTn id="56" dur="400" fill="hold"/>
                                            <p:tgtEl>
                                              <p:spTgt spid="110"/>
                                            </p:tgtEl>
                                            <p:attrNameLst>
                                              <p:attrName>ppt_x</p:attrName>
                                              <p:attrName>ppt_y</p:attrName>
                                            </p:attrNameLst>
                                          </p:cBhvr>
                                          <p:rCtr x="1597" y="5231"/>
                                        </p:animMotion>
                                      </p:childTnLst>
                                    </p:cTn>
                                  </p:par>
                                  <p:par>
                                    <p:cTn id="57" presetID="0" presetClass="path" presetSubtype="0" repeatCount="indefinite" accel="13333" autoRev="1" fill="hold" grpId="2" nodeType="withEffect" p14:presetBounceEnd="13333">
                                      <p:stCondLst>
                                        <p:cond delay="400"/>
                                      </p:stCondLst>
                                      <p:childTnLst>
                                        <p:animMotion origin="layout" path="M 0.03194 0.10416 L 0.14496 0.18727 L 0.14496 0.31227 " pathEditMode="relative" rAng="0" ptsTypes="AAA" p14:bounceEnd="13333">
                                          <p:cBhvr>
                                            <p:cTn id="58" dur="800" fill="hold"/>
                                            <p:tgtEl>
                                              <p:spTgt spid="110"/>
                                            </p:tgtEl>
                                            <p:attrNameLst>
                                              <p:attrName>ppt_x</p:attrName>
                                              <p:attrName>ppt_y</p:attrName>
                                            </p:attrNameLst>
                                          </p:cBhvr>
                                          <p:rCtr x="5642" y="10394"/>
                                        </p:animMotion>
                                      </p:childTnLst>
                                    </p:cTn>
                                  </p:par>
                                </p:childTnLst>
                              </p:cTn>
                            </p:par>
                          </p:childTnLst>
                        </p:cTn>
                      </p:par>
                      <p:par>
                        <p:cTn id="59" fill="hold">
                          <p:stCondLst>
                            <p:cond delay="indefinite"/>
                          </p:stCondLst>
                          <p:childTnLst>
                            <p:par>
                              <p:cTn id="60" fill="hold">
                                <p:stCondLst>
                                  <p:cond delay="0"/>
                                </p:stCondLst>
                                <p:childTnLst>
                                  <p:par>
                                    <p:cTn id="61" presetID="10" presetClass="exit" presetSubtype="0" fill="hold" grpId="3" nodeType="clickEffect">
                                      <p:stCondLst>
                                        <p:cond delay="0"/>
                                      </p:stCondLst>
                                      <p:childTnLst>
                                        <p:animEffect transition="out" filter="fade">
                                          <p:cBhvr>
                                            <p:cTn id="62" dur="500"/>
                                            <p:tgtEl>
                                              <p:spTgt spid="110"/>
                                            </p:tgtEl>
                                          </p:cBhvr>
                                        </p:animEffect>
                                        <p:set>
                                          <p:cBhvr>
                                            <p:cTn id="63" dur="1" fill="hold">
                                              <p:stCondLst>
                                                <p:cond delay="499"/>
                                              </p:stCondLst>
                                            </p:cTn>
                                            <p:tgtEl>
                                              <p:spTgt spid="110"/>
                                            </p:tgtEl>
                                            <p:attrNameLst>
                                              <p:attrName>style.visibility</p:attrName>
                                            </p:attrNameLst>
                                          </p:cBhvr>
                                          <p:to>
                                            <p:strVal val="hidden"/>
                                          </p:to>
                                        </p:set>
                                      </p:childTnLst>
                                    </p:cTn>
                                  </p:par>
                                  <p:par>
                                    <p:cTn id="64" presetID="10" presetClass="entr" presetSubtype="0" fill="hold" nodeType="withEffect">
                                      <p:stCondLst>
                                        <p:cond delay="0"/>
                                      </p:stCondLst>
                                      <p:childTnLst>
                                        <p:set>
                                          <p:cBhvr>
                                            <p:cTn id="65" dur="1" fill="hold">
                                              <p:stCondLst>
                                                <p:cond delay="0"/>
                                              </p:stCondLst>
                                            </p:cTn>
                                            <p:tgtEl>
                                              <p:spTgt spid="70"/>
                                            </p:tgtEl>
                                            <p:attrNameLst>
                                              <p:attrName>style.visibility</p:attrName>
                                            </p:attrNameLst>
                                          </p:cBhvr>
                                          <p:to>
                                            <p:strVal val="visible"/>
                                          </p:to>
                                        </p:set>
                                        <p:animEffect transition="in" filter="fade">
                                          <p:cBhvr>
                                            <p:cTn id="66" dur="500"/>
                                            <p:tgtEl>
                                              <p:spTgt spid="70"/>
                                            </p:tgtEl>
                                          </p:cBhvr>
                                        </p:animEffect>
                                      </p:childTnLst>
                                    </p:cTn>
                                  </p:par>
                                </p:childTnLst>
                              </p:cTn>
                            </p:par>
                            <p:par>
                              <p:cTn id="67" fill="hold">
                                <p:stCondLst>
                                  <p:cond delay="500"/>
                                </p:stCondLst>
                                <p:childTnLst>
                                  <p:par>
                                    <p:cTn id="68" presetID="10" presetClass="entr" presetSubtype="0" fill="hold" nodeType="afterEffect">
                                      <p:stCondLst>
                                        <p:cond delay="0"/>
                                      </p:stCondLst>
                                      <p:childTnLst>
                                        <p:set>
                                          <p:cBhvr>
                                            <p:cTn id="69" dur="1" fill="hold">
                                              <p:stCondLst>
                                                <p:cond delay="0"/>
                                              </p:stCondLst>
                                            </p:cTn>
                                            <p:tgtEl>
                                              <p:spTgt spid="53"/>
                                            </p:tgtEl>
                                            <p:attrNameLst>
                                              <p:attrName>style.visibility</p:attrName>
                                            </p:attrNameLst>
                                          </p:cBhvr>
                                          <p:to>
                                            <p:strVal val="visible"/>
                                          </p:to>
                                        </p:set>
                                        <p:animEffect transition="in" filter="fade">
                                          <p:cBhvr>
                                            <p:cTn id="70" dur="500"/>
                                            <p:tgtEl>
                                              <p:spTgt spid="53"/>
                                            </p:tgtEl>
                                          </p:cBhvr>
                                        </p:animEffect>
                                      </p:childTnLst>
                                    </p:cTn>
                                  </p:par>
                                </p:childTnLst>
                              </p:cTn>
                            </p:par>
                            <p:par>
                              <p:cTn id="71" fill="hold">
                                <p:stCondLst>
                                  <p:cond delay="1000"/>
                                </p:stCondLst>
                                <p:childTnLst>
                                  <p:par>
                                    <p:cTn id="72" presetID="10" presetClass="entr" presetSubtype="0" fill="hold" grpId="0" nodeType="afterEffect">
                                      <p:stCondLst>
                                        <p:cond delay="0"/>
                                      </p:stCondLst>
                                      <p:childTnLst>
                                        <p:set>
                                          <p:cBhvr>
                                            <p:cTn id="73" dur="1" fill="hold">
                                              <p:stCondLst>
                                                <p:cond delay="0"/>
                                              </p:stCondLst>
                                            </p:cTn>
                                            <p:tgtEl>
                                              <p:spTgt spid="49"/>
                                            </p:tgtEl>
                                            <p:attrNameLst>
                                              <p:attrName>style.visibility</p:attrName>
                                            </p:attrNameLst>
                                          </p:cBhvr>
                                          <p:to>
                                            <p:strVal val="visible"/>
                                          </p:to>
                                        </p:set>
                                        <p:animEffect transition="in" filter="fade">
                                          <p:cBhvr>
                                            <p:cTn id="74" dur="500"/>
                                            <p:tgtEl>
                                              <p:spTgt spid="49"/>
                                            </p:tgtEl>
                                          </p:cBhvr>
                                        </p:animEffect>
                                      </p:childTnLst>
                                    </p:cTn>
                                  </p:par>
                                  <p:par>
                                    <p:cTn id="75" presetID="22" presetClass="entr" presetSubtype="1" fill="hold" grpId="0" nodeType="withEffect">
                                      <p:stCondLst>
                                        <p:cond delay="0"/>
                                      </p:stCondLst>
                                      <p:childTnLst>
                                        <p:set>
                                          <p:cBhvr>
                                            <p:cTn id="76" dur="1" fill="hold">
                                              <p:stCondLst>
                                                <p:cond delay="0"/>
                                              </p:stCondLst>
                                            </p:cTn>
                                            <p:tgtEl>
                                              <p:spTgt spid="87"/>
                                            </p:tgtEl>
                                            <p:attrNameLst>
                                              <p:attrName>style.visibility</p:attrName>
                                            </p:attrNameLst>
                                          </p:cBhvr>
                                          <p:to>
                                            <p:strVal val="visible"/>
                                          </p:to>
                                        </p:set>
                                        <p:animEffect transition="in" filter="wipe(up)">
                                          <p:cBhvr>
                                            <p:cTn id="77" dur="1000"/>
                                            <p:tgtEl>
                                              <p:spTgt spid="87"/>
                                            </p:tgtEl>
                                          </p:cBhvr>
                                        </p:animEffect>
                                      </p:childTnLst>
                                    </p:cTn>
                                  </p:par>
                                  <p:par>
                                    <p:cTn id="78" presetID="0" presetClass="path" presetSubtype="0" fill="hold" grpId="1" nodeType="withEffect">
                                      <p:stCondLst>
                                        <p:cond delay="0"/>
                                      </p:stCondLst>
                                      <p:childTnLst>
                                        <p:animMotion origin="layout" path="M -0.00034 -0.00209 L 0.00069 0.09606 " pathEditMode="relative" rAng="0" ptsTypes="AA">
                                          <p:cBhvr>
                                            <p:cTn id="79" dur="250" fill="hold"/>
                                            <p:tgtEl>
                                              <p:spTgt spid="49"/>
                                            </p:tgtEl>
                                            <p:attrNameLst>
                                              <p:attrName>ppt_x</p:attrName>
                                              <p:attrName>ppt_y</p:attrName>
                                            </p:attrNameLst>
                                          </p:cBhvr>
                                          <p:rCtr x="87" y="5139"/>
                                        </p:animMotion>
                                      </p:childTnLst>
                                    </p:cTn>
                                  </p:par>
                                  <p:par>
                                    <p:cTn id="80" presetID="0" presetClass="path" presetSubtype="0" repeatCount="indefinite" accel="6667" autoRev="1" fill="hold" grpId="2" nodeType="withEffect" p14:presetBounceEnd="6667">
                                      <p:stCondLst>
                                        <p:cond delay="250"/>
                                      </p:stCondLst>
                                      <p:childTnLst>
                                        <p:animMotion origin="layout" path="M 0.0007 0.09606 L 0.0007 0.15115 L -0.19306 0.15115 L -0.19306 0.31296 " pathEditMode="relative" rAng="0" ptsTypes="AAAA" p14:bounceEnd="6667">
                                          <p:cBhvr>
                                            <p:cTn id="81" dur="1500" fill="hold"/>
                                            <p:tgtEl>
                                              <p:spTgt spid="49"/>
                                            </p:tgtEl>
                                            <p:attrNameLst>
                                              <p:attrName>ppt_x</p:attrName>
                                              <p:attrName>ppt_y</p:attrName>
                                            </p:attrNameLst>
                                          </p:cBhvr>
                                          <p:rCtr x="-9687" y="10833"/>
                                        </p:animMotion>
                                      </p:childTnLst>
                                    </p:cTn>
                                  </p:par>
                                </p:childTnLst>
                              </p:cTn>
                            </p:par>
                          </p:childTnLst>
                        </p:cTn>
                      </p:par>
                      <p:par>
                        <p:cTn id="82" fill="hold">
                          <p:stCondLst>
                            <p:cond delay="indefinite"/>
                          </p:stCondLst>
                          <p:childTnLst>
                            <p:par>
                              <p:cTn id="83" fill="hold">
                                <p:stCondLst>
                                  <p:cond delay="0"/>
                                </p:stCondLst>
                                <p:childTnLst>
                                  <p:par>
                                    <p:cTn id="84" presetID="10" presetClass="exit" presetSubtype="0" fill="hold" grpId="3" nodeType="clickEffect">
                                      <p:stCondLst>
                                        <p:cond delay="0"/>
                                      </p:stCondLst>
                                      <p:childTnLst>
                                        <p:animEffect transition="out" filter="fade">
                                          <p:cBhvr>
                                            <p:cTn id="85" dur="500"/>
                                            <p:tgtEl>
                                              <p:spTgt spid="49"/>
                                            </p:tgtEl>
                                          </p:cBhvr>
                                        </p:animEffect>
                                        <p:set>
                                          <p:cBhvr>
                                            <p:cTn id="86" dur="1" fill="hold">
                                              <p:stCondLst>
                                                <p:cond delay="499"/>
                                              </p:stCondLst>
                                            </p:cTn>
                                            <p:tgtEl>
                                              <p:spTgt spid="49"/>
                                            </p:tgtEl>
                                            <p:attrNameLst>
                                              <p:attrName>style.visibility</p:attrName>
                                            </p:attrNameLst>
                                          </p:cBhvr>
                                          <p:to>
                                            <p:strVal val="hidden"/>
                                          </p:to>
                                        </p:set>
                                      </p:childTnLst>
                                    </p:cTn>
                                  </p:par>
                                  <p:par>
                                    <p:cTn id="87" presetID="10" presetClass="exit" presetSubtype="0" fill="hold" nodeType="withEffect">
                                      <p:stCondLst>
                                        <p:cond delay="0"/>
                                      </p:stCondLst>
                                      <p:childTnLst>
                                        <p:animEffect transition="out" filter="fade">
                                          <p:cBhvr>
                                            <p:cTn id="88" dur="500"/>
                                            <p:tgtEl>
                                              <p:spTgt spid="59"/>
                                            </p:tgtEl>
                                          </p:cBhvr>
                                        </p:animEffect>
                                        <p:set>
                                          <p:cBhvr>
                                            <p:cTn id="89" dur="1" fill="hold">
                                              <p:stCondLst>
                                                <p:cond delay="499"/>
                                              </p:stCondLst>
                                            </p:cTn>
                                            <p:tgtEl>
                                              <p:spTgt spid="59"/>
                                            </p:tgtEl>
                                            <p:attrNameLst>
                                              <p:attrName>style.visibility</p:attrName>
                                            </p:attrNameLst>
                                          </p:cBhvr>
                                          <p:to>
                                            <p:strVal val="hidden"/>
                                          </p:to>
                                        </p:set>
                                      </p:childTnLst>
                                    </p:cTn>
                                  </p:par>
                                  <p:par>
                                    <p:cTn id="90" presetID="10" presetClass="exit" presetSubtype="0" fill="hold" grpId="0" nodeType="withEffect">
                                      <p:stCondLst>
                                        <p:cond delay="0"/>
                                      </p:stCondLst>
                                      <p:childTnLst>
                                        <p:animEffect transition="out" filter="fade">
                                          <p:cBhvr>
                                            <p:cTn id="91" dur="500"/>
                                            <p:tgtEl>
                                              <p:spTgt spid="60"/>
                                            </p:tgtEl>
                                          </p:cBhvr>
                                        </p:animEffect>
                                        <p:set>
                                          <p:cBhvr>
                                            <p:cTn id="92" dur="1" fill="hold">
                                              <p:stCondLst>
                                                <p:cond delay="499"/>
                                              </p:stCondLst>
                                            </p:cTn>
                                            <p:tgtEl>
                                              <p:spTgt spid="60"/>
                                            </p:tgtEl>
                                            <p:attrNameLst>
                                              <p:attrName>style.visibility</p:attrName>
                                            </p:attrNameLst>
                                          </p:cBhvr>
                                          <p:to>
                                            <p:strVal val="hidden"/>
                                          </p:to>
                                        </p:set>
                                      </p:childTnLst>
                                    </p:cTn>
                                  </p:par>
                                </p:childTnLst>
                              </p:cTn>
                            </p:par>
                            <p:par>
                              <p:cTn id="93" fill="hold">
                                <p:stCondLst>
                                  <p:cond delay="500"/>
                                </p:stCondLst>
                                <p:childTnLst>
                                  <p:par>
                                    <p:cTn id="94" presetID="10" presetClass="entr" presetSubtype="0" fill="hold" grpId="0" nodeType="afterEffect">
                                      <p:stCondLst>
                                        <p:cond delay="0"/>
                                      </p:stCondLst>
                                      <p:childTnLst>
                                        <p:set>
                                          <p:cBhvr>
                                            <p:cTn id="95" dur="1" fill="hold">
                                              <p:stCondLst>
                                                <p:cond delay="0"/>
                                              </p:stCondLst>
                                            </p:cTn>
                                            <p:tgtEl>
                                              <p:spTgt spid="51"/>
                                            </p:tgtEl>
                                            <p:attrNameLst>
                                              <p:attrName>style.visibility</p:attrName>
                                            </p:attrNameLst>
                                          </p:cBhvr>
                                          <p:to>
                                            <p:strVal val="visible"/>
                                          </p:to>
                                        </p:set>
                                        <p:animEffect transition="in" filter="fade">
                                          <p:cBhvr>
                                            <p:cTn id="96"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animBg="1"/>
          <p:bldP spid="86" grpId="0" animBg="1"/>
          <p:bldP spid="87" grpId="0" animBg="1"/>
          <p:bldP spid="110" grpId="0" animBg="1"/>
          <p:bldP spid="110" grpId="1" animBg="1"/>
          <p:bldP spid="110" grpId="2" animBg="1"/>
          <p:bldP spid="110" grpId="3" animBg="1"/>
          <p:bldP spid="48" grpId="0" animBg="1"/>
          <p:bldP spid="48" grpId="1" animBg="1"/>
          <p:bldP spid="48" grpId="2" animBg="1"/>
          <p:bldP spid="49" grpId="0" animBg="1"/>
          <p:bldP spid="49" grpId="1" animBg="1"/>
          <p:bldP spid="49" grpId="2" animBg="1"/>
          <p:bldP spid="49" grpId="3" animBg="1"/>
          <p:bldP spid="51" grpId="0"/>
          <p:bldP spid="60" grpId="0"/>
          <p:bldP spid="62" grpId="1" animBg="1"/>
          <p:bldP spid="66" grpId="1" animBg="1"/>
          <p:bldP spid="67" grpId="1" animBg="1"/>
          <p:bldP spid="68" grpId="1" animBg="1"/>
          <p:bldP spid="69" grpId="1"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grpId="1" nodeType="withEffect">
                                      <p:stCondLst>
                                        <p:cond delay="0"/>
                                      </p:stCondLst>
                                      <p:childTnLst>
                                        <p:animEffect transition="out" filter="fade">
                                          <p:cBhvr>
                                            <p:cTn id="6" dur="500"/>
                                            <p:tgtEl>
                                              <p:spTgt spid="62"/>
                                            </p:tgtEl>
                                          </p:cBhvr>
                                        </p:animEffect>
                                        <p:set>
                                          <p:cBhvr>
                                            <p:cTn id="7" dur="1" fill="hold">
                                              <p:stCondLst>
                                                <p:cond delay="499"/>
                                              </p:stCondLst>
                                            </p:cTn>
                                            <p:tgtEl>
                                              <p:spTgt spid="62"/>
                                            </p:tgtEl>
                                            <p:attrNameLst>
                                              <p:attrName>style.visibility</p:attrName>
                                            </p:attrNameLst>
                                          </p:cBhvr>
                                          <p:to>
                                            <p:strVal val="hidden"/>
                                          </p:to>
                                        </p:set>
                                      </p:childTnLst>
                                    </p:cTn>
                                  </p:par>
                                  <p:par>
                                    <p:cTn id="8" presetID="10" presetClass="exit" presetSubtype="0" fill="hold" grpId="1" nodeType="withEffect">
                                      <p:stCondLst>
                                        <p:cond delay="0"/>
                                      </p:stCondLst>
                                      <p:childTnLst>
                                        <p:animEffect transition="out" filter="fade">
                                          <p:cBhvr>
                                            <p:cTn id="9" dur="500"/>
                                            <p:tgtEl>
                                              <p:spTgt spid="66"/>
                                            </p:tgtEl>
                                          </p:cBhvr>
                                        </p:animEffect>
                                        <p:set>
                                          <p:cBhvr>
                                            <p:cTn id="10" dur="1" fill="hold">
                                              <p:stCondLst>
                                                <p:cond delay="499"/>
                                              </p:stCondLst>
                                            </p:cTn>
                                            <p:tgtEl>
                                              <p:spTgt spid="66"/>
                                            </p:tgtEl>
                                            <p:attrNameLst>
                                              <p:attrName>style.visibility</p:attrName>
                                            </p:attrNameLst>
                                          </p:cBhvr>
                                          <p:to>
                                            <p:strVal val="hidden"/>
                                          </p:to>
                                        </p:set>
                                      </p:childTnLst>
                                    </p:cTn>
                                  </p:par>
                                  <p:par>
                                    <p:cTn id="11" presetID="10" presetClass="exit" presetSubtype="0" fill="hold" grpId="1" nodeType="withEffect">
                                      <p:stCondLst>
                                        <p:cond delay="0"/>
                                      </p:stCondLst>
                                      <p:childTnLst>
                                        <p:animEffect transition="out" filter="fade">
                                          <p:cBhvr>
                                            <p:cTn id="12" dur="500"/>
                                            <p:tgtEl>
                                              <p:spTgt spid="67"/>
                                            </p:tgtEl>
                                          </p:cBhvr>
                                        </p:animEffect>
                                        <p:set>
                                          <p:cBhvr>
                                            <p:cTn id="13" dur="1" fill="hold">
                                              <p:stCondLst>
                                                <p:cond delay="499"/>
                                              </p:stCondLst>
                                            </p:cTn>
                                            <p:tgtEl>
                                              <p:spTgt spid="67"/>
                                            </p:tgtEl>
                                            <p:attrNameLst>
                                              <p:attrName>style.visibility</p:attrName>
                                            </p:attrNameLst>
                                          </p:cBhvr>
                                          <p:to>
                                            <p:strVal val="hidden"/>
                                          </p:to>
                                        </p:set>
                                      </p:childTnLst>
                                    </p:cTn>
                                  </p:par>
                                  <p:par>
                                    <p:cTn id="14" presetID="10" presetClass="exit" presetSubtype="0" fill="hold" grpId="1" nodeType="withEffect">
                                      <p:stCondLst>
                                        <p:cond delay="0"/>
                                      </p:stCondLst>
                                      <p:childTnLst>
                                        <p:animEffect transition="out" filter="fade">
                                          <p:cBhvr>
                                            <p:cTn id="15" dur="500"/>
                                            <p:tgtEl>
                                              <p:spTgt spid="68"/>
                                            </p:tgtEl>
                                          </p:cBhvr>
                                        </p:animEffect>
                                        <p:set>
                                          <p:cBhvr>
                                            <p:cTn id="16" dur="1" fill="hold">
                                              <p:stCondLst>
                                                <p:cond delay="499"/>
                                              </p:stCondLst>
                                            </p:cTn>
                                            <p:tgtEl>
                                              <p:spTgt spid="68"/>
                                            </p:tgtEl>
                                            <p:attrNameLst>
                                              <p:attrName>style.visibility</p:attrName>
                                            </p:attrNameLst>
                                          </p:cBhvr>
                                          <p:to>
                                            <p:strVal val="hidden"/>
                                          </p:to>
                                        </p:set>
                                      </p:childTnLst>
                                    </p:cTn>
                                  </p:par>
                                  <p:par>
                                    <p:cTn id="17" presetID="10" presetClass="exit" presetSubtype="0" fill="hold" grpId="1" nodeType="withEffect">
                                      <p:stCondLst>
                                        <p:cond delay="0"/>
                                      </p:stCondLst>
                                      <p:childTnLst>
                                        <p:animEffect transition="out" filter="fade">
                                          <p:cBhvr>
                                            <p:cTn id="18" dur="500"/>
                                            <p:tgtEl>
                                              <p:spTgt spid="69"/>
                                            </p:tgtEl>
                                          </p:cBhvr>
                                        </p:animEffect>
                                        <p:set>
                                          <p:cBhvr>
                                            <p:cTn id="19" dur="1" fill="hold">
                                              <p:stCondLst>
                                                <p:cond delay="499"/>
                                              </p:stCondLst>
                                            </p:cTn>
                                            <p:tgtEl>
                                              <p:spTgt spid="69"/>
                                            </p:tgtEl>
                                            <p:attrNameLst>
                                              <p:attrName>style.visibility</p:attrName>
                                            </p:attrNameLst>
                                          </p:cBhvr>
                                          <p:to>
                                            <p:strVal val="hidden"/>
                                          </p:to>
                                        </p:set>
                                      </p:childTnLst>
                                    </p:cTn>
                                  </p:par>
                                  <p:par>
                                    <p:cTn id="20" presetID="10" presetClass="entr" presetSubtype="0" fill="hold" nodeType="withEffect">
                                      <p:stCondLst>
                                        <p:cond delay="0"/>
                                      </p:stCondLst>
                                      <p:childTnLst>
                                        <p:set>
                                          <p:cBhvr>
                                            <p:cTn id="21" dur="1" fill="hold">
                                              <p:stCondLst>
                                                <p:cond delay="0"/>
                                              </p:stCondLst>
                                            </p:cTn>
                                            <p:tgtEl>
                                              <p:spTgt spid="79"/>
                                            </p:tgtEl>
                                            <p:attrNameLst>
                                              <p:attrName>style.visibility</p:attrName>
                                            </p:attrNameLst>
                                          </p:cBhvr>
                                          <p:to>
                                            <p:strVal val="visible"/>
                                          </p:to>
                                        </p:set>
                                        <p:animEffect transition="in" filter="fade">
                                          <p:cBhvr>
                                            <p:cTn id="22" dur="500"/>
                                            <p:tgtEl>
                                              <p:spTgt spid="79"/>
                                            </p:tgtEl>
                                          </p:cBhvr>
                                        </p:animEffect>
                                      </p:childTnLst>
                                    </p:cTn>
                                  </p:par>
                                </p:childTnLst>
                              </p:cTn>
                            </p:par>
                            <p:par>
                              <p:cTn id="23" fill="hold">
                                <p:stCondLst>
                                  <p:cond delay="500"/>
                                </p:stCondLst>
                                <p:childTnLst>
                                  <p:par>
                                    <p:cTn id="24" presetID="10" presetClass="entr" presetSubtype="0" fill="hold" nodeType="afterEffect">
                                      <p:stCondLst>
                                        <p:cond delay="0"/>
                                      </p:stCondLst>
                                      <p:childTnLst>
                                        <p:set>
                                          <p:cBhvr>
                                            <p:cTn id="25" dur="1" fill="hold">
                                              <p:stCondLst>
                                                <p:cond delay="0"/>
                                              </p:stCondLst>
                                            </p:cTn>
                                            <p:tgtEl>
                                              <p:spTgt spid="76"/>
                                            </p:tgtEl>
                                            <p:attrNameLst>
                                              <p:attrName>style.visibility</p:attrName>
                                            </p:attrNameLst>
                                          </p:cBhvr>
                                          <p:to>
                                            <p:strVal val="visible"/>
                                          </p:to>
                                        </p:set>
                                        <p:animEffect transition="in" filter="fade">
                                          <p:cBhvr>
                                            <p:cTn id="26" dur="500"/>
                                            <p:tgtEl>
                                              <p:spTgt spid="76"/>
                                            </p:tgtEl>
                                          </p:cBhvr>
                                        </p:animEffect>
                                      </p:childTnLst>
                                    </p:cTn>
                                  </p:par>
                                </p:childTnLst>
                              </p:cTn>
                            </p:par>
                            <p:par>
                              <p:cTn id="27" fill="hold">
                                <p:stCondLst>
                                  <p:cond delay="1000"/>
                                </p:stCondLst>
                                <p:childTnLst>
                                  <p:par>
                                    <p:cTn id="28" presetID="10" presetClass="entr" presetSubtype="0" fill="hold" grpId="0" nodeType="afterEffect">
                                      <p:stCondLst>
                                        <p:cond delay="0"/>
                                      </p:stCondLst>
                                      <p:childTnLst>
                                        <p:set>
                                          <p:cBhvr>
                                            <p:cTn id="29" dur="1" fill="hold">
                                              <p:stCondLst>
                                                <p:cond delay="0"/>
                                              </p:stCondLst>
                                            </p:cTn>
                                            <p:tgtEl>
                                              <p:spTgt spid="48"/>
                                            </p:tgtEl>
                                            <p:attrNameLst>
                                              <p:attrName>style.visibility</p:attrName>
                                            </p:attrNameLst>
                                          </p:cBhvr>
                                          <p:to>
                                            <p:strVal val="visible"/>
                                          </p:to>
                                        </p:set>
                                        <p:animEffect transition="in" filter="fade">
                                          <p:cBhvr>
                                            <p:cTn id="30" dur="500"/>
                                            <p:tgtEl>
                                              <p:spTgt spid="48"/>
                                            </p:tgtEl>
                                          </p:cBhvr>
                                        </p:animEffect>
                                      </p:childTnLst>
                                    </p:cTn>
                                  </p:par>
                                  <p:par>
                                    <p:cTn id="31" presetID="0" presetClass="path" presetSubtype="0" repeatCount="indefinite" autoRev="1" fill="hold" grpId="1" nodeType="withEffect">
                                      <p:stCondLst>
                                        <p:cond delay="0"/>
                                      </p:stCondLst>
                                      <p:childTnLst>
                                        <p:animMotion origin="layout" path="M -2.5E-6 -4.07407E-6 L -0.02378 0.07524 L -0.02378 0.3169 " pathEditMode="relative" rAng="0" ptsTypes="AAA">
                                          <p:cBhvr>
                                            <p:cTn id="32" dur="1000" fill="hold"/>
                                            <p:tgtEl>
                                              <p:spTgt spid="48"/>
                                            </p:tgtEl>
                                            <p:attrNameLst>
                                              <p:attrName>ppt_x</p:attrName>
                                              <p:attrName>ppt_y</p:attrName>
                                            </p:attrNameLst>
                                          </p:cBhvr>
                                          <p:rCtr x="-1198" y="15833"/>
                                        </p:animMotion>
                                      </p:childTnLst>
                                    </p:cTn>
                                  </p:par>
                                  <p:par>
                                    <p:cTn id="33" presetID="22" presetClass="entr" presetSubtype="1" fill="hold" grpId="0" nodeType="withEffect">
                                      <p:stCondLst>
                                        <p:cond delay="0"/>
                                      </p:stCondLst>
                                      <p:childTnLst>
                                        <p:set>
                                          <p:cBhvr>
                                            <p:cTn id="34" dur="1" fill="hold">
                                              <p:stCondLst>
                                                <p:cond delay="0"/>
                                              </p:stCondLst>
                                            </p:cTn>
                                            <p:tgtEl>
                                              <p:spTgt spid="86"/>
                                            </p:tgtEl>
                                            <p:attrNameLst>
                                              <p:attrName>style.visibility</p:attrName>
                                            </p:attrNameLst>
                                          </p:cBhvr>
                                          <p:to>
                                            <p:strVal val="visible"/>
                                          </p:to>
                                        </p:set>
                                        <p:animEffect transition="in" filter="wipe(up)">
                                          <p:cBhvr>
                                            <p:cTn id="35" dur="1000"/>
                                            <p:tgtEl>
                                              <p:spTgt spid="86"/>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xit" presetSubtype="0" fill="hold" grpId="2" nodeType="clickEffect">
                                      <p:stCondLst>
                                        <p:cond delay="0"/>
                                      </p:stCondLst>
                                      <p:childTnLst>
                                        <p:animEffect transition="out" filter="fade">
                                          <p:cBhvr>
                                            <p:cTn id="39" dur="500"/>
                                            <p:tgtEl>
                                              <p:spTgt spid="48"/>
                                            </p:tgtEl>
                                          </p:cBhvr>
                                        </p:animEffect>
                                        <p:set>
                                          <p:cBhvr>
                                            <p:cTn id="40" dur="1" fill="hold">
                                              <p:stCondLst>
                                                <p:cond delay="499"/>
                                              </p:stCondLst>
                                            </p:cTn>
                                            <p:tgtEl>
                                              <p:spTgt spid="48"/>
                                            </p:tgtEl>
                                            <p:attrNameLst>
                                              <p:attrName>style.visibility</p:attrName>
                                            </p:attrNameLst>
                                          </p:cBhvr>
                                          <p:to>
                                            <p:strVal val="hidden"/>
                                          </p:to>
                                        </p:set>
                                      </p:childTnLst>
                                    </p:cTn>
                                  </p:par>
                                  <p:par>
                                    <p:cTn id="41" presetID="10" presetClass="entr" presetSubtype="0" fill="hold" nodeType="withEffect">
                                      <p:stCondLst>
                                        <p:cond delay="0"/>
                                      </p:stCondLst>
                                      <p:childTnLst>
                                        <p:set>
                                          <p:cBhvr>
                                            <p:cTn id="42" dur="1" fill="hold">
                                              <p:stCondLst>
                                                <p:cond delay="0"/>
                                              </p:stCondLst>
                                            </p:cTn>
                                            <p:tgtEl>
                                              <p:spTgt spid="89"/>
                                            </p:tgtEl>
                                            <p:attrNameLst>
                                              <p:attrName>style.visibility</p:attrName>
                                            </p:attrNameLst>
                                          </p:cBhvr>
                                          <p:to>
                                            <p:strVal val="visible"/>
                                          </p:to>
                                        </p:set>
                                        <p:animEffect transition="in" filter="fade">
                                          <p:cBhvr>
                                            <p:cTn id="43" dur="500"/>
                                            <p:tgtEl>
                                              <p:spTgt spid="89"/>
                                            </p:tgtEl>
                                          </p:cBhvr>
                                        </p:animEffect>
                                      </p:childTnLst>
                                    </p:cTn>
                                  </p:par>
                                </p:childTnLst>
                              </p:cTn>
                            </p:par>
                            <p:par>
                              <p:cTn id="44" fill="hold">
                                <p:stCondLst>
                                  <p:cond delay="500"/>
                                </p:stCondLst>
                                <p:childTnLst>
                                  <p:par>
                                    <p:cTn id="45" presetID="10" presetClass="entr" presetSubtype="0" fill="hold" nodeType="afterEffect">
                                      <p:stCondLst>
                                        <p:cond delay="0"/>
                                      </p:stCondLst>
                                      <p:childTnLst>
                                        <p:set>
                                          <p:cBhvr>
                                            <p:cTn id="46" dur="1" fill="hold">
                                              <p:stCondLst>
                                                <p:cond delay="0"/>
                                              </p:stCondLst>
                                            </p:cTn>
                                            <p:tgtEl>
                                              <p:spTgt spid="83"/>
                                            </p:tgtEl>
                                            <p:attrNameLst>
                                              <p:attrName>style.visibility</p:attrName>
                                            </p:attrNameLst>
                                          </p:cBhvr>
                                          <p:to>
                                            <p:strVal val="visible"/>
                                          </p:to>
                                        </p:set>
                                        <p:animEffect transition="in" filter="fade">
                                          <p:cBhvr>
                                            <p:cTn id="47" dur="500"/>
                                            <p:tgtEl>
                                              <p:spTgt spid="83"/>
                                            </p:tgtEl>
                                          </p:cBhvr>
                                        </p:animEffect>
                                      </p:childTnLst>
                                    </p:cTn>
                                  </p:par>
                                </p:childTnLst>
                              </p:cTn>
                            </p:par>
                            <p:par>
                              <p:cTn id="48" fill="hold">
                                <p:stCondLst>
                                  <p:cond delay="1000"/>
                                </p:stCondLst>
                                <p:childTnLst>
                                  <p:par>
                                    <p:cTn id="49" presetID="10" presetClass="entr" presetSubtype="0" fill="hold" grpId="0" nodeType="afterEffect">
                                      <p:stCondLst>
                                        <p:cond delay="0"/>
                                      </p:stCondLst>
                                      <p:childTnLst>
                                        <p:set>
                                          <p:cBhvr>
                                            <p:cTn id="50" dur="1" fill="hold">
                                              <p:stCondLst>
                                                <p:cond delay="0"/>
                                              </p:stCondLst>
                                            </p:cTn>
                                            <p:tgtEl>
                                              <p:spTgt spid="110"/>
                                            </p:tgtEl>
                                            <p:attrNameLst>
                                              <p:attrName>style.visibility</p:attrName>
                                            </p:attrNameLst>
                                          </p:cBhvr>
                                          <p:to>
                                            <p:strVal val="visible"/>
                                          </p:to>
                                        </p:set>
                                        <p:animEffect transition="in" filter="fade">
                                          <p:cBhvr>
                                            <p:cTn id="51" dur="500"/>
                                            <p:tgtEl>
                                              <p:spTgt spid="110"/>
                                            </p:tgtEl>
                                          </p:cBhvr>
                                        </p:animEffect>
                                      </p:childTnLst>
                                    </p:cTn>
                                  </p:par>
                                  <p:par>
                                    <p:cTn id="52" presetID="22" presetClass="entr" presetSubtype="1" fill="hold" grpId="0" nodeType="withEffect">
                                      <p:stCondLst>
                                        <p:cond delay="0"/>
                                      </p:stCondLst>
                                      <p:childTnLst>
                                        <p:set>
                                          <p:cBhvr>
                                            <p:cTn id="53" dur="1" fill="hold">
                                              <p:stCondLst>
                                                <p:cond delay="0"/>
                                              </p:stCondLst>
                                            </p:cTn>
                                            <p:tgtEl>
                                              <p:spTgt spid="85"/>
                                            </p:tgtEl>
                                            <p:attrNameLst>
                                              <p:attrName>style.visibility</p:attrName>
                                            </p:attrNameLst>
                                          </p:cBhvr>
                                          <p:to>
                                            <p:strVal val="visible"/>
                                          </p:to>
                                        </p:set>
                                        <p:animEffect transition="in" filter="wipe(up)">
                                          <p:cBhvr>
                                            <p:cTn id="54" dur="1000"/>
                                            <p:tgtEl>
                                              <p:spTgt spid="85"/>
                                            </p:tgtEl>
                                          </p:cBhvr>
                                        </p:animEffect>
                                      </p:childTnLst>
                                    </p:cTn>
                                  </p:par>
                                  <p:par>
                                    <p:cTn id="55" presetID="0" presetClass="path" presetSubtype="0" fill="hold" grpId="1" nodeType="withEffect">
                                      <p:stCondLst>
                                        <p:cond delay="0"/>
                                      </p:stCondLst>
                                      <p:childTnLst>
                                        <p:animMotion origin="layout" path="M 1.11111E-6 -0.00047 L 1.11111E-6 0.07801 L 0.03194 0.10416 " pathEditMode="relative" rAng="0" ptsTypes="AAA">
                                          <p:cBhvr>
                                            <p:cTn id="56" dur="400" fill="hold"/>
                                            <p:tgtEl>
                                              <p:spTgt spid="110"/>
                                            </p:tgtEl>
                                            <p:attrNameLst>
                                              <p:attrName>ppt_x</p:attrName>
                                              <p:attrName>ppt_y</p:attrName>
                                            </p:attrNameLst>
                                          </p:cBhvr>
                                          <p:rCtr x="1597" y="5231"/>
                                        </p:animMotion>
                                      </p:childTnLst>
                                    </p:cTn>
                                  </p:par>
                                  <p:par>
                                    <p:cTn id="57" presetID="0" presetClass="path" presetSubtype="0" repeatCount="indefinite" accel="13333" autoRev="1" fill="hold" grpId="2" nodeType="withEffect">
                                      <p:stCondLst>
                                        <p:cond delay="400"/>
                                      </p:stCondLst>
                                      <p:childTnLst>
                                        <p:animMotion origin="layout" path="M 0.03194 0.10416 L 0.14496 0.18727 L 0.14496 0.31227 " pathEditMode="relative" rAng="0" ptsTypes="AAA">
                                          <p:cBhvr>
                                            <p:cTn id="58" dur="800" fill="hold"/>
                                            <p:tgtEl>
                                              <p:spTgt spid="110"/>
                                            </p:tgtEl>
                                            <p:attrNameLst>
                                              <p:attrName>ppt_x</p:attrName>
                                              <p:attrName>ppt_y</p:attrName>
                                            </p:attrNameLst>
                                          </p:cBhvr>
                                          <p:rCtr x="5642" y="10394"/>
                                        </p:animMotion>
                                      </p:childTnLst>
                                    </p:cTn>
                                  </p:par>
                                </p:childTnLst>
                              </p:cTn>
                            </p:par>
                          </p:childTnLst>
                        </p:cTn>
                      </p:par>
                      <p:par>
                        <p:cTn id="59" fill="hold">
                          <p:stCondLst>
                            <p:cond delay="indefinite"/>
                          </p:stCondLst>
                          <p:childTnLst>
                            <p:par>
                              <p:cTn id="60" fill="hold">
                                <p:stCondLst>
                                  <p:cond delay="0"/>
                                </p:stCondLst>
                                <p:childTnLst>
                                  <p:par>
                                    <p:cTn id="61" presetID="10" presetClass="exit" presetSubtype="0" fill="hold" grpId="3" nodeType="clickEffect">
                                      <p:stCondLst>
                                        <p:cond delay="0"/>
                                      </p:stCondLst>
                                      <p:childTnLst>
                                        <p:animEffect transition="out" filter="fade">
                                          <p:cBhvr>
                                            <p:cTn id="62" dur="500"/>
                                            <p:tgtEl>
                                              <p:spTgt spid="110"/>
                                            </p:tgtEl>
                                          </p:cBhvr>
                                        </p:animEffect>
                                        <p:set>
                                          <p:cBhvr>
                                            <p:cTn id="63" dur="1" fill="hold">
                                              <p:stCondLst>
                                                <p:cond delay="499"/>
                                              </p:stCondLst>
                                            </p:cTn>
                                            <p:tgtEl>
                                              <p:spTgt spid="110"/>
                                            </p:tgtEl>
                                            <p:attrNameLst>
                                              <p:attrName>style.visibility</p:attrName>
                                            </p:attrNameLst>
                                          </p:cBhvr>
                                          <p:to>
                                            <p:strVal val="hidden"/>
                                          </p:to>
                                        </p:set>
                                      </p:childTnLst>
                                    </p:cTn>
                                  </p:par>
                                  <p:par>
                                    <p:cTn id="64" presetID="10" presetClass="entr" presetSubtype="0" fill="hold" nodeType="withEffect">
                                      <p:stCondLst>
                                        <p:cond delay="0"/>
                                      </p:stCondLst>
                                      <p:childTnLst>
                                        <p:set>
                                          <p:cBhvr>
                                            <p:cTn id="65" dur="1" fill="hold">
                                              <p:stCondLst>
                                                <p:cond delay="0"/>
                                              </p:stCondLst>
                                            </p:cTn>
                                            <p:tgtEl>
                                              <p:spTgt spid="70"/>
                                            </p:tgtEl>
                                            <p:attrNameLst>
                                              <p:attrName>style.visibility</p:attrName>
                                            </p:attrNameLst>
                                          </p:cBhvr>
                                          <p:to>
                                            <p:strVal val="visible"/>
                                          </p:to>
                                        </p:set>
                                        <p:animEffect transition="in" filter="fade">
                                          <p:cBhvr>
                                            <p:cTn id="66" dur="500"/>
                                            <p:tgtEl>
                                              <p:spTgt spid="70"/>
                                            </p:tgtEl>
                                          </p:cBhvr>
                                        </p:animEffect>
                                      </p:childTnLst>
                                    </p:cTn>
                                  </p:par>
                                </p:childTnLst>
                              </p:cTn>
                            </p:par>
                            <p:par>
                              <p:cTn id="67" fill="hold">
                                <p:stCondLst>
                                  <p:cond delay="500"/>
                                </p:stCondLst>
                                <p:childTnLst>
                                  <p:par>
                                    <p:cTn id="68" presetID="10" presetClass="entr" presetSubtype="0" fill="hold" nodeType="afterEffect">
                                      <p:stCondLst>
                                        <p:cond delay="0"/>
                                      </p:stCondLst>
                                      <p:childTnLst>
                                        <p:set>
                                          <p:cBhvr>
                                            <p:cTn id="69" dur="1" fill="hold">
                                              <p:stCondLst>
                                                <p:cond delay="0"/>
                                              </p:stCondLst>
                                            </p:cTn>
                                            <p:tgtEl>
                                              <p:spTgt spid="53"/>
                                            </p:tgtEl>
                                            <p:attrNameLst>
                                              <p:attrName>style.visibility</p:attrName>
                                            </p:attrNameLst>
                                          </p:cBhvr>
                                          <p:to>
                                            <p:strVal val="visible"/>
                                          </p:to>
                                        </p:set>
                                        <p:animEffect transition="in" filter="fade">
                                          <p:cBhvr>
                                            <p:cTn id="70" dur="500"/>
                                            <p:tgtEl>
                                              <p:spTgt spid="53"/>
                                            </p:tgtEl>
                                          </p:cBhvr>
                                        </p:animEffect>
                                      </p:childTnLst>
                                    </p:cTn>
                                  </p:par>
                                </p:childTnLst>
                              </p:cTn>
                            </p:par>
                            <p:par>
                              <p:cTn id="71" fill="hold">
                                <p:stCondLst>
                                  <p:cond delay="1000"/>
                                </p:stCondLst>
                                <p:childTnLst>
                                  <p:par>
                                    <p:cTn id="72" presetID="10" presetClass="entr" presetSubtype="0" fill="hold" grpId="0" nodeType="afterEffect">
                                      <p:stCondLst>
                                        <p:cond delay="0"/>
                                      </p:stCondLst>
                                      <p:childTnLst>
                                        <p:set>
                                          <p:cBhvr>
                                            <p:cTn id="73" dur="1" fill="hold">
                                              <p:stCondLst>
                                                <p:cond delay="0"/>
                                              </p:stCondLst>
                                            </p:cTn>
                                            <p:tgtEl>
                                              <p:spTgt spid="49"/>
                                            </p:tgtEl>
                                            <p:attrNameLst>
                                              <p:attrName>style.visibility</p:attrName>
                                            </p:attrNameLst>
                                          </p:cBhvr>
                                          <p:to>
                                            <p:strVal val="visible"/>
                                          </p:to>
                                        </p:set>
                                        <p:animEffect transition="in" filter="fade">
                                          <p:cBhvr>
                                            <p:cTn id="74" dur="500"/>
                                            <p:tgtEl>
                                              <p:spTgt spid="49"/>
                                            </p:tgtEl>
                                          </p:cBhvr>
                                        </p:animEffect>
                                      </p:childTnLst>
                                    </p:cTn>
                                  </p:par>
                                  <p:par>
                                    <p:cTn id="75" presetID="22" presetClass="entr" presetSubtype="1" fill="hold" grpId="0" nodeType="withEffect">
                                      <p:stCondLst>
                                        <p:cond delay="0"/>
                                      </p:stCondLst>
                                      <p:childTnLst>
                                        <p:set>
                                          <p:cBhvr>
                                            <p:cTn id="76" dur="1" fill="hold">
                                              <p:stCondLst>
                                                <p:cond delay="0"/>
                                              </p:stCondLst>
                                            </p:cTn>
                                            <p:tgtEl>
                                              <p:spTgt spid="87"/>
                                            </p:tgtEl>
                                            <p:attrNameLst>
                                              <p:attrName>style.visibility</p:attrName>
                                            </p:attrNameLst>
                                          </p:cBhvr>
                                          <p:to>
                                            <p:strVal val="visible"/>
                                          </p:to>
                                        </p:set>
                                        <p:animEffect transition="in" filter="wipe(up)">
                                          <p:cBhvr>
                                            <p:cTn id="77" dur="1000"/>
                                            <p:tgtEl>
                                              <p:spTgt spid="87"/>
                                            </p:tgtEl>
                                          </p:cBhvr>
                                        </p:animEffect>
                                      </p:childTnLst>
                                    </p:cTn>
                                  </p:par>
                                  <p:par>
                                    <p:cTn id="78" presetID="0" presetClass="path" presetSubtype="0" fill="hold" grpId="1" nodeType="withEffect">
                                      <p:stCondLst>
                                        <p:cond delay="0"/>
                                      </p:stCondLst>
                                      <p:childTnLst>
                                        <p:animMotion origin="layout" path="M -0.00034 -0.00209 L 0.00069 0.09606 " pathEditMode="relative" rAng="0" ptsTypes="AA">
                                          <p:cBhvr>
                                            <p:cTn id="79" dur="250" fill="hold"/>
                                            <p:tgtEl>
                                              <p:spTgt spid="49"/>
                                            </p:tgtEl>
                                            <p:attrNameLst>
                                              <p:attrName>ppt_x</p:attrName>
                                              <p:attrName>ppt_y</p:attrName>
                                            </p:attrNameLst>
                                          </p:cBhvr>
                                          <p:rCtr x="87" y="5139"/>
                                        </p:animMotion>
                                      </p:childTnLst>
                                    </p:cTn>
                                  </p:par>
                                  <p:par>
                                    <p:cTn id="80" presetID="0" presetClass="path" presetSubtype="0" repeatCount="indefinite" accel="6667" autoRev="1" fill="hold" grpId="2" nodeType="withEffect">
                                      <p:stCondLst>
                                        <p:cond delay="250"/>
                                      </p:stCondLst>
                                      <p:childTnLst>
                                        <p:animMotion origin="layout" path="M 0.0007 0.09606 L 0.0007 0.15115 L -0.19306 0.15115 L -0.19306 0.31296 " pathEditMode="relative" rAng="0" ptsTypes="AAAA">
                                          <p:cBhvr>
                                            <p:cTn id="81" dur="1500" fill="hold"/>
                                            <p:tgtEl>
                                              <p:spTgt spid="49"/>
                                            </p:tgtEl>
                                            <p:attrNameLst>
                                              <p:attrName>ppt_x</p:attrName>
                                              <p:attrName>ppt_y</p:attrName>
                                            </p:attrNameLst>
                                          </p:cBhvr>
                                          <p:rCtr x="-9687" y="10833"/>
                                        </p:animMotion>
                                      </p:childTnLst>
                                    </p:cTn>
                                  </p:par>
                                </p:childTnLst>
                              </p:cTn>
                            </p:par>
                          </p:childTnLst>
                        </p:cTn>
                      </p:par>
                      <p:par>
                        <p:cTn id="82" fill="hold">
                          <p:stCondLst>
                            <p:cond delay="indefinite"/>
                          </p:stCondLst>
                          <p:childTnLst>
                            <p:par>
                              <p:cTn id="83" fill="hold">
                                <p:stCondLst>
                                  <p:cond delay="0"/>
                                </p:stCondLst>
                                <p:childTnLst>
                                  <p:par>
                                    <p:cTn id="84" presetID="10" presetClass="exit" presetSubtype="0" fill="hold" grpId="3" nodeType="clickEffect">
                                      <p:stCondLst>
                                        <p:cond delay="0"/>
                                      </p:stCondLst>
                                      <p:childTnLst>
                                        <p:animEffect transition="out" filter="fade">
                                          <p:cBhvr>
                                            <p:cTn id="85" dur="500"/>
                                            <p:tgtEl>
                                              <p:spTgt spid="49"/>
                                            </p:tgtEl>
                                          </p:cBhvr>
                                        </p:animEffect>
                                        <p:set>
                                          <p:cBhvr>
                                            <p:cTn id="86" dur="1" fill="hold">
                                              <p:stCondLst>
                                                <p:cond delay="499"/>
                                              </p:stCondLst>
                                            </p:cTn>
                                            <p:tgtEl>
                                              <p:spTgt spid="49"/>
                                            </p:tgtEl>
                                            <p:attrNameLst>
                                              <p:attrName>style.visibility</p:attrName>
                                            </p:attrNameLst>
                                          </p:cBhvr>
                                          <p:to>
                                            <p:strVal val="hidden"/>
                                          </p:to>
                                        </p:set>
                                      </p:childTnLst>
                                    </p:cTn>
                                  </p:par>
                                  <p:par>
                                    <p:cTn id="87" presetID="10" presetClass="exit" presetSubtype="0" fill="hold" nodeType="withEffect">
                                      <p:stCondLst>
                                        <p:cond delay="0"/>
                                      </p:stCondLst>
                                      <p:childTnLst>
                                        <p:animEffect transition="out" filter="fade">
                                          <p:cBhvr>
                                            <p:cTn id="88" dur="500"/>
                                            <p:tgtEl>
                                              <p:spTgt spid="59"/>
                                            </p:tgtEl>
                                          </p:cBhvr>
                                        </p:animEffect>
                                        <p:set>
                                          <p:cBhvr>
                                            <p:cTn id="89" dur="1" fill="hold">
                                              <p:stCondLst>
                                                <p:cond delay="499"/>
                                              </p:stCondLst>
                                            </p:cTn>
                                            <p:tgtEl>
                                              <p:spTgt spid="59"/>
                                            </p:tgtEl>
                                            <p:attrNameLst>
                                              <p:attrName>style.visibility</p:attrName>
                                            </p:attrNameLst>
                                          </p:cBhvr>
                                          <p:to>
                                            <p:strVal val="hidden"/>
                                          </p:to>
                                        </p:set>
                                      </p:childTnLst>
                                    </p:cTn>
                                  </p:par>
                                  <p:par>
                                    <p:cTn id="90" presetID="10" presetClass="exit" presetSubtype="0" fill="hold" grpId="0" nodeType="withEffect">
                                      <p:stCondLst>
                                        <p:cond delay="0"/>
                                      </p:stCondLst>
                                      <p:childTnLst>
                                        <p:animEffect transition="out" filter="fade">
                                          <p:cBhvr>
                                            <p:cTn id="91" dur="500"/>
                                            <p:tgtEl>
                                              <p:spTgt spid="60"/>
                                            </p:tgtEl>
                                          </p:cBhvr>
                                        </p:animEffect>
                                        <p:set>
                                          <p:cBhvr>
                                            <p:cTn id="92" dur="1" fill="hold">
                                              <p:stCondLst>
                                                <p:cond delay="499"/>
                                              </p:stCondLst>
                                            </p:cTn>
                                            <p:tgtEl>
                                              <p:spTgt spid="60"/>
                                            </p:tgtEl>
                                            <p:attrNameLst>
                                              <p:attrName>style.visibility</p:attrName>
                                            </p:attrNameLst>
                                          </p:cBhvr>
                                          <p:to>
                                            <p:strVal val="hidden"/>
                                          </p:to>
                                        </p:set>
                                      </p:childTnLst>
                                    </p:cTn>
                                  </p:par>
                                </p:childTnLst>
                              </p:cTn>
                            </p:par>
                            <p:par>
                              <p:cTn id="93" fill="hold">
                                <p:stCondLst>
                                  <p:cond delay="500"/>
                                </p:stCondLst>
                                <p:childTnLst>
                                  <p:par>
                                    <p:cTn id="94" presetID="10" presetClass="entr" presetSubtype="0" fill="hold" grpId="0" nodeType="afterEffect">
                                      <p:stCondLst>
                                        <p:cond delay="0"/>
                                      </p:stCondLst>
                                      <p:childTnLst>
                                        <p:set>
                                          <p:cBhvr>
                                            <p:cTn id="95" dur="1" fill="hold">
                                              <p:stCondLst>
                                                <p:cond delay="0"/>
                                              </p:stCondLst>
                                            </p:cTn>
                                            <p:tgtEl>
                                              <p:spTgt spid="51"/>
                                            </p:tgtEl>
                                            <p:attrNameLst>
                                              <p:attrName>style.visibility</p:attrName>
                                            </p:attrNameLst>
                                          </p:cBhvr>
                                          <p:to>
                                            <p:strVal val="visible"/>
                                          </p:to>
                                        </p:set>
                                        <p:animEffect transition="in" filter="fade">
                                          <p:cBhvr>
                                            <p:cTn id="96"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animBg="1"/>
          <p:bldP spid="86" grpId="0" animBg="1"/>
          <p:bldP spid="87" grpId="0" animBg="1"/>
          <p:bldP spid="110" grpId="0" animBg="1"/>
          <p:bldP spid="110" grpId="1" animBg="1"/>
          <p:bldP spid="110" grpId="2" animBg="1"/>
          <p:bldP spid="110" grpId="3" animBg="1"/>
          <p:bldP spid="48" grpId="0" animBg="1"/>
          <p:bldP spid="48" grpId="1" animBg="1"/>
          <p:bldP spid="48" grpId="2" animBg="1"/>
          <p:bldP spid="49" grpId="0" animBg="1"/>
          <p:bldP spid="49" grpId="1" animBg="1"/>
          <p:bldP spid="49" grpId="2" animBg="1"/>
          <p:bldP spid="49" grpId="3" animBg="1"/>
          <p:bldP spid="51" grpId="0"/>
          <p:bldP spid="60" grpId="0"/>
          <p:bldP spid="62" grpId="1" animBg="1"/>
          <p:bldP spid="66" grpId="1" animBg="1"/>
          <p:bldP spid="67" grpId="1" animBg="1"/>
          <p:bldP spid="68" grpId="1" animBg="1"/>
          <p:bldP spid="69" grpId="1" animBg="1"/>
        </p:bldLst>
      </p:timing>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Group 57"/>
          <p:cNvGrpSpPr/>
          <p:nvPr/>
        </p:nvGrpSpPr>
        <p:grpSpPr>
          <a:xfrm>
            <a:off x="4940648" y="232518"/>
            <a:ext cx="1842486" cy="463053"/>
            <a:chOff x="4940648" y="232518"/>
            <a:chExt cx="1842486" cy="463053"/>
          </a:xfrm>
        </p:grpSpPr>
        <p:sp>
          <p:nvSpPr>
            <p:cNvPr id="66" name="Rounded Rectangle 65"/>
            <p:cNvSpPr/>
            <p:nvPr/>
          </p:nvSpPr>
          <p:spPr>
            <a:xfrm>
              <a:off x="4940648" y="324227"/>
              <a:ext cx="921528" cy="371344"/>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endParaRPr lang="en-US" sz="2000"/>
            </a:p>
          </p:txBody>
        </p:sp>
        <p:sp>
          <p:nvSpPr>
            <p:cNvPr id="67" name="Rounded Rectangular Callout 66"/>
            <p:cNvSpPr/>
            <p:nvPr/>
          </p:nvSpPr>
          <p:spPr>
            <a:xfrm>
              <a:off x="5671091" y="232518"/>
              <a:ext cx="1112043" cy="254741"/>
            </a:xfrm>
            <a:prstGeom prst="wedgeRoundRectCallout">
              <a:avLst>
                <a:gd name="adj1" fmla="val -62990"/>
                <a:gd name="adj2" fmla="val 5220"/>
                <a:gd name="adj3" fmla="val 16667"/>
              </a:avLst>
            </a:prstGeom>
            <a:solidFill>
              <a:schemeClr val="bg1"/>
            </a:solidFill>
            <a:ln w="28575">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r"/>
              <a:r>
                <a:rPr lang="en-US" sz="1400" dirty="0" smtClean="0">
                  <a:solidFill>
                    <a:schemeClr val="accent5">
                      <a:lumMod val="50000"/>
                    </a:schemeClr>
                  </a:solidFill>
                  <a:latin typeface="Times New Roman" panose="02020603050405020304" pitchFamily="18" charset="0"/>
                  <a:cs typeface="Times New Roman" panose="02020603050405020304" pitchFamily="18" charset="0"/>
                </a:rPr>
                <a:t>MRS</a:t>
              </a:r>
              <a:r>
                <a:rPr lang="en-US" sz="1200" dirty="0" smtClean="0">
                  <a:solidFill>
                    <a:schemeClr val="accent5">
                      <a:lumMod val="50000"/>
                    </a:schemeClr>
                  </a:solidFill>
                  <a:latin typeface="Times New Roman" panose="02020603050405020304" pitchFamily="18" charset="0"/>
                  <a:cs typeface="Times New Roman" panose="02020603050405020304" pitchFamily="18" charset="0"/>
                </a:rPr>
                <a:t>ORT</a:t>
              </a:r>
              <a:r>
                <a:rPr lang="en-US" sz="1400" dirty="0" smtClean="0">
                  <a:solidFill>
                    <a:schemeClr val="accent5">
                      <a:lumMod val="50000"/>
                    </a:schemeClr>
                  </a:solidFill>
                  <a:latin typeface="Times New Roman" panose="02020603050405020304" pitchFamily="18" charset="0"/>
                  <a:cs typeface="Times New Roman" panose="02020603050405020304" pitchFamily="18" charset="0"/>
                </a:rPr>
                <a:t>10</a:t>
              </a:r>
              <a:r>
                <a:rPr lang="en-US" sz="1200" dirty="0" smtClean="0">
                  <a:solidFill>
                    <a:schemeClr val="accent5">
                      <a:lumMod val="50000"/>
                    </a:schemeClr>
                  </a:solidFill>
                  <a:latin typeface="Times New Roman" panose="02020603050405020304" pitchFamily="18" charset="0"/>
                  <a:cs typeface="Times New Roman" panose="02020603050405020304" pitchFamily="18" charset="0"/>
                </a:rPr>
                <a:t>G</a:t>
              </a:r>
              <a:endParaRPr lang="en-US" sz="1400" dirty="0">
                <a:solidFill>
                  <a:schemeClr val="accent5">
                    <a:lumMod val="50000"/>
                  </a:schemeClr>
                </a:solidFill>
                <a:latin typeface="Times New Roman" panose="02020603050405020304" pitchFamily="18" charset="0"/>
                <a:cs typeface="Times New Roman" panose="02020603050405020304" pitchFamily="18" charset="0"/>
              </a:endParaRPr>
            </a:p>
          </p:txBody>
        </p:sp>
      </p:grpSp>
      <p:grpSp>
        <p:nvGrpSpPr>
          <p:cNvPr id="68" name="Group 67"/>
          <p:cNvGrpSpPr/>
          <p:nvPr/>
        </p:nvGrpSpPr>
        <p:grpSpPr>
          <a:xfrm>
            <a:off x="4856344" y="24598"/>
            <a:ext cx="1980291" cy="610402"/>
            <a:chOff x="4856344" y="24598"/>
            <a:chExt cx="1980291" cy="610402"/>
          </a:xfrm>
        </p:grpSpPr>
        <p:sp>
          <p:nvSpPr>
            <p:cNvPr id="69" name="Rounded Rectangle 68"/>
            <p:cNvSpPr/>
            <p:nvPr/>
          </p:nvSpPr>
          <p:spPr>
            <a:xfrm>
              <a:off x="4856344" y="263656"/>
              <a:ext cx="921528" cy="371344"/>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endParaRPr lang="en-US" sz="2000"/>
            </a:p>
          </p:txBody>
        </p:sp>
        <p:sp>
          <p:nvSpPr>
            <p:cNvPr id="70" name="Freeform 69"/>
            <p:cNvSpPr/>
            <p:nvPr/>
          </p:nvSpPr>
          <p:spPr>
            <a:xfrm>
              <a:off x="5155377" y="111478"/>
              <a:ext cx="323462" cy="37800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71" name="Rounded Rectangular Callout 70"/>
            <p:cNvSpPr/>
            <p:nvPr/>
          </p:nvSpPr>
          <p:spPr>
            <a:xfrm>
              <a:off x="5580342" y="24598"/>
              <a:ext cx="1256293" cy="254741"/>
            </a:xfrm>
            <a:prstGeom prst="wedgeRoundRectCallout">
              <a:avLst>
                <a:gd name="adj1" fmla="val -62990"/>
                <a:gd name="adj2" fmla="val 5220"/>
                <a:gd name="adj3" fmla="val 16667"/>
              </a:avLst>
            </a:prstGeom>
            <a:solidFill>
              <a:schemeClr val="bg1"/>
            </a:solidFill>
            <a:ln w="28575">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dirty="0" smtClean="0">
                  <a:solidFill>
                    <a:schemeClr val="accent5">
                      <a:lumMod val="50000"/>
                    </a:schemeClr>
                  </a:solidFill>
                  <a:latin typeface="Times New Roman" panose="02020603050405020304" pitchFamily="18" charset="0"/>
                  <a:cs typeface="Times New Roman" panose="02020603050405020304" pitchFamily="18" charset="0"/>
                </a:rPr>
                <a:t>MRS</a:t>
              </a:r>
              <a:r>
                <a:rPr lang="en-US" sz="1400" dirty="0" smtClean="0">
                  <a:solidFill>
                    <a:schemeClr val="accent5">
                      <a:lumMod val="50000"/>
                    </a:schemeClr>
                  </a:solidFill>
                  <a:latin typeface="Times New Roman" panose="02020603050405020304" pitchFamily="18" charset="0"/>
                  <a:cs typeface="Times New Roman" panose="02020603050405020304" pitchFamily="18" charset="0"/>
                </a:rPr>
                <a:t>ORT</a:t>
              </a:r>
              <a:r>
                <a:rPr lang="en-US" sz="1600" dirty="0" smtClean="0">
                  <a:solidFill>
                    <a:schemeClr val="accent5">
                      <a:lumMod val="50000"/>
                    </a:schemeClr>
                  </a:solidFill>
                  <a:latin typeface="Times New Roman" panose="02020603050405020304" pitchFamily="18" charset="0"/>
                  <a:cs typeface="Times New Roman" panose="02020603050405020304" pitchFamily="18" charset="0"/>
                </a:rPr>
                <a:t>100</a:t>
              </a:r>
              <a:r>
                <a:rPr lang="en-US" sz="1400" dirty="0" smtClean="0">
                  <a:solidFill>
                    <a:schemeClr val="accent5">
                      <a:lumMod val="50000"/>
                    </a:schemeClr>
                  </a:solidFill>
                  <a:latin typeface="Times New Roman" panose="02020603050405020304" pitchFamily="18" charset="0"/>
                  <a:cs typeface="Times New Roman" panose="02020603050405020304" pitchFamily="18" charset="0"/>
                </a:rPr>
                <a:t>G</a:t>
              </a:r>
              <a:endParaRPr lang="en-US" sz="1600" dirty="0">
                <a:solidFill>
                  <a:schemeClr val="accent5">
                    <a:lumMod val="50000"/>
                  </a:schemeClr>
                </a:solidFill>
                <a:latin typeface="Times New Roman" panose="02020603050405020304" pitchFamily="18" charset="0"/>
                <a:cs typeface="Times New Roman" panose="02020603050405020304" pitchFamily="18" charset="0"/>
              </a:endParaRPr>
            </a:p>
          </p:txBody>
        </p:sp>
      </p:grpSp>
      <p:grpSp>
        <p:nvGrpSpPr>
          <p:cNvPr id="72" name="Group 71"/>
          <p:cNvGrpSpPr/>
          <p:nvPr/>
        </p:nvGrpSpPr>
        <p:grpSpPr>
          <a:xfrm>
            <a:off x="3281695" y="206882"/>
            <a:ext cx="1744358" cy="488689"/>
            <a:chOff x="3281695" y="206882"/>
            <a:chExt cx="1744358" cy="488689"/>
          </a:xfrm>
        </p:grpSpPr>
        <p:sp>
          <p:nvSpPr>
            <p:cNvPr id="75" name="Rounded Rectangle 74"/>
            <p:cNvSpPr/>
            <p:nvPr/>
          </p:nvSpPr>
          <p:spPr>
            <a:xfrm>
              <a:off x="3281695" y="324227"/>
              <a:ext cx="921528" cy="371344"/>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endParaRPr lang="en-US" sz="2000"/>
            </a:p>
          </p:txBody>
        </p:sp>
        <p:sp>
          <p:nvSpPr>
            <p:cNvPr id="76" name="Rounded Rectangular Callout 75"/>
            <p:cNvSpPr/>
            <p:nvPr/>
          </p:nvSpPr>
          <p:spPr>
            <a:xfrm>
              <a:off x="4084908" y="206882"/>
              <a:ext cx="941145" cy="254741"/>
            </a:xfrm>
            <a:prstGeom prst="wedgeRoundRectCallout">
              <a:avLst>
                <a:gd name="adj1" fmla="val -62990"/>
                <a:gd name="adj2" fmla="val 5220"/>
                <a:gd name="adj3" fmla="val 16667"/>
              </a:avLst>
            </a:prstGeom>
            <a:solidFill>
              <a:schemeClr val="bg1"/>
            </a:solidFill>
            <a:ln w="28575">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ctr"/>
              <a:r>
                <a:rPr lang="en-US" sz="1600" smtClean="0">
                  <a:solidFill>
                    <a:schemeClr val="accent2">
                      <a:lumMod val="50000"/>
                    </a:schemeClr>
                  </a:solidFill>
                  <a:latin typeface="Times New Roman" panose="02020603050405020304" pitchFamily="18" charset="0"/>
                  <a:cs typeface="Times New Roman" panose="02020603050405020304" pitchFamily="18" charset="0"/>
                </a:rPr>
                <a:t>FS</a:t>
              </a:r>
              <a:r>
                <a:rPr lang="en-US" sz="1200" smtClean="0">
                  <a:solidFill>
                    <a:schemeClr val="accent2">
                      <a:lumMod val="50000"/>
                    </a:schemeClr>
                  </a:solidFill>
                  <a:latin typeface="Times New Roman" panose="02020603050405020304" pitchFamily="18" charset="0"/>
                  <a:cs typeface="Times New Roman" panose="02020603050405020304" pitchFamily="18" charset="0"/>
                </a:rPr>
                <a:t>READ</a:t>
              </a:r>
              <a:r>
                <a:rPr lang="en-US" sz="1600" smtClean="0">
                  <a:solidFill>
                    <a:schemeClr val="accent2">
                      <a:lumMod val="50000"/>
                    </a:schemeClr>
                  </a:solidFill>
                  <a:latin typeface="Times New Roman" panose="02020603050405020304" pitchFamily="18" charset="0"/>
                  <a:cs typeface="Times New Roman" panose="02020603050405020304" pitchFamily="18" charset="0"/>
                </a:rPr>
                <a:t>4</a:t>
              </a:r>
              <a:r>
                <a:rPr lang="en-US" sz="1200" smtClean="0">
                  <a:solidFill>
                    <a:schemeClr val="accent2">
                      <a:lumMod val="50000"/>
                    </a:schemeClr>
                  </a:solidFill>
                  <a:latin typeface="Times New Roman" panose="02020603050405020304" pitchFamily="18" charset="0"/>
                  <a:cs typeface="Times New Roman" panose="02020603050405020304" pitchFamily="18" charset="0"/>
                </a:rPr>
                <a:t>M</a:t>
              </a:r>
              <a:endParaRPr lang="en-US" sz="1600" dirty="0">
                <a:solidFill>
                  <a:schemeClr val="accent2">
                    <a:lumMod val="50000"/>
                  </a:schemeClr>
                </a:solidFill>
                <a:latin typeface="Times New Roman" panose="02020603050405020304" pitchFamily="18" charset="0"/>
                <a:cs typeface="Times New Roman" panose="02020603050405020304" pitchFamily="18" charset="0"/>
              </a:endParaRPr>
            </a:p>
          </p:txBody>
        </p:sp>
      </p:grpSp>
      <p:grpSp>
        <p:nvGrpSpPr>
          <p:cNvPr id="77" name="Group 76"/>
          <p:cNvGrpSpPr/>
          <p:nvPr/>
        </p:nvGrpSpPr>
        <p:grpSpPr>
          <a:xfrm>
            <a:off x="3197391" y="24599"/>
            <a:ext cx="1743257" cy="610401"/>
            <a:chOff x="3197391" y="24599"/>
            <a:chExt cx="1743257" cy="610401"/>
          </a:xfrm>
        </p:grpSpPr>
        <p:sp>
          <p:nvSpPr>
            <p:cNvPr id="83" name="Rounded Rectangle 82"/>
            <p:cNvSpPr/>
            <p:nvPr/>
          </p:nvSpPr>
          <p:spPr>
            <a:xfrm>
              <a:off x="3197391" y="263656"/>
              <a:ext cx="921528" cy="371344"/>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endParaRPr lang="en-US" sz="2000"/>
            </a:p>
          </p:txBody>
        </p:sp>
        <p:sp>
          <p:nvSpPr>
            <p:cNvPr id="84" name="Freeform 83"/>
            <p:cNvSpPr/>
            <p:nvPr/>
          </p:nvSpPr>
          <p:spPr>
            <a:xfrm>
              <a:off x="3496424" y="111478"/>
              <a:ext cx="323462" cy="37800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89" name="Rounded Rectangular Callout 88"/>
            <p:cNvSpPr/>
            <p:nvPr/>
          </p:nvSpPr>
          <p:spPr>
            <a:xfrm>
              <a:off x="3911652" y="24599"/>
              <a:ext cx="1028996" cy="217300"/>
            </a:xfrm>
            <a:prstGeom prst="wedgeRoundRectCallout">
              <a:avLst>
                <a:gd name="adj1" fmla="val -62990"/>
                <a:gd name="adj2" fmla="val 5220"/>
                <a:gd name="adj3" fmla="val 16667"/>
              </a:avLst>
            </a:prstGeom>
            <a:solidFill>
              <a:schemeClr val="bg1"/>
            </a:solidFill>
            <a:ln w="28575">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dirty="0" smtClean="0">
                  <a:solidFill>
                    <a:schemeClr val="accent2">
                      <a:lumMod val="50000"/>
                    </a:schemeClr>
                  </a:solidFill>
                  <a:latin typeface="Times New Roman" panose="02020603050405020304" pitchFamily="18" charset="0"/>
                  <a:cs typeface="Times New Roman" panose="02020603050405020304" pitchFamily="18" charset="0"/>
                </a:rPr>
                <a:t>FS</a:t>
              </a:r>
              <a:r>
                <a:rPr lang="en-US" sz="1200" dirty="0" smtClean="0">
                  <a:solidFill>
                    <a:schemeClr val="accent2">
                      <a:lumMod val="50000"/>
                    </a:schemeClr>
                  </a:solidFill>
                  <a:latin typeface="Times New Roman" panose="02020603050405020304" pitchFamily="18" charset="0"/>
                  <a:cs typeface="Times New Roman" panose="02020603050405020304" pitchFamily="18" charset="0"/>
                </a:rPr>
                <a:t>READ</a:t>
              </a:r>
              <a:r>
                <a:rPr lang="en-US" sz="1600" dirty="0" smtClean="0">
                  <a:solidFill>
                    <a:schemeClr val="accent2">
                      <a:lumMod val="50000"/>
                    </a:schemeClr>
                  </a:solidFill>
                  <a:latin typeface="Times New Roman" panose="02020603050405020304" pitchFamily="18" charset="0"/>
                  <a:cs typeface="Times New Roman" panose="02020603050405020304" pitchFamily="18" charset="0"/>
                </a:rPr>
                <a:t>64</a:t>
              </a:r>
              <a:r>
                <a:rPr lang="en-US" sz="1200" dirty="0" smtClean="0">
                  <a:solidFill>
                    <a:schemeClr val="accent2">
                      <a:lumMod val="50000"/>
                    </a:schemeClr>
                  </a:solidFill>
                  <a:latin typeface="Times New Roman" panose="02020603050405020304" pitchFamily="18" charset="0"/>
                  <a:cs typeface="Times New Roman" panose="02020603050405020304" pitchFamily="18" charset="0"/>
                </a:rPr>
                <a:t>M</a:t>
              </a:r>
              <a:endParaRPr lang="en-US" sz="1600" dirty="0">
                <a:solidFill>
                  <a:schemeClr val="accent2">
                    <a:lumMod val="50000"/>
                  </a:schemeClr>
                </a:solidFill>
                <a:latin typeface="Times New Roman" panose="02020603050405020304" pitchFamily="18" charset="0"/>
                <a:cs typeface="Times New Roman" panose="02020603050405020304" pitchFamily="18" charset="0"/>
              </a:endParaRPr>
            </a:p>
          </p:txBody>
        </p:sp>
      </p:grpSp>
      <p:grpSp>
        <p:nvGrpSpPr>
          <p:cNvPr id="94" name="Group 93"/>
          <p:cNvGrpSpPr/>
          <p:nvPr/>
        </p:nvGrpSpPr>
        <p:grpSpPr>
          <a:xfrm>
            <a:off x="1622743" y="172698"/>
            <a:ext cx="1474512" cy="548273"/>
            <a:chOff x="1622743" y="172698"/>
            <a:chExt cx="1474512" cy="548273"/>
          </a:xfrm>
        </p:grpSpPr>
        <p:sp>
          <p:nvSpPr>
            <p:cNvPr id="95" name="Rounded Rectangle 94"/>
            <p:cNvSpPr/>
            <p:nvPr/>
          </p:nvSpPr>
          <p:spPr>
            <a:xfrm>
              <a:off x="1622743" y="349627"/>
              <a:ext cx="921528" cy="371344"/>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endParaRPr lang="en-US" sz="2000"/>
            </a:p>
          </p:txBody>
        </p:sp>
        <p:sp>
          <p:nvSpPr>
            <p:cNvPr id="99" name="Rounded Rectangular Callout 98"/>
            <p:cNvSpPr/>
            <p:nvPr/>
          </p:nvSpPr>
          <p:spPr>
            <a:xfrm>
              <a:off x="2312703" y="172698"/>
              <a:ext cx="784552" cy="254741"/>
            </a:xfrm>
            <a:prstGeom prst="wedgeRoundRectCallout">
              <a:avLst>
                <a:gd name="adj1" fmla="val -62990"/>
                <a:gd name="adj2" fmla="val 5220"/>
                <a:gd name="adj3" fmla="val 16667"/>
              </a:avLst>
            </a:prstGeom>
            <a:solidFill>
              <a:schemeClr val="bg1"/>
            </a:solidFill>
            <a:ln w="28575">
              <a:solidFill>
                <a:srgbClr val="70AD47"/>
              </a:solidFill>
            </a:ln>
          </p:spPr>
          <p:style>
            <a:lnRef idx="2">
              <a:schemeClr val="accent1">
                <a:shade val="50000"/>
              </a:schemeClr>
            </a:lnRef>
            <a:fillRef idx="1">
              <a:schemeClr val="accent1"/>
            </a:fillRef>
            <a:effectRef idx="0">
              <a:schemeClr val="accent1"/>
            </a:effectRef>
            <a:fontRef idx="minor">
              <a:schemeClr val="lt1"/>
            </a:fontRef>
          </p:style>
          <p:txBody>
            <a:bodyPr lIns="0" tIns="0" rIns="45720" bIns="0" rtlCol="0" anchor="b" anchorCtr="0"/>
            <a:lstStyle/>
            <a:p>
              <a:pPr algn="r"/>
              <a:r>
                <a:rPr lang="en-US" sz="1400" dirty="0" smtClean="0">
                  <a:solidFill>
                    <a:schemeClr val="accent6">
                      <a:lumMod val="50000"/>
                    </a:schemeClr>
                  </a:solidFill>
                  <a:latin typeface="Times New Roman" panose="02020603050405020304" pitchFamily="18" charset="0"/>
                  <a:cs typeface="Times New Roman" panose="02020603050405020304" pitchFamily="18" charset="0"/>
                </a:rPr>
                <a:t>H</a:t>
              </a:r>
              <a:r>
                <a:rPr lang="en-US" sz="1200" dirty="0" smtClean="0">
                  <a:solidFill>
                    <a:schemeClr val="accent6">
                      <a:lumMod val="50000"/>
                    </a:schemeClr>
                  </a:solidFill>
                  <a:latin typeface="Times New Roman" panose="02020603050405020304" pitchFamily="18" charset="0"/>
                  <a:cs typeface="Times New Roman" panose="02020603050405020304" pitchFamily="18" charset="0"/>
                </a:rPr>
                <a:t>SCAN</a:t>
              </a:r>
              <a:endParaRPr lang="en-US" sz="1400" dirty="0">
                <a:solidFill>
                  <a:schemeClr val="accent6">
                    <a:lumMod val="50000"/>
                  </a:schemeClr>
                </a:solidFill>
                <a:latin typeface="Times New Roman" panose="02020603050405020304" pitchFamily="18" charset="0"/>
                <a:cs typeface="Times New Roman" panose="02020603050405020304" pitchFamily="18" charset="0"/>
              </a:endParaRPr>
            </a:p>
          </p:txBody>
        </p:sp>
      </p:grpSp>
      <p:grpSp>
        <p:nvGrpSpPr>
          <p:cNvPr id="100" name="Group 99"/>
          <p:cNvGrpSpPr/>
          <p:nvPr/>
        </p:nvGrpSpPr>
        <p:grpSpPr>
          <a:xfrm>
            <a:off x="1548167" y="24597"/>
            <a:ext cx="1494994" cy="635802"/>
            <a:chOff x="1548167" y="24597"/>
            <a:chExt cx="1494994" cy="635802"/>
          </a:xfrm>
        </p:grpSpPr>
        <p:sp>
          <p:nvSpPr>
            <p:cNvPr id="101" name="Rounded Rectangle 100"/>
            <p:cNvSpPr/>
            <p:nvPr/>
          </p:nvSpPr>
          <p:spPr>
            <a:xfrm>
              <a:off x="1548167" y="289055"/>
              <a:ext cx="921528" cy="371344"/>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endParaRPr lang="en-US" sz="2000"/>
            </a:p>
          </p:txBody>
        </p:sp>
        <p:sp>
          <p:nvSpPr>
            <p:cNvPr id="102" name="Freeform 101"/>
            <p:cNvSpPr/>
            <p:nvPr/>
          </p:nvSpPr>
          <p:spPr>
            <a:xfrm>
              <a:off x="1847200" y="103729"/>
              <a:ext cx="323462" cy="37800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rgbClr val="70AD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03" name="Rounded Rectangular Callout 102"/>
            <p:cNvSpPr/>
            <p:nvPr/>
          </p:nvSpPr>
          <p:spPr>
            <a:xfrm>
              <a:off x="2258609" y="24597"/>
              <a:ext cx="784552" cy="210925"/>
            </a:xfrm>
            <a:prstGeom prst="wedgeRoundRectCallout">
              <a:avLst>
                <a:gd name="adj1" fmla="val -62990"/>
                <a:gd name="adj2" fmla="val 5220"/>
                <a:gd name="adj3" fmla="val 16667"/>
              </a:avLst>
            </a:prstGeom>
            <a:solidFill>
              <a:schemeClr val="bg1"/>
            </a:solidFill>
            <a:ln w="28575">
              <a:solidFill>
                <a:srgbClr val="70AD47"/>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dirty="0" smtClean="0">
                  <a:solidFill>
                    <a:schemeClr val="accent6">
                      <a:lumMod val="50000"/>
                    </a:schemeClr>
                  </a:solidFill>
                  <a:latin typeface="Times New Roman" panose="02020603050405020304" pitchFamily="18" charset="0"/>
                  <a:cs typeface="Times New Roman" panose="02020603050405020304" pitchFamily="18" charset="0"/>
                </a:rPr>
                <a:t>H</a:t>
              </a:r>
              <a:r>
                <a:rPr lang="en-US" sz="1400" dirty="0" smtClean="0">
                  <a:solidFill>
                    <a:schemeClr val="accent6">
                      <a:lumMod val="50000"/>
                    </a:schemeClr>
                  </a:solidFill>
                  <a:latin typeface="Times New Roman" panose="02020603050405020304" pitchFamily="18" charset="0"/>
                  <a:cs typeface="Times New Roman" panose="02020603050405020304" pitchFamily="18" charset="0"/>
                </a:rPr>
                <a:t>GET</a:t>
              </a:r>
              <a:endParaRPr lang="en-US" dirty="0">
                <a:solidFill>
                  <a:schemeClr val="accent6">
                    <a:lumMod val="50000"/>
                  </a:schemeClr>
                </a:solidFill>
                <a:latin typeface="Times New Roman" panose="02020603050405020304" pitchFamily="18" charset="0"/>
                <a:cs typeface="Times New Roman" panose="02020603050405020304" pitchFamily="18" charset="0"/>
              </a:endParaRPr>
            </a:p>
          </p:txBody>
        </p:sp>
      </p:grpSp>
      <p:grpSp>
        <p:nvGrpSpPr>
          <p:cNvPr id="50" name="Group 49"/>
          <p:cNvGrpSpPr/>
          <p:nvPr/>
        </p:nvGrpSpPr>
        <p:grpSpPr>
          <a:xfrm>
            <a:off x="1548167" y="890653"/>
            <a:ext cx="4314009" cy="2607290"/>
            <a:chOff x="1548167" y="890653"/>
            <a:chExt cx="4314009" cy="2607290"/>
          </a:xfrm>
        </p:grpSpPr>
        <p:grpSp>
          <p:nvGrpSpPr>
            <p:cNvPr id="41" name="Group 40"/>
            <p:cNvGrpSpPr/>
            <p:nvPr/>
          </p:nvGrpSpPr>
          <p:grpSpPr>
            <a:xfrm>
              <a:off x="1548167" y="890653"/>
              <a:ext cx="4314009" cy="2607290"/>
              <a:chOff x="1548167" y="890653"/>
              <a:chExt cx="4314009" cy="2607290"/>
            </a:xfrm>
          </p:grpSpPr>
          <p:sp>
            <p:nvSpPr>
              <p:cNvPr id="92" name="Rounded Rectangle 91"/>
              <p:cNvSpPr/>
              <p:nvPr/>
            </p:nvSpPr>
            <p:spPr>
              <a:xfrm>
                <a:off x="1854940" y="1157145"/>
                <a:ext cx="4007236" cy="2340798"/>
              </a:xfrm>
              <a:prstGeom prst="roundRect">
                <a:avLst>
                  <a:gd name="adj" fmla="val 3932"/>
                </a:avLst>
              </a:prstGeom>
              <a:solidFill>
                <a:schemeClr val="bg1">
                  <a:alpha val="25000"/>
                </a:schemeClr>
              </a:solidFill>
              <a:ln w="57150">
                <a:solidFill>
                  <a:schemeClr val="tx1">
                    <a:alpha val="2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91" name="Rounded Rectangle 90"/>
              <p:cNvSpPr/>
              <p:nvPr/>
            </p:nvSpPr>
            <p:spPr>
              <a:xfrm>
                <a:off x="1752683" y="1068315"/>
                <a:ext cx="4007236" cy="2340798"/>
              </a:xfrm>
              <a:prstGeom prst="roundRect">
                <a:avLst>
                  <a:gd name="adj" fmla="val 3932"/>
                </a:avLst>
              </a:prstGeom>
              <a:solidFill>
                <a:schemeClr val="bg1">
                  <a:alpha val="50000"/>
                </a:schemeClr>
              </a:solidFill>
              <a:ln w="571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90" name="Rounded Rectangle 89"/>
              <p:cNvSpPr/>
              <p:nvPr/>
            </p:nvSpPr>
            <p:spPr>
              <a:xfrm>
                <a:off x="1650425" y="979484"/>
                <a:ext cx="4007236" cy="2340798"/>
              </a:xfrm>
              <a:prstGeom prst="roundRect">
                <a:avLst>
                  <a:gd name="adj" fmla="val 3932"/>
                </a:avLst>
              </a:prstGeom>
              <a:solidFill>
                <a:schemeClr val="bg1">
                  <a:alpha val="75000"/>
                </a:schemeClr>
              </a:solidFill>
              <a:ln w="57150">
                <a:solidFill>
                  <a:schemeClr val="tx1">
                    <a:alpha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nvGrpSpPr>
              <p:cNvPr id="40" name="Group 39"/>
              <p:cNvGrpSpPr/>
              <p:nvPr/>
            </p:nvGrpSpPr>
            <p:grpSpPr>
              <a:xfrm>
                <a:off x="1548167" y="890653"/>
                <a:ext cx="4007236" cy="2340798"/>
                <a:chOff x="1548167" y="890653"/>
                <a:chExt cx="4007236" cy="2340798"/>
              </a:xfrm>
            </p:grpSpPr>
            <p:sp>
              <p:nvSpPr>
                <p:cNvPr id="47" name="Rounded Rectangle 46"/>
                <p:cNvSpPr/>
                <p:nvPr/>
              </p:nvSpPr>
              <p:spPr>
                <a:xfrm>
                  <a:off x="1548167" y="890653"/>
                  <a:ext cx="4007236" cy="2340798"/>
                </a:xfrm>
                <a:prstGeom prst="roundRect">
                  <a:avLst>
                    <a:gd name="adj" fmla="val 3932"/>
                  </a:avLst>
                </a:prstGeom>
                <a:solidFill>
                  <a:schemeClr val="bg1"/>
                </a:solidFill>
                <a:ln w="571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cxnSp>
              <p:nvCxnSpPr>
                <p:cNvPr id="52" name="Straight Connector 51"/>
                <p:cNvCxnSpPr/>
                <p:nvPr/>
              </p:nvCxnSpPr>
              <p:spPr>
                <a:xfrm flipV="1">
                  <a:off x="1548167" y="2515146"/>
                  <a:ext cx="3999266" cy="4309"/>
                </a:xfrm>
                <a:prstGeom prst="line">
                  <a:avLst/>
                </a:prstGeom>
                <a:ln w="571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sp>
          <p:nvSpPr>
            <p:cNvPr id="31" name="Can 30"/>
            <p:cNvSpPr/>
            <p:nvPr/>
          </p:nvSpPr>
          <p:spPr>
            <a:xfrm>
              <a:off x="3003528" y="2602755"/>
              <a:ext cx="904605" cy="528273"/>
            </a:xfrm>
            <a:prstGeom prst="can">
              <a:avLst>
                <a:gd name="adj" fmla="val 50000"/>
              </a:avLst>
            </a:prstGeom>
            <a:solidFill>
              <a:schemeClr val="accent4">
                <a:lumMod val="20000"/>
                <a:lumOff val="8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109728" rIns="0" bIns="0" rtlCol="0" anchor="ctr"/>
            <a:lstStyle/>
            <a:p>
              <a:pPr algn="ctr"/>
              <a:r>
                <a:rPr lang="en-US" sz="2000" b="1" dirty="0">
                  <a:solidFill>
                    <a:schemeClr val="tx1"/>
                  </a:solidFill>
                </a:rPr>
                <a:t>Disk</a:t>
              </a:r>
            </a:p>
          </p:txBody>
        </p:sp>
        <p:sp>
          <p:nvSpPr>
            <p:cNvPr id="6" name="Rounded Rectangle 5"/>
            <p:cNvSpPr/>
            <p:nvPr/>
          </p:nvSpPr>
          <p:spPr>
            <a:xfrm>
              <a:off x="1667662" y="987617"/>
              <a:ext cx="1056938" cy="641696"/>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b" anchorCtr="0"/>
            <a:lstStyle/>
            <a:p>
              <a:r>
                <a:rPr lang="en-US" sz="2000" dirty="0" err="1">
                  <a:solidFill>
                    <a:schemeClr val="tx1"/>
                  </a:solidFill>
                </a:rPr>
                <a:t>HBase</a:t>
              </a:r>
              <a:endParaRPr lang="en-US" sz="2000" dirty="0">
                <a:solidFill>
                  <a:schemeClr val="tx1"/>
                </a:solidFill>
              </a:endParaRPr>
            </a:p>
          </p:txBody>
        </p:sp>
        <p:sp>
          <p:nvSpPr>
            <p:cNvPr id="42" name="Rounded Rectangle 41"/>
            <p:cNvSpPr/>
            <p:nvPr/>
          </p:nvSpPr>
          <p:spPr>
            <a:xfrm>
              <a:off x="3601331" y="1066452"/>
              <a:ext cx="1840961" cy="484026"/>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r>
                <a:rPr lang="en-US" sz="2000" dirty="0" err="1">
                  <a:solidFill>
                    <a:schemeClr val="tx1"/>
                  </a:solidFill>
                </a:rPr>
                <a:t>MapReduce</a:t>
              </a:r>
              <a:endParaRPr lang="en-US" sz="2000" dirty="0">
                <a:solidFill>
                  <a:schemeClr val="tx1"/>
                </a:solidFill>
              </a:endParaRPr>
            </a:p>
          </p:txBody>
        </p:sp>
        <p:sp>
          <p:nvSpPr>
            <p:cNvPr id="46" name="Rounded Rectangle 45"/>
            <p:cNvSpPr/>
            <p:nvPr/>
          </p:nvSpPr>
          <p:spPr>
            <a:xfrm>
              <a:off x="2641009" y="1743418"/>
              <a:ext cx="1075285" cy="644131"/>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r>
                <a:rPr lang="en-US" sz="2000" dirty="0">
                  <a:solidFill>
                    <a:schemeClr val="tx1"/>
                  </a:solidFill>
                </a:rPr>
                <a:t>HDFS</a:t>
              </a:r>
            </a:p>
          </p:txBody>
        </p:sp>
      </p:grpSp>
      <p:grpSp>
        <p:nvGrpSpPr>
          <p:cNvPr id="55" name="Group 54"/>
          <p:cNvGrpSpPr/>
          <p:nvPr/>
        </p:nvGrpSpPr>
        <p:grpSpPr>
          <a:xfrm>
            <a:off x="5818483" y="696670"/>
            <a:ext cx="1194558" cy="1078020"/>
            <a:chOff x="5818483" y="696670"/>
            <a:chExt cx="1194558" cy="1078020"/>
          </a:xfrm>
        </p:grpSpPr>
        <p:sp>
          <p:nvSpPr>
            <p:cNvPr id="61" name="TextBox 60"/>
            <p:cNvSpPr txBox="1"/>
            <p:nvPr/>
          </p:nvSpPr>
          <p:spPr>
            <a:xfrm rot="1468153">
              <a:off x="5818483" y="904989"/>
              <a:ext cx="1194558" cy="400110"/>
            </a:xfrm>
            <a:prstGeom prst="rect">
              <a:avLst/>
            </a:prstGeom>
            <a:noFill/>
          </p:spPr>
          <p:txBody>
            <a:bodyPr wrap="none" rtlCol="0">
              <a:spAutoFit/>
            </a:bodyPr>
            <a:lstStyle/>
            <a:p>
              <a:r>
                <a:rPr lang="en-US" sz="2000" dirty="0"/>
                <a:t>Machines</a:t>
              </a:r>
            </a:p>
          </p:txBody>
        </p:sp>
        <p:sp>
          <p:nvSpPr>
            <p:cNvPr id="65" name="Right Brace 64"/>
            <p:cNvSpPr/>
            <p:nvPr/>
          </p:nvSpPr>
          <p:spPr>
            <a:xfrm rot="20147132">
              <a:off x="5849694" y="696670"/>
              <a:ext cx="252919" cy="1078020"/>
            </a:xfrm>
            <a:prstGeom prst="rightBrace">
              <a:avLst>
                <a:gd name="adj1" fmla="val 62329"/>
                <a:gd name="adj2" fmla="val 47314"/>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160"/>
            </a:p>
          </p:txBody>
        </p:sp>
      </p:grpSp>
      <p:sp>
        <p:nvSpPr>
          <p:cNvPr id="85" name="Freeform 84"/>
          <p:cNvSpPr/>
          <p:nvPr/>
        </p:nvSpPr>
        <p:spPr>
          <a:xfrm>
            <a:off x="2003898" y="593389"/>
            <a:ext cx="1334091" cy="2158288"/>
          </a:xfrm>
          <a:custGeom>
            <a:avLst/>
            <a:gdLst>
              <a:gd name="connsiteX0" fmla="*/ 0 w 1206230"/>
              <a:gd name="connsiteY0" fmla="*/ 0 h 2782111"/>
              <a:gd name="connsiteX1" fmla="*/ 0 w 1206230"/>
              <a:gd name="connsiteY1" fmla="*/ 710119 h 2782111"/>
              <a:gd name="connsiteX2" fmla="*/ 573932 w 1206230"/>
              <a:gd name="connsiteY2" fmla="*/ 1206230 h 2782111"/>
              <a:gd name="connsiteX3" fmla="*/ 573932 w 1206230"/>
              <a:gd name="connsiteY3" fmla="*/ 1682885 h 2782111"/>
              <a:gd name="connsiteX4" fmla="*/ 1206230 w 1206230"/>
              <a:gd name="connsiteY4" fmla="*/ 1682885 h 2782111"/>
              <a:gd name="connsiteX5" fmla="*/ 1206230 w 1206230"/>
              <a:gd name="connsiteY5" fmla="*/ 2782111 h 2782111"/>
              <a:gd name="connsiteX0" fmla="*/ 0 w 1206230"/>
              <a:gd name="connsiteY0" fmla="*/ 0 h 2782111"/>
              <a:gd name="connsiteX1" fmla="*/ 0 w 1206230"/>
              <a:gd name="connsiteY1" fmla="*/ 710119 h 2782111"/>
              <a:gd name="connsiteX2" fmla="*/ 573932 w 1206230"/>
              <a:gd name="connsiteY2" fmla="*/ 1206230 h 2782111"/>
              <a:gd name="connsiteX3" fmla="*/ 1206230 w 1206230"/>
              <a:gd name="connsiteY3" fmla="*/ 1682885 h 2782111"/>
              <a:gd name="connsiteX4" fmla="*/ 1206230 w 1206230"/>
              <a:gd name="connsiteY4" fmla="*/ 2782111 h 2782111"/>
              <a:gd name="connsiteX0" fmla="*/ 0 w 1206230"/>
              <a:gd name="connsiteY0" fmla="*/ 0 h 2782111"/>
              <a:gd name="connsiteX1" fmla="*/ 0 w 1206230"/>
              <a:gd name="connsiteY1" fmla="*/ 710119 h 2782111"/>
              <a:gd name="connsiteX2" fmla="*/ 1206230 w 1206230"/>
              <a:gd name="connsiteY2" fmla="*/ 1682885 h 2782111"/>
              <a:gd name="connsiteX3" fmla="*/ 1206230 w 1206230"/>
              <a:gd name="connsiteY3" fmla="*/ 2782111 h 2782111"/>
            </a:gdLst>
            <a:ahLst/>
            <a:cxnLst>
              <a:cxn ang="0">
                <a:pos x="connsiteX0" y="connsiteY0"/>
              </a:cxn>
              <a:cxn ang="0">
                <a:pos x="connsiteX1" y="connsiteY1"/>
              </a:cxn>
              <a:cxn ang="0">
                <a:pos x="connsiteX2" y="connsiteY2"/>
              </a:cxn>
              <a:cxn ang="0">
                <a:pos x="connsiteX3" y="connsiteY3"/>
              </a:cxn>
            </a:cxnLst>
            <a:rect l="l" t="t" r="r" b="b"/>
            <a:pathLst>
              <a:path w="1206230" h="2782111">
                <a:moveTo>
                  <a:pt x="0" y="0"/>
                </a:moveTo>
                <a:lnTo>
                  <a:pt x="0" y="710119"/>
                </a:lnTo>
                <a:lnTo>
                  <a:pt x="1206230" y="1682885"/>
                </a:lnTo>
                <a:lnTo>
                  <a:pt x="1206230" y="2782111"/>
                </a:lnTo>
              </a:path>
            </a:pathLst>
          </a:custGeom>
          <a:noFill/>
          <a:ln w="57150">
            <a:solidFill>
              <a:srgbClr val="70AD47"/>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86" name="Freeform 85"/>
          <p:cNvSpPr/>
          <p:nvPr/>
        </p:nvSpPr>
        <p:spPr>
          <a:xfrm>
            <a:off x="3451101" y="593389"/>
            <a:ext cx="225954" cy="2156477"/>
          </a:xfrm>
          <a:custGeom>
            <a:avLst/>
            <a:gdLst>
              <a:gd name="connsiteX0" fmla="*/ 330740 w 330740"/>
              <a:gd name="connsiteY0" fmla="*/ 0 h 2821022"/>
              <a:gd name="connsiteX1" fmla="*/ 0 w 330740"/>
              <a:gd name="connsiteY1" fmla="*/ 651753 h 2821022"/>
              <a:gd name="connsiteX2" fmla="*/ 0 w 330740"/>
              <a:gd name="connsiteY2" fmla="*/ 2821022 h 2821022"/>
            </a:gdLst>
            <a:ahLst/>
            <a:cxnLst>
              <a:cxn ang="0">
                <a:pos x="connsiteX0" y="connsiteY0"/>
              </a:cxn>
              <a:cxn ang="0">
                <a:pos x="connsiteX1" y="connsiteY1"/>
              </a:cxn>
              <a:cxn ang="0">
                <a:pos x="connsiteX2" y="connsiteY2"/>
              </a:cxn>
            </a:cxnLst>
            <a:rect l="l" t="t" r="r" b="b"/>
            <a:pathLst>
              <a:path w="330740" h="2821022">
                <a:moveTo>
                  <a:pt x="330740" y="0"/>
                </a:moveTo>
                <a:lnTo>
                  <a:pt x="0" y="651753"/>
                </a:lnTo>
                <a:lnTo>
                  <a:pt x="0" y="2821022"/>
                </a:lnTo>
              </a:path>
            </a:pathLst>
          </a:custGeom>
          <a:noFill/>
          <a:ln w="57150">
            <a:solidFill>
              <a:srgbClr val="ED7D3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87" name="Freeform 86"/>
          <p:cNvSpPr/>
          <p:nvPr/>
        </p:nvSpPr>
        <p:spPr>
          <a:xfrm>
            <a:off x="3577771" y="593389"/>
            <a:ext cx="1762714" cy="2156477"/>
          </a:xfrm>
          <a:custGeom>
            <a:avLst/>
            <a:gdLst>
              <a:gd name="connsiteX0" fmla="*/ 1780162 w 1780162"/>
              <a:gd name="connsiteY0" fmla="*/ 0 h 2821022"/>
              <a:gd name="connsiteX1" fmla="*/ 1780162 w 1780162"/>
              <a:gd name="connsiteY1" fmla="*/ 1391056 h 2821022"/>
              <a:gd name="connsiteX2" fmla="*/ 0 w 1780162"/>
              <a:gd name="connsiteY2" fmla="*/ 1391056 h 2821022"/>
              <a:gd name="connsiteX3" fmla="*/ 0 w 1780162"/>
              <a:gd name="connsiteY3" fmla="*/ 2821022 h 2821022"/>
            </a:gdLst>
            <a:ahLst/>
            <a:cxnLst>
              <a:cxn ang="0">
                <a:pos x="connsiteX0" y="connsiteY0"/>
              </a:cxn>
              <a:cxn ang="0">
                <a:pos x="connsiteX1" y="connsiteY1"/>
              </a:cxn>
              <a:cxn ang="0">
                <a:pos x="connsiteX2" y="connsiteY2"/>
              </a:cxn>
              <a:cxn ang="0">
                <a:pos x="connsiteX3" y="connsiteY3"/>
              </a:cxn>
            </a:cxnLst>
            <a:rect l="l" t="t" r="r" b="b"/>
            <a:pathLst>
              <a:path w="1780162" h="2821022">
                <a:moveTo>
                  <a:pt x="1780162" y="0"/>
                </a:moveTo>
                <a:lnTo>
                  <a:pt x="1780162" y="1391056"/>
                </a:lnTo>
                <a:lnTo>
                  <a:pt x="0" y="1391056"/>
                </a:lnTo>
                <a:lnTo>
                  <a:pt x="0" y="2821022"/>
                </a:lnTo>
              </a:path>
            </a:pathLst>
          </a:custGeom>
          <a:noFill/>
          <a:ln w="57150">
            <a:solidFill>
              <a:srgbClr val="4472C4"/>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51" name="Title 1"/>
          <p:cNvSpPr txBox="1">
            <a:spLocks/>
          </p:cNvSpPr>
          <p:nvPr/>
        </p:nvSpPr>
        <p:spPr>
          <a:xfrm>
            <a:off x="0" y="5571113"/>
            <a:ext cx="91440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How is disk bandwidth being used?</a:t>
            </a:r>
          </a:p>
        </p:txBody>
      </p:sp>
      <p:sp>
        <p:nvSpPr>
          <p:cNvPr id="54" name="Rounded Rectangle 53"/>
          <p:cNvSpPr/>
          <p:nvPr/>
        </p:nvSpPr>
        <p:spPr>
          <a:xfrm>
            <a:off x="3260937" y="2153798"/>
            <a:ext cx="397779" cy="166266"/>
          </a:xfrm>
          <a:prstGeom prst="roundRect">
            <a:avLst/>
          </a:prstGeom>
          <a:solidFill>
            <a:schemeClr val="bg1"/>
          </a:solidFill>
          <a:ln w="381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59" name="Freeform 58"/>
          <p:cNvSpPr/>
          <p:nvPr/>
        </p:nvSpPr>
        <p:spPr>
          <a:xfrm>
            <a:off x="1036855" y="1576379"/>
            <a:ext cx="2183282" cy="486984"/>
          </a:xfrm>
          <a:custGeom>
            <a:avLst/>
            <a:gdLst>
              <a:gd name="connsiteX0" fmla="*/ 0 w 398834"/>
              <a:gd name="connsiteY0" fmla="*/ 2188723 h 2188723"/>
              <a:gd name="connsiteX1" fmla="*/ 398834 w 398834"/>
              <a:gd name="connsiteY1" fmla="*/ 0 h 2188723"/>
              <a:gd name="connsiteX0" fmla="*/ 70658 w 469492"/>
              <a:gd name="connsiteY0" fmla="*/ 2188723 h 2188723"/>
              <a:gd name="connsiteX1" fmla="*/ 469492 w 469492"/>
              <a:gd name="connsiteY1" fmla="*/ 0 h 2188723"/>
              <a:gd name="connsiteX0" fmla="*/ 0 w 1070042"/>
              <a:gd name="connsiteY0" fmla="*/ 2345655 h 2345655"/>
              <a:gd name="connsiteX1" fmla="*/ 1070042 w 1070042"/>
              <a:gd name="connsiteY1" fmla="*/ 0 h 2345655"/>
              <a:gd name="connsiteX0" fmla="*/ 0 w 1070042"/>
              <a:gd name="connsiteY0" fmla="*/ 2345655 h 2345655"/>
              <a:gd name="connsiteX1" fmla="*/ 1070042 w 1070042"/>
              <a:gd name="connsiteY1" fmla="*/ 0 h 2345655"/>
              <a:gd name="connsiteX0" fmla="*/ 0 w 1245140"/>
              <a:gd name="connsiteY0" fmla="*/ 2478443 h 2478443"/>
              <a:gd name="connsiteX1" fmla="*/ 1245140 w 1245140"/>
              <a:gd name="connsiteY1" fmla="*/ 0 h 2478443"/>
              <a:gd name="connsiteX0" fmla="*/ 0 w 1400783"/>
              <a:gd name="connsiteY0" fmla="*/ 2611231 h 2611231"/>
              <a:gd name="connsiteX1" fmla="*/ 1400783 w 1400783"/>
              <a:gd name="connsiteY1" fmla="*/ 0 h 2611231"/>
              <a:gd name="connsiteX0" fmla="*/ 0 w 1361872"/>
              <a:gd name="connsiteY0" fmla="*/ 2514658 h 2514658"/>
              <a:gd name="connsiteX1" fmla="*/ 1361872 w 1361872"/>
              <a:gd name="connsiteY1" fmla="*/ 0 h 2514658"/>
              <a:gd name="connsiteX0" fmla="*/ 0 w 2508747"/>
              <a:gd name="connsiteY0" fmla="*/ 150276 h 1033436"/>
              <a:gd name="connsiteX1" fmla="*/ 2508747 w 2508747"/>
              <a:gd name="connsiteY1" fmla="*/ 875919 h 1033436"/>
              <a:gd name="connsiteX0" fmla="*/ 525 w 2509272"/>
              <a:gd name="connsiteY0" fmla="*/ 0 h 1012937"/>
              <a:gd name="connsiteX1" fmla="*/ 2509272 w 2509272"/>
              <a:gd name="connsiteY1" fmla="*/ 725643 h 1012937"/>
              <a:gd name="connsiteX0" fmla="*/ 524 w 2509271"/>
              <a:gd name="connsiteY0" fmla="*/ 0 h 725643"/>
              <a:gd name="connsiteX1" fmla="*/ 2509271 w 2509271"/>
              <a:gd name="connsiteY1" fmla="*/ 725643 h 725643"/>
              <a:gd name="connsiteX0" fmla="*/ 623 w 2183905"/>
              <a:gd name="connsiteY0" fmla="*/ 0 h 564077"/>
              <a:gd name="connsiteX1" fmla="*/ 2183905 w 2183905"/>
              <a:gd name="connsiteY1" fmla="*/ 564077 h 564077"/>
              <a:gd name="connsiteX0" fmla="*/ 846 w 2184128"/>
              <a:gd name="connsiteY0" fmla="*/ 0 h 564077"/>
              <a:gd name="connsiteX1" fmla="*/ 2184128 w 2184128"/>
              <a:gd name="connsiteY1" fmla="*/ 564077 h 564077"/>
              <a:gd name="connsiteX0" fmla="*/ 0 w 2183282"/>
              <a:gd name="connsiteY0" fmla="*/ 0 h 564077"/>
              <a:gd name="connsiteX1" fmla="*/ 2183282 w 2183282"/>
              <a:gd name="connsiteY1" fmla="*/ 564077 h 564077"/>
            </a:gdLst>
            <a:ahLst/>
            <a:cxnLst>
              <a:cxn ang="0">
                <a:pos x="connsiteX0" y="connsiteY0"/>
              </a:cxn>
              <a:cxn ang="0">
                <a:pos x="connsiteX1" y="connsiteY1"/>
              </a:cxn>
            </a:cxnLst>
            <a:rect l="l" t="t" r="r" b="b"/>
            <a:pathLst>
              <a:path w="2183282" h="564077">
                <a:moveTo>
                  <a:pt x="0" y="0"/>
                </a:moveTo>
                <a:cubicBezTo>
                  <a:pt x="326674" y="1137411"/>
                  <a:pt x="1180618" y="-329718"/>
                  <a:pt x="2183282" y="564077"/>
                </a:cubicBezTo>
              </a:path>
            </a:pathLst>
          </a:custGeom>
          <a:noFill/>
          <a:ln w="38100">
            <a:solidFill>
              <a:schemeClr val="tx1"/>
            </a:solidFill>
            <a:prstDash val="sysDot"/>
            <a:headEnd type="none"/>
            <a:tailEnd type="stealt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60" name="Rounded Rectangle 59"/>
          <p:cNvSpPr/>
          <p:nvPr/>
        </p:nvSpPr>
        <p:spPr>
          <a:xfrm>
            <a:off x="89253" y="987617"/>
            <a:ext cx="1255950" cy="569812"/>
          </a:xfrm>
          <a:prstGeom prst="roundRect">
            <a:avLst/>
          </a:prstGeom>
          <a:solidFill>
            <a:schemeClr val="bg1"/>
          </a:solidFill>
          <a:ln w="381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dirty="0" err="1" smtClean="0">
                <a:solidFill>
                  <a:schemeClr val="tx1"/>
                </a:solidFill>
                <a:latin typeface="Consolas" panose="020B0609020204030204" pitchFamily="49" charset="0"/>
                <a:cs typeface="Consolas" panose="020B0609020204030204" pitchFamily="49" charset="0"/>
              </a:rPr>
              <a:t>DataNode</a:t>
            </a:r>
            <a:endParaRPr lang="en-US" sz="2000" dirty="0" smtClean="0">
              <a:solidFill>
                <a:schemeClr val="tx1"/>
              </a:solidFill>
              <a:latin typeface="Consolas" panose="020B0609020204030204" pitchFamily="49" charset="0"/>
              <a:cs typeface="Consolas" panose="020B0609020204030204" pitchFamily="49" charset="0"/>
            </a:endParaRPr>
          </a:p>
          <a:p>
            <a:pPr algn="ctr"/>
            <a:r>
              <a:rPr lang="en-US" sz="2000" dirty="0" smtClean="0">
                <a:solidFill>
                  <a:schemeClr val="tx1"/>
                </a:solidFill>
                <a:latin typeface="Consolas" panose="020B0609020204030204" pitchFamily="49" charset="0"/>
                <a:cs typeface="Consolas" panose="020B0609020204030204" pitchFamily="49" charset="0"/>
              </a:rPr>
              <a:t>Metrics</a:t>
            </a:r>
            <a:endParaRPr lang="en-US" sz="2000" dirty="0">
              <a:solidFill>
                <a:schemeClr val="tx1"/>
              </a:solidFill>
              <a:latin typeface="Consolas" panose="020B0609020204030204" pitchFamily="49" charset="0"/>
              <a:cs typeface="Consolas" panose="020B0609020204030204" pitchFamily="49" charset="0"/>
            </a:endParaRPr>
          </a:p>
        </p:txBody>
      </p:sp>
      <p:sp>
        <p:nvSpPr>
          <p:cNvPr id="62" name="Oval 61"/>
          <p:cNvSpPr/>
          <p:nvPr/>
        </p:nvSpPr>
        <p:spPr>
          <a:xfrm rot="1589076">
            <a:off x="5779062" y="824714"/>
            <a:ext cx="1225307" cy="583659"/>
          </a:xfrm>
          <a:prstGeom prst="ellipse">
            <a:avLst/>
          </a:prstGeom>
          <a:noFill/>
          <a:ln w="571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2160"/>
          </a:p>
        </p:txBody>
      </p:sp>
      <p:grpSp>
        <p:nvGrpSpPr>
          <p:cNvPr id="2" name="Group 1"/>
          <p:cNvGrpSpPr/>
          <p:nvPr/>
        </p:nvGrpSpPr>
        <p:grpSpPr>
          <a:xfrm>
            <a:off x="4486577" y="2642212"/>
            <a:ext cx="3736038" cy="3252317"/>
            <a:chOff x="4486577" y="2642212"/>
            <a:chExt cx="3736038" cy="3252317"/>
          </a:xfrm>
        </p:grpSpPr>
        <p:grpSp>
          <p:nvGrpSpPr>
            <p:cNvPr id="78" name="Group 77"/>
            <p:cNvGrpSpPr/>
            <p:nvPr/>
          </p:nvGrpSpPr>
          <p:grpSpPr>
            <a:xfrm>
              <a:off x="4486577" y="2642212"/>
              <a:ext cx="3736038" cy="3252317"/>
              <a:chOff x="2155601" y="1578475"/>
              <a:chExt cx="3736038" cy="3252317"/>
            </a:xfrm>
          </p:grpSpPr>
          <p:sp>
            <p:nvSpPr>
              <p:cNvPr id="79" name="Rectangle 78"/>
              <p:cNvSpPr/>
              <p:nvPr/>
            </p:nvSpPr>
            <p:spPr>
              <a:xfrm>
                <a:off x="2155601" y="1578475"/>
                <a:ext cx="3736038" cy="325231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0" name="Group 79"/>
              <p:cNvGrpSpPr/>
              <p:nvPr/>
            </p:nvGrpSpPr>
            <p:grpSpPr>
              <a:xfrm>
                <a:off x="2170841" y="1585685"/>
                <a:ext cx="3686167" cy="3211478"/>
                <a:chOff x="1164801" y="2515146"/>
                <a:chExt cx="3686167" cy="3211478"/>
              </a:xfrm>
            </p:grpSpPr>
            <p:pic>
              <p:nvPicPr>
                <p:cNvPr id="81" name="Picture 80" descr="fig1.pdf"/>
                <p:cNvPicPr>
                  <a:picLocks noChangeAspect="1"/>
                </p:cNvPicPr>
                <p:nvPr/>
              </p:nvPicPr>
              <p:blipFill rotWithShape="1">
                <a:blip r:embed="rId3">
                  <a:extLst>
                    <a:ext uri="{28A0092B-C50C-407E-A947-70E740481C1C}">
                      <a14:useLocalDpi xmlns:a14="http://schemas.microsoft.com/office/drawing/2010/main" val="0"/>
                    </a:ext>
                  </a:extLst>
                </a:blip>
                <a:srcRect r="80877" b="13113"/>
                <a:stretch/>
              </p:blipFill>
              <p:spPr>
                <a:xfrm>
                  <a:off x="1164801" y="2515146"/>
                  <a:ext cx="708449" cy="2793023"/>
                </a:xfrm>
                <a:prstGeom prst="rect">
                  <a:avLst/>
                </a:prstGeom>
                <a:ln>
                  <a:noFill/>
                </a:ln>
              </p:spPr>
              <p:style>
                <a:lnRef idx="2">
                  <a:schemeClr val="dk1"/>
                </a:lnRef>
                <a:fillRef idx="1">
                  <a:schemeClr val="lt1"/>
                </a:fillRef>
                <a:effectRef idx="0">
                  <a:schemeClr val="dk1"/>
                </a:effectRef>
                <a:fontRef idx="minor">
                  <a:schemeClr val="dk1"/>
                </a:fontRef>
              </p:style>
            </p:pic>
            <p:pic>
              <p:nvPicPr>
                <p:cNvPr id="82" name="Picture 81" descr="fig1.pdf"/>
                <p:cNvPicPr>
                  <a:picLocks noChangeAspect="1"/>
                </p:cNvPicPr>
                <p:nvPr/>
              </p:nvPicPr>
              <p:blipFill rotWithShape="1">
                <a:blip r:embed="rId3">
                  <a:extLst>
                    <a:ext uri="{28A0092B-C50C-407E-A947-70E740481C1C}">
                      <a14:useLocalDpi xmlns:a14="http://schemas.microsoft.com/office/drawing/2010/main" val="0"/>
                    </a:ext>
                  </a:extLst>
                </a:blip>
                <a:srcRect l="16879" t="84233" r="495" b="96"/>
                <a:stretch/>
              </p:blipFill>
              <p:spPr>
                <a:xfrm>
                  <a:off x="1790054" y="5222875"/>
                  <a:ext cx="3060914" cy="503749"/>
                </a:xfrm>
                <a:prstGeom prst="rect">
                  <a:avLst/>
                </a:prstGeom>
                <a:ln>
                  <a:noFill/>
                </a:ln>
              </p:spPr>
              <p:style>
                <a:lnRef idx="2">
                  <a:schemeClr val="dk1"/>
                </a:lnRef>
                <a:fillRef idx="1">
                  <a:schemeClr val="lt1"/>
                </a:fillRef>
                <a:effectRef idx="0">
                  <a:schemeClr val="dk1"/>
                </a:effectRef>
                <a:fontRef idx="minor">
                  <a:schemeClr val="dk1"/>
                </a:fontRef>
              </p:style>
            </p:pic>
          </p:grpSp>
        </p:grpSp>
        <p:pic>
          <p:nvPicPr>
            <p:cNvPr id="93" name="Picture 92" descr="fig1.pdf"/>
            <p:cNvPicPr>
              <a:picLocks noChangeAspect="1"/>
            </p:cNvPicPr>
            <p:nvPr/>
          </p:nvPicPr>
          <p:blipFill rotWithShape="1">
            <a:blip r:embed="rId3">
              <a:extLst>
                <a:ext uri="{28A0092B-C50C-407E-A947-70E740481C1C}">
                  <a14:useLocalDpi xmlns:a14="http://schemas.microsoft.com/office/drawing/2010/main" val="0"/>
                </a:ext>
              </a:extLst>
            </a:blip>
            <a:srcRect l="27670" r="13501" b="73027"/>
            <a:stretch/>
          </p:blipFill>
          <p:spPr>
            <a:xfrm>
              <a:off x="5626780" y="2759160"/>
              <a:ext cx="2179320" cy="867065"/>
            </a:xfrm>
            <a:prstGeom prst="rect">
              <a:avLst/>
            </a:prstGeom>
            <a:ln>
              <a:noFill/>
            </a:ln>
          </p:spPr>
          <p:style>
            <a:lnRef idx="2">
              <a:schemeClr val="dk1"/>
            </a:lnRef>
            <a:fillRef idx="1">
              <a:schemeClr val="lt1"/>
            </a:fillRef>
            <a:effectRef idx="0">
              <a:schemeClr val="dk1"/>
            </a:effectRef>
            <a:fontRef idx="minor">
              <a:schemeClr val="dk1"/>
            </a:fontRef>
          </p:style>
        </p:pic>
      </p:grpSp>
      <p:pic>
        <p:nvPicPr>
          <p:cNvPr id="88" name="Picture 87" descr="fig1.pdf"/>
          <p:cNvPicPr>
            <a:picLocks noChangeAspect="1"/>
          </p:cNvPicPr>
          <p:nvPr/>
        </p:nvPicPr>
        <p:blipFill rotWithShape="1">
          <a:blip r:embed="rId3">
            <a:extLst>
              <a:ext uri="{28A0092B-C50C-407E-A947-70E740481C1C}">
                <a14:useLocalDpi xmlns:a14="http://schemas.microsoft.com/office/drawing/2010/main" val="0"/>
              </a:ext>
            </a:extLst>
          </a:blip>
          <a:srcRect l="19044" t="31457" r="3576" b="15636"/>
          <a:stretch/>
        </p:blipFill>
        <p:spPr>
          <a:xfrm>
            <a:off x="5210266" y="3652475"/>
            <a:ext cx="2867191" cy="1701071"/>
          </a:xfrm>
          <a:prstGeom prst="rect">
            <a:avLst/>
          </a:prstGeom>
          <a:ln>
            <a:noFill/>
          </a:ln>
        </p:spPr>
        <p:style>
          <a:lnRef idx="2">
            <a:schemeClr val="dk1"/>
          </a:lnRef>
          <a:fillRef idx="1">
            <a:schemeClr val="lt1"/>
          </a:fillRef>
          <a:effectRef idx="0">
            <a:schemeClr val="dk1"/>
          </a:effectRef>
          <a:fontRef idx="minor">
            <a:schemeClr val="dk1"/>
          </a:fontRef>
        </p:style>
      </p:pic>
      <p:sp>
        <p:nvSpPr>
          <p:cNvPr id="3" name="Slide Number Placeholder 2"/>
          <p:cNvSpPr>
            <a:spLocks noGrp="1"/>
          </p:cNvSpPr>
          <p:nvPr>
            <p:ph type="sldNum" sz="quarter" idx="12"/>
          </p:nvPr>
        </p:nvSpPr>
        <p:spPr/>
        <p:txBody>
          <a:bodyPr/>
          <a:lstStyle/>
          <a:p>
            <a:fld id="{D431E30F-8439-471B-9257-EDD8E85CDBC8}" type="slidenum">
              <a:rPr lang="en-US" smtClean="0"/>
              <a:t>5</a:t>
            </a:fld>
            <a:endParaRPr lang="en-US"/>
          </a:p>
        </p:txBody>
      </p:sp>
    </p:spTree>
    <p:extLst>
      <p:ext uri="{BB962C8B-B14F-4D97-AF65-F5344CB8AC3E}">
        <p14:creationId xmlns:p14="http://schemas.microsoft.com/office/powerpoint/2010/main" val="2977401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500"/>
                                        <p:tgtEl>
                                          <p:spTgt spid="6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9"/>
                                        </p:tgtEl>
                                        <p:attrNameLst>
                                          <p:attrName>style.visibility</p:attrName>
                                        </p:attrNameLst>
                                      </p:cBhvr>
                                      <p:to>
                                        <p:strVal val="visible"/>
                                      </p:to>
                                    </p:set>
                                    <p:animEffect transition="in" filter="wipe(left)">
                                      <p:cBhvr>
                                        <p:cTn id="11" dur="500"/>
                                        <p:tgtEl>
                                          <p:spTgt spid="59"/>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54"/>
                                        </p:tgtEl>
                                        <p:attrNameLst>
                                          <p:attrName>style.visibility</p:attrName>
                                        </p:attrNameLst>
                                      </p:cBhvr>
                                      <p:to>
                                        <p:strVal val="visible"/>
                                      </p:to>
                                    </p:set>
                                    <p:animEffect transition="in" filter="wipe(left)">
                                      <p:cBhvr>
                                        <p:cTn id="15" dur="250"/>
                                        <p:tgtEl>
                                          <p:spTgt spid="54"/>
                                        </p:tgtEl>
                                      </p:cBhvr>
                                    </p:animEffect>
                                  </p:childTnLst>
                                </p:cTn>
                              </p:par>
                            </p:childTnLst>
                          </p:cTn>
                        </p:par>
                      </p:childTnLst>
                    </p:cTn>
                  </p:par>
                  <p:par>
                    <p:cTn id="16" fill="hold">
                      <p:stCondLst>
                        <p:cond delay="indefinite"/>
                      </p:stCondLst>
                      <p:childTnLst>
                        <p:par>
                          <p:cTn id="17" fill="hold">
                            <p:stCondLst>
                              <p:cond delay="0"/>
                            </p:stCondLst>
                            <p:childTnLst>
                              <p:par>
                                <p:cTn id="18" presetID="21" presetClass="entr" presetSubtype="1" fill="hold" grpId="0" nodeType="clickEffect">
                                  <p:stCondLst>
                                    <p:cond delay="0"/>
                                  </p:stCondLst>
                                  <p:childTnLst>
                                    <p:set>
                                      <p:cBhvr>
                                        <p:cTn id="19" dur="1" fill="hold">
                                          <p:stCondLst>
                                            <p:cond delay="0"/>
                                          </p:stCondLst>
                                        </p:cTn>
                                        <p:tgtEl>
                                          <p:spTgt spid="62"/>
                                        </p:tgtEl>
                                        <p:attrNameLst>
                                          <p:attrName>style.visibility</p:attrName>
                                        </p:attrNameLst>
                                      </p:cBhvr>
                                      <p:to>
                                        <p:strVal val="visible"/>
                                      </p:to>
                                    </p:set>
                                    <p:animEffect transition="in" filter="wheel(1)">
                                      <p:cBhvr>
                                        <p:cTn id="20" dur="500"/>
                                        <p:tgtEl>
                                          <p:spTgt spid="6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fade">
                                      <p:cBhvr>
                                        <p:cTn id="25" dur="250"/>
                                        <p:tgtEl>
                                          <p:spTgt spid="2"/>
                                        </p:tgtEl>
                                      </p:cBhvr>
                                    </p:animEffect>
                                  </p:childTnLst>
                                </p:cTn>
                              </p:par>
                            </p:childTnLst>
                          </p:cTn>
                        </p:par>
                        <p:par>
                          <p:cTn id="26" fill="hold">
                            <p:stCondLst>
                              <p:cond delay="250"/>
                            </p:stCondLst>
                            <p:childTnLst>
                              <p:par>
                                <p:cTn id="27" presetID="22" presetClass="entr" presetSubtype="8" fill="hold" nodeType="afterEffect">
                                  <p:stCondLst>
                                    <p:cond delay="0"/>
                                  </p:stCondLst>
                                  <p:childTnLst>
                                    <p:set>
                                      <p:cBhvr>
                                        <p:cTn id="28" dur="1" fill="hold">
                                          <p:stCondLst>
                                            <p:cond delay="0"/>
                                          </p:stCondLst>
                                        </p:cTn>
                                        <p:tgtEl>
                                          <p:spTgt spid="88"/>
                                        </p:tgtEl>
                                        <p:attrNameLst>
                                          <p:attrName>style.visibility</p:attrName>
                                        </p:attrNameLst>
                                      </p:cBhvr>
                                      <p:to>
                                        <p:strVal val="visible"/>
                                      </p:to>
                                    </p:set>
                                    <p:animEffect transition="in" filter="wipe(left)">
                                      <p:cBhvr>
                                        <p:cTn id="29" dur="1000"/>
                                        <p:tgtEl>
                                          <p:spTgt spid="88"/>
                                        </p:tgtEl>
                                      </p:cBhvr>
                                    </p:animEffect>
                                  </p:childTnLst>
                                </p:cTn>
                              </p:par>
                              <p:par>
                                <p:cTn id="30" presetID="10" presetClass="exit" presetSubtype="0" fill="hold" grpId="0" nodeType="withEffect">
                                  <p:stCondLst>
                                    <p:cond delay="0"/>
                                  </p:stCondLst>
                                  <p:childTnLst>
                                    <p:animEffect transition="out" filter="fade">
                                      <p:cBhvr>
                                        <p:cTn id="31" dur="500"/>
                                        <p:tgtEl>
                                          <p:spTgt spid="51"/>
                                        </p:tgtEl>
                                      </p:cBhvr>
                                    </p:animEffect>
                                    <p:set>
                                      <p:cBhvr>
                                        <p:cTn id="32" dur="1" fill="hold">
                                          <p:stCondLst>
                                            <p:cond delay="499"/>
                                          </p:stCondLst>
                                        </p:cTn>
                                        <p:tgtEl>
                                          <p:spTgt spid="5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P spid="54" grpId="0" animBg="1"/>
      <p:bldP spid="59" grpId="0" animBg="1"/>
      <p:bldP spid="60" grpId="0" animBg="1"/>
      <p:bldP spid="6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Group 57"/>
          <p:cNvGrpSpPr/>
          <p:nvPr/>
        </p:nvGrpSpPr>
        <p:grpSpPr>
          <a:xfrm>
            <a:off x="4940648" y="232518"/>
            <a:ext cx="1842486" cy="463053"/>
            <a:chOff x="4940648" y="232518"/>
            <a:chExt cx="1842486" cy="463053"/>
          </a:xfrm>
        </p:grpSpPr>
        <p:sp>
          <p:nvSpPr>
            <p:cNvPr id="62" name="Rounded Rectangle 61"/>
            <p:cNvSpPr/>
            <p:nvPr/>
          </p:nvSpPr>
          <p:spPr>
            <a:xfrm>
              <a:off x="4940648" y="324227"/>
              <a:ext cx="921528" cy="371344"/>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endParaRPr lang="en-US" sz="2000"/>
            </a:p>
          </p:txBody>
        </p:sp>
        <p:sp>
          <p:nvSpPr>
            <p:cNvPr id="66" name="Rounded Rectangular Callout 65"/>
            <p:cNvSpPr/>
            <p:nvPr/>
          </p:nvSpPr>
          <p:spPr>
            <a:xfrm>
              <a:off x="5671091" y="232518"/>
              <a:ext cx="1112043" cy="254741"/>
            </a:xfrm>
            <a:prstGeom prst="wedgeRoundRectCallout">
              <a:avLst>
                <a:gd name="adj1" fmla="val -62990"/>
                <a:gd name="adj2" fmla="val 5220"/>
                <a:gd name="adj3" fmla="val 16667"/>
              </a:avLst>
            </a:prstGeom>
            <a:solidFill>
              <a:schemeClr val="bg1"/>
            </a:solidFill>
            <a:ln w="28575">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r"/>
              <a:r>
                <a:rPr lang="en-US" sz="1400" dirty="0" smtClean="0">
                  <a:solidFill>
                    <a:schemeClr val="accent5">
                      <a:lumMod val="50000"/>
                    </a:schemeClr>
                  </a:solidFill>
                  <a:latin typeface="Times New Roman" panose="02020603050405020304" pitchFamily="18" charset="0"/>
                  <a:cs typeface="Times New Roman" panose="02020603050405020304" pitchFamily="18" charset="0"/>
                </a:rPr>
                <a:t>MRS</a:t>
              </a:r>
              <a:r>
                <a:rPr lang="en-US" sz="1200" dirty="0" smtClean="0">
                  <a:solidFill>
                    <a:schemeClr val="accent5">
                      <a:lumMod val="50000"/>
                    </a:schemeClr>
                  </a:solidFill>
                  <a:latin typeface="Times New Roman" panose="02020603050405020304" pitchFamily="18" charset="0"/>
                  <a:cs typeface="Times New Roman" panose="02020603050405020304" pitchFamily="18" charset="0"/>
                </a:rPr>
                <a:t>ORT</a:t>
              </a:r>
              <a:r>
                <a:rPr lang="en-US" sz="1400" dirty="0" smtClean="0">
                  <a:solidFill>
                    <a:schemeClr val="accent5">
                      <a:lumMod val="50000"/>
                    </a:schemeClr>
                  </a:solidFill>
                  <a:latin typeface="Times New Roman" panose="02020603050405020304" pitchFamily="18" charset="0"/>
                  <a:cs typeface="Times New Roman" panose="02020603050405020304" pitchFamily="18" charset="0"/>
                </a:rPr>
                <a:t>10</a:t>
              </a:r>
              <a:r>
                <a:rPr lang="en-US" sz="1200" dirty="0" smtClean="0">
                  <a:solidFill>
                    <a:schemeClr val="accent5">
                      <a:lumMod val="50000"/>
                    </a:schemeClr>
                  </a:solidFill>
                  <a:latin typeface="Times New Roman" panose="02020603050405020304" pitchFamily="18" charset="0"/>
                  <a:cs typeface="Times New Roman" panose="02020603050405020304" pitchFamily="18" charset="0"/>
                </a:rPr>
                <a:t>G</a:t>
              </a:r>
              <a:endParaRPr lang="en-US" sz="1400" dirty="0">
                <a:solidFill>
                  <a:schemeClr val="accent5">
                    <a:lumMod val="50000"/>
                  </a:schemeClr>
                </a:solidFill>
                <a:latin typeface="Times New Roman" panose="02020603050405020304" pitchFamily="18" charset="0"/>
                <a:cs typeface="Times New Roman" panose="02020603050405020304" pitchFamily="18" charset="0"/>
              </a:endParaRPr>
            </a:p>
          </p:txBody>
        </p:sp>
      </p:grpSp>
      <p:grpSp>
        <p:nvGrpSpPr>
          <p:cNvPr id="67" name="Group 66"/>
          <p:cNvGrpSpPr/>
          <p:nvPr/>
        </p:nvGrpSpPr>
        <p:grpSpPr>
          <a:xfrm>
            <a:off x="4856344" y="24598"/>
            <a:ext cx="1980291" cy="610402"/>
            <a:chOff x="4856344" y="24598"/>
            <a:chExt cx="1980291" cy="610402"/>
          </a:xfrm>
        </p:grpSpPr>
        <p:sp>
          <p:nvSpPr>
            <p:cNvPr id="68" name="Rounded Rectangle 67"/>
            <p:cNvSpPr/>
            <p:nvPr/>
          </p:nvSpPr>
          <p:spPr>
            <a:xfrm>
              <a:off x="4856344" y="263656"/>
              <a:ext cx="921528" cy="371344"/>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endParaRPr lang="en-US" sz="2000"/>
            </a:p>
          </p:txBody>
        </p:sp>
        <p:sp>
          <p:nvSpPr>
            <p:cNvPr id="70" name="Freeform 69"/>
            <p:cNvSpPr/>
            <p:nvPr/>
          </p:nvSpPr>
          <p:spPr>
            <a:xfrm>
              <a:off x="5155377" y="111478"/>
              <a:ext cx="323462" cy="37800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71" name="Rounded Rectangular Callout 70"/>
            <p:cNvSpPr/>
            <p:nvPr/>
          </p:nvSpPr>
          <p:spPr>
            <a:xfrm>
              <a:off x="5580342" y="24598"/>
              <a:ext cx="1256293" cy="254741"/>
            </a:xfrm>
            <a:prstGeom prst="wedgeRoundRectCallout">
              <a:avLst>
                <a:gd name="adj1" fmla="val -62990"/>
                <a:gd name="adj2" fmla="val 5220"/>
                <a:gd name="adj3" fmla="val 16667"/>
              </a:avLst>
            </a:prstGeom>
            <a:solidFill>
              <a:schemeClr val="bg1"/>
            </a:solidFill>
            <a:ln w="28575">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dirty="0" smtClean="0">
                  <a:solidFill>
                    <a:schemeClr val="accent5">
                      <a:lumMod val="50000"/>
                    </a:schemeClr>
                  </a:solidFill>
                  <a:latin typeface="Times New Roman" panose="02020603050405020304" pitchFamily="18" charset="0"/>
                  <a:cs typeface="Times New Roman" panose="02020603050405020304" pitchFamily="18" charset="0"/>
                </a:rPr>
                <a:t>MRS</a:t>
              </a:r>
              <a:r>
                <a:rPr lang="en-US" sz="1400" dirty="0" smtClean="0">
                  <a:solidFill>
                    <a:schemeClr val="accent5">
                      <a:lumMod val="50000"/>
                    </a:schemeClr>
                  </a:solidFill>
                  <a:latin typeface="Times New Roman" panose="02020603050405020304" pitchFamily="18" charset="0"/>
                  <a:cs typeface="Times New Roman" panose="02020603050405020304" pitchFamily="18" charset="0"/>
                </a:rPr>
                <a:t>ORT</a:t>
              </a:r>
              <a:r>
                <a:rPr lang="en-US" sz="1600" dirty="0" smtClean="0">
                  <a:solidFill>
                    <a:schemeClr val="accent5">
                      <a:lumMod val="50000"/>
                    </a:schemeClr>
                  </a:solidFill>
                  <a:latin typeface="Times New Roman" panose="02020603050405020304" pitchFamily="18" charset="0"/>
                  <a:cs typeface="Times New Roman" panose="02020603050405020304" pitchFamily="18" charset="0"/>
                </a:rPr>
                <a:t>100</a:t>
              </a:r>
              <a:r>
                <a:rPr lang="en-US" sz="1400" dirty="0" smtClean="0">
                  <a:solidFill>
                    <a:schemeClr val="accent5">
                      <a:lumMod val="50000"/>
                    </a:schemeClr>
                  </a:solidFill>
                  <a:latin typeface="Times New Roman" panose="02020603050405020304" pitchFamily="18" charset="0"/>
                  <a:cs typeface="Times New Roman" panose="02020603050405020304" pitchFamily="18" charset="0"/>
                </a:rPr>
                <a:t>G</a:t>
              </a:r>
              <a:endParaRPr lang="en-US" sz="1600" dirty="0">
                <a:solidFill>
                  <a:schemeClr val="accent5">
                    <a:lumMod val="50000"/>
                  </a:schemeClr>
                </a:solidFill>
                <a:latin typeface="Times New Roman" panose="02020603050405020304" pitchFamily="18" charset="0"/>
                <a:cs typeface="Times New Roman" panose="02020603050405020304" pitchFamily="18" charset="0"/>
              </a:endParaRPr>
            </a:p>
          </p:txBody>
        </p:sp>
      </p:grpSp>
      <p:grpSp>
        <p:nvGrpSpPr>
          <p:cNvPr id="72" name="Group 71"/>
          <p:cNvGrpSpPr/>
          <p:nvPr/>
        </p:nvGrpSpPr>
        <p:grpSpPr>
          <a:xfrm>
            <a:off x="3281695" y="206882"/>
            <a:ext cx="1744358" cy="488689"/>
            <a:chOff x="3281695" y="206882"/>
            <a:chExt cx="1744358" cy="488689"/>
          </a:xfrm>
        </p:grpSpPr>
        <p:sp>
          <p:nvSpPr>
            <p:cNvPr id="75" name="Rounded Rectangle 74"/>
            <p:cNvSpPr/>
            <p:nvPr/>
          </p:nvSpPr>
          <p:spPr>
            <a:xfrm>
              <a:off x="3281695" y="324227"/>
              <a:ext cx="921528" cy="371344"/>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endParaRPr lang="en-US" sz="2000"/>
            </a:p>
          </p:txBody>
        </p:sp>
        <p:sp>
          <p:nvSpPr>
            <p:cNvPr id="76" name="Rounded Rectangular Callout 75"/>
            <p:cNvSpPr/>
            <p:nvPr/>
          </p:nvSpPr>
          <p:spPr>
            <a:xfrm>
              <a:off x="4084908" y="206882"/>
              <a:ext cx="941145" cy="254741"/>
            </a:xfrm>
            <a:prstGeom prst="wedgeRoundRectCallout">
              <a:avLst>
                <a:gd name="adj1" fmla="val -62990"/>
                <a:gd name="adj2" fmla="val 5220"/>
                <a:gd name="adj3" fmla="val 16667"/>
              </a:avLst>
            </a:prstGeom>
            <a:solidFill>
              <a:schemeClr val="bg1"/>
            </a:solidFill>
            <a:ln w="28575">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ctr"/>
              <a:r>
                <a:rPr lang="en-US" sz="1600" smtClean="0">
                  <a:solidFill>
                    <a:schemeClr val="accent2">
                      <a:lumMod val="50000"/>
                    </a:schemeClr>
                  </a:solidFill>
                  <a:latin typeface="Times New Roman" panose="02020603050405020304" pitchFamily="18" charset="0"/>
                  <a:cs typeface="Times New Roman" panose="02020603050405020304" pitchFamily="18" charset="0"/>
                </a:rPr>
                <a:t>FS</a:t>
              </a:r>
              <a:r>
                <a:rPr lang="en-US" sz="1200" smtClean="0">
                  <a:solidFill>
                    <a:schemeClr val="accent2">
                      <a:lumMod val="50000"/>
                    </a:schemeClr>
                  </a:solidFill>
                  <a:latin typeface="Times New Roman" panose="02020603050405020304" pitchFamily="18" charset="0"/>
                  <a:cs typeface="Times New Roman" panose="02020603050405020304" pitchFamily="18" charset="0"/>
                </a:rPr>
                <a:t>READ</a:t>
              </a:r>
              <a:r>
                <a:rPr lang="en-US" sz="1600" smtClean="0">
                  <a:solidFill>
                    <a:schemeClr val="accent2">
                      <a:lumMod val="50000"/>
                    </a:schemeClr>
                  </a:solidFill>
                  <a:latin typeface="Times New Roman" panose="02020603050405020304" pitchFamily="18" charset="0"/>
                  <a:cs typeface="Times New Roman" panose="02020603050405020304" pitchFamily="18" charset="0"/>
                </a:rPr>
                <a:t>4</a:t>
              </a:r>
              <a:r>
                <a:rPr lang="en-US" sz="1200" smtClean="0">
                  <a:solidFill>
                    <a:schemeClr val="accent2">
                      <a:lumMod val="50000"/>
                    </a:schemeClr>
                  </a:solidFill>
                  <a:latin typeface="Times New Roman" panose="02020603050405020304" pitchFamily="18" charset="0"/>
                  <a:cs typeface="Times New Roman" panose="02020603050405020304" pitchFamily="18" charset="0"/>
                </a:rPr>
                <a:t>M</a:t>
              </a:r>
              <a:endParaRPr lang="en-US" sz="1600" dirty="0">
                <a:solidFill>
                  <a:schemeClr val="accent2">
                    <a:lumMod val="50000"/>
                  </a:schemeClr>
                </a:solidFill>
                <a:latin typeface="Times New Roman" panose="02020603050405020304" pitchFamily="18" charset="0"/>
                <a:cs typeface="Times New Roman" panose="02020603050405020304" pitchFamily="18" charset="0"/>
              </a:endParaRPr>
            </a:p>
          </p:txBody>
        </p:sp>
      </p:grpSp>
      <p:grpSp>
        <p:nvGrpSpPr>
          <p:cNvPr id="77" name="Group 76"/>
          <p:cNvGrpSpPr/>
          <p:nvPr/>
        </p:nvGrpSpPr>
        <p:grpSpPr>
          <a:xfrm>
            <a:off x="3197391" y="24599"/>
            <a:ext cx="1743257" cy="610401"/>
            <a:chOff x="3197391" y="24599"/>
            <a:chExt cx="1743257" cy="610401"/>
          </a:xfrm>
        </p:grpSpPr>
        <p:sp>
          <p:nvSpPr>
            <p:cNvPr id="78" name="Rounded Rectangle 77"/>
            <p:cNvSpPr/>
            <p:nvPr/>
          </p:nvSpPr>
          <p:spPr>
            <a:xfrm>
              <a:off x="3197391" y="263656"/>
              <a:ext cx="921528" cy="371344"/>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endParaRPr lang="en-US" sz="2000"/>
            </a:p>
          </p:txBody>
        </p:sp>
        <p:sp>
          <p:nvSpPr>
            <p:cNvPr id="79" name="Freeform 78"/>
            <p:cNvSpPr/>
            <p:nvPr/>
          </p:nvSpPr>
          <p:spPr>
            <a:xfrm>
              <a:off x="3496424" y="111478"/>
              <a:ext cx="323462" cy="37800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80" name="Rounded Rectangular Callout 79"/>
            <p:cNvSpPr/>
            <p:nvPr/>
          </p:nvSpPr>
          <p:spPr>
            <a:xfrm>
              <a:off x="3911652" y="24599"/>
              <a:ext cx="1028996" cy="217300"/>
            </a:xfrm>
            <a:prstGeom prst="wedgeRoundRectCallout">
              <a:avLst>
                <a:gd name="adj1" fmla="val -62990"/>
                <a:gd name="adj2" fmla="val 5220"/>
                <a:gd name="adj3" fmla="val 16667"/>
              </a:avLst>
            </a:prstGeom>
            <a:solidFill>
              <a:schemeClr val="bg1"/>
            </a:solidFill>
            <a:ln w="28575">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dirty="0" smtClean="0">
                  <a:solidFill>
                    <a:schemeClr val="accent2">
                      <a:lumMod val="50000"/>
                    </a:schemeClr>
                  </a:solidFill>
                  <a:latin typeface="Times New Roman" panose="02020603050405020304" pitchFamily="18" charset="0"/>
                  <a:cs typeface="Times New Roman" panose="02020603050405020304" pitchFamily="18" charset="0"/>
                </a:rPr>
                <a:t>FS</a:t>
              </a:r>
              <a:r>
                <a:rPr lang="en-US" sz="1200" dirty="0" smtClean="0">
                  <a:solidFill>
                    <a:schemeClr val="accent2">
                      <a:lumMod val="50000"/>
                    </a:schemeClr>
                  </a:solidFill>
                  <a:latin typeface="Times New Roman" panose="02020603050405020304" pitchFamily="18" charset="0"/>
                  <a:cs typeface="Times New Roman" panose="02020603050405020304" pitchFamily="18" charset="0"/>
                </a:rPr>
                <a:t>READ</a:t>
              </a:r>
              <a:r>
                <a:rPr lang="en-US" sz="1600" dirty="0" smtClean="0">
                  <a:solidFill>
                    <a:schemeClr val="accent2">
                      <a:lumMod val="50000"/>
                    </a:schemeClr>
                  </a:solidFill>
                  <a:latin typeface="Times New Roman" panose="02020603050405020304" pitchFamily="18" charset="0"/>
                  <a:cs typeface="Times New Roman" panose="02020603050405020304" pitchFamily="18" charset="0"/>
                </a:rPr>
                <a:t>64</a:t>
              </a:r>
              <a:r>
                <a:rPr lang="en-US" sz="1200" dirty="0" smtClean="0">
                  <a:solidFill>
                    <a:schemeClr val="accent2">
                      <a:lumMod val="50000"/>
                    </a:schemeClr>
                  </a:solidFill>
                  <a:latin typeface="Times New Roman" panose="02020603050405020304" pitchFamily="18" charset="0"/>
                  <a:cs typeface="Times New Roman" panose="02020603050405020304" pitchFamily="18" charset="0"/>
                </a:rPr>
                <a:t>M</a:t>
              </a:r>
              <a:endParaRPr lang="en-US" sz="1600" dirty="0">
                <a:solidFill>
                  <a:schemeClr val="accent2">
                    <a:lumMod val="50000"/>
                  </a:schemeClr>
                </a:solidFill>
                <a:latin typeface="Times New Roman" panose="02020603050405020304" pitchFamily="18" charset="0"/>
                <a:cs typeface="Times New Roman" panose="02020603050405020304" pitchFamily="18" charset="0"/>
              </a:endParaRPr>
            </a:p>
          </p:txBody>
        </p:sp>
      </p:grpSp>
      <p:grpSp>
        <p:nvGrpSpPr>
          <p:cNvPr id="81" name="Group 80"/>
          <p:cNvGrpSpPr/>
          <p:nvPr/>
        </p:nvGrpSpPr>
        <p:grpSpPr>
          <a:xfrm>
            <a:off x="1622743" y="172698"/>
            <a:ext cx="1474512" cy="548273"/>
            <a:chOff x="1622743" y="172698"/>
            <a:chExt cx="1474512" cy="548273"/>
          </a:xfrm>
        </p:grpSpPr>
        <p:sp>
          <p:nvSpPr>
            <p:cNvPr id="82" name="Rounded Rectangle 81"/>
            <p:cNvSpPr/>
            <p:nvPr/>
          </p:nvSpPr>
          <p:spPr>
            <a:xfrm>
              <a:off x="1622743" y="349627"/>
              <a:ext cx="921528" cy="371344"/>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endParaRPr lang="en-US" sz="2000"/>
            </a:p>
          </p:txBody>
        </p:sp>
        <p:sp>
          <p:nvSpPr>
            <p:cNvPr id="101" name="Rounded Rectangular Callout 100"/>
            <p:cNvSpPr/>
            <p:nvPr/>
          </p:nvSpPr>
          <p:spPr>
            <a:xfrm>
              <a:off x="2312703" y="172698"/>
              <a:ext cx="784552" cy="254741"/>
            </a:xfrm>
            <a:prstGeom prst="wedgeRoundRectCallout">
              <a:avLst>
                <a:gd name="adj1" fmla="val -62990"/>
                <a:gd name="adj2" fmla="val 5220"/>
                <a:gd name="adj3" fmla="val 16667"/>
              </a:avLst>
            </a:prstGeom>
            <a:solidFill>
              <a:schemeClr val="bg1"/>
            </a:solidFill>
            <a:ln w="28575">
              <a:solidFill>
                <a:srgbClr val="70AD47"/>
              </a:solidFill>
            </a:ln>
          </p:spPr>
          <p:style>
            <a:lnRef idx="2">
              <a:schemeClr val="accent1">
                <a:shade val="50000"/>
              </a:schemeClr>
            </a:lnRef>
            <a:fillRef idx="1">
              <a:schemeClr val="accent1"/>
            </a:fillRef>
            <a:effectRef idx="0">
              <a:schemeClr val="accent1"/>
            </a:effectRef>
            <a:fontRef idx="minor">
              <a:schemeClr val="lt1"/>
            </a:fontRef>
          </p:style>
          <p:txBody>
            <a:bodyPr lIns="0" tIns="0" rIns="45720" bIns="0" rtlCol="0" anchor="b" anchorCtr="0"/>
            <a:lstStyle/>
            <a:p>
              <a:pPr algn="r"/>
              <a:r>
                <a:rPr lang="en-US" sz="1400" dirty="0" smtClean="0">
                  <a:solidFill>
                    <a:schemeClr val="accent6">
                      <a:lumMod val="50000"/>
                    </a:schemeClr>
                  </a:solidFill>
                  <a:latin typeface="Times New Roman" panose="02020603050405020304" pitchFamily="18" charset="0"/>
                  <a:cs typeface="Times New Roman" panose="02020603050405020304" pitchFamily="18" charset="0"/>
                </a:rPr>
                <a:t>H</a:t>
              </a:r>
              <a:r>
                <a:rPr lang="en-US" sz="1200" dirty="0" smtClean="0">
                  <a:solidFill>
                    <a:schemeClr val="accent6">
                      <a:lumMod val="50000"/>
                    </a:schemeClr>
                  </a:solidFill>
                  <a:latin typeface="Times New Roman" panose="02020603050405020304" pitchFamily="18" charset="0"/>
                  <a:cs typeface="Times New Roman" panose="02020603050405020304" pitchFamily="18" charset="0"/>
                </a:rPr>
                <a:t>SCAN</a:t>
              </a:r>
              <a:endParaRPr lang="en-US" sz="1400" dirty="0">
                <a:solidFill>
                  <a:schemeClr val="accent6">
                    <a:lumMod val="50000"/>
                  </a:schemeClr>
                </a:solidFill>
                <a:latin typeface="Times New Roman" panose="02020603050405020304" pitchFamily="18" charset="0"/>
                <a:cs typeface="Times New Roman" panose="02020603050405020304" pitchFamily="18" charset="0"/>
              </a:endParaRPr>
            </a:p>
          </p:txBody>
        </p:sp>
      </p:grpSp>
      <p:grpSp>
        <p:nvGrpSpPr>
          <p:cNvPr id="103" name="Group 102"/>
          <p:cNvGrpSpPr/>
          <p:nvPr/>
        </p:nvGrpSpPr>
        <p:grpSpPr>
          <a:xfrm>
            <a:off x="1548167" y="24597"/>
            <a:ext cx="1494994" cy="635802"/>
            <a:chOff x="1548167" y="24597"/>
            <a:chExt cx="1494994" cy="635802"/>
          </a:xfrm>
        </p:grpSpPr>
        <p:sp>
          <p:nvSpPr>
            <p:cNvPr id="105" name="Rounded Rectangle 104"/>
            <p:cNvSpPr/>
            <p:nvPr/>
          </p:nvSpPr>
          <p:spPr>
            <a:xfrm>
              <a:off x="1548167" y="289055"/>
              <a:ext cx="921528" cy="371344"/>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endParaRPr lang="en-US" sz="2000"/>
            </a:p>
          </p:txBody>
        </p:sp>
        <p:sp>
          <p:nvSpPr>
            <p:cNvPr id="106" name="Freeform 105"/>
            <p:cNvSpPr/>
            <p:nvPr/>
          </p:nvSpPr>
          <p:spPr>
            <a:xfrm>
              <a:off x="1847200" y="103729"/>
              <a:ext cx="323462" cy="37800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rgbClr val="70AD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07" name="Rounded Rectangular Callout 106"/>
            <p:cNvSpPr/>
            <p:nvPr/>
          </p:nvSpPr>
          <p:spPr>
            <a:xfrm>
              <a:off x="2258609" y="24597"/>
              <a:ext cx="784552" cy="210925"/>
            </a:xfrm>
            <a:prstGeom prst="wedgeRoundRectCallout">
              <a:avLst>
                <a:gd name="adj1" fmla="val -62990"/>
                <a:gd name="adj2" fmla="val 5220"/>
                <a:gd name="adj3" fmla="val 16667"/>
              </a:avLst>
            </a:prstGeom>
            <a:solidFill>
              <a:schemeClr val="bg1"/>
            </a:solidFill>
            <a:ln w="28575">
              <a:solidFill>
                <a:srgbClr val="70AD47"/>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dirty="0" smtClean="0">
                  <a:solidFill>
                    <a:schemeClr val="accent6">
                      <a:lumMod val="50000"/>
                    </a:schemeClr>
                  </a:solidFill>
                  <a:latin typeface="Times New Roman" panose="02020603050405020304" pitchFamily="18" charset="0"/>
                  <a:cs typeface="Times New Roman" panose="02020603050405020304" pitchFamily="18" charset="0"/>
                </a:rPr>
                <a:t>H</a:t>
              </a:r>
              <a:r>
                <a:rPr lang="en-US" sz="1400" dirty="0" smtClean="0">
                  <a:solidFill>
                    <a:schemeClr val="accent6">
                      <a:lumMod val="50000"/>
                    </a:schemeClr>
                  </a:solidFill>
                  <a:latin typeface="Times New Roman" panose="02020603050405020304" pitchFamily="18" charset="0"/>
                  <a:cs typeface="Times New Roman" panose="02020603050405020304" pitchFamily="18" charset="0"/>
                </a:rPr>
                <a:t>GET</a:t>
              </a:r>
              <a:endParaRPr lang="en-US" dirty="0">
                <a:solidFill>
                  <a:schemeClr val="accent6">
                    <a:lumMod val="50000"/>
                  </a:schemeClr>
                </a:solidFill>
                <a:latin typeface="Times New Roman" panose="02020603050405020304" pitchFamily="18" charset="0"/>
                <a:cs typeface="Times New Roman" panose="02020603050405020304" pitchFamily="18" charset="0"/>
              </a:endParaRPr>
            </a:p>
          </p:txBody>
        </p:sp>
      </p:grpSp>
      <p:grpSp>
        <p:nvGrpSpPr>
          <p:cNvPr id="50" name="Group 49"/>
          <p:cNvGrpSpPr/>
          <p:nvPr/>
        </p:nvGrpSpPr>
        <p:grpSpPr>
          <a:xfrm>
            <a:off x="1548167" y="890653"/>
            <a:ext cx="4314009" cy="2607290"/>
            <a:chOff x="1548167" y="890653"/>
            <a:chExt cx="4314009" cy="2607290"/>
          </a:xfrm>
        </p:grpSpPr>
        <p:grpSp>
          <p:nvGrpSpPr>
            <p:cNvPr id="41" name="Group 40"/>
            <p:cNvGrpSpPr/>
            <p:nvPr/>
          </p:nvGrpSpPr>
          <p:grpSpPr>
            <a:xfrm>
              <a:off x="1548167" y="890653"/>
              <a:ext cx="4314009" cy="2607290"/>
              <a:chOff x="1548167" y="890653"/>
              <a:chExt cx="4314009" cy="2607290"/>
            </a:xfrm>
          </p:grpSpPr>
          <p:sp>
            <p:nvSpPr>
              <p:cNvPr id="92" name="Rounded Rectangle 91"/>
              <p:cNvSpPr/>
              <p:nvPr/>
            </p:nvSpPr>
            <p:spPr>
              <a:xfrm>
                <a:off x="1854940" y="1157145"/>
                <a:ext cx="4007236" cy="2340798"/>
              </a:xfrm>
              <a:prstGeom prst="roundRect">
                <a:avLst>
                  <a:gd name="adj" fmla="val 3932"/>
                </a:avLst>
              </a:prstGeom>
              <a:solidFill>
                <a:schemeClr val="bg1">
                  <a:alpha val="25000"/>
                </a:schemeClr>
              </a:solidFill>
              <a:ln w="57150">
                <a:solidFill>
                  <a:schemeClr val="tx1">
                    <a:alpha val="2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91" name="Rounded Rectangle 90"/>
              <p:cNvSpPr/>
              <p:nvPr/>
            </p:nvSpPr>
            <p:spPr>
              <a:xfrm>
                <a:off x="1752683" y="1068315"/>
                <a:ext cx="4007236" cy="2340798"/>
              </a:xfrm>
              <a:prstGeom prst="roundRect">
                <a:avLst>
                  <a:gd name="adj" fmla="val 3932"/>
                </a:avLst>
              </a:prstGeom>
              <a:solidFill>
                <a:schemeClr val="bg1">
                  <a:alpha val="50000"/>
                </a:schemeClr>
              </a:solidFill>
              <a:ln w="571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90" name="Rounded Rectangle 89"/>
              <p:cNvSpPr/>
              <p:nvPr/>
            </p:nvSpPr>
            <p:spPr>
              <a:xfrm>
                <a:off x="1650425" y="979484"/>
                <a:ext cx="4007236" cy="2340798"/>
              </a:xfrm>
              <a:prstGeom prst="roundRect">
                <a:avLst>
                  <a:gd name="adj" fmla="val 3932"/>
                </a:avLst>
              </a:prstGeom>
              <a:solidFill>
                <a:schemeClr val="bg1">
                  <a:alpha val="75000"/>
                </a:schemeClr>
              </a:solidFill>
              <a:ln w="57150">
                <a:solidFill>
                  <a:schemeClr val="tx1">
                    <a:alpha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nvGrpSpPr>
              <p:cNvPr id="40" name="Group 39"/>
              <p:cNvGrpSpPr/>
              <p:nvPr/>
            </p:nvGrpSpPr>
            <p:grpSpPr>
              <a:xfrm>
                <a:off x="1548167" y="890653"/>
                <a:ext cx="4007236" cy="2340798"/>
                <a:chOff x="1548167" y="890653"/>
                <a:chExt cx="4007236" cy="2340798"/>
              </a:xfrm>
            </p:grpSpPr>
            <p:sp>
              <p:nvSpPr>
                <p:cNvPr id="47" name="Rounded Rectangle 46"/>
                <p:cNvSpPr/>
                <p:nvPr/>
              </p:nvSpPr>
              <p:spPr>
                <a:xfrm>
                  <a:off x="1548167" y="890653"/>
                  <a:ext cx="4007236" cy="2340798"/>
                </a:xfrm>
                <a:prstGeom prst="roundRect">
                  <a:avLst>
                    <a:gd name="adj" fmla="val 3932"/>
                  </a:avLst>
                </a:prstGeom>
                <a:solidFill>
                  <a:schemeClr val="bg1"/>
                </a:solidFill>
                <a:ln w="571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cxnSp>
              <p:nvCxnSpPr>
                <p:cNvPr id="52" name="Straight Connector 51"/>
                <p:cNvCxnSpPr/>
                <p:nvPr/>
              </p:nvCxnSpPr>
              <p:spPr>
                <a:xfrm flipV="1">
                  <a:off x="1548167" y="2515146"/>
                  <a:ext cx="3999266" cy="4309"/>
                </a:xfrm>
                <a:prstGeom prst="line">
                  <a:avLst/>
                </a:prstGeom>
                <a:ln w="571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sp>
          <p:nvSpPr>
            <p:cNvPr id="31" name="Can 30"/>
            <p:cNvSpPr/>
            <p:nvPr/>
          </p:nvSpPr>
          <p:spPr>
            <a:xfrm>
              <a:off x="3003528" y="2602755"/>
              <a:ext cx="904605" cy="528273"/>
            </a:xfrm>
            <a:prstGeom prst="can">
              <a:avLst>
                <a:gd name="adj" fmla="val 50000"/>
              </a:avLst>
            </a:prstGeom>
            <a:solidFill>
              <a:schemeClr val="accent4">
                <a:lumMod val="20000"/>
                <a:lumOff val="8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109728" rIns="0" bIns="0" rtlCol="0" anchor="ctr"/>
            <a:lstStyle/>
            <a:p>
              <a:pPr algn="ctr"/>
              <a:r>
                <a:rPr lang="en-US" sz="2000" b="1" dirty="0">
                  <a:solidFill>
                    <a:schemeClr val="tx1"/>
                  </a:solidFill>
                </a:rPr>
                <a:t>Disk</a:t>
              </a:r>
            </a:p>
          </p:txBody>
        </p:sp>
        <p:sp>
          <p:nvSpPr>
            <p:cNvPr id="6" name="Rounded Rectangle 5"/>
            <p:cNvSpPr/>
            <p:nvPr/>
          </p:nvSpPr>
          <p:spPr>
            <a:xfrm>
              <a:off x="1667662" y="987617"/>
              <a:ext cx="1056938" cy="641696"/>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b" anchorCtr="0"/>
            <a:lstStyle/>
            <a:p>
              <a:r>
                <a:rPr lang="en-US" sz="2000" dirty="0" err="1">
                  <a:solidFill>
                    <a:schemeClr val="tx1"/>
                  </a:solidFill>
                </a:rPr>
                <a:t>HBase</a:t>
              </a:r>
              <a:endParaRPr lang="en-US" sz="2000" dirty="0">
                <a:solidFill>
                  <a:schemeClr val="tx1"/>
                </a:solidFill>
              </a:endParaRPr>
            </a:p>
          </p:txBody>
        </p:sp>
        <p:sp>
          <p:nvSpPr>
            <p:cNvPr id="42" name="Rounded Rectangle 41"/>
            <p:cNvSpPr/>
            <p:nvPr/>
          </p:nvSpPr>
          <p:spPr>
            <a:xfrm>
              <a:off x="3601331" y="1066452"/>
              <a:ext cx="1840961" cy="484026"/>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r>
                <a:rPr lang="en-US" sz="2000" dirty="0" err="1">
                  <a:solidFill>
                    <a:schemeClr val="tx1"/>
                  </a:solidFill>
                </a:rPr>
                <a:t>MapReduce</a:t>
              </a:r>
              <a:endParaRPr lang="en-US" sz="2000" dirty="0">
                <a:solidFill>
                  <a:schemeClr val="tx1"/>
                </a:solidFill>
              </a:endParaRPr>
            </a:p>
          </p:txBody>
        </p:sp>
        <p:sp>
          <p:nvSpPr>
            <p:cNvPr id="46" name="Rounded Rectangle 45"/>
            <p:cNvSpPr/>
            <p:nvPr/>
          </p:nvSpPr>
          <p:spPr>
            <a:xfrm>
              <a:off x="2641009" y="1743418"/>
              <a:ext cx="1075285" cy="644131"/>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r>
                <a:rPr lang="en-US" sz="2000" dirty="0">
                  <a:solidFill>
                    <a:schemeClr val="tx1"/>
                  </a:solidFill>
                </a:rPr>
                <a:t>HDFS</a:t>
              </a:r>
            </a:p>
          </p:txBody>
        </p:sp>
      </p:grpSp>
      <p:grpSp>
        <p:nvGrpSpPr>
          <p:cNvPr id="55" name="Group 54"/>
          <p:cNvGrpSpPr/>
          <p:nvPr/>
        </p:nvGrpSpPr>
        <p:grpSpPr>
          <a:xfrm>
            <a:off x="5818483" y="696670"/>
            <a:ext cx="1194558" cy="1078020"/>
            <a:chOff x="5818483" y="696670"/>
            <a:chExt cx="1194558" cy="1078020"/>
          </a:xfrm>
        </p:grpSpPr>
        <p:sp>
          <p:nvSpPr>
            <p:cNvPr id="61" name="TextBox 60"/>
            <p:cNvSpPr txBox="1"/>
            <p:nvPr/>
          </p:nvSpPr>
          <p:spPr>
            <a:xfrm rot="1468153">
              <a:off x="5818483" y="904989"/>
              <a:ext cx="1194558" cy="400110"/>
            </a:xfrm>
            <a:prstGeom prst="rect">
              <a:avLst/>
            </a:prstGeom>
            <a:noFill/>
          </p:spPr>
          <p:txBody>
            <a:bodyPr wrap="none" rtlCol="0">
              <a:spAutoFit/>
            </a:bodyPr>
            <a:lstStyle/>
            <a:p>
              <a:r>
                <a:rPr lang="en-US" sz="2000" dirty="0"/>
                <a:t>Machines</a:t>
              </a:r>
            </a:p>
          </p:txBody>
        </p:sp>
        <p:sp>
          <p:nvSpPr>
            <p:cNvPr id="65" name="Right Brace 64"/>
            <p:cNvSpPr/>
            <p:nvPr/>
          </p:nvSpPr>
          <p:spPr>
            <a:xfrm rot="20147132">
              <a:off x="5849694" y="696670"/>
              <a:ext cx="252919" cy="1078020"/>
            </a:xfrm>
            <a:prstGeom prst="rightBrace">
              <a:avLst>
                <a:gd name="adj1" fmla="val 62329"/>
                <a:gd name="adj2" fmla="val 47314"/>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160"/>
            </a:p>
          </p:txBody>
        </p:sp>
      </p:grpSp>
      <p:sp>
        <p:nvSpPr>
          <p:cNvPr id="85" name="Freeform 84"/>
          <p:cNvSpPr/>
          <p:nvPr/>
        </p:nvSpPr>
        <p:spPr>
          <a:xfrm>
            <a:off x="2003898" y="593389"/>
            <a:ext cx="1334091" cy="2158288"/>
          </a:xfrm>
          <a:custGeom>
            <a:avLst/>
            <a:gdLst>
              <a:gd name="connsiteX0" fmla="*/ 0 w 1206230"/>
              <a:gd name="connsiteY0" fmla="*/ 0 h 2782111"/>
              <a:gd name="connsiteX1" fmla="*/ 0 w 1206230"/>
              <a:gd name="connsiteY1" fmla="*/ 710119 h 2782111"/>
              <a:gd name="connsiteX2" fmla="*/ 573932 w 1206230"/>
              <a:gd name="connsiteY2" fmla="*/ 1206230 h 2782111"/>
              <a:gd name="connsiteX3" fmla="*/ 573932 w 1206230"/>
              <a:gd name="connsiteY3" fmla="*/ 1682885 h 2782111"/>
              <a:gd name="connsiteX4" fmla="*/ 1206230 w 1206230"/>
              <a:gd name="connsiteY4" fmla="*/ 1682885 h 2782111"/>
              <a:gd name="connsiteX5" fmla="*/ 1206230 w 1206230"/>
              <a:gd name="connsiteY5" fmla="*/ 2782111 h 2782111"/>
              <a:gd name="connsiteX0" fmla="*/ 0 w 1206230"/>
              <a:gd name="connsiteY0" fmla="*/ 0 h 2782111"/>
              <a:gd name="connsiteX1" fmla="*/ 0 w 1206230"/>
              <a:gd name="connsiteY1" fmla="*/ 710119 h 2782111"/>
              <a:gd name="connsiteX2" fmla="*/ 573932 w 1206230"/>
              <a:gd name="connsiteY2" fmla="*/ 1206230 h 2782111"/>
              <a:gd name="connsiteX3" fmla="*/ 1206230 w 1206230"/>
              <a:gd name="connsiteY3" fmla="*/ 1682885 h 2782111"/>
              <a:gd name="connsiteX4" fmla="*/ 1206230 w 1206230"/>
              <a:gd name="connsiteY4" fmla="*/ 2782111 h 2782111"/>
              <a:gd name="connsiteX0" fmla="*/ 0 w 1206230"/>
              <a:gd name="connsiteY0" fmla="*/ 0 h 2782111"/>
              <a:gd name="connsiteX1" fmla="*/ 0 w 1206230"/>
              <a:gd name="connsiteY1" fmla="*/ 710119 h 2782111"/>
              <a:gd name="connsiteX2" fmla="*/ 1206230 w 1206230"/>
              <a:gd name="connsiteY2" fmla="*/ 1682885 h 2782111"/>
              <a:gd name="connsiteX3" fmla="*/ 1206230 w 1206230"/>
              <a:gd name="connsiteY3" fmla="*/ 2782111 h 2782111"/>
            </a:gdLst>
            <a:ahLst/>
            <a:cxnLst>
              <a:cxn ang="0">
                <a:pos x="connsiteX0" y="connsiteY0"/>
              </a:cxn>
              <a:cxn ang="0">
                <a:pos x="connsiteX1" y="connsiteY1"/>
              </a:cxn>
              <a:cxn ang="0">
                <a:pos x="connsiteX2" y="connsiteY2"/>
              </a:cxn>
              <a:cxn ang="0">
                <a:pos x="connsiteX3" y="connsiteY3"/>
              </a:cxn>
            </a:cxnLst>
            <a:rect l="l" t="t" r="r" b="b"/>
            <a:pathLst>
              <a:path w="1206230" h="2782111">
                <a:moveTo>
                  <a:pt x="0" y="0"/>
                </a:moveTo>
                <a:lnTo>
                  <a:pt x="0" y="710119"/>
                </a:lnTo>
                <a:lnTo>
                  <a:pt x="1206230" y="1682885"/>
                </a:lnTo>
                <a:lnTo>
                  <a:pt x="1206230" y="2782111"/>
                </a:lnTo>
              </a:path>
            </a:pathLst>
          </a:custGeom>
          <a:noFill/>
          <a:ln w="57150">
            <a:solidFill>
              <a:srgbClr val="70AD47"/>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86" name="Freeform 85"/>
          <p:cNvSpPr/>
          <p:nvPr/>
        </p:nvSpPr>
        <p:spPr>
          <a:xfrm>
            <a:off x="3451101" y="593389"/>
            <a:ext cx="225954" cy="2156477"/>
          </a:xfrm>
          <a:custGeom>
            <a:avLst/>
            <a:gdLst>
              <a:gd name="connsiteX0" fmla="*/ 330740 w 330740"/>
              <a:gd name="connsiteY0" fmla="*/ 0 h 2821022"/>
              <a:gd name="connsiteX1" fmla="*/ 0 w 330740"/>
              <a:gd name="connsiteY1" fmla="*/ 651753 h 2821022"/>
              <a:gd name="connsiteX2" fmla="*/ 0 w 330740"/>
              <a:gd name="connsiteY2" fmla="*/ 2821022 h 2821022"/>
            </a:gdLst>
            <a:ahLst/>
            <a:cxnLst>
              <a:cxn ang="0">
                <a:pos x="connsiteX0" y="connsiteY0"/>
              </a:cxn>
              <a:cxn ang="0">
                <a:pos x="connsiteX1" y="connsiteY1"/>
              </a:cxn>
              <a:cxn ang="0">
                <a:pos x="connsiteX2" y="connsiteY2"/>
              </a:cxn>
            </a:cxnLst>
            <a:rect l="l" t="t" r="r" b="b"/>
            <a:pathLst>
              <a:path w="330740" h="2821022">
                <a:moveTo>
                  <a:pt x="330740" y="0"/>
                </a:moveTo>
                <a:lnTo>
                  <a:pt x="0" y="651753"/>
                </a:lnTo>
                <a:lnTo>
                  <a:pt x="0" y="2821022"/>
                </a:lnTo>
              </a:path>
            </a:pathLst>
          </a:custGeom>
          <a:noFill/>
          <a:ln w="57150">
            <a:solidFill>
              <a:srgbClr val="ED7D3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87" name="Freeform 86"/>
          <p:cNvSpPr/>
          <p:nvPr/>
        </p:nvSpPr>
        <p:spPr>
          <a:xfrm>
            <a:off x="3577771" y="593389"/>
            <a:ext cx="1762714" cy="2156477"/>
          </a:xfrm>
          <a:custGeom>
            <a:avLst/>
            <a:gdLst>
              <a:gd name="connsiteX0" fmla="*/ 1780162 w 1780162"/>
              <a:gd name="connsiteY0" fmla="*/ 0 h 2821022"/>
              <a:gd name="connsiteX1" fmla="*/ 1780162 w 1780162"/>
              <a:gd name="connsiteY1" fmla="*/ 1391056 h 2821022"/>
              <a:gd name="connsiteX2" fmla="*/ 0 w 1780162"/>
              <a:gd name="connsiteY2" fmla="*/ 1391056 h 2821022"/>
              <a:gd name="connsiteX3" fmla="*/ 0 w 1780162"/>
              <a:gd name="connsiteY3" fmla="*/ 2821022 h 2821022"/>
            </a:gdLst>
            <a:ahLst/>
            <a:cxnLst>
              <a:cxn ang="0">
                <a:pos x="connsiteX0" y="connsiteY0"/>
              </a:cxn>
              <a:cxn ang="0">
                <a:pos x="connsiteX1" y="connsiteY1"/>
              </a:cxn>
              <a:cxn ang="0">
                <a:pos x="connsiteX2" y="connsiteY2"/>
              </a:cxn>
              <a:cxn ang="0">
                <a:pos x="connsiteX3" y="connsiteY3"/>
              </a:cxn>
            </a:cxnLst>
            <a:rect l="l" t="t" r="r" b="b"/>
            <a:pathLst>
              <a:path w="1780162" h="2821022">
                <a:moveTo>
                  <a:pt x="1780162" y="0"/>
                </a:moveTo>
                <a:lnTo>
                  <a:pt x="1780162" y="1391056"/>
                </a:lnTo>
                <a:lnTo>
                  <a:pt x="0" y="1391056"/>
                </a:lnTo>
                <a:lnTo>
                  <a:pt x="0" y="2821022"/>
                </a:lnTo>
              </a:path>
            </a:pathLst>
          </a:custGeom>
          <a:noFill/>
          <a:ln w="57150">
            <a:solidFill>
              <a:srgbClr val="4472C4"/>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54" name="Rounded Rectangle 53"/>
          <p:cNvSpPr/>
          <p:nvPr/>
        </p:nvSpPr>
        <p:spPr>
          <a:xfrm>
            <a:off x="3260937" y="2153798"/>
            <a:ext cx="397779" cy="166266"/>
          </a:xfrm>
          <a:prstGeom prst="roundRect">
            <a:avLst/>
          </a:prstGeom>
          <a:solidFill>
            <a:schemeClr val="bg1"/>
          </a:solidFill>
          <a:ln w="381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59" name="Freeform 58"/>
          <p:cNvSpPr/>
          <p:nvPr/>
        </p:nvSpPr>
        <p:spPr>
          <a:xfrm>
            <a:off x="1036855" y="1576379"/>
            <a:ext cx="2183282" cy="486984"/>
          </a:xfrm>
          <a:custGeom>
            <a:avLst/>
            <a:gdLst>
              <a:gd name="connsiteX0" fmla="*/ 0 w 398834"/>
              <a:gd name="connsiteY0" fmla="*/ 2188723 h 2188723"/>
              <a:gd name="connsiteX1" fmla="*/ 398834 w 398834"/>
              <a:gd name="connsiteY1" fmla="*/ 0 h 2188723"/>
              <a:gd name="connsiteX0" fmla="*/ 70658 w 469492"/>
              <a:gd name="connsiteY0" fmla="*/ 2188723 h 2188723"/>
              <a:gd name="connsiteX1" fmla="*/ 469492 w 469492"/>
              <a:gd name="connsiteY1" fmla="*/ 0 h 2188723"/>
              <a:gd name="connsiteX0" fmla="*/ 0 w 1070042"/>
              <a:gd name="connsiteY0" fmla="*/ 2345655 h 2345655"/>
              <a:gd name="connsiteX1" fmla="*/ 1070042 w 1070042"/>
              <a:gd name="connsiteY1" fmla="*/ 0 h 2345655"/>
              <a:gd name="connsiteX0" fmla="*/ 0 w 1070042"/>
              <a:gd name="connsiteY0" fmla="*/ 2345655 h 2345655"/>
              <a:gd name="connsiteX1" fmla="*/ 1070042 w 1070042"/>
              <a:gd name="connsiteY1" fmla="*/ 0 h 2345655"/>
              <a:gd name="connsiteX0" fmla="*/ 0 w 1245140"/>
              <a:gd name="connsiteY0" fmla="*/ 2478443 h 2478443"/>
              <a:gd name="connsiteX1" fmla="*/ 1245140 w 1245140"/>
              <a:gd name="connsiteY1" fmla="*/ 0 h 2478443"/>
              <a:gd name="connsiteX0" fmla="*/ 0 w 1400783"/>
              <a:gd name="connsiteY0" fmla="*/ 2611231 h 2611231"/>
              <a:gd name="connsiteX1" fmla="*/ 1400783 w 1400783"/>
              <a:gd name="connsiteY1" fmla="*/ 0 h 2611231"/>
              <a:gd name="connsiteX0" fmla="*/ 0 w 1361872"/>
              <a:gd name="connsiteY0" fmla="*/ 2514658 h 2514658"/>
              <a:gd name="connsiteX1" fmla="*/ 1361872 w 1361872"/>
              <a:gd name="connsiteY1" fmla="*/ 0 h 2514658"/>
              <a:gd name="connsiteX0" fmla="*/ 0 w 2508747"/>
              <a:gd name="connsiteY0" fmla="*/ 150276 h 1033436"/>
              <a:gd name="connsiteX1" fmla="*/ 2508747 w 2508747"/>
              <a:gd name="connsiteY1" fmla="*/ 875919 h 1033436"/>
              <a:gd name="connsiteX0" fmla="*/ 525 w 2509272"/>
              <a:gd name="connsiteY0" fmla="*/ 0 h 1012937"/>
              <a:gd name="connsiteX1" fmla="*/ 2509272 w 2509272"/>
              <a:gd name="connsiteY1" fmla="*/ 725643 h 1012937"/>
              <a:gd name="connsiteX0" fmla="*/ 524 w 2509271"/>
              <a:gd name="connsiteY0" fmla="*/ 0 h 725643"/>
              <a:gd name="connsiteX1" fmla="*/ 2509271 w 2509271"/>
              <a:gd name="connsiteY1" fmla="*/ 725643 h 725643"/>
              <a:gd name="connsiteX0" fmla="*/ 623 w 2183905"/>
              <a:gd name="connsiteY0" fmla="*/ 0 h 564077"/>
              <a:gd name="connsiteX1" fmla="*/ 2183905 w 2183905"/>
              <a:gd name="connsiteY1" fmla="*/ 564077 h 564077"/>
              <a:gd name="connsiteX0" fmla="*/ 846 w 2184128"/>
              <a:gd name="connsiteY0" fmla="*/ 0 h 564077"/>
              <a:gd name="connsiteX1" fmla="*/ 2184128 w 2184128"/>
              <a:gd name="connsiteY1" fmla="*/ 564077 h 564077"/>
              <a:gd name="connsiteX0" fmla="*/ 0 w 2183282"/>
              <a:gd name="connsiteY0" fmla="*/ 0 h 564077"/>
              <a:gd name="connsiteX1" fmla="*/ 2183282 w 2183282"/>
              <a:gd name="connsiteY1" fmla="*/ 564077 h 564077"/>
            </a:gdLst>
            <a:ahLst/>
            <a:cxnLst>
              <a:cxn ang="0">
                <a:pos x="connsiteX0" y="connsiteY0"/>
              </a:cxn>
              <a:cxn ang="0">
                <a:pos x="connsiteX1" y="connsiteY1"/>
              </a:cxn>
            </a:cxnLst>
            <a:rect l="l" t="t" r="r" b="b"/>
            <a:pathLst>
              <a:path w="2183282" h="564077">
                <a:moveTo>
                  <a:pt x="0" y="0"/>
                </a:moveTo>
                <a:cubicBezTo>
                  <a:pt x="326674" y="1137411"/>
                  <a:pt x="1180618" y="-329718"/>
                  <a:pt x="2183282" y="564077"/>
                </a:cubicBezTo>
              </a:path>
            </a:pathLst>
          </a:custGeom>
          <a:noFill/>
          <a:ln w="38100">
            <a:solidFill>
              <a:schemeClr val="tx1"/>
            </a:solidFill>
            <a:prstDash val="sysDot"/>
            <a:headEnd type="none"/>
            <a:tailEnd type="stealt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60" name="Rounded Rectangle 59"/>
          <p:cNvSpPr/>
          <p:nvPr/>
        </p:nvSpPr>
        <p:spPr>
          <a:xfrm>
            <a:off x="89253" y="987617"/>
            <a:ext cx="1255950" cy="569812"/>
          </a:xfrm>
          <a:prstGeom prst="roundRect">
            <a:avLst/>
          </a:prstGeom>
          <a:solidFill>
            <a:schemeClr val="bg1"/>
          </a:solidFill>
          <a:ln w="381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dirty="0" err="1" smtClean="0">
                <a:solidFill>
                  <a:schemeClr val="tx1"/>
                </a:solidFill>
                <a:latin typeface="Consolas" panose="020B0609020204030204" pitchFamily="49" charset="0"/>
                <a:cs typeface="Consolas" panose="020B0609020204030204" pitchFamily="49" charset="0"/>
              </a:rPr>
              <a:t>DataNode</a:t>
            </a:r>
            <a:endParaRPr lang="en-US" sz="2000" dirty="0" smtClean="0">
              <a:solidFill>
                <a:schemeClr val="tx1"/>
              </a:solidFill>
              <a:latin typeface="Consolas" panose="020B0609020204030204" pitchFamily="49" charset="0"/>
              <a:cs typeface="Consolas" panose="020B0609020204030204" pitchFamily="49" charset="0"/>
            </a:endParaRPr>
          </a:p>
          <a:p>
            <a:pPr algn="ctr"/>
            <a:r>
              <a:rPr lang="en-US" sz="2000" dirty="0" smtClean="0">
                <a:solidFill>
                  <a:schemeClr val="tx1"/>
                </a:solidFill>
                <a:latin typeface="Consolas" panose="020B0609020204030204" pitchFamily="49" charset="0"/>
                <a:cs typeface="Consolas" panose="020B0609020204030204" pitchFamily="49" charset="0"/>
              </a:rPr>
              <a:t>Metrics</a:t>
            </a:r>
            <a:endParaRPr lang="en-US" sz="2000" dirty="0">
              <a:solidFill>
                <a:schemeClr val="tx1"/>
              </a:solidFill>
              <a:latin typeface="Consolas" panose="020B0609020204030204" pitchFamily="49" charset="0"/>
              <a:cs typeface="Consolas" panose="020B0609020204030204" pitchFamily="49" charset="0"/>
            </a:endParaRPr>
          </a:p>
        </p:txBody>
      </p:sp>
      <p:sp>
        <p:nvSpPr>
          <p:cNvPr id="69" name="Oval 68"/>
          <p:cNvSpPr/>
          <p:nvPr/>
        </p:nvSpPr>
        <p:spPr>
          <a:xfrm>
            <a:off x="2856202" y="1493694"/>
            <a:ext cx="1143993" cy="408275"/>
          </a:xfrm>
          <a:prstGeom prst="ellipse">
            <a:avLst/>
          </a:prstGeom>
          <a:noFill/>
          <a:ln w="571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2160"/>
          </a:p>
        </p:txBody>
      </p:sp>
      <p:grpSp>
        <p:nvGrpSpPr>
          <p:cNvPr id="83" name="Group 82"/>
          <p:cNvGrpSpPr/>
          <p:nvPr/>
        </p:nvGrpSpPr>
        <p:grpSpPr>
          <a:xfrm>
            <a:off x="4486577" y="2642212"/>
            <a:ext cx="3736038" cy="3252317"/>
            <a:chOff x="2155601" y="1578475"/>
            <a:chExt cx="3736038" cy="3252317"/>
          </a:xfrm>
        </p:grpSpPr>
        <p:sp>
          <p:nvSpPr>
            <p:cNvPr id="84" name="Rectangle 83"/>
            <p:cNvSpPr/>
            <p:nvPr/>
          </p:nvSpPr>
          <p:spPr>
            <a:xfrm>
              <a:off x="2155601" y="1578475"/>
              <a:ext cx="3736038" cy="325231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8" name="Group 87"/>
            <p:cNvGrpSpPr/>
            <p:nvPr/>
          </p:nvGrpSpPr>
          <p:grpSpPr>
            <a:xfrm>
              <a:off x="2170841" y="1585685"/>
              <a:ext cx="3686167" cy="3211478"/>
              <a:chOff x="1164801" y="2515146"/>
              <a:chExt cx="3686167" cy="3211478"/>
            </a:xfrm>
          </p:grpSpPr>
          <p:pic>
            <p:nvPicPr>
              <p:cNvPr id="89" name="Picture 88" descr="fig1.pdf"/>
              <p:cNvPicPr>
                <a:picLocks noChangeAspect="1"/>
              </p:cNvPicPr>
              <p:nvPr/>
            </p:nvPicPr>
            <p:blipFill rotWithShape="1">
              <a:blip r:embed="rId3">
                <a:extLst>
                  <a:ext uri="{28A0092B-C50C-407E-A947-70E740481C1C}">
                    <a14:useLocalDpi xmlns:a14="http://schemas.microsoft.com/office/drawing/2010/main" val="0"/>
                  </a:ext>
                </a:extLst>
              </a:blip>
              <a:srcRect r="80877" b="13113"/>
              <a:stretch/>
            </p:blipFill>
            <p:spPr>
              <a:xfrm>
                <a:off x="1164801" y="2515146"/>
                <a:ext cx="708449" cy="2793023"/>
              </a:xfrm>
              <a:prstGeom prst="rect">
                <a:avLst/>
              </a:prstGeom>
              <a:ln>
                <a:noFill/>
              </a:ln>
            </p:spPr>
            <p:style>
              <a:lnRef idx="2">
                <a:schemeClr val="dk1"/>
              </a:lnRef>
              <a:fillRef idx="1">
                <a:schemeClr val="lt1"/>
              </a:fillRef>
              <a:effectRef idx="0">
                <a:schemeClr val="dk1"/>
              </a:effectRef>
              <a:fontRef idx="minor">
                <a:schemeClr val="dk1"/>
              </a:fontRef>
            </p:style>
          </p:pic>
          <p:pic>
            <p:nvPicPr>
              <p:cNvPr id="93" name="Picture 92" descr="fig1.pdf"/>
              <p:cNvPicPr>
                <a:picLocks noChangeAspect="1"/>
              </p:cNvPicPr>
              <p:nvPr/>
            </p:nvPicPr>
            <p:blipFill rotWithShape="1">
              <a:blip r:embed="rId3">
                <a:extLst>
                  <a:ext uri="{28A0092B-C50C-407E-A947-70E740481C1C}">
                    <a14:useLocalDpi xmlns:a14="http://schemas.microsoft.com/office/drawing/2010/main" val="0"/>
                  </a:ext>
                </a:extLst>
              </a:blip>
              <a:srcRect l="16879" t="84233" r="495" b="96"/>
              <a:stretch/>
            </p:blipFill>
            <p:spPr>
              <a:xfrm>
                <a:off x="1790054" y="5222875"/>
                <a:ext cx="3060914" cy="503749"/>
              </a:xfrm>
              <a:prstGeom prst="rect">
                <a:avLst/>
              </a:prstGeom>
              <a:ln>
                <a:noFill/>
              </a:ln>
            </p:spPr>
            <p:style>
              <a:lnRef idx="2">
                <a:schemeClr val="dk1"/>
              </a:lnRef>
              <a:fillRef idx="1">
                <a:schemeClr val="lt1"/>
              </a:fillRef>
              <a:effectRef idx="0">
                <a:schemeClr val="dk1"/>
              </a:effectRef>
              <a:fontRef idx="minor">
                <a:schemeClr val="dk1"/>
              </a:fontRef>
            </p:style>
          </p:pic>
        </p:grpSp>
      </p:grpSp>
      <p:pic>
        <p:nvPicPr>
          <p:cNvPr id="94" name="Picture 93"/>
          <p:cNvPicPr>
            <a:picLocks noChangeAspect="1"/>
          </p:cNvPicPr>
          <p:nvPr/>
        </p:nvPicPr>
        <p:blipFill rotWithShape="1">
          <a:blip r:embed="rId4">
            <a:extLst>
              <a:ext uri="{28A0092B-C50C-407E-A947-70E740481C1C}">
                <a14:useLocalDpi xmlns:a14="http://schemas.microsoft.com/office/drawing/2010/main" val="0"/>
              </a:ext>
            </a:extLst>
          </a:blip>
          <a:srcRect l="19414" t="29041" r="3530" b="15415"/>
          <a:stretch/>
        </p:blipFill>
        <p:spPr>
          <a:xfrm>
            <a:off x="5210266" y="3561778"/>
            <a:ext cx="2870312" cy="1791768"/>
          </a:xfrm>
          <a:prstGeom prst="rect">
            <a:avLst/>
          </a:prstGeom>
          <a:ln>
            <a:noFill/>
          </a:ln>
        </p:spPr>
        <p:style>
          <a:lnRef idx="2">
            <a:schemeClr val="dk1"/>
          </a:lnRef>
          <a:fillRef idx="1">
            <a:schemeClr val="lt1"/>
          </a:fillRef>
          <a:effectRef idx="0">
            <a:schemeClr val="dk1"/>
          </a:effectRef>
          <a:fontRef idx="minor">
            <a:schemeClr val="dk1"/>
          </a:fontRef>
        </p:style>
      </p:pic>
      <p:pic>
        <p:nvPicPr>
          <p:cNvPr id="99" name="Picture 98" descr="fig1.pdf"/>
          <p:cNvPicPr>
            <a:picLocks noChangeAspect="1"/>
          </p:cNvPicPr>
          <p:nvPr/>
        </p:nvPicPr>
        <p:blipFill rotWithShape="1">
          <a:blip r:embed="rId3">
            <a:extLst>
              <a:ext uri="{28A0092B-C50C-407E-A947-70E740481C1C}">
                <a14:useLocalDpi xmlns:a14="http://schemas.microsoft.com/office/drawing/2010/main" val="0"/>
              </a:ext>
            </a:extLst>
          </a:blip>
          <a:srcRect l="19044" t="31457" r="3576" b="15636"/>
          <a:stretch/>
        </p:blipFill>
        <p:spPr>
          <a:xfrm>
            <a:off x="5210266" y="3652475"/>
            <a:ext cx="2867191" cy="1701071"/>
          </a:xfrm>
          <a:prstGeom prst="rect">
            <a:avLst/>
          </a:prstGeom>
          <a:ln>
            <a:noFill/>
          </a:ln>
        </p:spPr>
        <p:style>
          <a:lnRef idx="2">
            <a:schemeClr val="dk1"/>
          </a:lnRef>
          <a:fillRef idx="1">
            <a:schemeClr val="lt1"/>
          </a:fillRef>
          <a:effectRef idx="0">
            <a:schemeClr val="dk1"/>
          </a:effectRef>
          <a:fontRef idx="minor">
            <a:schemeClr val="dk1"/>
          </a:fontRef>
        </p:style>
      </p:pic>
      <p:pic>
        <p:nvPicPr>
          <p:cNvPr id="95" name="Picture 94"/>
          <p:cNvPicPr>
            <a:picLocks noChangeAspect="1"/>
          </p:cNvPicPr>
          <p:nvPr/>
        </p:nvPicPr>
        <p:blipFill rotWithShape="1">
          <a:blip r:embed="rId5">
            <a:extLst>
              <a:ext uri="{28A0092B-C50C-407E-A947-70E740481C1C}">
                <a14:useLocalDpi xmlns:a14="http://schemas.microsoft.com/office/drawing/2010/main" val="0"/>
              </a:ext>
            </a:extLst>
          </a:blip>
          <a:srcRect l="19193" t="30470" r="3936" b="15300"/>
          <a:stretch/>
        </p:blipFill>
        <p:spPr>
          <a:xfrm>
            <a:off x="5210266" y="3601877"/>
            <a:ext cx="2867191" cy="1751669"/>
          </a:xfrm>
          <a:prstGeom prst="rect">
            <a:avLst/>
          </a:prstGeom>
          <a:ln>
            <a:noFill/>
          </a:ln>
        </p:spPr>
        <p:style>
          <a:lnRef idx="2">
            <a:schemeClr val="dk1"/>
          </a:lnRef>
          <a:fillRef idx="1">
            <a:schemeClr val="lt1"/>
          </a:fillRef>
          <a:effectRef idx="0">
            <a:schemeClr val="dk1"/>
          </a:effectRef>
          <a:fontRef idx="minor">
            <a:schemeClr val="dk1"/>
          </a:fontRef>
        </p:style>
      </p:pic>
      <p:pic>
        <p:nvPicPr>
          <p:cNvPr id="100" name="Picture 99" descr="fig1.pdf"/>
          <p:cNvPicPr>
            <a:picLocks noChangeAspect="1"/>
          </p:cNvPicPr>
          <p:nvPr/>
        </p:nvPicPr>
        <p:blipFill rotWithShape="1">
          <a:blip r:embed="rId3">
            <a:extLst>
              <a:ext uri="{28A0092B-C50C-407E-A947-70E740481C1C}">
                <a14:useLocalDpi xmlns:a14="http://schemas.microsoft.com/office/drawing/2010/main" val="0"/>
              </a:ext>
            </a:extLst>
          </a:blip>
          <a:srcRect l="27670" r="13501" b="73027"/>
          <a:stretch/>
        </p:blipFill>
        <p:spPr>
          <a:xfrm>
            <a:off x="5626780" y="2759160"/>
            <a:ext cx="2179320" cy="867065"/>
          </a:xfrm>
          <a:prstGeom prst="rect">
            <a:avLst/>
          </a:prstGeom>
          <a:ln>
            <a:noFill/>
          </a:ln>
        </p:spPr>
        <p:style>
          <a:lnRef idx="2">
            <a:schemeClr val="dk1"/>
          </a:lnRef>
          <a:fillRef idx="1">
            <a:schemeClr val="lt1"/>
          </a:fillRef>
          <a:effectRef idx="0">
            <a:schemeClr val="dk1"/>
          </a:effectRef>
          <a:fontRef idx="minor">
            <a:schemeClr val="dk1"/>
          </a:fontRef>
        </p:style>
      </p:pic>
      <p:pic>
        <p:nvPicPr>
          <p:cNvPr id="102" name="Picture 101"/>
          <p:cNvPicPr>
            <a:picLocks noChangeAspect="1"/>
          </p:cNvPicPr>
          <p:nvPr/>
        </p:nvPicPr>
        <p:blipFill rotWithShape="1">
          <a:blip r:embed="rId5">
            <a:extLst>
              <a:ext uri="{28A0092B-C50C-407E-A947-70E740481C1C}">
                <a14:useLocalDpi xmlns:a14="http://schemas.microsoft.com/office/drawing/2010/main" val="0"/>
              </a:ext>
            </a:extLst>
          </a:blip>
          <a:srcRect l="23717" r="39585" b="74638"/>
          <a:stretch/>
        </p:blipFill>
        <p:spPr>
          <a:xfrm>
            <a:off x="6034450" y="2784537"/>
            <a:ext cx="1363981" cy="816310"/>
          </a:xfrm>
          <a:prstGeom prst="rect">
            <a:avLst/>
          </a:prstGeom>
          <a:ln>
            <a:noFill/>
          </a:ln>
        </p:spPr>
        <p:style>
          <a:lnRef idx="2">
            <a:schemeClr val="dk1"/>
          </a:lnRef>
          <a:fillRef idx="1">
            <a:schemeClr val="lt1"/>
          </a:fillRef>
          <a:effectRef idx="0">
            <a:schemeClr val="dk1"/>
          </a:effectRef>
          <a:fontRef idx="minor">
            <a:schemeClr val="dk1"/>
          </a:fontRef>
        </p:style>
      </p:pic>
      <p:sp>
        <p:nvSpPr>
          <p:cNvPr id="104" name="Oval 103"/>
          <p:cNvSpPr/>
          <p:nvPr/>
        </p:nvSpPr>
        <p:spPr>
          <a:xfrm rot="1589076">
            <a:off x="5779062" y="824714"/>
            <a:ext cx="1225307" cy="583659"/>
          </a:xfrm>
          <a:prstGeom prst="ellipse">
            <a:avLst/>
          </a:prstGeom>
          <a:noFill/>
          <a:ln w="571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2160"/>
          </a:p>
        </p:txBody>
      </p:sp>
      <p:sp>
        <p:nvSpPr>
          <p:cNvPr id="2" name="Slide Number Placeholder 1"/>
          <p:cNvSpPr>
            <a:spLocks noGrp="1"/>
          </p:cNvSpPr>
          <p:nvPr>
            <p:ph type="sldNum" sz="quarter" idx="12"/>
          </p:nvPr>
        </p:nvSpPr>
        <p:spPr/>
        <p:txBody>
          <a:bodyPr/>
          <a:lstStyle/>
          <a:p>
            <a:fld id="{D431E30F-8439-471B-9257-EDD8E85CDBC8}" type="slidenum">
              <a:rPr lang="en-US" smtClean="0"/>
              <a:t>6</a:t>
            </a:fld>
            <a:endParaRPr lang="en-US"/>
          </a:p>
        </p:txBody>
      </p:sp>
    </p:spTree>
    <p:extLst>
      <p:ext uri="{BB962C8B-B14F-4D97-AF65-F5344CB8AC3E}">
        <p14:creationId xmlns:p14="http://schemas.microsoft.com/office/powerpoint/2010/main" val="1061020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xit" presetSubtype="1" fill="hold" grpId="2" nodeType="withEffect">
                                  <p:stCondLst>
                                    <p:cond delay="0"/>
                                  </p:stCondLst>
                                  <p:childTnLst>
                                    <p:animEffect transition="out" filter="wheel(1)">
                                      <p:cBhvr>
                                        <p:cTn id="6" dur="1000"/>
                                        <p:tgtEl>
                                          <p:spTgt spid="104"/>
                                        </p:tgtEl>
                                      </p:cBhvr>
                                    </p:animEffect>
                                    <p:set>
                                      <p:cBhvr>
                                        <p:cTn id="7" dur="1" fill="hold">
                                          <p:stCondLst>
                                            <p:cond delay="999"/>
                                          </p:stCondLst>
                                        </p:cTn>
                                        <p:tgtEl>
                                          <p:spTgt spid="104"/>
                                        </p:tgtEl>
                                        <p:attrNameLst>
                                          <p:attrName>style.visibility</p:attrName>
                                        </p:attrNameLst>
                                      </p:cBhvr>
                                      <p:to>
                                        <p:strVal val="hidden"/>
                                      </p:to>
                                    </p:set>
                                  </p:childTnLst>
                                </p:cTn>
                              </p:par>
                            </p:childTnLst>
                          </p:cTn>
                        </p:par>
                        <p:par>
                          <p:cTn id="8" fill="hold">
                            <p:stCondLst>
                              <p:cond delay="1000"/>
                            </p:stCondLst>
                            <p:childTnLst>
                              <p:par>
                                <p:cTn id="9" presetID="21" presetClass="entr" presetSubtype="1" fill="hold" grpId="0" nodeType="afterEffect">
                                  <p:stCondLst>
                                    <p:cond delay="0"/>
                                  </p:stCondLst>
                                  <p:childTnLst>
                                    <p:set>
                                      <p:cBhvr>
                                        <p:cTn id="10" dur="1" fill="hold">
                                          <p:stCondLst>
                                            <p:cond delay="0"/>
                                          </p:stCondLst>
                                        </p:cTn>
                                        <p:tgtEl>
                                          <p:spTgt spid="69"/>
                                        </p:tgtEl>
                                        <p:attrNameLst>
                                          <p:attrName>style.visibility</p:attrName>
                                        </p:attrNameLst>
                                      </p:cBhvr>
                                      <p:to>
                                        <p:strVal val="visible"/>
                                      </p:to>
                                    </p:set>
                                    <p:animEffect transition="in" filter="wheel(1)">
                                      <p:cBhvr>
                                        <p:cTn id="11" dur="1000"/>
                                        <p:tgtEl>
                                          <p:spTgt spid="6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xit" presetSubtype="0" fill="hold" nodeType="clickEffect">
                                  <p:stCondLst>
                                    <p:cond delay="0"/>
                                  </p:stCondLst>
                                  <p:childTnLst>
                                    <p:animEffect transition="out" filter="fade">
                                      <p:cBhvr>
                                        <p:cTn id="15" dur="500"/>
                                        <p:tgtEl>
                                          <p:spTgt spid="100"/>
                                        </p:tgtEl>
                                      </p:cBhvr>
                                    </p:animEffect>
                                    <p:set>
                                      <p:cBhvr>
                                        <p:cTn id="16" dur="1" fill="hold">
                                          <p:stCondLst>
                                            <p:cond delay="499"/>
                                          </p:stCondLst>
                                        </p:cTn>
                                        <p:tgtEl>
                                          <p:spTgt spid="100"/>
                                        </p:tgtEl>
                                        <p:attrNameLst>
                                          <p:attrName>style.visibility</p:attrName>
                                        </p:attrNameLst>
                                      </p:cBhvr>
                                      <p:to>
                                        <p:strVal val="hidden"/>
                                      </p:to>
                                    </p:set>
                                  </p:childTnLst>
                                </p:cTn>
                              </p:par>
                            </p:childTnLst>
                          </p:cTn>
                        </p:par>
                        <p:par>
                          <p:cTn id="17" fill="hold">
                            <p:stCondLst>
                              <p:cond delay="500"/>
                            </p:stCondLst>
                            <p:childTnLst>
                              <p:par>
                                <p:cTn id="18" presetID="10" presetClass="entr" presetSubtype="0" fill="hold" nodeType="afterEffect">
                                  <p:stCondLst>
                                    <p:cond delay="250"/>
                                  </p:stCondLst>
                                  <p:childTnLst>
                                    <p:set>
                                      <p:cBhvr>
                                        <p:cTn id="19" dur="1" fill="hold">
                                          <p:stCondLst>
                                            <p:cond delay="0"/>
                                          </p:stCondLst>
                                        </p:cTn>
                                        <p:tgtEl>
                                          <p:spTgt spid="102"/>
                                        </p:tgtEl>
                                        <p:attrNameLst>
                                          <p:attrName>style.visibility</p:attrName>
                                        </p:attrNameLst>
                                      </p:cBhvr>
                                      <p:to>
                                        <p:strVal val="visible"/>
                                      </p:to>
                                    </p:set>
                                    <p:animEffect transition="in" filter="fade">
                                      <p:cBhvr>
                                        <p:cTn id="20" dur="500"/>
                                        <p:tgtEl>
                                          <p:spTgt spid="102"/>
                                        </p:tgtEl>
                                      </p:cBhvr>
                                    </p:animEffect>
                                  </p:childTnLst>
                                </p:cTn>
                              </p:par>
                            </p:childTnLst>
                          </p:cTn>
                        </p:par>
                        <p:par>
                          <p:cTn id="21" fill="hold">
                            <p:stCondLst>
                              <p:cond delay="1250"/>
                            </p:stCondLst>
                            <p:childTnLst>
                              <p:par>
                                <p:cTn id="22" presetID="22" presetClass="entr" presetSubtype="8" fill="hold" nodeType="afterEffect">
                                  <p:stCondLst>
                                    <p:cond delay="250"/>
                                  </p:stCondLst>
                                  <p:childTnLst>
                                    <p:set>
                                      <p:cBhvr>
                                        <p:cTn id="23" dur="1" fill="hold">
                                          <p:stCondLst>
                                            <p:cond delay="0"/>
                                          </p:stCondLst>
                                        </p:cTn>
                                        <p:tgtEl>
                                          <p:spTgt spid="95"/>
                                        </p:tgtEl>
                                        <p:attrNameLst>
                                          <p:attrName>style.visibility</p:attrName>
                                        </p:attrNameLst>
                                      </p:cBhvr>
                                      <p:to>
                                        <p:strVal val="visible"/>
                                      </p:to>
                                    </p:set>
                                    <p:animEffect transition="in" filter="wipe(left)">
                                      <p:cBhvr>
                                        <p:cTn id="24" dur="1500"/>
                                        <p:tgtEl>
                                          <p:spTgt spid="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animBg="1"/>
      <p:bldP spid="104" grpId="2"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Group 37"/>
          <p:cNvGrpSpPr/>
          <p:nvPr/>
        </p:nvGrpSpPr>
        <p:grpSpPr>
          <a:xfrm>
            <a:off x="4940648" y="232518"/>
            <a:ext cx="1842486" cy="463053"/>
            <a:chOff x="4940648" y="232518"/>
            <a:chExt cx="1842486" cy="463053"/>
          </a:xfrm>
        </p:grpSpPr>
        <p:sp>
          <p:nvSpPr>
            <p:cNvPr id="74" name="Rounded Rectangle 73"/>
            <p:cNvSpPr/>
            <p:nvPr/>
          </p:nvSpPr>
          <p:spPr>
            <a:xfrm>
              <a:off x="4940648" y="324227"/>
              <a:ext cx="921528" cy="371344"/>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endParaRPr lang="en-US" sz="2000"/>
            </a:p>
          </p:txBody>
        </p:sp>
        <p:sp>
          <p:nvSpPr>
            <p:cNvPr id="73" name="Rounded Rectangular Callout 72"/>
            <p:cNvSpPr/>
            <p:nvPr/>
          </p:nvSpPr>
          <p:spPr>
            <a:xfrm>
              <a:off x="5671091" y="232518"/>
              <a:ext cx="1112043" cy="254741"/>
            </a:xfrm>
            <a:prstGeom prst="wedgeRoundRectCallout">
              <a:avLst>
                <a:gd name="adj1" fmla="val -62990"/>
                <a:gd name="adj2" fmla="val 5220"/>
                <a:gd name="adj3" fmla="val 16667"/>
              </a:avLst>
            </a:prstGeom>
            <a:solidFill>
              <a:schemeClr val="bg1"/>
            </a:solidFill>
            <a:ln w="28575">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r"/>
              <a:r>
                <a:rPr lang="en-US" sz="1400" dirty="0" smtClean="0">
                  <a:solidFill>
                    <a:schemeClr val="accent5">
                      <a:lumMod val="50000"/>
                    </a:schemeClr>
                  </a:solidFill>
                  <a:latin typeface="Times New Roman" panose="02020603050405020304" pitchFamily="18" charset="0"/>
                  <a:cs typeface="Times New Roman" panose="02020603050405020304" pitchFamily="18" charset="0"/>
                </a:rPr>
                <a:t>MRS</a:t>
              </a:r>
              <a:r>
                <a:rPr lang="en-US" sz="1200" dirty="0" smtClean="0">
                  <a:solidFill>
                    <a:schemeClr val="accent5">
                      <a:lumMod val="50000"/>
                    </a:schemeClr>
                  </a:solidFill>
                  <a:latin typeface="Times New Roman" panose="02020603050405020304" pitchFamily="18" charset="0"/>
                  <a:cs typeface="Times New Roman" panose="02020603050405020304" pitchFamily="18" charset="0"/>
                </a:rPr>
                <a:t>ORT</a:t>
              </a:r>
              <a:r>
                <a:rPr lang="en-US" sz="1400" dirty="0" smtClean="0">
                  <a:solidFill>
                    <a:schemeClr val="accent5">
                      <a:lumMod val="50000"/>
                    </a:schemeClr>
                  </a:solidFill>
                  <a:latin typeface="Times New Roman" panose="02020603050405020304" pitchFamily="18" charset="0"/>
                  <a:cs typeface="Times New Roman" panose="02020603050405020304" pitchFamily="18" charset="0"/>
                </a:rPr>
                <a:t>10</a:t>
              </a:r>
              <a:r>
                <a:rPr lang="en-US" sz="1200" dirty="0" smtClean="0">
                  <a:solidFill>
                    <a:schemeClr val="accent5">
                      <a:lumMod val="50000"/>
                    </a:schemeClr>
                  </a:solidFill>
                  <a:latin typeface="Times New Roman" panose="02020603050405020304" pitchFamily="18" charset="0"/>
                  <a:cs typeface="Times New Roman" panose="02020603050405020304" pitchFamily="18" charset="0"/>
                </a:rPr>
                <a:t>G</a:t>
              </a:r>
              <a:endParaRPr lang="en-US" sz="1400" dirty="0">
                <a:solidFill>
                  <a:schemeClr val="accent5">
                    <a:lumMod val="50000"/>
                  </a:schemeClr>
                </a:solidFill>
                <a:latin typeface="Times New Roman" panose="02020603050405020304" pitchFamily="18" charset="0"/>
                <a:cs typeface="Times New Roman" panose="02020603050405020304" pitchFamily="18" charset="0"/>
              </a:endParaRPr>
            </a:p>
          </p:txBody>
        </p:sp>
      </p:grpSp>
      <p:grpSp>
        <p:nvGrpSpPr>
          <p:cNvPr id="37" name="Group 36"/>
          <p:cNvGrpSpPr/>
          <p:nvPr/>
        </p:nvGrpSpPr>
        <p:grpSpPr>
          <a:xfrm>
            <a:off x="4856344" y="24598"/>
            <a:ext cx="1980291" cy="610402"/>
            <a:chOff x="4856344" y="24598"/>
            <a:chExt cx="1980291" cy="610402"/>
          </a:xfrm>
        </p:grpSpPr>
        <p:sp>
          <p:nvSpPr>
            <p:cNvPr id="45" name="Rounded Rectangle 44"/>
            <p:cNvSpPr/>
            <p:nvPr/>
          </p:nvSpPr>
          <p:spPr>
            <a:xfrm>
              <a:off x="4856344" y="263656"/>
              <a:ext cx="921528" cy="371344"/>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endParaRPr lang="en-US" sz="2000"/>
            </a:p>
          </p:txBody>
        </p:sp>
        <p:sp>
          <p:nvSpPr>
            <p:cNvPr id="34" name="Freeform 33"/>
            <p:cNvSpPr/>
            <p:nvPr/>
          </p:nvSpPr>
          <p:spPr>
            <a:xfrm>
              <a:off x="5155377" y="111478"/>
              <a:ext cx="323462" cy="37800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98" name="Rounded Rectangular Callout 97"/>
            <p:cNvSpPr/>
            <p:nvPr/>
          </p:nvSpPr>
          <p:spPr>
            <a:xfrm>
              <a:off x="5580342" y="24598"/>
              <a:ext cx="1256293" cy="254741"/>
            </a:xfrm>
            <a:prstGeom prst="wedgeRoundRectCallout">
              <a:avLst>
                <a:gd name="adj1" fmla="val -62990"/>
                <a:gd name="adj2" fmla="val 5220"/>
                <a:gd name="adj3" fmla="val 16667"/>
              </a:avLst>
            </a:prstGeom>
            <a:solidFill>
              <a:schemeClr val="bg1"/>
            </a:solidFill>
            <a:ln w="28575">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dirty="0" smtClean="0">
                  <a:solidFill>
                    <a:schemeClr val="accent5">
                      <a:lumMod val="50000"/>
                    </a:schemeClr>
                  </a:solidFill>
                  <a:latin typeface="Times New Roman" panose="02020603050405020304" pitchFamily="18" charset="0"/>
                  <a:cs typeface="Times New Roman" panose="02020603050405020304" pitchFamily="18" charset="0"/>
                </a:rPr>
                <a:t>MRS</a:t>
              </a:r>
              <a:r>
                <a:rPr lang="en-US" sz="1400" dirty="0" smtClean="0">
                  <a:solidFill>
                    <a:schemeClr val="accent5">
                      <a:lumMod val="50000"/>
                    </a:schemeClr>
                  </a:solidFill>
                  <a:latin typeface="Times New Roman" panose="02020603050405020304" pitchFamily="18" charset="0"/>
                  <a:cs typeface="Times New Roman" panose="02020603050405020304" pitchFamily="18" charset="0"/>
                </a:rPr>
                <a:t>ORT</a:t>
              </a:r>
              <a:r>
                <a:rPr lang="en-US" sz="1600" dirty="0" smtClean="0">
                  <a:solidFill>
                    <a:schemeClr val="accent5">
                      <a:lumMod val="50000"/>
                    </a:schemeClr>
                  </a:solidFill>
                  <a:latin typeface="Times New Roman" panose="02020603050405020304" pitchFamily="18" charset="0"/>
                  <a:cs typeface="Times New Roman" panose="02020603050405020304" pitchFamily="18" charset="0"/>
                </a:rPr>
                <a:t>100</a:t>
              </a:r>
              <a:r>
                <a:rPr lang="en-US" sz="1400" dirty="0" smtClean="0">
                  <a:solidFill>
                    <a:schemeClr val="accent5">
                      <a:lumMod val="50000"/>
                    </a:schemeClr>
                  </a:solidFill>
                  <a:latin typeface="Times New Roman" panose="02020603050405020304" pitchFamily="18" charset="0"/>
                  <a:cs typeface="Times New Roman" panose="02020603050405020304" pitchFamily="18" charset="0"/>
                </a:rPr>
                <a:t>G</a:t>
              </a:r>
              <a:endParaRPr lang="en-US" sz="1600" dirty="0">
                <a:solidFill>
                  <a:schemeClr val="accent5">
                    <a:lumMod val="50000"/>
                  </a:schemeClr>
                </a:solidFill>
                <a:latin typeface="Times New Roman" panose="02020603050405020304" pitchFamily="18" charset="0"/>
                <a:cs typeface="Times New Roman" panose="02020603050405020304" pitchFamily="18" charset="0"/>
              </a:endParaRPr>
            </a:p>
          </p:txBody>
        </p:sp>
      </p:grpSp>
      <p:grpSp>
        <p:nvGrpSpPr>
          <p:cNvPr id="36" name="Group 35"/>
          <p:cNvGrpSpPr/>
          <p:nvPr/>
        </p:nvGrpSpPr>
        <p:grpSpPr>
          <a:xfrm>
            <a:off x="3281695" y="206882"/>
            <a:ext cx="1744358" cy="488689"/>
            <a:chOff x="3281695" y="206882"/>
            <a:chExt cx="1744358" cy="488689"/>
          </a:xfrm>
        </p:grpSpPr>
        <p:sp>
          <p:nvSpPr>
            <p:cNvPr id="64" name="Rounded Rectangle 63"/>
            <p:cNvSpPr/>
            <p:nvPr/>
          </p:nvSpPr>
          <p:spPr>
            <a:xfrm>
              <a:off x="3281695" y="324227"/>
              <a:ext cx="921528" cy="371344"/>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endParaRPr lang="en-US" sz="2000"/>
            </a:p>
          </p:txBody>
        </p:sp>
        <p:sp>
          <p:nvSpPr>
            <p:cNvPr id="63" name="Rounded Rectangular Callout 62"/>
            <p:cNvSpPr/>
            <p:nvPr/>
          </p:nvSpPr>
          <p:spPr>
            <a:xfrm>
              <a:off x="4084908" y="206882"/>
              <a:ext cx="941145" cy="254741"/>
            </a:xfrm>
            <a:prstGeom prst="wedgeRoundRectCallout">
              <a:avLst>
                <a:gd name="adj1" fmla="val -62990"/>
                <a:gd name="adj2" fmla="val 5220"/>
                <a:gd name="adj3" fmla="val 16667"/>
              </a:avLst>
            </a:prstGeom>
            <a:solidFill>
              <a:schemeClr val="bg1"/>
            </a:solidFill>
            <a:ln w="28575">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ctr"/>
              <a:r>
                <a:rPr lang="en-US" sz="1600" smtClean="0">
                  <a:solidFill>
                    <a:schemeClr val="accent2">
                      <a:lumMod val="50000"/>
                    </a:schemeClr>
                  </a:solidFill>
                  <a:latin typeface="Times New Roman" panose="02020603050405020304" pitchFamily="18" charset="0"/>
                  <a:cs typeface="Times New Roman" panose="02020603050405020304" pitchFamily="18" charset="0"/>
                </a:rPr>
                <a:t>FS</a:t>
              </a:r>
              <a:r>
                <a:rPr lang="en-US" sz="1200" smtClean="0">
                  <a:solidFill>
                    <a:schemeClr val="accent2">
                      <a:lumMod val="50000"/>
                    </a:schemeClr>
                  </a:solidFill>
                  <a:latin typeface="Times New Roman" panose="02020603050405020304" pitchFamily="18" charset="0"/>
                  <a:cs typeface="Times New Roman" panose="02020603050405020304" pitchFamily="18" charset="0"/>
                </a:rPr>
                <a:t>READ</a:t>
              </a:r>
              <a:r>
                <a:rPr lang="en-US" sz="1600" smtClean="0">
                  <a:solidFill>
                    <a:schemeClr val="accent2">
                      <a:lumMod val="50000"/>
                    </a:schemeClr>
                  </a:solidFill>
                  <a:latin typeface="Times New Roman" panose="02020603050405020304" pitchFamily="18" charset="0"/>
                  <a:cs typeface="Times New Roman" panose="02020603050405020304" pitchFamily="18" charset="0"/>
                </a:rPr>
                <a:t>4</a:t>
              </a:r>
              <a:r>
                <a:rPr lang="en-US" sz="1200" smtClean="0">
                  <a:solidFill>
                    <a:schemeClr val="accent2">
                      <a:lumMod val="50000"/>
                    </a:schemeClr>
                  </a:solidFill>
                  <a:latin typeface="Times New Roman" panose="02020603050405020304" pitchFamily="18" charset="0"/>
                  <a:cs typeface="Times New Roman" panose="02020603050405020304" pitchFamily="18" charset="0"/>
                </a:rPr>
                <a:t>M</a:t>
              </a:r>
              <a:endParaRPr lang="en-US" sz="1600" dirty="0">
                <a:solidFill>
                  <a:schemeClr val="accent2">
                    <a:lumMod val="50000"/>
                  </a:schemeClr>
                </a:solidFill>
                <a:latin typeface="Times New Roman" panose="02020603050405020304" pitchFamily="18" charset="0"/>
                <a:cs typeface="Times New Roman" panose="02020603050405020304" pitchFamily="18" charset="0"/>
              </a:endParaRPr>
            </a:p>
          </p:txBody>
        </p:sp>
      </p:grpSp>
      <p:grpSp>
        <p:nvGrpSpPr>
          <p:cNvPr id="35" name="Group 34"/>
          <p:cNvGrpSpPr/>
          <p:nvPr/>
        </p:nvGrpSpPr>
        <p:grpSpPr>
          <a:xfrm>
            <a:off x="3197391" y="24599"/>
            <a:ext cx="1743257" cy="610401"/>
            <a:chOff x="3197391" y="24599"/>
            <a:chExt cx="1743257" cy="610401"/>
          </a:xfrm>
        </p:grpSpPr>
        <p:sp>
          <p:nvSpPr>
            <p:cNvPr id="44" name="Rounded Rectangle 43"/>
            <p:cNvSpPr/>
            <p:nvPr/>
          </p:nvSpPr>
          <p:spPr>
            <a:xfrm>
              <a:off x="3197391" y="263656"/>
              <a:ext cx="921528" cy="371344"/>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endParaRPr lang="en-US" sz="2000"/>
            </a:p>
          </p:txBody>
        </p:sp>
        <p:sp>
          <p:nvSpPr>
            <p:cNvPr id="33" name="Freeform 32"/>
            <p:cNvSpPr/>
            <p:nvPr/>
          </p:nvSpPr>
          <p:spPr>
            <a:xfrm>
              <a:off x="3496424" y="111478"/>
              <a:ext cx="323462" cy="37800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97" name="Rounded Rectangular Callout 96"/>
            <p:cNvSpPr/>
            <p:nvPr/>
          </p:nvSpPr>
          <p:spPr>
            <a:xfrm>
              <a:off x="3911652" y="24599"/>
              <a:ext cx="1028996" cy="217300"/>
            </a:xfrm>
            <a:prstGeom prst="wedgeRoundRectCallout">
              <a:avLst>
                <a:gd name="adj1" fmla="val -62990"/>
                <a:gd name="adj2" fmla="val 5220"/>
                <a:gd name="adj3" fmla="val 16667"/>
              </a:avLst>
            </a:prstGeom>
            <a:solidFill>
              <a:schemeClr val="bg1"/>
            </a:solidFill>
            <a:ln w="28575">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dirty="0" smtClean="0">
                  <a:solidFill>
                    <a:schemeClr val="accent2">
                      <a:lumMod val="50000"/>
                    </a:schemeClr>
                  </a:solidFill>
                  <a:latin typeface="Times New Roman" panose="02020603050405020304" pitchFamily="18" charset="0"/>
                  <a:cs typeface="Times New Roman" panose="02020603050405020304" pitchFamily="18" charset="0"/>
                </a:rPr>
                <a:t>FS</a:t>
              </a:r>
              <a:r>
                <a:rPr lang="en-US" sz="1200" dirty="0" smtClean="0">
                  <a:solidFill>
                    <a:schemeClr val="accent2">
                      <a:lumMod val="50000"/>
                    </a:schemeClr>
                  </a:solidFill>
                  <a:latin typeface="Times New Roman" panose="02020603050405020304" pitchFamily="18" charset="0"/>
                  <a:cs typeface="Times New Roman" panose="02020603050405020304" pitchFamily="18" charset="0"/>
                </a:rPr>
                <a:t>READ</a:t>
              </a:r>
              <a:r>
                <a:rPr lang="en-US" sz="1600" dirty="0" smtClean="0">
                  <a:solidFill>
                    <a:schemeClr val="accent2">
                      <a:lumMod val="50000"/>
                    </a:schemeClr>
                  </a:solidFill>
                  <a:latin typeface="Times New Roman" panose="02020603050405020304" pitchFamily="18" charset="0"/>
                  <a:cs typeface="Times New Roman" panose="02020603050405020304" pitchFamily="18" charset="0"/>
                </a:rPr>
                <a:t>64</a:t>
              </a:r>
              <a:r>
                <a:rPr lang="en-US" sz="1200" dirty="0" smtClean="0">
                  <a:solidFill>
                    <a:schemeClr val="accent2">
                      <a:lumMod val="50000"/>
                    </a:schemeClr>
                  </a:solidFill>
                  <a:latin typeface="Times New Roman" panose="02020603050405020304" pitchFamily="18" charset="0"/>
                  <a:cs typeface="Times New Roman" panose="02020603050405020304" pitchFamily="18" charset="0"/>
                </a:rPr>
                <a:t>M</a:t>
              </a:r>
              <a:endParaRPr lang="en-US" sz="1600" dirty="0">
                <a:solidFill>
                  <a:schemeClr val="accent2">
                    <a:lumMod val="50000"/>
                  </a:schemeClr>
                </a:solidFill>
                <a:latin typeface="Times New Roman" panose="02020603050405020304" pitchFamily="18" charset="0"/>
                <a:cs typeface="Times New Roman" panose="02020603050405020304" pitchFamily="18" charset="0"/>
              </a:endParaRPr>
            </a:p>
          </p:txBody>
        </p:sp>
      </p:grpSp>
      <p:grpSp>
        <p:nvGrpSpPr>
          <p:cNvPr id="30" name="Group 29"/>
          <p:cNvGrpSpPr/>
          <p:nvPr/>
        </p:nvGrpSpPr>
        <p:grpSpPr>
          <a:xfrm>
            <a:off x="1622743" y="172698"/>
            <a:ext cx="1474512" cy="548273"/>
            <a:chOff x="1622743" y="172698"/>
            <a:chExt cx="1474512" cy="548273"/>
          </a:xfrm>
        </p:grpSpPr>
        <p:sp>
          <p:nvSpPr>
            <p:cNvPr id="57" name="Rounded Rectangle 56"/>
            <p:cNvSpPr/>
            <p:nvPr/>
          </p:nvSpPr>
          <p:spPr>
            <a:xfrm>
              <a:off x="1622743" y="349627"/>
              <a:ext cx="921528" cy="371344"/>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endParaRPr lang="en-US" sz="2000"/>
            </a:p>
          </p:txBody>
        </p:sp>
        <p:sp>
          <p:nvSpPr>
            <p:cNvPr id="56" name="Rounded Rectangular Callout 55"/>
            <p:cNvSpPr/>
            <p:nvPr/>
          </p:nvSpPr>
          <p:spPr>
            <a:xfrm>
              <a:off x="2312703" y="172698"/>
              <a:ext cx="784552" cy="254741"/>
            </a:xfrm>
            <a:prstGeom prst="wedgeRoundRectCallout">
              <a:avLst>
                <a:gd name="adj1" fmla="val -62990"/>
                <a:gd name="adj2" fmla="val 5220"/>
                <a:gd name="adj3" fmla="val 16667"/>
              </a:avLst>
            </a:prstGeom>
            <a:solidFill>
              <a:schemeClr val="bg1"/>
            </a:solidFill>
            <a:ln w="28575">
              <a:solidFill>
                <a:srgbClr val="70AD47"/>
              </a:solidFill>
            </a:ln>
          </p:spPr>
          <p:style>
            <a:lnRef idx="2">
              <a:schemeClr val="accent1">
                <a:shade val="50000"/>
              </a:schemeClr>
            </a:lnRef>
            <a:fillRef idx="1">
              <a:schemeClr val="accent1"/>
            </a:fillRef>
            <a:effectRef idx="0">
              <a:schemeClr val="accent1"/>
            </a:effectRef>
            <a:fontRef idx="minor">
              <a:schemeClr val="lt1"/>
            </a:fontRef>
          </p:style>
          <p:txBody>
            <a:bodyPr lIns="0" tIns="0" rIns="45720" bIns="0" rtlCol="0" anchor="b" anchorCtr="0"/>
            <a:lstStyle/>
            <a:p>
              <a:pPr algn="r"/>
              <a:r>
                <a:rPr lang="en-US" sz="1400" dirty="0" smtClean="0">
                  <a:solidFill>
                    <a:schemeClr val="accent6">
                      <a:lumMod val="50000"/>
                    </a:schemeClr>
                  </a:solidFill>
                  <a:latin typeface="Times New Roman" panose="02020603050405020304" pitchFamily="18" charset="0"/>
                  <a:cs typeface="Times New Roman" panose="02020603050405020304" pitchFamily="18" charset="0"/>
                </a:rPr>
                <a:t>H</a:t>
              </a:r>
              <a:r>
                <a:rPr lang="en-US" sz="1200" dirty="0" smtClean="0">
                  <a:solidFill>
                    <a:schemeClr val="accent6">
                      <a:lumMod val="50000"/>
                    </a:schemeClr>
                  </a:solidFill>
                  <a:latin typeface="Times New Roman" panose="02020603050405020304" pitchFamily="18" charset="0"/>
                  <a:cs typeface="Times New Roman" panose="02020603050405020304" pitchFamily="18" charset="0"/>
                </a:rPr>
                <a:t>SCAN</a:t>
              </a:r>
              <a:endParaRPr lang="en-US" sz="1400" dirty="0">
                <a:solidFill>
                  <a:schemeClr val="accent6">
                    <a:lumMod val="50000"/>
                  </a:schemeClr>
                </a:solidFill>
                <a:latin typeface="Times New Roman" panose="02020603050405020304" pitchFamily="18" charset="0"/>
                <a:cs typeface="Times New Roman" panose="02020603050405020304" pitchFamily="18" charset="0"/>
              </a:endParaRPr>
            </a:p>
          </p:txBody>
        </p:sp>
      </p:grpSp>
      <p:grpSp>
        <p:nvGrpSpPr>
          <p:cNvPr id="29" name="Group 28"/>
          <p:cNvGrpSpPr/>
          <p:nvPr/>
        </p:nvGrpSpPr>
        <p:grpSpPr>
          <a:xfrm>
            <a:off x="1548167" y="24597"/>
            <a:ext cx="1494994" cy="635802"/>
            <a:chOff x="1548167" y="24597"/>
            <a:chExt cx="1494994" cy="635802"/>
          </a:xfrm>
        </p:grpSpPr>
        <p:sp>
          <p:nvSpPr>
            <p:cNvPr id="43" name="Rounded Rectangle 42"/>
            <p:cNvSpPr/>
            <p:nvPr/>
          </p:nvSpPr>
          <p:spPr>
            <a:xfrm>
              <a:off x="1548167" y="289055"/>
              <a:ext cx="921528" cy="371344"/>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endParaRPr lang="en-US" sz="2000"/>
            </a:p>
          </p:txBody>
        </p:sp>
        <p:sp>
          <p:nvSpPr>
            <p:cNvPr id="32" name="Freeform 31"/>
            <p:cNvSpPr/>
            <p:nvPr/>
          </p:nvSpPr>
          <p:spPr>
            <a:xfrm>
              <a:off x="1847200" y="103729"/>
              <a:ext cx="323462" cy="37800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rgbClr val="70AD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96" name="Rounded Rectangular Callout 95"/>
            <p:cNvSpPr/>
            <p:nvPr/>
          </p:nvSpPr>
          <p:spPr>
            <a:xfrm>
              <a:off x="2258609" y="24597"/>
              <a:ext cx="784552" cy="210925"/>
            </a:xfrm>
            <a:prstGeom prst="wedgeRoundRectCallout">
              <a:avLst>
                <a:gd name="adj1" fmla="val -62990"/>
                <a:gd name="adj2" fmla="val 5220"/>
                <a:gd name="adj3" fmla="val 16667"/>
              </a:avLst>
            </a:prstGeom>
            <a:solidFill>
              <a:schemeClr val="bg1"/>
            </a:solidFill>
            <a:ln w="28575">
              <a:solidFill>
                <a:srgbClr val="70AD47"/>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dirty="0" smtClean="0">
                  <a:solidFill>
                    <a:schemeClr val="accent6">
                      <a:lumMod val="50000"/>
                    </a:schemeClr>
                  </a:solidFill>
                  <a:latin typeface="Times New Roman" panose="02020603050405020304" pitchFamily="18" charset="0"/>
                  <a:cs typeface="Times New Roman" panose="02020603050405020304" pitchFamily="18" charset="0"/>
                </a:rPr>
                <a:t>H</a:t>
              </a:r>
              <a:r>
                <a:rPr lang="en-US" sz="1400" dirty="0" smtClean="0">
                  <a:solidFill>
                    <a:schemeClr val="accent6">
                      <a:lumMod val="50000"/>
                    </a:schemeClr>
                  </a:solidFill>
                  <a:latin typeface="Times New Roman" panose="02020603050405020304" pitchFamily="18" charset="0"/>
                  <a:cs typeface="Times New Roman" panose="02020603050405020304" pitchFamily="18" charset="0"/>
                </a:rPr>
                <a:t>GET</a:t>
              </a:r>
              <a:endParaRPr lang="en-US" dirty="0">
                <a:solidFill>
                  <a:schemeClr val="accent6">
                    <a:lumMod val="50000"/>
                  </a:schemeClr>
                </a:solidFill>
                <a:latin typeface="Times New Roman" panose="02020603050405020304" pitchFamily="18" charset="0"/>
                <a:cs typeface="Times New Roman" panose="02020603050405020304" pitchFamily="18" charset="0"/>
              </a:endParaRPr>
            </a:p>
          </p:txBody>
        </p:sp>
      </p:grpSp>
      <p:grpSp>
        <p:nvGrpSpPr>
          <p:cNvPr id="50" name="Group 49"/>
          <p:cNvGrpSpPr/>
          <p:nvPr/>
        </p:nvGrpSpPr>
        <p:grpSpPr>
          <a:xfrm>
            <a:off x="1548167" y="890653"/>
            <a:ext cx="4314009" cy="2607290"/>
            <a:chOff x="1548167" y="890653"/>
            <a:chExt cx="4314009" cy="2607290"/>
          </a:xfrm>
        </p:grpSpPr>
        <p:grpSp>
          <p:nvGrpSpPr>
            <p:cNvPr id="41" name="Group 40"/>
            <p:cNvGrpSpPr/>
            <p:nvPr/>
          </p:nvGrpSpPr>
          <p:grpSpPr>
            <a:xfrm>
              <a:off x="1548167" y="890653"/>
              <a:ext cx="4314009" cy="2607290"/>
              <a:chOff x="1548167" y="890653"/>
              <a:chExt cx="4314009" cy="2607290"/>
            </a:xfrm>
          </p:grpSpPr>
          <p:sp>
            <p:nvSpPr>
              <p:cNvPr id="92" name="Rounded Rectangle 91"/>
              <p:cNvSpPr/>
              <p:nvPr/>
            </p:nvSpPr>
            <p:spPr>
              <a:xfrm>
                <a:off x="1854940" y="1157145"/>
                <a:ext cx="4007236" cy="2340798"/>
              </a:xfrm>
              <a:prstGeom prst="roundRect">
                <a:avLst>
                  <a:gd name="adj" fmla="val 3932"/>
                </a:avLst>
              </a:prstGeom>
              <a:solidFill>
                <a:schemeClr val="bg1">
                  <a:alpha val="25000"/>
                </a:schemeClr>
              </a:solidFill>
              <a:ln w="57150">
                <a:solidFill>
                  <a:schemeClr val="tx1">
                    <a:alpha val="2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91" name="Rounded Rectangle 90"/>
              <p:cNvSpPr/>
              <p:nvPr/>
            </p:nvSpPr>
            <p:spPr>
              <a:xfrm>
                <a:off x="1752683" y="1068315"/>
                <a:ext cx="4007236" cy="2340798"/>
              </a:xfrm>
              <a:prstGeom prst="roundRect">
                <a:avLst>
                  <a:gd name="adj" fmla="val 3932"/>
                </a:avLst>
              </a:prstGeom>
              <a:solidFill>
                <a:schemeClr val="bg1">
                  <a:alpha val="50000"/>
                </a:schemeClr>
              </a:solidFill>
              <a:ln w="571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90" name="Rounded Rectangle 89"/>
              <p:cNvSpPr/>
              <p:nvPr/>
            </p:nvSpPr>
            <p:spPr>
              <a:xfrm>
                <a:off x="1650425" y="979484"/>
                <a:ext cx="4007236" cy="2340798"/>
              </a:xfrm>
              <a:prstGeom prst="roundRect">
                <a:avLst>
                  <a:gd name="adj" fmla="val 3932"/>
                </a:avLst>
              </a:prstGeom>
              <a:solidFill>
                <a:schemeClr val="bg1">
                  <a:alpha val="75000"/>
                </a:schemeClr>
              </a:solidFill>
              <a:ln w="57150">
                <a:solidFill>
                  <a:schemeClr val="tx1">
                    <a:alpha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nvGrpSpPr>
              <p:cNvPr id="40" name="Group 39"/>
              <p:cNvGrpSpPr/>
              <p:nvPr/>
            </p:nvGrpSpPr>
            <p:grpSpPr>
              <a:xfrm>
                <a:off x="1548167" y="890653"/>
                <a:ext cx="4007236" cy="2340798"/>
                <a:chOff x="1548167" y="890653"/>
                <a:chExt cx="4007236" cy="2340798"/>
              </a:xfrm>
            </p:grpSpPr>
            <p:sp>
              <p:nvSpPr>
                <p:cNvPr id="47" name="Rounded Rectangle 46"/>
                <p:cNvSpPr/>
                <p:nvPr/>
              </p:nvSpPr>
              <p:spPr>
                <a:xfrm>
                  <a:off x="1548167" y="890653"/>
                  <a:ext cx="4007236" cy="2340798"/>
                </a:xfrm>
                <a:prstGeom prst="roundRect">
                  <a:avLst>
                    <a:gd name="adj" fmla="val 3932"/>
                  </a:avLst>
                </a:prstGeom>
                <a:solidFill>
                  <a:schemeClr val="bg1"/>
                </a:solidFill>
                <a:ln w="571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cxnSp>
              <p:nvCxnSpPr>
                <p:cNvPr id="52" name="Straight Connector 51"/>
                <p:cNvCxnSpPr/>
                <p:nvPr/>
              </p:nvCxnSpPr>
              <p:spPr>
                <a:xfrm flipV="1">
                  <a:off x="1548167" y="2515146"/>
                  <a:ext cx="3999266" cy="4309"/>
                </a:xfrm>
                <a:prstGeom prst="line">
                  <a:avLst/>
                </a:prstGeom>
                <a:ln w="571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sp>
          <p:nvSpPr>
            <p:cNvPr id="31" name="Can 30"/>
            <p:cNvSpPr/>
            <p:nvPr/>
          </p:nvSpPr>
          <p:spPr>
            <a:xfrm>
              <a:off x="3003528" y="2602755"/>
              <a:ext cx="904605" cy="528273"/>
            </a:xfrm>
            <a:prstGeom prst="can">
              <a:avLst>
                <a:gd name="adj" fmla="val 50000"/>
              </a:avLst>
            </a:prstGeom>
            <a:solidFill>
              <a:schemeClr val="accent4">
                <a:lumMod val="20000"/>
                <a:lumOff val="8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109728" rIns="0" bIns="0" rtlCol="0" anchor="ctr"/>
            <a:lstStyle/>
            <a:p>
              <a:pPr algn="ctr"/>
              <a:r>
                <a:rPr lang="en-US" sz="2000" b="1" dirty="0">
                  <a:solidFill>
                    <a:schemeClr val="tx1"/>
                  </a:solidFill>
                </a:rPr>
                <a:t>Disk</a:t>
              </a:r>
            </a:p>
          </p:txBody>
        </p:sp>
        <p:sp>
          <p:nvSpPr>
            <p:cNvPr id="6" name="Rounded Rectangle 5"/>
            <p:cNvSpPr/>
            <p:nvPr/>
          </p:nvSpPr>
          <p:spPr>
            <a:xfrm>
              <a:off x="1667662" y="987617"/>
              <a:ext cx="1056938" cy="641696"/>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b" anchorCtr="0"/>
            <a:lstStyle/>
            <a:p>
              <a:r>
                <a:rPr lang="en-US" sz="2000" dirty="0" err="1">
                  <a:solidFill>
                    <a:schemeClr val="tx1"/>
                  </a:solidFill>
                </a:rPr>
                <a:t>HBase</a:t>
              </a:r>
              <a:endParaRPr lang="en-US" sz="2000" dirty="0">
                <a:solidFill>
                  <a:schemeClr val="tx1"/>
                </a:solidFill>
              </a:endParaRPr>
            </a:p>
          </p:txBody>
        </p:sp>
        <p:sp>
          <p:nvSpPr>
            <p:cNvPr id="42" name="Rounded Rectangle 41"/>
            <p:cNvSpPr/>
            <p:nvPr/>
          </p:nvSpPr>
          <p:spPr>
            <a:xfrm>
              <a:off x="3601331" y="1066452"/>
              <a:ext cx="1840961" cy="484026"/>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r>
                <a:rPr lang="en-US" sz="2000" dirty="0" err="1">
                  <a:solidFill>
                    <a:schemeClr val="tx1"/>
                  </a:solidFill>
                </a:rPr>
                <a:t>MapReduce</a:t>
              </a:r>
              <a:endParaRPr lang="en-US" sz="2000" dirty="0">
                <a:solidFill>
                  <a:schemeClr val="tx1"/>
                </a:solidFill>
              </a:endParaRPr>
            </a:p>
          </p:txBody>
        </p:sp>
        <p:sp>
          <p:nvSpPr>
            <p:cNvPr id="46" name="Rounded Rectangle 45"/>
            <p:cNvSpPr/>
            <p:nvPr/>
          </p:nvSpPr>
          <p:spPr>
            <a:xfrm>
              <a:off x="2641009" y="1743418"/>
              <a:ext cx="1075285" cy="644131"/>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r>
                <a:rPr lang="en-US" sz="2000" dirty="0">
                  <a:solidFill>
                    <a:schemeClr val="tx1"/>
                  </a:solidFill>
                </a:rPr>
                <a:t>HDFS</a:t>
              </a:r>
            </a:p>
          </p:txBody>
        </p:sp>
      </p:grpSp>
      <p:grpSp>
        <p:nvGrpSpPr>
          <p:cNvPr id="55" name="Group 54"/>
          <p:cNvGrpSpPr/>
          <p:nvPr/>
        </p:nvGrpSpPr>
        <p:grpSpPr>
          <a:xfrm>
            <a:off x="5818483" y="696670"/>
            <a:ext cx="1194558" cy="1078020"/>
            <a:chOff x="5818483" y="696670"/>
            <a:chExt cx="1194558" cy="1078020"/>
          </a:xfrm>
        </p:grpSpPr>
        <p:sp>
          <p:nvSpPr>
            <p:cNvPr id="61" name="TextBox 60"/>
            <p:cNvSpPr txBox="1"/>
            <p:nvPr/>
          </p:nvSpPr>
          <p:spPr>
            <a:xfrm rot="1468153">
              <a:off x="5818483" y="904989"/>
              <a:ext cx="1194558" cy="400110"/>
            </a:xfrm>
            <a:prstGeom prst="rect">
              <a:avLst/>
            </a:prstGeom>
            <a:noFill/>
          </p:spPr>
          <p:txBody>
            <a:bodyPr wrap="none" rtlCol="0">
              <a:spAutoFit/>
            </a:bodyPr>
            <a:lstStyle/>
            <a:p>
              <a:r>
                <a:rPr lang="en-US" sz="2000" dirty="0"/>
                <a:t>Machines</a:t>
              </a:r>
            </a:p>
          </p:txBody>
        </p:sp>
        <p:sp>
          <p:nvSpPr>
            <p:cNvPr id="65" name="Right Brace 64"/>
            <p:cNvSpPr/>
            <p:nvPr/>
          </p:nvSpPr>
          <p:spPr>
            <a:xfrm rot="20147132">
              <a:off x="5849694" y="696670"/>
              <a:ext cx="252919" cy="1078020"/>
            </a:xfrm>
            <a:prstGeom prst="rightBrace">
              <a:avLst>
                <a:gd name="adj1" fmla="val 62329"/>
                <a:gd name="adj2" fmla="val 47314"/>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160"/>
            </a:p>
          </p:txBody>
        </p:sp>
      </p:grpSp>
      <p:sp>
        <p:nvSpPr>
          <p:cNvPr id="85" name="Freeform 84"/>
          <p:cNvSpPr/>
          <p:nvPr/>
        </p:nvSpPr>
        <p:spPr>
          <a:xfrm>
            <a:off x="2003898" y="593389"/>
            <a:ext cx="1334091" cy="2158288"/>
          </a:xfrm>
          <a:custGeom>
            <a:avLst/>
            <a:gdLst>
              <a:gd name="connsiteX0" fmla="*/ 0 w 1206230"/>
              <a:gd name="connsiteY0" fmla="*/ 0 h 2782111"/>
              <a:gd name="connsiteX1" fmla="*/ 0 w 1206230"/>
              <a:gd name="connsiteY1" fmla="*/ 710119 h 2782111"/>
              <a:gd name="connsiteX2" fmla="*/ 573932 w 1206230"/>
              <a:gd name="connsiteY2" fmla="*/ 1206230 h 2782111"/>
              <a:gd name="connsiteX3" fmla="*/ 573932 w 1206230"/>
              <a:gd name="connsiteY3" fmla="*/ 1682885 h 2782111"/>
              <a:gd name="connsiteX4" fmla="*/ 1206230 w 1206230"/>
              <a:gd name="connsiteY4" fmla="*/ 1682885 h 2782111"/>
              <a:gd name="connsiteX5" fmla="*/ 1206230 w 1206230"/>
              <a:gd name="connsiteY5" fmla="*/ 2782111 h 2782111"/>
              <a:gd name="connsiteX0" fmla="*/ 0 w 1206230"/>
              <a:gd name="connsiteY0" fmla="*/ 0 h 2782111"/>
              <a:gd name="connsiteX1" fmla="*/ 0 w 1206230"/>
              <a:gd name="connsiteY1" fmla="*/ 710119 h 2782111"/>
              <a:gd name="connsiteX2" fmla="*/ 573932 w 1206230"/>
              <a:gd name="connsiteY2" fmla="*/ 1206230 h 2782111"/>
              <a:gd name="connsiteX3" fmla="*/ 1206230 w 1206230"/>
              <a:gd name="connsiteY3" fmla="*/ 1682885 h 2782111"/>
              <a:gd name="connsiteX4" fmla="*/ 1206230 w 1206230"/>
              <a:gd name="connsiteY4" fmla="*/ 2782111 h 2782111"/>
              <a:gd name="connsiteX0" fmla="*/ 0 w 1206230"/>
              <a:gd name="connsiteY0" fmla="*/ 0 h 2782111"/>
              <a:gd name="connsiteX1" fmla="*/ 0 w 1206230"/>
              <a:gd name="connsiteY1" fmla="*/ 710119 h 2782111"/>
              <a:gd name="connsiteX2" fmla="*/ 1206230 w 1206230"/>
              <a:gd name="connsiteY2" fmla="*/ 1682885 h 2782111"/>
              <a:gd name="connsiteX3" fmla="*/ 1206230 w 1206230"/>
              <a:gd name="connsiteY3" fmla="*/ 2782111 h 2782111"/>
            </a:gdLst>
            <a:ahLst/>
            <a:cxnLst>
              <a:cxn ang="0">
                <a:pos x="connsiteX0" y="connsiteY0"/>
              </a:cxn>
              <a:cxn ang="0">
                <a:pos x="connsiteX1" y="connsiteY1"/>
              </a:cxn>
              <a:cxn ang="0">
                <a:pos x="connsiteX2" y="connsiteY2"/>
              </a:cxn>
              <a:cxn ang="0">
                <a:pos x="connsiteX3" y="connsiteY3"/>
              </a:cxn>
            </a:cxnLst>
            <a:rect l="l" t="t" r="r" b="b"/>
            <a:pathLst>
              <a:path w="1206230" h="2782111">
                <a:moveTo>
                  <a:pt x="0" y="0"/>
                </a:moveTo>
                <a:lnTo>
                  <a:pt x="0" y="710119"/>
                </a:lnTo>
                <a:lnTo>
                  <a:pt x="1206230" y="1682885"/>
                </a:lnTo>
                <a:lnTo>
                  <a:pt x="1206230" y="2782111"/>
                </a:lnTo>
              </a:path>
            </a:pathLst>
          </a:custGeom>
          <a:noFill/>
          <a:ln w="57150">
            <a:solidFill>
              <a:srgbClr val="70AD47"/>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86" name="Freeform 85"/>
          <p:cNvSpPr/>
          <p:nvPr/>
        </p:nvSpPr>
        <p:spPr>
          <a:xfrm>
            <a:off x="3451101" y="593389"/>
            <a:ext cx="225954" cy="2156477"/>
          </a:xfrm>
          <a:custGeom>
            <a:avLst/>
            <a:gdLst>
              <a:gd name="connsiteX0" fmla="*/ 330740 w 330740"/>
              <a:gd name="connsiteY0" fmla="*/ 0 h 2821022"/>
              <a:gd name="connsiteX1" fmla="*/ 0 w 330740"/>
              <a:gd name="connsiteY1" fmla="*/ 651753 h 2821022"/>
              <a:gd name="connsiteX2" fmla="*/ 0 w 330740"/>
              <a:gd name="connsiteY2" fmla="*/ 2821022 h 2821022"/>
            </a:gdLst>
            <a:ahLst/>
            <a:cxnLst>
              <a:cxn ang="0">
                <a:pos x="connsiteX0" y="connsiteY0"/>
              </a:cxn>
              <a:cxn ang="0">
                <a:pos x="connsiteX1" y="connsiteY1"/>
              </a:cxn>
              <a:cxn ang="0">
                <a:pos x="connsiteX2" y="connsiteY2"/>
              </a:cxn>
            </a:cxnLst>
            <a:rect l="l" t="t" r="r" b="b"/>
            <a:pathLst>
              <a:path w="330740" h="2821022">
                <a:moveTo>
                  <a:pt x="330740" y="0"/>
                </a:moveTo>
                <a:lnTo>
                  <a:pt x="0" y="651753"/>
                </a:lnTo>
                <a:lnTo>
                  <a:pt x="0" y="2821022"/>
                </a:lnTo>
              </a:path>
            </a:pathLst>
          </a:custGeom>
          <a:noFill/>
          <a:ln w="57150">
            <a:solidFill>
              <a:srgbClr val="ED7D3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87" name="Freeform 86"/>
          <p:cNvSpPr/>
          <p:nvPr/>
        </p:nvSpPr>
        <p:spPr>
          <a:xfrm>
            <a:off x="3577771" y="593389"/>
            <a:ext cx="1762714" cy="2156477"/>
          </a:xfrm>
          <a:custGeom>
            <a:avLst/>
            <a:gdLst>
              <a:gd name="connsiteX0" fmla="*/ 1780162 w 1780162"/>
              <a:gd name="connsiteY0" fmla="*/ 0 h 2821022"/>
              <a:gd name="connsiteX1" fmla="*/ 1780162 w 1780162"/>
              <a:gd name="connsiteY1" fmla="*/ 1391056 h 2821022"/>
              <a:gd name="connsiteX2" fmla="*/ 0 w 1780162"/>
              <a:gd name="connsiteY2" fmla="*/ 1391056 h 2821022"/>
              <a:gd name="connsiteX3" fmla="*/ 0 w 1780162"/>
              <a:gd name="connsiteY3" fmla="*/ 2821022 h 2821022"/>
            </a:gdLst>
            <a:ahLst/>
            <a:cxnLst>
              <a:cxn ang="0">
                <a:pos x="connsiteX0" y="connsiteY0"/>
              </a:cxn>
              <a:cxn ang="0">
                <a:pos x="connsiteX1" y="connsiteY1"/>
              </a:cxn>
              <a:cxn ang="0">
                <a:pos x="connsiteX2" y="connsiteY2"/>
              </a:cxn>
              <a:cxn ang="0">
                <a:pos x="connsiteX3" y="connsiteY3"/>
              </a:cxn>
            </a:cxnLst>
            <a:rect l="l" t="t" r="r" b="b"/>
            <a:pathLst>
              <a:path w="1780162" h="2821022">
                <a:moveTo>
                  <a:pt x="1780162" y="0"/>
                </a:moveTo>
                <a:lnTo>
                  <a:pt x="1780162" y="1391056"/>
                </a:lnTo>
                <a:lnTo>
                  <a:pt x="0" y="1391056"/>
                </a:lnTo>
                <a:lnTo>
                  <a:pt x="0" y="2821022"/>
                </a:lnTo>
              </a:path>
            </a:pathLst>
          </a:custGeom>
          <a:noFill/>
          <a:ln w="57150">
            <a:solidFill>
              <a:srgbClr val="4472C4"/>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nvGrpSpPr>
          <p:cNvPr id="2" name="Group 1"/>
          <p:cNvGrpSpPr/>
          <p:nvPr/>
        </p:nvGrpSpPr>
        <p:grpSpPr>
          <a:xfrm>
            <a:off x="89253" y="987617"/>
            <a:ext cx="3569463" cy="1332447"/>
            <a:chOff x="89253" y="987617"/>
            <a:chExt cx="3569463" cy="1332447"/>
          </a:xfrm>
        </p:grpSpPr>
        <p:sp>
          <p:nvSpPr>
            <p:cNvPr id="54" name="Rounded Rectangle 53"/>
            <p:cNvSpPr/>
            <p:nvPr/>
          </p:nvSpPr>
          <p:spPr>
            <a:xfrm>
              <a:off x="3260937" y="2153798"/>
              <a:ext cx="397779" cy="166266"/>
            </a:xfrm>
            <a:prstGeom prst="roundRect">
              <a:avLst/>
            </a:prstGeom>
            <a:solidFill>
              <a:schemeClr val="bg1"/>
            </a:solidFill>
            <a:ln w="381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59" name="Freeform 58"/>
            <p:cNvSpPr/>
            <p:nvPr/>
          </p:nvSpPr>
          <p:spPr>
            <a:xfrm>
              <a:off x="1036855" y="1576379"/>
              <a:ext cx="2183282" cy="486984"/>
            </a:xfrm>
            <a:custGeom>
              <a:avLst/>
              <a:gdLst>
                <a:gd name="connsiteX0" fmla="*/ 0 w 398834"/>
                <a:gd name="connsiteY0" fmla="*/ 2188723 h 2188723"/>
                <a:gd name="connsiteX1" fmla="*/ 398834 w 398834"/>
                <a:gd name="connsiteY1" fmla="*/ 0 h 2188723"/>
                <a:gd name="connsiteX0" fmla="*/ 70658 w 469492"/>
                <a:gd name="connsiteY0" fmla="*/ 2188723 h 2188723"/>
                <a:gd name="connsiteX1" fmla="*/ 469492 w 469492"/>
                <a:gd name="connsiteY1" fmla="*/ 0 h 2188723"/>
                <a:gd name="connsiteX0" fmla="*/ 0 w 1070042"/>
                <a:gd name="connsiteY0" fmla="*/ 2345655 h 2345655"/>
                <a:gd name="connsiteX1" fmla="*/ 1070042 w 1070042"/>
                <a:gd name="connsiteY1" fmla="*/ 0 h 2345655"/>
                <a:gd name="connsiteX0" fmla="*/ 0 w 1070042"/>
                <a:gd name="connsiteY0" fmla="*/ 2345655 h 2345655"/>
                <a:gd name="connsiteX1" fmla="*/ 1070042 w 1070042"/>
                <a:gd name="connsiteY1" fmla="*/ 0 h 2345655"/>
                <a:gd name="connsiteX0" fmla="*/ 0 w 1245140"/>
                <a:gd name="connsiteY0" fmla="*/ 2478443 h 2478443"/>
                <a:gd name="connsiteX1" fmla="*/ 1245140 w 1245140"/>
                <a:gd name="connsiteY1" fmla="*/ 0 h 2478443"/>
                <a:gd name="connsiteX0" fmla="*/ 0 w 1400783"/>
                <a:gd name="connsiteY0" fmla="*/ 2611231 h 2611231"/>
                <a:gd name="connsiteX1" fmla="*/ 1400783 w 1400783"/>
                <a:gd name="connsiteY1" fmla="*/ 0 h 2611231"/>
                <a:gd name="connsiteX0" fmla="*/ 0 w 1361872"/>
                <a:gd name="connsiteY0" fmla="*/ 2514658 h 2514658"/>
                <a:gd name="connsiteX1" fmla="*/ 1361872 w 1361872"/>
                <a:gd name="connsiteY1" fmla="*/ 0 h 2514658"/>
                <a:gd name="connsiteX0" fmla="*/ 0 w 2508747"/>
                <a:gd name="connsiteY0" fmla="*/ 150276 h 1033436"/>
                <a:gd name="connsiteX1" fmla="*/ 2508747 w 2508747"/>
                <a:gd name="connsiteY1" fmla="*/ 875919 h 1033436"/>
                <a:gd name="connsiteX0" fmla="*/ 525 w 2509272"/>
                <a:gd name="connsiteY0" fmla="*/ 0 h 1012937"/>
                <a:gd name="connsiteX1" fmla="*/ 2509272 w 2509272"/>
                <a:gd name="connsiteY1" fmla="*/ 725643 h 1012937"/>
                <a:gd name="connsiteX0" fmla="*/ 524 w 2509271"/>
                <a:gd name="connsiteY0" fmla="*/ 0 h 725643"/>
                <a:gd name="connsiteX1" fmla="*/ 2509271 w 2509271"/>
                <a:gd name="connsiteY1" fmla="*/ 725643 h 725643"/>
                <a:gd name="connsiteX0" fmla="*/ 623 w 2183905"/>
                <a:gd name="connsiteY0" fmla="*/ 0 h 564077"/>
                <a:gd name="connsiteX1" fmla="*/ 2183905 w 2183905"/>
                <a:gd name="connsiteY1" fmla="*/ 564077 h 564077"/>
                <a:gd name="connsiteX0" fmla="*/ 846 w 2184128"/>
                <a:gd name="connsiteY0" fmla="*/ 0 h 564077"/>
                <a:gd name="connsiteX1" fmla="*/ 2184128 w 2184128"/>
                <a:gd name="connsiteY1" fmla="*/ 564077 h 564077"/>
                <a:gd name="connsiteX0" fmla="*/ 0 w 2183282"/>
                <a:gd name="connsiteY0" fmla="*/ 0 h 564077"/>
                <a:gd name="connsiteX1" fmla="*/ 2183282 w 2183282"/>
                <a:gd name="connsiteY1" fmla="*/ 564077 h 564077"/>
              </a:gdLst>
              <a:ahLst/>
              <a:cxnLst>
                <a:cxn ang="0">
                  <a:pos x="connsiteX0" y="connsiteY0"/>
                </a:cxn>
                <a:cxn ang="0">
                  <a:pos x="connsiteX1" y="connsiteY1"/>
                </a:cxn>
              </a:cxnLst>
              <a:rect l="l" t="t" r="r" b="b"/>
              <a:pathLst>
                <a:path w="2183282" h="564077">
                  <a:moveTo>
                    <a:pt x="0" y="0"/>
                  </a:moveTo>
                  <a:cubicBezTo>
                    <a:pt x="326674" y="1137411"/>
                    <a:pt x="1180618" y="-329718"/>
                    <a:pt x="2183282" y="564077"/>
                  </a:cubicBezTo>
                </a:path>
              </a:pathLst>
            </a:custGeom>
            <a:noFill/>
            <a:ln w="38100">
              <a:solidFill>
                <a:schemeClr val="tx1"/>
              </a:solidFill>
              <a:prstDash val="sysDot"/>
              <a:headEnd type="none"/>
              <a:tailEnd type="stealt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60" name="Rounded Rectangle 59"/>
            <p:cNvSpPr/>
            <p:nvPr/>
          </p:nvSpPr>
          <p:spPr>
            <a:xfrm>
              <a:off x="89253" y="987617"/>
              <a:ext cx="1255950" cy="569812"/>
            </a:xfrm>
            <a:prstGeom prst="roundRect">
              <a:avLst/>
            </a:prstGeom>
            <a:solidFill>
              <a:schemeClr val="bg1"/>
            </a:solidFill>
            <a:ln w="381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dirty="0" err="1" smtClean="0">
                  <a:solidFill>
                    <a:schemeClr val="tx1"/>
                  </a:solidFill>
                  <a:latin typeface="Consolas" panose="020B0609020204030204" pitchFamily="49" charset="0"/>
                  <a:cs typeface="Consolas" panose="020B0609020204030204" pitchFamily="49" charset="0"/>
                </a:rPr>
                <a:t>DataNode</a:t>
              </a:r>
              <a:endParaRPr lang="en-US" sz="2000" dirty="0" smtClean="0">
                <a:solidFill>
                  <a:schemeClr val="tx1"/>
                </a:solidFill>
                <a:latin typeface="Consolas" panose="020B0609020204030204" pitchFamily="49" charset="0"/>
                <a:cs typeface="Consolas" panose="020B0609020204030204" pitchFamily="49" charset="0"/>
              </a:endParaRPr>
            </a:p>
            <a:p>
              <a:pPr algn="ctr"/>
              <a:r>
                <a:rPr lang="en-US" sz="2000" dirty="0" smtClean="0">
                  <a:solidFill>
                    <a:schemeClr val="tx1"/>
                  </a:solidFill>
                  <a:latin typeface="Consolas" panose="020B0609020204030204" pitchFamily="49" charset="0"/>
                  <a:cs typeface="Consolas" panose="020B0609020204030204" pitchFamily="49" charset="0"/>
                </a:rPr>
                <a:t>Metrics</a:t>
              </a:r>
              <a:endParaRPr lang="en-US" sz="2000" dirty="0">
                <a:solidFill>
                  <a:schemeClr val="tx1"/>
                </a:solidFill>
                <a:latin typeface="Consolas" panose="020B0609020204030204" pitchFamily="49" charset="0"/>
                <a:cs typeface="Consolas" panose="020B0609020204030204" pitchFamily="49" charset="0"/>
              </a:endParaRPr>
            </a:p>
          </p:txBody>
        </p:sp>
      </p:grpSp>
      <p:sp>
        <p:nvSpPr>
          <p:cNvPr id="75" name="Oval 74"/>
          <p:cNvSpPr/>
          <p:nvPr/>
        </p:nvSpPr>
        <p:spPr>
          <a:xfrm>
            <a:off x="1517528" y="520540"/>
            <a:ext cx="985203" cy="443534"/>
          </a:xfrm>
          <a:prstGeom prst="ellipse">
            <a:avLst/>
          </a:prstGeom>
          <a:noFill/>
          <a:ln w="571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2160"/>
          </a:p>
        </p:txBody>
      </p:sp>
      <p:sp>
        <p:nvSpPr>
          <p:cNvPr id="76" name="Oval 75"/>
          <p:cNvSpPr/>
          <p:nvPr/>
        </p:nvSpPr>
        <p:spPr>
          <a:xfrm>
            <a:off x="3195529" y="520540"/>
            <a:ext cx="985203" cy="443534"/>
          </a:xfrm>
          <a:prstGeom prst="ellipse">
            <a:avLst/>
          </a:prstGeom>
          <a:noFill/>
          <a:ln w="571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2160"/>
          </a:p>
        </p:txBody>
      </p:sp>
      <p:sp>
        <p:nvSpPr>
          <p:cNvPr id="77" name="Oval 76"/>
          <p:cNvSpPr/>
          <p:nvPr/>
        </p:nvSpPr>
        <p:spPr>
          <a:xfrm>
            <a:off x="4873529" y="520540"/>
            <a:ext cx="985203" cy="443534"/>
          </a:xfrm>
          <a:prstGeom prst="ellipse">
            <a:avLst/>
          </a:prstGeom>
          <a:noFill/>
          <a:ln w="571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2160"/>
          </a:p>
        </p:txBody>
      </p:sp>
      <p:grpSp>
        <p:nvGrpSpPr>
          <p:cNvPr id="83" name="Group 82"/>
          <p:cNvGrpSpPr/>
          <p:nvPr/>
        </p:nvGrpSpPr>
        <p:grpSpPr>
          <a:xfrm>
            <a:off x="4486577" y="2642212"/>
            <a:ext cx="3736038" cy="3252317"/>
            <a:chOff x="2155601" y="1578475"/>
            <a:chExt cx="3736038" cy="3252317"/>
          </a:xfrm>
        </p:grpSpPr>
        <p:sp>
          <p:nvSpPr>
            <p:cNvPr id="84" name="Rectangle 83"/>
            <p:cNvSpPr/>
            <p:nvPr/>
          </p:nvSpPr>
          <p:spPr>
            <a:xfrm>
              <a:off x="2155601" y="1578475"/>
              <a:ext cx="3736038" cy="325231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8" name="Group 87"/>
            <p:cNvGrpSpPr/>
            <p:nvPr/>
          </p:nvGrpSpPr>
          <p:grpSpPr>
            <a:xfrm>
              <a:off x="2170841" y="1585685"/>
              <a:ext cx="3686167" cy="3211478"/>
              <a:chOff x="1164801" y="2515146"/>
              <a:chExt cx="3686167" cy="3211478"/>
            </a:xfrm>
          </p:grpSpPr>
          <p:pic>
            <p:nvPicPr>
              <p:cNvPr id="89" name="Picture 88" descr="fig1.pdf"/>
              <p:cNvPicPr>
                <a:picLocks noChangeAspect="1"/>
              </p:cNvPicPr>
              <p:nvPr/>
            </p:nvPicPr>
            <p:blipFill rotWithShape="1">
              <a:blip r:embed="rId3">
                <a:extLst>
                  <a:ext uri="{28A0092B-C50C-407E-A947-70E740481C1C}">
                    <a14:useLocalDpi xmlns:a14="http://schemas.microsoft.com/office/drawing/2010/main" val="0"/>
                  </a:ext>
                </a:extLst>
              </a:blip>
              <a:srcRect r="80877" b="13113"/>
              <a:stretch/>
            </p:blipFill>
            <p:spPr>
              <a:xfrm>
                <a:off x="1164801" y="2515146"/>
                <a:ext cx="708449" cy="2793023"/>
              </a:xfrm>
              <a:prstGeom prst="rect">
                <a:avLst/>
              </a:prstGeom>
              <a:ln>
                <a:noFill/>
              </a:ln>
            </p:spPr>
            <p:style>
              <a:lnRef idx="2">
                <a:schemeClr val="dk1"/>
              </a:lnRef>
              <a:fillRef idx="1">
                <a:schemeClr val="lt1"/>
              </a:fillRef>
              <a:effectRef idx="0">
                <a:schemeClr val="dk1"/>
              </a:effectRef>
              <a:fontRef idx="minor">
                <a:schemeClr val="dk1"/>
              </a:fontRef>
            </p:style>
          </p:pic>
          <p:pic>
            <p:nvPicPr>
              <p:cNvPr id="93" name="Picture 92" descr="fig1.pdf"/>
              <p:cNvPicPr>
                <a:picLocks noChangeAspect="1"/>
              </p:cNvPicPr>
              <p:nvPr/>
            </p:nvPicPr>
            <p:blipFill rotWithShape="1">
              <a:blip r:embed="rId3">
                <a:extLst>
                  <a:ext uri="{28A0092B-C50C-407E-A947-70E740481C1C}">
                    <a14:useLocalDpi xmlns:a14="http://schemas.microsoft.com/office/drawing/2010/main" val="0"/>
                  </a:ext>
                </a:extLst>
              </a:blip>
              <a:srcRect l="16879" t="84233" r="495" b="96"/>
              <a:stretch/>
            </p:blipFill>
            <p:spPr>
              <a:xfrm>
                <a:off x="1790054" y="5222875"/>
                <a:ext cx="3060914" cy="503749"/>
              </a:xfrm>
              <a:prstGeom prst="rect">
                <a:avLst/>
              </a:prstGeom>
              <a:ln>
                <a:noFill/>
              </a:ln>
            </p:spPr>
            <p:style>
              <a:lnRef idx="2">
                <a:schemeClr val="dk1"/>
              </a:lnRef>
              <a:fillRef idx="1">
                <a:schemeClr val="lt1"/>
              </a:fillRef>
              <a:effectRef idx="0">
                <a:schemeClr val="dk1"/>
              </a:effectRef>
              <a:fontRef idx="minor">
                <a:schemeClr val="dk1"/>
              </a:fontRef>
            </p:style>
          </p:pic>
        </p:grpSp>
      </p:grpSp>
      <p:pic>
        <p:nvPicPr>
          <p:cNvPr id="95" name="Picture 94"/>
          <p:cNvPicPr>
            <a:picLocks noChangeAspect="1"/>
          </p:cNvPicPr>
          <p:nvPr/>
        </p:nvPicPr>
        <p:blipFill rotWithShape="1">
          <a:blip r:embed="rId4">
            <a:extLst>
              <a:ext uri="{28A0092B-C50C-407E-A947-70E740481C1C}">
                <a14:useLocalDpi xmlns:a14="http://schemas.microsoft.com/office/drawing/2010/main" val="0"/>
              </a:ext>
            </a:extLst>
          </a:blip>
          <a:srcRect l="19193" t="30470" r="3936" b="15300"/>
          <a:stretch/>
        </p:blipFill>
        <p:spPr>
          <a:xfrm>
            <a:off x="5210266" y="3601877"/>
            <a:ext cx="2867191" cy="1751669"/>
          </a:xfrm>
          <a:prstGeom prst="rect">
            <a:avLst/>
          </a:prstGeom>
          <a:ln>
            <a:noFill/>
          </a:ln>
        </p:spPr>
        <p:style>
          <a:lnRef idx="2">
            <a:schemeClr val="dk1"/>
          </a:lnRef>
          <a:fillRef idx="1">
            <a:schemeClr val="lt1"/>
          </a:fillRef>
          <a:effectRef idx="0">
            <a:schemeClr val="dk1"/>
          </a:effectRef>
          <a:fontRef idx="minor">
            <a:schemeClr val="dk1"/>
          </a:fontRef>
        </p:style>
      </p:pic>
      <p:pic>
        <p:nvPicPr>
          <p:cNvPr id="94" name="Picture 93"/>
          <p:cNvPicPr>
            <a:picLocks noChangeAspect="1"/>
          </p:cNvPicPr>
          <p:nvPr/>
        </p:nvPicPr>
        <p:blipFill rotWithShape="1">
          <a:blip r:embed="rId5">
            <a:extLst>
              <a:ext uri="{28A0092B-C50C-407E-A947-70E740481C1C}">
                <a14:useLocalDpi xmlns:a14="http://schemas.microsoft.com/office/drawing/2010/main" val="0"/>
              </a:ext>
            </a:extLst>
          </a:blip>
          <a:srcRect l="19414" t="29041" r="3530" b="15415"/>
          <a:stretch/>
        </p:blipFill>
        <p:spPr>
          <a:xfrm>
            <a:off x="5210266" y="3561778"/>
            <a:ext cx="2870312" cy="1791768"/>
          </a:xfrm>
          <a:prstGeom prst="rect">
            <a:avLst/>
          </a:prstGeom>
          <a:ln>
            <a:noFill/>
          </a:ln>
        </p:spPr>
        <p:style>
          <a:lnRef idx="2">
            <a:schemeClr val="dk1"/>
          </a:lnRef>
          <a:fillRef idx="1">
            <a:schemeClr val="lt1"/>
          </a:fillRef>
          <a:effectRef idx="0">
            <a:schemeClr val="dk1"/>
          </a:effectRef>
          <a:fontRef idx="minor">
            <a:schemeClr val="dk1"/>
          </a:fontRef>
        </p:style>
      </p:pic>
      <p:pic>
        <p:nvPicPr>
          <p:cNvPr id="101" name="Picture 100"/>
          <p:cNvPicPr>
            <a:picLocks noChangeAspect="1"/>
          </p:cNvPicPr>
          <p:nvPr/>
        </p:nvPicPr>
        <p:blipFill rotWithShape="1">
          <a:blip r:embed="rId5">
            <a:extLst>
              <a:ext uri="{28A0092B-C50C-407E-A947-70E740481C1C}">
                <a14:useLocalDpi xmlns:a14="http://schemas.microsoft.com/office/drawing/2010/main" val="0"/>
              </a:ext>
            </a:extLst>
          </a:blip>
          <a:srcRect l="23220" t="-501" r="8434" b="73295"/>
          <a:stretch/>
        </p:blipFill>
        <p:spPr>
          <a:xfrm>
            <a:off x="5356464" y="2723868"/>
            <a:ext cx="2719952" cy="937648"/>
          </a:xfrm>
          <a:prstGeom prst="rect">
            <a:avLst/>
          </a:prstGeom>
          <a:ln>
            <a:noFill/>
          </a:ln>
        </p:spPr>
        <p:style>
          <a:lnRef idx="2">
            <a:schemeClr val="dk1"/>
          </a:lnRef>
          <a:fillRef idx="1">
            <a:schemeClr val="lt1"/>
          </a:fillRef>
          <a:effectRef idx="0">
            <a:schemeClr val="dk1"/>
          </a:effectRef>
          <a:fontRef idx="minor">
            <a:schemeClr val="dk1"/>
          </a:fontRef>
        </p:style>
      </p:pic>
      <p:pic>
        <p:nvPicPr>
          <p:cNvPr id="102" name="Picture 101"/>
          <p:cNvPicPr>
            <a:picLocks noChangeAspect="1"/>
          </p:cNvPicPr>
          <p:nvPr/>
        </p:nvPicPr>
        <p:blipFill rotWithShape="1">
          <a:blip r:embed="rId4">
            <a:extLst>
              <a:ext uri="{28A0092B-C50C-407E-A947-70E740481C1C}">
                <a14:useLocalDpi xmlns:a14="http://schemas.microsoft.com/office/drawing/2010/main" val="0"/>
              </a:ext>
            </a:extLst>
          </a:blip>
          <a:srcRect l="23717" r="39585" b="74638"/>
          <a:stretch/>
        </p:blipFill>
        <p:spPr>
          <a:xfrm>
            <a:off x="6034450" y="2784537"/>
            <a:ext cx="1363981" cy="816310"/>
          </a:xfrm>
          <a:prstGeom prst="rect">
            <a:avLst/>
          </a:prstGeom>
          <a:ln>
            <a:noFill/>
          </a:ln>
        </p:spPr>
        <p:style>
          <a:lnRef idx="2">
            <a:schemeClr val="dk1"/>
          </a:lnRef>
          <a:fillRef idx="1">
            <a:schemeClr val="lt1"/>
          </a:fillRef>
          <a:effectRef idx="0">
            <a:schemeClr val="dk1"/>
          </a:effectRef>
          <a:fontRef idx="minor">
            <a:schemeClr val="dk1"/>
          </a:fontRef>
        </p:style>
      </p:pic>
      <p:sp>
        <p:nvSpPr>
          <p:cNvPr id="103" name="Oval 102"/>
          <p:cNvSpPr/>
          <p:nvPr/>
        </p:nvSpPr>
        <p:spPr>
          <a:xfrm>
            <a:off x="2856202" y="1493694"/>
            <a:ext cx="1143993" cy="408275"/>
          </a:xfrm>
          <a:prstGeom prst="ellipse">
            <a:avLst/>
          </a:prstGeom>
          <a:noFill/>
          <a:ln w="571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2160"/>
          </a:p>
        </p:txBody>
      </p:sp>
      <p:sp>
        <p:nvSpPr>
          <p:cNvPr id="3" name="Slide Number Placeholder 2"/>
          <p:cNvSpPr>
            <a:spLocks noGrp="1"/>
          </p:cNvSpPr>
          <p:nvPr>
            <p:ph type="sldNum" sz="quarter" idx="12"/>
          </p:nvPr>
        </p:nvSpPr>
        <p:spPr/>
        <p:txBody>
          <a:bodyPr/>
          <a:lstStyle/>
          <a:p>
            <a:fld id="{D431E30F-8439-471B-9257-EDD8E85CDBC8}" type="slidenum">
              <a:rPr lang="en-US" smtClean="0"/>
              <a:t>7</a:t>
            </a:fld>
            <a:endParaRPr lang="en-US"/>
          </a:p>
        </p:txBody>
      </p:sp>
    </p:spTree>
    <p:extLst>
      <p:ext uri="{BB962C8B-B14F-4D97-AF65-F5344CB8AC3E}">
        <p14:creationId xmlns:p14="http://schemas.microsoft.com/office/powerpoint/2010/main" val="1887742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xit" presetSubtype="1" fill="hold" grpId="1" nodeType="withEffect">
                                  <p:stCondLst>
                                    <p:cond delay="0"/>
                                  </p:stCondLst>
                                  <p:childTnLst>
                                    <p:animEffect transition="out" filter="wheel(1)">
                                      <p:cBhvr>
                                        <p:cTn id="6" dur="1000"/>
                                        <p:tgtEl>
                                          <p:spTgt spid="103"/>
                                        </p:tgtEl>
                                      </p:cBhvr>
                                    </p:animEffect>
                                    <p:set>
                                      <p:cBhvr>
                                        <p:cTn id="7" dur="1" fill="hold">
                                          <p:stCondLst>
                                            <p:cond delay="999"/>
                                          </p:stCondLst>
                                        </p:cTn>
                                        <p:tgtEl>
                                          <p:spTgt spid="103"/>
                                        </p:tgtEl>
                                        <p:attrNameLst>
                                          <p:attrName>style.visibility</p:attrName>
                                        </p:attrNameLst>
                                      </p:cBhvr>
                                      <p:to>
                                        <p:strVal val="hidden"/>
                                      </p:to>
                                    </p:set>
                                  </p:childTnLst>
                                </p:cTn>
                              </p:par>
                            </p:childTnLst>
                          </p:cTn>
                        </p:par>
                        <p:par>
                          <p:cTn id="8" fill="hold">
                            <p:stCondLst>
                              <p:cond delay="1000"/>
                            </p:stCondLst>
                            <p:childTnLst>
                              <p:par>
                                <p:cTn id="9" presetID="21" presetClass="entr" presetSubtype="1" fill="hold" grpId="0" nodeType="afterEffect">
                                  <p:stCondLst>
                                    <p:cond delay="0"/>
                                  </p:stCondLst>
                                  <p:childTnLst>
                                    <p:set>
                                      <p:cBhvr>
                                        <p:cTn id="10" dur="1" fill="hold">
                                          <p:stCondLst>
                                            <p:cond delay="0"/>
                                          </p:stCondLst>
                                        </p:cTn>
                                        <p:tgtEl>
                                          <p:spTgt spid="75"/>
                                        </p:tgtEl>
                                        <p:attrNameLst>
                                          <p:attrName>style.visibility</p:attrName>
                                        </p:attrNameLst>
                                      </p:cBhvr>
                                      <p:to>
                                        <p:strVal val="visible"/>
                                      </p:to>
                                    </p:set>
                                    <p:animEffect transition="in" filter="wheel(1)">
                                      <p:cBhvr>
                                        <p:cTn id="11" dur="750"/>
                                        <p:tgtEl>
                                          <p:spTgt spid="75"/>
                                        </p:tgtEl>
                                      </p:cBhvr>
                                    </p:animEffect>
                                  </p:childTnLst>
                                </p:cTn>
                              </p:par>
                              <p:par>
                                <p:cTn id="12" presetID="21" presetClass="entr" presetSubtype="1" fill="hold" grpId="0" nodeType="withEffect">
                                  <p:stCondLst>
                                    <p:cond delay="500"/>
                                  </p:stCondLst>
                                  <p:childTnLst>
                                    <p:set>
                                      <p:cBhvr>
                                        <p:cTn id="13" dur="1" fill="hold">
                                          <p:stCondLst>
                                            <p:cond delay="0"/>
                                          </p:stCondLst>
                                        </p:cTn>
                                        <p:tgtEl>
                                          <p:spTgt spid="76"/>
                                        </p:tgtEl>
                                        <p:attrNameLst>
                                          <p:attrName>style.visibility</p:attrName>
                                        </p:attrNameLst>
                                      </p:cBhvr>
                                      <p:to>
                                        <p:strVal val="visible"/>
                                      </p:to>
                                    </p:set>
                                    <p:animEffect transition="in" filter="wheel(1)">
                                      <p:cBhvr>
                                        <p:cTn id="14" dur="750"/>
                                        <p:tgtEl>
                                          <p:spTgt spid="76"/>
                                        </p:tgtEl>
                                      </p:cBhvr>
                                    </p:animEffect>
                                  </p:childTnLst>
                                </p:cTn>
                              </p:par>
                              <p:par>
                                <p:cTn id="15" presetID="21" presetClass="entr" presetSubtype="1" fill="hold" grpId="0" nodeType="withEffect">
                                  <p:stCondLst>
                                    <p:cond delay="1000"/>
                                  </p:stCondLst>
                                  <p:childTnLst>
                                    <p:set>
                                      <p:cBhvr>
                                        <p:cTn id="16" dur="1" fill="hold">
                                          <p:stCondLst>
                                            <p:cond delay="0"/>
                                          </p:stCondLst>
                                        </p:cTn>
                                        <p:tgtEl>
                                          <p:spTgt spid="77"/>
                                        </p:tgtEl>
                                        <p:attrNameLst>
                                          <p:attrName>style.visibility</p:attrName>
                                        </p:attrNameLst>
                                      </p:cBhvr>
                                      <p:to>
                                        <p:strVal val="visible"/>
                                      </p:to>
                                    </p:set>
                                    <p:animEffect transition="in" filter="wheel(1)">
                                      <p:cBhvr>
                                        <p:cTn id="17" dur="750"/>
                                        <p:tgtEl>
                                          <p:spTgt spid="7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nodeType="clickEffect">
                                  <p:stCondLst>
                                    <p:cond delay="0"/>
                                  </p:stCondLst>
                                  <p:childTnLst>
                                    <p:animEffect transition="out" filter="fade">
                                      <p:cBhvr>
                                        <p:cTn id="21" dur="500"/>
                                        <p:tgtEl>
                                          <p:spTgt spid="102"/>
                                        </p:tgtEl>
                                      </p:cBhvr>
                                    </p:animEffect>
                                    <p:set>
                                      <p:cBhvr>
                                        <p:cTn id="22" dur="1" fill="hold">
                                          <p:stCondLst>
                                            <p:cond delay="499"/>
                                          </p:stCondLst>
                                        </p:cTn>
                                        <p:tgtEl>
                                          <p:spTgt spid="102"/>
                                        </p:tgtEl>
                                        <p:attrNameLst>
                                          <p:attrName>style.visibility</p:attrName>
                                        </p:attrNameLst>
                                      </p:cBhvr>
                                      <p:to>
                                        <p:strVal val="hidden"/>
                                      </p:to>
                                    </p:set>
                                  </p:childTnLst>
                                </p:cTn>
                              </p:par>
                            </p:childTnLst>
                          </p:cTn>
                        </p:par>
                        <p:par>
                          <p:cTn id="23" fill="hold">
                            <p:stCondLst>
                              <p:cond delay="500"/>
                            </p:stCondLst>
                            <p:childTnLst>
                              <p:par>
                                <p:cTn id="24" presetID="10" presetClass="entr" presetSubtype="0" fill="hold" nodeType="afterEffect">
                                  <p:stCondLst>
                                    <p:cond delay="250"/>
                                  </p:stCondLst>
                                  <p:childTnLst>
                                    <p:set>
                                      <p:cBhvr>
                                        <p:cTn id="25" dur="1" fill="hold">
                                          <p:stCondLst>
                                            <p:cond delay="0"/>
                                          </p:stCondLst>
                                        </p:cTn>
                                        <p:tgtEl>
                                          <p:spTgt spid="101"/>
                                        </p:tgtEl>
                                        <p:attrNameLst>
                                          <p:attrName>style.visibility</p:attrName>
                                        </p:attrNameLst>
                                      </p:cBhvr>
                                      <p:to>
                                        <p:strVal val="visible"/>
                                      </p:to>
                                    </p:set>
                                    <p:animEffect transition="in" filter="fade">
                                      <p:cBhvr>
                                        <p:cTn id="26" dur="500"/>
                                        <p:tgtEl>
                                          <p:spTgt spid="101"/>
                                        </p:tgtEl>
                                      </p:cBhvr>
                                    </p:animEffect>
                                  </p:childTnLst>
                                </p:cTn>
                              </p:par>
                            </p:childTnLst>
                          </p:cTn>
                        </p:par>
                        <p:par>
                          <p:cTn id="27" fill="hold">
                            <p:stCondLst>
                              <p:cond delay="1250"/>
                            </p:stCondLst>
                            <p:childTnLst>
                              <p:par>
                                <p:cTn id="28" presetID="22" presetClass="entr" presetSubtype="8" fill="hold" nodeType="afterEffect">
                                  <p:stCondLst>
                                    <p:cond delay="250"/>
                                  </p:stCondLst>
                                  <p:childTnLst>
                                    <p:set>
                                      <p:cBhvr>
                                        <p:cTn id="29" dur="1" fill="hold">
                                          <p:stCondLst>
                                            <p:cond delay="0"/>
                                          </p:stCondLst>
                                        </p:cTn>
                                        <p:tgtEl>
                                          <p:spTgt spid="94"/>
                                        </p:tgtEl>
                                        <p:attrNameLst>
                                          <p:attrName>style.visibility</p:attrName>
                                        </p:attrNameLst>
                                      </p:cBhvr>
                                      <p:to>
                                        <p:strVal val="visible"/>
                                      </p:to>
                                    </p:set>
                                    <p:animEffect transition="in" filter="wipe(left)">
                                      <p:cBhvr>
                                        <p:cTn id="30" dur="15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animBg="1"/>
      <p:bldP spid="76" grpId="0" animBg="1"/>
      <p:bldP spid="77" grpId="0" animBg="1"/>
      <p:bldP spid="103"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8" name="Group 67"/>
          <p:cNvGrpSpPr/>
          <p:nvPr/>
        </p:nvGrpSpPr>
        <p:grpSpPr>
          <a:xfrm>
            <a:off x="4940648" y="232518"/>
            <a:ext cx="1842486" cy="463053"/>
            <a:chOff x="4940648" y="232518"/>
            <a:chExt cx="1842486" cy="463053"/>
          </a:xfrm>
        </p:grpSpPr>
        <p:sp>
          <p:nvSpPr>
            <p:cNvPr id="69" name="Rounded Rectangle 68"/>
            <p:cNvSpPr/>
            <p:nvPr/>
          </p:nvSpPr>
          <p:spPr>
            <a:xfrm>
              <a:off x="4940648" y="324227"/>
              <a:ext cx="921528" cy="371344"/>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endParaRPr lang="en-US" sz="2000"/>
            </a:p>
          </p:txBody>
        </p:sp>
        <p:sp>
          <p:nvSpPr>
            <p:cNvPr id="70" name="Rounded Rectangular Callout 69"/>
            <p:cNvSpPr/>
            <p:nvPr/>
          </p:nvSpPr>
          <p:spPr>
            <a:xfrm>
              <a:off x="5671091" y="232518"/>
              <a:ext cx="1112043" cy="254741"/>
            </a:xfrm>
            <a:prstGeom prst="wedgeRoundRectCallout">
              <a:avLst>
                <a:gd name="adj1" fmla="val -62990"/>
                <a:gd name="adj2" fmla="val 5220"/>
                <a:gd name="adj3" fmla="val 16667"/>
              </a:avLst>
            </a:prstGeom>
            <a:solidFill>
              <a:schemeClr val="bg1"/>
            </a:solidFill>
            <a:ln w="28575">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r"/>
              <a:r>
                <a:rPr lang="en-US" sz="1400" dirty="0" smtClean="0">
                  <a:solidFill>
                    <a:schemeClr val="accent5">
                      <a:lumMod val="50000"/>
                    </a:schemeClr>
                  </a:solidFill>
                  <a:latin typeface="Times New Roman" panose="02020603050405020304" pitchFamily="18" charset="0"/>
                  <a:cs typeface="Times New Roman" panose="02020603050405020304" pitchFamily="18" charset="0"/>
                </a:rPr>
                <a:t>MRS</a:t>
              </a:r>
              <a:r>
                <a:rPr lang="en-US" sz="1200" dirty="0" smtClean="0">
                  <a:solidFill>
                    <a:schemeClr val="accent5">
                      <a:lumMod val="50000"/>
                    </a:schemeClr>
                  </a:solidFill>
                  <a:latin typeface="Times New Roman" panose="02020603050405020304" pitchFamily="18" charset="0"/>
                  <a:cs typeface="Times New Roman" panose="02020603050405020304" pitchFamily="18" charset="0"/>
                </a:rPr>
                <a:t>ORT</a:t>
              </a:r>
              <a:r>
                <a:rPr lang="en-US" sz="1400" dirty="0" smtClean="0">
                  <a:solidFill>
                    <a:schemeClr val="accent5">
                      <a:lumMod val="50000"/>
                    </a:schemeClr>
                  </a:solidFill>
                  <a:latin typeface="Times New Roman" panose="02020603050405020304" pitchFamily="18" charset="0"/>
                  <a:cs typeface="Times New Roman" panose="02020603050405020304" pitchFamily="18" charset="0"/>
                </a:rPr>
                <a:t>10</a:t>
              </a:r>
              <a:r>
                <a:rPr lang="en-US" sz="1200" dirty="0" smtClean="0">
                  <a:solidFill>
                    <a:schemeClr val="accent5">
                      <a:lumMod val="50000"/>
                    </a:schemeClr>
                  </a:solidFill>
                  <a:latin typeface="Times New Roman" panose="02020603050405020304" pitchFamily="18" charset="0"/>
                  <a:cs typeface="Times New Roman" panose="02020603050405020304" pitchFamily="18" charset="0"/>
                </a:rPr>
                <a:t>G</a:t>
              </a:r>
              <a:endParaRPr lang="en-US" sz="1400" dirty="0">
                <a:solidFill>
                  <a:schemeClr val="accent5">
                    <a:lumMod val="50000"/>
                  </a:schemeClr>
                </a:solidFill>
                <a:latin typeface="Times New Roman" panose="02020603050405020304" pitchFamily="18" charset="0"/>
                <a:cs typeface="Times New Roman" panose="02020603050405020304" pitchFamily="18" charset="0"/>
              </a:endParaRPr>
            </a:p>
          </p:txBody>
        </p:sp>
      </p:grpSp>
      <p:grpSp>
        <p:nvGrpSpPr>
          <p:cNvPr id="71" name="Group 70"/>
          <p:cNvGrpSpPr/>
          <p:nvPr/>
        </p:nvGrpSpPr>
        <p:grpSpPr>
          <a:xfrm>
            <a:off x="4856344" y="24598"/>
            <a:ext cx="1980291" cy="610402"/>
            <a:chOff x="4856344" y="24598"/>
            <a:chExt cx="1980291" cy="610402"/>
          </a:xfrm>
        </p:grpSpPr>
        <p:sp>
          <p:nvSpPr>
            <p:cNvPr id="78" name="Rounded Rectangle 77"/>
            <p:cNvSpPr/>
            <p:nvPr/>
          </p:nvSpPr>
          <p:spPr>
            <a:xfrm>
              <a:off x="4856344" y="263656"/>
              <a:ext cx="921528" cy="371344"/>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endParaRPr lang="en-US" sz="2000"/>
            </a:p>
          </p:txBody>
        </p:sp>
        <p:sp>
          <p:nvSpPr>
            <p:cNvPr id="80" name="Freeform 79"/>
            <p:cNvSpPr/>
            <p:nvPr/>
          </p:nvSpPr>
          <p:spPr>
            <a:xfrm>
              <a:off x="5155377" y="111478"/>
              <a:ext cx="323462" cy="37800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81" name="Rounded Rectangular Callout 80"/>
            <p:cNvSpPr/>
            <p:nvPr/>
          </p:nvSpPr>
          <p:spPr>
            <a:xfrm>
              <a:off x="5580342" y="24598"/>
              <a:ext cx="1256293" cy="254741"/>
            </a:xfrm>
            <a:prstGeom prst="wedgeRoundRectCallout">
              <a:avLst>
                <a:gd name="adj1" fmla="val -62990"/>
                <a:gd name="adj2" fmla="val 5220"/>
                <a:gd name="adj3" fmla="val 16667"/>
              </a:avLst>
            </a:prstGeom>
            <a:solidFill>
              <a:schemeClr val="bg1"/>
            </a:solidFill>
            <a:ln w="28575">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dirty="0" smtClean="0">
                  <a:solidFill>
                    <a:schemeClr val="accent5">
                      <a:lumMod val="50000"/>
                    </a:schemeClr>
                  </a:solidFill>
                  <a:latin typeface="Times New Roman" panose="02020603050405020304" pitchFamily="18" charset="0"/>
                  <a:cs typeface="Times New Roman" panose="02020603050405020304" pitchFamily="18" charset="0"/>
                </a:rPr>
                <a:t>MRS</a:t>
              </a:r>
              <a:r>
                <a:rPr lang="en-US" sz="1400" dirty="0" smtClean="0">
                  <a:solidFill>
                    <a:schemeClr val="accent5">
                      <a:lumMod val="50000"/>
                    </a:schemeClr>
                  </a:solidFill>
                  <a:latin typeface="Times New Roman" panose="02020603050405020304" pitchFamily="18" charset="0"/>
                  <a:cs typeface="Times New Roman" panose="02020603050405020304" pitchFamily="18" charset="0"/>
                </a:rPr>
                <a:t>ORT</a:t>
              </a:r>
              <a:r>
                <a:rPr lang="en-US" sz="1600" dirty="0" smtClean="0">
                  <a:solidFill>
                    <a:schemeClr val="accent5">
                      <a:lumMod val="50000"/>
                    </a:schemeClr>
                  </a:solidFill>
                  <a:latin typeface="Times New Roman" panose="02020603050405020304" pitchFamily="18" charset="0"/>
                  <a:cs typeface="Times New Roman" panose="02020603050405020304" pitchFamily="18" charset="0"/>
                </a:rPr>
                <a:t>100</a:t>
              </a:r>
              <a:r>
                <a:rPr lang="en-US" sz="1400" dirty="0" smtClean="0">
                  <a:solidFill>
                    <a:schemeClr val="accent5">
                      <a:lumMod val="50000"/>
                    </a:schemeClr>
                  </a:solidFill>
                  <a:latin typeface="Times New Roman" panose="02020603050405020304" pitchFamily="18" charset="0"/>
                  <a:cs typeface="Times New Roman" panose="02020603050405020304" pitchFamily="18" charset="0"/>
                </a:rPr>
                <a:t>G</a:t>
              </a:r>
              <a:endParaRPr lang="en-US" sz="1600" dirty="0">
                <a:solidFill>
                  <a:schemeClr val="accent5">
                    <a:lumMod val="50000"/>
                  </a:schemeClr>
                </a:solidFill>
                <a:latin typeface="Times New Roman" panose="02020603050405020304" pitchFamily="18" charset="0"/>
                <a:cs typeface="Times New Roman" panose="02020603050405020304" pitchFamily="18" charset="0"/>
              </a:endParaRPr>
            </a:p>
          </p:txBody>
        </p:sp>
      </p:grpSp>
      <p:grpSp>
        <p:nvGrpSpPr>
          <p:cNvPr id="82" name="Group 81"/>
          <p:cNvGrpSpPr/>
          <p:nvPr/>
        </p:nvGrpSpPr>
        <p:grpSpPr>
          <a:xfrm>
            <a:off x="3281695" y="206882"/>
            <a:ext cx="1744358" cy="488689"/>
            <a:chOff x="3281695" y="206882"/>
            <a:chExt cx="1744358" cy="488689"/>
          </a:xfrm>
        </p:grpSpPr>
        <p:sp>
          <p:nvSpPr>
            <p:cNvPr id="99" name="Rounded Rectangle 98"/>
            <p:cNvSpPr/>
            <p:nvPr/>
          </p:nvSpPr>
          <p:spPr>
            <a:xfrm>
              <a:off x="3281695" y="324227"/>
              <a:ext cx="921528" cy="371344"/>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endParaRPr lang="en-US" sz="2000"/>
            </a:p>
          </p:txBody>
        </p:sp>
        <p:sp>
          <p:nvSpPr>
            <p:cNvPr id="102" name="Rounded Rectangular Callout 101"/>
            <p:cNvSpPr/>
            <p:nvPr/>
          </p:nvSpPr>
          <p:spPr>
            <a:xfrm>
              <a:off x="4084908" y="206882"/>
              <a:ext cx="941145" cy="254741"/>
            </a:xfrm>
            <a:prstGeom prst="wedgeRoundRectCallout">
              <a:avLst>
                <a:gd name="adj1" fmla="val -62990"/>
                <a:gd name="adj2" fmla="val 5220"/>
                <a:gd name="adj3" fmla="val 16667"/>
              </a:avLst>
            </a:prstGeom>
            <a:solidFill>
              <a:schemeClr val="bg1"/>
            </a:solidFill>
            <a:ln w="28575">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ctr"/>
              <a:r>
                <a:rPr lang="en-US" sz="1600" smtClean="0">
                  <a:solidFill>
                    <a:schemeClr val="accent2">
                      <a:lumMod val="50000"/>
                    </a:schemeClr>
                  </a:solidFill>
                  <a:latin typeface="Times New Roman" panose="02020603050405020304" pitchFamily="18" charset="0"/>
                  <a:cs typeface="Times New Roman" panose="02020603050405020304" pitchFamily="18" charset="0"/>
                </a:rPr>
                <a:t>FS</a:t>
              </a:r>
              <a:r>
                <a:rPr lang="en-US" sz="1200" smtClean="0">
                  <a:solidFill>
                    <a:schemeClr val="accent2">
                      <a:lumMod val="50000"/>
                    </a:schemeClr>
                  </a:solidFill>
                  <a:latin typeface="Times New Roman" panose="02020603050405020304" pitchFamily="18" charset="0"/>
                  <a:cs typeface="Times New Roman" panose="02020603050405020304" pitchFamily="18" charset="0"/>
                </a:rPr>
                <a:t>READ</a:t>
              </a:r>
              <a:r>
                <a:rPr lang="en-US" sz="1600" smtClean="0">
                  <a:solidFill>
                    <a:schemeClr val="accent2">
                      <a:lumMod val="50000"/>
                    </a:schemeClr>
                  </a:solidFill>
                  <a:latin typeface="Times New Roman" panose="02020603050405020304" pitchFamily="18" charset="0"/>
                  <a:cs typeface="Times New Roman" panose="02020603050405020304" pitchFamily="18" charset="0"/>
                </a:rPr>
                <a:t>4</a:t>
              </a:r>
              <a:r>
                <a:rPr lang="en-US" sz="1200" smtClean="0">
                  <a:solidFill>
                    <a:schemeClr val="accent2">
                      <a:lumMod val="50000"/>
                    </a:schemeClr>
                  </a:solidFill>
                  <a:latin typeface="Times New Roman" panose="02020603050405020304" pitchFamily="18" charset="0"/>
                  <a:cs typeface="Times New Roman" panose="02020603050405020304" pitchFamily="18" charset="0"/>
                </a:rPr>
                <a:t>M</a:t>
              </a:r>
              <a:endParaRPr lang="en-US" sz="1600" dirty="0">
                <a:solidFill>
                  <a:schemeClr val="accent2">
                    <a:lumMod val="50000"/>
                  </a:schemeClr>
                </a:solidFill>
                <a:latin typeface="Times New Roman" panose="02020603050405020304" pitchFamily="18" charset="0"/>
                <a:cs typeface="Times New Roman" panose="02020603050405020304" pitchFamily="18" charset="0"/>
              </a:endParaRPr>
            </a:p>
          </p:txBody>
        </p:sp>
      </p:grpSp>
      <p:grpSp>
        <p:nvGrpSpPr>
          <p:cNvPr id="103" name="Group 102"/>
          <p:cNvGrpSpPr/>
          <p:nvPr/>
        </p:nvGrpSpPr>
        <p:grpSpPr>
          <a:xfrm>
            <a:off x="3197391" y="24599"/>
            <a:ext cx="1743257" cy="610401"/>
            <a:chOff x="3197391" y="24599"/>
            <a:chExt cx="1743257" cy="610401"/>
          </a:xfrm>
        </p:grpSpPr>
        <p:sp>
          <p:nvSpPr>
            <p:cNvPr id="106" name="Rounded Rectangle 105"/>
            <p:cNvSpPr/>
            <p:nvPr/>
          </p:nvSpPr>
          <p:spPr>
            <a:xfrm>
              <a:off x="3197391" y="263656"/>
              <a:ext cx="921528" cy="371344"/>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endParaRPr lang="en-US" sz="2000"/>
            </a:p>
          </p:txBody>
        </p:sp>
        <p:sp>
          <p:nvSpPr>
            <p:cNvPr id="107" name="Freeform 106"/>
            <p:cNvSpPr/>
            <p:nvPr/>
          </p:nvSpPr>
          <p:spPr>
            <a:xfrm>
              <a:off x="3496424" y="111478"/>
              <a:ext cx="323462" cy="37800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11" name="Rounded Rectangular Callout 110"/>
            <p:cNvSpPr/>
            <p:nvPr/>
          </p:nvSpPr>
          <p:spPr>
            <a:xfrm>
              <a:off x="3911652" y="24599"/>
              <a:ext cx="1028996" cy="217300"/>
            </a:xfrm>
            <a:prstGeom prst="wedgeRoundRectCallout">
              <a:avLst>
                <a:gd name="adj1" fmla="val -62990"/>
                <a:gd name="adj2" fmla="val 5220"/>
                <a:gd name="adj3" fmla="val 16667"/>
              </a:avLst>
            </a:prstGeom>
            <a:solidFill>
              <a:schemeClr val="bg1"/>
            </a:solidFill>
            <a:ln w="28575">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dirty="0" smtClean="0">
                  <a:solidFill>
                    <a:schemeClr val="accent2">
                      <a:lumMod val="50000"/>
                    </a:schemeClr>
                  </a:solidFill>
                  <a:latin typeface="Times New Roman" panose="02020603050405020304" pitchFamily="18" charset="0"/>
                  <a:cs typeface="Times New Roman" panose="02020603050405020304" pitchFamily="18" charset="0"/>
                </a:rPr>
                <a:t>FS</a:t>
              </a:r>
              <a:r>
                <a:rPr lang="en-US" sz="1200" dirty="0" smtClean="0">
                  <a:solidFill>
                    <a:schemeClr val="accent2">
                      <a:lumMod val="50000"/>
                    </a:schemeClr>
                  </a:solidFill>
                  <a:latin typeface="Times New Roman" panose="02020603050405020304" pitchFamily="18" charset="0"/>
                  <a:cs typeface="Times New Roman" panose="02020603050405020304" pitchFamily="18" charset="0"/>
                </a:rPr>
                <a:t>READ</a:t>
              </a:r>
              <a:r>
                <a:rPr lang="en-US" sz="1600" dirty="0" smtClean="0">
                  <a:solidFill>
                    <a:schemeClr val="accent2">
                      <a:lumMod val="50000"/>
                    </a:schemeClr>
                  </a:solidFill>
                  <a:latin typeface="Times New Roman" panose="02020603050405020304" pitchFamily="18" charset="0"/>
                  <a:cs typeface="Times New Roman" panose="02020603050405020304" pitchFamily="18" charset="0"/>
                </a:rPr>
                <a:t>64</a:t>
              </a:r>
              <a:r>
                <a:rPr lang="en-US" sz="1200" dirty="0" smtClean="0">
                  <a:solidFill>
                    <a:schemeClr val="accent2">
                      <a:lumMod val="50000"/>
                    </a:schemeClr>
                  </a:solidFill>
                  <a:latin typeface="Times New Roman" panose="02020603050405020304" pitchFamily="18" charset="0"/>
                  <a:cs typeface="Times New Roman" panose="02020603050405020304" pitchFamily="18" charset="0"/>
                </a:rPr>
                <a:t>M</a:t>
              </a:r>
              <a:endParaRPr lang="en-US" sz="1600" dirty="0">
                <a:solidFill>
                  <a:schemeClr val="accent2">
                    <a:lumMod val="50000"/>
                  </a:schemeClr>
                </a:solidFill>
                <a:latin typeface="Times New Roman" panose="02020603050405020304" pitchFamily="18" charset="0"/>
                <a:cs typeface="Times New Roman" panose="02020603050405020304" pitchFamily="18" charset="0"/>
              </a:endParaRPr>
            </a:p>
          </p:txBody>
        </p:sp>
      </p:grpSp>
      <p:grpSp>
        <p:nvGrpSpPr>
          <p:cNvPr id="112" name="Group 111"/>
          <p:cNvGrpSpPr/>
          <p:nvPr/>
        </p:nvGrpSpPr>
        <p:grpSpPr>
          <a:xfrm>
            <a:off x="1622743" y="172698"/>
            <a:ext cx="1474512" cy="548273"/>
            <a:chOff x="1622743" y="172698"/>
            <a:chExt cx="1474512" cy="548273"/>
          </a:xfrm>
        </p:grpSpPr>
        <p:sp>
          <p:nvSpPr>
            <p:cNvPr id="113" name="Rounded Rectangle 112"/>
            <p:cNvSpPr/>
            <p:nvPr/>
          </p:nvSpPr>
          <p:spPr>
            <a:xfrm>
              <a:off x="1622743" y="349627"/>
              <a:ext cx="921528" cy="371344"/>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endParaRPr lang="en-US" sz="2000"/>
            </a:p>
          </p:txBody>
        </p:sp>
        <p:sp>
          <p:nvSpPr>
            <p:cNvPr id="114" name="Rounded Rectangular Callout 113"/>
            <p:cNvSpPr/>
            <p:nvPr/>
          </p:nvSpPr>
          <p:spPr>
            <a:xfrm>
              <a:off x="2312703" y="172698"/>
              <a:ext cx="784552" cy="254741"/>
            </a:xfrm>
            <a:prstGeom prst="wedgeRoundRectCallout">
              <a:avLst>
                <a:gd name="adj1" fmla="val -62990"/>
                <a:gd name="adj2" fmla="val 5220"/>
                <a:gd name="adj3" fmla="val 16667"/>
              </a:avLst>
            </a:prstGeom>
            <a:solidFill>
              <a:schemeClr val="bg1"/>
            </a:solidFill>
            <a:ln w="28575">
              <a:solidFill>
                <a:srgbClr val="70AD47"/>
              </a:solidFill>
            </a:ln>
          </p:spPr>
          <p:style>
            <a:lnRef idx="2">
              <a:schemeClr val="accent1">
                <a:shade val="50000"/>
              </a:schemeClr>
            </a:lnRef>
            <a:fillRef idx="1">
              <a:schemeClr val="accent1"/>
            </a:fillRef>
            <a:effectRef idx="0">
              <a:schemeClr val="accent1"/>
            </a:effectRef>
            <a:fontRef idx="minor">
              <a:schemeClr val="lt1"/>
            </a:fontRef>
          </p:style>
          <p:txBody>
            <a:bodyPr lIns="0" tIns="0" rIns="45720" bIns="0" rtlCol="0" anchor="b" anchorCtr="0"/>
            <a:lstStyle/>
            <a:p>
              <a:pPr algn="r"/>
              <a:r>
                <a:rPr lang="en-US" sz="1400" dirty="0" smtClean="0">
                  <a:solidFill>
                    <a:schemeClr val="accent6">
                      <a:lumMod val="50000"/>
                    </a:schemeClr>
                  </a:solidFill>
                  <a:latin typeface="Times New Roman" panose="02020603050405020304" pitchFamily="18" charset="0"/>
                  <a:cs typeface="Times New Roman" panose="02020603050405020304" pitchFamily="18" charset="0"/>
                </a:rPr>
                <a:t>H</a:t>
              </a:r>
              <a:r>
                <a:rPr lang="en-US" sz="1200" dirty="0" smtClean="0">
                  <a:solidFill>
                    <a:schemeClr val="accent6">
                      <a:lumMod val="50000"/>
                    </a:schemeClr>
                  </a:solidFill>
                  <a:latin typeface="Times New Roman" panose="02020603050405020304" pitchFamily="18" charset="0"/>
                  <a:cs typeface="Times New Roman" panose="02020603050405020304" pitchFamily="18" charset="0"/>
                </a:rPr>
                <a:t>SCAN</a:t>
              </a:r>
              <a:endParaRPr lang="en-US" sz="1400" dirty="0">
                <a:solidFill>
                  <a:schemeClr val="accent6">
                    <a:lumMod val="50000"/>
                  </a:schemeClr>
                </a:solidFill>
                <a:latin typeface="Times New Roman" panose="02020603050405020304" pitchFamily="18" charset="0"/>
                <a:cs typeface="Times New Roman" panose="02020603050405020304" pitchFamily="18" charset="0"/>
              </a:endParaRPr>
            </a:p>
          </p:txBody>
        </p:sp>
      </p:grpSp>
      <p:grpSp>
        <p:nvGrpSpPr>
          <p:cNvPr id="115" name="Group 114"/>
          <p:cNvGrpSpPr/>
          <p:nvPr/>
        </p:nvGrpSpPr>
        <p:grpSpPr>
          <a:xfrm>
            <a:off x="1548167" y="24597"/>
            <a:ext cx="1494994" cy="635802"/>
            <a:chOff x="1548167" y="24597"/>
            <a:chExt cx="1494994" cy="635802"/>
          </a:xfrm>
        </p:grpSpPr>
        <p:sp>
          <p:nvSpPr>
            <p:cNvPr id="116" name="Rounded Rectangle 115"/>
            <p:cNvSpPr/>
            <p:nvPr/>
          </p:nvSpPr>
          <p:spPr>
            <a:xfrm>
              <a:off x="1548167" y="289055"/>
              <a:ext cx="921528" cy="371344"/>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endParaRPr lang="en-US" sz="2000"/>
            </a:p>
          </p:txBody>
        </p:sp>
        <p:sp>
          <p:nvSpPr>
            <p:cNvPr id="117" name="Freeform 116"/>
            <p:cNvSpPr/>
            <p:nvPr/>
          </p:nvSpPr>
          <p:spPr>
            <a:xfrm>
              <a:off x="1847200" y="103729"/>
              <a:ext cx="323462" cy="37800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rgbClr val="70AD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18" name="Rounded Rectangular Callout 117"/>
            <p:cNvSpPr/>
            <p:nvPr/>
          </p:nvSpPr>
          <p:spPr>
            <a:xfrm>
              <a:off x="2258609" y="24597"/>
              <a:ext cx="784552" cy="210925"/>
            </a:xfrm>
            <a:prstGeom prst="wedgeRoundRectCallout">
              <a:avLst>
                <a:gd name="adj1" fmla="val -62990"/>
                <a:gd name="adj2" fmla="val 5220"/>
                <a:gd name="adj3" fmla="val 16667"/>
              </a:avLst>
            </a:prstGeom>
            <a:solidFill>
              <a:schemeClr val="bg1"/>
            </a:solidFill>
            <a:ln w="28575">
              <a:solidFill>
                <a:srgbClr val="70AD47"/>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dirty="0" smtClean="0">
                  <a:solidFill>
                    <a:schemeClr val="accent6">
                      <a:lumMod val="50000"/>
                    </a:schemeClr>
                  </a:solidFill>
                  <a:latin typeface="Times New Roman" panose="02020603050405020304" pitchFamily="18" charset="0"/>
                  <a:cs typeface="Times New Roman" panose="02020603050405020304" pitchFamily="18" charset="0"/>
                </a:rPr>
                <a:t>H</a:t>
              </a:r>
              <a:r>
                <a:rPr lang="en-US" sz="1400" dirty="0" smtClean="0">
                  <a:solidFill>
                    <a:schemeClr val="accent6">
                      <a:lumMod val="50000"/>
                    </a:schemeClr>
                  </a:solidFill>
                  <a:latin typeface="Times New Roman" panose="02020603050405020304" pitchFamily="18" charset="0"/>
                  <a:cs typeface="Times New Roman" panose="02020603050405020304" pitchFamily="18" charset="0"/>
                </a:rPr>
                <a:t>GET</a:t>
              </a:r>
              <a:endParaRPr lang="en-US" dirty="0">
                <a:solidFill>
                  <a:schemeClr val="accent6">
                    <a:lumMod val="50000"/>
                  </a:schemeClr>
                </a:solidFill>
                <a:latin typeface="Times New Roman" panose="02020603050405020304" pitchFamily="18" charset="0"/>
                <a:cs typeface="Times New Roman" panose="02020603050405020304" pitchFamily="18" charset="0"/>
              </a:endParaRPr>
            </a:p>
          </p:txBody>
        </p:sp>
      </p:grpSp>
      <p:grpSp>
        <p:nvGrpSpPr>
          <p:cNvPr id="50" name="Group 49"/>
          <p:cNvGrpSpPr/>
          <p:nvPr/>
        </p:nvGrpSpPr>
        <p:grpSpPr>
          <a:xfrm>
            <a:off x="1548167" y="890653"/>
            <a:ext cx="4314009" cy="2607290"/>
            <a:chOff x="1548167" y="890653"/>
            <a:chExt cx="4314009" cy="2607290"/>
          </a:xfrm>
        </p:grpSpPr>
        <p:grpSp>
          <p:nvGrpSpPr>
            <p:cNvPr id="41" name="Group 40"/>
            <p:cNvGrpSpPr/>
            <p:nvPr/>
          </p:nvGrpSpPr>
          <p:grpSpPr>
            <a:xfrm>
              <a:off x="1548167" y="890653"/>
              <a:ext cx="4314009" cy="2607290"/>
              <a:chOff x="1548167" y="890653"/>
              <a:chExt cx="4314009" cy="2607290"/>
            </a:xfrm>
          </p:grpSpPr>
          <p:sp>
            <p:nvSpPr>
              <p:cNvPr id="92" name="Rounded Rectangle 91"/>
              <p:cNvSpPr/>
              <p:nvPr/>
            </p:nvSpPr>
            <p:spPr>
              <a:xfrm>
                <a:off x="1854940" y="1157145"/>
                <a:ext cx="4007236" cy="2340798"/>
              </a:xfrm>
              <a:prstGeom prst="roundRect">
                <a:avLst>
                  <a:gd name="adj" fmla="val 3932"/>
                </a:avLst>
              </a:prstGeom>
              <a:solidFill>
                <a:schemeClr val="bg1">
                  <a:alpha val="25000"/>
                </a:schemeClr>
              </a:solidFill>
              <a:ln w="57150">
                <a:solidFill>
                  <a:schemeClr val="tx1">
                    <a:alpha val="2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91" name="Rounded Rectangle 90"/>
              <p:cNvSpPr/>
              <p:nvPr/>
            </p:nvSpPr>
            <p:spPr>
              <a:xfrm>
                <a:off x="1752683" y="1068315"/>
                <a:ext cx="4007236" cy="2340798"/>
              </a:xfrm>
              <a:prstGeom prst="roundRect">
                <a:avLst>
                  <a:gd name="adj" fmla="val 3932"/>
                </a:avLst>
              </a:prstGeom>
              <a:solidFill>
                <a:schemeClr val="bg1">
                  <a:alpha val="50000"/>
                </a:schemeClr>
              </a:solidFill>
              <a:ln w="571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90" name="Rounded Rectangle 89"/>
              <p:cNvSpPr/>
              <p:nvPr/>
            </p:nvSpPr>
            <p:spPr>
              <a:xfrm>
                <a:off x="1650425" y="979484"/>
                <a:ext cx="4007236" cy="2340798"/>
              </a:xfrm>
              <a:prstGeom prst="roundRect">
                <a:avLst>
                  <a:gd name="adj" fmla="val 3932"/>
                </a:avLst>
              </a:prstGeom>
              <a:solidFill>
                <a:schemeClr val="bg1">
                  <a:alpha val="75000"/>
                </a:schemeClr>
              </a:solidFill>
              <a:ln w="57150">
                <a:solidFill>
                  <a:schemeClr val="tx1">
                    <a:alpha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nvGrpSpPr>
              <p:cNvPr id="40" name="Group 39"/>
              <p:cNvGrpSpPr/>
              <p:nvPr/>
            </p:nvGrpSpPr>
            <p:grpSpPr>
              <a:xfrm>
                <a:off x="1548167" y="890653"/>
                <a:ext cx="4007236" cy="2340798"/>
                <a:chOff x="1548167" y="890653"/>
                <a:chExt cx="4007236" cy="2340798"/>
              </a:xfrm>
            </p:grpSpPr>
            <p:sp>
              <p:nvSpPr>
                <p:cNvPr id="47" name="Rounded Rectangle 46"/>
                <p:cNvSpPr/>
                <p:nvPr/>
              </p:nvSpPr>
              <p:spPr>
                <a:xfrm>
                  <a:off x="1548167" y="890653"/>
                  <a:ext cx="4007236" cy="2340798"/>
                </a:xfrm>
                <a:prstGeom prst="roundRect">
                  <a:avLst>
                    <a:gd name="adj" fmla="val 3932"/>
                  </a:avLst>
                </a:prstGeom>
                <a:solidFill>
                  <a:schemeClr val="bg1"/>
                </a:solidFill>
                <a:ln w="571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dirty="0"/>
                </a:p>
              </p:txBody>
            </p:sp>
            <p:cxnSp>
              <p:nvCxnSpPr>
                <p:cNvPr id="52" name="Straight Connector 51"/>
                <p:cNvCxnSpPr/>
                <p:nvPr/>
              </p:nvCxnSpPr>
              <p:spPr>
                <a:xfrm flipV="1">
                  <a:off x="1548167" y="2515146"/>
                  <a:ext cx="3999266" cy="4309"/>
                </a:xfrm>
                <a:prstGeom prst="line">
                  <a:avLst/>
                </a:prstGeom>
                <a:ln w="571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sp>
          <p:nvSpPr>
            <p:cNvPr id="31" name="Can 30"/>
            <p:cNvSpPr/>
            <p:nvPr/>
          </p:nvSpPr>
          <p:spPr>
            <a:xfrm>
              <a:off x="3003528" y="2602755"/>
              <a:ext cx="904605" cy="528273"/>
            </a:xfrm>
            <a:prstGeom prst="can">
              <a:avLst>
                <a:gd name="adj" fmla="val 50000"/>
              </a:avLst>
            </a:prstGeom>
            <a:solidFill>
              <a:schemeClr val="accent4">
                <a:lumMod val="20000"/>
                <a:lumOff val="8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109728" rIns="0" bIns="0" rtlCol="0" anchor="ctr"/>
            <a:lstStyle/>
            <a:p>
              <a:pPr algn="ctr"/>
              <a:r>
                <a:rPr lang="en-US" sz="2000" b="1" dirty="0">
                  <a:solidFill>
                    <a:schemeClr val="tx1"/>
                  </a:solidFill>
                </a:rPr>
                <a:t>Disk</a:t>
              </a:r>
            </a:p>
          </p:txBody>
        </p:sp>
        <p:sp>
          <p:nvSpPr>
            <p:cNvPr id="6" name="Rounded Rectangle 5"/>
            <p:cNvSpPr/>
            <p:nvPr/>
          </p:nvSpPr>
          <p:spPr>
            <a:xfrm>
              <a:off x="1667662" y="987617"/>
              <a:ext cx="1056938" cy="641696"/>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b" anchorCtr="0"/>
            <a:lstStyle/>
            <a:p>
              <a:r>
                <a:rPr lang="en-US" sz="2000" dirty="0" err="1">
                  <a:solidFill>
                    <a:schemeClr val="tx1"/>
                  </a:solidFill>
                </a:rPr>
                <a:t>HBase</a:t>
              </a:r>
              <a:endParaRPr lang="en-US" sz="2000" dirty="0">
                <a:solidFill>
                  <a:schemeClr val="tx1"/>
                </a:solidFill>
              </a:endParaRPr>
            </a:p>
          </p:txBody>
        </p:sp>
        <p:sp>
          <p:nvSpPr>
            <p:cNvPr id="42" name="Rounded Rectangle 41"/>
            <p:cNvSpPr/>
            <p:nvPr/>
          </p:nvSpPr>
          <p:spPr>
            <a:xfrm>
              <a:off x="3601331" y="1066452"/>
              <a:ext cx="1840961" cy="484026"/>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r>
                <a:rPr lang="en-US" sz="2000" dirty="0" err="1">
                  <a:solidFill>
                    <a:schemeClr val="tx1"/>
                  </a:solidFill>
                </a:rPr>
                <a:t>MapReduce</a:t>
              </a:r>
              <a:endParaRPr lang="en-US" sz="2000" dirty="0">
                <a:solidFill>
                  <a:schemeClr val="tx1"/>
                </a:solidFill>
              </a:endParaRPr>
            </a:p>
          </p:txBody>
        </p:sp>
        <p:sp>
          <p:nvSpPr>
            <p:cNvPr id="46" name="Rounded Rectangle 45"/>
            <p:cNvSpPr/>
            <p:nvPr/>
          </p:nvSpPr>
          <p:spPr>
            <a:xfrm>
              <a:off x="2641009" y="1743418"/>
              <a:ext cx="1075285" cy="644131"/>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r>
                <a:rPr lang="en-US" sz="2000" dirty="0">
                  <a:solidFill>
                    <a:schemeClr val="tx1"/>
                  </a:solidFill>
                </a:rPr>
                <a:t>HDFS</a:t>
              </a:r>
            </a:p>
          </p:txBody>
        </p:sp>
      </p:grpSp>
      <p:grpSp>
        <p:nvGrpSpPr>
          <p:cNvPr id="55" name="Group 54"/>
          <p:cNvGrpSpPr/>
          <p:nvPr/>
        </p:nvGrpSpPr>
        <p:grpSpPr>
          <a:xfrm>
            <a:off x="5818483" y="696670"/>
            <a:ext cx="1194558" cy="1078020"/>
            <a:chOff x="5818483" y="696670"/>
            <a:chExt cx="1194558" cy="1078020"/>
          </a:xfrm>
        </p:grpSpPr>
        <p:sp>
          <p:nvSpPr>
            <p:cNvPr id="61" name="TextBox 60"/>
            <p:cNvSpPr txBox="1"/>
            <p:nvPr/>
          </p:nvSpPr>
          <p:spPr>
            <a:xfrm rot="1468153">
              <a:off x="5818483" y="904989"/>
              <a:ext cx="1194558" cy="400110"/>
            </a:xfrm>
            <a:prstGeom prst="rect">
              <a:avLst/>
            </a:prstGeom>
            <a:noFill/>
          </p:spPr>
          <p:txBody>
            <a:bodyPr wrap="none" rtlCol="0">
              <a:spAutoFit/>
            </a:bodyPr>
            <a:lstStyle/>
            <a:p>
              <a:r>
                <a:rPr lang="en-US" sz="2000" dirty="0"/>
                <a:t>Machines</a:t>
              </a:r>
            </a:p>
          </p:txBody>
        </p:sp>
        <p:sp>
          <p:nvSpPr>
            <p:cNvPr id="65" name="Right Brace 64"/>
            <p:cNvSpPr/>
            <p:nvPr/>
          </p:nvSpPr>
          <p:spPr>
            <a:xfrm rot="20147132">
              <a:off x="5849694" y="696670"/>
              <a:ext cx="252919" cy="1078020"/>
            </a:xfrm>
            <a:prstGeom prst="rightBrace">
              <a:avLst>
                <a:gd name="adj1" fmla="val 62329"/>
                <a:gd name="adj2" fmla="val 47314"/>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160"/>
            </a:p>
          </p:txBody>
        </p:sp>
      </p:grpSp>
      <p:sp>
        <p:nvSpPr>
          <p:cNvPr id="85" name="Freeform 84"/>
          <p:cNvSpPr/>
          <p:nvPr/>
        </p:nvSpPr>
        <p:spPr>
          <a:xfrm>
            <a:off x="2003898" y="593389"/>
            <a:ext cx="1334091" cy="2158288"/>
          </a:xfrm>
          <a:custGeom>
            <a:avLst/>
            <a:gdLst>
              <a:gd name="connsiteX0" fmla="*/ 0 w 1206230"/>
              <a:gd name="connsiteY0" fmla="*/ 0 h 2782111"/>
              <a:gd name="connsiteX1" fmla="*/ 0 w 1206230"/>
              <a:gd name="connsiteY1" fmla="*/ 710119 h 2782111"/>
              <a:gd name="connsiteX2" fmla="*/ 573932 w 1206230"/>
              <a:gd name="connsiteY2" fmla="*/ 1206230 h 2782111"/>
              <a:gd name="connsiteX3" fmla="*/ 573932 w 1206230"/>
              <a:gd name="connsiteY3" fmla="*/ 1682885 h 2782111"/>
              <a:gd name="connsiteX4" fmla="*/ 1206230 w 1206230"/>
              <a:gd name="connsiteY4" fmla="*/ 1682885 h 2782111"/>
              <a:gd name="connsiteX5" fmla="*/ 1206230 w 1206230"/>
              <a:gd name="connsiteY5" fmla="*/ 2782111 h 2782111"/>
              <a:gd name="connsiteX0" fmla="*/ 0 w 1206230"/>
              <a:gd name="connsiteY0" fmla="*/ 0 h 2782111"/>
              <a:gd name="connsiteX1" fmla="*/ 0 w 1206230"/>
              <a:gd name="connsiteY1" fmla="*/ 710119 h 2782111"/>
              <a:gd name="connsiteX2" fmla="*/ 573932 w 1206230"/>
              <a:gd name="connsiteY2" fmla="*/ 1206230 h 2782111"/>
              <a:gd name="connsiteX3" fmla="*/ 1206230 w 1206230"/>
              <a:gd name="connsiteY3" fmla="*/ 1682885 h 2782111"/>
              <a:gd name="connsiteX4" fmla="*/ 1206230 w 1206230"/>
              <a:gd name="connsiteY4" fmla="*/ 2782111 h 2782111"/>
              <a:gd name="connsiteX0" fmla="*/ 0 w 1206230"/>
              <a:gd name="connsiteY0" fmla="*/ 0 h 2782111"/>
              <a:gd name="connsiteX1" fmla="*/ 0 w 1206230"/>
              <a:gd name="connsiteY1" fmla="*/ 710119 h 2782111"/>
              <a:gd name="connsiteX2" fmla="*/ 1206230 w 1206230"/>
              <a:gd name="connsiteY2" fmla="*/ 1682885 h 2782111"/>
              <a:gd name="connsiteX3" fmla="*/ 1206230 w 1206230"/>
              <a:gd name="connsiteY3" fmla="*/ 2782111 h 2782111"/>
            </a:gdLst>
            <a:ahLst/>
            <a:cxnLst>
              <a:cxn ang="0">
                <a:pos x="connsiteX0" y="connsiteY0"/>
              </a:cxn>
              <a:cxn ang="0">
                <a:pos x="connsiteX1" y="connsiteY1"/>
              </a:cxn>
              <a:cxn ang="0">
                <a:pos x="connsiteX2" y="connsiteY2"/>
              </a:cxn>
              <a:cxn ang="0">
                <a:pos x="connsiteX3" y="connsiteY3"/>
              </a:cxn>
            </a:cxnLst>
            <a:rect l="l" t="t" r="r" b="b"/>
            <a:pathLst>
              <a:path w="1206230" h="2782111">
                <a:moveTo>
                  <a:pt x="0" y="0"/>
                </a:moveTo>
                <a:lnTo>
                  <a:pt x="0" y="710119"/>
                </a:lnTo>
                <a:lnTo>
                  <a:pt x="1206230" y="1682885"/>
                </a:lnTo>
                <a:lnTo>
                  <a:pt x="1206230" y="2782111"/>
                </a:lnTo>
              </a:path>
            </a:pathLst>
          </a:custGeom>
          <a:noFill/>
          <a:ln w="57150">
            <a:solidFill>
              <a:srgbClr val="70AD47"/>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86" name="Freeform 85"/>
          <p:cNvSpPr/>
          <p:nvPr/>
        </p:nvSpPr>
        <p:spPr>
          <a:xfrm>
            <a:off x="3451101" y="593389"/>
            <a:ext cx="225954" cy="2156477"/>
          </a:xfrm>
          <a:custGeom>
            <a:avLst/>
            <a:gdLst>
              <a:gd name="connsiteX0" fmla="*/ 330740 w 330740"/>
              <a:gd name="connsiteY0" fmla="*/ 0 h 2821022"/>
              <a:gd name="connsiteX1" fmla="*/ 0 w 330740"/>
              <a:gd name="connsiteY1" fmla="*/ 651753 h 2821022"/>
              <a:gd name="connsiteX2" fmla="*/ 0 w 330740"/>
              <a:gd name="connsiteY2" fmla="*/ 2821022 h 2821022"/>
            </a:gdLst>
            <a:ahLst/>
            <a:cxnLst>
              <a:cxn ang="0">
                <a:pos x="connsiteX0" y="connsiteY0"/>
              </a:cxn>
              <a:cxn ang="0">
                <a:pos x="connsiteX1" y="connsiteY1"/>
              </a:cxn>
              <a:cxn ang="0">
                <a:pos x="connsiteX2" y="connsiteY2"/>
              </a:cxn>
            </a:cxnLst>
            <a:rect l="l" t="t" r="r" b="b"/>
            <a:pathLst>
              <a:path w="330740" h="2821022">
                <a:moveTo>
                  <a:pt x="330740" y="0"/>
                </a:moveTo>
                <a:lnTo>
                  <a:pt x="0" y="651753"/>
                </a:lnTo>
                <a:lnTo>
                  <a:pt x="0" y="2821022"/>
                </a:lnTo>
              </a:path>
            </a:pathLst>
          </a:custGeom>
          <a:noFill/>
          <a:ln w="57150">
            <a:solidFill>
              <a:srgbClr val="ED7D3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87" name="Freeform 86"/>
          <p:cNvSpPr/>
          <p:nvPr/>
        </p:nvSpPr>
        <p:spPr>
          <a:xfrm>
            <a:off x="3577771" y="593389"/>
            <a:ext cx="1762714" cy="2156477"/>
          </a:xfrm>
          <a:custGeom>
            <a:avLst/>
            <a:gdLst>
              <a:gd name="connsiteX0" fmla="*/ 1780162 w 1780162"/>
              <a:gd name="connsiteY0" fmla="*/ 0 h 2821022"/>
              <a:gd name="connsiteX1" fmla="*/ 1780162 w 1780162"/>
              <a:gd name="connsiteY1" fmla="*/ 1391056 h 2821022"/>
              <a:gd name="connsiteX2" fmla="*/ 0 w 1780162"/>
              <a:gd name="connsiteY2" fmla="*/ 1391056 h 2821022"/>
              <a:gd name="connsiteX3" fmla="*/ 0 w 1780162"/>
              <a:gd name="connsiteY3" fmla="*/ 2821022 h 2821022"/>
            </a:gdLst>
            <a:ahLst/>
            <a:cxnLst>
              <a:cxn ang="0">
                <a:pos x="connsiteX0" y="connsiteY0"/>
              </a:cxn>
              <a:cxn ang="0">
                <a:pos x="connsiteX1" y="connsiteY1"/>
              </a:cxn>
              <a:cxn ang="0">
                <a:pos x="connsiteX2" y="connsiteY2"/>
              </a:cxn>
              <a:cxn ang="0">
                <a:pos x="connsiteX3" y="connsiteY3"/>
              </a:cxn>
            </a:cxnLst>
            <a:rect l="l" t="t" r="r" b="b"/>
            <a:pathLst>
              <a:path w="1780162" h="2821022">
                <a:moveTo>
                  <a:pt x="1780162" y="0"/>
                </a:moveTo>
                <a:lnTo>
                  <a:pt x="1780162" y="1391056"/>
                </a:lnTo>
                <a:lnTo>
                  <a:pt x="0" y="1391056"/>
                </a:lnTo>
                <a:lnTo>
                  <a:pt x="0" y="2821022"/>
                </a:lnTo>
              </a:path>
            </a:pathLst>
          </a:custGeom>
          <a:noFill/>
          <a:ln w="57150">
            <a:solidFill>
              <a:srgbClr val="4472C4"/>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51" name="Title 1"/>
          <p:cNvSpPr txBox="1">
            <a:spLocks/>
          </p:cNvSpPr>
          <p:nvPr/>
        </p:nvSpPr>
        <p:spPr>
          <a:xfrm>
            <a:off x="0" y="5571113"/>
            <a:ext cx="91440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How is disk bandwidth being used?</a:t>
            </a:r>
          </a:p>
        </p:txBody>
      </p:sp>
      <p:sp>
        <p:nvSpPr>
          <p:cNvPr id="59" name="Freeform 58"/>
          <p:cNvSpPr/>
          <p:nvPr/>
        </p:nvSpPr>
        <p:spPr>
          <a:xfrm>
            <a:off x="1036855" y="1576379"/>
            <a:ext cx="2183282" cy="486984"/>
          </a:xfrm>
          <a:custGeom>
            <a:avLst/>
            <a:gdLst>
              <a:gd name="connsiteX0" fmla="*/ 0 w 398834"/>
              <a:gd name="connsiteY0" fmla="*/ 2188723 h 2188723"/>
              <a:gd name="connsiteX1" fmla="*/ 398834 w 398834"/>
              <a:gd name="connsiteY1" fmla="*/ 0 h 2188723"/>
              <a:gd name="connsiteX0" fmla="*/ 70658 w 469492"/>
              <a:gd name="connsiteY0" fmla="*/ 2188723 h 2188723"/>
              <a:gd name="connsiteX1" fmla="*/ 469492 w 469492"/>
              <a:gd name="connsiteY1" fmla="*/ 0 h 2188723"/>
              <a:gd name="connsiteX0" fmla="*/ 0 w 1070042"/>
              <a:gd name="connsiteY0" fmla="*/ 2345655 h 2345655"/>
              <a:gd name="connsiteX1" fmla="*/ 1070042 w 1070042"/>
              <a:gd name="connsiteY1" fmla="*/ 0 h 2345655"/>
              <a:gd name="connsiteX0" fmla="*/ 0 w 1070042"/>
              <a:gd name="connsiteY0" fmla="*/ 2345655 h 2345655"/>
              <a:gd name="connsiteX1" fmla="*/ 1070042 w 1070042"/>
              <a:gd name="connsiteY1" fmla="*/ 0 h 2345655"/>
              <a:gd name="connsiteX0" fmla="*/ 0 w 1245140"/>
              <a:gd name="connsiteY0" fmla="*/ 2478443 h 2478443"/>
              <a:gd name="connsiteX1" fmla="*/ 1245140 w 1245140"/>
              <a:gd name="connsiteY1" fmla="*/ 0 h 2478443"/>
              <a:gd name="connsiteX0" fmla="*/ 0 w 1400783"/>
              <a:gd name="connsiteY0" fmla="*/ 2611231 h 2611231"/>
              <a:gd name="connsiteX1" fmla="*/ 1400783 w 1400783"/>
              <a:gd name="connsiteY1" fmla="*/ 0 h 2611231"/>
              <a:gd name="connsiteX0" fmla="*/ 0 w 1361872"/>
              <a:gd name="connsiteY0" fmla="*/ 2514658 h 2514658"/>
              <a:gd name="connsiteX1" fmla="*/ 1361872 w 1361872"/>
              <a:gd name="connsiteY1" fmla="*/ 0 h 2514658"/>
              <a:gd name="connsiteX0" fmla="*/ 0 w 2508747"/>
              <a:gd name="connsiteY0" fmla="*/ 150276 h 1033436"/>
              <a:gd name="connsiteX1" fmla="*/ 2508747 w 2508747"/>
              <a:gd name="connsiteY1" fmla="*/ 875919 h 1033436"/>
              <a:gd name="connsiteX0" fmla="*/ 525 w 2509272"/>
              <a:gd name="connsiteY0" fmla="*/ 0 h 1012937"/>
              <a:gd name="connsiteX1" fmla="*/ 2509272 w 2509272"/>
              <a:gd name="connsiteY1" fmla="*/ 725643 h 1012937"/>
              <a:gd name="connsiteX0" fmla="*/ 524 w 2509271"/>
              <a:gd name="connsiteY0" fmla="*/ 0 h 725643"/>
              <a:gd name="connsiteX1" fmla="*/ 2509271 w 2509271"/>
              <a:gd name="connsiteY1" fmla="*/ 725643 h 725643"/>
              <a:gd name="connsiteX0" fmla="*/ 623 w 2183905"/>
              <a:gd name="connsiteY0" fmla="*/ 0 h 564077"/>
              <a:gd name="connsiteX1" fmla="*/ 2183905 w 2183905"/>
              <a:gd name="connsiteY1" fmla="*/ 564077 h 564077"/>
              <a:gd name="connsiteX0" fmla="*/ 846 w 2184128"/>
              <a:gd name="connsiteY0" fmla="*/ 0 h 564077"/>
              <a:gd name="connsiteX1" fmla="*/ 2184128 w 2184128"/>
              <a:gd name="connsiteY1" fmla="*/ 564077 h 564077"/>
              <a:gd name="connsiteX0" fmla="*/ 0 w 2183282"/>
              <a:gd name="connsiteY0" fmla="*/ 0 h 564077"/>
              <a:gd name="connsiteX1" fmla="*/ 2183282 w 2183282"/>
              <a:gd name="connsiteY1" fmla="*/ 564077 h 564077"/>
            </a:gdLst>
            <a:ahLst/>
            <a:cxnLst>
              <a:cxn ang="0">
                <a:pos x="connsiteX0" y="connsiteY0"/>
              </a:cxn>
              <a:cxn ang="0">
                <a:pos x="connsiteX1" y="connsiteY1"/>
              </a:cxn>
            </a:cxnLst>
            <a:rect l="l" t="t" r="r" b="b"/>
            <a:pathLst>
              <a:path w="2183282" h="564077">
                <a:moveTo>
                  <a:pt x="0" y="0"/>
                </a:moveTo>
                <a:cubicBezTo>
                  <a:pt x="326674" y="1137411"/>
                  <a:pt x="1180618" y="-329718"/>
                  <a:pt x="2183282" y="564077"/>
                </a:cubicBezTo>
              </a:path>
            </a:pathLst>
          </a:custGeom>
          <a:noFill/>
          <a:ln w="38100">
            <a:solidFill>
              <a:schemeClr val="tx1"/>
            </a:solidFill>
            <a:prstDash val="sysDot"/>
            <a:headEnd type="none"/>
            <a:tailEnd type="stealt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60" name="Rounded Rectangle 59"/>
          <p:cNvSpPr/>
          <p:nvPr/>
        </p:nvSpPr>
        <p:spPr>
          <a:xfrm>
            <a:off x="89253" y="987617"/>
            <a:ext cx="1255950" cy="569812"/>
          </a:xfrm>
          <a:prstGeom prst="roundRect">
            <a:avLst/>
          </a:prstGeom>
          <a:solidFill>
            <a:schemeClr val="bg1"/>
          </a:solidFill>
          <a:ln w="381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dirty="0" err="1" smtClean="0">
                <a:solidFill>
                  <a:schemeClr val="tx1"/>
                </a:solidFill>
                <a:latin typeface="Consolas" panose="020B0609020204030204" pitchFamily="49" charset="0"/>
                <a:cs typeface="Consolas" panose="020B0609020204030204" pitchFamily="49" charset="0"/>
              </a:rPr>
              <a:t>DataNode</a:t>
            </a:r>
            <a:endParaRPr lang="en-US" sz="2000" dirty="0" smtClean="0">
              <a:solidFill>
                <a:schemeClr val="tx1"/>
              </a:solidFill>
              <a:latin typeface="Consolas" panose="020B0609020204030204" pitchFamily="49" charset="0"/>
              <a:cs typeface="Consolas" panose="020B0609020204030204" pitchFamily="49" charset="0"/>
            </a:endParaRPr>
          </a:p>
          <a:p>
            <a:pPr algn="ctr"/>
            <a:r>
              <a:rPr lang="en-US" sz="2000" dirty="0" smtClean="0">
                <a:solidFill>
                  <a:schemeClr val="tx1"/>
                </a:solidFill>
                <a:latin typeface="Consolas" panose="020B0609020204030204" pitchFamily="49" charset="0"/>
                <a:cs typeface="Consolas" panose="020B0609020204030204" pitchFamily="49" charset="0"/>
              </a:rPr>
              <a:t>Metrics</a:t>
            </a:r>
            <a:endParaRPr lang="en-US" sz="2000" dirty="0">
              <a:solidFill>
                <a:schemeClr val="tx1"/>
              </a:solidFill>
              <a:latin typeface="Consolas" panose="020B0609020204030204" pitchFamily="49" charset="0"/>
              <a:cs typeface="Consolas" panose="020B0609020204030204" pitchFamily="49" charset="0"/>
            </a:endParaRPr>
          </a:p>
        </p:txBody>
      </p:sp>
      <p:sp>
        <p:nvSpPr>
          <p:cNvPr id="75" name="Oval 74"/>
          <p:cNvSpPr/>
          <p:nvPr/>
        </p:nvSpPr>
        <p:spPr>
          <a:xfrm>
            <a:off x="1517528" y="520540"/>
            <a:ext cx="985203" cy="443534"/>
          </a:xfrm>
          <a:prstGeom prst="ellipse">
            <a:avLst/>
          </a:prstGeom>
          <a:noFill/>
          <a:ln w="571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2160"/>
          </a:p>
        </p:txBody>
      </p:sp>
      <p:sp>
        <p:nvSpPr>
          <p:cNvPr id="76" name="Oval 75"/>
          <p:cNvSpPr/>
          <p:nvPr/>
        </p:nvSpPr>
        <p:spPr>
          <a:xfrm>
            <a:off x="3195529" y="520540"/>
            <a:ext cx="985203" cy="443534"/>
          </a:xfrm>
          <a:prstGeom prst="ellipse">
            <a:avLst/>
          </a:prstGeom>
          <a:noFill/>
          <a:ln w="571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2160"/>
          </a:p>
        </p:txBody>
      </p:sp>
      <p:sp>
        <p:nvSpPr>
          <p:cNvPr id="77" name="Oval 76"/>
          <p:cNvSpPr/>
          <p:nvPr/>
        </p:nvSpPr>
        <p:spPr>
          <a:xfrm>
            <a:off x="4873529" y="520540"/>
            <a:ext cx="985203" cy="443534"/>
          </a:xfrm>
          <a:prstGeom prst="ellipse">
            <a:avLst/>
          </a:prstGeom>
          <a:noFill/>
          <a:ln w="571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2160"/>
          </a:p>
        </p:txBody>
      </p:sp>
      <p:grpSp>
        <p:nvGrpSpPr>
          <p:cNvPr id="83" name="Group 82"/>
          <p:cNvGrpSpPr/>
          <p:nvPr/>
        </p:nvGrpSpPr>
        <p:grpSpPr>
          <a:xfrm>
            <a:off x="4486577" y="2642212"/>
            <a:ext cx="3736038" cy="3252317"/>
            <a:chOff x="2155601" y="1578475"/>
            <a:chExt cx="3736038" cy="3252317"/>
          </a:xfrm>
        </p:grpSpPr>
        <p:sp>
          <p:nvSpPr>
            <p:cNvPr id="84" name="Rectangle 83"/>
            <p:cNvSpPr/>
            <p:nvPr/>
          </p:nvSpPr>
          <p:spPr>
            <a:xfrm>
              <a:off x="2155601" y="1578475"/>
              <a:ext cx="3736038" cy="325231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8" name="Group 87"/>
            <p:cNvGrpSpPr/>
            <p:nvPr/>
          </p:nvGrpSpPr>
          <p:grpSpPr>
            <a:xfrm>
              <a:off x="2170841" y="1585685"/>
              <a:ext cx="3686167" cy="3211478"/>
              <a:chOff x="1164801" y="2515146"/>
              <a:chExt cx="3686167" cy="3211478"/>
            </a:xfrm>
          </p:grpSpPr>
          <p:pic>
            <p:nvPicPr>
              <p:cNvPr id="89" name="Picture 88" descr="fig1.pdf"/>
              <p:cNvPicPr>
                <a:picLocks noChangeAspect="1"/>
              </p:cNvPicPr>
              <p:nvPr/>
            </p:nvPicPr>
            <p:blipFill rotWithShape="1">
              <a:blip r:embed="rId3">
                <a:extLst>
                  <a:ext uri="{28A0092B-C50C-407E-A947-70E740481C1C}">
                    <a14:useLocalDpi xmlns:a14="http://schemas.microsoft.com/office/drawing/2010/main" val="0"/>
                  </a:ext>
                </a:extLst>
              </a:blip>
              <a:srcRect r="80877" b="13113"/>
              <a:stretch/>
            </p:blipFill>
            <p:spPr>
              <a:xfrm>
                <a:off x="1164801" y="2515146"/>
                <a:ext cx="708449" cy="2793023"/>
              </a:xfrm>
              <a:prstGeom prst="rect">
                <a:avLst/>
              </a:prstGeom>
              <a:ln>
                <a:noFill/>
              </a:ln>
            </p:spPr>
            <p:style>
              <a:lnRef idx="2">
                <a:schemeClr val="dk1"/>
              </a:lnRef>
              <a:fillRef idx="1">
                <a:schemeClr val="lt1"/>
              </a:fillRef>
              <a:effectRef idx="0">
                <a:schemeClr val="dk1"/>
              </a:effectRef>
              <a:fontRef idx="minor">
                <a:schemeClr val="dk1"/>
              </a:fontRef>
            </p:style>
          </p:pic>
          <p:pic>
            <p:nvPicPr>
              <p:cNvPr id="93" name="Picture 92" descr="fig1.pdf"/>
              <p:cNvPicPr>
                <a:picLocks noChangeAspect="1"/>
              </p:cNvPicPr>
              <p:nvPr/>
            </p:nvPicPr>
            <p:blipFill rotWithShape="1">
              <a:blip r:embed="rId3">
                <a:extLst>
                  <a:ext uri="{28A0092B-C50C-407E-A947-70E740481C1C}">
                    <a14:useLocalDpi xmlns:a14="http://schemas.microsoft.com/office/drawing/2010/main" val="0"/>
                  </a:ext>
                </a:extLst>
              </a:blip>
              <a:srcRect l="16879" t="84233" r="495" b="96"/>
              <a:stretch/>
            </p:blipFill>
            <p:spPr>
              <a:xfrm>
                <a:off x="1790054" y="5222875"/>
                <a:ext cx="3060914" cy="503749"/>
              </a:xfrm>
              <a:prstGeom prst="rect">
                <a:avLst/>
              </a:prstGeom>
              <a:ln>
                <a:noFill/>
              </a:ln>
            </p:spPr>
            <p:style>
              <a:lnRef idx="2">
                <a:schemeClr val="dk1"/>
              </a:lnRef>
              <a:fillRef idx="1">
                <a:schemeClr val="lt1"/>
              </a:fillRef>
              <a:effectRef idx="0">
                <a:schemeClr val="dk1"/>
              </a:effectRef>
              <a:fontRef idx="minor">
                <a:schemeClr val="dk1"/>
              </a:fontRef>
            </p:style>
          </p:pic>
        </p:grpSp>
      </p:grpSp>
      <p:pic>
        <p:nvPicPr>
          <p:cNvPr id="95" name="Picture 94"/>
          <p:cNvPicPr>
            <a:picLocks noChangeAspect="1"/>
          </p:cNvPicPr>
          <p:nvPr/>
        </p:nvPicPr>
        <p:blipFill rotWithShape="1">
          <a:blip r:embed="rId4">
            <a:extLst>
              <a:ext uri="{28A0092B-C50C-407E-A947-70E740481C1C}">
                <a14:useLocalDpi xmlns:a14="http://schemas.microsoft.com/office/drawing/2010/main" val="0"/>
              </a:ext>
            </a:extLst>
          </a:blip>
          <a:srcRect l="19193" t="30470" r="3936" b="15300"/>
          <a:stretch/>
        </p:blipFill>
        <p:spPr>
          <a:xfrm>
            <a:off x="5210266" y="3601877"/>
            <a:ext cx="2867191" cy="1751669"/>
          </a:xfrm>
          <a:prstGeom prst="rect">
            <a:avLst/>
          </a:prstGeom>
          <a:ln>
            <a:noFill/>
          </a:ln>
        </p:spPr>
        <p:style>
          <a:lnRef idx="2">
            <a:schemeClr val="dk1"/>
          </a:lnRef>
          <a:fillRef idx="1">
            <a:schemeClr val="lt1"/>
          </a:fillRef>
          <a:effectRef idx="0">
            <a:schemeClr val="dk1"/>
          </a:effectRef>
          <a:fontRef idx="minor">
            <a:schemeClr val="dk1"/>
          </a:fontRef>
        </p:style>
      </p:pic>
      <p:pic>
        <p:nvPicPr>
          <p:cNvPr id="94" name="Picture 93"/>
          <p:cNvPicPr>
            <a:picLocks noChangeAspect="1"/>
          </p:cNvPicPr>
          <p:nvPr/>
        </p:nvPicPr>
        <p:blipFill rotWithShape="1">
          <a:blip r:embed="rId5">
            <a:extLst>
              <a:ext uri="{28A0092B-C50C-407E-A947-70E740481C1C}">
                <a14:useLocalDpi xmlns:a14="http://schemas.microsoft.com/office/drawing/2010/main" val="0"/>
              </a:ext>
            </a:extLst>
          </a:blip>
          <a:srcRect l="19414" t="29041" r="3530" b="15415"/>
          <a:stretch/>
        </p:blipFill>
        <p:spPr>
          <a:xfrm>
            <a:off x="5210266" y="3561778"/>
            <a:ext cx="2870312" cy="1791768"/>
          </a:xfrm>
          <a:prstGeom prst="rect">
            <a:avLst/>
          </a:prstGeom>
          <a:ln>
            <a:noFill/>
          </a:ln>
        </p:spPr>
        <p:style>
          <a:lnRef idx="2">
            <a:schemeClr val="dk1"/>
          </a:lnRef>
          <a:fillRef idx="1">
            <a:schemeClr val="lt1"/>
          </a:fillRef>
          <a:effectRef idx="0">
            <a:schemeClr val="dk1"/>
          </a:effectRef>
          <a:fontRef idx="minor">
            <a:schemeClr val="dk1"/>
          </a:fontRef>
        </p:style>
      </p:pic>
      <p:pic>
        <p:nvPicPr>
          <p:cNvPr id="101" name="Picture 100"/>
          <p:cNvPicPr>
            <a:picLocks noChangeAspect="1"/>
          </p:cNvPicPr>
          <p:nvPr/>
        </p:nvPicPr>
        <p:blipFill rotWithShape="1">
          <a:blip r:embed="rId5">
            <a:extLst>
              <a:ext uri="{28A0092B-C50C-407E-A947-70E740481C1C}">
                <a14:useLocalDpi xmlns:a14="http://schemas.microsoft.com/office/drawing/2010/main" val="0"/>
              </a:ext>
            </a:extLst>
          </a:blip>
          <a:srcRect l="23220" t="-501" r="8434" b="73295"/>
          <a:stretch/>
        </p:blipFill>
        <p:spPr>
          <a:xfrm>
            <a:off x="5356464" y="2723868"/>
            <a:ext cx="2719952" cy="937648"/>
          </a:xfrm>
          <a:prstGeom prst="rect">
            <a:avLst/>
          </a:prstGeom>
          <a:ln>
            <a:noFill/>
          </a:ln>
        </p:spPr>
        <p:style>
          <a:lnRef idx="2">
            <a:schemeClr val="dk1"/>
          </a:lnRef>
          <a:fillRef idx="1">
            <a:schemeClr val="lt1"/>
          </a:fillRef>
          <a:effectRef idx="0">
            <a:schemeClr val="dk1"/>
          </a:effectRef>
          <a:fontRef idx="minor">
            <a:schemeClr val="dk1"/>
          </a:fontRef>
        </p:style>
      </p:pic>
      <p:sp>
        <p:nvSpPr>
          <p:cNvPr id="5" name="Freeform 4"/>
          <p:cNvSpPr/>
          <p:nvPr/>
        </p:nvSpPr>
        <p:spPr>
          <a:xfrm>
            <a:off x="3786810" y="1679146"/>
            <a:ext cx="45719" cy="1070720"/>
          </a:xfrm>
          <a:custGeom>
            <a:avLst/>
            <a:gdLst>
              <a:gd name="connsiteX0" fmla="*/ 0 w 0"/>
              <a:gd name="connsiteY0" fmla="*/ 0 h 1224366"/>
              <a:gd name="connsiteX1" fmla="*/ 0 w 0"/>
              <a:gd name="connsiteY1" fmla="*/ 1224366 h 1224366"/>
            </a:gdLst>
            <a:ahLst/>
            <a:cxnLst>
              <a:cxn ang="0">
                <a:pos x="connsiteX0" y="connsiteY0"/>
              </a:cxn>
              <a:cxn ang="0">
                <a:pos x="connsiteX1" y="connsiteY1"/>
              </a:cxn>
            </a:cxnLst>
            <a:rect l="l" t="t" r="r" b="b"/>
            <a:pathLst>
              <a:path h="1224366">
                <a:moveTo>
                  <a:pt x="0" y="0"/>
                </a:moveTo>
                <a:lnTo>
                  <a:pt x="0" y="1224366"/>
                </a:lnTo>
              </a:path>
            </a:pathLst>
          </a:custGeom>
          <a:noFill/>
          <a:ln w="57150">
            <a:solidFill>
              <a:srgbClr val="4472C4"/>
            </a:solidFill>
            <a:headEnd type="none" w="med" len="med"/>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4123770" y="1866885"/>
            <a:ext cx="1035455" cy="369332"/>
          </a:xfrm>
          <a:prstGeom prst="rect">
            <a:avLst/>
          </a:prstGeom>
          <a:noFill/>
        </p:spPr>
        <p:txBody>
          <a:bodyPr wrap="square" rtlCol="0">
            <a:spAutoFit/>
          </a:bodyPr>
          <a:lstStyle/>
          <a:p>
            <a:r>
              <a:rPr lang="en-US" dirty="0" smtClean="0">
                <a:solidFill>
                  <a:srgbClr val="C00000"/>
                </a:solidFill>
              </a:rPr>
              <a:t>Missed!</a:t>
            </a:r>
            <a:endParaRPr lang="en-US" dirty="0">
              <a:solidFill>
                <a:srgbClr val="C00000"/>
              </a:solidFill>
            </a:endParaRPr>
          </a:p>
        </p:txBody>
      </p:sp>
      <p:sp>
        <p:nvSpPr>
          <p:cNvPr id="8" name="Freeform 7"/>
          <p:cNvSpPr/>
          <p:nvPr/>
        </p:nvSpPr>
        <p:spPr>
          <a:xfrm>
            <a:off x="3845454" y="1749879"/>
            <a:ext cx="340961" cy="999918"/>
          </a:xfrm>
          <a:custGeom>
            <a:avLst/>
            <a:gdLst>
              <a:gd name="connsiteX0" fmla="*/ 170481 w 170481"/>
              <a:gd name="connsiteY0" fmla="*/ 238364 h 664568"/>
              <a:gd name="connsiteX1" fmla="*/ 85241 w 170481"/>
              <a:gd name="connsiteY1" fmla="*/ 5890 h 664568"/>
              <a:gd name="connsiteX2" fmla="*/ 7749 w 170481"/>
              <a:gd name="connsiteY2" fmla="*/ 122127 h 664568"/>
              <a:gd name="connsiteX3" fmla="*/ 0 w 170481"/>
              <a:gd name="connsiteY3" fmla="*/ 664568 h 664568"/>
              <a:gd name="connsiteX0" fmla="*/ 348711 w 348711"/>
              <a:gd name="connsiteY0" fmla="*/ 108660 h 658851"/>
              <a:gd name="connsiteX1" fmla="*/ 85241 w 348711"/>
              <a:gd name="connsiteY1" fmla="*/ 173 h 658851"/>
              <a:gd name="connsiteX2" fmla="*/ 7749 w 348711"/>
              <a:gd name="connsiteY2" fmla="*/ 116410 h 658851"/>
              <a:gd name="connsiteX3" fmla="*/ 0 w 348711"/>
              <a:gd name="connsiteY3" fmla="*/ 658851 h 658851"/>
              <a:gd name="connsiteX0" fmla="*/ 348711 w 348711"/>
              <a:gd name="connsiteY0" fmla="*/ 108497 h 658688"/>
              <a:gd name="connsiteX1" fmla="*/ 85241 w 348711"/>
              <a:gd name="connsiteY1" fmla="*/ 10 h 658688"/>
              <a:gd name="connsiteX2" fmla="*/ 7749 w 348711"/>
              <a:gd name="connsiteY2" fmla="*/ 116247 h 658688"/>
              <a:gd name="connsiteX3" fmla="*/ 0 w 348711"/>
              <a:gd name="connsiteY3" fmla="*/ 658688 h 658688"/>
              <a:gd name="connsiteX0" fmla="*/ 343837 w 343837"/>
              <a:gd name="connsiteY0" fmla="*/ 109071 h 821994"/>
              <a:gd name="connsiteX1" fmla="*/ 80367 w 343837"/>
              <a:gd name="connsiteY1" fmla="*/ 584 h 821994"/>
              <a:gd name="connsiteX2" fmla="*/ 2875 w 343837"/>
              <a:gd name="connsiteY2" fmla="*/ 116821 h 821994"/>
              <a:gd name="connsiteX3" fmla="*/ 2876 w 343837"/>
              <a:gd name="connsiteY3" fmla="*/ 821994 h 821994"/>
              <a:gd name="connsiteX0" fmla="*/ 344280 w 344280"/>
              <a:gd name="connsiteY0" fmla="*/ 294470 h 1007393"/>
              <a:gd name="connsiteX1" fmla="*/ 88559 w 344280"/>
              <a:gd name="connsiteY1" fmla="*/ 3 h 1007393"/>
              <a:gd name="connsiteX2" fmla="*/ 3318 w 344280"/>
              <a:gd name="connsiteY2" fmla="*/ 302220 h 1007393"/>
              <a:gd name="connsiteX3" fmla="*/ 3319 w 344280"/>
              <a:gd name="connsiteY3" fmla="*/ 1007393 h 1007393"/>
              <a:gd name="connsiteX0" fmla="*/ 340961 w 340961"/>
              <a:gd name="connsiteY0" fmla="*/ 312268 h 1025191"/>
              <a:gd name="connsiteX1" fmla="*/ 85240 w 340961"/>
              <a:gd name="connsiteY1" fmla="*/ 17801 h 1025191"/>
              <a:gd name="connsiteX2" fmla="*/ 15498 w 340961"/>
              <a:gd name="connsiteY2" fmla="*/ 141788 h 1025191"/>
              <a:gd name="connsiteX3" fmla="*/ 0 w 340961"/>
              <a:gd name="connsiteY3" fmla="*/ 1025191 h 1025191"/>
              <a:gd name="connsiteX0" fmla="*/ 353526 w 353526"/>
              <a:gd name="connsiteY0" fmla="*/ 308826 h 1021749"/>
              <a:gd name="connsiteX1" fmla="*/ 97805 w 353526"/>
              <a:gd name="connsiteY1" fmla="*/ 14359 h 1021749"/>
              <a:gd name="connsiteX2" fmla="*/ 28063 w 353526"/>
              <a:gd name="connsiteY2" fmla="*/ 138346 h 1021749"/>
              <a:gd name="connsiteX3" fmla="*/ 12565 w 353526"/>
              <a:gd name="connsiteY3" fmla="*/ 1021749 h 1021749"/>
              <a:gd name="connsiteX0" fmla="*/ 340961 w 340961"/>
              <a:gd name="connsiteY0" fmla="*/ 294919 h 1007842"/>
              <a:gd name="connsiteX1" fmla="*/ 85240 w 340961"/>
              <a:gd name="connsiteY1" fmla="*/ 452 h 1007842"/>
              <a:gd name="connsiteX2" fmla="*/ 15498 w 340961"/>
              <a:gd name="connsiteY2" fmla="*/ 380161 h 1007842"/>
              <a:gd name="connsiteX3" fmla="*/ 0 w 340961"/>
              <a:gd name="connsiteY3" fmla="*/ 1007842 h 1007842"/>
              <a:gd name="connsiteX0" fmla="*/ 340961 w 340961"/>
              <a:gd name="connsiteY0" fmla="*/ 294919 h 1007842"/>
              <a:gd name="connsiteX1" fmla="*/ 85240 w 340961"/>
              <a:gd name="connsiteY1" fmla="*/ 452 h 1007842"/>
              <a:gd name="connsiteX2" fmla="*/ 15498 w 340961"/>
              <a:gd name="connsiteY2" fmla="*/ 380161 h 1007842"/>
              <a:gd name="connsiteX3" fmla="*/ 0 w 340961"/>
              <a:gd name="connsiteY3" fmla="*/ 1007842 h 1007842"/>
              <a:gd name="connsiteX0" fmla="*/ 340961 w 340961"/>
              <a:gd name="connsiteY0" fmla="*/ 287180 h 1000103"/>
              <a:gd name="connsiteX1" fmla="*/ 131735 w 340961"/>
              <a:gd name="connsiteY1" fmla="*/ 462 h 1000103"/>
              <a:gd name="connsiteX2" fmla="*/ 15498 w 340961"/>
              <a:gd name="connsiteY2" fmla="*/ 372422 h 1000103"/>
              <a:gd name="connsiteX3" fmla="*/ 0 w 340961"/>
              <a:gd name="connsiteY3" fmla="*/ 1000103 h 1000103"/>
              <a:gd name="connsiteX0" fmla="*/ 340961 w 340961"/>
              <a:gd name="connsiteY0" fmla="*/ 286995 h 999918"/>
              <a:gd name="connsiteX1" fmla="*/ 131735 w 340961"/>
              <a:gd name="connsiteY1" fmla="*/ 277 h 999918"/>
              <a:gd name="connsiteX2" fmla="*/ 15498 w 340961"/>
              <a:gd name="connsiteY2" fmla="*/ 372237 h 999918"/>
              <a:gd name="connsiteX3" fmla="*/ 0 w 340961"/>
              <a:gd name="connsiteY3" fmla="*/ 999918 h 999918"/>
            </a:gdLst>
            <a:ahLst/>
            <a:cxnLst>
              <a:cxn ang="0">
                <a:pos x="connsiteX0" y="connsiteY0"/>
              </a:cxn>
              <a:cxn ang="0">
                <a:pos x="connsiteX1" y="connsiteY1"/>
              </a:cxn>
              <a:cxn ang="0">
                <a:pos x="connsiteX2" y="connsiteY2"/>
              </a:cxn>
              <a:cxn ang="0">
                <a:pos x="connsiteX3" y="connsiteY3"/>
              </a:cxn>
            </a:cxnLst>
            <a:rect l="l" t="t" r="r" b="b"/>
            <a:pathLst>
              <a:path w="340961" h="999918">
                <a:moveTo>
                  <a:pt x="340961" y="286995"/>
                </a:moveTo>
                <a:cubicBezTo>
                  <a:pt x="180166" y="304430"/>
                  <a:pt x="302216" y="9318"/>
                  <a:pt x="131735" y="277"/>
                </a:cubicBezTo>
                <a:cubicBezTo>
                  <a:pt x="-38746" y="-8764"/>
                  <a:pt x="37454" y="205630"/>
                  <a:pt x="15498" y="372237"/>
                </a:cubicBezTo>
                <a:cubicBezTo>
                  <a:pt x="-6458" y="538844"/>
                  <a:pt x="23247" y="922427"/>
                  <a:pt x="0" y="999918"/>
                </a:cubicBezTo>
              </a:path>
            </a:pathLst>
          </a:custGeom>
          <a:noFill/>
          <a:ln w="38100">
            <a:solidFill>
              <a:srgbClr val="FF0000"/>
            </a:solidFill>
            <a:prstDash val="soli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ounded Rectangle 71"/>
          <p:cNvSpPr/>
          <p:nvPr/>
        </p:nvSpPr>
        <p:spPr>
          <a:xfrm>
            <a:off x="3220137" y="2445382"/>
            <a:ext cx="719256" cy="157564"/>
          </a:xfrm>
          <a:prstGeom prst="roundRect">
            <a:avLst/>
          </a:prstGeom>
          <a:solidFill>
            <a:schemeClr val="bg1"/>
          </a:solidFill>
          <a:ln w="381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54" name="Rounded Rectangle 53"/>
          <p:cNvSpPr/>
          <p:nvPr/>
        </p:nvSpPr>
        <p:spPr>
          <a:xfrm>
            <a:off x="3260937" y="2153798"/>
            <a:ext cx="397779" cy="166266"/>
          </a:xfrm>
          <a:prstGeom prst="roundRect">
            <a:avLst/>
          </a:prstGeom>
          <a:solidFill>
            <a:schemeClr val="bg1"/>
          </a:solidFill>
          <a:ln w="381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pic>
        <p:nvPicPr>
          <p:cNvPr id="79" name="Picture 78"/>
          <p:cNvPicPr>
            <a:picLocks noChangeAspect="1"/>
          </p:cNvPicPr>
          <p:nvPr/>
        </p:nvPicPr>
        <p:blipFill rotWithShape="1">
          <a:blip r:embed="rId6">
            <a:extLst>
              <a:ext uri="{28A0092B-C50C-407E-A947-70E740481C1C}">
                <a14:useLocalDpi xmlns:a14="http://schemas.microsoft.com/office/drawing/2010/main" val="0"/>
              </a:ext>
            </a:extLst>
          </a:blip>
          <a:srcRect l="19801" t="17153" r="3319" b="13767"/>
          <a:stretch/>
        </p:blipFill>
        <p:spPr>
          <a:xfrm>
            <a:off x="5210266" y="2856024"/>
            <a:ext cx="2871216" cy="2497522"/>
          </a:xfrm>
          <a:prstGeom prst="rect">
            <a:avLst/>
          </a:prstGeom>
        </p:spPr>
      </p:pic>
      <p:grpSp>
        <p:nvGrpSpPr>
          <p:cNvPr id="100" name="Group 99"/>
          <p:cNvGrpSpPr/>
          <p:nvPr/>
        </p:nvGrpSpPr>
        <p:grpSpPr>
          <a:xfrm>
            <a:off x="5213405" y="2700690"/>
            <a:ext cx="3013208" cy="317679"/>
            <a:chOff x="1527934" y="906049"/>
            <a:chExt cx="3754291" cy="395810"/>
          </a:xfrm>
        </p:grpSpPr>
        <p:pic>
          <p:nvPicPr>
            <p:cNvPr id="104" name="Picture 103"/>
            <p:cNvPicPr>
              <a:picLocks noChangeAspect="1"/>
            </p:cNvPicPr>
            <p:nvPr/>
          </p:nvPicPr>
          <p:blipFill rotWithShape="1">
            <a:blip r:embed="rId6">
              <a:extLst>
                <a:ext uri="{28A0092B-C50C-407E-A947-70E740481C1C}">
                  <a14:useLocalDpi xmlns:a14="http://schemas.microsoft.com/office/drawing/2010/main" val="0"/>
                </a:ext>
              </a:extLst>
            </a:blip>
            <a:srcRect l="18106" t="-262" r="47071" b="94129"/>
            <a:stretch/>
          </p:blipFill>
          <p:spPr>
            <a:xfrm>
              <a:off x="1543429" y="909653"/>
              <a:ext cx="1300510" cy="221723"/>
            </a:xfrm>
            <a:prstGeom prst="rect">
              <a:avLst/>
            </a:prstGeom>
          </p:spPr>
        </p:pic>
        <p:pic>
          <p:nvPicPr>
            <p:cNvPr id="105" name="Picture 104"/>
            <p:cNvPicPr>
              <a:picLocks noChangeAspect="1"/>
            </p:cNvPicPr>
            <p:nvPr/>
          </p:nvPicPr>
          <p:blipFill rotWithShape="1">
            <a:blip r:embed="rId6">
              <a:extLst>
                <a:ext uri="{28A0092B-C50C-407E-A947-70E740481C1C}">
                  <a14:useLocalDpi xmlns:a14="http://schemas.microsoft.com/office/drawing/2010/main" val="0"/>
                </a:ext>
              </a:extLst>
            </a:blip>
            <a:srcRect l="52896" t="-261" r="2009" b="89314"/>
            <a:stretch/>
          </p:blipFill>
          <p:spPr>
            <a:xfrm>
              <a:off x="3598104" y="906049"/>
              <a:ext cx="1684121" cy="395810"/>
            </a:xfrm>
            <a:prstGeom prst="rect">
              <a:avLst/>
            </a:prstGeom>
          </p:spPr>
        </p:pic>
        <p:pic>
          <p:nvPicPr>
            <p:cNvPr id="108" name="Picture 107"/>
            <p:cNvPicPr>
              <a:picLocks noChangeAspect="1"/>
            </p:cNvPicPr>
            <p:nvPr/>
          </p:nvPicPr>
          <p:blipFill rotWithShape="1">
            <a:blip r:embed="rId6">
              <a:extLst>
                <a:ext uri="{28A0092B-C50C-407E-A947-70E740481C1C}">
                  <a14:useLocalDpi xmlns:a14="http://schemas.microsoft.com/office/drawing/2010/main" val="0"/>
                </a:ext>
              </a:extLst>
            </a:blip>
            <a:srcRect l="52896" t="10315" r="2009" b="84401"/>
            <a:stretch/>
          </p:blipFill>
          <p:spPr>
            <a:xfrm>
              <a:off x="1527934" y="1107186"/>
              <a:ext cx="1684119" cy="191014"/>
            </a:xfrm>
            <a:prstGeom prst="rect">
              <a:avLst/>
            </a:prstGeom>
          </p:spPr>
        </p:pic>
      </p:grpSp>
      <p:sp>
        <p:nvSpPr>
          <p:cNvPr id="109" name="Freeform 108"/>
          <p:cNvSpPr/>
          <p:nvPr/>
        </p:nvSpPr>
        <p:spPr>
          <a:xfrm flipV="1">
            <a:off x="1112831" y="2571146"/>
            <a:ext cx="2029393" cy="284419"/>
          </a:xfrm>
          <a:custGeom>
            <a:avLst/>
            <a:gdLst>
              <a:gd name="connsiteX0" fmla="*/ 0 w 398834"/>
              <a:gd name="connsiteY0" fmla="*/ 2188723 h 2188723"/>
              <a:gd name="connsiteX1" fmla="*/ 398834 w 398834"/>
              <a:gd name="connsiteY1" fmla="*/ 0 h 2188723"/>
              <a:gd name="connsiteX0" fmla="*/ 70658 w 469492"/>
              <a:gd name="connsiteY0" fmla="*/ 2188723 h 2188723"/>
              <a:gd name="connsiteX1" fmla="*/ 469492 w 469492"/>
              <a:gd name="connsiteY1" fmla="*/ 0 h 2188723"/>
              <a:gd name="connsiteX0" fmla="*/ 0 w 1070042"/>
              <a:gd name="connsiteY0" fmla="*/ 2345655 h 2345655"/>
              <a:gd name="connsiteX1" fmla="*/ 1070042 w 1070042"/>
              <a:gd name="connsiteY1" fmla="*/ 0 h 2345655"/>
              <a:gd name="connsiteX0" fmla="*/ 0 w 1070042"/>
              <a:gd name="connsiteY0" fmla="*/ 2345655 h 2345655"/>
              <a:gd name="connsiteX1" fmla="*/ 1070042 w 1070042"/>
              <a:gd name="connsiteY1" fmla="*/ 0 h 2345655"/>
              <a:gd name="connsiteX0" fmla="*/ 0 w 1245140"/>
              <a:gd name="connsiteY0" fmla="*/ 2478443 h 2478443"/>
              <a:gd name="connsiteX1" fmla="*/ 1245140 w 1245140"/>
              <a:gd name="connsiteY1" fmla="*/ 0 h 2478443"/>
              <a:gd name="connsiteX0" fmla="*/ 0 w 1400783"/>
              <a:gd name="connsiteY0" fmla="*/ 2611231 h 2611231"/>
              <a:gd name="connsiteX1" fmla="*/ 1400783 w 1400783"/>
              <a:gd name="connsiteY1" fmla="*/ 0 h 2611231"/>
              <a:gd name="connsiteX0" fmla="*/ 0 w 1361872"/>
              <a:gd name="connsiteY0" fmla="*/ 2514658 h 2514658"/>
              <a:gd name="connsiteX1" fmla="*/ 1361872 w 1361872"/>
              <a:gd name="connsiteY1" fmla="*/ 0 h 2514658"/>
              <a:gd name="connsiteX0" fmla="*/ 0 w 2508747"/>
              <a:gd name="connsiteY0" fmla="*/ 150276 h 1033436"/>
              <a:gd name="connsiteX1" fmla="*/ 2508747 w 2508747"/>
              <a:gd name="connsiteY1" fmla="*/ 875919 h 1033436"/>
              <a:gd name="connsiteX0" fmla="*/ 525 w 2509272"/>
              <a:gd name="connsiteY0" fmla="*/ 0 h 1012937"/>
              <a:gd name="connsiteX1" fmla="*/ 2509272 w 2509272"/>
              <a:gd name="connsiteY1" fmla="*/ 725643 h 1012937"/>
              <a:gd name="connsiteX0" fmla="*/ 524 w 2509271"/>
              <a:gd name="connsiteY0" fmla="*/ 0 h 725643"/>
              <a:gd name="connsiteX1" fmla="*/ 2509271 w 2509271"/>
              <a:gd name="connsiteY1" fmla="*/ 725643 h 725643"/>
              <a:gd name="connsiteX0" fmla="*/ 623 w 2183905"/>
              <a:gd name="connsiteY0" fmla="*/ 0 h 564077"/>
              <a:gd name="connsiteX1" fmla="*/ 2183905 w 2183905"/>
              <a:gd name="connsiteY1" fmla="*/ 564077 h 564077"/>
              <a:gd name="connsiteX0" fmla="*/ 846 w 2184128"/>
              <a:gd name="connsiteY0" fmla="*/ 0 h 564077"/>
              <a:gd name="connsiteX1" fmla="*/ 2184128 w 2184128"/>
              <a:gd name="connsiteY1" fmla="*/ 564077 h 564077"/>
              <a:gd name="connsiteX0" fmla="*/ 0 w 2183282"/>
              <a:gd name="connsiteY0" fmla="*/ 0 h 564077"/>
              <a:gd name="connsiteX1" fmla="*/ 2183282 w 2183282"/>
              <a:gd name="connsiteY1" fmla="*/ 564077 h 564077"/>
            </a:gdLst>
            <a:ahLst/>
            <a:cxnLst>
              <a:cxn ang="0">
                <a:pos x="connsiteX0" y="connsiteY0"/>
              </a:cxn>
              <a:cxn ang="0">
                <a:pos x="connsiteX1" y="connsiteY1"/>
              </a:cxn>
            </a:cxnLst>
            <a:rect l="l" t="t" r="r" b="b"/>
            <a:pathLst>
              <a:path w="2183282" h="564077">
                <a:moveTo>
                  <a:pt x="0" y="0"/>
                </a:moveTo>
                <a:cubicBezTo>
                  <a:pt x="326674" y="1137411"/>
                  <a:pt x="1180618" y="-329718"/>
                  <a:pt x="2183282" y="564077"/>
                </a:cubicBezTo>
              </a:path>
            </a:pathLst>
          </a:custGeom>
          <a:noFill/>
          <a:ln w="38100">
            <a:solidFill>
              <a:schemeClr val="tx1"/>
            </a:solidFill>
            <a:prstDash val="sysDot"/>
            <a:headEnd type="none"/>
            <a:tailEnd type="stealt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10" name="Rounded Rectangle 109"/>
          <p:cNvSpPr/>
          <p:nvPr/>
        </p:nvSpPr>
        <p:spPr>
          <a:xfrm>
            <a:off x="212372" y="2844382"/>
            <a:ext cx="1255950" cy="398252"/>
          </a:xfrm>
          <a:prstGeom prst="roundRect">
            <a:avLst/>
          </a:prstGeom>
          <a:solidFill>
            <a:schemeClr val="bg1"/>
          </a:solidFill>
          <a:ln w="381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dirty="0" err="1" smtClean="0">
                <a:solidFill>
                  <a:schemeClr val="tx1"/>
                </a:solidFill>
                <a:latin typeface="Consolas" panose="020B0609020204030204" pitchFamily="49" charset="0"/>
                <a:cs typeface="Consolas" panose="020B0609020204030204" pitchFamily="49" charset="0"/>
              </a:rPr>
              <a:t>IOStream</a:t>
            </a:r>
            <a:endParaRPr lang="en-US" sz="2000" dirty="0">
              <a:solidFill>
                <a:schemeClr val="tx1"/>
              </a:solidFill>
              <a:latin typeface="Consolas" panose="020B0609020204030204" pitchFamily="49" charset="0"/>
              <a:cs typeface="Consolas" panose="020B0609020204030204" pitchFamily="49" charset="0"/>
            </a:endParaRPr>
          </a:p>
        </p:txBody>
      </p:sp>
      <p:sp>
        <p:nvSpPr>
          <p:cNvPr id="2" name="Slide Number Placeholder 1"/>
          <p:cNvSpPr>
            <a:spLocks noGrp="1"/>
          </p:cNvSpPr>
          <p:nvPr>
            <p:ph type="sldNum" sz="quarter" idx="12"/>
          </p:nvPr>
        </p:nvSpPr>
        <p:spPr/>
        <p:txBody>
          <a:bodyPr/>
          <a:lstStyle/>
          <a:p>
            <a:fld id="{D431E30F-8439-471B-9257-EDD8E85CDBC8}" type="slidenum">
              <a:rPr lang="en-US" smtClean="0"/>
              <a:t>8</a:t>
            </a:fld>
            <a:endParaRPr lang="en-US"/>
          </a:p>
        </p:txBody>
      </p:sp>
    </p:spTree>
    <p:extLst>
      <p:ext uri="{BB962C8B-B14F-4D97-AF65-F5344CB8AC3E}">
        <p14:creationId xmlns:p14="http://schemas.microsoft.com/office/powerpoint/2010/main" val="805531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xit" presetSubtype="1" fill="hold" grpId="0" nodeType="withEffect">
                                  <p:stCondLst>
                                    <p:cond delay="0"/>
                                  </p:stCondLst>
                                  <p:childTnLst>
                                    <p:animEffect transition="out" filter="wheel(1)">
                                      <p:cBhvr>
                                        <p:cTn id="6" dur="750"/>
                                        <p:tgtEl>
                                          <p:spTgt spid="75"/>
                                        </p:tgtEl>
                                      </p:cBhvr>
                                    </p:animEffect>
                                    <p:set>
                                      <p:cBhvr>
                                        <p:cTn id="7" dur="1" fill="hold">
                                          <p:stCondLst>
                                            <p:cond delay="749"/>
                                          </p:stCondLst>
                                        </p:cTn>
                                        <p:tgtEl>
                                          <p:spTgt spid="75"/>
                                        </p:tgtEl>
                                        <p:attrNameLst>
                                          <p:attrName>style.visibility</p:attrName>
                                        </p:attrNameLst>
                                      </p:cBhvr>
                                      <p:to>
                                        <p:strVal val="hidden"/>
                                      </p:to>
                                    </p:set>
                                  </p:childTnLst>
                                </p:cTn>
                              </p:par>
                              <p:par>
                                <p:cTn id="8" presetID="21" presetClass="exit" presetSubtype="1" fill="hold" grpId="0" nodeType="withEffect">
                                  <p:stCondLst>
                                    <p:cond delay="500"/>
                                  </p:stCondLst>
                                  <p:childTnLst>
                                    <p:animEffect transition="out" filter="wheel(1)">
                                      <p:cBhvr>
                                        <p:cTn id="9" dur="750"/>
                                        <p:tgtEl>
                                          <p:spTgt spid="76"/>
                                        </p:tgtEl>
                                      </p:cBhvr>
                                    </p:animEffect>
                                    <p:set>
                                      <p:cBhvr>
                                        <p:cTn id="10" dur="1" fill="hold">
                                          <p:stCondLst>
                                            <p:cond delay="749"/>
                                          </p:stCondLst>
                                        </p:cTn>
                                        <p:tgtEl>
                                          <p:spTgt spid="76"/>
                                        </p:tgtEl>
                                        <p:attrNameLst>
                                          <p:attrName>style.visibility</p:attrName>
                                        </p:attrNameLst>
                                      </p:cBhvr>
                                      <p:to>
                                        <p:strVal val="hidden"/>
                                      </p:to>
                                    </p:set>
                                  </p:childTnLst>
                                </p:cTn>
                              </p:par>
                              <p:par>
                                <p:cTn id="11" presetID="21" presetClass="exit" presetSubtype="1" fill="hold" grpId="0" nodeType="withEffect">
                                  <p:stCondLst>
                                    <p:cond delay="1000"/>
                                  </p:stCondLst>
                                  <p:childTnLst>
                                    <p:animEffect transition="out" filter="wheel(1)">
                                      <p:cBhvr>
                                        <p:cTn id="12" dur="750"/>
                                        <p:tgtEl>
                                          <p:spTgt spid="77"/>
                                        </p:tgtEl>
                                      </p:cBhvr>
                                    </p:animEffect>
                                    <p:set>
                                      <p:cBhvr>
                                        <p:cTn id="13" dur="1" fill="hold">
                                          <p:stCondLst>
                                            <p:cond delay="749"/>
                                          </p:stCondLst>
                                        </p:cTn>
                                        <p:tgtEl>
                                          <p:spTgt spid="77"/>
                                        </p:tgtEl>
                                        <p:attrNameLst>
                                          <p:attrName>style.visibility</p:attrName>
                                        </p:attrNameLst>
                                      </p:cBhvr>
                                      <p:to>
                                        <p:strVal val="hidden"/>
                                      </p:to>
                                    </p:set>
                                  </p:childTnLst>
                                </p:cTn>
                              </p:par>
                            </p:childTnLst>
                          </p:cTn>
                        </p:par>
                        <p:par>
                          <p:cTn id="14" fill="hold">
                            <p:stCondLst>
                              <p:cond delay="1750"/>
                            </p:stCondLst>
                            <p:childTnLst>
                              <p:par>
                                <p:cTn id="15" presetID="10" presetClass="entr" presetSubtype="0" fill="hold" grpId="0" nodeType="afterEffect">
                                  <p:stCondLst>
                                    <p:cond delay="0"/>
                                  </p:stCondLst>
                                  <p:childTnLst>
                                    <p:set>
                                      <p:cBhvr>
                                        <p:cTn id="16" dur="1" fill="hold">
                                          <p:stCondLst>
                                            <p:cond delay="0"/>
                                          </p:stCondLst>
                                        </p:cTn>
                                        <p:tgtEl>
                                          <p:spTgt spid="51"/>
                                        </p:tgtEl>
                                        <p:attrNameLst>
                                          <p:attrName>style.visibility</p:attrName>
                                        </p:attrNameLst>
                                      </p:cBhvr>
                                      <p:to>
                                        <p:strVal val="visible"/>
                                      </p:to>
                                    </p:set>
                                    <p:animEffect transition="in" filter="fade">
                                      <p:cBhvr>
                                        <p:cTn id="17" dur="500"/>
                                        <p:tgtEl>
                                          <p:spTgt spid="5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up)">
                                      <p:cBhvr>
                                        <p:cTn id="22" dur="500"/>
                                        <p:tgtEl>
                                          <p:spTgt spid="5"/>
                                        </p:tgtEl>
                                      </p:cBhvr>
                                    </p:animEffect>
                                  </p:childTnLst>
                                </p:cTn>
                              </p:par>
                            </p:childTnLst>
                          </p:cTn>
                        </p:par>
                        <p:par>
                          <p:cTn id="23" fill="hold">
                            <p:stCondLst>
                              <p:cond delay="500"/>
                            </p:stCondLst>
                            <p:childTnLst>
                              <p:par>
                                <p:cTn id="24" presetID="1" presetClass="entr" presetSubtype="0" fill="hold" grpId="0" nodeType="afterEffect">
                                  <p:stCondLst>
                                    <p:cond delay="500"/>
                                  </p:stCondLst>
                                  <p:childTnLst>
                                    <p:set>
                                      <p:cBhvr>
                                        <p:cTn id="25" dur="1" fill="hold">
                                          <p:stCondLst>
                                            <p:cond delay="0"/>
                                          </p:stCondLst>
                                        </p:cTn>
                                        <p:tgtEl>
                                          <p:spTgt spid="7"/>
                                        </p:tgtEl>
                                        <p:attrNameLst>
                                          <p:attrName>style.visibility</p:attrName>
                                        </p:attrNameLst>
                                      </p:cBhvr>
                                      <p:to>
                                        <p:strVal val="visible"/>
                                      </p:to>
                                    </p:set>
                                  </p:childTnLst>
                                </p:cTn>
                              </p:par>
                            </p:childTnLst>
                          </p:cTn>
                        </p:par>
                        <p:par>
                          <p:cTn id="26" fill="hold">
                            <p:stCondLst>
                              <p:cond delay="1000"/>
                            </p:stCondLst>
                            <p:childTnLst>
                              <p:par>
                                <p:cTn id="27" presetID="10" presetClass="entr" presetSubtype="0"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xit" presetSubtype="0" fill="hold" grpId="1" nodeType="clickEffect">
                                  <p:stCondLst>
                                    <p:cond delay="0"/>
                                  </p:stCondLst>
                                  <p:childTnLst>
                                    <p:set>
                                      <p:cBhvr>
                                        <p:cTn id="33" dur="1" fill="hold">
                                          <p:stCondLst>
                                            <p:cond delay="0"/>
                                          </p:stCondLst>
                                        </p:cTn>
                                        <p:tgtEl>
                                          <p:spTgt spid="7"/>
                                        </p:tgtEl>
                                        <p:attrNameLst>
                                          <p:attrName>style.visibility</p:attrName>
                                        </p:attrNameLst>
                                      </p:cBhvr>
                                      <p:to>
                                        <p:strVal val="hidden"/>
                                      </p:to>
                                    </p:set>
                                  </p:childTnLst>
                                </p:cTn>
                              </p:par>
                              <p:par>
                                <p:cTn id="34" presetID="1" presetClass="exit" presetSubtype="0" fill="hold" grpId="1" nodeType="withEffect">
                                  <p:stCondLst>
                                    <p:cond delay="0"/>
                                  </p:stCondLst>
                                  <p:childTnLst>
                                    <p:set>
                                      <p:cBhvr>
                                        <p:cTn id="35" dur="1" fill="hold">
                                          <p:stCondLst>
                                            <p:cond delay="0"/>
                                          </p:stCondLst>
                                        </p:cTn>
                                        <p:tgtEl>
                                          <p:spTgt spid="8"/>
                                        </p:tgtEl>
                                        <p:attrNameLst>
                                          <p:attrName>style.visibility</p:attrName>
                                        </p:attrNameLst>
                                      </p:cBhvr>
                                      <p:to>
                                        <p:strVal val="hidden"/>
                                      </p:to>
                                    </p:set>
                                  </p:childTnLst>
                                </p:cTn>
                              </p:par>
                              <p:par>
                                <p:cTn id="36" presetID="22" presetClass="exit" presetSubtype="2" fill="hold" grpId="0" nodeType="withEffect">
                                  <p:stCondLst>
                                    <p:cond delay="0"/>
                                  </p:stCondLst>
                                  <p:childTnLst>
                                    <p:animEffect transition="out" filter="wipe(right)">
                                      <p:cBhvr>
                                        <p:cTn id="37" dur="500"/>
                                        <p:tgtEl>
                                          <p:spTgt spid="59"/>
                                        </p:tgtEl>
                                      </p:cBhvr>
                                    </p:animEffect>
                                    <p:set>
                                      <p:cBhvr>
                                        <p:cTn id="38" dur="1" fill="hold">
                                          <p:stCondLst>
                                            <p:cond delay="499"/>
                                          </p:stCondLst>
                                        </p:cTn>
                                        <p:tgtEl>
                                          <p:spTgt spid="59"/>
                                        </p:tgtEl>
                                        <p:attrNameLst>
                                          <p:attrName>style.visibility</p:attrName>
                                        </p:attrNameLst>
                                      </p:cBhvr>
                                      <p:to>
                                        <p:strVal val="hidden"/>
                                      </p:to>
                                    </p:set>
                                  </p:childTnLst>
                                </p:cTn>
                              </p:par>
                            </p:childTnLst>
                          </p:cTn>
                        </p:par>
                        <p:par>
                          <p:cTn id="39" fill="hold">
                            <p:stCondLst>
                              <p:cond delay="500"/>
                            </p:stCondLst>
                            <p:childTnLst>
                              <p:par>
                                <p:cTn id="40" presetID="10" presetClass="exit" presetSubtype="0" fill="hold" grpId="0" nodeType="afterEffect">
                                  <p:stCondLst>
                                    <p:cond delay="0"/>
                                  </p:stCondLst>
                                  <p:childTnLst>
                                    <p:animEffect transition="out" filter="fade">
                                      <p:cBhvr>
                                        <p:cTn id="41" dur="500"/>
                                        <p:tgtEl>
                                          <p:spTgt spid="60"/>
                                        </p:tgtEl>
                                      </p:cBhvr>
                                    </p:animEffect>
                                    <p:set>
                                      <p:cBhvr>
                                        <p:cTn id="42" dur="1" fill="hold">
                                          <p:stCondLst>
                                            <p:cond delay="499"/>
                                          </p:stCondLst>
                                        </p:cTn>
                                        <p:tgtEl>
                                          <p:spTgt spid="60"/>
                                        </p:tgtEl>
                                        <p:attrNameLst>
                                          <p:attrName>style.visibility</p:attrName>
                                        </p:attrNameLst>
                                      </p:cBhvr>
                                      <p:to>
                                        <p:strVal val="hidden"/>
                                      </p:to>
                                    </p:set>
                                  </p:childTnLst>
                                </p:cTn>
                              </p:par>
                            </p:childTnLst>
                          </p:cTn>
                        </p:par>
                        <p:par>
                          <p:cTn id="43" fill="hold">
                            <p:stCondLst>
                              <p:cond delay="1000"/>
                            </p:stCondLst>
                            <p:childTnLst>
                              <p:par>
                                <p:cTn id="44" presetID="10" presetClass="entr" presetSubtype="0" fill="hold" grpId="0" nodeType="afterEffect">
                                  <p:stCondLst>
                                    <p:cond delay="0"/>
                                  </p:stCondLst>
                                  <p:childTnLst>
                                    <p:set>
                                      <p:cBhvr>
                                        <p:cTn id="45" dur="1" fill="hold">
                                          <p:stCondLst>
                                            <p:cond delay="0"/>
                                          </p:stCondLst>
                                        </p:cTn>
                                        <p:tgtEl>
                                          <p:spTgt spid="110"/>
                                        </p:tgtEl>
                                        <p:attrNameLst>
                                          <p:attrName>style.visibility</p:attrName>
                                        </p:attrNameLst>
                                      </p:cBhvr>
                                      <p:to>
                                        <p:strVal val="visible"/>
                                      </p:to>
                                    </p:set>
                                    <p:animEffect transition="in" filter="fade">
                                      <p:cBhvr>
                                        <p:cTn id="46" dur="500"/>
                                        <p:tgtEl>
                                          <p:spTgt spid="110"/>
                                        </p:tgtEl>
                                      </p:cBhvr>
                                    </p:animEffect>
                                  </p:childTnLst>
                                </p:cTn>
                              </p:par>
                            </p:childTnLst>
                          </p:cTn>
                        </p:par>
                        <p:par>
                          <p:cTn id="47" fill="hold">
                            <p:stCondLst>
                              <p:cond delay="1500"/>
                            </p:stCondLst>
                            <p:childTnLst>
                              <p:par>
                                <p:cTn id="48" presetID="0" presetClass="path" presetSubtype="0" fill="hold" grpId="1" nodeType="afterEffect">
                                  <p:stCondLst>
                                    <p:cond delay="0"/>
                                  </p:stCondLst>
                                  <p:childTnLst>
                                    <p:animMotion origin="layout" path="M 0 0 L 0.00938 0.04282 " pathEditMode="relative" ptsTypes="AA">
                                      <p:cBhvr>
                                        <p:cTn id="49" dur="500" fill="hold"/>
                                        <p:tgtEl>
                                          <p:spTgt spid="54"/>
                                        </p:tgtEl>
                                        <p:attrNameLst>
                                          <p:attrName>ppt_x</p:attrName>
                                          <p:attrName>ppt_y</p:attrName>
                                        </p:attrNameLst>
                                      </p:cBhvr>
                                    </p:animMotion>
                                  </p:childTnLst>
                                </p:cTn>
                              </p:par>
                              <p:par>
                                <p:cTn id="50" presetID="22" presetClass="entr" presetSubtype="8" fill="hold" grpId="0" nodeType="withEffect">
                                  <p:stCondLst>
                                    <p:cond delay="0"/>
                                  </p:stCondLst>
                                  <p:childTnLst>
                                    <p:set>
                                      <p:cBhvr>
                                        <p:cTn id="51" dur="1" fill="hold">
                                          <p:stCondLst>
                                            <p:cond delay="0"/>
                                          </p:stCondLst>
                                        </p:cTn>
                                        <p:tgtEl>
                                          <p:spTgt spid="109"/>
                                        </p:tgtEl>
                                        <p:attrNameLst>
                                          <p:attrName>style.visibility</p:attrName>
                                        </p:attrNameLst>
                                      </p:cBhvr>
                                      <p:to>
                                        <p:strVal val="visible"/>
                                      </p:to>
                                    </p:set>
                                    <p:animEffect transition="in" filter="wipe(left)">
                                      <p:cBhvr>
                                        <p:cTn id="52" dur="500"/>
                                        <p:tgtEl>
                                          <p:spTgt spid="109"/>
                                        </p:tgtEl>
                                      </p:cBhvr>
                                    </p:animEffect>
                                  </p:childTnLst>
                                </p:cTn>
                              </p:par>
                              <p:par>
                                <p:cTn id="53" presetID="16" presetClass="entr" presetSubtype="37" fill="hold" grpId="0" nodeType="withEffect">
                                  <p:stCondLst>
                                    <p:cond delay="500"/>
                                  </p:stCondLst>
                                  <p:childTnLst>
                                    <p:set>
                                      <p:cBhvr>
                                        <p:cTn id="54" dur="1" fill="hold">
                                          <p:stCondLst>
                                            <p:cond delay="0"/>
                                          </p:stCondLst>
                                        </p:cTn>
                                        <p:tgtEl>
                                          <p:spTgt spid="72"/>
                                        </p:tgtEl>
                                        <p:attrNameLst>
                                          <p:attrName>style.visibility</p:attrName>
                                        </p:attrNameLst>
                                      </p:cBhvr>
                                      <p:to>
                                        <p:strVal val="visible"/>
                                      </p:to>
                                    </p:set>
                                    <p:animEffect transition="in" filter="barn(outVertical)">
                                      <p:cBhvr>
                                        <p:cTn id="55" dur="500"/>
                                        <p:tgtEl>
                                          <p:spTgt spid="72"/>
                                        </p:tgtEl>
                                      </p:cBhvr>
                                    </p:animEffect>
                                  </p:childTnLst>
                                </p:cTn>
                              </p:par>
                              <p:par>
                                <p:cTn id="56" presetID="10" presetClass="exit" presetSubtype="0" fill="hold" grpId="0" nodeType="withEffect">
                                  <p:stCondLst>
                                    <p:cond delay="750"/>
                                  </p:stCondLst>
                                  <p:childTnLst>
                                    <p:animEffect transition="out" filter="fade">
                                      <p:cBhvr>
                                        <p:cTn id="57" dur="250"/>
                                        <p:tgtEl>
                                          <p:spTgt spid="54"/>
                                        </p:tgtEl>
                                      </p:cBhvr>
                                    </p:animEffect>
                                    <p:set>
                                      <p:cBhvr>
                                        <p:cTn id="58" dur="1" fill="hold">
                                          <p:stCondLst>
                                            <p:cond delay="249"/>
                                          </p:stCondLst>
                                        </p:cTn>
                                        <p:tgtEl>
                                          <p:spTgt spid="54"/>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0" presetClass="exit" presetSubtype="0" fill="hold" nodeType="clickEffect">
                                  <p:stCondLst>
                                    <p:cond delay="0"/>
                                  </p:stCondLst>
                                  <p:childTnLst>
                                    <p:animEffect transition="out" filter="fade">
                                      <p:cBhvr>
                                        <p:cTn id="62" dur="500"/>
                                        <p:tgtEl>
                                          <p:spTgt spid="101"/>
                                        </p:tgtEl>
                                      </p:cBhvr>
                                    </p:animEffect>
                                    <p:set>
                                      <p:cBhvr>
                                        <p:cTn id="63" dur="1" fill="hold">
                                          <p:stCondLst>
                                            <p:cond delay="499"/>
                                          </p:stCondLst>
                                        </p:cTn>
                                        <p:tgtEl>
                                          <p:spTgt spid="101"/>
                                        </p:tgtEl>
                                        <p:attrNameLst>
                                          <p:attrName>style.visibility</p:attrName>
                                        </p:attrNameLst>
                                      </p:cBhvr>
                                      <p:to>
                                        <p:strVal val="hidden"/>
                                      </p:to>
                                    </p:set>
                                  </p:childTnLst>
                                </p:cTn>
                              </p:par>
                            </p:childTnLst>
                          </p:cTn>
                        </p:par>
                        <p:par>
                          <p:cTn id="64" fill="hold">
                            <p:stCondLst>
                              <p:cond delay="500"/>
                            </p:stCondLst>
                            <p:childTnLst>
                              <p:par>
                                <p:cTn id="65" presetID="10" presetClass="entr" presetSubtype="0" fill="hold" nodeType="afterEffect">
                                  <p:stCondLst>
                                    <p:cond delay="0"/>
                                  </p:stCondLst>
                                  <p:childTnLst>
                                    <p:set>
                                      <p:cBhvr>
                                        <p:cTn id="66" dur="1" fill="hold">
                                          <p:stCondLst>
                                            <p:cond delay="0"/>
                                          </p:stCondLst>
                                        </p:cTn>
                                        <p:tgtEl>
                                          <p:spTgt spid="100"/>
                                        </p:tgtEl>
                                        <p:attrNameLst>
                                          <p:attrName>style.visibility</p:attrName>
                                        </p:attrNameLst>
                                      </p:cBhvr>
                                      <p:to>
                                        <p:strVal val="visible"/>
                                      </p:to>
                                    </p:set>
                                    <p:animEffect transition="in" filter="fade">
                                      <p:cBhvr>
                                        <p:cTn id="67" dur="500"/>
                                        <p:tgtEl>
                                          <p:spTgt spid="100"/>
                                        </p:tgtEl>
                                      </p:cBhvr>
                                    </p:animEffect>
                                  </p:childTnLst>
                                </p:cTn>
                              </p:par>
                            </p:childTnLst>
                          </p:cTn>
                        </p:par>
                        <p:par>
                          <p:cTn id="68" fill="hold">
                            <p:stCondLst>
                              <p:cond delay="1000"/>
                            </p:stCondLst>
                            <p:childTnLst>
                              <p:par>
                                <p:cTn id="69" presetID="22" presetClass="entr" presetSubtype="8" fill="hold" nodeType="afterEffect">
                                  <p:stCondLst>
                                    <p:cond delay="250"/>
                                  </p:stCondLst>
                                  <p:childTnLst>
                                    <p:set>
                                      <p:cBhvr>
                                        <p:cTn id="70" dur="1" fill="hold">
                                          <p:stCondLst>
                                            <p:cond delay="0"/>
                                          </p:stCondLst>
                                        </p:cTn>
                                        <p:tgtEl>
                                          <p:spTgt spid="79"/>
                                        </p:tgtEl>
                                        <p:attrNameLst>
                                          <p:attrName>style.visibility</p:attrName>
                                        </p:attrNameLst>
                                      </p:cBhvr>
                                      <p:to>
                                        <p:strVal val="visible"/>
                                      </p:to>
                                    </p:set>
                                    <p:animEffect transition="in" filter="wipe(left)">
                                      <p:cBhvr>
                                        <p:cTn id="71" dur="1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P spid="59" grpId="0" animBg="1"/>
      <p:bldP spid="60" grpId="0" animBg="1"/>
      <p:bldP spid="75" grpId="0" animBg="1"/>
      <p:bldP spid="76" grpId="0" animBg="1"/>
      <p:bldP spid="77" grpId="0" animBg="1"/>
      <p:bldP spid="5" grpId="0" animBg="1"/>
      <p:bldP spid="7" grpId="0"/>
      <p:bldP spid="7" grpId="1"/>
      <p:bldP spid="8" grpId="0" animBg="1"/>
      <p:bldP spid="8" grpId="1" animBg="1"/>
      <p:bldP spid="72" grpId="0" animBg="1"/>
      <p:bldP spid="54" grpId="0" animBg="1"/>
      <p:bldP spid="54" grpId="1" animBg="1"/>
      <p:bldP spid="109" grpId="0" animBg="1"/>
      <p:bldP spid="11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6" name="Group 65"/>
          <p:cNvGrpSpPr/>
          <p:nvPr/>
        </p:nvGrpSpPr>
        <p:grpSpPr>
          <a:xfrm>
            <a:off x="4940648" y="232518"/>
            <a:ext cx="1842486" cy="463053"/>
            <a:chOff x="4940648" y="232518"/>
            <a:chExt cx="1842486" cy="463053"/>
          </a:xfrm>
        </p:grpSpPr>
        <p:sp>
          <p:nvSpPr>
            <p:cNvPr id="67" name="Rounded Rectangle 66"/>
            <p:cNvSpPr/>
            <p:nvPr/>
          </p:nvSpPr>
          <p:spPr>
            <a:xfrm>
              <a:off x="4940648" y="324227"/>
              <a:ext cx="921528" cy="371344"/>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endParaRPr lang="en-US" sz="2000"/>
            </a:p>
          </p:txBody>
        </p:sp>
        <p:sp>
          <p:nvSpPr>
            <p:cNvPr id="68" name="Rounded Rectangular Callout 67"/>
            <p:cNvSpPr/>
            <p:nvPr/>
          </p:nvSpPr>
          <p:spPr>
            <a:xfrm>
              <a:off x="5671091" y="232518"/>
              <a:ext cx="1112043" cy="254741"/>
            </a:xfrm>
            <a:prstGeom prst="wedgeRoundRectCallout">
              <a:avLst>
                <a:gd name="adj1" fmla="val -62990"/>
                <a:gd name="adj2" fmla="val 5220"/>
                <a:gd name="adj3" fmla="val 16667"/>
              </a:avLst>
            </a:prstGeom>
            <a:solidFill>
              <a:schemeClr val="bg1"/>
            </a:solidFill>
            <a:ln w="28575">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r"/>
              <a:r>
                <a:rPr lang="en-US" sz="1400" dirty="0" smtClean="0">
                  <a:solidFill>
                    <a:schemeClr val="accent5">
                      <a:lumMod val="50000"/>
                    </a:schemeClr>
                  </a:solidFill>
                  <a:latin typeface="Times New Roman" panose="02020603050405020304" pitchFamily="18" charset="0"/>
                  <a:cs typeface="Times New Roman" panose="02020603050405020304" pitchFamily="18" charset="0"/>
                </a:rPr>
                <a:t>MRS</a:t>
              </a:r>
              <a:r>
                <a:rPr lang="en-US" sz="1200" dirty="0" smtClean="0">
                  <a:solidFill>
                    <a:schemeClr val="accent5">
                      <a:lumMod val="50000"/>
                    </a:schemeClr>
                  </a:solidFill>
                  <a:latin typeface="Times New Roman" panose="02020603050405020304" pitchFamily="18" charset="0"/>
                  <a:cs typeface="Times New Roman" panose="02020603050405020304" pitchFamily="18" charset="0"/>
                </a:rPr>
                <a:t>ORT</a:t>
              </a:r>
              <a:r>
                <a:rPr lang="en-US" sz="1400" dirty="0" smtClean="0">
                  <a:solidFill>
                    <a:schemeClr val="accent5">
                      <a:lumMod val="50000"/>
                    </a:schemeClr>
                  </a:solidFill>
                  <a:latin typeface="Times New Roman" panose="02020603050405020304" pitchFamily="18" charset="0"/>
                  <a:cs typeface="Times New Roman" panose="02020603050405020304" pitchFamily="18" charset="0"/>
                </a:rPr>
                <a:t>10</a:t>
              </a:r>
              <a:r>
                <a:rPr lang="en-US" sz="1200" dirty="0" smtClean="0">
                  <a:solidFill>
                    <a:schemeClr val="accent5">
                      <a:lumMod val="50000"/>
                    </a:schemeClr>
                  </a:solidFill>
                  <a:latin typeface="Times New Roman" panose="02020603050405020304" pitchFamily="18" charset="0"/>
                  <a:cs typeface="Times New Roman" panose="02020603050405020304" pitchFamily="18" charset="0"/>
                </a:rPr>
                <a:t>G</a:t>
              </a:r>
              <a:endParaRPr lang="en-US" sz="1400" dirty="0">
                <a:solidFill>
                  <a:schemeClr val="accent5">
                    <a:lumMod val="50000"/>
                  </a:schemeClr>
                </a:solidFill>
                <a:latin typeface="Times New Roman" panose="02020603050405020304" pitchFamily="18" charset="0"/>
                <a:cs typeface="Times New Roman" panose="02020603050405020304" pitchFamily="18" charset="0"/>
              </a:endParaRPr>
            </a:p>
          </p:txBody>
        </p:sp>
      </p:grpSp>
      <p:grpSp>
        <p:nvGrpSpPr>
          <p:cNvPr id="69" name="Group 68"/>
          <p:cNvGrpSpPr/>
          <p:nvPr/>
        </p:nvGrpSpPr>
        <p:grpSpPr>
          <a:xfrm>
            <a:off x="4856344" y="24598"/>
            <a:ext cx="1980291" cy="610402"/>
            <a:chOff x="4856344" y="24598"/>
            <a:chExt cx="1980291" cy="610402"/>
          </a:xfrm>
        </p:grpSpPr>
        <p:sp>
          <p:nvSpPr>
            <p:cNvPr id="70" name="Rounded Rectangle 69"/>
            <p:cNvSpPr/>
            <p:nvPr/>
          </p:nvSpPr>
          <p:spPr>
            <a:xfrm>
              <a:off x="4856344" y="263656"/>
              <a:ext cx="921528" cy="371344"/>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endParaRPr lang="en-US" sz="2000"/>
            </a:p>
          </p:txBody>
        </p:sp>
        <p:sp>
          <p:nvSpPr>
            <p:cNvPr id="71" name="Freeform 70"/>
            <p:cNvSpPr/>
            <p:nvPr/>
          </p:nvSpPr>
          <p:spPr>
            <a:xfrm>
              <a:off x="5155377" y="111478"/>
              <a:ext cx="323462" cy="37800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75" name="Rounded Rectangular Callout 74"/>
            <p:cNvSpPr/>
            <p:nvPr/>
          </p:nvSpPr>
          <p:spPr>
            <a:xfrm>
              <a:off x="5580342" y="24598"/>
              <a:ext cx="1256293" cy="254741"/>
            </a:xfrm>
            <a:prstGeom prst="wedgeRoundRectCallout">
              <a:avLst>
                <a:gd name="adj1" fmla="val -62990"/>
                <a:gd name="adj2" fmla="val 5220"/>
                <a:gd name="adj3" fmla="val 16667"/>
              </a:avLst>
            </a:prstGeom>
            <a:solidFill>
              <a:schemeClr val="bg1"/>
            </a:solidFill>
            <a:ln w="28575">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dirty="0" smtClean="0">
                  <a:solidFill>
                    <a:schemeClr val="accent5">
                      <a:lumMod val="50000"/>
                    </a:schemeClr>
                  </a:solidFill>
                  <a:latin typeface="Times New Roman" panose="02020603050405020304" pitchFamily="18" charset="0"/>
                  <a:cs typeface="Times New Roman" panose="02020603050405020304" pitchFamily="18" charset="0"/>
                </a:rPr>
                <a:t>MRS</a:t>
              </a:r>
              <a:r>
                <a:rPr lang="en-US" sz="1400" dirty="0" smtClean="0">
                  <a:solidFill>
                    <a:schemeClr val="accent5">
                      <a:lumMod val="50000"/>
                    </a:schemeClr>
                  </a:solidFill>
                  <a:latin typeface="Times New Roman" panose="02020603050405020304" pitchFamily="18" charset="0"/>
                  <a:cs typeface="Times New Roman" panose="02020603050405020304" pitchFamily="18" charset="0"/>
                </a:rPr>
                <a:t>ORT</a:t>
              </a:r>
              <a:r>
                <a:rPr lang="en-US" sz="1600" dirty="0" smtClean="0">
                  <a:solidFill>
                    <a:schemeClr val="accent5">
                      <a:lumMod val="50000"/>
                    </a:schemeClr>
                  </a:solidFill>
                  <a:latin typeface="Times New Roman" panose="02020603050405020304" pitchFamily="18" charset="0"/>
                  <a:cs typeface="Times New Roman" panose="02020603050405020304" pitchFamily="18" charset="0"/>
                </a:rPr>
                <a:t>100</a:t>
              </a:r>
              <a:r>
                <a:rPr lang="en-US" sz="1400" dirty="0" smtClean="0">
                  <a:solidFill>
                    <a:schemeClr val="accent5">
                      <a:lumMod val="50000"/>
                    </a:schemeClr>
                  </a:solidFill>
                  <a:latin typeface="Times New Roman" panose="02020603050405020304" pitchFamily="18" charset="0"/>
                  <a:cs typeface="Times New Roman" panose="02020603050405020304" pitchFamily="18" charset="0"/>
                </a:rPr>
                <a:t>G</a:t>
              </a:r>
              <a:endParaRPr lang="en-US" sz="1600" dirty="0">
                <a:solidFill>
                  <a:schemeClr val="accent5">
                    <a:lumMod val="50000"/>
                  </a:schemeClr>
                </a:solidFill>
                <a:latin typeface="Times New Roman" panose="02020603050405020304" pitchFamily="18" charset="0"/>
                <a:cs typeface="Times New Roman" panose="02020603050405020304" pitchFamily="18" charset="0"/>
              </a:endParaRPr>
            </a:p>
          </p:txBody>
        </p:sp>
      </p:grpSp>
      <p:grpSp>
        <p:nvGrpSpPr>
          <p:cNvPr id="76" name="Group 75"/>
          <p:cNvGrpSpPr/>
          <p:nvPr/>
        </p:nvGrpSpPr>
        <p:grpSpPr>
          <a:xfrm>
            <a:off x="3281695" y="206882"/>
            <a:ext cx="1744358" cy="488689"/>
            <a:chOff x="3281695" y="206882"/>
            <a:chExt cx="1744358" cy="488689"/>
          </a:xfrm>
        </p:grpSpPr>
        <p:sp>
          <p:nvSpPr>
            <p:cNvPr id="77" name="Rounded Rectangle 76"/>
            <p:cNvSpPr/>
            <p:nvPr/>
          </p:nvSpPr>
          <p:spPr>
            <a:xfrm>
              <a:off x="3281695" y="324227"/>
              <a:ext cx="921528" cy="371344"/>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endParaRPr lang="en-US" sz="2000"/>
            </a:p>
          </p:txBody>
        </p:sp>
        <p:sp>
          <p:nvSpPr>
            <p:cNvPr id="78" name="Rounded Rectangular Callout 77"/>
            <p:cNvSpPr/>
            <p:nvPr/>
          </p:nvSpPr>
          <p:spPr>
            <a:xfrm>
              <a:off x="4084908" y="206882"/>
              <a:ext cx="941145" cy="254741"/>
            </a:xfrm>
            <a:prstGeom prst="wedgeRoundRectCallout">
              <a:avLst>
                <a:gd name="adj1" fmla="val -62990"/>
                <a:gd name="adj2" fmla="val 5220"/>
                <a:gd name="adj3" fmla="val 16667"/>
              </a:avLst>
            </a:prstGeom>
            <a:solidFill>
              <a:schemeClr val="bg1"/>
            </a:solidFill>
            <a:ln w="28575">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ctr"/>
              <a:r>
                <a:rPr lang="en-US" sz="1600" smtClean="0">
                  <a:solidFill>
                    <a:schemeClr val="accent2">
                      <a:lumMod val="50000"/>
                    </a:schemeClr>
                  </a:solidFill>
                  <a:latin typeface="Times New Roman" panose="02020603050405020304" pitchFamily="18" charset="0"/>
                  <a:cs typeface="Times New Roman" panose="02020603050405020304" pitchFamily="18" charset="0"/>
                </a:rPr>
                <a:t>FS</a:t>
              </a:r>
              <a:r>
                <a:rPr lang="en-US" sz="1200" smtClean="0">
                  <a:solidFill>
                    <a:schemeClr val="accent2">
                      <a:lumMod val="50000"/>
                    </a:schemeClr>
                  </a:solidFill>
                  <a:latin typeface="Times New Roman" panose="02020603050405020304" pitchFamily="18" charset="0"/>
                  <a:cs typeface="Times New Roman" panose="02020603050405020304" pitchFamily="18" charset="0"/>
                </a:rPr>
                <a:t>READ</a:t>
              </a:r>
              <a:r>
                <a:rPr lang="en-US" sz="1600" smtClean="0">
                  <a:solidFill>
                    <a:schemeClr val="accent2">
                      <a:lumMod val="50000"/>
                    </a:schemeClr>
                  </a:solidFill>
                  <a:latin typeface="Times New Roman" panose="02020603050405020304" pitchFamily="18" charset="0"/>
                  <a:cs typeface="Times New Roman" panose="02020603050405020304" pitchFamily="18" charset="0"/>
                </a:rPr>
                <a:t>4</a:t>
              </a:r>
              <a:r>
                <a:rPr lang="en-US" sz="1200" smtClean="0">
                  <a:solidFill>
                    <a:schemeClr val="accent2">
                      <a:lumMod val="50000"/>
                    </a:schemeClr>
                  </a:solidFill>
                  <a:latin typeface="Times New Roman" panose="02020603050405020304" pitchFamily="18" charset="0"/>
                  <a:cs typeface="Times New Roman" panose="02020603050405020304" pitchFamily="18" charset="0"/>
                </a:rPr>
                <a:t>M</a:t>
              </a:r>
              <a:endParaRPr lang="en-US" sz="1600" dirty="0">
                <a:solidFill>
                  <a:schemeClr val="accent2">
                    <a:lumMod val="50000"/>
                  </a:schemeClr>
                </a:solidFill>
                <a:latin typeface="Times New Roman" panose="02020603050405020304" pitchFamily="18" charset="0"/>
                <a:cs typeface="Times New Roman" panose="02020603050405020304" pitchFamily="18" charset="0"/>
              </a:endParaRPr>
            </a:p>
          </p:txBody>
        </p:sp>
      </p:grpSp>
      <p:grpSp>
        <p:nvGrpSpPr>
          <p:cNvPr id="94" name="Group 93"/>
          <p:cNvGrpSpPr/>
          <p:nvPr/>
        </p:nvGrpSpPr>
        <p:grpSpPr>
          <a:xfrm>
            <a:off x="3197391" y="24599"/>
            <a:ext cx="1743257" cy="610401"/>
            <a:chOff x="3197391" y="24599"/>
            <a:chExt cx="1743257" cy="610401"/>
          </a:xfrm>
        </p:grpSpPr>
        <p:sp>
          <p:nvSpPr>
            <p:cNvPr id="95" name="Rounded Rectangle 94"/>
            <p:cNvSpPr/>
            <p:nvPr/>
          </p:nvSpPr>
          <p:spPr>
            <a:xfrm>
              <a:off x="3197391" y="263656"/>
              <a:ext cx="921528" cy="371344"/>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endParaRPr lang="en-US" sz="2000"/>
            </a:p>
          </p:txBody>
        </p:sp>
        <p:sp>
          <p:nvSpPr>
            <p:cNvPr id="99" name="Freeform 98"/>
            <p:cNvSpPr/>
            <p:nvPr/>
          </p:nvSpPr>
          <p:spPr>
            <a:xfrm>
              <a:off x="3496424" y="111478"/>
              <a:ext cx="323462" cy="37800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01" name="Rounded Rectangular Callout 100"/>
            <p:cNvSpPr/>
            <p:nvPr/>
          </p:nvSpPr>
          <p:spPr>
            <a:xfrm>
              <a:off x="3911652" y="24599"/>
              <a:ext cx="1028996" cy="217300"/>
            </a:xfrm>
            <a:prstGeom prst="wedgeRoundRectCallout">
              <a:avLst>
                <a:gd name="adj1" fmla="val -62990"/>
                <a:gd name="adj2" fmla="val 5220"/>
                <a:gd name="adj3" fmla="val 16667"/>
              </a:avLst>
            </a:prstGeom>
            <a:solidFill>
              <a:schemeClr val="bg1"/>
            </a:solidFill>
            <a:ln w="28575">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dirty="0" smtClean="0">
                  <a:solidFill>
                    <a:schemeClr val="accent2">
                      <a:lumMod val="50000"/>
                    </a:schemeClr>
                  </a:solidFill>
                  <a:latin typeface="Times New Roman" panose="02020603050405020304" pitchFamily="18" charset="0"/>
                  <a:cs typeface="Times New Roman" panose="02020603050405020304" pitchFamily="18" charset="0"/>
                </a:rPr>
                <a:t>FS</a:t>
              </a:r>
              <a:r>
                <a:rPr lang="en-US" sz="1200" dirty="0" smtClean="0">
                  <a:solidFill>
                    <a:schemeClr val="accent2">
                      <a:lumMod val="50000"/>
                    </a:schemeClr>
                  </a:solidFill>
                  <a:latin typeface="Times New Roman" panose="02020603050405020304" pitchFamily="18" charset="0"/>
                  <a:cs typeface="Times New Roman" panose="02020603050405020304" pitchFamily="18" charset="0"/>
                </a:rPr>
                <a:t>READ</a:t>
              </a:r>
              <a:r>
                <a:rPr lang="en-US" sz="1600" dirty="0" smtClean="0">
                  <a:solidFill>
                    <a:schemeClr val="accent2">
                      <a:lumMod val="50000"/>
                    </a:schemeClr>
                  </a:solidFill>
                  <a:latin typeface="Times New Roman" panose="02020603050405020304" pitchFamily="18" charset="0"/>
                  <a:cs typeface="Times New Roman" panose="02020603050405020304" pitchFamily="18" charset="0"/>
                </a:rPr>
                <a:t>64</a:t>
              </a:r>
              <a:r>
                <a:rPr lang="en-US" sz="1200" dirty="0" smtClean="0">
                  <a:solidFill>
                    <a:schemeClr val="accent2">
                      <a:lumMod val="50000"/>
                    </a:schemeClr>
                  </a:solidFill>
                  <a:latin typeface="Times New Roman" panose="02020603050405020304" pitchFamily="18" charset="0"/>
                  <a:cs typeface="Times New Roman" panose="02020603050405020304" pitchFamily="18" charset="0"/>
                </a:rPr>
                <a:t>M</a:t>
              </a:r>
              <a:endParaRPr lang="en-US" sz="1600" dirty="0">
                <a:solidFill>
                  <a:schemeClr val="accent2">
                    <a:lumMod val="50000"/>
                  </a:schemeClr>
                </a:solidFill>
                <a:latin typeface="Times New Roman" panose="02020603050405020304" pitchFamily="18" charset="0"/>
                <a:cs typeface="Times New Roman" panose="02020603050405020304" pitchFamily="18" charset="0"/>
              </a:endParaRPr>
            </a:p>
          </p:txBody>
        </p:sp>
      </p:grpSp>
      <p:grpSp>
        <p:nvGrpSpPr>
          <p:cNvPr id="103" name="Group 102"/>
          <p:cNvGrpSpPr/>
          <p:nvPr/>
        </p:nvGrpSpPr>
        <p:grpSpPr>
          <a:xfrm>
            <a:off x="1622743" y="172698"/>
            <a:ext cx="1474512" cy="548273"/>
            <a:chOff x="1622743" y="172698"/>
            <a:chExt cx="1474512" cy="548273"/>
          </a:xfrm>
        </p:grpSpPr>
        <p:sp>
          <p:nvSpPr>
            <p:cNvPr id="106" name="Rounded Rectangle 105"/>
            <p:cNvSpPr/>
            <p:nvPr/>
          </p:nvSpPr>
          <p:spPr>
            <a:xfrm>
              <a:off x="1622743" y="349627"/>
              <a:ext cx="921528" cy="371344"/>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endParaRPr lang="en-US" sz="2000"/>
            </a:p>
          </p:txBody>
        </p:sp>
        <p:sp>
          <p:nvSpPr>
            <p:cNvPr id="107" name="Rounded Rectangular Callout 106"/>
            <p:cNvSpPr/>
            <p:nvPr/>
          </p:nvSpPr>
          <p:spPr>
            <a:xfrm>
              <a:off x="2312703" y="172698"/>
              <a:ext cx="784552" cy="254741"/>
            </a:xfrm>
            <a:prstGeom prst="wedgeRoundRectCallout">
              <a:avLst>
                <a:gd name="adj1" fmla="val -62990"/>
                <a:gd name="adj2" fmla="val 5220"/>
                <a:gd name="adj3" fmla="val 16667"/>
              </a:avLst>
            </a:prstGeom>
            <a:solidFill>
              <a:schemeClr val="bg1"/>
            </a:solidFill>
            <a:ln w="28575">
              <a:solidFill>
                <a:srgbClr val="70AD47"/>
              </a:solidFill>
            </a:ln>
          </p:spPr>
          <p:style>
            <a:lnRef idx="2">
              <a:schemeClr val="accent1">
                <a:shade val="50000"/>
              </a:schemeClr>
            </a:lnRef>
            <a:fillRef idx="1">
              <a:schemeClr val="accent1"/>
            </a:fillRef>
            <a:effectRef idx="0">
              <a:schemeClr val="accent1"/>
            </a:effectRef>
            <a:fontRef idx="minor">
              <a:schemeClr val="lt1"/>
            </a:fontRef>
          </p:style>
          <p:txBody>
            <a:bodyPr lIns="0" tIns="0" rIns="45720" bIns="0" rtlCol="0" anchor="b" anchorCtr="0"/>
            <a:lstStyle/>
            <a:p>
              <a:pPr algn="r"/>
              <a:r>
                <a:rPr lang="en-US" sz="1400" dirty="0" smtClean="0">
                  <a:solidFill>
                    <a:schemeClr val="accent6">
                      <a:lumMod val="50000"/>
                    </a:schemeClr>
                  </a:solidFill>
                  <a:latin typeface="Times New Roman" panose="02020603050405020304" pitchFamily="18" charset="0"/>
                  <a:cs typeface="Times New Roman" panose="02020603050405020304" pitchFamily="18" charset="0"/>
                </a:rPr>
                <a:t>H</a:t>
              </a:r>
              <a:r>
                <a:rPr lang="en-US" sz="1200" dirty="0" smtClean="0">
                  <a:solidFill>
                    <a:schemeClr val="accent6">
                      <a:lumMod val="50000"/>
                    </a:schemeClr>
                  </a:solidFill>
                  <a:latin typeface="Times New Roman" panose="02020603050405020304" pitchFamily="18" charset="0"/>
                  <a:cs typeface="Times New Roman" panose="02020603050405020304" pitchFamily="18" charset="0"/>
                </a:rPr>
                <a:t>SCAN</a:t>
              </a:r>
              <a:endParaRPr lang="en-US" sz="1400" dirty="0">
                <a:solidFill>
                  <a:schemeClr val="accent6">
                    <a:lumMod val="50000"/>
                  </a:schemeClr>
                </a:solidFill>
                <a:latin typeface="Times New Roman" panose="02020603050405020304" pitchFamily="18" charset="0"/>
                <a:cs typeface="Times New Roman" panose="02020603050405020304" pitchFamily="18" charset="0"/>
              </a:endParaRPr>
            </a:p>
          </p:txBody>
        </p:sp>
      </p:grpSp>
      <p:grpSp>
        <p:nvGrpSpPr>
          <p:cNvPr id="111" name="Group 110"/>
          <p:cNvGrpSpPr/>
          <p:nvPr/>
        </p:nvGrpSpPr>
        <p:grpSpPr>
          <a:xfrm>
            <a:off x="1548167" y="24597"/>
            <a:ext cx="1494994" cy="635802"/>
            <a:chOff x="1548167" y="24597"/>
            <a:chExt cx="1494994" cy="635802"/>
          </a:xfrm>
        </p:grpSpPr>
        <p:sp>
          <p:nvSpPr>
            <p:cNvPr id="112" name="Rounded Rectangle 111"/>
            <p:cNvSpPr/>
            <p:nvPr/>
          </p:nvSpPr>
          <p:spPr>
            <a:xfrm>
              <a:off x="1548167" y="289055"/>
              <a:ext cx="921528" cy="371344"/>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endParaRPr lang="en-US" sz="2000"/>
            </a:p>
          </p:txBody>
        </p:sp>
        <p:sp>
          <p:nvSpPr>
            <p:cNvPr id="113" name="Freeform 112"/>
            <p:cNvSpPr/>
            <p:nvPr/>
          </p:nvSpPr>
          <p:spPr>
            <a:xfrm>
              <a:off x="1847200" y="103729"/>
              <a:ext cx="323462" cy="37800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rgbClr val="70AD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14" name="Rounded Rectangular Callout 113"/>
            <p:cNvSpPr/>
            <p:nvPr/>
          </p:nvSpPr>
          <p:spPr>
            <a:xfrm>
              <a:off x="2258609" y="24597"/>
              <a:ext cx="784552" cy="210925"/>
            </a:xfrm>
            <a:prstGeom prst="wedgeRoundRectCallout">
              <a:avLst>
                <a:gd name="adj1" fmla="val -62990"/>
                <a:gd name="adj2" fmla="val 5220"/>
                <a:gd name="adj3" fmla="val 16667"/>
              </a:avLst>
            </a:prstGeom>
            <a:solidFill>
              <a:schemeClr val="bg1"/>
            </a:solidFill>
            <a:ln w="28575">
              <a:solidFill>
                <a:srgbClr val="70AD47"/>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dirty="0" smtClean="0">
                  <a:solidFill>
                    <a:schemeClr val="accent6">
                      <a:lumMod val="50000"/>
                    </a:schemeClr>
                  </a:solidFill>
                  <a:latin typeface="Times New Roman" panose="02020603050405020304" pitchFamily="18" charset="0"/>
                  <a:cs typeface="Times New Roman" panose="02020603050405020304" pitchFamily="18" charset="0"/>
                </a:rPr>
                <a:t>H</a:t>
              </a:r>
              <a:r>
                <a:rPr lang="en-US" sz="1400" dirty="0" smtClean="0">
                  <a:solidFill>
                    <a:schemeClr val="accent6">
                      <a:lumMod val="50000"/>
                    </a:schemeClr>
                  </a:solidFill>
                  <a:latin typeface="Times New Roman" panose="02020603050405020304" pitchFamily="18" charset="0"/>
                  <a:cs typeface="Times New Roman" panose="02020603050405020304" pitchFamily="18" charset="0"/>
                </a:rPr>
                <a:t>GET</a:t>
              </a:r>
              <a:endParaRPr lang="en-US" dirty="0">
                <a:solidFill>
                  <a:schemeClr val="accent6">
                    <a:lumMod val="50000"/>
                  </a:schemeClr>
                </a:solidFill>
                <a:latin typeface="Times New Roman" panose="02020603050405020304" pitchFamily="18" charset="0"/>
                <a:cs typeface="Times New Roman" panose="02020603050405020304" pitchFamily="18" charset="0"/>
              </a:endParaRPr>
            </a:p>
          </p:txBody>
        </p:sp>
      </p:grpSp>
      <p:grpSp>
        <p:nvGrpSpPr>
          <p:cNvPr id="50" name="Group 49"/>
          <p:cNvGrpSpPr/>
          <p:nvPr/>
        </p:nvGrpSpPr>
        <p:grpSpPr>
          <a:xfrm>
            <a:off x="1548167" y="890653"/>
            <a:ext cx="4314009" cy="2607290"/>
            <a:chOff x="1548167" y="890653"/>
            <a:chExt cx="4314009" cy="2607290"/>
          </a:xfrm>
        </p:grpSpPr>
        <p:grpSp>
          <p:nvGrpSpPr>
            <p:cNvPr id="41" name="Group 40"/>
            <p:cNvGrpSpPr/>
            <p:nvPr/>
          </p:nvGrpSpPr>
          <p:grpSpPr>
            <a:xfrm>
              <a:off x="1548167" y="890653"/>
              <a:ext cx="4314009" cy="2607290"/>
              <a:chOff x="1548167" y="890653"/>
              <a:chExt cx="4314009" cy="2607290"/>
            </a:xfrm>
          </p:grpSpPr>
          <p:sp>
            <p:nvSpPr>
              <p:cNvPr id="92" name="Rounded Rectangle 91"/>
              <p:cNvSpPr/>
              <p:nvPr/>
            </p:nvSpPr>
            <p:spPr>
              <a:xfrm>
                <a:off x="1854940" y="1157145"/>
                <a:ext cx="4007236" cy="2340798"/>
              </a:xfrm>
              <a:prstGeom prst="roundRect">
                <a:avLst>
                  <a:gd name="adj" fmla="val 3932"/>
                </a:avLst>
              </a:prstGeom>
              <a:solidFill>
                <a:schemeClr val="bg1">
                  <a:alpha val="25000"/>
                </a:schemeClr>
              </a:solidFill>
              <a:ln w="57150">
                <a:solidFill>
                  <a:schemeClr val="tx1">
                    <a:alpha val="2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91" name="Rounded Rectangle 90"/>
              <p:cNvSpPr/>
              <p:nvPr/>
            </p:nvSpPr>
            <p:spPr>
              <a:xfrm>
                <a:off x="1752683" y="1068315"/>
                <a:ext cx="4007236" cy="2340798"/>
              </a:xfrm>
              <a:prstGeom prst="roundRect">
                <a:avLst>
                  <a:gd name="adj" fmla="val 3932"/>
                </a:avLst>
              </a:prstGeom>
              <a:solidFill>
                <a:schemeClr val="bg1">
                  <a:alpha val="50000"/>
                </a:schemeClr>
              </a:solidFill>
              <a:ln w="571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90" name="Rounded Rectangle 89"/>
              <p:cNvSpPr/>
              <p:nvPr/>
            </p:nvSpPr>
            <p:spPr>
              <a:xfrm>
                <a:off x="1650425" y="979484"/>
                <a:ext cx="4007236" cy="2340798"/>
              </a:xfrm>
              <a:prstGeom prst="roundRect">
                <a:avLst>
                  <a:gd name="adj" fmla="val 3932"/>
                </a:avLst>
              </a:prstGeom>
              <a:solidFill>
                <a:schemeClr val="bg1">
                  <a:alpha val="75000"/>
                </a:schemeClr>
              </a:solidFill>
              <a:ln w="57150">
                <a:solidFill>
                  <a:schemeClr val="tx1">
                    <a:alpha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nvGrpSpPr>
              <p:cNvPr id="40" name="Group 39"/>
              <p:cNvGrpSpPr/>
              <p:nvPr/>
            </p:nvGrpSpPr>
            <p:grpSpPr>
              <a:xfrm>
                <a:off x="1548167" y="890653"/>
                <a:ext cx="4007236" cy="2340798"/>
                <a:chOff x="1548167" y="890653"/>
                <a:chExt cx="4007236" cy="2340798"/>
              </a:xfrm>
            </p:grpSpPr>
            <p:sp>
              <p:nvSpPr>
                <p:cNvPr id="47" name="Rounded Rectangle 46"/>
                <p:cNvSpPr/>
                <p:nvPr/>
              </p:nvSpPr>
              <p:spPr>
                <a:xfrm>
                  <a:off x="1548167" y="890653"/>
                  <a:ext cx="4007236" cy="2340798"/>
                </a:xfrm>
                <a:prstGeom prst="roundRect">
                  <a:avLst>
                    <a:gd name="adj" fmla="val 3932"/>
                  </a:avLst>
                </a:prstGeom>
                <a:solidFill>
                  <a:schemeClr val="bg1"/>
                </a:solidFill>
                <a:ln w="571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dirty="0"/>
                </a:p>
              </p:txBody>
            </p:sp>
            <p:cxnSp>
              <p:nvCxnSpPr>
                <p:cNvPr id="52" name="Straight Connector 51"/>
                <p:cNvCxnSpPr/>
                <p:nvPr/>
              </p:nvCxnSpPr>
              <p:spPr>
                <a:xfrm flipV="1">
                  <a:off x="1548167" y="2515146"/>
                  <a:ext cx="3999266" cy="4309"/>
                </a:xfrm>
                <a:prstGeom prst="line">
                  <a:avLst/>
                </a:prstGeom>
                <a:ln w="571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sp>
          <p:nvSpPr>
            <p:cNvPr id="31" name="Can 30"/>
            <p:cNvSpPr/>
            <p:nvPr/>
          </p:nvSpPr>
          <p:spPr>
            <a:xfrm>
              <a:off x="3003528" y="2602755"/>
              <a:ext cx="904605" cy="528273"/>
            </a:xfrm>
            <a:prstGeom prst="can">
              <a:avLst>
                <a:gd name="adj" fmla="val 50000"/>
              </a:avLst>
            </a:prstGeom>
            <a:solidFill>
              <a:schemeClr val="accent4">
                <a:lumMod val="20000"/>
                <a:lumOff val="8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109728" rIns="0" bIns="0" rtlCol="0" anchor="ctr"/>
            <a:lstStyle/>
            <a:p>
              <a:pPr algn="ctr"/>
              <a:r>
                <a:rPr lang="en-US" sz="2000" b="1" dirty="0">
                  <a:solidFill>
                    <a:schemeClr val="tx1"/>
                  </a:solidFill>
                </a:rPr>
                <a:t>Disk</a:t>
              </a:r>
            </a:p>
          </p:txBody>
        </p:sp>
        <p:sp>
          <p:nvSpPr>
            <p:cNvPr id="6" name="Rounded Rectangle 5"/>
            <p:cNvSpPr/>
            <p:nvPr/>
          </p:nvSpPr>
          <p:spPr>
            <a:xfrm>
              <a:off x="1667662" y="987617"/>
              <a:ext cx="1056938" cy="641696"/>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b" anchorCtr="0"/>
            <a:lstStyle/>
            <a:p>
              <a:r>
                <a:rPr lang="en-US" sz="2000" dirty="0" err="1">
                  <a:solidFill>
                    <a:schemeClr val="tx1"/>
                  </a:solidFill>
                </a:rPr>
                <a:t>HBase</a:t>
              </a:r>
              <a:endParaRPr lang="en-US" sz="2000" dirty="0">
                <a:solidFill>
                  <a:schemeClr val="tx1"/>
                </a:solidFill>
              </a:endParaRPr>
            </a:p>
          </p:txBody>
        </p:sp>
        <p:sp>
          <p:nvSpPr>
            <p:cNvPr id="42" name="Rounded Rectangle 41"/>
            <p:cNvSpPr/>
            <p:nvPr/>
          </p:nvSpPr>
          <p:spPr>
            <a:xfrm>
              <a:off x="3601331" y="1066452"/>
              <a:ext cx="1840961" cy="484026"/>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r>
                <a:rPr lang="en-US" sz="2000" dirty="0" err="1">
                  <a:solidFill>
                    <a:schemeClr val="tx1"/>
                  </a:solidFill>
                </a:rPr>
                <a:t>MapReduce</a:t>
              </a:r>
              <a:endParaRPr lang="en-US" sz="2000" dirty="0">
                <a:solidFill>
                  <a:schemeClr val="tx1"/>
                </a:solidFill>
              </a:endParaRPr>
            </a:p>
          </p:txBody>
        </p:sp>
        <p:sp>
          <p:nvSpPr>
            <p:cNvPr id="46" name="Rounded Rectangle 45"/>
            <p:cNvSpPr/>
            <p:nvPr/>
          </p:nvSpPr>
          <p:spPr>
            <a:xfrm>
              <a:off x="2641009" y="1743418"/>
              <a:ext cx="1075285" cy="644131"/>
            </a:xfrm>
            <a:prstGeom prst="roundRect">
              <a:avLst/>
            </a:prstGeom>
            <a:solidFill>
              <a:srgbClr val="D0CECE"/>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r>
                <a:rPr lang="en-US" sz="2000" dirty="0">
                  <a:solidFill>
                    <a:schemeClr val="tx1"/>
                  </a:solidFill>
                </a:rPr>
                <a:t>HDFS</a:t>
              </a:r>
            </a:p>
          </p:txBody>
        </p:sp>
      </p:grpSp>
      <p:grpSp>
        <p:nvGrpSpPr>
          <p:cNvPr id="55" name="Group 54"/>
          <p:cNvGrpSpPr/>
          <p:nvPr/>
        </p:nvGrpSpPr>
        <p:grpSpPr>
          <a:xfrm>
            <a:off x="5818483" y="696670"/>
            <a:ext cx="1194558" cy="1078020"/>
            <a:chOff x="5818483" y="696670"/>
            <a:chExt cx="1194558" cy="1078020"/>
          </a:xfrm>
        </p:grpSpPr>
        <p:sp>
          <p:nvSpPr>
            <p:cNvPr id="61" name="TextBox 60"/>
            <p:cNvSpPr txBox="1"/>
            <p:nvPr/>
          </p:nvSpPr>
          <p:spPr>
            <a:xfrm rot="1468153">
              <a:off x="5818483" y="904989"/>
              <a:ext cx="1194558" cy="400110"/>
            </a:xfrm>
            <a:prstGeom prst="rect">
              <a:avLst/>
            </a:prstGeom>
            <a:noFill/>
          </p:spPr>
          <p:txBody>
            <a:bodyPr wrap="none" rtlCol="0">
              <a:spAutoFit/>
            </a:bodyPr>
            <a:lstStyle/>
            <a:p>
              <a:r>
                <a:rPr lang="en-US" sz="2000" dirty="0"/>
                <a:t>Machines</a:t>
              </a:r>
            </a:p>
          </p:txBody>
        </p:sp>
        <p:sp>
          <p:nvSpPr>
            <p:cNvPr id="65" name="Right Brace 64"/>
            <p:cNvSpPr/>
            <p:nvPr/>
          </p:nvSpPr>
          <p:spPr>
            <a:xfrm rot="20147132">
              <a:off x="5849694" y="696670"/>
              <a:ext cx="252919" cy="1078020"/>
            </a:xfrm>
            <a:prstGeom prst="rightBrace">
              <a:avLst>
                <a:gd name="adj1" fmla="val 62329"/>
                <a:gd name="adj2" fmla="val 47314"/>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160"/>
            </a:p>
          </p:txBody>
        </p:sp>
      </p:grpSp>
      <p:sp>
        <p:nvSpPr>
          <p:cNvPr id="85" name="Freeform 84"/>
          <p:cNvSpPr/>
          <p:nvPr/>
        </p:nvSpPr>
        <p:spPr>
          <a:xfrm>
            <a:off x="2003898" y="593389"/>
            <a:ext cx="1334091" cy="2158288"/>
          </a:xfrm>
          <a:custGeom>
            <a:avLst/>
            <a:gdLst>
              <a:gd name="connsiteX0" fmla="*/ 0 w 1206230"/>
              <a:gd name="connsiteY0" fmla="*/ 0 h 2782111"/>
              <a:gd name="connsiteX1" fmla="*/ 0 w 1206230"/>
              <a:gd name="connsiteY1" fmla="*/ 710119 h 2782111"/>
              <a:gd name="connsiteX2" fmla="*/ 573932 w 1206230"/>
              <a:gd name="connsiteY2" fmla="*/ 1206230 h 2782111"/>
              <a:gd name="connsiteX3" fmla="*/ 573932 w 1206230"/>
              <a:gd name="connsiteY3" fmla="*/ 1682885 h 2782111"/>
              <a:gd name="connsiteX4" fmla="*/ 1206230 w 1206230"/>
              <a:gd name="connsiteY4" fmla="*/ 1682885 h 2782111"/>
              <a:gd name="connsiteX5" fmla="*/ 1206230 w 1206230"/>
              <a:gd name="connsiteY5" fmla="*/ 2782111 h 2782111"/>
              <a:gd name="connsiteX0" fmla="*/ 0 w 1206230"/>
              <a:gd name="connsiteY0" fmla="*/ 0 h 2782111"/>
              <a:gd name="connsiteX1" fmla="*/ 0 w 1206230"/>
              <a:gd name="connsiteY1" fmla="*/ 710119 h 2782111"/>
              <a:gd name="connsiteX2" fmla="*/ 573932 w 1206230"/>
              <a:gd name="connsiteY2" fmla="*/ 1206230 h 2782111"/>
              <a:gd name="connsiteX3" fmla="*/ 1206230 w 1206230"/>
              <a:gd name="connsiteY3" fmla="*/ 1682885 h 2782111"/>
              <a:gd name="connsiteX4" fmla="*/ 1206230 w 1206230"/>
              <a:gd name="connsiteY4" fmla="*/ 2782111 h 2782111"/>
              <a:gd name="connsiteX0" fmla="*/ 0 w 1206230"/>
              <a:gd name="connsiteY0" fmla="*/ 0 h 2782111"/>
              <a:gd name="connsiteX1" fmla="*/ 0 w 1206230"/>
              <a:gd name="connsiteY1" fmla="*/ 710119 h 2782111"/>
              <a:gd name="connsiteX2" fmla="*/ 1206230 w 1206230"/>
              <a:gd name="connsiteY2" fmla="*/ 1682885 h 2782111"/>
              <a:gd name="connsiteX3" fmla="*/ 1206230 w 1206230"/>
              <a:gd name="connsiteY3" fmla="*/ 2782111 h 2782111"/>
            </a:gdLst>
            <a:ahLst/>
            <a:cxnLst>
              <a:cxn ang="0">
                <a:pos x="connsiteX0" y="connsiteY0"/>
              </a:cxn>
              <a:cxn ang="0">
                <a:pos x="connsiteX1" y="connsiteY1"/>
              </a:cxn>
              <a:cxn ang="0">
                <a:pos x="connsiteX2" y="connsiteY2"/>
              </a:cxn>
              <a:cxn ang="0">
                <a:pos x="connsiteX3" y="connsiteY3"/>
              </a:cxn>
            </a:cxnLst>
            <a:rect l="l" t="t" r="r" b="b"/>
            <a:pathLst>
              <a:path w="1206230" h="2782111">
                <a:moveTo>
                  <a:pt x="0" y="0"/>
                </a:moveTo>
                <a:lnTo>
                  <a:pt x="0" y="710119"/>
                </a:lnTo>
                <a:lnTo>
                  <a:pt x="1206230" y="1682885"/>
                </a:lnTo>
                <a:lnTo>
                  <a:pt x="1206230" y="2782111"/>
                </a:lnTo>
              </a:path>
            </a:pathLst>
          </a:custGeom>
          <a:noFill/>
          <a:ln w="57150">
            <a:solidFill>
              <a:srgbClr val="70AD47"/>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86" name="Freeform 85"/>
          <p:cNvSpPr/>
          <p:nvPr/>
        </p:nvSpPr>
        <p:spPr>
          <a:xfrm>
            <a:off x="3451101" y="593389"/>
            <a:ext cx="225954" cy="2156477"/>
          </a:xfrm>
          <a:custGeom>
            <a:avLst/>
            <a:gdLst>
              <a:gd name="connsiteX0" fmla="*/ 330740 w 330740"/>
              <a:gd name="connsiteY0" fmla="*/ 0 h 2821022"/>
              <a:gd name="connsiteX1" fmla="*/ 0 w 330740"/>
              <a:gd name="connsiteY1" fmla="*/ 651753 h 2821022"/>
              <a:gd name="connsiteX2" fmla="*/ 0 w 330740"/>
              <a:gd name="connsiteY2" fmla="*/ 2821022 h 2821022"/>
            </a:gdLst>
            <a:ahLst/>
            <a:cxnLst>
              <a:cxn ang="0">
                <a:pos x="connsiteX0" y="connsiteY0"/>
              </a:cxn>
              <a:cxn ang="0">
                <a:pos x="connsiteX1" y="connsiteY1"/>
              </a:cxn>
              <a:cxn ang="0">
                <a:pos x="connsiteX2" y="connsiteY2"/>
              </a:cxn>
            </a:cxnLst>
            <a:rect l="l" t="t" r="r" b="b"/>
            <a:pathLst>
              <a:path w="330740" h="2821022">
                <a:moveTo>
                  <a:pt x="330740" y="0"/>
                </a:moveTo>
                <a:lnTo>
                  <a:pt x="0" y="651753"/>
                </a:lnTo>
                <a:lnTo>
                  <a:pt x="0" y="2821022"/>
                </a:lnTo>
              </a:path>
            </a:pathLst>
          </a:custGeom>
          <a:noFill/>
          <a:ln w="57150">
            <a:solidFill>
              <a:srgbClr val="ED7D3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87" name="Freeform 86"/>
          <p:cNvSpPr/>
          <p:nvPr/>
        </p:nvSpPr>
        <p:spPr>
          <a:xfrm>
            <a:off x="3577771" y="593389"/>
            <a:ext cx="1762714" cy="2156477"/>
          </a:xfrm>
          <a:custGeom>
            <a:avLst/>
            <a:gdLst>
              <a:gd name="connsiteX0" fmla="*/ 1780162 w 1780162"/>
              <a:gd name="connsiteY0" fmla="*/ 0 h 2821022"/>
              <a:gd name="connsiteX1" fmla="*/ 1780162 w 1780162"/>
              <a:gd name="connsiteY1" fmla="*/ 1391056 h 2821022"/>
              <a:gd name="connsiteX2" fmla="*/ 0 w 1780162"/>
              <a:gd name="connsiteY2" fmla="*/ 1391056 h 2821022"/>
              <a:gd name="connsiteX3" fmla="*/ 0 w 1780162"/>
              <a:gd name="connsiteY3" fmla="*/ 2821022 h 2821022"/>
            </a:gdLst>
            <a:ahLst/>
            <a:cxnLst>
              <a:cxn ang="0">
                <a:pos x="connsiteX0" y="connsiteY0"/>
              </a:cxn>
              <a:cxn ang="0">
                <a:pos x="connsiteX1" y="connsiteY1"/>
              </a:cxn>
              <a:cxn ang="0">
                <a:pos x="connsiteX2" y="connsiteY2"/>
              </a:cxn>
              <a:cxn ang="0">
                <a:pos x="connsiteX3" y="connsiteY3"/>
              </a:cxn>
            </a:cxnLst>
            <a:rect l="l" t="t" r="r" b="b"/>
            <a:pathLst>
              <a:path w="1780162" h="2821022">
                <a:moveTo>
                  <a:pt x="1780162" y="0"/>
                </a:moveTo>
                <a:lnTo>
                  <a:pt x="1780162" y="1391056"/>
                </a:lnTo>
                <a:lnTo>
                  <a:pt x="0" y="1391056"/>
                </a:lnTo>
                <a:lnTo>
                  <a:pt x="0" y="2821022"/>
                </a:lnTo>
              </a:path>
            </a:pathLst>
          </a:custGeom>
          <a:noFill/>
          <a:ln w="57150">
            <a:solidFill>
              <a:srgbClr val="4472C4"/>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51" name="Title 1"/>
          <p:cNvSpPr txBox="1">
            <a:spLocks/>
          </p:cNvSpPr>
          <p:nvPr/>
        </p:nvSpPr>
        <p:spPr>
          <a:xfrm>
            <a:off x="0" y="5571113"/>
            <a:ext cx="91440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How is disk bandwidth being used?</a:t>
            </a:r>
          </a:p>
        </p:txBody>
      </p:sp>
      <p:grpSp>
        <p:nvGrpSpPr>
          <p:cNvPr id="83" name="Group 82"/>
          <p:cNvGrpSpPr/>
          <p:nvPr/>
        </p:nvGrpSpPr>
        <p:grpSpPr>
          <a:xfrm>
            <a:off x="4486577" y="2642212"/>
            <a:ext cx="3736038" cy="3252317"/>
            <a:chOff x="2155601" y="1578475"/>
            <a:chExt cx="3736038" cy="3252317"/>
          </a:xfrm>
        </p:grpSpPr>
        <p:sp>
          <p:nvSpPr>
            <p:cNvPr id="84" name="Rectangle 83"/>
            <p:cNvSpPr/>
            <p:nvPr/>
          </p:nvSpPr>
          <p:spPr>
            <a:xfrm>
              <a:off x="2155601" y="1578475"/>
              <a:ext cx="3736038" cy="325231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8" name="Group 87"/>
            <p:cNvGrpSpPr/>
            <p:nvPr/>
          </p:nvGrpSpPr>
          <p:grpSpPr>
            <a:xfrm>
              <a:off x="2170841" y="1585685"/>
              <a:ext cx="3686167" cy="3211478"/>
              <a:chOff x="1164801" y="2515146"/>
              <a:chExt cx="3686167" cy="3211478"/>
            </a:xfrm>
          </p:grpSpPr>
          <p:pic>
            <p:nvPicPr>
              <p:cNvPr id="89" name="Picture 88" descr="fig1.pdf"/>
              <p:cNvPicPr>
                <a:picLocks noChangeAspect="1"/>
              </p:cNvPicPr>
              <p:nvPr/>
            </p:nvPicPr>
            <p:blipFill rotWithShape="1">
              <a:blip r:embed="rId3">
                <a:extLst>
                  <a:ext uri="{28A0092B-C50C-407E-A947-70E740481C1C}">
                    <a14:useLocalDpi xmlns:a14="http://schemas.microsoft.com/office/drawing/2010/main" val="0"/>
                  </a:ext>
                </a:extLst>
              </a:blip>
              <a:srcRect r="80877" b="13113"/>
              <a:stretch/>
            </p:blipFill>
            <p:spPr>
              <a:xfrm>
                <a:off x="1164801" y="2515146"/>
                <a:ext cx="708449" cy="2793023"/>
              </a:xfrm>
              <a:prstGeom prst="rect">
                <a:avLst/>
              </a:prstGeom>
              <a:ln>
                <a:noFill/>
              </a:ln>
            </p:spPr>
            <p:style>
              <a:lnRef idx="2">
                <a:schemeClr val="dk1"/>
              </a:lnRef>
              <a:fillRef idx="1">
                <a:schemeClr val="lt1"/>
              </a:fillRef>
              <a:effectRef idx="0">
                <a:schemeClr val="dk1"/>
              </a:effectRef>
              <a:fontRef idx="minor">
                <a:schemeClr val="dk1"/>
              </a:fontRef>
            </p:style>
          </p:pic>
          <p:pic>
            <p:nvPicPr>
              <p:cNvPr id="93" name="Picture 92" descr="fig1.pdf"/>
              <p:cNvPicPr>
                <a:picLocks noChangeAspect="1"/>
              </p:cNvPicPr>
              <p:nvPr/>
            </p:nvPicPr>
            <p:blipFill rotWithShape="1">
              <a:blip r:embed="rId3">
                <a:extLst>
                  <a:ext uri="{28A0092B-C50C-407E-A947-70E740481C1C}">
                    <a14:useLocalDpi xmlns:a14="http://schemas.microsoft.com/office/drawing/2010/main" val="0"/>
                  </a:ext>
                </a:extLst>
              </a:blip>
              <a:srcRect l="16879" t="84233" r="495" b="96"/>
              <a:stretch/>
            </p:blipFill>
            <p:spPr>
              <a:xfrm>
                <a:off x="1790054" y="5222875"/>
                <a:ext cx="3060914" cy="503749"/>
              </a:xfrm>
              <a:prstGeom prst="rect">
                <a:avLst/>
              </a:prstGeom>
              <a:ln>
                <a:noFill/>
              </a:ln>
            </p:spPr>
            <p:style>
              <a:lnRef idx="2">
                <a:schemeClr val="dk1"/>
              </a:lnRef>
              <a:fillRef idx="1">
                <a:schemeClr val="lt1"/>
              </a:fillRef>
              <a:effectRef idx="0">
                <a:schemeClr val="dk1"/>
              </a:effectRef>
              <a:fontRef idx="minor">
                <a:schemeClr val="dk1"/>
              </a:fontRef>
            </p:style>
          </p:pic>
        </p:grpSp>
      </p:grpSp>
      <p:sp>
        <p:nvSpPr>
          <p:cNvPr id="5" name="Freeform 4"/>
          <p:cNvSpPr/>
          <p:nvPr/>
        </p:nvSpPr>
        <p:spPr>
          <a:xfrm>
            <a:off x="3786810" y="1679146"/>
            <a:ext cx="45719" cy="1070720"/>
          </a:xfrm>
          <a:custGeom>
            <a:avLst/>
            <a:gdLst>
              <a:gd name="connsiteX0" fmla="*/ 0 w 0"/>
              <a:gd name="connsiteY0" fmla="*/ 0 h 1224366"/>
              <a:gd name="connsiteX1" fmla="*/ 0 w 0"/>
              <a:gd name="connsiteY1" fmla="*/ 1224366 h 1224366"/>
            </a:gdLst>
            <a:ahLst/>
            <a:cxnLst>
              <a:cxn ang="0">
                <a:pos x="connsiteX0" y="connsiteY0"/>
              </a:cxn>
              <a:cxn ang="0">
                <a:pos x="connsiteX1" y="connsiteY1"/>
              </a:cxn>
            </a:cxnLst>
            <a:rect l="l" t="t" r="r" b="b"/>
            <a:pathLst>
              <a:path h="1224366">
                <a:moveTo>
                  <a:pt x="0" y="0"/>
                </a:moveTo>
                <a:lnTo>
                  <a:pt x="0" y="1224366"/>
                </a:lnTo>
              </a:path>
            </a:pathLst>
          </a:custGeom>
          <a:noFill/>
          <a:ln w="57150">
            <a:solidFill>
              <a:srgbClr val="4472C4"/>
            </a:solidFill>
            <a:headEnd type="none" w="med" len="med"/>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ounded Rectangle 71"/>
          <p:cNvSpPr/>
          <p:nvPr/>
        </p:nvSpPr>
        <p:spPr>
          <a:xfrm>
            <a:off x="3220137" y="2445382"/>
            <a:ext cx="719256" cy="157564"/>
          </a:xfrm>
          <a:prstGeom prst="roundRect">
            <a:avLst/>
          </a:prstGeom>
          <a:solidFill>
            <a:schemeClr val="bg1"/>
          </a:solidFill>
          <a:ln w="381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pic>
        <p:nvPicPr>
          <p:cNvPr id="79" name="Picture 78"/>
          <p:cNvPicPr>
            <a:picLocks noChangeAspect="1"/>
          </p:cNvPicPr>
          <p:nvPr/>
        </p:nvPicPr>
        <p:blipFill rotWithShape="1">
          <a:blip r:embed="rId4">
            <a:extLst>
              <a:ext uri="{28A0092B-C50C-407E-A947-70E740481C1C}">
                <a14:useLocalDpi xmlns:a14="http://schemas.microsoft.com/office/drawing/2010/main" val="0"/>
              </a:ext>
            </a:extLst>
          </a:blip>
          <a:srcRect l="19801" t="17153" r="3319" b="13767"/>
          <a:stretch/>
        </p:blipFill>
        <p:spPr>
          <a:xfrm>
            <a:off x="5210266" y="2856024"/>
            <a:ext cx="2871216" cy="2497522"/>
          </a:xfrm>
          <a:prstGeom prst="rect">
            <a:avLst/>
          </a:prstGeom>
        </p:spPr>
      </p:pic>
      <p:grpSp>
        <p:nvGrpSpPr>
          <p:cNvPr id="100" name="Group 99"/>
          <p:cNvGrpSpPr/>
          <p:nvPr/>
        </p:nvGrpSpPr>
        <p:grpSpPr>
          <a:xfrm>
            <a:off x="5213405" y="2700690"/>
            <a:ext cx="3013208" cy="317679"/>
            <a:chOff x="1527934" y="906049"/>
            <a:chExt cx="3754291" cy="395810"/>
          </a:xfrm>
        </p:grpSpPr>
        <p:pic>
          <p:nvPicPr>
            <p:cNvPr id="104" name="Picture 103"/>
            <p:cNvPicPr>
              <a:picLocks noChangeAspect="1"/>
            </p:cNvPicPr>
            <p:nvPr/>
          </p:nvPicPr>
          <p:blipFill rotWithShape="1">
            <a:blip r:embed="rId4">
              <a:extLst>
                <a:ext uri="{28A0092B-C50C-407E-A947-70E740481C1C}">
                  <a14:useLocalDpi xmlns:a14="http://schemas.microsoft.com/office/drawing/2010/main" val="0"/>
                </a:ext>
              </a:extLst>
            </a:blip>
            <a:srcRect l="18106" t="-262" r="47071" b="94129"/>
            <a:stretch/>
          </p:blipFill>
          <p:spPr>
            <a:xfrm>
              <a:off x="1543429" y="909653"/>
              <a:ext cx="1300510" cy="221723"/>
            </a:xfrm>
            <a:prstGeom prst="rect">
              <a:avLst/>
            </a:prstGeom>
          </p:spPr>
        </p:pic>
        <p:pic>
          <p:nvPicPr>
            <p:cNvPr id="105" name="Picture 104"/>
            <p:cNvPicPr>
              <a:picLocks noChangeAspect="1"/>
            </p:cNvPicPr>
            <p:nvPr/>
          </p:nvPicPr>
          <p:blipFill rotWithShape="1">
            <a:blip r:embed="rId4">
              <a:extLst>
                <a:ext uri="{28A0092B-C50C-407E-A947-70E740481C1C}">
                  <a14:useLocalDpi xmlns:a14="http://schemas.microsoft.com/office/drawing/2010/main" val="0"/>
                </a:ext>
              </a:extLst>
            </a:blip>
            <a:srcRect l="52896" t="-261" r="2009" b="89314"/>
            <a:stretch/>
          </p:blipFill>
          <p:spPr>
            <a:xfrm>
              <a:off x="3598104" y="906049"/>
              <a:ext cx="1684121" cy="395810"/>
            </a:xfrm>
            <a:prstGeom prst="rect">
              <a:avLst/>
            </a:prstGeom>
          </p:spPr>
        </p:pic>
        <p:pic>
          <p:nvPicPr>
            <p:cNvPr id="108" name="Picture 107"/>
            <p:cNvPicPr>
              <a:picLocks noChangeAspect="1"/>
            </p:cNvPicPr>
            <p:nvPr/>
          </p:nvPicPr>
          <p:blipFill rotWithShape="1">
            <a:blip r:embed="rId4">
              <a:extLst>
                <a:ext uri="{28A0092B-C50C-407E-A947-70E740481C1C}">
                  <a14:useLocalDpi xmlns:a14="http://schemas.microsoft.com/office/drawing/2010/main" val="0"/>
                </a:ext>
              </a:extLst>
            </a:blip>
            <a:srcRect l="52896" t="10315" r="2009" b="84401"/>
            <a:stretch/>
          </p:blipFill>
          <p:spPr>
            <a:xfrm>
              <a:off x="1527934" y="1107186"/>
              <a:ext cx="1684119" cy="191014"/>
            </a:xfrm>
            <a:prstGeom prst="rect">
              <a:avLst/>
            </a:prstGeom>
          </p:spPr>
        </p:pic>
      </p:grpSp>
      <p:sp>
        <p:nvSpPr>
          <p:cNvPr id="109" name="Freeform 108"/>
          <p:cNvSpPr/>
          <p:nvPr/>
        </p:nvSpPr>
        <p:spPr>
          <a:xfrm flipV="1">
            <a:off x="1112831" y="2571146"/>
            <a:ext cx="2029393" cy="284419"/>
          </a:xfrm>
          <a:custGeom>
            <a:avLst/>
            <a:gdLst>
              <a:gd name="connsiteX0" fmla="*/ 0 w 398834"/>
              <a:gd name="connsiteY0" fmla="*/ 2188723 h 2188723"/>
              <a:gd name="connsiteX1" fmla="*/ 398834 w 398834"/>
              <a:gd name="connsiteY1" fmla="*/ 0 h 2188723"/>
              <a:gd name="connsiteX0" fmla="*/ 70658 w 469492"/>
              <a:gd name="connsiteY0" fmla="*/ 2188723 h 2188723"/>
              <a:gd name="connsiteX1" fmla="*/ 469492 w 469492"/>
              <a:gd name="connsiteY1" fmla="*/ 0 h 2188723"/>
              <a:gd name="connsiteX0" fmla="*/ 0 w 1070042"/>
              <a:gd name="connsiteY0" fmla="*/ 2345655 h 2345655"/>
              <a:gd name="connsiteX1" fmla="*/ 1070042 w 1070042"/>
              <a:gd name="connsiteY1" fmla="*/ 0 h 2345655"/>
              <a:gd name="connsiteX0" fmla="*/ 0 w 1070042"/>
              <a:gd name="connsiteY0" fmla="*/ 2345655 h 2345655"/>
              <a:gd name="connsiteX1" fmla="*/ 1070042 w 1070042"/>
              <a:gd name="connsiteY1" fmla="*/ 0 h 2345655"/>
              <a:gd name="connsiteX0" fmla="*/ 0 w 1245140"/>
              <a:gd name="connsiteY0" fmla="*/ 2478443 h 2478443"/>
              <a:gd name="connsiteX1" fmla="*/ 1245140 w 1245140"/>
              <a:gd name="connsiteY1" fmla="*/ 0 h 2478443"/>
              <a:gd name="connsiteX0" fmla="*/ 0 w 1400783"/>
              <a:gd name="connsiteY0" fmla="*/ 2611231 h 2611231"/>
              <a:gd name="connsiteX1" fmla="*/ 1400783 w 1400783"/>
              <a:gd name="connsiteY1" fmla="*/ 0 h 2611231"/>
              <a:gd name="connsiteX0" fmla="*/ 0 w 1361872"/>
              <a:gd name="connsiteY0" fmla="*/ 2514658 h 2514658"/>
              <a:gd name="connsiteX1" fmla="*/ 1361872 w 1361872"/>
              <a:gd name="connsiteY1" fmla="*/ 0 h 2514658"/>
              <a:gd name="connsiteX0" fmla="*/ 0 w 2508747"/>
              <a:gd name="connsiteY0" fmla="*/ 150276 h 1033436"/>
              <a:gd name="connsiteX1" fmla="*/ 2508747 w 2508747"/>
              <a:gd name="connsiteY1" fmla="*/ 875919 h 1033436"/>
              <a:gd name="connsiteX0" fmla="*/ 525 w 2509272"/>
              <a:gd name="connsiteY0" fmla="*/ 0 h 1012937"/>
              <a:gd name="connsiteX1" fmla="*/ 2509272 w 2509272"/>
              <a:gd name="connsiteY1" fmla="*/ 725643 h 1012937"/>
              <a:gd name="connsiteX0" fmla="*/ 524 w 2509271"/>
              <a:gd name="connsiteY0" fmla="*/ 0 h 725643"/>
              <a:gd name="connsiteX1" fmla="*/ 2509271 w 2509271"/>
              <a:gd name="connsiteY1" fmla="*/ 725643 h 725643"/>
              <a:gd name="connsiteX0" fmla="*/ 623 w 2183905"/>
              <a:gd name="connsiteY0" fmla="*/ 0 h 564077"/>
              <a:gd name="connsiteX1" fmla="*/ 2183905 w 2183905"/>
              <a:gd name="connsiteY1" fmla="*/ 564077 h 564077"/>
              <a:gd name="connsiteX0" fmla="*/ 846 w 2184128"/>
              <a:gd name="connsiteY0" fmla="*/ 0 h 564077"/>
              <a:gd name="connsiteX1" fmla="*/ 2184128 w 2184128"/>
              <a:gd name="connsiteY1" fmla="*/ 564077 h 564077"/>
              <a:gd name="connsiteX0" fmla="*/ 0 w 2183282"/>
              <a:gd name="connsiteY0" fmla="*/ 0 h 564077"/>
              <a:gd name="connsiteX1" fmla="*/ 2183282 w 2183282"/>
              <a:gd name="connsiteY1" fmla="*/ 564077 h 564077"/>
            </a:gdLst>
            <a:ahLst/>
            <a:cxnLst>
              <a:cxn ang="0">
                <a:pos x="connsiteX0" y="connsiteY0"/>
              </a:cxn>
              <a:cxn ang="0">
                <a:pos x="connsiteX1" y="connsiteY1"/>
              </a:cxn>
            </a:cxnLst>
            <a:rect l="l" t="t" r="r" b="b"/>
            <a:pathLst>
              <a:path w="2183282" h="564077">
                <a:moveTo>
                  <a:pt x="0" y="0"/>
                </a:moveTo>
                <a:cubicBezTo>
                  <a:pt x="326674" y="1137411"/>
                  <a:pt x="1180618" y="-329718"/>
                  <a:pt x="2183282" y="564077"/>
                </a:cubicBezTo>
              </a:path>
            </a:pathLst>
          </a:custGeom>
          <a:noFill/>
          <a:ln w="38100">
            <a:solidFill>
              <a:schemeClr val="tx1"/>
            </a:solidFill>
            <a:prstDash val="sysDot"/>
            <a:headEnd type="none"/>
            <a:tailEnd type="stealt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10" name="Rounded Rectangle 109"/>
          <p:cNvSpPr/>
          <p:nvPr/>
        </p:nvSpPr>
        <p:spPr>
          <a:xfrm>
            <a:off x="212372" y="2844382"/>
            <a:ext cx="1255950" cy="398252"/>
          </a:xfrm>
          <a:prstGeom prst="roundRect">
            <a:avLst/>
          </a:prstGeom>
          <a:solidFill>
            <a:schemeClr val="bg1"/>
          </a:solidFill>
          <a:ln w="381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dirty="0" err="1" smtClean="0">
                <a:solidFill>
                  <a:schemeClr val="tx1"/>
                </a:solidFill>
                <a:latin typeface="Consolas" panose="020B0609020204030204" pitchFamily="49" charset="0"/>
                <a:cs typeface="Consolas" panose="020B0609020204030204" pitchFamily="49" charset="0"/>
              </a:rPr>
              <a:t>IOStream</a:t>
            </a:r>
            <a:endParaRPr lang="en-US" sz="2000" dirty="0">
              <a:solidFill>
                <a:schemeClr val="tx1"/>
              </a:solidFill>
              <a:latin typeface="Consolas" panose="020B0609020204030204" pitchFamily="49" charset="0"/>
              <a:cs typeface="Consolas" panose="020B0609020204030204" pitchFamily="49" charset="0"/>
            </a:endParaRPr>
          </a:p>
        </p:txBody>
      </p:sp>
      <p:sp>
        <p:nvSpPr>
          <p:cNvPr id="80" name="Oval 79"/>
          <p:cNvSpPr/>
          <p:nvPr/>
        </p:nvSpPr>
        <p:spPr>
          <a:xfrm>
            <a:off x="1517528" y="520540"/>
            <a:ext cx="985203" cy="443534"/>
          </a:xfrm>
          <a:prstGeom prst="ellipse">
            <a:avLst/>
          </a:prstGeom>
          <a:noFill/>
          <a:ln w="571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2160"/>
          </a:p>
        </p:txBody>
      </p:sp>
      <p:sp>
        <p:nvSpPr>
          <p:cNvPr id="81" name="Oval 80"/>
          <p:cNvSpPr/>
          <p:nvPr/>
        </p:nvSpPr>
        <p:spPr>
          <a:xfrm>
            <a:off x="3195529" y="520540"/>
            <a:ext cx="985203" cy="443534"/>
          </a:xfrm>
          <a:prstGeom prst="ellipse">
            <a:avLst/>
          </a:prstGeom>
          <a:noFill/>
          <a:ln w="571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2160"/>
          </a:p>
        </p:txBody>
      </p:sp>
      <p:sp>
        <p:nvSpPr>
          <p:cNvPr id="82" name="Oval 81"/>
          <p:cNvSpPr/>
          <p:nvPr/>
        </p:nvSpPr>
        <p:spPr>
          <a:xfrm>
            <a:off x="4873529" y="520540"/>
            <a:ext cx="985203" cy="443534"/>
          </a:xfrm>
          <a:prstGeom prst="ellipse">
            <a:avLst/>
          </a:prstGeom>
          <a:noFill/>
          <a:ln w="571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2160"/>
          </a:p>
        </p:txBody>
      </p:sp>
      <p:pic>
        <p:nvPicPr>
          <p:cNvPr id="2" name="Picture 1"/>
          <p:cNvPicPr>
            <a:picLocks noChangeAspect="1"/>
          </p:cNvPicPr>
          <p:nvPr/>
        </p:nvPicPr>
        <p:blipFill>
          <a:blip r:embed="rId5"/>
          <a:stretch>
            <a:fillRect/>
          </a:stretch>
        </p:blipFill>
        <p:spPr>
          <a:xfrm>
            <a:off x="5213938" y="2810171"/>
            <a:ext cx="2871465" cy="2548349"/>
          </a:xfrm>
          <a:prstGeom prst="rect">
            <a:avLst/>
          </a:prstGeom>
        </p:spPr>
      </p:pic>
      <p:grpSp>
        <p:nvGrpSpPr>
          <p:cNvPr id="4" name="Group 3"/>
          <p:cNvGrpSpPr/>
          <p:nvPr/>
        </p:nvGrpSpPr>
        <p:grpSpPr>
          <a:xfrm>
            <a:off x="1477900" y="3683778"/>
            <a:ext cx="2871465" cy="1655547"/>
            <a:chOff x="1477900" y="3683778"/>
            <a:chExt cx="2871465" cy="1655547"/>
          </a:xfrm>
        </p:grpSpPr>
        <p:pic>
          <p:nvPicPr>
            <p:cNvPr id="102" name="Picture 101"/>
            <p:cNvPicPr>
              <a:picLocks noChangeAspect="1"/>
            </p:cNvPicPr>
            <p:nvPr/>
          </p:nvPicPr>
          <p:blipFill rotWithShape="1">
            <a:blip r:embed="rId6">
              <a:extLst>
                <a:ext uri="{28A0092B-C50C-407E-A947-70E740481C1C}">
                  <a14:useLocalDpi xmlns:a14="http://schemas.microsoft.com/office/drawing/2010/main" val="0"/>
                </a:ext>
              </a:extLst>
            </a:blip>
            <a:srcRect l="23220" t="-501" r="8434" b="73295"/>
            <a:stretch/>
          </p:blipFill>
          <p:spPr>
            <a:xfrm>
              <a:off x="1524099" y="3683778"/>
              <a:ext cx="2719952" cy="937648"/>
            </a:xfrm>
            <a:prstGeom prst="rect">
              <a:avLst/>
            </a:prstGeom>
            <a:ln>
              <a:noFill/>
            </a:ln>
          </p:spPr>
          <p:style>
            <a:lnRef idx="2">
              <a:schemeClr val="dk1"/>
            </a:lnRef>
            <a:fillRef idx="1">
              <a:schemeClr val="lt1"/>
            </a:fillRef>
            <a:effectRef idx="0">
              <a:schemeClr val="dk1"/>
            </a:effectRef>
            <a:fontRef idx="minor">
              <a:schemeClr val="dk1"/>
            </a:fontRef>
          </p:style>
        </p:pic>
        <p:pic>
          <p:nvPicPr>
            <p:cNvPr id="3" name="Picture 2"/>
            <p:cNvPicPr>
              <a:picLocks noChangeAspect="1"/>
            </p:cNvPicPr>
            <p:nvPr/>
          </p:nvPicPr>
          <p:blipFill>
            <a:blip r:embed="rId7"/>
            <a:stretch>
              <a:fillRect/>
            </a:stretch>
          </p:blipFill>
          <p:spPr>
            <a:xfrm>
              <a:off x="1477900" y="4589452"/>
              <a:ext cx="2871465" cy="749873"/>
            </a:xfrm>
            <a:prstGeom prst="rect">
              <a:avLst/>
            </a:prstGeom>
          </p:spPr>
        </p:pic>
      </p:grpSp>
      <p:sp>
        <p:nvSpPr>
          <p:cNvPr id="7" name="Slide Number Placeholder 6"/>
          <p:cNvSpPr>
            <a:spLocks noGrp="1"/>
          </p:cNvSpPr>
          <p:nvPr>
            <p:ph type="sldNum" sz="quarter" idx="12"/>
          </p:nvPr>
        </p:nvSpPr>
        <p:spPr/>
        <p:txBody>
          <a:bodyPr/>
          <a:lstStyle/>
          <a:p>
            <a:fld id="{D431E30F-8439-471B-9257-EDD8E85CDBC8}" type="slidenum">
              <a:rPr lang="en-US" smtClean="0"/>
              <a:t>9</a:t>
            </a:fld>
            <a:endParaRPr lang="en-US"/>
          </a:p>
        </p:txBody>
      </p:sp>
    </p:spTree>
    <p:extLst>
      <p:ext uri="{BB962C8B-B14F-4D97-AF65-F5344CB8AC3E}">
        <p14:creationId xmlns:p14="http://schemas.microsoft.com/office/powerpoint/2010/main" val="16383821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grpId="0" nodeType="withEffect">
                                  <p:stCondLst>
                                    <p:cond delay="0"/>
                                  </p:stCondLst>
                                  <p:childTnLst>
                                    <p:animEffect transition="out" filter="fade">
                                      <p:cBhvr>
                                        <p:cTn id="6" dur="500"/>
                                        <p:tgtEl>
                                          <p:spTgt spid="51"/>
                                        </p:tgtEl>
                                      </p:cBhvr>
                                    </p:animEffect>
                                    <p:set>
                                      <p:cBhvr>
                                        <p:cTn id="7" dur="1" fill="hold">
                                          <p:stCondLst>
                                            <p:cond delay="499"/>
                                          </p:stCondLst>
                                        </p:cTn>
                                        <p:tgtEl>
                                          <p:spTgt spid="51"/>
                                        </p:tgtEl>
                                        <p:attrNameLst>
                                          <p:attrName>style.visibility</p:attrName>
                                        </p:attrNameLst>
                                      </p:cBhvr>
                                      <p:to>
                                        <p:strVal val="hidden"/>
                                      </p:to>
                                    </p:set>
                                  </p:childTnLst>
                                </p:cTn>
                              </p:par>
                            </p:childTnLst>
                          </p:cTn>
                        </p:par>
                        <p:par>
                          <p:cTn id="8" fill="hold">
                            <p:stCondLst>
                              <p:cond delay="500"/>
                            </p:stCondLst>
                            <p:childTnLst>
                              <p:par>
                                <p:cTn id="9" presetID="21" presetClass="entr" presetSubtype="1" fill="hold" grpId="0" nodeType="afterEffect">
                                  <p:stCondLst>
                                    <p:cond delay="0"/>
                                  </p:stCondLst>
                                  <p:childTnLst>
                                    <p:set>
                                      <p:cBhvr>
                                        <p:cTn id="10" dur="1" fill="hold">
                                          <p:stCondLst>
                                            <p:cond delay="0"/>
                                          </p:stCondLst>
                                        </p:cTn>
                                        <p:tgtEl>
                                          <p:spTgt spid="80"/>
                                        </p:tgtEl>
                                        <p:attrNameLst>
                                          <p:attrName>style.visibility</p:attrName>
                                        </p:attrNameLst>
                                      </p:cBhvr>
                                      <p:to>
                                        <p:strVal val="visible"/>
                                      </p:to>
                                    </p:set>
                                    <p:animEffect transition="in" filter="wheel(1)">
                                      <p:cBhvr>
                                        <p:cTn id="11" dur="750"/>
                                        <p:tgtEl>
                                          <p:spTgt spid="80"/>
                                        </p:tgtEl>
                                      </p:cBhvr>
                                    </p:animEffect>
                                  </p:childTnLst>
                                </p:cTn>
                              </p:par>
                              <p:par>
                                <p:cTn id="12" presetID="21" presetClass="entr" presetSubtype="1" fill="hold" grpId="0" nodeType="withEffect">
                                  <p:stCondLst>
                                    <p:cond delay="500"/>
                                  </p:stCondLst>
                                  <p:childTnLst>
                                    <p:set>
                                      <p:cBhvr>
                                        <p:cTn id="13" dur="1" fill="hold">
                                          <p:stCondLst>
                                            <p:cond delay="0"/>
                                          </p:stCondLst>
                                        </p:cTn>
                                        <p:tgtEl>
                                          <p:spTgt spid="81"/>
                                        </p:tgtEl>
                                        <p:attrNameLst>
                                          <p:attrName>style.visibility</p:attrName>
                                        </p:attrNameLst>
                                      </p:cBhvr>
                                      <p:to>
                                        <p:strVal val="visible"/>
                                      </p:to>
                                    </p:set>
                                    <p:animEffect transition="in" filter="wheel(1)">
                                      <p:cBhvr>
                                        <p:cTn id="14" dur="750"/>
                                        <p:tgtEl>
                                          <p:spTgt spid="81"/>
                                        </p:tgtEl>
                                      </p:cBhvr>
                                    </p:animEffect>
                                  </p:childTnLst>
                                </p:cTn>
                              </p:par>
                              <p:par>
                                <p:cTn id="15" presetID="21" presetClass="entr" presetSubtype="1" fill="hold" grpId="0" nodeType="withEffect">
                                  <p:stCondLst>
                                    <p:cond delay="1000"/>
                                  </p:stCondLst>
                                  <p:childTnLst>
                                    <p:set>
                                      <p:cBhvr>
                                        <p:cTn id="16" dur="1" fill="hold">
                                          <p:stCondLst>
                                            <p:cond delay="0"/>
                                          </p:stCondLst>
                                        </p:cTn>
                                        <p:tgtEl>
                                          <p:spTgt spid="82"/>
                                        </p:tgtEl>
                                        <p:attrNameLst>
                                          <p:attrName>style.visibility</p:attrName>
                                        </p:attrNameLst>
                                      </p:cBhvr>
                                      <p:to>
                                        <p:strVal val="visible"/>
                                      </p:to>
                                    </p:set>
                                    <p:animEffect transition="in" filter="wheel(1)">
                                      <p:cBhvr>
                                        <p:cTn id="17" dur="750"/>
                                        <p:tgtEl>
                                          <p:spTgt spid="8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nodeType="clickEffect">
                                  <p:stCondLst>
                                    <p:cond delay="0"/>
                                  </p:stCondLst>
                                  <p:childTnLst>
                                    <p:animEffect transition="out" filter="fade">
                                      <p:cBhvr>
                                        <p:cTn id="21" dur="500"/>
                                        <p:tgtEl>
                                          <p:spTgt spid="100"/>
                                        </p:tgtEl>
                                      </p:cBhvr>
                                    </p:animEffect>
                                    <p:set>
                                      <p:cBhvr>
                                        <p:cTn id="22" dur="1" fill="hold">
                                          <p:stCondLst>
                                            <p:cond delay="499"/>
                                          </p:stCondLst>
                                        </p:cTn>
                                        <p:tgtEl>
                                          <p:spTgt spid="100"/>
                                        </p:tgtEl>
                                        <p:attrNameLst>
                                          <p:attrName>style.visibility</p:attrName>
                                        </p:attrNameLst>
                                      </p:cBhvr>
                                      <p:to>
                                        <p:strVal val="hidden"/>
                                      </p:to>
                                    </p:set>
                                  </p:childTnLst>
                                </p:cTn>
                              </p:par>
                            </p:childTnLst>
                          </p:cTn>
                        </p:par>
                        <p:par>
                          <p:cTn id="23" fill="hold">
                            <p:stCondLst>
                              <p:cond delay="500"/>
                            </p:stCondLst>
                            <p:childTnLst>
                              <p:par>
                                <p:cTn id="24" presetID="22" presetClass="entr" presetSubtype="8" fill="hold" nodeType="afterEffect">
                                  <p:stCondLst>
                                    <p:cond delay="250"/>
                                  </p:stCondLst>
                                  <p:childTnLst>
                                    <p:set>
                                      <p:cBhvr>
                                        <p:cTn id="25" dur="1" fill="hold">
                                          <p:stCondLst>
                                            <p:cond delay="0"/>
                                          </p:stCondLst>
                                        </p:cTn>
                                        <p:tgtEl>
                                          <p:spTgt spid="2"/>
                                        </p:tgtEl>
                                        <p:attrNameLst>
                                          <p:attrName>style.visibility</p:attrName>
                                        </p:attrNameLst>
                                      </p:cBhvr>
                                      <p:to>
                                        <p:strVal val="visible"/>
                                      </p:to>
                                    </p:set>
                                    <p:animEffect transition="in" filter="wipe(left)">
                                      <p:cBhvr>
                                        <p:cTn id="26" dur="1500"/>
                                        <p:tgtEl>
                                          <p:spTgt spid="2"/>
                                        </p:tgtEl>
                                      </p:cBhvr>
                                    </p:animEffect>
                                  </p:childTnLst>
                                </p:cTn>
                              </p:par>
                            </p:childTnLst>
                          </p:cTn>
                        </p:par>
                        <p:par>
                          <p:cTn id="27" fill="hold">
                            <p:stCondLst>
                              <p:cond delay="2250"/>
                            </p:stCondLst>
                            <p:childTnLst>
                              <p:par>
                                <p:cTn id="28" presetID="10" presetClass="entr" presetSubtype="0" fill="hold" nodeType="after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fade">
                                      <p:cBhvr>
                                        <p:cTn id="3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P spid="80" grpId="0" animBg="1"/>
      <p:bldP spid="81" grpId="0" animBg="1"/>
      <p:bldP spid="8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35000"/>
            <a:ext cx="9144000" cy="612775"/>
          </a:xfrm>
        </p:spPr>
        <p:txBody>
          <a:bodyPr>
            <a:normAutofit/>
          </a:bodyPr>
          <a:lstStyle/>
          <a:p>
            <a:pPr marL="0" indent="0" algn="ctr">
              <a:buNone/>
            </a:pPr>
            <a:r>
              <a:rPr lang="en-US" sz="3200" dirty="0" smtClean="0"/>
              <a:t>Instrumentation is decided at development time</a:t>
            </a:r>
          </a:p>
        </p:txBody>
      </p:sp>
      <p:sp>
        <p:nvSpPr>
          <p:cNvPr id="6" name="Content Placeholder 2"/>
          <p:cNvSpPr txBox="1">
            <a:spLocks/>
          </p:cNvSpPr>
          <p:nvPr/>
        </p:nvSpPr>
        <p:spPr>
          <a:xfrm>
            <a:off x="923925" y="2085974"/>
            <a:ext cx="7296150" cy="1123951"/>
          </a:xfrm>
          <a:prstGeom prst="rect">
            <a:avLst/>
          </a:prstGeom>
        </p:spPr>
        <p:txBody>
          <a:bodyPr vert="horz" lIns="91440" tIns="45720" rIns="91440" bIns="45720" rtlCol="0">
            <a:normAutofit fontScale="92500"/>
          </a:bodyPr>
          <a:lstStyle>
            <a:lvl1pPr marL="228591" indent="-228591" algn="l" defTabSz="91436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73" indent="-228591" algn="l" defTabSz="91436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54" indent="-228591" algn="l" defTabSz="91436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36"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18"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99"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81"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63"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45"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smtClean="0"/>
              <a:t>Probably not have enough info for your problem</a:t>
            </a:r>
          </a:p>
          <a:p>
            <a:pPr marL="0" indent="0" algn="ctr">
              <a:buNone/>
            </a:pPr>
            <a:r>
              <a:rPr lang="en-US" dirty="0" smtClean="0"/>
              <a:t>Probably too much irrelevant info for your problem</a:t>
            </a:r>
          </a:p>
        </p:txBody>
      </p:sp>
      <p:sp>
        <p:nvSpPr>
          <p:cNvPr id="7" name="Content Placeholder 2"/>
          <p:cNvSpPr txBox="1">
            <a:spLocks/>
          </p:cNvSpPr>
          <p:nvPr/>
        </p:nvSpPr>
        <p:spPr>
          <a:xfrm>
            <a:off x="0" y="3724275"/>
            <a:ext cx="9143999" cy="513546"/>
          </a:xfrm>
          <a:prstGeom prst="rect">
            <a:avLst/>
          </a:prstGeom>
        </p:spPr>
        <p:txBody>
          <a:bodyPr vert="horz" lIns="91440" tIns="45720" rIns="91440" bIns="45720" rtlCol="0">
            <a:normAutofit/>
          </a:bodyPr>
          <a:lstStyle>
            <a:lvl1pPr marL="228591" indent="-228591" algn="l" defTabSz="91436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73" indent="-228591" algn="l" defTabSz="91436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54" indent="-228591" algn="l" defTabSz="91436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36"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18"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99"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81"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63"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45"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smtClean="0"/>
              <a:t>Should </a:t>
            </a:r>
            <a:r>
              <a:rPr lang="en-US" dirty="0"/>
              <a:t>every user bear the cost of a feature?</a:t>
            </a:r>
          </a:p>
          <a:p>
            <a:pPr marL="0" indent="0" algn="ctr">
              <a:buNone/>
            </a:pPr>
            <a:endParaRPr lang="en-US" dirty="0"/>
          </a:p>
          <a:p>
            <a:pPr marL="0" indent="0" algn="ctr">
              <a:buNone/>
            </a:pPr>
            <a:endParaRPr lang="en-US" dirty="0"/>
          </a:p>
        </p:txBody>
      </p:sp>
      <p:sp>
        <p:nvSpPr>
          <p:cNvPr id="2" name="Slide Number Placeholder 1"/>
          <p:cNvSpPr>
            <a:spLocks noGrp="1"/>
          </p:cNvSpPr>
          <p:nvPr>
            <p:ph type="sldNum" sz="quarter" idx="12"/>
          </p:nvPr>
        </p:nvSpPr>
        <p:spPr/>
        <p:txBody>
          <a:bodyPr/>
          <a:lstStyle/>
          <a:p>
            <a:fld id="{D431E30F-8439-471B-9257-EDD8E85CDBC8}" type="slidenum">
              <a:rPr lang="en-US" smtClean="0"/>
              <a:t>10</a:t>
            </a:fld>
            <a:endParaRPr lang="en-US"/>
          </a:p>
        </p:txBody>
      </p:sp>
      <p:sp>
        <p:nvSpPr>
          <p:cNvPr id="8" name="Rectangle 7"/>
          <p:cNvSpPr/>
          <p:nvPr/>
        </p:nvSpPr>
        <p:spPr>
          <a:xfrm rot="21428140">
            <a:off x="541258" y="5772601"/>
            <a:ext cx="4295215" cy="553998"/>
          </a:xfrm>
          <a:prstGeom prst="rect">
            <a:avLst/>
          </a:prstGeom>
        </p:spPr>
        <p:style>
          <a:lnRef idx="1">
            <a:schemeClr val="accent4"/>
          </a:lnRef>
          <a:fillRef idx="2">
            <a:schemeClr val="accent4"/>
          </a:fillRef>
          <a:effectRef idx="1">
            <a:schemeClr val="accent4"/>
          </a:effectRef>
          <a:fontRef idx="minor">
            <a:schemeClr val="dk1"/>
          </a:fontRef>
        </p:style>
        <p:txBody>
          <a:bodyPr wrap="none">
            <a:spAutoFit/>
          </a:bodyPr>
          <a:lstStyle/>
          <a:p>
            <a:r>
              <a:rPr lang="en-US" baseline="30000" dirty="0" smtClean="0"/>
              <a:t>HDFS-6292 </a:t>
            </a:r>
            <a:r>
              <a:rPr lang="en-US" baseline="30000" dirty="0"/>
              <a:t>Display HDFS per user and per group usage on </a:t>
            </a:r>
            <a:r>
              <a:rPr lang="en-US" baseline="30000" dirty="0" err="1"/>
              <a:t>webUI</a:t>
            </a:r>
            <a:r>
              <a:rPr lang="en-US" baseline="30000" dirty="0"/>
              <a:t>. </a:t>
            </a:r>
            <a:endParaRPr lang="en-US" baseline="30000" dirty="0" smtClean="0"/>
          </a:p>
          <a:p>
            <a:r>
              <a:rPr lang="en-US" baseline="30000" dirty="0" smtClean="0"/>
              <a:t>https</a:t>
            </a:r>
            <a:r>
              <a:rPr lang="en-US" baseline="30000" dirty="0"/>
              <a:t>://</a:t>
            </a:r>
            <a:r>
              <a:rPr lang="en-US" baseline="30000" dirty="0" smtClean="0"/>
              <a:t>issues.apache.org/jira/browse/HDFS-6292</a:t>
            </a:r>
            <a:endParaRPr lang="en-US" dirty="0"/>
          </a:p>
        </p:txBody>
      </p:sp>
      <p:grpSp>
        <p:nvGrpSpPr>
          <p:cNvPr id="9" name="Group 8"/>
          <p:cNvGrpSpPr/>
          <p:nvPr/>
        </p:nvGrpSpPr>
        <p:grpSpPr>
          <a:xfrm>
            <a:off x="5217467" y="4554577"/>
            <a:ext cx="2480965" cy="2159744"/>
            <a:chOff x="4881860" y="3210556"/>
            <a:chExt cx="3736038" cy="3252317"/>
          </a:xfrm>
        </p:grpSpPr>
        <p:grpSp>
          <p:nvGrpSpPr>
            <p:cNvPr id="10" name="Group 9"/>
            <p:cNvGrpSpPr/>
            <p:nvPr/>
          </p:nvGrpSpPr>
          <p:grpSpPr>
            <a:xfrm>
              <a:off x="4881860" y="3210556"/>
              <a:ext cx="3736038" cy="3252317"/>
              <a:chOff x="2155601" y="1578475"/>
              <a:chExt cx="3736038" cy="3252317"/>
            </a:xfrm>
          </p:grpSpPr>
          <p:sp>
            <p:nvSpPr>
              <p:cNvPr id="13" name="Rectangle 12"/>
              <p:cNvSpPr/>
              <p:nvPr/>
            </p:nvSpPr>
            <p:spPr>
              <a:xfrm>
                <a:off x="2155601" y="1578475"/>
                <a:ext cx="3736038" cy="325231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p:cNvGrpSpPr/>
              <p:nvPr/>
            </p:nvGrpSpPr>
            <p:grpSpPr>
              <a:xfrm>
                <a:off x="2170841" y="1628717"/>
                <a:ext cx="3686167" cy="3168446"/>
                <a:chOff x="1164801" y="2558178"/>
                <a:chExt cx="3686167" cy="3168446"/>
              </a:xfrm>
            </p:grpSpPr>
            <p:pic>
              <p:nvPicPr>
                <p:cNvPr id="15" name="Picture 14" descr="fig1.pdf"/>
                <p:cNvPicPr>
                  <a:picLocks noChangeAspect="1"/>
                </p:cNvPicPr>
                <p:nvPr/>
              </p:nvPicPr>
              <p:blipFill rotWithShape="1">
                <a:blip r:embed="rId3" cstate="print">
                  <a:extLst>
                    <a:ext uri="{28A0092B-C50C-407E-A947-70E740481C1C}">
                      <a14:useLocalDpi xmlns:a14="http://schemas.microsoft.com/office/drawing/2010/main" val="0"/>
                    </a:ext>
                  </a:extLst>
                </a:blip>
                <a:srcRect r="80877" b="13113"/>
                <a:stretch/>
              </p:blipFill>
              <p:spPr>
                <a:xfrm>
                  <a:off x="1164801" y="2558178"/>
                  <a:ext cx="708449" cy="2793021"/>
                </a:xfrm>
                <a:prstGeom prst="rect">
                  <a:avLst/>
                </a:prstGeom>
                <a:ln>
                  <a:noFill/>
                </a:ln>
              </p:spPr>
              <p:style>
                <a:lnRef idx="2">
                  <a:schemeClr val="dk1"/>
                </a:lnRef>
                <a:fillRef idx="1">
                  <a:schemeClr val="lt1"/>
                </a:fillRef>
                <a:effectRef idx="0">
                  <a:schemeClr val="dk1"/>
                </a:effectRef>
                <a:fontRef idx="minor">
                  <a:schemeClr val="dk1"/>
                </a:fontRef>
              </p:style>
            </p:pic>
            <p:pic>
              <p:nvPicPr>
                <p:cNvPr id="16" name="Picture 15" descr="fig1.pdf"/>
                <p:cNvPicPr>
                  <a:picLocks noChangeAspect="1"/>
                </p:cNvPicPr>
                <p:nvPr/>
              </p:nvPicPr>
              <p:blipFill rotWithShape="1">
                <a:blip r:embed="rId3" cstate="print">
                  <a:extLst>
                    <a:ext uri="{28A0092B-C50C-407E-A947-70E740481C1C}">
                      <a14:useLocalDpi xmlns:a14="http://schemas.microsoft.com/office/drawing/2010/main" val="0"/>
                    </a:ext>
                  </a:extLst>
                </a:blip>
                <a:srcRect l="16879" t="84233" r="495" b="96"/>
                <a:stretch/>
              </p:blipFill>
              <p:spPr>
                <a:xfrm>
                  <a:off x="1790054" y="5222875"/>
                  <a:ext cx="3060914" cy="503749"/>
                </a:xfrm>
                <a:prstGeom prst="rect">
                  <a:avLst/>
                </a:prstGeom>
                <a:ln>
                  <a:noFill/>
                </a:ln>
              </p:spPr>
              <p:style>
                <a:lnRef idx="2">
                  <a:schemeClr val="dk1"/>
                </a:lnRef>
                <a:fillRef idx="1">
                  <a:schemeClr val="lt1"/>
                </a:fillRef>
                <a:effectRef idx="0">
                  <a:schemeClr val="dk1"/>
                </a:effectRef>
                <a:fontRef idx="minor">
                  <a:schemeClr val="dk1"/>
                </a:fontRef>
              </p:style>
            </p:pic>
          </p:grpSp>
        </p:grpSp>
        <p:pic>
          <p:nvPicPr>
            <p:cNvPr id="11" name="Picture 10"/>
            <p:cNvPicPr>
              <a:picLocks noChangeAspect="1"/>
            </p:cNvPicPr>
            <p:nvPr/>
          </p:nvPicPr>
          <p:blipFill rotWithShape="1">
            <a:blip r:embed="rId4" cstate="print">
              <a:extLst>
                <a:ext uri="{28A0092B-C50C-407E-A947-70E740481C1C}">
                  <a14:useLocalDpi xmlns:a14="http://schemas.microsoft.com/office/drawing/2010/main" val="0"/>
                </a:ext>
              </a:extLst>
            </a:blip>
            <a:srcRect l="19414" t="29041" r="3530" b="15415"/>
            <a:stretch/>
          </p:blipFill>
          <p:spPr>
            <a:xfrm>
              <a:off x="5605549" y="4130122"/>
              <a:ext cx="2870312" cy="1791768"/>
            </a:xfrm>
            <a:prstGeom prst="rect">
              <a:avLst/>
            </a:prstGeom>
            <a:ln>
              <a:noFill/>
            </a:ln>
          </p:spPr>
          <p:style>
            <a:lnRef idx="2">
              <a:schemeClr val="dk1"/>
            </a:lnRef>
            <a:fillRef idx="1">
              <a:schemeClr val="lt1"/>
            </a:fillRef>
            <a:effectRef idx="0">
              <a:schemeClr val="dk1"/>
            </a:effectRef>
            <a:fontRef idx="minor">
              <a:schemeClr val="dk1"/>
            </a:fontRef>
          </p:style>
        </p:pic>
        <p:pic>
          <p:nvPicPr>
            <p:cNvPr id="12" name="Picture 11"/>
            <p:cNvPicPr>
              <a:picLocks noChangeAspect="1"/>
            </p:cNvPicPr>
            <p:nvPr/>
          </p:nvPicPr>
          <p:blipFill rotWithShape="1">
            <a:blip r:embed="rId4" cstate="print">
              <a:extLst>
                <a:ext uri="{28A0092B-C50C-407E-A947-70E740481C1C}">
                  <a14:useLocalDpi xmlns:a14="http://schemas.microsoft.com/office/drawing/2010/main" val="0"/>
                </a:ext>
              </a:extLst>
            </a:blip>
            <a:srcRect l="23220" t="-501" r="8434" b="73295"/>
            <a:stretch/>
          </p:blipFill>
          <p:spPr>
            <a:xfrm>
              <a:off x="5751747" y="3292212"/>
              <a:ext cx="2719952" cy="937648"/>
            </a:xfrm>
            <a:prstGeom prst="rect">
              <a:avLst/>
            </a:prstGeom>
            <a:ln>
              <a:noFill/>
            </a:ln>
          </p:spPr>
          <p:style>
            <a:lnRef idx="2">
              <a:schemeClr val="dk1"/>
            </a:lnRef>
            <a:fillRef idx="1">
              <a:schemeClr val="lt1"/>
            </a:fillRef>
            <a:effectRef idx="0">
              <a:schemeClr val="dk1"/>
            </a:effectRef>
            <a:fontRef idx="minor">
              <a:schemeClr val="dk1"/>
            </a:fontRef>
          </p:style>
        </p:pic>
      </p:grpSp>
    </p:spTree>
    <p:extLst>
      <p:ext uri="{BB962C8B-B14F-4D97-AF65-F5344CB8AC3E}">
        <p14:creationId xmlns:p14="http://schemas.microsoft.com/office/powerpoint/2010/main" val="4109453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 Shot 2014-12-10 at 4.11.31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45249" y="1910524"/>
            <a:ext cx="5213026" cy="4126212"/>
          </a:xfrm>
          <a:prstGeom prst="rect">
            <a:avLst/>
          </a:prstGeom>
        </p:spPr>
      </p:pic>
      <p:sp>
        <p:nvSpPr>
          <p:cNvPr id="2" name="Title 1"/>
          <p:cNvSpPr>
            <a:spLocks noGrp="1"/>
          </p:cNvSpPr>
          <p:nvPr>
            <p:ph type="title"/>
          </p:nvPr>
        </p:nvSpPr>
        <p:spPr>
          <a:xfrm>
            <a:off x="865433" y="572240"/>
            <a:ext cx="7569200" cy="1143000"/>
          </a:xfrm>
        </p:spPr>
        <p:txBody>
          <a:bodyPr/>
          <a:lstStyle/>
          <a:p>
            <a:r>
              <a:rPr lang="en-US" dirty="0" smtClean="0"/>
              <a:t>Dynamic dependencies</a:t>
            </a:r>
            <a:endParaRPr lang="en-US" dirty="0"/>
          </a:p>
        </p:txBody>
      </p:sp>
      <p:sp>
        <p:nvSpPr>
          <p:cNvPr id="3" name="Content Placeholder 2"/>
          <p:cNvSpPr>
            <a:spLocks noGrp="1"/>
          </p:cNvSpPr>
          <p:nvPr>
            <p:ph idx="1"/>
          </p:nvPr>
        </p:nvSpPr>
        <p:spPr>
          <a:xfrm>
            <a:off x="3562349" y="5979436"/>
            <a:ext cx="5782027" cy="726121"/>
          </a:xfrm>
        </p:spPr>
        <p:txBody>
          <a:bodyPr>
            <a:normAutofit/>
          </a:bodyPr>
          <a:lstStyle/>
          <a:p>
            <a:pPr marL="0" indent="0">
              <a:buNone/>
            </a:pPr>
            <a:r>
              <a:rPr lang="en-US" sz="2000" dirty="0" smtClean="0">
                <a:solidFill>
                  <a:srgbClr val="FF0000"/>
                </a:solidFill>
              </a:rPr>
              <a:t>Netflix “Death Star” </a:t>
            </a:r>
            <a:r>
              <a:rPr lang="en-US" sz="2000" dirty="0" err="1" smtClean="0">
                <a:solidFill>
                  <a:srgbClr val="FF0000"/>
                </a:solidFill>
              </a:rPr>
              <a:t>Microservices</a:t>
            </a:r>
            <a:r>
              <a:rPr lang="en-US" sz="2000" dirty="0">
                <a:solidFill>
                  <a:srgbClr val="FF0000"/>
                </a:solidFill>
              </a:rPr>
              <a:t> </a:t>
            </a:r>
            <a:r>
              <a:rPr lang="en-US" sz="2000" dirty="0" smtClean="0">
                <a:solidFill>
                  <a:srgbClr val="FF0000"/>
                </a:solidFill>
              </a:rPr>
              <a:t>Dependencies</a:t>
            </a:r>
            <a:endParaRPr lang="en-US" sz="2000" dirty="0">
              <a:solidFill>
                <a:srgbClr val="FF0000"/>
              </a:solidFill>
            </a:endParaRPr>
          </a:p>
        </p:txBody>
      </p:sp>
      <p:sp>
        <p:nvSpPr>
          <p:cNvPr id="5" name="TextBox 4"/>
          <p:cNvSpPr txBox="1"/>
          <p:nvPr/>
        </p:nvSpPr>
        <p:spPr>
          <a:xfrm>
            <a:off x="7617041" y="6247247"/>
            <a:ext cx="1242028" cy="253916"/>
          </a:xfrm>
          <a:prstGeom prst="rect">
            <a:avLst/>
          </a:prstGeom>
          <a:noFill/>
        </p:spPr>
        <p:txBody>
          <a:bodyPr wrap="none" rtlCol="0">
            <a:spAutoFit/>
          </a:bodyPr>
          <a:lstStyle/>
          <a:p>
            <a:r>
              <a:rPr lang="en-US" sz="1050" dirty="0" smtClean="0"/>
              <a:t>@</a:t>
            </a:r>
            <a:r>
              <a:rPr lang="en-US" sz="1050" dirty="0" err="1" smtClean="0"/>
              <a:t>bruce_m_wong</a:t>
            </a:r>
            <a:endParaRPr lang="en-US" sz="1050" dirty="0"/>
          </a:p>
        </p:txBody>
      </p:sp>
      <p:sp>
        <p:nvSpPr>
          <p:cNvPr id="6" name="Rectangle 5"/>
          <p:cNvSpPr/>
          <p:nvPr/>
        </p:nvSpPr>
        <p:spPr>
          <a:xfrm>
            <a:off x="1363908" y="1459698"/>
            <a:ext cx="7772400" cy="369332"/>
          </a:xfrm>
          <a:prstGeom prst="rect">
            <a:avLst/>
          </a:prstGeom>
        </p:spPr>
        <p:txBody>
          <a:bodyPr wrap="square">
            <a:spAutoFit/>
          </a:bodyPr>
          <a:lstStyle/>
          <a:p>
            <a:r>
              <a:rPr lang="en-US" dirty="0"/>
              <a:t>You often need to correlate information from different points in the system </a:t>
            </a:r>
          </a:p>
        </p:txBody>
      </p:sp>
      <p:sp>
        <p:nvSpPr>
          <p:cNvPr id="7" name="Content Placeholder 2"/>
          <p:cNvSpPr txBox="1">
            <a:spLocks/>
          </p:cNvSpPr>
          <p:nvPr/>
        </p:nvSpPr>
        <p:spPr>
          <a:xfrm>
            <a:off x="250189" y="3004325"/>
            <a:ext cx="3752144" cy="3853675"/>
          </a:xfrm>
          <a:prstGeom prst="rect">
            <a:avLst/>
          </a:prstGeom>
        </p:spPr>
        <p:txBody>
          <a:bodyPr vert="horz" lIns="91440" tIns="45720" rIns="91440" bIns="45720" rtlCol="0" anchor="t">
            <a:normAutofit/>
          </a:bodyPr>
          <a:lstStyle>
            <a:lvl1pPr marL="228591" indent="-228591" algn="l" defTabSz="91436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73" indent="-228591" algn="l" defTabSz="91436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54" indent="-228591" algn="l" defTabSz="91436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36"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18"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99"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81"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63"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45"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smtClean="0"/>
              <a:t>Systems are designed to compose</a:t>
            </a:r>
          </a:p>
          <a:p>
            <a:pPr marL="0" indent="0">
              <a:buNone/>
            </a:pPr>
            <a:endParaRPr lang="en-US" sz="2400" dirty="0"/>
          </a:p>
          <a:p>
            <a:pPr marL="0" indent="0">
              <a:buNone/>
            </a:pPr>
            <a:r>
              <a:rPr lang="en-US" sz="2400" dirty="0" smtClean="0"/>
              <a:t>Systems don’t embed monitoring that relates to other services</a:t>
            </a:r>
          </a:p>
        </p:txBody>
      </p:sp>
      <p:sp>
        <p:nvSpPr>
          <p:cNvPr id="8" name="Slide Number Placeholder 7"/>
          <p:cNvSpPr>
            <a:spLocks noGrp="1"/>
          </p:cNvSpPr>
          <p:nvPr>
            <p:ph type="sldNum" sz="quarter" idx="12"/>
          </p:nvPr>
        </p:nvSpPr>
        <p:spPr/>
        <p:txBody>
          <a:bodyPr/>
          <a:lstStyle/>
          <a:p>
            <a:fld id="{D431E30F-8439-471B-9257-EDD8E85CDBC8}" type="slidenum">
              <a:rPr lang="en-US" smtClean="0"/>
              <a:t>11</a:t>
            </a:fld>
            <a:endParaRPr lang="en-US"/>
          </a:p>
        </p:txBody>
      </p:sp>
    </p:spTree>
    <p:extLst>
      <p:ext uri="{BB962C8B-B14F-4D97-AF65-F5344CB8AC3E}">
        <p14:creationId xmlns:p14="http://schemas.microsoft.com/office/powerpoint/2010/main" val="5423831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1000"/>
                                        <p:tgtEl>
                                          <p:spTgt spid="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fade">
                                      <p:cBhvr>
                                        <p:cTn id="15" dur="500"/>
                                        <p:tgtEl>
                                          <p:spTgt spid="3">
                                            <p:txEl>
                                              <p:pRg st="0" end="0"/>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7400" y="430919"/>
            <a:ext cx="7569200" cy="1143000"/>
          </a:xfrm>
        </p:spPr>
        <p:txBody>
          <a:bodyPr>
            <a:normAutofit/>
          </a:bodyPr>
          <a:lstStyle/>
          <a:p>
            <a:pPr algn="ctr"/>
            <a:r>
              <a:rPr lang="en-US" sz="6000" dirty="0" smtClean="0"/>
              <a:t>Pivot Tracing</a:t>
            </a:r>
            <a:endParaRPr lang="en-US" sz="6000" dirty="0"/>
          </a:p>
        </p:txBody>
      </p:sp>
      <p:sp>
        <p:nvSpPr>
          <p:cNvPr id="6" name="Content Placeholder 2"/>
          <p:cNvSpPr>
            <a:spLocks noGrp="1"/>
          </p:cNvSpPr>
          <p:nvPr>
            <p:ph idx="1"/>
          </p:nvPr>
        </p:nvSpPr>
        <p:spPr>
          <a:xfrm>
            <a:off x="324556" y="1895475"/>
            <a:ext cx="8494888" cy="4230688"/>
          </a:xfrm>
        </p:spPr>
        <p:txBody>
          <a:bodyPr anchor="t"/>
          <a:lstStyle/>
          <a:p>
            <a:pPr marL="0" indent="0" algn="ctr">
              <a:lnSpc>
                <a:spcPct val="150000"/>
              </a:lnSpc>
              <a:buNone/>
            </a:pPr>
            <a:r>
              <a:rPr lang="en-US" dirty="0"/>
              <a:t>You don’t know the questions in advance</a:t>
            </a:r>
          </a:p>
          <a:p>
            <a:pPr marL="18" indent="0" algn="ctr">
              <a:buNone/>
            </a:pPr>
            <a:r>
              <a:rPr lang="en-US" sz="2400" b="1" dirty="0" smtClean="0"/>
              <a:t>Dynamic instrumentation</a:t>
            </a:r>
          </a:p>
          <a:p>
            <a:pPr marL="18" indent="0" algn="ctr">
              <a:buNone/>
            </a:pPr>
            <a:r>
              <a:rPr lang="en-US" sz="2000" b="1" dirty="0" smtClean="0"/>
              <a:t>Fay (SOSP’11), </a:t>
            </a:r>
            <a:r>
              <a:rPr lang="en-US" sz="2000" b="1" dirty="0" err="1" smtClean="0"/>
              <a:t>Dtrace</a:t>
            </a:r>
            <a:r>
              <a:rPr lang="en-US" sz="2000" b="1" dirty="0" smtClean="0"/>
              <a:t> (ATC’04), …</a:t>
            </a:r>
          </a:p>
          <a:p>
            <a:pPr marL="457200" lvl="1" indent="0" algn="ctr">
              <a:buNone/>
            </a:pPr>
            <a:endParaRPr lang="en-US" sz="2000" b="1" dirty="0" smtClean="0"/>
          </a:p>
          <a:p>
            <a:pPr marL="457200" lvl="1" indent="0" algn="ctr">
              <a:buNone/>
            </a:pPr>
            <a:endParaRPr lang="en-US" sz="2000" b="1" dirty="0" smtClean="0"/>
          </a:p>
          <a:p>
            <a:pPr marL="0" indent="0" algn="ctr">
              <a:buNone/>
            </a:pPr>
            <a:r>
              <a:rPr lang="en-US" dirty="0"/>
              <a:t>You often need to correlate information from different points in the </a:t>
            </a:r>
            <a:r>
              <a:rPr lang="en-US" dirty="0" smtClean="0"/>
              <a:t>system</a:t>
            </a:r>
          </a:p>
          <a:p>
            <a:pPr marL="18" indent="0" algn="ctr">
              <a:buNone/>
            </a:pPr>
            <a:r>
              <a:rPr lang="en-US" sz="2400" b="1" dirty="0" smtClean="0"/>
              <a:t>Causal tracing</a:t>
            </a:r>
            <a:endParaRPr lang="en-US" sz="2000" b="1" dirty="0" smtClean="0"/>
          </a:p>
          <a:p>
            <a:pPr marL="18" indent="0" algn="ctr">
              <a:buNone/>
            </a:pPr>
            <a:r>
              <a:rPr lang="en-US" sz="2000" b="1" dirty="0" smtClean="0"/>
              <a:t>X-Trace (NSDI’07), Dapper (Google), Pip (NSDI’06), …</a:t>
            </a:r>
            <a:endParaRPr lang="en-US" sz="2400" b="1" dirty="0" smtClean="0"/>
          </a:p>
        </p:txBody>
      </p:sp>
      <p:sp>
        <p:nvSpPr>
          <p:cNvPr id="3" name="Slide Number Placeholder 2"/>
          <p:cNvSpPr>
            <a:spLocks noGrp="1"/>
          </p:cNvSpPr>
          <p:nvPr>
            <p:ph type="sldNum" sz="quarter" idx="12"/>
          </p:nvPr>
        </p:nvSpPr>
        <p:spPr/>
        <p:txBody>
          <a:bodyPr/>
          <a:lstStyle/>
          <a:p>
            <a:fld id="{D431E30F-8439-471B-9257-EDD8E85CDBC8}" type="slidenum">
              <a:rPr lang="en-US" smtClean="0"/>
              <a:t>12</a:t>
            </a:fld>
            <a:endParaRPr lang="en-US"/>
          </a:p>
        </p:txBody>
      </p:sp>
    </p:spTree>
    <p:extLst>
      <p:ext uri="{BB962C8B-B14F-4D97-AF65-F5344CB8AC3E}">
        <p14:creationId xmlns:p14="http://schemas.microsoft.com/office/powerpoint/2010/main" val="20638070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D431E30F-8439-471B-9257-EDD8E85CDBC8}" type="slidenum">
              <a:rPr lang="en-US" smtClean="0"/>
              <a:t>13</a:t>
            </a:fld>
            <a:endParaRPr lang="en-US"/>
          </a:p>
        </p:txBody>
      </p:sp>
      <p:sp>
        <p:nvSpPr>
          <p:cNvPr id="10" name="Content Placeholder 2"/>
          <p:cNvSpPr txBox="1">
            <a:spLocks noGrp="1"/>
          </p:cNvSpPr>
          <p:nvPr>
            <p:ph idx="1"/>
          </p:nvPr>
        </p:nvSpPr>
        <p:spPr>
          <a:xfrm>
            <a:off x="0" y="1823205"/>
            <a:ext cx="9144000" cy="3413958"/>
          </a:xfrm>
          <a:prstGeom prst="rect">
            <a:avLst/>
          </a:prstGeom>
        </p:spPr>
        <p:txBody>
          <a:bodyPr vert="horz" lIns="91440" tIns="45720" rIns="91440" bIns="45720" rtlCol="0">
            <a:normAutofit/>
          </a:bodyPr>
          <a:lstStyle>
            <a:lvl1pPr marL="228591" indent="-228591" algn="l" defTabSz="91436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73" indent="-228591" algn="l" defTabSz="91436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54" indent="-228591" algn="l" defTabSz="91436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36"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18"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99"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81"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63"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45"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smtClean="0"/>
              <a:t>Model system events as tuples in a streaming, distributed dataset</a:t>
            </a:r>
          </a:p>
          <a:p>
            <a:pPr marL="0" indent="0">
              <a:buNone/>
            </a:pPr>
            <a:endParaRPr lang="en-US" sz="2400" dirty="0" smtClean="0"/>
          </a:p>
          <a:p>
            <a:pPr marL="0" indent="0" algn="ctr">
              <a:buNone/>
            </a:pPr>
            <a:r>
              <a:rPr lang="en-US" sz="2400" dirty="0" smtClean="0"/>
              <a:t>Dynamically evaluate relational </a:t>
            </a:r>
            <a:r>
              <a:rPr lang="en-US" sz="2400" dirty="0"/>
              <a:t>queries over this dataset</a:t>
            </a:r>
          </a:p>
          <a:p>
            <a:pPr algn="ctr"/>
            <a:endParaRPr lang="en-US" sz="2400" dirty="0" smtClean="0"/>
          </a:p>
        </p:txBody>
      </p:sp>
      <p:grpSp>
        <p:nvGrpSpPr>
          <p:cNvPr id="12" name="Group 11"/>
          <p:cNvGrpSpPr/>
          <p:nvPr/>
        </p:nvGrpSpPr>
        <p:grpSpPr>
          <a:xfrm>
            <a:off x="1588098" y="3801169"/>
            <a:ext cx="5967805" cy="1143000"/>
            <a:chOff x="70193" y="3345556"/>
            <a:chExt cx="5967805" cy="1143000"/>
          </a:xfrm>
        </p:grpSpPr>
        <p:sp>
          <p:nvSpPr>
            <p:cNvPr id="13" name="Content Placeholder 2"/>
            <p:cNvSpPr txBox="1">
              <a:spLocks/>
            </p:cNvSpPr>
            <p:nvPr/>
          </p:nvSpPr>
          <p:spPr>
            <a:xfrm>
              <a:off x="478567" y="4139172"/>
              <a:ext cx="5151057" cy="333064"/>
            </a:xfrm>
            <a:prstGeom prst="rect">
              <a:avLst/>
            </a:prstGeom>
          </p:spPr>
          <p:txBody>
            <a:bodyPr vert="horz" lIns="91440" tIns="45720" rIns="91440" bIns="45720" rtlCol="0" anchor="t">
              <a:normAutofit lnSpcReduction="10000"/>
            </a:bodyPr>
            <a:lstStyle>
              <a:lvl1pPr marL="228591" indent="-228591" algn="l" defTabSz="91436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73" indent="-228591" algn="l" defTabSz="91436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54" indent="-228591" algn="l" defTabSz="91436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36"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18"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99"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81"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63"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45"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smtClean="0"/>
                <a:t>Join based on </a:t>
              </a:r>
              <a:r>
                <a:rPr lang="en-US" sz="1800" dirty="0" err="1" smtClean="0"/>
                <a:t>Lamport’s</a:t>
              </a:r>
              <a:r>
                <a:rPr lang="en-US" sz="1800" dirty="0" smtClean="0"/>
                <a:t> </a:t>
              </a:r>
              <a:r>
                <a:rPr lang="en-US" sz="1800" i="1" dirty="0" smtClean="0"/>
                <a:t>happened-before</a:t>
              </a:r>
              <a:r>
                <a:rPr lang="en-US" sz="1800" dirty="0" smtClean="0"/>
                <a:t> relation</a:t>
              </a:r>
            </a:p>
          </p:txBody>
        </p:sp>
        <p:grpSp>
          <p:nvGrpSpPr>
            <p:cNvPr id="14" name="Group 13"/>
            <p:cNvGrpSpPr/>
            <p:nvPr/>
          </p:nvGrpSpPr>
          <p:grpSpPr>
            <a:xfrm>
              <a:off x="70193" y="3345556"/>
              <a:ext cx="5967805" cy="1143000"/>
              <a:chOff x="734060" y="55916"/>
              <a:chExt cx="5967805" cy="1143000"/>
            </a:xfrm>
          </p:grpSpPr>
          <p:sp>
            <p:nvSpPr>
              <p:cNvPr id="15" name="Title 1"/>
              <p:cNvSpPr txBox="1">
                <a:spLocks/>
              </p:cNvSpPr>
              <p:nvPr/>
            </p:nvSpPr>
            <p:spPr>
              <a:xfrm>
                <a:off x="734060" y="55916"/>
                <a:ext cx="5967805" cy="1143000"/>
              </a:xfrm>
              <a:prstGeom prst="rect">
                <a:avLst/>
              </a:prstGeom>
            </p:spPr>
            <p:txBody>
              <a:bodyPr vert="horz" lIns="91440" tIns="45720" rIns="91440" bIns="45720" rtlCol="0" anchor="ctr">
                <a:normAutofit/>
              </a:bodyPr>
              <a:lstStyle>
                <a:lvl1pPr algn="l" defTabSz="914363"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smtClean="0"/>
                  <a:t>Happened-before Join (      )</a:t>
                </a:r>
                <a:endParaRPr lang="en-US" sz="4000" dirty="0"/>
              </a:p>
            </p:txBody>
          </p:sp>
          <p:grpSp>
            <p:nvGrpSpPr>
              <p:cNvPr id="16" name="Group 15"/>
              <p:cNvGrpSpPr/>
              <p:nvPr/>
            </p:nvGrpSpPr>
            <p:grpSpPr>
              <a:xfrm>
                <a:off x="5791080" y="422003"/>
                <a:ext cx="467759" cy="416707"/>
                <a:chOff x="-61080" y="-73260"/>
                <a:chExt cx="467759" cy="416707"/>
              </a:xfrm>
            </p:grpSpPr>
            <p:sp>
              <p:nvSpPr>
                <p:cNvPr id="17" name="Freeform 16"/>
                <p:cNvSpPr/>
                <p:nvPr/>
              </p:nvSpPr>
              <p:spPr>
                <a:xfrm rot="5400000">
                  <a:off x="2547" y="-60686"/>
                  <a:ext cx="340506" cy="467759"/>
                </a:xfrm>
                <a:custGeom>
                  <a:avLst/>
                  <a:gdLst>
                    <a:gd name="connsiteX0" fmla="*/ 1 w 284694"/>
                    <a:gd name="connsiteY0" fmla="*/ 0 h 391089"/>
                    <a:gd name="connsiteX1" fmla="*/ 284694 w 284694"/>
                    <a:gd name="connsiteY1" fmla="*/ 0 h 391089"/>
                    <a:gd name="connsiteX2" fmla="*/ 142348 w 284694"/>
                    <a:gd name="connsiteY2" fmla="*/ 195544 h 391089"/>
                    <a:gd name="connsiteX3" fmla="*/ 0 w 284694"/>
                    <a:gd name="connsiteY3" fmla="*/ 391089 h 391089"/>
                    <a:gd name="connsiteX4" fmla="*/ 142347 w 284694"/>
                    <a:gd name="connsiteY4" fmla="*/ 195545 h 391089"/>
                    <a:gd name="connsiteX5" fmla="*/ 284693 w 284694"/>
                    <a:gd name="connsiteY5" fmla="*/ 391089 h 391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4694" h="391089">
                      <a:moveTo>
                        <a:pt x="1" y="0"/>
                      </a:moveTo>
                      <a:lnTo>
                        <a:pt x="284694" y="0"/>
                      </a:lnTo>
                      <a:lnTo>
                        <a:pt x="142348" y="195544"/>
                      </a:lnTo>
                      <a:close/>
                      <a:moveTo>
                        <a:pt x="0" y="391089"/>
                      </a:moveTo>
                      <a:lnTo>
                        <a:pt x="142347" y="195545"/>
                      </a:lnTo>
                      <a:lnTo>
                        <a:pt x="284693" y="391089"/>
                      </a:lnTo>
                      <a:close/>
                    </a:path>
                  </a:pathLst>
                </a:cu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p:cNvCxnSpPr/>
                <p:nvPr/>
              </p:nvCxnSpPr>
              <p:spPr>
                <a:xfrm>
                  <a:off x="-21510" y="-73260"/>
                  <a:ext cx="388620" cy="0"/>
                </a:xfrm>
                <a:prstGeom prst="straightConnector1">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grpSp>
      </p:grpSp>
      <p:sp>
        <p:nvSpPr>
          <p:cNvPr id="29" name="Title 1"/>
          <p:cNvSpPr>
            <a:spLocks noGrp="1"/>
          </p:cNvSpPr>
          <p:nvPr>
            <p:ph type="title"/>
          </p:nvPr>
        </p:nvSpPr>
        <p:spPr>
          <a:xfrm>
            <a:off x="787400" y="430919"/>
            <a:ext cx="7569200" cy="1143000"/>
          </a:xfrm>
        </p:spPr>
        <p:txBody>
          <a:bodyPr>
            <a:normAutofit/>
          </a:bodyPr>
          <a:lstStyle/>
          <a:p>
            <a:pPr algn="ctr"/>
            <a:r>
              <a:rPr lang="en-US" sz="6000" dirty="0" smtClean="0"/>
              <a:t>Pivot Tracing</a:t>
            </a:r>
            <a:endParaRPr lang="en-US" sz="6000" dirty="0"/>
          </a:p>
        </p:txBody>
      </p:sp>
    </p:spTree>
    <p:extLst>
      <p:ext uri="{BB962C8B-B14F-4D97-AF65-F5344CB8AC3E}">
        <p14:creationId xmlns:p14="http://schemas.microsoft.com/office/powerpoint/2010/main" val="54029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ormAutofit/>
          </a:bodyPr>
          <a:lstStyle/>
          <a:p>
            <a:r>
              <a:rPr lang="en-US" dirty="0" smtClean="0"/>
              <a:t>Pivot Tracing</a:t>
            </a:r>
            <a:br>
              <a:rPr lang="en-US" dirty="0" smtClean="0"/>
            </a:br>
            <a:r>
              <a:rPr lang="en-US" sz="4400" dirty="0" smtClean="0"/>
              <a:t>Overview</a:t>
            </a:r>
            <a:endParaRPr lang="en-US" sz="4400" dirty="0"/>
          </a:p>
        </p:txBody>
      </p:sp>
      <p:sp>
        <p:nvSpPr>
          <p:cNvPr id="3" name="Slide Number Placeholder 2"/>
          <p:cNvSpPr>
            <a:spLocks noGrp="1"/>
          </p:cNvSpPr>
          <p:nvPr>
            <p:ph type="sldNum" sz="quarter" idx="12"/>
          </p:nvPr>
        </p:nvSpPr>
        <p:spPr/>
        <p:txBody>
          <a:bodyPr/>
          <a:lstStyle/>
          <a:p>
            <a:fld id="{D431E30F-8439-471B-9257-EDD8E85CDBC8}" type="slidenum">
              <a:rPr lang="en-US" smtClean="0"/>
              <a:t>14</a:t>
            </a:fld>
            <a:endParaRPr lang="en-US"/>
          </a:p>
        </p:txBody>
      </p:sp>
    </p:spTree>
    <p:extLst>
      <p:ext uri="{BB962C8B-B14F-4D97-AF65-F5344CB8AC3E}">
        <p14:creationId xmlns:p14="http://schemas.microsoft.com/office/powerpoint/2010/main" val="22848617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TextBox 66"/>
          <p:cNvSpPr txBox="1"/>
          <p:nvPr/>
        </p:nvSpPr>
        <p:spPr>
          <a:xfrm>
            <a:off x="42971" y="4084589"/>
            <a:ext cx="4435830" cy="338554"/>
          </a:xfrm>
          <a:prstGeom prst="rect">
            <a:avLst/>
          </a:prstGeom>
          <a:noFill/>
        </p:spPr>
        <p:txBody>
          <a:bodyPr wrap="none" rtlCol="0">
            <a:spAutoFit/>
          </a:bodyPr>
          <a:lstStyle/>
          <a:p>
            <a:r>
              <a:rPr lang="en-US" sz="1600" dirty="0">
                <a:latin typeface="Times New Roman" panose="02020603050405020304" pitchFamily="18" charset="0"/>
                <a:cs typeface="Times New Roman" panose="02020603050405020304" pitchFamily="18" charset="0"/>
              </a:rPr>
              <a:t>(“</a:t>
            </a:r>
            <a:r>
              <a:rPr lang="en-US" sz="1400" dirty="0" err="1">
                <a:latin typeface="Consolas" panose="020B0609020204030204" pitchFamily="49" charset="0"/>
                <a:cs typeface="Consolas" panose="020B0609020204030204" pitchFamily="49" charset="0"/>
              </a:rPr>
              <a:t>DataNodeMetrics</a:t>
            </a:r>
            <a:r>
              <a:rPr lang="en-US" sz="1600" dirty="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delta=10, host=“hop01”, </a:t>
            </a:r>
            <a:r>
              <a:rPr lang="en-US" sz="1600" dirty="0">
                <a:latin typeface="Times New Roman" panose="02020603050405020304" pitchFamily="18" charset="0"/>
                <a:cs typeface="Times New Roman" panose="02020603050405020304" pitchFamily="18" charset="0"/>
              </a:rPr>
              <a:t>…)</a:t>
            </a:r>
          </a:p>
        </p:txBody>
      </p:sp>
      <p:sp>
        <p:nvSpPr>
          <p:cNvPr id="12" name="Content Placeholder 2"/>
          <p:cNvSpPr txBox="1">
            <a:spLocks/>
          </p:cNvSpPr>
          <p:nvPr/>
        </p:nvSpPr>
        <p:spPr>
          <a:xfrm>
            <a:off x="515874" y="3401569"/>
            <a:ext cx="7886700" cy="2068195"/>
          </a:xfrm>
          <a:prstGeom prst="rect">
            <a:avLst/>
          </a:prstGeom>
        </p:spPr>
        <p:txBody>
          <a:bodyPr vert="horz" lIns="91440" tIns="45720" rIns="91440" bIns="45720" rtlCol="0">
            <a:normAutofit/>
          </a:bodyPr>
          <a:lstStyle>
            <a:lvl1pPr marL="228591" indent="-228591" algn="l" defTabSz="91436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73" indent="-228591" algn="l" defTabSz="91436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54" indent="-228591" algn="l" defTabSz="91436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36"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18"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99"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81"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63"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45"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dirty="0" smtClean="0"/>
          </a:p>
        </p:txBody>
      </p:sp>
      <p:grpSp>
        <p:nvGrpSpPr>
          <p:cNvPr id="66" name="Group 65"/>
          <p:cNvGrpSpPr/>
          <p:nvPr/>
        </p:nvGrpSpPr>
        <p:grpSpPr>
          <a:xfrm>
            <a:off x="3060844" y="2001964"/>
            <a:ext cx="6019148" cy="3394214"/>
            <a:chOff x="2967228" y="3304129"/>
            <a:chExt cx="6019148" cy="3394214"/>
          </a:xfrm>
        </p:grpSpPr>
        <p:grpSp>
          <p:nvGrpSpPr>
            <p:cNvPr id="41" name="Group 40"/>
            <p:cNvGrpSpPr/>
            <p:nvPr/>
          </p:nvGrpSpPr>
          <p:grpSpPr>
            <a:xfrm>
              <a:off x="4672367" y="3304129"/>
              <a:ext cx="4314009" cy="3394214"/>
              <a:chOff x="1548167" y="103729"/>
              <a:chExt cx="4314009" cy="3394214"/>
            </a:xfrm>
          </p:grpSpPr>
          <p:grpSp>
            <p:nvGrpSpPr>
              <p:cNvPr id="42" name="Group 41"/>
              <p:cNvGrpSpPr/>
              <p:nvPr/>
            </p:nvGrpSpPr>
            <p:grpSpPr>
              <a:xfrm>
                <a:off x="1548167" y="890653"/>
                <a:ext cx="4314009" cy="2607290"/>
                <a:chOff x="1548167" y="890653"/>
                <a:chExt cx="4314009" cy="2607290"/>
              </a:xfrm>
            </p:grpSpPr>
            <p:sp>
              <p:nvSpPr>
                <p:cNvPr id="53" name="Rounded Rectangle 52"/>
                <p:cNvSpPr/>
                <p:nvPr/>
              </p:nvSpPr>
              <p:spPr>
                <a:xfrm>
                  <a:off x="1854940" y="1157145"/>
                  <a:ext cx="4007236" cy="2340798"/>
                </a:xfrm>
                <a:prstGeom prst="roundRect">
                  <a:avLst>
                    <a:gd name="adj" fmla="val 3932"/>
                  </a:avLst>
                </a:prstGeom>
                <a:solidFill>
                  <a:schemeClr val="bg1">
                    <a:alpha val="25000"/>
                  </a:schemeClr>
                </a:solidFill>
                <a:ln w="57150">
                  <a:solidFill>
                    <a:schemeClr val="tx1">
                      <a:alpha val="2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54" name="Rounded Rectangle 53"/>
                <p:cNvSpPr/>
                <p:nvPr/>
              </p:nvSpPr>
              <p:spPr>
                <a:xfrm>
                  <a:off x="1752683" y="1068315"/>
                  <a:ext cx="4007236" cy="2340798"/>
                </a:xfrm>
                <a:prstGeom prst="roundRect">
                  <a:avLst>
                    <a:gd name="adj" fmla="val 3932"/>
                  </a:avLst>
                </a:prstGeom>
                <a:solidFill>
                  <a:schemeClr val="bg1">
                    <a:alpha val="50000"/>
                  </a:schemeClr>
                </a:solidFill>
                <a:ln w="571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55" name="Rounded Rectangle 54"/>
                <p:cNvSpPr/>
                <p:nvPr/>
              </p:nvSpPr>
              <p:spPr>
                <a:xfrm>
                  <a:off x="1650425" y="979484"/>
                  <a:ext cx="4007236" cy="2340798"/>
                </a:xfrm>
                <a:prstGeom prst="roundRect">
                  <a:avLst>
                    <a:gd name="adj" fmla="val 3932"/>
                  </a:avLst>
                </a:prstGeom>
                <a:solidFill>
                  <a:schemeClr val="bg1">
                    <a:alpha val="75000"/>
                  </a:schemeClr>
                </a:solidFill>
                <a:ln w="57150">
                  <a:solidFill>
                    <a:schemeClr val="tx1">
                      <a:alpha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nvGrpSpPr>
                <p:cNvPr id="56" name="Group 55"/>
                <p:cNvGrpSpPr/>
                <p:nvPr/>
              </p:nvGrpSpPr>
              <p:grpSpPr>
                <a:xfrm>
                  <a:off x="1548167" y="890653"/>
                  <a:ext cx="4007236" cy="2340798"/>
                  <a:chOff x="1548167" y="890653"/>
                  <a:chExt cx="4007236" cy="2340798"/>
                </a:xfrm>
              </p:grpSpPr>
              <p:sp>
                <p:nvSpPr>
                  <p:cNvPr id="57" name="Rounded Rectangle 56"/>
                  <p:cNvSpPr/>
                  <p:nvPr/>
                </p:nvSpPr>
                <p:spPr>
                  <a:xfrm>
                    <a:off x="1548167" y="890653"/>
                    <a:ext cx="4007236" cy="2340798"/>
                  </a:xfrm>
                  <a:prstGeom prst="roundRect">
                    <a:avLst>
                      <a:gd name="adj" fmla="val 3932"/>
                    </a:avLst>
                  </a:prstGeom>
                  <a:solidFill>
                    <a:schemeClr val="bg1"/>
                  </a:solidFill>
                  <a:ln w="571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cxnSp>
                <p:nvCxnSpPr>
                  <p:cNvPr id="58" name="Straight Connector 57"/>
                  <p:cNvCxnSpPr/>
                  <p:nvPr/>
                </p:nvCxnSpPr>
                <p:spPr>
                  <a:xfrm flipV="1">
                    <a:off x="1548167" y="2515146"/>
                    <a:ext cx="3999266" cy="4309"/>
                  </a:xfrm>
                  <a:prstGeom prst="line">
                    <a:avLst/>
                  </a:prstGeom>
                  <a:ln w="571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sp>
            <p:nvSpPr>
              <p:cNvPr id="43" name="Can 42"/>
              <p:cNvSpPr/>
              <p:nvPr/>
            </p:nvSpPr>
            <p:spPr>
              <a:xfrm>
                <a:off x="3003528" y="2602755"/>
                <a:ext cx="904605" cy="528273"/>
              </a:xfrm>
              <a:prstGeom prst="can">
                <a:avLst>
                  <a:gd name="adj" fmla="val 50000"/>
                </a:avLst>
              </a:prstGeom>
              <a:solidFill>
                <a:schemeClr val="accent4">
                  <a:lumMod val="20000"/>
                  <a:lumOff val="8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109728" rIns="0" bIns="0" rtlCol="0" anchor="ctr"/>
              <a:lstStyle/>
              <a:p>
                <a:pPr algn="ctr"/>
                <a:endParaRPr lang="en-US" sz="2000" b="1" dirty="0">
                  <a:solidFill>
                    <a:schemeClr val="tx1"/>
                  </a:solidFill>
                </a:endParaRPr>
              </a:p>
            </p:txBody>
          </p:sp>
          <p:sp>
            <p:nvSpPr>
              <p:cNvPr id="44" name="Freeform 43"/>
              <p:cNvSpPr/>
              <p:nvPr/>
            </p:nvSpPr>
            <p:spPr>
              <a:xfrm>
                <a:off x="2003898" y="593389"/>
                <a:ext cx="1334091" cy="2158288"/>
              </a:xfrm>
              <a:custGeom>
                <a:avLst/>
                <a:gdLst>
                  <a:gd name="connsiteX0" fmla="*/ 0 w 1206230"/>
                  <a:gd name="connsiteY0" fmla="*/ 0 h 2782111"/>
                  <a:gd name="connsiteX1" fmla="*/ 0 w 1206230"/>
                  <a:gd name="connsiteY1" fmla="*/ 710119 h 2782111"/>
                  <a:gd name="connsiteX2" fmla="*/ 573932 w 1206230"/>
                  <a:gd name="connsiteY2" fmla="*/ 1206230 h 2782111"/>
                  <a:gd name="connsiteX3" fmla="*/ 573932 w 1206230"/>
                  <a:gd name="connsiteY3" fmla="*/ 1682885 h 2782111"/>
                  <a:gd name="connsiteX4" fmla="*/ 1206230 w 1206230"/>
                  <a:gd name="connsiteY4" fmla="*/ 1682885 h 2782111"/>
                  <a:gd name="connsiteX5" fmla="*/ 1206230 w 1206230"/>
                  <a:gd name="connsiteY5" fmla="*/ 2782111 h 2782111"/>
                  <a:gd name="connsiteX0" fmla="*/ 0 w 1206230"/>
                  <a:gd name="connsiteY0" fmla="*/ 0 h 2782111"/>
                  <a:gd name="connsiteX1" fmla="*/ 0 w 1206230"/>
                  <a:gd name="connsiteY1" fmla="*/ 710119 h 2782111"/>
                  <a:gd name="connsiteX2" fmla="*/ 573932 w 1206230"/>
                  <a:gd name="connsiteY2" fmla="*/ 1206230 h 2782111"/>
                  <a:gd name="connsiteX3" fmla="*/ 1206230 w 1206230"/>
                  <a:gd name="connsiteY3" fmla="*/ 1682885 h 2782111"/>
                  <a:gd name="connsiteX4" fmla="*/ 1206230 w 1206230"/>
                  <a:gd name="connsiteY4" fmla="*/ 2782111 h 2782111"/>
                  <a:gd name="connsiteX0" fmla="*/ 0 w 1206230"/>
                  <a:gd name="connsiteY0" fmla="*/ 0 h 2782111"/>
                  <a:gd name="connsiteX1" fmla="*/ 0 w 1206230"/>
                  <a:gd name="connsiteY1" fmla="*/ 710119 h 2782111"/>
                  <a:gd name="connsiteX2" fmla="*/ 1206230 w 1206230"/>
                  <a:gd name="connsiteY2" fmla="*/ 1682885 h 2782111"/>
                  <a:gd name="connsiteX3" fmla="*/ 1206230 w 1206230"/>
                  <a:gd name="connsiteY3" fmla="*/ 2782111 h 2782111"/>
                </a:gdLst>
                <a:ahLst/>
                <a:cxnLst>
                  <a:cxn ang="0">
                    <a:pos x="connsiteX0" y="connsiteY0"/>
                  </a:cxn>
                  <a:cxn ang="0">
                    <a:pos x="connsiteX1" y="connsiteY1"/>
                  </a:cxn>
                  <a:cxn ang="0">
                    <a:pos x="connsiteX2" y="connsiteY2"/>
                  </a:cxn>
                  <a:cxn ang="0">
                    <a:pos x="connsiteX3" y="connsiteY3"/>
                  </a:cxn>
                </a:cxnLst>
                <a:rect l="l" t="t" r="r" b="b"/>
                <a:pathLst>
                  <a:path w="1206230" h="2782111">
                    <a:moveTo>
                      <a:pt x="0" y="0"/>
                    </a:moveTo>
                    <a:lnTo>
                      <a:pt x="0" y="710119"/>
                    </a:lnTo>
                    <a:lnTo>
                      <a:pt x="1206230" y="1682885"/>
                    </a:lnTo>
                    <a:lnTo>
                      <a:pt x="1206230" y="2782111"/>
                    </a:lnTo>
                  </a:path>
                </a:pathLst>
              </a:custGeom>
              <a:noFill/>
              <a:ln w="57150">
                <a:solidFill>
                  <a:schemeClr val="tx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45" name="Freeform 44"/>
              <p:cNvSpPr/>
              <p:nvPr/>
            </p:nvSpPr>
            <p:spPr>
              <a:xfrm>
                <a:off x="3451101" y="593389"/>
                <a:ext cx="225954" cy="2156477"/>
              </a:xfrm>
              <a:custGeom>
                <a:avLst/>
                <a:gdLst>
                  <a:gd name="connsiteX0" fmla="*/ 330740 w 330740"/>
                  <a:gd name="connsiteY0" fmla="*/ 0 h 2821022"/>
                  <a:gd name="connsiteX1" fmla="*/ 0 w 330740"/>
                  <a:gd name="connsiteY1" fmla="*/ 651753 h 2821022"/>
                  <a:gd name="connsiteX2" fmla="*/ 0 w 330740"/>
                  <a:gd name="connsiteY2" fmla="*/ 2821022 h 2821022"/>
                </a:gdLst>
                <a:ahLst/>
                <a:cxnLst>
                  <a:cxn ang="0">
                    <a:pos x="connsiteX0" y="connsiteY0"/>
                  </a:cxn>
                  <a:cxn ang="0">
                    <a:pos x="connsiteX1" y="connsiteY1"/>
                  </a:cxn>
                  <a:cxn ang="0">
                    <a:pos x="connsiteX2" y="connsiteY2"/>
                  </a:cxn>
                </a:cxnLst>
                <a:rect l="l" t="t" r="r" b="b"/>
                <a:pathLst>
                  <a:path w="330740" h="2821022">
                    <a:moveTo>
                      <a:pt x="330740" y="0"/>
                    </a:moveTo>
                    <a:lnTo>
                      <a:pt x="0" y="651753"/>
                    </a:lnTo>
                    <a:lnTo>
                      <a:pt x="0" y="2821022"/>
                    </a:lnTo>
                  </a:path>
                </a:pathLst>
              </a:custGeom>
              <a:noFill/>
              <a:ln w="57150">
                <a:solidFill>
                  <a:schemeClr val="tx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46" name="Freeform 45"/>
              <p:cNvSpPr/>
              <p:nvPr/>
            </p:nvSpPr>
            <p:spPr>
              <a:xfrm>
                <a:off x="3577771" y="593389"/>
                <a:ext cx="1762714" cy="2156477"/>
              </a:xfrm>
              <a:custGeom>
                <a:avLst/>
                <a:gdLst>
                  <a:gd name="connsiteX0" fmla="*/ 1780162 w 1780162"/>
                  <a:gd name="connsiteY0" fmla="*/ 0 h 2821022"/>
                  <a:gd name="connsiteX1" fmla="*/ 1780162 w 1780162"/>
                  <a:gd name="connsiteY1" fmla="*/ 1391056 h 2821022"/>
                  <a:gd name="connsiteX2" fmla="*/ 0 w 1780162"/>
                  <a:gd name="connsiteY2" fmla="*/ 1391056 h 2821022"/>
                  <a:gd name="connsiteX3" fmla="*/ 0 w 1780162"/>
                  <a:gd name="connsiteY3" fmla="*/ 2821022 h 2821022"/>
                </a:gdLst>
                <a:ahLst/>
                <a:cxnLst>
                  <a:cxn ang="0">
                    <a:pos x="connsiteX0" y="connsiteY0"/>
                  </a:cxn>
                  <a:cxn ang="0">
                    <a:pos x="connsiteX1" y="connsiteY1"/>
                  </a:cxn>
                  <a:cxn ang="0">
                    <a:pos x="connsiteX2" y="connsiteY2"/>
                  </a:cxn>
                  <a:cxn ang="0">
                    <a:pos x="connsiteX3" y="connsiteY3"/>
                  </a:cxn>
                </a:cxnLst>
                <a:rect l="l" t="t" r="r" b="b"/>
                <a:pathLst>
                  <a:path w="1780162" h="2821022">
                    <a:moveTo>
                      <a:pt x="1780162" y="0"/>
                    </a:moveTo>
                    <a:lnTo>
                      <a:pt x="1780162" y="1391056"/>
                    </a:lnTo>
                    <a:lnTo>
                      <a:pt x="0" y="1391056"/>
                    </a:lnTo>
                    <a:lnTo>
                      <a:pt x="0" y="2821022"/>
                    </a:lnTo>
                  </a:path>
                </a:pathLst>
              </a:custGeom>
              <a:noFill/>
              <a:ln w="57150">
                <a:solidFill>
                  <a:schemeClr val="tx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47" name="Rounded Rectangle 46"/>
              <p:cNvSpPr/>
              <p:nvPr/>
            </p:nvSpPr>
            <p:spPr>
              <a:xfrm>
                <a:off x="1667662" y="987617"/>
                <a:ext cx="1056938" cy="641696"/>
              </a:xfrm>
              <a:prstGeom prst="roundRect">
                <a:avLst/>
              </a:prstGeom>
              <a:solidFill>
                <a:srgbClr val="D0CECE">
                  <a:alpha val="89804"/>
                </a:srgb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b" anchorCtr="0"/>
              <a:lstStyle/>
              <a:p>
                <a:r>
                  <a:rPr lang="en-US" sz="2000" dirty="0" err="1" smtClean="0">
                    <a:solidFill>
                      <a:schemeClr val="tx1"/>
                    </a:solidFill>
                  </a:rPr>
                  <a:t>HBase</a:t>
                </a:r>
                <a:endParaRPr lang="en-US" sz="2000" dirty="0">
                  <a:solidFill>
                    <a:schemeClr val="tx1"/>
                  </a:solidFill>
                </a:endParaRPr>
              </a:p>
            </p:txBody>
          </p:sp>
          <p:sp>
            <p:nvSpPr>
              <p:cNvPr id="48" name="Rounded Rectangle 47"/>
              <p:cNvSpPr/>
              <p:nvPr/>
            </p:nvSpPr>
            <p:spPr>
              <a:xfrm>
                <a:off x="2641009" y="1743418"/>
                <a:ext cx="1075285" cy="644131"/>
              </a:xfrm>
              <a:prstGeom prst="roundRect">
                <a:avLst/>
              </a:prstGeom>
              <a:solidFill>
                <a:srgbClr val="D0CECE">
                  <a:alpha val="89804"/>
                </a:srgb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r>
                  <a:rPr lang="en-US" sz="2000" dirty="0" smtClean="0">
                    <a:solidFill>
                      <a:schemeClr val="tx1"/>
                    </a:solidFill>
                  </a:rPr>
                  <a:t>HDFS</a:t>
                </a:r>
                <a:endParaRPr lang="en-US" sz="2000" dirty="0">
                  <a:solidFill>
                    <a:schemeClr val="tx1"/>
                  </a:solidFill>
                </a:endParaRPr>
              </a:p>
            </p:txBody>
          </p:sp>
          <p:sp>
            <p:nvSpPr>
              <p:cNvPr id="49" name="Rounded Rectangle 48"/>
              <p:cNvSpPr/>
              <p:nvPr/>
            </p:nvSpPr>
            <p:spPr>
              <a:xfrm>
                <a:off x="3601331" y="1066452"/>
                <a:ext cx="1840961" cy="484026"/>
              </a:xfrm>
              <a:prstGeom prst="roundRect">
                <a:avLst/>
              </a:prstGeom>
              <a:solidFill>
                <a:srgbClr val="D0CECE">
                  <a:alpha val="89804"/>
                </a:srgb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r>
                  <a:rPr lang="en-US" sz="2000" dirty="0" err="1" smtClean="0">
                    <a:solidFill>
                      <a:schemeClr val="tx1"/>
                    </a:solidFill>
                  </a:rPr>
                  <a:t>MapReduce</a:t>
                </a:r>
                <a:endParaRPr lang="en-US" sz="2000" dirty="0">
                  <a:solidFill>
                    <a:schemeClr val="tx1"/>
                  </a:solidFill>
                </a:endParaRPr>
              </a:p>
            </p:txBody>
          </p:sp>
          <p:sp>
            <p:nvSpPr>
              <p:cNvPr id="50" name="Freeform 49"/>
              <p:cNvSpPr/>
              <p:nvPr/>
            </p:nvSpPr>
            <p:spPr>
              <a:xfrm>
                <a:off x="5155377" y="111478"/>
                <a:ext cx="323462" cy="37800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51" name="Freeform 50"/>
              <p:cNvSpPr/>
              <p:nvPr/>
            </p:nvSpPr>
            <p:spPr>
              <a:xfrm>
                <a:off x="3496424" y="111478"/>
                <a:ext cx="323462" cy="37800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52" name="Freeform 51"/>
              <p:cNvSpPr/>
              <p:nvPr/>
            </p:nvSpPr>
            <p:spPr>
              <a:xfrm>
                <a:off x="1847200" y="103729"/>
                <a:ext cx="323462" cy="37800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sp>
          <p:nvSpPr>
            <p:cNvPr id="59" name="Rounded Rectangle 58"/>
            <p:cNvSpPr/>
            <p:nvPr/>
          </p:nvSpPr>
          <p:spPr>
            <a:xfrm>
              <a:off x="6403476" y="5354452"/>
              <a:ext cx="397779" cy="166266"/>
            </a:xfrm>
            <a:prstGeom prst="roundRect">
              <a:avLst/>
            </a:prstGeom>
            <a:solidFill>
              <a:schemeClr val="bg1"/>
            </a:solidFill>
            <a:ln w="381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60" name="Freeform 59"/>
            <p:cNvSpPr/>
            <p:nvPr/>
          </p:nvSpPr>
          <p:spPr>
            <a:xfrm flipV="1">
              <a:off x="4221135" y="4969295"/>
              <a:ext cx="2283000" cy="728115"/>
            </a:xfrm>
            <a:custGeom>
              <a:avLst/>
              <a:gdLst>
                <a:gd name="connsiteX0" fmla="*/ 0 w 398834"/>
                <a:gd name="connsiteY0" fmla="*/ 2188723 h 2188723"/>
                <a:gd name="connsiteX1" fmla="*/ 398834 w 398834"/>
                <a:gd name="connsiteY1" fmla="*/ 0 h 2188723"/>
                <a:gd name="connsiteX0" fmla="*/ 70658 w 469492"/>
                <a:gd name="connsiteY0" fmla="*/ 2188723 h 2188723"/>
                <a:gd name="connsiteX1" fmla="*/ 469492 w 469492"/>
                <a:gd name="connsiteY1" fmla="*/ 0 h 2188723"/>
                <a:gd name="connsiteX0" fmla="*/ 0 w 1070042"/>
                <a:gd name="connsiteY0" fmla="*/ 2345655 h 2345655"/>
                <a:gd name="connsiteX1" fmla="*/ 1070042 w 1070042"/>
                <a:gd name="connsiteY1" fmla="*/ 0 h 2345655"/>
                <a:gd name="connsiteX0" fmla="*/ 0 w 1070042"/>
                <a:gd name="connsiteY0" fmla="*/ 2345655 h 2345655"/>
                <a:gd name="connsiteX1" fmla="*/ 1070042 w 1070042"/>
                <a:gd name="connsiteY1" fmla="*/ 0 h 2345655"/>
                <a:gd name="connsiteX0" fmla="*/ 0 w 1245140"/>
                <a:gd name="connsiteY0" fmla="*/ 2478443 h 2478443"/>
                <a:gd name="connsiteX1" fmla="*/ 1245140 w 1245140"/>
                <a:gd name="connsiteY1" fmla="*/ 0 h 2478443"/>
                <a:gd name="connsiteX0" fmla="*/ 0 w 1400783"/>
                <a:gd name="connsiteY0" fmla="*/ 2611231 h 2611231"/>
                <a:gd name="connsiteX1" fmla="*/ 1400783 w 1400783"/>
                <a:gd name="connsiteY1" fmla="*/ 0 h 2611231"/>
                <a:gd name="connsiteX0" fmla="*/ 0 w 1361872"/>
                <a:gd name="connsiteY0" fmla="*/ 2514658 h 2514658"/>
                <a:gd name="connsiteX1" fmla="*/ 1361872 w 1361872"/>
                <a:gd name="connsiteY1" fmla="*/ 0 h 2514658"/>
                <a:gd name="connsiteX0" fmla="*/ 0 w 2508747"/>
                <a:gd name="connsiteY0" fmla="*/ 150276 h 1033436"/>
                <a:gd name="connsiteX1" fmla="*/ 2508747 w 2508747"/>
                <a:gd name="connsiteY1" fmla="*/ 875919 h 1033436"/>
                <a:gd name="connsiteX0" fmla="*/ 525 w 2509272"/>
                <a:gd name="connsiteY0" fmla="*/ 0 h 1012937"/>
                <a:gd name="connsiteX1" fmla="*/ 2509272 w 2509272"/>
                <a:gd name="connsiteY1" fmla="*/ 725643 h 1012937"/>
                <a:gd name="connsiteX0" fmla="*/ 524 w 2509271"/>
                <a:gd name="connsiteY0" fmla="*/ 0 h 725643"/>
                <a:gd name="connsiteX1" fmla="*/ 2509271 w 2509271"/>
                <a:gd name="connsiteY1" fmla="*/ 725643 h 725643"/>
                <a:gd name="connsiteX0" fmla="*/ 623 w 2183905"/>
                <a:gd name="connsiteY0" fmla="*/ 0 h 564077"/>
                <a:gd name="connsiteX1" fmla="*/ 2183905 w 2183905"/>
                <a:gd name="connsiteY1" fmla="*/ 564077 h 564077"/>
                <a:gd name="connsiteX0" fmla="*/ 846 w 2184128"/>
                <a:gd name="connsiteY0" fmla="*/ 0 h 564077"/>
                <a:gd name="connsiteX1" fmla="*/ 2184128 w 2184128"/>
                <a:gd name="connsiteY1" fmla="*/ 564077 h 564077"/>
                <a:gd name="connsiteX0" fmla="*/ 0 w 2183282"/>
                <a:gd name="connsiteY0" fmla="*/ 0 h 564077"/>
                <a:gd name="connsiteX1" fmla="*/ 2183282 w 2183282"/>
                <a:gd name="connsiteY1" fmla="*/ 564077 h 564077"/>
                <a:gd name="connsiteX0" fmla="*/ 0 w 2036464"/>
                <a:gd name="connsiteY0" fmla="*/ 730216 h 1026390"/>
                <a:gd name="connsiteX1" fmla="*/ 2036464 w 2036464"/>
                <a:gd name="connsiteY1" fmla="*/ 192771 h 1026390"/>
                <a:gd name="connsiteX0" fmla="*/ 0 w 2036464"/>
                <a:gd name="connsiteY0" fmla="*/ 843381 h 843381"/>
                <a:gd name="connsiteX1" fmla="*/ 2036464 w 2036464"/>
                <a:gd name="connsiteY1" fmla="*/ 305936 h 843381"/>
              </a:gdLst>
              <a:ahLst/>
              <a:cxnLst>
                <a:cxn ang="0">
                  <a:pos x="connsiteX0" y="connsiteY0"/>
                </a:cxn>
                <a:cxn ang="0">
                  <a:pos x="connsiteX1" y="connsiteY1"/>
                </a:cxn>
              </a:cxnLst>
              <a:rect l="l" t="t" r="r" b="b"/>
              <a:pathLst>
                <a:path w="2036464" h="843381">
                  <a:moveTo>
                    <a:pt x="0" y="843381"/>
                  </a:moveTo>
                  <a:cubicBezTo>
                    <a:pt x="791598" y="752171"/>
                    <a:pt x="1033800" y="-587859"/>
                    <a:pt x="2036464" y="305936"/>
                  </a:cubicBezTo>
                </a:path>
              </a:pathLst>
            </a:custGeom>
            <a:noFill/>
            <a:ln w="38100">
              <a:solidFill>
                <a:schemeClr val="tx1"/>
              </a:solidFill>
              <a:prstDash val="sysDot"/>
              <a:headEnd type="none"/>
              <a:tailEnd type="stealt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61" name="Rounded Rectangle 60"/>
            <p:cNvSpPr/>
            <p:nvPr/>
          </p:nvSpPr>
          <p:spPr>
            <a:xfrm>
              <a:off x="2967228" y="4780471"/>
              <a:ext cx="1255950" cy="569812"/>
            </a:xfrm>
            <a:prstGeom prst="roundRect">
              <a:avLst/>
            </a:prstGeom>
            <a:solidFill>
              <a:schemeClr val="bg1"/>
            </a:solidFill>
            <a:ln w="381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dirty="0" err="1" smtClean="0">
                  <a:solidFill>
                    <a:srgbClr val="2F2364"/>
                  </a:solidFill>
                  <a:latin typeface="Consolas" panose="020B0609020204030204" pitchFamily="49" charset="0"/>
                  <a:cs typeface="Consolas" panose="020B0609020204030204" pitchFamily="49" charset="0"/>
                </a:rPr>
                <a:t>DataNode</a:t>
              </a:r>
              <a:endParaRPr lang="en-US" sz="2000" dirty="0" smtClean="0">
                <a:solidFill>
                  <a:srgbClr val="2F2364"/>
                </a:solidFill>
                <a:latin typeface="Consolas" panose="020B0609020204030204" pitchFamily="49" charset="0"/>
                <a:cs typeface="Consolas" panose="020B0609020204030204" pitchFamily="49" charset="0"/>
              </a:endParaRPr>
            </a:p>
            <a:p>
              <a:pPr algn="ctr"/>
              <a:r>
                <a:rPr lang="en-US" sz="2000" dirty="0" smtClean="0">
                  <a:solidFill>
                    <a:srgbClr val="2F2364"/>
                  </a:solidFill>
                  <a:latin typeface="Consolas" panose="020B0609020204030204" pitchFamily="49" charset="0"/>
                  <a:cs typeface="Consolas" panose="020B0609020204030204" pitchFamily="49" charset="0"/>
                </a:rPr>
                <a:t>Metrics</a:t>
              </a:r>
              <a:endParaRPr lang="en-US" sz="2000" dirty="0">
                <a:solidFill>
                  <a:srgbClr val="2F2364"/>
                </a:solidFill>
                <a:latin typeface="Consolas" panose="020B0609020204030204" pitchFamily="49" charset="0"/>
                <a:cs typeface="Consolas" panose="020B0609020204030204" pitchFamily="49" charset="0"/>
              </a:endParaRPr>
            </a:p>
          </p:txBody>
        </p:sp>
      </p:grpSp>
      <p:grpSp>
        <p:nvGrpSpPr>
          <p:cNvPr id="62" name="Group 61"/>
          <p:cNvGrpSpPr/>
          <p:nvPr/>
        </p:nvGrpSpPr>
        <p:grpSpPr>
          <a:xfrm>
            <a:off x="299886" y="1981304"/>
            <a:ext cx="4015448" cy="1478701"/>
            <a:chOff x="3293394" y="2714625"/>
            <a:chExt cx="4015448" cy="1478701"/>
          </a:xfrm>
        </p:grpSpPr>
        <p:sp>
          <p:nvSpPr>
            <p:cNvPr id="63" name="Freeform 62"/>
            <p:cNvSpPr/>
            <p:nvPr/>
          </p:nvSpPr>
          <p:spPr>
            <a:xfrm>
              <a:off x="3293394" y="2714625"/>
              <a:ext cx="2069181" cy="219477"/>
            </a:xfrm>
            <a:custGeom>
              <a:avLst/>
              <a:gdLst>
                <a:gd name="connsiteX0" fmla="*/ 108030 w 2302746"/>
                <a:gd name="connsiteY0" fmla="*/ 0 h 218943"/>
                <a:gd name="connsiteX1" fmla="*/ 1872263 w 2302746"/>
                <a:gd name="connsiteY1" fmla="*/ 0 h 218943"/>
                <a:gd name="connsiteX2" fmla="*/ 1960162 w 2302746"/>
                <a:gd name="connsiteY2" fmla="*/ 0 h 218943"/>
                <a:gd name="connsiteX3" fmla="*/ 2059703 w 2302746"/>
                <a:gd name="connsiteY3" fmla="*/ 65980 h 218943"/>
                <a:gd name="connsiteX4" fmla="*/ 2059792 w 2302746"/>
                <a:gd name="connsiteY4" fmla="*/ 66423 h 218943"/>
                <a:gd name="connsiteX5" fmla="*/ 2060531 w 2302746"/>
                <a:gd name="connsiteY5" fmla="*/ 67122 h 218943"/>
                <a:gd name="connsiteX6" fmla="*/ 2100863 w 2302746"/>
                <a:gd name="connsiteY6" fmla="*/ 114300 h 218943"/>
                <a:gd name="connsiteX7" fmla="*/ 2290768 w 2302746"/>
                <a:gd name="connsiteY7" fmla="*/ 217885 h 218943"/>
                <a:gd name="connsiteX8" fmla="*/ 2302746 w 2302746"/>
                <a:gd name="connsiteY8" fmla="*/ 218943 h 218943"/>
                <a:gd name="connsiteX9" fmla="*/ 0 w 2302746"/>
                <a:gd name="connsiteY9" fmla="*/ 218943 h 218943"/>
                <a:gd name="connsiteX10" fmla="*/ 0 w 2302746"/>
                <a:gd name="connsiteY10" fmla="*/ 128671 h 218943"/>
                <a:gd name="connsiteX11" fmla="*/ 0 w 2302746"/>
                <a:gd name="connsiteY11" fmla="*/ 108030 h 218943"/>
                <a:gd name="connsiteX12" fmla="*/ 0 w 2302746"/>
                <a:gd name="connsiteY12" fmla="*/ 107971 h 218943"/>
                <a:gd name="connsiteX13" fmla="*/ 12 w 2302746"/>
                <a:gd name="connsiteY13" fmla="*/ 107971 h 218943"/>
                <a:gd name="connsiteX14" fmla="*/ 8490 w 2302746"/>
                <a:gd name="connsiteY14" fmla="*/ 65980 h 218943"/>
                <a:gd name="connsiteX15" fmla="*/ 108030 w 2302746"/>
                <a:gd name="connsiteY15" fmla="*/ 0 h 218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02746" h="218943">
                  <a:moveTo>
                    <a:pt x="108030" y="0"/>
                  </a:moveTo>
                  <a:lnTo>
                    <a:pt x="1872263" y="0"/>
                  </a:lnTo>
                  <a:lnTo>
                    <a:pt x="1960162" y="0"/>
                  </a:lnTo>
                  <a:cubicBezTo>
                    <a:pt x="2004909" y="0"/>
                    <a:pt x="2043303" y="27207"/>
                    <a:pt x="2059703" y="65980"/>
                  </a:cubicBezTo>
                  <a:lnTo>
                    <a:pt x="2059792" y="66423"/>
                  </a:lnTo>
                  <a:lnTo>
                    <a:pt x="2060531" y="67122"/>
                  </a:lnTo>
                  <a:cubicBezTo>
                    <a:pt x="2072421" y="81029"/>
                    <a:pt x="2084724" y="96838"/>
                    <a:pt x="2100863" y="114300"/>
                  </a:cubicBezTo>
                  <a:cubicBezTo>
                    <a:pt x="2149282" y="166688"/>
                    <a:pt x="2191152" y="201216"/>
                    <a:pt x="2290768" y="217885"/>
                  </a:cubicBezTo>
                  <a:lnTo>
                    <a:pt x="2302746" y="218943"/>
                  </a:lnTo>
                  <a:lnTo>
                    <a:pt x="0" y="218943"/>
                  </a:lnTo>
                  <a:lnTo>
                    <a:pt x="0" y="128671"/>
                  </a:lnTo>
                  <a:lnTo>
                    <a:pt x="0" y="108030"/>
                  </a:lnTo>
                  <a:lnTo>
                    <a:pt x="0" y="107971"/>
                  </a:lnTo>
                  <a:lnTo>
                    <a:pt x="12" y="107971"/>
                  </a:lnTo>
                  <a:lnTo>
                    <a:pt x="8490" y="65980"/>
                  </a:lnTo>
                  <a:cubicBezTo>
                    <a:pt x="24890" y="27206"/>
                    <a:pt x="63283" y="0"/>
                    <a:pt x="108030" y="0"/>
                  </a:cubicBezTo>
                  <a:close/>
                </a:path>
              </a:pathLst>
            </a:custGeom>
            <a:gradFill flip="none" rotWithShape="1">
              <a:gsLst>
                <a:gs pos="0">
                  <a:srgbClr val="3663AC"/>
                </a:gs>
                <a:gs pos="100000">
                  <a:srgbClr val="64ADE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300" dirty="0" smtClean="0">
                  <a:latin typeface="Calibri Light" panose="020F0302020204030204" pitchFamily="34" charset="0"/>
                  <a:cs typeface="Arial" panose="020B0604020202020204" pitchFamily="34" charset="0"/>
                </a:rPr>
                <a:t>DataNodeMetrics.java</a:t>
              </a:r>
              <a:endParaRPr lang="en-US" sz="1300" dirty="0">
                <a:latin typeface="Calibri Light" panose="020F0302020204030204" pitchFamily="34" charset="0"/>
                <a:cs typeface="Arial" panose="020B0604020202020204" pitchFamily="34" charset="0"/>
              </a:endParaRPr>
            </a:p>
          </p:txBody>
        </p:sp>
        <p:sp>
          <p:nvSpPr>
            <p:cNvPr id="64" name="TextBox 63"/>
            <p:cNvSpPr txBox="1"/>
            <p:nvPr/>
          </p:nvSpPr>
          <p:spPr>
            <a:xfrm>
              <a:off x="3301014" y="2937598"/>
              <a:ext cx="4007828" cy="1255728"/>
            </a:xfrm>
            <a:prstGeom prst="rect">
              <a:avLst/>
            </a:prstGeom>
            <a:solidFill>
              <a:schemeClr val="bg1"/>
            </a:solidFill>
            <a:ln w="19050">
              <a:solidFill>
                <a:schemeClr val="accent1">
                  <a:lumMod val="75000"/>
                </a:schemeClr>
              </a:solidFill>
            </a:ln>
          </p:spPr>
          <p:txBody>
            <a:bodyPr wrap="none" lIns="91440" rIns="91440" rtlCol="0" anchor="ctr" anchorCtr="0">
              <a:spAutoFit/>
            </a:bodyPr>
            <a:lstStyle/>
            <a:p>
              <a:pPr>
                <a:lnSpc>
                  <a:spcPct val="90000"/>
                </a:lnSpc>
              </a:pPr>
              <a:r>
                <a:rPr lang="en-US" sz="1200" dirty="0" smtClean="0">
                  <a:solidFill>
                    <a:schemeClr val="accent3"/>
                  </a:solidFill>
                  <a:latin typeface="Consolas" panose="020B0609020204030204" pitchFamily="49" charset="0"/>
                  <a:cs typeface="Consolas" panose="020B0609020204030204" pitchFamily="49" charset="0"/>
                </a:rPr>
                <a:t>50</a:t>
              </a:r>
              <a:r>
                <a:rPr lang="en-US" sz="1200" b="1" dirty="0" smtClean="0">
                  <a:solidFill>
                    <a:srgbClr val="A50E67"/>
                  </a:solidFill>
                  <a:latin typeface="Consolas" panose="020B0609020204030204" pitchFamily="49" charset="0"/>
                  <a:cs typeface="Consolas" panose="020B0609020204030204" pitchFamily="49" charset="0"/>
                </a:rPr>
                <a:t>   public class</a:t>
              </a:r>
              <a:r>
                <a:rPr lang="en-US" sz="1200" dirty="0" smtClean="0">
                  <a:latin typeface="Consolas" panose="020B0609020204030204" pitchFamily="49" charset="0"/>
                  <a:cs typeface="Consolas" panose="020B0609020204030204" pitchFamily="49" charset="0"/>
                </a:rPr>
                <a:t> </a:t>
              </a:r>
              <a:r>
                <a:rPr lang="en-US" sz="1200" dirty="0" err="1" smtClean="0">
                  <a:latin typeface="Consolas" panose="020B0609020204030204" pitchFamily="49" charset="0"/>
                  <a:cs typeface="Consolas" panose="020B0609020204030204" pitchFamily="49" charset="0"/>
                </a:rPr>
                <a:t>DataNodeMetrics</a:t>
              </a:r>
              <a:r>
                <a:rPr lang="en-US" sz="1200" dirty="0" smtClean="0">
                  <a:latin typeface="Consolas" panose="020B0609020204030204" pitchFamily="49" charset="0"/>
                  <a:cs typeface="Consolas" panose="020B0609020204030204" pitchFamily="49" charset="0"/>
                </a:rPr>
                <a:t> {</a:t>
              </a:r>
            </a:p>
            <a:p>
              <a:pPr>
                <a:lnSpc>
                  <a:spcPct val="90000"/>
                </a:lnSpc>
              </a:pPr>
              <a:r>
                <a:rPr lang="en-US" sz="1200" dirty="0">
                  <a:solidFill>
                    <a:schemeClr val="accent3"/>
                  </a:solidFill>
                  <a:latin typeface="Consolas" panose="020B0609020204030204" pitchFamily="49" charset="0"/>
                  <a:cs typeface="Consolas" panose="020B0609020204030204" pitchFamily="49" charset="0"/>
                </a:rPr>
                <a:t> </a:t>
              </a:r>
              <a:r>
                <a:rPr lang="en-US" sz="1200" dirty="0" smtClean="0">
                  <a:solidFill>
                    <a:schemeClr val="accent3"/>
                  </a:solidFill>
                  <a:latin typeface="Consolas" panose="020B0609020204030204" pitchFamily="49" charset="0"/>
                  <a:cs typeface="Consolas" panose="020B0609020204030204" pitchFamily="49" charset="0"/>
                </a:rPr>
                <a:t>      ...</a:t>
              </a:r>
            </a:p>
            <a:p>
              <a:pPr>
                <a:lnSpc>
                  <a:spcPct val="90000"/>
                </a:lnSpc>
              </a:pPr>
              <a:r>
                <a:rPr lang="en-US" sz="1200" dirty="0" smtClean="0">
                  <a:solidFill>
                    <a:schemeClr val="accent3"/>
                  </a:solidFill>
                  <a:latin typeface="Consolas" panose="020B0609020204030204" pitchFamily="49" charset="0"/>
                  <a:cs typeface="Consolas" panose="020B0609020204030204" pitchFamily="49" charset="0"/>
                </a:rPr>
                <a:t>266</a:t>
              </a:r>
              <a:r>
                <a:rPr lang="en-US" sz="1200" dirty="0" smtClean="0">
                  <a:latin typeface="Consolas" panose="020B0609020204030204" pitchFamily="49" charset="0"/>
                  <a:cs typeface="Consolas" panose="020B0609020204030204" pitchFamily="49" charset="0"/>
                </a:rPr>
                <a:t>    </a:t>
              </a:r>
              <a:r>
                <a:rPr lang="en-US" sz="1200" b="1" dirty="0" smtClean="0">
                  <a:solidFill>
                    <a:srgbClr val="A50E67"/>
                  </a:solidFill>
                  <a:latin typeface="Consolas" panose="020B0609020204030204" pitchFamily="49" charset="0"/>
                  <a:cs typeface="Consolas" panose="020B0609020204030204" pitchFamily="49" charset="0"/>
                </a:rPr>
                <a:t>public </a:t>
              </a:r>
              <a:r>
                <a:rPr lang="en-US" sz="1200" b="1" dirty="0" smtClean="0">
                  <a:solidFill>
                    <a:srgbClr val="7F0156"/>
                  </a:solidFill>
                  <a:latin typeface="Consolas" panose="020B0609020204030204" pitchFamily="49" charset="0"/>
                  <a:cs typeface="Consolas" panose="020B0609020204030204" pitchFamily="49" charset="0"/>
                </a:rPr>
                <a:t>void </a:t>
              </a:r>
              <a:r>
                <a:rPr lang="en-US" sz="1200" dirty="0" err="1" smtClean="0">
                  <a:latin typeface="Consolas" panose="020B0609020204030204" pitchFamily="49" charset="0"/>
                  <a:cs typeface="Consolas" panose="020B0609020204030204" pitchFamily="49" charset="0"/>
                </a:rPr>
                <a:t>incrBytesRead</a:t>
              </a:r>
              <a:r>
                <a:rPr lang="en-US" sz="1200" dirty="0" smtClean="0">
                  <a:latin typeface="Consolas" panose="020B0609020204030204" pitchFamily="49" charset="0"/>
                  <a:cs typeface="Consolas" panose="020B0609020204030204" pitchFamily="49" charset="0"/>
                </a:rPr>
                <a:t>(</a:t>
              </a:r>
              <a:r>
                <a:rPr lang="en-US" sz="1200" b="1" dirty="0" err="1" smtClean="0">
                  <a:solidFill>
                    <a:srgbClr val="A50E67"/>
                  </a:solidFill>
                  <a:latin typeface="Consolas" panose="020B0609020204030204" pitchFamily="49" charset="0"/>
                  <a:cs typeface="Consolas" panose="020B0609020204030204" pitchFamily="49" charset="0"/>
                </a:rPr>
                <a:t>int</a:t>
              </a:r>
              <a:r>
                <a:rPr lang="en-US" sz="1200" dirty="0" smtClean="0">
                  <a:latin typeface="Consolas" panose="020B0609020204030204" pitchFamily="49" charset="0"/>
                  <a:cs typeface="Consolas" panose="020B0609020204030204" pitchFamily="49" charset="0"/>
                </a:rPr>
                <a:t> delta) {</a:t>
              </a:r>
            </a:p>
            <a:p>
              <a:pPr>
                <a:lnSpc>
                  <a:spcPct val="90000"/>
                </a:lnSpc>
              </a:pPr>
              <a:r>
                <a:rPr lang="en-US" sz="1200" dirty="0" smtClean="0">
                  <a:solidFill>
                    <a:schemeClr val="accent3"/>
                  </a:solidFill>
                  <a:latin typeface="Consolas" panose="020B0609020204030204" pitchFamily="49" charset="0"/>
                  <a:cs typeface="Consolas" panose="020B0609020204030204" pitchFamily="49" charset="0"/>
                </a:rPr>
                <a:t>267</a:t>
              </a:r>
              <a:r>
                <a:rPr lang="en-US" sz="1200" dirty="0" smtClean="0">
                  <a:latin typeface="Consolas" panose="020B0609020204030204" pitchFamily="49" charset="0"/>
                  <a:cs typeface="Consolas" panose="020B0609020204030204" pitchFamily="49" charset="0"/>
                </a:rPr>
                <a:t>       ...</a:t>
              </a:r>
            </a:p>
            <a:p>
              <a:pPr>
                <a:lnSpc>
                  <a:spcPct val="90000"/>
                </a:lnSpc>
              </a:pPr>
              <a:r>
                <a:rPr lang="en-US" sz="1200" dirty="0" smtClean="0">
                  <a:solidFill>
                    <a:schemeClr val="accent3"/>
                  </a:solidFill>
                  <a:latin typeface="Consolas" panose="020B0609020204030204" pitchFamily="49" charset="0"/>
                  <a:cs typeface="Consolas" panose="020B0609020204030204" pitchFamily="49" charset="0"/>
                </a:rPr>
                <a:t>268</a:t>
              </a:r>
              <a:r>
                <a:rPr lang="en-US" sz="1200" dirty="0" smtClean="0">
                  <a:latin typeface="Consolas" panose="020B0609020204030204" pitchFamily="49" charset="0"/>
                  <a:cs typeface="Consolas" panose="020B0609020204030204" pitchFamily="49" charset="0"/>
                </a:rPr>
                <a:t>    }</a:t>
              </a:r>
            </a:p>
            <a:p>
              <a:pPr>
                <a:lnSpc>
                  <a:spcPct val="90000"/>
                </a:lnSpc>
              </a:pPr>
              <a:r>
                <a:rPr lang="en-US" sz="1200" dirty="0">
                  <a:solidFill>
                    <a:schemeClr val="accent3"/>
                  </a:solidFill>
                  <a:latin typeface="Consolas" panose="020B0609020204030204" pitchFamily="49" charset="0"/>
                  <a:cs typeface="Consolas" panose="020B0609020204030204" pitchFamily="49" charset="0"/>
                </a:rPr>
                <a:t> </a:t>
              </a:r>
              <a:r>
                <a:rPr lang="en-US" sz="1200" dirty="0" smtClean="0">
                  <a:solidFill>
                    <a:schemeClr val="accent3"/>
                  </a:solidFill>
                  <a:latin typeface="Consolas" panose="020B0609020204030204" pitchFamily="49" charset="0"/>
                  <a:cs typeface="Consolas" panose="020B0609020204030204" pitchFamily="49" charset="0"/>
                </a:rPr>
                <a:t>      ...</a:t>
              </a:r>
            </a:p>
            <a:p>
              <a:pPr>
                <a:lnSpc>
                  <a:spcPct val="90000"/>
                </a:lnSpc>
              </a:pPr>
              <a:r>
                <a:rPr lang="en-US" sz="1200" dirty="0" smtClean="0">
                  <a:solidFill>
                    <a:schemeClr val="accent3"/>
                  </a:solidFill>
                  <a:latin typeface="Consolas" panose="020B0609020204030204" pitchFamily="49" charset="0"/>
                  <a:cs typeface="Consolas" panose="020B0609020204030204" pitchFamily="49" charset="0"/>
                </a:rPr>
                <a:t>407</a:t>
              </a:r>
              <a:r>
                <a:rPr lang="en-US" sz="1200" dirty="0" smtClean="0">
                  <a:latin typeface="Consolas" panose="020B0609020204030204" pitchFamily="49" charset="0"/>
                  <a:cs typeface="Consolas" panose="020B0609020204030204" pitchFamily="49" charset="0"/>
                </a:rPr>
                <a:t>  }</a:t>
              </a:r>
              <a:endParaRPr lang="en-US" sz="1200" dirty="0">
                <a:latin typeface="Consolas" panose="020B0609020204030204" pitchFamily="49" charset="0"/>
                <a:cs typeface="Consolas" panose="020B0609020204030204" pitchFamily="49" charset="0"/>
              </a:endParaRPr>
            </a:p>
          </p:txBody>
        </p:sp>
        <p:cxnSp>
          <p:nvCxnSpPr>
            <p:cNvPr id="65" name="Straight Connector 64"/>
            <p:cNvCxnSpPr/>
            <p:nvPr/>
          </p:nvCxnSpPr>
          <p:spPr>
            <a:xfrm>
              <a:off x="3743325" y="2940598"/>
              <a:ext cx="0" cy="1252728"/>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sp>
        <p:nvSpPr>
          <p:cNvPr id="71" name="Freeform 70"/>
          <p:cNvSpPr/>
          <p:nvPr/>
        </p:nvSpPr>
        <p:spPr>
          <a:xfrm>
            <a:off x="882130" y="2689217"/>
            <a:ext cx="407847" cy="1367823"/>
          </a:xfrm>
          <a:custGeom>
            <a:avLst/>
            <a:gdLst>
              <a:gd name="connsiteX0" fmla="*/ 128486 w 414236"/>
              <a:gd name="connsiteY0" fmla="*/ 19712 h 1953287"/>
              <a:gd name="connsiteX1" fmla="*/ 14186 w 414236"/>
              <a:gd name="connsiteY1" fmla="*/ 276887 h 1953287"/>
              <a:gd name="connsiteX2" fmla="*/ 414236 w 414236"/>
              <a:gd name="connsiteY2" fmla="*/ 1953287 h 1953287"/>
              <a:gd name="connsiteX0" fmla="*/ 128486 w 414236"/>
              <a:gd name="connsiteY0" fmla="*/ 5736 h 1939311"/>
              <a:gd name="connsiteX1" fmla="*/ 14186 w 414236"/>
              <a:gd name="connsiteY1" fmla="*/ 262911 h 1939311"/>
              <a:gd name="connsiteX2" fmla="*/ 414236 w 414236"/>
              <a:gd name="connsiteY2" fmla="*/ 1939311 h 1939311"/>
              <a:gd name="connsiteX0" fmla="*/ 156810 w 442560"/>
              <a:gd name="connsiteY0" fmla="*/ 0 h 1933575"/>
              <a:gd name="connsiteX1" fmla="*/ 42510 w 442560"/>
              <a:gd name="connsiteY1" fmla="*/ 257175 h 1933575"/>
              <a:gd name="connsiteX2" fmla="*/ 442560 w 442560"/>
              <a:gd name="connsiteY2" fmla="*/ 1933575 h 1933575"/>
              <a:gd name="connsiteX0" fmla="*/ 148974 w 434724"/>
              <a:gd name="connsiteY0" fmla="*/ 0 h 1933575"/>
              <a:gd name="connsiteX1" fmla="*/ 34674 w 434724"/>
              <a:gd name="connsiteY1" fmla="*/ 257175 h 1933575"/>
              <a:gd name="connsiteX2" fmla="*/ 434724 w 434724"/>
              <a:gd name="connsiteY2" fmla="*/ 1933575 h 1933575"/>
              <a:gd name="connsiteX0" fmla="*/ 123660 w 409410"/>
              <a:gd name="connsiteY0" fmla="*/ 0 h 1933575"/>
              <a:gd name="connsiteX1" fmla="*/ 9360 w 409410"/>
              <a:gd name="connsiteY1" fmla="*/ 257175 h 1933575"/>
              <a:gd name="connsiteX2" fmla="*/ 409410 w 409410"/>
              <a:gd name="connsiteY2" fmla="*/ 1933575 h 1933575"/>
              <a:gd name="connsiteX0" fmla="*/ 104093 w 427943"/>
              <a:gd name="connsiteY0" fmla="*/ 0 h 1908175"/>
              <a:gd name="connsiteX1" fmla="*/ 27893 w 427943"/>
              <a:gd name="connsiteY1" fmla="*/ 231775 h 1908175"/>
              <a:gd name="connsiteX2" fmla="*/ 427943 w 427943"/>
              <a:gd name="connsiteY2" fmla="*/ 1908175 h 1908175"/>
              <a:gd name="connsiteX0" fmla="*/ 94061 w 417911"/>
              <a:gd name="connsiteY0" fmla="*/ 5389 h 1913564"/>
              <a:gd name="connsiteX1" fmla="*/ 17861 w 417911"/>
              <a:gd name="connsiteY1" fmla="*/ 237164 h 1913564"/>
              <a:gd name="connsiteX2" fmla="*/ 417911 w 417911"/>
              <a:gd name="connsiteY2" fmla="*/ 1913564 h 1913564"/>
              <a:gd name="connsiteX0" fmla="*/ 83997 w 407847"/>
              <a:gd name="connsiteY0" fmla="*/ 0 h 1908175"/>
              <a:gd name="connsiteX1" fmla="*/ 7797 w 407847"/>
              <a:gd name="connsiteY1" fmla="*/ 231775 h 1908175"/>
              <a:gd name="connsiteX2" fmla="*/ 407847 w 407847"/>
              <a:gd name="connsiteY2" fmla="*/ 1908175 h 1908175"/>
            </a:gdLst>
            <a:ahLst/>
            <a:cxnLst>
              <a:cxn ang="0">
                <a:pos x="connsiteX0" y="connsiteY0"/>
              </a:cxn>
              <a:cxn ang="0">
                <a:pos x="connsiteX1" y="connsiteY1"/>
              </a:cxn>
              <a:cxn ang="0">
                <a:pos x="connsiteX2" y="connsiteY2"/>
              </a:cxn>
            </a:cxnLst>
            <a:rect l="l" t="t" r="r" b="b"/>
            <a:pathLst>
              <a:path w="407847" h="1908175">
                <a:moveTo>
                  <a:pt x="83997" y="0"/>
                </a:moveTo>
                <a:cubicBezTo>
                  <a:pt x="34784" y="11906"/>
                  <a:pt x="-20778" y="59796"/>
                  <a:pt x="7797" y="231775"/>
                </a:cubicBezTo>
                <a:cubicBezTo>
                  <a:pt x="36372" y="403754"/>
                  <a:pt x="231634" y="1231106"/>
                  <a:pt x="407847" y="1908175"/>
                </a:cubicBezTo>
              </a:path>
            </a:pathLst>
          </a:custGeom>
          <a:noFill/>
          <a:ln w="19050">
            <a:solidFill>
              <a:schemeClr val="tx1"/>
            </a:solidFill>
            <a:prstDash val="sysDash"/>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oup 31"/>
          <p:cNvGrpSpPr/>
          <p:nvPr/>
        </p:nvGrpSpPr>
        <p:grpSpPr>
          <a:xfrm>
            <a:off x="684743" y="3472132"/>
            <a:ext cx="2982478" cy="2596323"/>
            <a:chOff x="5588875" y="2387549"/>
            <a:chExt cx="3736038" cy="3252317"/>
          </a:xfrm>
        </p:grpSpPr>
        <p:grpSp>
          <p:nvGrpSpPr>
            <p:cNvPr id="33" name="Group 32"/>
            <p:cNvGrpSpPr/>
            <p:nvPr/>
          </p:nvGrpSpPr>
          <p:grpSpPr>
            <a:xfrm>
              <a:off x="5588875" y="2387549"/>
              <a:ext cx="3736038" cy="3252317"/>
              <a:chOff x="4486577" y="2642212"/>
              <a:chExt cx="3736038" cy="3252317"/>
            </a:xfrm>
          </p:grpSpPr>
          <p:grpSp>
            <p:nvGrpSpPr>
              <p:cNvPr id="35" name="Group 34"/>
              <p:cNvGrpSpPr/>
              <p:nvPr/>
            </p:nvGrpSpPr>
            <p:grpSpPr>
              <a:xfrm>
                <a:off x="4486577" y="2642212"/>
                <a:ext cx="3736038" cy="3252317"/>
                <a:chOff x="2155601" y="1578475"/>
                <a:chExt cx="3736038" cy="3252317"/>
              </a:xfrm>
            </p:grpSpPr>
            <p:sp>
              <p:nvSpPr>
                <p:cNvPr id="37" name="Rectangle 36"/>
                <p:cNvSpPr/>
                <p:nvPr/>
              </p:nvSpPr>
              <p:spPr>
                <a:xfrm>
                  <a:off x="2155601" y="1578475"/>
                  <a:ext cx="3736038" cy="325231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8" name="Group 37"/>
                <p:cNvGrpSpPr/>
                <p:nvPr/>
              </p:nvGrpSpPr>
              <p:grpSpPr>
                <a:xfrm>
                  <a:off x="2170841" y="1607045"/>
                  <a:ext cx="3686167" cy="3190118"/>
                  <a:chOff x="1164801" y="2536506"/>
                  <a:chExt cx="3686167" cy="3190118"/>
                </a:xfrm>
              </p:grpSpPr>
              <p:pic>
                <p:nvPicPr>
                  <p:cNvPr id="39" name="Picture 38" descr="fig1.pdf"/>
                  <p:cNvPicPr>
                    <a:picLocks noChangeAspect="1"/>
                  </p:cNvPicPr>
                  <p:nvPr/>
                </p:nvPicPr>
                <p:blipFill rotWithShape="1">
                  <a:blip r:embed="rId3">
                    <a:extLst>
                      <a:ext uri="{28A0092B-C50C-407E-A947-70E740481C1C}">
                        <a14:useLocalDpi xmlns:a14="http://schemas.microsoft.com/office/drawing/2010/main" val="0"/>
                      </a:ext>
                    </a:extLst>
                  </a:blip>
                  <a:srcRect r="80877" b="13113"/>
                  <a:stretch/>
                </p:blipFill>
                <p:spPr>
                  <a:xfrm>
                    <a:off x="1164801" y="2536506"/>
                    <a:ext cx="708449" cy="2793024"/>
                  </a:xfrm>
                  <a:prstGeom prst="rect">
                    <a:avLst/>
                  </a:prstGeom>
                  <a:ln>
                    <a:noFill/>
                  </a:ln>
                </p:spPr>
                <p:style>
                  <a:lnRef idx="2">
                    <a:schemeClr val="dk1"/>
                  </a:lnRef>
                  <a:fillRef idx="1">
                    <a:schemeClr val="lt1"/>
                  </a:fillRef>
                  <a:effectRef idx="0">
                    <a:schemeClr val="dk1"/>
                  </a:effectRef>
                  <a:fontRef idx="minor">
                    <a:schemeClr val="dk1"/>
                  </a:fontRef>
                </p:style>
              </p:pic>
              <p:pic>
                <p:nvPicPr>
                  <p:cNvPr id="40" name="Picture 39" descr="fig1.pdf"/>
                  <p:cNvPicPr>
                    <a:picLocks noChangeAspect="1"/>
                  </p:cNvPicPr>
                  <p:nvPr/>
                </p:nvPicPr>
                <p:blipFill rotWithShape="1">
                  <a:blip r:embed="rId3">
                    <a:extLst>
                      <a:ext uri="{28A0092B-C50C-407E-A947-70E740481C1C}">
                        <a14:useLocalDpi xmlns:a14="http://schemas.microsoft.com/office/drawing/2010/main" val="0"/>
                      </a:ext>
                    </a:extLst>
                  </a:blip>
                  <a:srcRect l="16879" t="84233" r="495" b="96"/>
                  <a:stretch/>
                </p:blipFill>
                <p:spPr>
                  <a:xfrm>
                    <a:off x="1790054" y="5222875"/>
                    <a:ext cx="3060914" cy="503749"/>
                  </a:xfrm>
                  <a:prstGeom prst="rect">
                    <a:avLst/>
                  </a:prstGeom>
                  <a:ln>
                    <a:noFill/>
                  </a:ln>
                </p:spPr>
                <p:style>
                  <a:lnRef idx="2">
                    <a:schemeClr val="dk1"/>
                  </a:lnRef>
                  <a:fillRef idx="1">
                    <a:schemeClr val="lt1"/>
                  </a:fillRef>
                  <a:effectRef idx="0">
                    <a:schemeClr val="dk1"/>
                  </a:effectRef>
                  <a:fontRef idx="minor">
                    <a:schemeClr val="dk1"/>
                  </a:fontRef>
                </p:style>
              </p:pic>
            </p:grpSp>
          </p:grpSp>
          <p:pic>
            <p:nvPicPr>
              <p:cNvPr id="36" name="Picture 35" descr="fig1.pdf"/>
              <p:cNvPicPr>
                <a:picLocks noChangeAspect="1"/>
              </p:cNvPicPr>
              <p:nvPr/>
            </p:nvPicPr>
            <p:blipFill rotWithShape="1">
              <a:blip r:embed="rId3">
                <a:extLst>
                  <a:ext uri="{28A0092B-C50C-407E-A947-70E740481C1C}">
                    <a14:useLocalDpi xmlns:a14="http://schemas.microsoft.com/office/drawing/2010/main" val="0"/>
                  </a:ext>
                </a:extLst>
              </a:blip>
              <a:srcRect l="27670" r="13501" b="73027"/>
              <a:stretch/>
            </p:blipFill>
            <p:spPr>
              <a:xfrm>
                <a:off x="5626780" y="2759160"/>
                <a:ext cx="2179320" cy="867065"/>
              </a:xfrm>
              <a:prstGeom prst="rect">
                <a:avLst/>
              </a:prstGeom>
              <a:ln>
                <a:noFill/>
              </a:ln>
            </p:spPr>
            <p:style>
              <a:lnRef idx="2">
                <a:schemeClr val="dk1"/>
              </a:lnRef>
              <a:fillRef idx="1">
                <a:schemeClr val="lt1"/>
              </a:fillRef>
              <a:effectRef idx="0">
                <a:schemeClr val="dk1"/>
              </a:effectRef>
              <a:fontRef idx="minor">
                <a:schemeClr val="dk1"/>
              </a:fontRef>
            </p:style>
          </p:pic>
        </p:grpSp>
        <p:pic>
          <p:nvPicPr>
            <p:cNvPr id="34" name="Picture 33" descr="fig1.pdf"/>
            <p:cNvPicPr>
              <a:picLocks noChangeAspect="1"/>
            </p:cNvPicPr>
            <p:nvPr/>
          </p:nvPicPr>
          <p:blipFill rotWithShape="1">
            <a:blip r:embed="rId3">
              <a:extLst>
                <a:ext uri="{28A0092B-C50C-407E-A947-70E740481C1C}">
                  <a14:useLocalDpi xmlns:a14="http://schemas.microsoft.com/office/drawing/2010/main" val="0"/>
                </a:ext>
              </a:extLst>
            </a:blip>
            <a:srcRect l="19044" t="31457" r="3576" b="15636"/>
            <a:stretch/>
          </p:blipFill>
          <p:spPr>
            <a:xfrm>
              <a:off x="6312564" y="3397812"/>
              <a:ext cx="2867191" cy="1701071"/>
            </a:xfrm>
            <a:prstGeom prst="rect">
              <a:avLst/>
            </a:prstGeom>
            <a:ln>
              <a:noFill/>
            </a:ln>
          </p:spPr>
          <p:style>
            <a:lnRef idx="2">
              <a:schemeClr val="dk1"/>
            </a:lnRef>
            <a:fillRef idx="1">
              <a:schemeClr val="lt1"/>
            </a:fillRef>
            <a:effectRef idx="0">
              <a:schemeClr val="dk1"/>
            </a:effectRef>
            <a:fontRef idx="minor">
              <a:schemeClr val="dk1"/>
            </a:fontRef>
          </p:style>
        </p:pic>
      </p:grpSp>
      <p:sp>
        <p:nvSpPr>
          <p:cNvPr id="102" name="Tracepoint: DataNodeMetrics"/>
          <p:cNvSpPr/>
          <p:nvPr/>
        </p:nvSpPr>
        <p:spPr>
          <a:xfrm>
            <a:off x="2039591" y="2024197"/>
            <a:ext cx="2667000" cy="1044573"/>
          </a:xfrm>
          <a:prstGeom prst="roundRect">
            <a:avLst>
              <a:gd name="adj" fmla="val 18490"/>
            </a:avLst>
          </a:prstGeom>
          <a:solidFill>
            <a:srgbClr val="FFE1E1"/>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r>
              <a:rPr lang="en-US" sz="1600" b="1" dirty="0" err="1" smtClean="0">
                <a:solidFill>
                  <a:schemeClr val="tx1"/>
                </a:solidFill>
              </a:rPr>
              <a:t>Tracepoint</a:t>
            </a:r>
            <a:endParaRPr lang="en-US" sz="1600" b="1" dirty="0" smtClean="0">
              <a:solidFill>
                <a:schemeClr val="tx1"/>
              </a:solidFill>
            </a:endParaRPr>
          </a:p>
          <a:p>
            <a:r>
              <a:rPr lang="en-US" sz="1600" b="1" dirty="0" smtClean="0">
                <a:solidFill>
                  <a:schemeClr val="tx1"/>
                </a:solidFill>
              </a:rPr>
              <a:t>  Class: </a:t>
            </a:r>
            <a:r>
              <a:rPr lang="en-US" sz="1600" dirty="0" err="1" smtClean="0">
                <a:solidFill>
                  <a:schemeClr val="tx1"/>
                </a:solidFill>
                <a:latin typeface="Consolas" panose="020B0609020204030204" pitchFamily="49" charset="0"/>
                <a:cs typeface="Consolas" panose="020B0609020204030204" pitchFamily="49" charset="0"/>
              </a:rPr>
              <a:t>DataNodeMetrics</a:t>
            </a:r>
            <a:endParaRPr lang="en-US" sz="1600" dirty="0" smtClean="0">
              <a:solidFill>
                <a:schemeClr val="tx1"/>
              </a:solidFill>
              <a:latin typeface="Consolas" panose="020B0609020204030204" pitchFamily="49" charset="0"/>
              <a:cs typeface="Consolas" panose="020B0609020204030204" pitchFamily="49" charset="0"/>
            </a:endParaRPr>
          </a:p>
          <a:p>
            <a:r>
              <a:rPr lang="en-US" sz="1600" b="1" dirty="0">
                <a:solidFill>
                  <a:schemeClr val="tx1"/>
                </a:solidFill>
              </a:rPr>
              <a:t> </a:t>
            </a:r>
            <a:r>
              <a:rPr lang="en-US" sz="1600" b="1" dirty="0" smtClean="0">
                <a:solidFill>
                  <a:schemeClr val="tx1"/>
                </a:solidFill>
              </a:rPr>
              <a:t> Method: </a:t>
            </a:r>
            <a:r>
              <a:rPr lang="en-US" sz="1600" dirty="0" err="1" smtClean="0">
                <a:solidFill>
                  <a:schemeClr val="tx1"/>
                </a:solidFill>
                <a:latin typeface="Consolas" panose="020B0609020204030204" pitchFamily="49" charset="0"/>
                <a:cs typeface="Consolas" panose="020B0609020204030204" pitchFamily="49" charset="0"/>
              </a:rPr>
              <a:t>incrBytesRead</a:t>
            </a:r>
            <a:endParaRPr lang="en-US" sz="1600" dirty="0" smtClean="0">
              <a:solidFill>
                <a:schemeClr val="tx1"/>
              </a:solidFill>
              <a:latin typeface="Consolas" panose="020B0609020204030204" pitchFamily="49" charset="0"/>
              <a:cs typeface="Consolas" panose="020B0609020204030204" pitchFamily="49" charset="0"/>
            </a:endParaRPr>
          </a:p>
          <a:p>
            <a:r>
              <a:rPr lang="en-US" sz="1600" b="1" dirty="0">
                <a:solidFill>
                  <a:schemeClr val="tx1"/>
                </a:solidFill>
              </a:rPr>
              <a:t> </a:t>
            </a:r>
            <a:r>
              <a:rPr lang="en-US" sz="1600" b="1" dirty="0" smtClean="0">
                <a:solidFill>
                  <a:schemeClr val="tx1"/>
                </a:solidFill>
              </a:rPr>
              <a:t> Exports: </a:t>
            </a:r>
            <a:r>
              <a:rPr lang="en-US" sz="1600" dirty="0" smtClean="0">
                <a:solidFill>
                  <a:schemeClr val="tx1"/>
                </a:solidFill>
                <a:latin typeface="+mj-lt"/>
                <a:cs typeface="Consolas" panose="020B0609020204030204" pitchFamily="49" charset="0"/>
              </a:rPr>
              <a:t>“delta”=</a:t>
            </a:r>
            <a:r>
              <a:rPr lang="en-US" sz="1600" dirty="0" smtClean="0">
                <a:solidFill>
                  <a:schemeClr val="tx1"/>
                </a:solidFill>
                <a:latin typeface="Consolas" panose="020B0609020204030204" pitchFamily="49" charset="0"/>
                <a:cs typeface="Consolas" panose="020B0609020204030204" pitchFamily="49" charset="0"/>
              </a:rPr>
              <a:t>delta</a:t>
            </a:r>
          </a:p>
        </p:txBody>
      </p:sp>
      <p:sp>
        <p:nvSpPr>
          <p:cNvPr id="2" name="Slide Number Placeholder 1"/>
          <p:cNvSpPr>
            <a:spLocks noGrp="1"/>
          </p:cNvSpPr>
          <p:nvPr>
            <p:ph type="sldNum" sz="quarter" idx="12"/>
          </p:nvPr>
        </p:nvSpPr>
        <p:spPr/>
        <p:txBody>
          <a:bodyPr/>
          <a:lstStyle/>
          <a:p>
            <a:fld id="{D431E30F-8439-471B-9257-EDD8E85CDBC8}" type="slidenum">
              <a:rPr lang="en-US" smtClean="0"/>
              <a:t>15</a:t>
            </a:fld>
            <a:endParaRPr lang="en-US"/>
          </a:p>
        </p:txBody>
      </p:sp>
      <p:sp>
        <p:nvSpPr>
          <p:cNvPr id="75" name="Query"/>
          <p:cNvSpPr txBox="1"/>
          <p:nvPr/>
        </p:nvSpPr>
        <p:spPr>
          <a:xfrm>
            <a:off x="4036914" y="4889707"/>
            <a:ext cx="4443524" cy="664797"/>
          </a:xfrm>
          <a:prstGeom prst="rect">
            <a:avLst/>
          </a:prstGeom>
          <a:noFill/>
        </p:spPr>
        <p:txBody>
          <a:bodyPr wrap="none" lIns="0" tIns="0" rIns="0" bIns="0" rtlCol="0" anchor="t" anchorCtr="0">
            <a:spAutoFit/>
          </a:bodyPr>
          <a:lstStyle/>
          <a:p>
            <a:pPr>
              <a:lnSpc>
                <a:spcPct val="90000"/>
              </a:lnSpc>
            </a:pPr>
            <a:r>
              <a:rPr lang="en-US" sz="1600" b="1" spc="-50" dirty="0" smtClean="0">
                <a:latin typeface="Consolas" panose="020B0609020204030204" pitchFamily="49" charset="0"/>
                <a:cs typeface="Consolas" panose="020B0609020204030204" pitchFamily="49" charset="0"/>
              </a:rPr>
              <a:t>From</a:t>
            </a:r>
            <a:r>
              <a:rPr lang="en-US" sz="1600" spc="-50" dirty="0" smtClean="0">
                <a:latin typeface="Consolas" panose="020B0609020204030204" pitchFamily="49" charset="0"/>
                <a:cs typeface="Consolas" panose="020B0609020204030204" pitchFamily="49" charset="0"/>
              </a:rPr>
              <a:t> </a:t>
            </a:r>
            <a:r>
              <a:rPr lang="en-US" sz="1600" spc="-50" dirty="0" err="1" smtClean="0">
                <a:solidFill>
                  <a:srgbClr val="2F2364"/>
                </a:solidFill>
                <a:latin typeface="Consolas" panose="020B0609020204030204" pitchFamily="49" charset="0"/>
                <a:cs typeface="Consolas" panose="020B0609020204030204" pitchFamily="49" charset="0"/>
              </a:rPr>
              <a:t>incr</a:t>
            </a:r>
            <a:r>
              <a:rPr lang="en-US" sz="1600" spc="-50" dirty="0" smtClean="0">
                <a:latin typeface="Consolas" panose="020B0609020204030204" pitchFamily="49" charset="0"/>
                <a:cs typeface="Consolas" panose="020B0609020204030204" pitchFamily="49" charset="0"/>
              </a:rPr>
              <a:t> </a:t>
            </a:r>
            <a:r>
              <a:rPr lang="en-US" sz="1600" b="1" spc="-50" dirty="0" smtClean="0">
                <a:latin typeface="Consolas" panose="020B0609020204030204" pitchFamily="49" charset="0"/>
                <a:cs typeface="Consolas" panose="020B0609020204030204" pitchFamily="49" charset="0"/>
              </a:rPr>
              <a:t>In</a:t>
            </a:r>
            <a:r>
              <a:rPr lang="en-US" sz="1600" spc="-50" dirty="0" smtClean="0">
                <a:latin typeface="Consolas" panose="020B0609020204030204" pitchFamily="49" charset="0"/>
                <a:cs typeface="Consolas" panose="020B0609020204030204" pitchFamily="49" charset="0"/>
              </a:rPr>
              <a:t> </a:t>
            </a:r>
            <a:r>
              <a:rPr lang="en-US" sz="1600" spc="-50" dirty="0" err="1" smtClean="0">
                <a:solidFill>
                  <a:srgbClr val="2F2364"/>
                </a:solidFill>
                <a:latin typeface="Consolas" panose="020B0609020204030204" pitchFamily="49" charset="0"/>
                <a:cs typeface="Consolas" panose="020B0609020204030204" pitchFamily="49" charset="0"/>
              </a:rPr>
              <a:t>DataNodeMetrics.incrBytesRead</a:t>
            </a:r>
            <a:endParaRPr lang="en-US" sz="1600" spc="-50" dirty="0" smtClean="0">
              <a:solidFill>
                <a:srgbClr val="2F2364"/>
              </a:solidFill>
              <a:latin typeface="Consolas" panose="020B0609020204030204" pitchFamily="49" charset="0"/>
              <a:cs typeface="Consolas" panose="020B0609020204030204" pitchFamily="49" charset="0"/>
            </a:endParaRPr>
          </a:p>
          <a:p>
            <a:pPr>
              <a:lnSpc>
                <a:spcPct val="90000"/>
              </a:lnSpc>
            </a:pPr>
            <a:r>
              <a:rPr lang="en-US" sz="1600" b="1" spc="-50" dirty="0" smtClean="0">
                <a:latin typeface="Consolas" panose="020B0609020204030204" pitchFamily="49" charset="0"/>
                <a:cs typeface="Consolas" panose="020B0609020204030204" pitchFamily="49" charset="0"/>
              </a:rPr>
              <a:t>  </a:t>
            </a:r>
            <a:r>
              <a:rPr lang="en-US" sz="1600" b="1" spc="-50" dirty="0" err="1" smtClean="0">
                <a:latin typeface="Consolas" panose="020B0609020204030204" pitchFamily="49" charset="0"/>
                <a:cs typeface="Consolas" panose="020B0609020204030204" pitchFamily="49" charset="0"/>
              </a:rPr>
              <a:t>GroupBy</a:t>
            </a:r>
            <a:r>
              <a:rPr lang="en-US" sz="1600" spc="-50" dirty="0" smtClean="0">
                <a:latin typeface="Consolas" panose="020B0609020204030204" pitchFamily="49" charset="0"/>
                <a:cs typeface="Consolas" panose="020B0609020204030204" pitchFamily="49" charset="0"/>
              </a:rPr>
              <a:t> </a:t>
            </a:r>
            <a:r>
              <a:rPr lang="en-US" sz="1600" spc="-50" dirty="0" err="1" smtClean="0">
                <a:solidFill>
                  <a:srgbClr val="2F2364"/>
                </a:solidFill>
                <a:latin typeface="Consolas" panose="020B0609020204030204" pitchFamily="49" charset="0"/>
                <a:cs typeface="Consolas" panose="020B0609020204030204" pitchFamily="49" charset="0"/>
              </a:rPr>
              <a:t>incr.host</a:t>
            </a:r>
            <a:endParaRPr lang="en-US" sz="1600" spc="-50" dirty="0" smtClean="0">
              <a:solidFill>
                <a:srgbClr val="2F2364"/>
              </a:solidFill>
              <a:latin typeface="Consolas" panose="020B0609020204030204" pitchFamily="49" charset="0"/>
              <a:cs typeface="Consolas" panose="020B0609020204030204" pitchFamily="49" charset="0"/>
            </a:endParaRPr>
          </a:p>
          <a:p>
            <a:pPr>
              <a:lnSpc>
                <a:spcPct val="90000"/>
              </a:lnSpc>
            </a:pPr>
            <a:r>
              <a:rPr lang="en-US" sz="1600" spc="-50" dirty="0" smtClean="0">
                <a:solidFill>
                  <a:srgbClr val="23642F"/>
                </a:solidFill>
                <a:latin typeface="Consolas" panose="020B0609020204030204" pitchFamily="49" charset="0"/>
                <a:cs typeface="Consolas" panose="020B0609020204030204" pitchFamily="49" charset="0"/>
              </a:rPr>
              <a:t>  </a:t>
            </a:r>
            <a:r>
              <a:rPr lang="en-US" sz="1600" b="1" spc="-50" dirty="0" smtClean="0">
                <a:latin typeface="Consolas" panose="020B0609020204030204" pitchFamily="49" charset="0"/>
                <a:cs typeface="Consolas" panose="020B0609020204030204" pitchFamily="49" charset="0"/>
              </a:rPr>
              <a:t>Select</a:t>
            </a:r>
            <a:r>
              <a:rPr lang="en-US" sz="1600" spc="-50" dirty="0" smtClean="0">
                <a:latin typeface="Consolas" panose="020B0609020204030204" pitchFamily="49" charset="0"/>
                <a:cs typeface="Consolas" panose="020B0609020204030204" pitchFamily="49" charset="0"/>
              </a:rPr>
              <a:t> </a:t>
            </a:r>
            <a:r>
              <a:rPr lang="en-US" sz="1600" spc="-50" dirty="0" err="1" smtClean="0">
                <a:solidFill>
                  <a:srgbClr val="2F2364"/>
                </a:solidFill>
                <a:latin typeface="Consolas" panose="020B0609020204030204" pitchFamily="49" charset="0"/>
                <a:cs typeface="Consolas" panose="020B0609020204030204" pitchFamily="49" charset="0"/>
              </a:rPr>
              <a:t>incr.host</a:t>
            </a:r>
            <a:r>
              <a:rPr lang="en-US" sz="1600" spc="-50" dirty="0" smtClean="0">
                <a:latin typeface="Consolas" panose="020B0609020204030204" pitchFamily="49" charset="0"/>
                <a:cs typeface="Consolas" panose="020B0609020204030204" pitchFamily="49" charset="0"/>
              </a:rPr>
              <a:t>,</a:t>
            </a:r>
            <a:r>
              <a:rPr lang="en-US" sz="1600" spc="-50" dirty="0" smtClean="0">
                <a:solidFill>
                  <a:srgbClr val="23642F"/>
                </a:solidFill>
                <a:latin typeface="Consolas" panose="020B0609020204030204" pitchFamily="49" charset="0"/>
                <a:cs typeface="Consolas" panose="020B0609020204030204" pitchFamily="49" charset="0"/>
              </a:rPr>
              <a:t> </a:t>
            </a:r>
            <a:r>
              <a:rPr lang="en-US" sz="1600" b="1" spc="-50" dirty="0" smtClean="0">
                <a:latin typeface="Consolas" panose="020B0609020204030204" pitchFamily="49" charset="0"/>
                <a:cs typeface="Consolas" panose="020B0609020204030204" pitchFamily="49" charset="0"/>
              </a:rPr>
              <a:t>SUM(</a:t>
            </a:r>
            <a:r>
              <a:rPr lang="en-US" sz="1600" spc="-50" dirty="0" err="1" smtClean="0">
                <a:solidFill>
                  <a:srgbClr val="2F2364"/>
                </a:solidFill>
                <a:latin typeface="Consolas" panose="020B0609020204030204" pitchFamily="49" charset="0"/>
                <a:cs typeface="Consolas" panose="020B0609020204030204" pitchFamily="49" charset="0"/>
              </a:rPr>
              <a:t>incr.delta</a:t>
            </a:r>
            <a:r>
              <a:rPr lang="en-US" sz="1600" b="1" spc="-50" dirty="0" smtClean="0">
                <a:latin typeface="Consolas" panose="020B0609020204030204" pitchFamily="49" charset="0"/>
                <a:cs typeface="Consolas" panose="020B0609020204030204" pitchFamily="49" charset="0"/>
              </a:rPr>
              <a:t>)</a:t>
            </a:r>
          </a:p>
        </p:txBody>
      </p:sp>
      <p:sp>
        <p:nvSpPr>
          <p:cNvPr id="70" name="Rectangle 69"/>
          <p:cNvSpPr/>
          <p:nvPr/>
        </p:nvSpPr>
        <p:spPr>
          <a:xfrm>
            <a:off x="3794828" y="5107892"/>
            <a:ext cx="5310514" cy="517470"/>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72"/>
          <p:cNvSpPr/>
          <p:nvPr/>
        </p:nvSpPr>
        <p:spPr>
          <a:xfrm>
            <a:off x="3840766" y="4583083"/>
            <a:ext cx="5510631" cy="1252655"/>
          </a:xfrm>
          <a:custGeom>
            <a:avLst/>
            <a:gdLst>
              <a:gd name="connsiteX0" fmla="*/ 0 w 5510631"/>
              <a:gd name="connsiteY0" fmla="*/ 735185 h 1252655"/>
              <a:gd name="connsiteX1" fmla="*/ 5310514 w 5510631"/>
              <a:gd name="connsiteY1" fmla="*/ 735185 h 1252655"/>
              <a:gd name="connsiteX2" fmla="*/ 5310514 w 5510631"/>
              <a:gd name="connsiteY2" fmla="*/ 1252655 h 1252655"/>
              <a:gd name="connsiteX3" fmla="*/ 0 w 5510631"/>
              <a:gd name="connsiteY3" fmla="*/ 1252655 h 1252655"/>
              <a:gd name="connsiteX4" fmla="*/ 200117 w 5510631"/>
              <a:gd name="connsiteY4" fmla="*/ 0 h 1252655"/>
              <a:gd name="connsiteX5" fmla="*/ 5510631 w 5510631"/>
              <a:gd name="connsiteY5" fmla="*/ 0 h 1252655"/>
              <a:gd name="connsiteX6" fmla="*/ 5510631 w 5510631"/>
              <a:gd name="connsiteY6" fmla="*/ 517470 h 1252655"/>
              <a:gd name="connsiteX7" fmla="*/ 200117 w 5510631"/>
              <a:gd name="connsiteY7" fmla="*/ 517470 h 1252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10631" h="1252655">
                <a:moveTo>
                  <a:pt x="0" y="735185"/>
                </a:moveTo>
                <a:lnTo>
                  <a:pt x="5310514" y="735185"/>
                </a:lnTo>
                <a:lnTo>
                  <a:pt x="5310514" y="1252655"/>
                </a:lnTo>
                <a:lnTo>
                  <a:pt x="0" y="1252655"/>
                </a:lnTo>
                <a:close/>
                <a:moveTo>
                  <a:pt x="200117" y="0"/>
                </a:moveTo>
                <a:lnTo>
                  <a:pt x="5510631" y="0"/>
                </a:lnTo>
                <a:lnTo>
                  <a:pt x="5510631" y="517470"/>
                </a:lnTo>
                <a:lnTo>
                  <a:pt x="200117" y="517470"/>
                </a:lnTo>
                <a:close/>
              </a:path>
            </a:pathLst>
          </a:cu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p:cNvSpPr/>
          <p:nvPr/>
        </p:nvSpPr>
        <p:spPr>
          <a:xfrm>
            <a:off x="3940824" y="4796146"/>
            <a:ext cx="5310514" cy="517470"/>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04823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fade">
                                      <p:cBhvr>
                                        <p:cTn id="7" dur="500"/>
                                        <p:tgtEl>
                                          <p:spTgt spid="6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2"/>
                                        </p:tgtEl>
                                        <p:attrNameLst>
                                          <p:attrName>style.visibility</p:attrName>
                                        </p:attrNameLst>
                                      </p:cBhvr>
                                      <p:to>
                                        <p:strVal val="visible"/>
                                      </p:to>
                                    </p:set>
                                    <p:animEffect transition="in" filter="wipe(down)">
                                      <p:cBhvr>
                                        <p:cTn id="12" dur="500"/>
                                        <p:tgtEl>
                                          <p:spTgt spid="6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71"/>
                                        </p:tgtEl>
                                        <p:attrNameLst>
                                          <p:attrName>style.visibility</p:attrName>
                                        </p:attrNameLst>
                                      </p:cBhvr>
                                      <p:to>
                                        <p:strVal val="visible"/>
                                      </p:to>
                                    </p:set>
                                    <p:animEffect transition="in" filter="wipe(up)">
                                      <p:cBhvr>
                                        <p:cTn id="17" dur="500"/>
                                        <p:tgtEl>
                                          <p:spTgt spid="71"/>
                                        </p:tgtEl>
                                      </p:cBhvr>
                                    </p:animEffect>
                                  </p:childTnLst>
                                </p:cTn>
                              </p:par>
                            </p:childTnLst>
                          </p:cTn>
                        </p:par>
                        <p:par>
                          <p:cTn id="18" fill="hold">
                            <p:stCondLst>
                              <p:cond delay="500"/>
                            </p:stCondLst>
                            <p:childTnLst>
                              <p:par>
                                <p:cTn id="19" presetID="1" presetClass="entr" presetSubtype="0" fill="hold" grpId="0" nodeType="afterEffect">
                                  <p:stCondLst>
                                    <p:cond delay="0"/>
                                  </p:stCondLst>
                                  <p:childTnLst>
                                    <p:set>
                                      <p:cBhvr>
                                        <p:cTn id="20" dur="1" fill="hold">
                                          <p:stCondLst>
                                            <p:cond delay="0"/>
                                          </p:stCondLst>
                                        </p:cTn>
                                        <p:tgtEl>
                                          <p:spTgt spid="6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0" presetClass="path" presetSubtype="0" accel="50000" decel="50000" fill="hold" nodeType="clickEffect">
                                  <p:stCondLst>
                                    <p:cond delay="0"/>
                                  </p:stCondLst>
                                  <p:childTnLst>
                                    <p:animMotion origin="layout" path="M 1.11111E-6 -1.85185E-6 L 1.11111E-6 -0.15879 " pathEditMode="relative" rAng="0" ptsTypes="AA">
                                      <p:cBhvr>
                                        <p:cTn id="24" dur="750" fill="hold"/>
                                        <p:tgtEl>
                                          <p:spTgt spid="66"/>
                                        </p:tgtEl>
                                        <p:attrNameLst>
                                          <p:attrName>ppt_x</p:attrName>
                                          <p:attrName>ppt_y</p:attrName>
                                        </p:attrNameLst>
                                      </p:cBhvr>
                                      <p:rCtr x="0" y="-7940"/>
                                    </p:animMotion>
                                  </p:childTnLst>
                                </p:cTn>
                              </p:par>
                              <p:par>
                                <p:cTn id="25" presetID="0" presetClass="path" presetSubtype="0" accel="50000" decel="50000" fill="hold" nodeType="withEffect">
                                  <p:stCondLst>
                                    <p:cond delay="0"/>
                                  </p:stCondLst>
                                  <p:childTnLst>
                                    <p:animMotion origin="layout" path="M 3.05556E-6 7.40741E-7 L 3.05556E-6 -0.1588 " pathEditMode="relative" rAng="0" ptsTypes="AA">
                                      <p:cBhvr>
                                        <p:cTn id="26" dur="750" fill="hold"/>
                                        <p:tgtEl>
                                          <p:spTgt spid="62"/>
                                        </p:tgtEl>
                                        <p:attrNameLst>
                                          <p:attrName>ppt_x</p:attrName>
                                          <p:attrName>ppt_y</p:attrName>
                                        </p:attrNameLst>
                                      </p:cBhvr>
                                      <p:rCtr x="0" y="-7940"/>
                                    </p:animMotion>
                                  </p:childTnLst>
                                </p:cTn>
                              </p:par>
                              <p:par>
                                <p:cTn id="27" presetID="0" presetClass="path" presetSubtype="0" accel="50000" decel="50000" fill="hold" grpId="1" nodeType="withEffect">
                                  <p:stCondLst>
                                    <p:cond delay="0"/>
                                  </p:stCondLst>
                                  <p:childTnLst>
                                    <p:animMotion origin="layout" path="M 1.38778E-17 1.85185E-6 L 1.38778E-17 -0.1588 " pathEditMode="relative" rAng="0" ptsTypes="AA">
                                      <p:cBhvr>
                                        <p:cTn id="28" dur="750" fill="hold"/>
                                        <p:tgtEl>
                                          <p:spTgt spid="71"/>
                                        </p:tgtEl>
                                        <p:attrNameLst>
                                          <p:attrName>ppt_x</p:attrName>
                                          <p:attrName>ppt_y</p:attrName>
                                        </p:attrNameLst>
                                      </p:cBhvr>
                                      <p:rCtr x="0" y="-7940"/>
                                    </p:animMotion>
                                  </p:childTnLst>
                                </p:cTn>
                              </p:par>
                              <p:par>
                                <p:cTn id="29" presetID="0" presetClass="path" presetSubtype="0" accel="50000" decel="50000" fill="hold" grpId="1" nodeType="withEffect">
                                  <p:stCondLst>
                                    <p:cond delay="0"/>
                                  </p:stCondLst>
                                  <p:childTnLst>
                                    <p:animMotion origin="layout" path="M -2.22222E-6 1.11111E-6 L -2.22222E-6 -0.1588 " pathEditMode="relative" rAng="0" ptsTypes="AA">
                                      <p:cBhvr>
                                        <p:cTn id="30" dur="750" fill="hold"/>
                                        <p:tgtEl>
                                          <p:spTgt spid="67"/>
                                        </p:tgtEl>
                                        <p:attrNameLst>
                                          <p:attrName>ppt_x</p:attrName>
                                          <p:attrName>ppt_y</p:attrName>
                                        </p:attrNameLst>
                                      </p:cBhvr>
                                      <p:rCtr x="0" y="-7940"/>
                                    </p:animMotion>
                                  </p:childTnLst>
                                </p:cTn>
                              </p:par>
                            </p:childTnLst>
                          </p:cTn>
                        </p:par>
                        <p:par>
                          <p:cTn id="31" fill="hold">
                            <p:stCondLst>
                              <p:cond delay="750"/>
                            </p:stCondLst>
                            <p:childTnLst>
                              <p:par>
                                <p:cTn id="32" presetID="10" presetClass="entr" presetSubtype="0" fill="hold" nodeType="afterEffect">
                                  <p:stCondLst>
                                    <p:cond delay="0"/>
                                  </p:stCondLst>
                                  <p:childTnLst>
                                    <p:set>
                                      <p:cBhvr>
                                        <p:cTn id="33" dur="1" fill="hold">
                                          <p:stCondLst>
                                            <p:cond delay="0"/>
                                          </p:stCondLst>
                                        </p:cTn>
                                        <p:tgtEl>
                                          <p:spTgt spid="32"/>
                                        </p:tgtEl>
                                        <p:attrNameLst>
                                          <p:attrName>style.visibility</p:attrName>
                                        </p:attrNameLst>
                                      </p:cBhvr>
                                      <p:to>
                                        <p:strVal val="visible"/>
                                      </p:to>
                                    </p:set>
                                    <p:animEffect transition="in" filter="fade">
                                      <p:cBhvr>
                                        <p:cTn id="34" dur="500"/>
                                        <p:tgtEl>
                                          <p:spTgt spid="3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75"/>
                                        </p:tgtEl>
                                        <p:attrNameLst>
                                          <p:attrName>style.visibility</p:attrName>
                                        </p:attrNameLst>
                                      </p:cBhvr>
                                      <p:to>
                                        <p:strVal val="visible"/>
                                      </p:to>
                                    </p:set>
                                    <p:animEffect transition="in" filter="fade">
                                      <p:cBhvr>
                                        <p:cTn id="37" dur="500"/>
                                        <p:tgtEl>
                                          <p:spTgt spid="7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70"/>
                                        </p:tgtEl>
                                        <p:attrNameLst>
                                          <p:attrName>style.visibility</p:attrName>
                                        </p:attrNameLst>
                                      </p:cBhvr>
                                      <p:to>
                                        <p:strVal val="visible"/>
                                      </p:to>
                                    </p:set>
                                    <p:animEffect transition="in" filter="fade">
                                      <p:cBhvr>
                                        <p:cTn id="42" dur="500"/>
                                        <p:tgtEl>
                                          <p:spTgt spid="7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xit" presetSubtype="0" fill="hold" grpId="1" nodeType="clickEffect">
                                  <p:stCondLst>
                                    <p:cond delay="0"/>
                                  </p:stCondLst>
                                  <p:childTnLst>
                                    <p:animEffect transition="out" filter="fade">
                                      <p:cBhvr>
                                        <p:cTn id="46" dur="500"/>
                                        <p:tgtEl>
                                          <p:spTgt spid="70"/>
                                        </p:tgtEl>
                                      </p:cBhvr>
                                    </p:animEffect>
                                    <p:set>
                                      <p:cBhvr>
                                        <p:cTn id="47" dur="1" fill="hold">
                                          <p:stCondLst>
                                            <p:cond delay="499"/>
                                          </p:stCondLst>
                                        </p:cTn>
                                        <p:tgtEl>
                                          <p:spTgt spid="70"/>
                                        </p:tgtEl>
                                        <p:attrNameLst>
                                          <p:attrName>style.visibility</p:attrName>
                                        </p:attrNameLst>
                                      </p:cBhvr>
                                      <p:to>
                                        <p:strVal val="hidden"/>
                                      </p:to>
                                    </p:set>
                                  </p:childTnLst>
                                </p:cTn>
                              </p:par>
                              <p:par>
                                <p:cTn id="48" presetID="10" presetClass="entr" presetSubtype="0" fill="hold" grpId="0" nodeType="withEffect">
                                  <p:stCondLst>
                                    <p:cond delay="0"/>
                                  </p:stCondLst>
                                  <p:childTnLst>
                                    <p:set>
                                      <p:cBhvr>
                                        <p:cTn id="49" dur="1" fill="hold">
                                          <p:stCondLst>
                                            <p:cond delay="0"/>
                                          </p:stCondLst>
                                        </p:cTn>
                                        <p:tgtEl>
                                          <p:spTgt spid="73"/>
                                        </p:tgtEl>
                                        <p:attrNameLst>
                                          <p:attrName>style.visibility</p:attrName>
                                        </p:attrNameLst>
                                      </p:cBhvr>
                                      <p:to>
                                        <p:strVal val="visible"/>
                                      </p:to>
                                    </p:set>
                                    <p:animEffect transition="in" filter="fade">
                                      <p:cBhvr>
                                        <p:cTn id="50" dur="500"/>
                                        <p:tgtEl>
                                          <p:spTgt spid="73"/>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xit" presetSubtype="0" fill="hold" grpId="1" nodeType="clickEffect">
                                  <p:stCondLst>
                                    <p:cond delay="0"/>
                                  </p:stCondLst>
                                  <p:childTnLst>
                                    <p:animEffect transition="out" filter="fade">
                                      <p:cBhvr>
                                        <p:cTn id="54" dur="500"/>
                                        <p:tgtEl>
                                          <p:spTgt spid="73"/>
                                        </p:tgtEl>
                                      </p:cBhvr>
                                    </p:animEffect>
                                    <p:set>
                                      <p:cBhvr>
                                        <p:cTn id="55" dur="1" fill="hold">
                                          <p:stCondLst>
                                            <p:cond delay="499"/>
                                          </p:stCondLst>
                                        </p:cTn>
                                        <p:tgtEl>
                                          <p:spTgt spid="73"/>
                                        </p:tgtEl>
                                        <p:attrNameLst>
                                          <p:attrName>style.visibility</p:attrName>
                                        </p:attrNameLst>
                                      </p:cBhvr>
                                      <p:to>
                                        <p:strVal val="hidden"/>
                                      </p:to>
                                    </p:set>
                                  </p:childTnLst>
                                </p:cTn>
                              </p:par>
                              <p:par>
                                <p:cTn id="56" presetID="10" presetClass="entr" presetSubtype="0" fill="hold" grpId="0" nodeType="withEffect">
                                  <p:stCondLst>
                                    <p:cond delay="0"/>
                                  </p:stCondLst>
                                  <p:childTnLst>
                                    <p:set>
                                      <p:cBhvr>
                                        <p:cTn id="57" dur="1" fill="hold">
                                          <p:stCondLst>
                                            <p:cond delay="0"/>
                                          </p:stCondLst>
                                        </p:cTn>
                                        <p:tgtEl>
                                          <p:spTgt spid="74"/>
                                        </p:tgtEl>
                                        <p:attrNameLst>
                                          <p:attrName>style.visibility</p:attrName>
                                        </p:attrNameLst>
                                      </p:cBhvr>
                                      <p:to>
                                        <p:strVal val="visible"/>
                                      </p:to>
                                    </p:set>
                                    <p:animEffect transition="in" filter="fade">
                                      <p:cBhvr>
                                        <p:cTn id="58" dur="500"/>
                                        <p:tgtEl>
                                          <p:spTgt spid="74"/>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xit" presetSubtype="0" fill="hold" grpId="1" nodeType="clickEffect">
                                  <p:stCondLst>
                                    <p:cond delay="0"/>
                                  </p:stCondLst>
                                  <p:childTnLst>
                                    <p:animEffect transition="out" filter="fade">
                                      <p:cBhvr>
                                        <p:cTn id="62" dur="500"/>
                                        <p:tgtEl>
                                          <p:spTgt spid="74"/>
                                        </p:tgtEl>
                                      </p:cBhvr>
                                    </p:animEffect>
                                    <p:set>
                                      <p:cBhvr>
                                        <p:cTn id="63" dur="1" fill="hold">
                                          <p:stCondLst>
                                            <p:cond delay="499"/>
                                          </p:stCondLst>
                                        </p:cTn>
                                        <p:tgtEl>
                                          <p:spTgt spid="74"/>
                                        </p:tgtEl>
                                        <p:attrNameLst>
                                          <p:attrName>style.visibility</p:attrName>
                                        </p:attrNameLst>
                                      </p:cBhvr>
                                      <p:to>
                                        <p:strVal val="hidden"/>
                                      </p:to>
                                    </p:set>
                                  </p:childTnLst>
                                </p:cTn>
                              </p:par>
                              <p:par>
                                <p:cTn id="64" presetID="22" presetClass="entr" presetSubtype="1" fill="hold" grpId="0" nodeType="withEffect">
                                  <p:stCondLst>
                                    <p:cond delay="0"/>
                                  </p:stCondLst>
                                  <p:childTnLst>
                                    <p:set>
                                      <p:cBhvr>
                                        <p:cTn id="65" dur="1" fill="hold">
                                          <p:stCondLst>
                                            <p:cond delay="0"/>
                                          </p:stCondLst>
                                        </p:cTn>
                                        <p:tgtEl>
                                          <p:spTgt spid="102"/>
                                        </p:tgtEl>
                                        <p:attrNameLst>
                                          <p:attrName>style.visibility</p:attrName>
                                        </p:attrNameLst>
                                      </p:cBhvr>
                                      <p:to>
                                        <p:strVal val="visible"/>
                                      </p:to>
                                    </p:set>
                                    <p:animEffect transition="in" filter="wipe(up)">
                                      <p:cBhvr>
                                        <p:cTn id="66" dur="500"/>
                                        <p:tgtEl>
                                          <p:spTgt spid="102"/>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xit" presetSubtype="0" fill="hold" grpId="2" nodeType="clickEffect">
                                  <p:stCondLst>
                                    <p:cond delay="0"/>
                                  </p:stCondLst>
                                  <p:childTnLst>
                                    <p:animEffect transition="out" filter="fade">
                                      <p:cBhvr>
                                        <p:cTn id="70" dur="500"/>
                                        <p:tgtEl>
                                          <p:spTgt spid="67"/>
                                        </p:tgtEl>
                                      </p:cBhvr>
                                    </p:animEffect>
                                    <p:set>
                                      <p:cBhvr>
                                        <p:cTn id="71" dur="1" fill="hold">
                                          <p:stCondLst>
                                            <p:cond delay="499"/>
                                          </p:stCondLst>
                                        </p:cTn>
                                        <p:tgtEl>
                                          <p:spTgt spid="67"/>
                                        </p:tgtEl>
                                        <p:attrNameLst>
                                          <p:attrName>style.visibility</p:attrName>
                                        </p:attrNameLst>
                                      </p:cBhvr>
                                      <p:to>
                                        <p:strVal val="hidden"/>
                                      </p:to>
                                    </p:set>
                                  </p:childTnLst>
                                </p:cTn>
                              </p:par>
                              <p:par>
                                <p:cTn id="72" presetID="10" presetClass="exit" presetSubtype="0" fill="hold" grpId="1" nodeType="withEffect">
                                  <p:stCondLst>
                                    <p:cond delay="0"/>
                                  </p:stCondLst>
                                  <p:childTnLst>
                                    <p:animEffect transition="out" filter="fade">
                                      <p:cBhvr>
                                        <p:cTn id="73" dur="500"/>
                                        <p:tgtEl>
                                          <p:spTgt spid="102"/>
                                        </p:tgtEl>
                                      </p:cBhvr>
                                    </p:animEffect>
                                    <p:set>
                                      <p:cBhvr>
                                        <p:cTn id="74" dur="1" fill="hold">
                                          <p:stCondLst>
                                            <p:cond delay="499"/>
                                          </p:stCondLst>
                                        </p:cTn>
                                        <p:tgtEl>
                                          <p:spTgt spid="102"/>
                                        </p:tgtEl>
                                        <p:attrNameLst>
                                          <p:attrName>style.visibility</p:attrName>
                                        </p:attrNameLst>
                                      </p:cBhvr>
                                      <p:to>
                                        <p:strVal val="hidden"/>
                                      </p:to>
                                    </p:set>
                                  </p:childTnLst>
                                </p:cTn>
                              </p:par>
                              <p:par>
                                <p:cTn id="75" presetID="10" presetClass="exit" presetSubtype="0" fill="hold" nodeType="withEffect">
                                  <p:stCondLst>
                                    <p:cond delay="0"/>
                                  </p:stCondLst>
                                  <p:childTnLst>
                                    <p:animEffect transition="out" filter="fade">
                                      <p:cBhvr>
                                        <p:cTn id="76" dur="500"/>
                                        <p:tgtEl>
                                          <p:spTgt spid="62"/>
                                        </p:tgtEl>
                                      </p:cBhvr>
                                    </p:animEffect>
                                    <p:set>
                                      <p:cBhvr>
                                        <p:cTn id="77" dur="1" fill="hold">
                                          <p:stCondLst>
                                            <p:cond delay="499"/>
                                          </p:stCondLst>
                                        </p:cTn>
                                        <p:tgtEl>
                                          <p:spTgt spid="62"/>
                                        </p:tgtEl>
                                        <p:attrNameLst>
                                          <p:attrName>style.visibility</p:attrName>
                                        </p:attrNameLst>
                                      </p:cBhvr>
                                      <p:to>
                                        <p:strVal val="hidden"/>
                                      </p:to>
                                    </p:set>
                                  </p:childTnLst>
                                </p:cTn>
                              </p:par>
                              <p:par>
                                <p:cTn id="78" presetID="10" presetClass="exit" presetSubtype="0" fill="hold" grpId="2" nodeType="withEffect">
                                  <p:stCondLst>
                                    <p:cond delay="0"/>
                                  </p:stCondLst>
                                  <p:childTnLst>
                                    <p:animEffect transition="out" filter="fade">
                                      <p:cBhvr>
                                        <p:cTn id="79" dur="500"/>
                                        <p:tgtEl>
                                          <p:spTgt spid="71"/>
                                        </p:tgtEl>
                                      </p:cBhvr>
                                    </p:animEffect>
                                    <p:set>
                                      <p:cBhvr>
                                        <p:cTn id="80" dur="1" fill="hold">
                                          <p:stCondLst>
                                            <p:cond delay="499"/>
                                          </p:stCondLst>
                                        </p:cTn>
                                        <p:tgtEl>
                                          <p:spTgt spid="71"/>
                                        </p:tgtEl>
                                        <p:attrNameLst>
                                          <p:attrName>style.visibility</p:attrName>
                                        </p:attrNameLst>
                                      </p:cBhvr>
                                      <p:to>
                                        <p:strVal val="hidden"/>
                                      </p:to>
                                    </p:set>
                                  </p:childTnLst>
                                </p:cTn>
                              </p:par>
                              <p:par>
                                <p:cTn id="81" presetID="10" presetClass="exit" presetSubtype="0" fill="hold" grpId="1" nodeType="withEffect">
                                  <p:stCondLst>
                                    <p:cond delay="0"/>
                                  </p:stCondLst>
                                  <p:childTnLst>
                                    <p:animEffect transition="out" filter="fade">
                                      <p:cBhvr>
                                        <p:cTn id="82" dur="500"/>
                                        <p:tgtEl>
                                          <p:spTgt spid="75"/>
                                        </p:tgtEl>
                                      </p:cBhvr>
                                    </p:animEffect>
                                    <p:set>
                                      <p:cBhvr>
                                        <p:cTn id="83" dur="1" fill="hold">
                                          <p:stCondLst>
                                            <p:cond delay="499"/>
                                          </p:stCondLst>
                                        </p:cTn>
                                        <p:tgtEl>
                                          <p:spTgt spid="7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p:bldP spid="67" grpId="1"/>
      <p:bldP spid="67" grpId="2"/>
      <p:bldP spid="71" grpId="0" animBg="1"/>
      <p:bldP spid="71" grpId="1" animBg="1"/>
      <p:bldP spid="71" grpId="2" animBg="1"/>
      <p:bldP spid="102" grpId="0" animBg="1"/>
      <p:bldP spid="102" grpId="1" animBg="1"/>
      <p:bldP spid="75" grpId="0"/>
      <p:bldP spid="75" grpId="1"/>
      <p:bldP spid="70" grpId="0" animBg="1"/>
      <p:bldP spid="70" grpId="1" animBg="1"/>
      <p:bldP spid="73" grpId="0" animBg="1"/>
      <p:bldP spid="73" grpId="1" animBg="1"/>
      <p:bldP spid="74" grpId="0" animBg="1"/>
      <p:bldP spid="74"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1" name="Group 110"/>
          <p:cNvGrpSpPr/>
          <p:nvPr/>
        </p:nvGrpSpPr>
        <p:grpSpPr>
          <a:xfrm>
            <a:off x="684743" y="3472132"/>
            <a:ext cx="2982478" cy="2596323"/>
            <a:chOff x="2155601" y="1578475"/>
            <a:chExt cx="3736038" cy="3252317"/>
          </a:xfrm>
        </p:grpSpPr>
        <p:sp>
          <p:nvSpPr>
            <p:cNvPr id="113" name="Rectangle 112"/>
            <p:cNvSpPr/>
            <p:nvPr/>
          </p:nvSpPr>
          <p:spPr>
            <a:xfrm>
              <a:off x="2155601" y="1578475"/>
              <a:ext cx="3736038" cy="325231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4" name="Group 113"/>
            <p:cNvGrpSpPr/>
            <p:nvPr/>
          </p:nvGrpSpPr>
          <p:grpSpPr>
            <a:xfrm>
              <a:off x="2170841" y="1607045"/>
              <a:ext cx="3686167" cy="3190118"/>
              <a:chOff x="1164801" y="2536506"/>
              <a:chExt cx="3686167" cy="3190118"/>
            </a:xfrm>
          </p:grpSpPr>
          <p:pic>
            <p:nvPicPr>
              <p:cNvPr id="115" name="Picture 114" descr="fig1.pdf"/>
              <p:cNvPicPr>
                <a:picLocks noChangeAspect="1"/>
              </p:cNvPicPr>
              <p:nvPr/>
            </p:nvPicPr>
            <p:blipFill rotWithShape="1">
              <a:blip r:embed="rId3">
                <a:extLst>
                  <a:ext uri="{28A0092B-C50C-407E-A947-70E740481C1C}">
                    <a14:useLocalDpi xmlns:a14="http://schemas.microsoft.com/office/drawing/2010/main" val="0"/>
                  </a:ext>
                </a:extLst>
              </a:blip>
              <a:srcRect r="80877" b="13113"/>
              <a:stretch/>
            </p:blipFill>
            <p:spPr>
              <a:xfrm>
                <a:off x="1164801" y="2536506"/>
                <a:ext cx="708449" cy="2793024"/>
              </a:xfrm>
              <a:prstGeom prst="rect">
                <a:avLst/>
              </a:prstGeom>
              <a:ln>
                <a:noFill/>
              </a:ln>
            </p:spPr>
            <p:style>
              <a:lnRef idx="2">
                <a:schemeClr val="dk1"/>
              </a:lnRef>
              <a:fillRef idx="1">
                <a:schemeClr val="lt1"/>
              </a:fillRef>
              <a:effectRef idx="0">
                <a:schemeClr val="dk1"/>
              </a:effectRef>
              <a:fontRef idx="minor">
                <a:schemeClr val="dk1"/>
              </a:fontRef>
            </p:style>
          </p:pic>
          <p:pic>
            <p:nvPicPr>
              <p:cNvPr id="116" name="Picture 115" descr="fig1.pdf"/>
              <p:cNvPicPr>
                <a:picLocks noChangeAspect="1"/>
              </p:cNvPicPr>
              <p:nvPr/>
            </p:nvPicPr>
            <p:blipFill rotWithShape="1">
              <a:blip r:embed="rId3">
                <a:extLst>
                  <a:ext uri="{28A0092B-C50C-407E-A947-70E740481C1C}">
                    <a14:useLocalDpi xmlns:a14="http://schemas.microsoft.com/office/drawing/2010/main" val="0"/>
                  </a:ext>
                </a:extLst>
              </a:blip>
              <a:srcRect l="16879" t="84233" r="495" b="96"/>
              <a:stretch/>
            </p:blipFill>
            <p:spPr>
              <a:xfrm>
                <a:off x="1790054" y="5222875"/>
                <a:ext cx="3060914" cy="503749"/>
              </a:xfrm>
              <a:prstGeom prst="rect">
                <a:avLst/>
              </a:prstGeom>
              <a:ln>
                <a:noFill/>
              </a:ln>
            </p:spPr>
            <p:style>
              <a:lnRef idx="2">
                <a:schemeClr val="dk1"/>
              </a:lnRef>
              <a:fillRef idx="1">
                <a:schemeClr val="lt1"/>
              </a:fillRef>
              <a:effectRef idx="0">
                <a:schemeClr val="dk1"/>
              </a:effectRef>
              <a:fontRef idx="minor">
                <a:schemeClr val="dk1"/>
              </a:fontRef>
            </p:style>
          </p:pic>
        </p:grpSp>
      </p:grpSp>
      <p:pic>
        <p:nvPicPr>
          <p:cNvPr id="110" name="Picture 109" descr="fig1.pdf"/>
          <p:cNvPicPr>
            <a:picLocks noChangeAspect="1"/>
          </p:cNvPicPr>
          <p:nvPr/>
        </p:nvPicPr>
        <p:blipFill rotWithShape="1">
          <a:blip r:embed="rId3">
            <a:extLst>
              <a:ext uri="{28A0092B-C50C-407E-A947-70E740481C1C}">
                <a14:useLocalDpi xmlns:a14="http://schemas.microsoft.com/office/drawing/2010/main" val="0"/>
              </a:ext>
            </a:extLst>
          </a:blip>
          <a:srcRect l="19044" t="31457" r="3576" b="15636"/>
          <a:stretch/>
        </p:blipFill>
        <p:spPr>
          <a:xfrm>
            <a:off x="1262464" y="4278624"/>
            <a:ext cx="2288878" cy="1357964"/>
          </a:xfrm>
          <a:prstGeom prst="rect">
            <a:avLst/>
          </a:prstGeom>
          <a:ln>
            <a:noFill/>
          </a:ln>
        </p:spPr>
        <p:style>
          <a:lnRef idx="2">
            <a:schemeClr val="dk1"/>
          </a:lnRef>
          <a:fillRef idx="1">
            <a:schemeClr val="lt1"/>
          </a:fillRef>
          <a:effectRef idx="0">
            <a:schemeClr val="dk1"/>
          </a:effectRef>
          <a:fontRef idx="minor">
            <a:schemeClr val="dk1"/>
          </a:fontRef>
        </p:style>
      </p:pic>
      <p:pic>
        <p:nvPicPr>
          <p:cNvPr id="119" name="Picture 118"/>
          <p:cNvPicPr>
            <a:picLocks noChangeAspect="1"/>
          </p:cNvPicPr>
          <p:nvPr/>
        </p:nvPicPr>
        <p:blipFill rotWithShape="1">
          <a:blip r:embed="rId4">
            <a:extLst>
              <a:ext uri="{28A0092B-C50C-407E-A947-70E740481C1C}">
                <a14:useLocalDpi xmlns:a14="http://schemas.microsoft.com/office/drawing/2010/main" val="0"/>
              </a:ext>
            </a:extLst>
          </a:blip>
          <a:srcRect l="19414" t="29041" r="3530" b="15415"/>
          <a:stretch/>
        </p:blipFill>
        <p:spPr>
          <a:xfrm>
            <a:off x="1268449" y="4193699"/>
            <a:ext cx="2313732" cy="1444328"/>
          </a:xfrm>
          <a:prstGeom prst="rect">
            <a:avLst/>
          </a:prstGeom>
          <a:ln>
            <a:noFill/>
          </a:ln>
        </p:spPr>
        <p:style>
          <a:lnRef idx="2">
            <a:schemeClr val="dk1"/>
          </a:lnRef>
          <a:fillRef idx="1">
            <a:schemeClr val="lt1"/>
          </a:fillRef>
          <a:effectRef idx="0">
            <a:schemeClr val="dk1"/>
          </a:effectRef>
          <a:fontRef idx="minor">
            <a:schemeClr val="dk1"/>
          </a:fontRef>
        </p:style>
      </p:pic>
      <p:sp>
        <p:nvSpPr>
          <p:cNvPr id="12" name="Content Placeholder 2"/>
          <p:cNvSpPr txBox="1">
            <a:spLocks/>
          </p:cNvSpPr>
          <p:nvPr/>
        </p:nvSpPr>
        <p:spPr>
          <a:xfrm>
            <a:off x="515874" y="3401569"/>
            <a:ext cx="7886700" cy="2068195"/>
          </a:xfrm>
          <a:prstGeom prst="rect">
            <a:avLst/>
          </a:prstGeom>
        </p:spPr>
        <p:txBody>
          <a:bodyPr vert="horz" lIns="91440" tIns="45720" rIns="91440" bIns="45720" rtlCol="0">
            <a:normAutofit/>
          </a:bodyPr>
          <a:lstStyle>
            <a:lvl1pPr marL="228591" indent="-228591" algn="l" defTabSz="91436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73" indent="-228591" algn="l" defTabSz="91436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54" indent="-228591" algn="l" defTabSz="91436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36"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18"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99"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81"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63"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45"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dirty="0" smtClean="0"/>
          </a:p>
        </p:txBody>
      </p:sp>
      <p:grpSp>
        <p:nvGrpSpPr>
          <p:cNvPr id="73" name="Group 72"/>
          <p:cNvGrpSpPr/>
          <p:nvPr/>
        </p:nvGrpSpPr>
        <p:grpSpPr>
          <a:xfrm>
            <a:off x="3060844" y="925533"/>
            <a:ext cx="6019148" cy="3394214"/>
            <a:chOff x="2967228" y="3304129"/>
            <a:chExt cx="6019148" cy="3394214"/>
          </a:xfrm>
        </p:grpSpPr>
        <p:grpSp>
          <p:nvGrpSpPr>
            <p:cNvPr id="80" name="Group 79"/>
            <p:cNvGrpSpPr/>
            <p:nvPr/>
          </p:nvGrpSpPr>
          <p:grpSpPr>
            <a:xfrm>
              <a:off x="4672367" y="3304129"/>
              <a:ext cx="4314009" cy="3394214"/>
              <a:chOff x="1548167" y="103729"/>
              <a:chExt cx="4314009" cy="3394214"/>
            </a:xfrm>
          </p:grpSpPr>
          <p:grpSp>
            <p:nvGrpSpPr>
              <p:cNvPr id="84" name="Group 83"/>
              <p:cNvGrpSpPr/>
              <p:nvPr/>
            </p:nvGrpSpPr>
            <p:grpSpPr>
              <a:xfrm>
                <a:off x="1548167" y="890653"/>
                <a:ext cx="4314009" cy="2607290"/>
                <a:chOff x="1548167" y="890653"/>
                <a:chExt cx="4314009" cy="2607290"/>
              </a:xfrm>
            </p:grpSpPr>
            <p:sp>
              <p:nvSpPr>
                <p:cNvPr id="95" name="Rounded Rectangle 94"/>
                <p:cNvSpPr/>
                <p:nvPr/>
              </p:nvSpPr>
              <p:spPr>
                <a:xfrm>
                  <a:off x="1854940" y="1157145"/>
                  <a:ext cx="4007236" cy="2340798"/>
                </a:xfrm>
                <a:prstGeom prst="roundRect">
                  <a:avLst>
                    <a:gd name="adj" fmla="val 3932"/>
                  </a:avLst>
                </a:prstGeom>
                <a:solidFill>
                  <a:schemeClr val="bg1">
                    <a:alpha val="25000"/>
                  </a:schemeClr>
                </a:solidFill>
                <a:ln w="57150">
                  <a:solidFill>
                    <a:schemeClr val="tx1">
                      <a:alpha val="2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96" name="Rounded Rectangle 95"/>
                <p:cNvSpPr/>
                <p:nvPr/>
              </p:nvSpPr>
              <p:spPr>
                <a:xfrm>
                  <a:off x="1752683" y="1068315"/>
                  <a:ext cx="4007236" cy="2340798"/>
                </a:xfrm>
                <a:prstGeom prst="roundRect">
                  <a:avLst>
                    <a:gd name="adj" fmla="val 3932"/>
                  </a:avLst>
                </a:prstGeom>
                <a:solidFill>
                  <a:schemeClr val="bg1">
                    <a:alpha val="50000"/>
                  </a:schemeClr>
                </a:solidFill>
                <a:ln w="571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97" name="Rounded Rectangle 96"/>
                <p:cNvSpPr/>
                <p:nvPr/>
              </p:nvSpPr>
              <p:spPr>
                <a:xfrm>
                  <a:off x="1650425" y="979484"/>
                  <a:ext cx="4007236" cy="2340798"/>
                </a:xfrm>
                <a:prstGeom prst="roundRect">
                  <a:avLst>
                    <a:gd name="adj" fmla="val 3932"/>
                  </a:avLst>
                </a:prstGeom>
                <a:solidFill>
                  <a:schemeClr val="bg1">
                    <a:alpha val="75000"/>
                  </a:schemeClr>
                </a:solidFill>
                <a:ln w="57150">
                  <a:solidFill>
                    <a:schemeClr val="tx1">
                      <a:alpha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nvGrpSpPr>
                <p:cNvPr id="98" name="Group 97"/>
                <p:cNvGrpSpPr/>
                <p:nvPr/>
              </p:nvGrpSpPr>
              <p:grpSpPr>
                <a:xfrm>
                  <a:off x="1548167" y="890653"/>
                  <a:ext cx="4007236" cy="2340798"/>
                  <a:chOff x="1548167" y="890653"/>
                  <a:chExt cx="4007236" cy="2340798"/>
                </a:xfrm>
              </p:grpSpPr>
              <p:sp>
                <p:nvSpPr>
                  <p:cNvPr id="99" name="Rounded Rectangle 98"/>
                  <p:cNvSpPr/>
                  <p:nvPr/>
                </p:nvSpPr>
                <p:spPr>
                  <a:xfrm>
                    <a:off x="1548167" y="890653"/>
                    <a:ext cx="4007236" cy="2340798"/>
                  </a:xfrm>
                  <a:prstGeom prst="roundRect">
                    <a:avLst>
                      <a:gd name="adj" fmla="val 3932"/>
                    </a:avLst>
                  </a:prstGeom>
                  <a:solidFill>
                    <a:schemeClr val="bg1"/>
                  </a:solidFill>
                  <a:ln w="571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cxnSp>
                <p:nvCxnSpPr>
                  <p:cNvPr id="100" name="Straight Connector 99"/>
                  <p:cNvCxnSpPr/>
                  <p:nvPr/>
                </p:nvCxnSpPr>
                <p:spPr>
                  <a:xfrm flipV="1">
                    <a:off x="1548167" y="2515146"/>
                    <a:ext cx="3999266" cy="4309"/>
                  </a:xfrm>
                  <a:prstGeom prst="line">
                    <a:avLst/>
                  </a:prstGeom>
                  <a:ln w="571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sp>
            <p:nvSpPr>
              <p:cNvPr id="85" name="Can 84"/>
              <p:cNvSpPr/>
              <p:nvPr/>
            </p:nvSpPr>
            <p:spPr>
              <a:xfrm>
                <a:off x="3003528" y="2602755"/>
                <a:ext cx="904605" cy="528273"/>
              </a:xfrm>
              <a:prstGeom prst="can">
                <a:avLst>
                  <a:gd name="adj" fmla="val 50000"/>
                </a:avLst>
              </a:prstGeom>
              <a:solidFill>
                <a:schemeClr val="accent4">
                  <a:lumMod val="20000"/>
                  <a:lumOff val="8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109728" rIns="0" bIns="0" rtlCol="0" anchor="ctr"/>
              <a:lstStyle/>
              <a:p>
                <a:pPr algn="ctr"/>
                <a:endParaRPr lang="en-US" sz="2000" b="1" dirty="0">
                  <a:solidFill>
                    <a:schemeClr val="tx1"/>
                  </a:solidFill>
                </a:endParaRPr>
              </a:p>
            </p:txBody>
          </p:sp>
          <p:sp>
            <p:nvSpPr>
              <p:cNvPr id="86" name="Freeform 85"/>
              <p:cNvSpPr/>
              <p:nvPr/>
            </p:nvSpPr>
            <p:spPr>
              <a:xfrm>
                <a:off x="2003898" y="593389"/>
                <a:ext cx="1334091" cy="2158288"/>
              </a:xfrm>
              <a:custGeom>
                <a:avLst/>
                <a:gdLst>
                  <a:gd name="connsiteX0" fmla="*/ 0 w 1206230"/>
                  <a:gd name="connsiteY0" fmla="*/ 0 h 2782111"/>
                  <a:gd name="connsiteX1" fmla="*/ 0 w 1206230"/>
                  <a:gd name="connsiteY1" fmla="*/ 710119 h 2782111"/>
                  <a:gd name="connsiteX2" fmla="*/ 573932 w 1206230"/>
                  <a:gd name="connsiteY2" fmla="*/ 1206230 h 2782111"/>
                  <a:gd name="connsiteX3" fmla="*/ 573932 w 1206230"/>
                  <a:gd name="connsiteY3" fmla="*/ 1682885 h 2782111"/>
                  <a:gd name="connsiteX4" fmla="*/ 1206230 w 1206230"/>
                  <a:gd name="connsiteY4" fmla="*/ 1682885 h 2782111"/>
                  <a:gd name="connsiteX5" fmla="*/ 1206230 w 1206230"/>
                  <a:gd name="connsiteY5" fmla="*/ 2782111 h 2782111"/>
                  <a:gd name="connsiteX0" fmla="*/ 0 w 1206230"/>
                  <a:gd name="connsiteY0" fmla="*/ 0 h 2782111"/>
                  <a:gd name="connsiteX1" fmla="*/ 0 w 1206230"/>
                  <a:gd name="connsiteY1" fmla="*/ 710119 h 2782111"/>
                  <a:gd name="connsiteX2" fmla="*/ 573932 w 1206230"/>
                  <a:gd name="connsiteY2" fmla="*/ 1206230 h 2782111"/>
                  <a:gd name="connsiteX3" fmla="*/ 1206230 w 1206230"/>
                  <a:gd name="connsiteY3" fmla="*/ 1682885 h 2782111"/>
                  <a:gd name="connsiteX4" fmla="*/ 1206230 w 1206230"/>
                  <a:gd name="connsiteY4" fmla="*/ 2782111 h 2782111"/>
                  <a:gd name="connsiteX0" fmla="*/ 0 w 1206230"/>
                  <a:gd name="connsiteY0" fmla="*/ 0 h 2782111"/>
                  <a:gd name="connsiteX1" fmla="*/ 0 w 1206230"/>
                  <a:gd name="connsiteY1" fmla="*/ 710119 h 2782111"/>
                  <a:gd name="connsiteX2" fmla="*/ 1206230 w 1206230"/>
                  <a:gd name="connsiteY2" fmla="*/ 1682885 h 2782111"/>
                  <a:gd name="connsiteX3" fmla="*/ 1206230 w 1206230"/>
                  <a:gd name="connsiteY3" fmla="*/ 2782111 h 2782111"/>
                </a:gdLst>
                <a:ahLst/>
                <a:cxnLst>
                  <a:cxn ang="0">
                    <a:pos x="connsiteX0" y="connsiteY0"/>
                  </a:cxn>
                  <a:cxn ang="0">
                    <a:pos x="connsiteX1" y="connsiteY1"/>
                  </a:cxn>
                  <a:cxn ang="0">
                    <a:pos x="connsiteX2" y="connsiteY2"/>
                  </a:cxn>
                  <a:cxn ang="0">
                    <a:pos x="connsiteX3" y="connsiteY3"/>
                  </a:cxn>
                </a:cxnLst>
                <a:rect l="l" t="t" r="r" b="b"/>
                <a:pathLst>
                  <a:path w="1206230" h="2782111">
                    <a:moveTo>
                      <a:pt x="0" y="0"/>
                    </a:moveTo>
                    <a:lnTo>
                      <a:pt x="0" y="710119"/>
                    </a:lnTo>
                    <a:lnTo>
                      <a:pt x="1206230" y="1682885"/>
                    </a:lnTo>
                    <a:lnTo>
                      <a:pt x="1206230" y="2782111"/>
                    </a:lnTo>
                  </a:path>
                </a:pathLst>
              </a:custGeom>
              <a:noFill/>
              <a:ln w="57150">
                <a:solidFill>
                  <a:schemeClr val="tx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87" name="Freeform 86"/>
              <p:cNvSpPr/>
              <p:nvPr/>
            </p:nvSpPr>
            <p:spPr>
              <a:xfrm>
                <a:off x="3451101" y="593389"/>
                <a:ext cx="225954" cy="2156477"/>
              </a:xfrm>
              <a:custGeom>
                <a:avLst/>
                <a:gdLst>
                  <a:gd name="connsiteX0" fmla="*/ 330740 w 330740"/>
                  <a:gd name="connsiteY0" fmla="*/ 0 h 2821022"/>
                  <a:gd name="connsiteX1" fmla="*/ 0 w 330740"/>
                  <a:gd name="connsiteY1" fmla="*/ 651753 h 2821022"/>
                  <a:gd name="connsiteX2" fmla="*/ 0 w 330740"/>
                  <a:gd name="connsiteY2" fmla="*/ 2821022 h 2821022"/>
                </a:gdLst>
                <a:ahLst/>
                <a:cxnLst>
                  <a:cxn ang="0">
                    <a:pos x="connsiteX0" y="connsiteY0"/>
                  </a:cxn>
                  <a:cxn ang="0">
                    <a:pos x="connsiteX1" y="connsiteY1"/>
                  </a:cxn>
                  <a:cxn ang="0">
                    <a:pos x="connsiteX2" y="connsiteY2"/>
                  </a:cxn>
                </a:cxnLst>
                <a:rect l="l" t="t" r="r" b="b"/>
                <a:pathLst>
                  <a:path w="330740" h="2821022">
                    <a:moveTo>
                      <a:pt x="330740" y="0"/>
                    </a:moveTo>
                    <a:lnTo>
                      <a:pt x="0" y="651753"/>
                    </a:lnTo>
                    <a:lnTo>
                      <a:pt x="0" y="2821022"/>
                    </a:lnTo>
                  </a:path>
                </a:pathLst>
              </a:custGeom>
              <a:noFill/>
              <a:ln w="57150">
                <a:solidFill>
                  <a:schemeClr val="tx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88" name="Freeform 87"/>
              <p:cNvSpPr/>
              <p:nvPr/>
            </p:nvSpPr>
            <p:spPr>
              <a:xfrm>
                <a:off x="3577771" y="593389"/>
                <a:ext cx="1762714" cy="2156477"/>
              </a:xfrm>
              <a:custGeom>
                <a:avLst/>
                <a:gdLst>
                  <a:gd name="connsiteX0" fmla="*/ 1780162 w 1780162"/>
                  <a:gd name="connsiteY0" fmla="*/ 0 h 2821022"/>
                  <a:gd name="connsiteX1" fmla="*/ 1780162 w 1780162"/>
                  <a:gd name="connsiteY1" fmla="*/ 1391056 h 2821022"/>
                  <a:gd name="connsiteX2" fmla="*/ 0 w 1780162"/>
                  <a:gd name="connsiteY2" fmla="*/ 1391056 h 2821022"/>
                  <a:gd name="connsiteX3" fmla="*/ 0 w 1780162"/>
                  <a:gd name="connsiteY3" fmla="*/ 2821022 h 2821022"/>
                </a:gdLst>
                <a:ahLst/>
                <a:cxnLst>
                  <a:cxn ang="0">
                    <a:pos x="connsiteX0" y="connsiteY0"/>
                  </a:cxn>
                  <a:cxn ang="0">
                    <a:pos x="connsiteX1" y="connsiteY1"/>
                  </a:cxn>
                  <a:cxn ang="0">
                    <a:pos x="connsiteX2" y="connsiteY2"/>
                  </a:cxn>
                  <a:cxn ang="0">
                    <a:pos x="connsiteX3" y="connsiteY3"/>
                  </a:cxn>
                </a:cxnLst>
                <a:rect l="l" t="t" r="r" b="b"/>
                <a:pathLst>
                  <a:path w="1780162" h="2821022">
                    <a:moveTo>
                      <a:pt x="1780162" y="0"/>
                    </a:moveTo>
                    <a:lnTo>
                      <a:pt x="1780162" y="1391056"/>
                    </a:lnTo>
                    <a:lnTo>
                      <a:pt x="0" y="1391056"/>
                    </a:lnTo>
                    <a:lnTo>
                      <a:pt x="0" y="2821022"/>
                    </a:lnTo>
                  </a:path>
                </a:pathLst>
              </a:custGeom>
              <a:noFill/>
              <a:ln w="57150">
                <a:solidFill>
                  <a:schemeClr val="tx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89" name="Rounded Rectangle 88"/>
              <p:cNvSpPr/>
              <p:nvPr/>
            </p:nvSpPr>
            <p:spPr>
              <a:xfrm>
                <a:off x="1667662" y="987617"/>
                <a:ext cx="1056938" cy="641696"/>
              </a:xfrm>
              <a:prstGeom prst="roundRect">
                <a:avLst/>
              </a:prstGeom>
              <a:solidFill>
                <a:srgbClr val="D0CECE">
                  <a:alpha val="89804"/>
                </a:srgb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b" anchorCtr="0"/>
              <a:lstStyle/>
              <a:p>
                <a:r>
                  <a:rPr lang="en-US" sz="2000" dirty="0" err="1" smtClean="0">
                    <a:solidFill>
                      <a:schemeClr val="tx1"/>
                    </a:solidFill>
                  </a:rPr>
                  <a:t>HBase</a:t>
                </a:r>
                <a:endParaRPr lang="en-US" sz="2000" dirty="0">
                  <a:solidFill>
                    <a:schemeClr val="tx1"/>
                  </a:solidFill>
                </a:endParaRPr>
              </a:p>
            </p:txBody>
          </p:sp>
          <p:sp>
            <p:nvSpPr>
              <p:cNvPr id="90" name="Rounded Rectangle 89"/>
              <p:cNvSpPr/>
              <p:nvPr/>
            </p:nvSpPr>
            <p:spPr>
              <a:xfrm>
                <a:off x="2641009" y="1743418"/>
                <a:ext cx="1075285" cy="644131"/>
              </a:xfrm>
              <a:prstGeom prst="roundRect">
                <a:avLst/>
              </a:prstGeom>
              <a:solidFill>
                <a:srgbClr val="D0CECE">
                  <a:alpha val="89804"/>
                </a:srgb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r>
                  <a:rPr lang="en-US" sz="2000" dirty="0" smtClean="0">
                    <a:solidFill>
                      <a:schemeClr val="tx1"/>
                    </a:solidFill>
                  </a:rPr>
                  <a:t>HDFS</a:t>
                </a:r>
                <a:endParaRPr lang="en-US" sz="2000" dirty="0">
                  <a:solidFill>
                    <a:schemeClr val="tx1"/>
                  </a:solidFill>
                </a:endParaRPr>
              </a:p>
            </p:txBody>
          </p:sp>
          <p:sp>
            <p:nvSpPr>
              <p:cNvPr id="91" name="Rounded Rectangle 90"/>
              <p:cNvSpPr/>
              <p:nvPr/>
            </p:nvSpPr>
            <p:spPr>
              <a:xfrm>
                <a:off x="3601331" y="1066452"/>
                <a:ext cx="1840961" cy="484026"/>
              </a:xfrm>
              <a:prstGeom prst="roundRect">
                <a:avLst/>
              </a:prstGeom>
              <a:solidFill>
                <a:srgbClr val="D0CECE">
                  <a:alpha val="89804"/>
                </a:srgb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r>
                  <a:rPr lang="en-US" sz="2000" dirty="0" err="1" smtClean="0">
                    <a:solidFill>
                      <a:schemeClr val="tx1"/>
                    </a:solidFill>
                  </a:rPr>
                  <a:t>MapReduce</a:t>
                </a:r>
                <a:endParaRPr lang="en-US" sz="2000" dirty="0">
                  <a:solidFill>
                    <a:schemeClr val="tx1"/>
                  </a:solidFill>
                </a:endParaRPr>
              </a:p>
            </p:txBody>
          </p:sp>
          <p:sp>
            <p:nvSpPr>
              <p:cNvPr id="92" name="Freeform 91"/>
              <p:cNvSpPr/>
              <p:nvPr/>
            </p:nvSpPr>
            <p:spPr>
              <a:xfrm>
                <a:off x="5155377" y="111478"/>
                <a:ext cx="323462" cy="37800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93" name="Freeform 92"/>
              <p:cNvSpPr/>
              <p:nvPr/>
            </p:nvSpPr>
            <p:spPr>
              <a:xfrm>
                <a:off x="3496424" y="111478"/>
                <a:ext cx="323462" cy="37800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94" name="Freeform 93"/>
              <p:cNvSpPr/>
              <p:nvPr/>
            </p:nvSpPr>
            <p:spPr>
              <a:xfrm>
                <a:off x="1847200" y="103729"/>
                <a:ext cx="323462" cy="37800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sp>
          <p:nvSpPr>
            <p:cNvPr id="81" name="Rounded Rectangle 80"/>
            <p:cNvSpPr/>
            <p:nvPr/>
          </p:nvSpPr>
          <p:spPr>
            <a:xfrm>
              <a:off x="6403476" y="5354452"/>
              <a:ext cx="397779" cy="166266"/>
            </a:xfrm>
            <a:prstGeom prst="roundRect">
              <a:avLst/>
            </a:prstGeom>
            <a:solidFill>
              <a:schemeClr val="bg1"/>
            </a:solidFill>
            <a:ln w="381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82" name="Freeform 81"/>
            <p:cNvSpPr/>
            <p:nvPr/>
          </p:nvSpPr>
          <p:spPr>
            <a:xfrm flipV="1">
              <a:off x="4221135" y="4969295"/>
              <a:ext cx="2283000" cy="728115"/>
            </a:xfrm>
            <a:custGeom>
              <a:avLst/>
              <a:gdLst>
                <a:gd name="connsiteX0" fmla="*/ 0 w 398834"/>
                <a:gd name="connsiteY0" fmla="*/ 2188723 h 2188723"/>
                <a:gd name="connsiteX1" fmla="*/ 398834 w 398834"/>
                <a:gd name="connsiteY1" fmla="*/ 0 h 2188723"/>
                <a:gd name="connsiteX0" fmla="*/ 70658 w 469492"/>
                <a:gd name="connsiteY0" fmla="*/ 2188723 h 2188723"/>
                <a:gd name="connsiteX1" fmla="*/ 469492 w 469492"/>
                <a:gd name="connsiteY1" fmla="*/ 0 h 2188723"/>
                <a:gd name="connsiteX0" fmla="*/ 0 w 1070042"/>
                <a:gd name="connsiteY0" fmla="*/ 2345655 h 2345655"/>
                <a:gd name="connsiteX1" fmla="*/ 1070042 w 1070042"/>
                <a:gd name="connsiteY1" fmla="*/ 0 h 2345655"/>
                <a:gd name="connsiteX0" fmla="*/ 0 w 1070042"/>
                <a:gd name="connsiteY0" fmla="*/ 2345655 h 2345655"/>
                <a:gd name="connsiteX1" fmla="*/ 1070042 w 1070042"/>
                <a:gd name="connsiteY1" fmla="*/ 0 h 2345655"/>
                <a:gd name="connsiteX0" fmla="*/ 0 w 1245140"/>
                <a:gd name="connsiteY0" fmla="*/ 2478443 h 2478443"/>
                <a:gd name="connsiteX1" fmla="*/ 1245140 w 1245140"/>
                <a:gd name="connsiteY1" fmla="*/ 0 h 2478443"/>
                <a:gd name="connsiteX0" fmla="*/ 0 w 1400783"/>
                <a:gd name="connsiteY0" fmla="*/ 2611231 h 2611231"/>
                <a:gd name="connsiteX1" fmla="*/ 1400783 w 1400783"/>
                <a:gd name="connsiteY1" fmla="*/ 0 h 2611231"/>
                <a:gd name="connsiteX0" fmla="*/ 0 w 1361872"/>
                <a:gd name="connsiteY0" fmla="*/ 2514658 h 2514658"/>
                <a:gd name="connsiteX1" fmla="*/ 1361872 w 1361872"/>
                <a:gd name="connsiteY1" fmla="*/ 0 h 2514658"/>
                <a:gd name="connsiteX0" fmla="*/ 0 w 2508747"/>
                <a:gd name="connsiteY0" fmla="*/ 150276 h 1033436"/>
                <a:gd name="connsiteX1" fmla="*/ 2508747 w 2508747"/>
                <a:gd name="connsiteY1" fmla="*/ 875919 h 1033436"/>
                <a:gd name="connsiteX0" fmla="*/ 525 w 2509272"/>
                <a:gd name="connsiteY0" fmla="*/ 0 h 1012937"/>
                <a:gd name="connsiteX1" fmla="*/ 2509272 w 2509272"/>
                <a:gd name="connsiteY1" fmla="*/ 725643 h 1012937"/>
                <a:gd name="connsiteX0" fmla="*/ 524 w 2509271"/>
                <a:gd name="connsiteY0" fmla="*/ 0 h 725643"/>
                <a:gd name="connsiteX1" fmla="*/ 2509271 w 2509271"/>
                <a:gd name="connsiteY1" fmla="*/ 725643 h 725643"/>
                <a:gd name="connsiteX0" fmla="*/ 623 w 2183905"/>
                <a:gd name="connsiteY0" fmla="*/ 0 h 564077"/>
                <a:gd name="connsiteX1" fmla="*/ 2183905 w 2183905"/>
                <a:gd name="connsiteY1" fmla="*/ 564077 h 564077"/>
                <a:gd name="connsiteX0" fmla="*/ 846 w 2184128"/>
                <a:gd name="connsiteY0" fmla="*/ 0 h 564077"/>
                <a:gd name="connsiteX1" fmla="*/ 2184128 w 2184128"/>
                <a:gd name="connsiteY1" fmla="*/ 564077 h 564077"/>
                <a:gd name="connsiteX0" fmla="*/ 0 w 2183282"/>
                <a:gd name="connsiteY0" fmla="*/ 0 h 564077"/>
                <a:gd name="connsiteX1" fmla="*/ 2183282 w 2183282"/>
                <a:gd name="connsiteY1" fmla="*/ 564077 h 564077"/>
                <a:gd name="connsiteX0" fmla="*/ 0 w 2036464"/>
                <a:gd name="connsiteY0" fmla="*/ 730216 h 1026390"/>
                <a:gd name="connsiteX1" fmla="*/ 2036464 w 2036464"/>
                <a:gd name="connsiteY1" fmla="*/ 192771 h 1026390"/>
                <a:gd name="connsiteX0" fmla="*/ 0 w 2036464"/>
                <a:gd name="connsiteY0" fmla="*/ 843381 h 843381"/>
                <a:gd name="connsiteX1" fmla="*/ 2036464 w 2036464"/>
                <a:gd name="connsiteY1" fmla="*/ 305936 h 843381"/>
              </a:gdLst>
              <a:ahLst/>
              <a:cxnLst>
                <a:cxn ang="0">
                  <a:pos x="connsiteX0" y="connsiteY0"/>
                </a:cxn>
                <a:cxn ang="0">
                  <a:pos x="connsiteX1" y="connsiteY1"/>
                </a:cxn>
              </a:cxnLst>
              <a:rect l="l" t="t" r="r" b="b"/>
              <a:pathLst>
                <a:path w="2036464" h="843381">
                  <a:moveTo>
                    <a:pt x="0" y="843381"/>
                  </a:moveTo>
                  <a:cubicBezTo>
                    <a:pt x="791598" y="752171"/>
                    <a:pt x="1033800" y="-587859"/>
                    <a:pt x="2036464" y="305936"/>
                  </a:cubicBezTo>
                </a:path>
              </a:pathLst>
            </a:custGeom>
            <a:noFill/>
            <a:ln w="38100">
              <a:solidFill>
                <a:schemeClr val="tx1"/>
              </a:solidFill>
              <a:prstDash val="sysDot"/>
              <a:headEnd type="none"/>
              <a:tailEnd type="stealt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83" name="Rounded Rectangle 82"/>
            <p:cNvSpPr/>
            <p:nvPr/>
          </p:nvSpPr>
          <p:spPr>
            <a:xfrm>
              <a:off x="2967228" y="4780471"/>
              <a:ext cx="1255950" cy="569812"/>
            </a:xfrm>
            <a:prstGeom prst="roundRect">
              <a:avLst/>
            </a:prstGeom>
            <a:solidFill>
              <a:schemeClr val="bg1"/>
            </a:solidFill>
            <a:ln w="381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dirty="0" err="1" smtClean="0">
                  <a:solidFill>
                    <a:srgbClr val="2F2364"/>
                  </a:solidFill>
                  <a:latin typeface="Consolas" panose="020B0609020204030204" pitchFamily="49" charset="0"/>
                  <a:cs typeface="Consolas" panose="020B0609020204030204" pitchFamily="49" charset="0"/>
                </a:rPr>
                <a:t>DataNode</a:t>
              </a:r>
              <a:endParaRPr lang="en-US" sz="2000" dirty="0" smtClean="0">
                <a:solidFill>
                  <a:srgbClr val="2F2364"/>
                </a:solidFill>
                <a:latin typeface="Consolas" panose="020B0609020204030204" pitchFamily="49" charset="0"/>
                <a:cs typeface="Consolas" panose="020B0609020204030204" pitchFamily="49" charset="0"/>
              </a:endParaRPr>
            </a:p>
            <a:p>
              <a:pPr algn="ctr"/>
              <a:r>
                <a:rPr lang="en-US" sz="2000" dirty="0" smtClean="0">
                  <a:solidFill>
                    <a:srgbClr val="2F2364"/>
                  </a:solidFill>
                  <a:latin typeface="Consolas" panose="020B0609020204030204" pitchFamily="49" charset="0"/>
                  <a:cs typeface="Consolas" panose="020B0609020204030204" pitchFamily="49" charset="0"/>
                </a:rPr>
                <a:t>Metrics</a:t>
              </a:r>
              <a:endParaRPr lang="en-US" sz="2000" dirty="0">
                <a:solidFill>
                  <a:srgbClr val="2F2364"/>
                </a:solidFill>
                <a:latin typeface="Consolas" panose="020B0609020204030204" pitchFamily="49" charset="0"/>
                <a:cs typeface="Consolas" panose="020B0609020204030204" pitchFamily="49" charset="0"/>
              </a:endParaRPr>
            </a:p>
          </p:txBody>
        </p:sp>
      </p:grpSp>
      <p:grpSp>
        <p:nvGrpSpPr>
          <p:cNvPr id="104" name="Group 103"/>
          <p:cNvGrpSpPr/>
          <p:nvPr/>
        </p:nvGrpSpPr>
        <p:grpSpPr>
          <a:xfrm>
            <a:off x="83554" y="-59631"/>
            <a:ext cx="5967805" cy="1143000"/>
            <a:chOff x="734060" y="55916"/>
            <a:chExt cx="5967805" cy="1143000"/>
          </a:xfrm>
        </p:grpSpPr>
        <p:sp>
          <p:nvSpPr>
            <p:cNvPr id="105" name="Title 1"/>
            <p:cNvSpPr txBox="1">
              <a:spLocks/>
            </p:cNvSpPr>
            <p:nvPr/>
          </p:nvSpPr>
          <p:spPr>
            <a:xfrm>
              <a:off x="734060" y="55916"/>
              <a:ext cx="5967805" cy="1143000"/>
            </a:xfrm>
            <a:prstGeom prst="rect">
              <a:avLst/>
            </a:prstGeom>
          </p:spPr>
          <p:txBody>
            <a:bodyPr vert="horz" lIns="91440" tIns="45720" rIns="91440" bIns="45720" rtlCol="0" anchor="ctr">
              <a:normAutofit/>
            </a:bodyPr>
            <a:lstStyle>
              <a:lvl1pPr algn="l" defTabSz="914363"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smtClean="0"/>
                <a:t>Happened-before Join (      )</a:t>
              </a:r>
              <a:endParaRPr lang="en-US" sz="4000" dirty="0"/>
            </a:p>
          </p:txBody>
        </p:sp>
        <p:grpSp>
          <p:nvGrpSpPr>
            <p:cNvPr id="106" name="Group 105"/>
            <p:cNvGrpSpPr/>
            <p:nvPr/>
          </p:nvGrpSpPr>
          <p:grpSpPr>
            <a:xfrm>
              <a:off x="5791080" y="422003"/>
              <a:ext cx="467759" cy="416707"/>
              <a:chOff x="-61080" y="-73260"/>
              <a:chExt cx="467759" cy="416707"/>
            </a:xfrm>
          </p:grpSpPr>
          <p:sp>
            <p:nvSpPr>
              <p:cNvPr id="107" name="Freeform 106"/>
              <p:cNvSpPr/>
              <p:nvPr/>
            </p:nvSpPr>
            <p:spPr>
              <a:xfrm rot="5400000">
                <a:off x="2547" y="-60686"/>
                <a:ext cx="340506" cy="467759"/>
              </a:xfrm>
              <a:custGeom>
                <a:avLst/>
                <a:gdLst>
                  <a:gd name="connsiteX0" fmla="*/ 1 w 284694"/>
                  <a:gd name="connsiteY0" fmla="*/ 0 h 391089"/>
                  <a:gd name="connsiteX1" fmla="*/ 284694 w 284694"/>
                  <a:gd name="connsiteY1" fmla="*/ 0 h 391089"/>
                  <a:gd name="connsiteX2" fmla="*/ 142348 w 284694"/>
                  <a:gd name="connsiteY2" fmla="*/ 195544 h 391089"/>
                  <a:gd name="connsiteX3" fmla="*/ 0 w 284694"/>
                  <a:gd name="connsiteY3" fmla="*/ 391089 h 391089"/>
                  <a:gd name="connsiteX4" fmla="*/ 142347 w 284694"/>
                  <a:gd name="connsiteY4" fmla="*/ 195545 h 391089"/>
                  <a:gd name="connsiteX5" fmla="*/ 284693 w 284694"/>
                  <a:gd name="connsiteY5" fmla="*/ 391089 h 391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4694" h="391089">
                    <a:moveTo>
                      <a:pt x="1" y="0"/>
                    </a:moveTo>
                    <a:lnTo>
                      <a:pt x="284694" y="0"/>
                    </a:lnTo>
                    <a:lnTo>
                      <a:pt x="142348" y="195544"/>
                    </a:lnTo>
                    <a:close/>
                    <a:moveTo>
                      <a:pt x="0" y="391089"/>
                    </a:moveTo>
                    <a:lnTo>
                      <a:pt x="142347" y="195545"/>
                    </a:lnTo>
                    <a:lnTo>
                      <a:pt x="284693" y="391089"/>
                    </a:lnTo>
                    <a:close/>
                  </a:path>
                </a:pathLst>
              </a:cu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8" name="Straight Arrow Connector 107"/>
              <p:cNvCxnSpPr/>
              <p:nvPr/>
            </p:nvCxnSpPr>
            <p:spPr>
              <a:xfrm>
                <a:off x="-21510" y="-73260"/>
                <a:ext cx="388620" cy="0"/>
              </a:xfrm>
              <a:prstGeom prst="straightConnector1">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grpSp>
      <p:grpSp>
        <p:nvGrpSpPr>
          <p:cNvPr id="4" name="Group 3"/>
          <p:cNvGrpSpPr/>
          <p:nvPr/>
        </p:nvGrpSpPr>
        <p:grpSpPr>
          <a:xfrm>
            <a:off x="2363670" y="1291301"/>
            <a:ext cx="6378800" cy="569812"/>
            <a:chOff x="2363670" y="1291301"/>
            <a:chExt cx="6378800" cy="569812"/>
          </a:xfrm>
        </p:grpSpPr>
        <p:grpSp>
          <p:nvGrpSpPr>
            <p:cNvPr id="51" name="Group 50"/>
            <p:cNvGrpSpPr/>
            <p:nvPr/>
          </p:nvGrpSpPr>
          <p:grpSpPr>
            <a:xfrm flipH="1">
              <a:off x="3687324" y="1511437"/>
              <a:ext cx="4611148" cy="129540"/>
              <a:chOff x="2582455" y="530859"/>
              <a:chExt cx="4611148" cy="129540"/>
            </a:xfrm>
          </p:grpSpPr>
          <p:cxnSp>
            <p:nvCxnSpPr>
              <p:cNvPr id="52" name="Straight Arrow Connector 51"/>
              <p:cNvCxnSpPr/>
              <p:nvPr/>
            </p:nvCxnSpPr>
            <p:spPr>
              <a:xfrm flipH="1">
                <a:off x="2582455" y="660399"/>
                <a:ext cx="4611148" cy="0"/>
              </a:xfrm>
              <a:prstGeom prst="straightConnector1">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flipH="1">
                <a:off x="4249265" y="595629"/>
                <a:ext cx="2944338" cy="0"/>
              </a:xfrm>
              <a:prstGeom prst="straightConnector1">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a:xfrm flipH="1">
                <a:off x="5862176" y="530859"/>
                <a:ext cx="1331427" cy="0"/>
              </a:xfrm>
              <a:prstGeom prst="straightConnector1">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grpSp>
        <p:sp>
          <p:nvSpPr>
            <p:cNvPr id="55" name="Rounded Rectangle 54"/>
            <p:cNvSpPr/>
            <p:nvPr/>
          </p:nvSpPr>
          <p:spPr>
            <a:xfrm flipH="1">
              <a:off x="2363670" y="1291301"/>
              <a:ext cx="1355165" cy="569812"/>
            </a:xfrm>
            <a:prstGeom prst="roundRect">
              <a:avLst/>
            </a:prstGeom>
            <a:solidFill>
              <a:schemeClr val="bg1"/>
            </a:solidFill>
            <a:ln w="381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dirty="0" smtClean="0">
                  <a:solidFill>
                    <a:srgbClr val="23642F"/>
                  </a:solidFill>
                  <a:latin typeface="Consolas" panose="020B0609020204030204" pitchFamily="49" charset="0"/>
                  <a:cs typeface="Consolas" panose="020B0609020204030204" pitchFamily="49" charset="0"/>
                </a:rPr>
                <a:t>Client</a:t>
              </a:r>
            </a:p>
            <a:p>
              <a:pPr algn="ctr"/>
              <a:r>
                <a:rPr lang="en-US" sz="2000" dirty="0" smtClean="0">
                  <a:solidFill>
                    <a:srgbClr val="23642F"/>
                  </a:solidFill>
                  <a:latin typeface="Consolas" panose="020B0609020204030204" pitchFamily="49" charset="0"/>
                  <a:cs typeface="Consolas" panose="020B0609020204030204" pitchFamily="49" charset="0"/>
                </a:rPr>
                <a:t>Protocols</a:t>
              </a:r>
              <a:endParaRPr lang="en-US" sz="2000" dirty="0">
                <a:solidFill>
                  <a:srgbClr val="23642F"/>
                </a:solidFill>
                <a:latin typeface="Consolas" panose="020B0609020204030204" pitchFamily="49" charset="0"/>
                <a:cs typeface="Consolas" panose="020B0609020204030204" pitchFamily="49" charset="0"/>
              </a:endParaRPr>
            </a:p>
          </p:txBody>
        </p:sp>
        <p:sp>
          <p:nvSpPr>
            <p:cNvPr id="56" name="Rounded Rectangle 55"/>
            <p:cNvSpPr/>
            <p:nvPr/>
          </p:nvSpPr>
          <p:spPr>
            <a:xfrm flipH="1">
              <a:off x="8344691" y="1489874"/>
              <a:ext cx="397779" cy="166266"/>
            </a:xfrm>
            <a:prstGeom prst="roundRect">
              <a:avLst/>
            </a:prstGeom>
            <a:solidFill>
              <a:schemeClr val="bg1"/>
            </a:solidFill>
            <a:ln w="381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57" name="Rounded Rectangle 56"/>
            <p:cNvSpPr/>
            <p:nvPr/>
          </p:nvSpPr>
          <p:spPr>
            <a:xfrm flipH="1">
              <a:off x="6698265" y="1489874"/>
              <a:ext cx="397779" cy="166266"/>
            </a:xfrm>
            <a:prstGeom prst="roundRect">
              <a:avLst/>
            </a:prstGeom>
            <a:solidFill>
              <a:schemeClr val="bg1"/>
            </a:solidFill>
            <a:ln w="381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58" name="Rounded Rectangle 57"/>
            <p:cNvSpPr/>
            <p:nvPr/>
          </p:nvSpPr>
          <p:spPr>
            <a:xfrm flipH="1">
              <a:off x="5036314" y="1489874"/>
              <a:ext cx="397779" cy="166266"/>
            </a:xfrm>
            <a:prstGeom prst="roundRect">
              <a:avLst/>
            </a:prstGeom>
            <a:solidFill>
              <a:schemeClr val="bg1"/>
            </a:solidFill>
            <a:ln w="381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pic>
        <p:nvPicPr>
          <p:cNvPr id="112" name="Picture 111" descr="fig1.pdf"/>
          <p:cNvPicPr>
            <a:picLocks noChangeAspect="1"/>
          </p:cNvPicPr>
          <p:nvPr/>
        </p:nvPicPr>
        <p:blipFill rotWithShape="1">
          <a:blip r:embed="rId3">
            <a:extLst>
              <a:ext uri="{28A0092B-C50C-407E-A947-70E740481C1C}">
                <a14:useLocalDpi xmlns:a14="http://schemas.microsoft.com/office/drawing/2010/main" val="0"/>
              </a:ext>
            </a:extLst>
          </a:blip>
          <a:srcRect l="27670" r="13501" b="73027"/>
          <a:stretch/>
        </p:blipFill>
        <p:spPr>
          <a:xfrm>
            <a:off x="1594967" y="3565492"/>
            <a:ext cx="1739750" cy="692178"/>
          </a:xfrm>
          <a:prstGeom prst="rect">
            <a:avLst/>
          </a:prstGeom>
          <a:ln>
            <a:noFill/>
          </a:ln>
        </p:spPr>
        <p:style>
          <a:lnRef idx="2">
            <a:schemeClr val="dk1"/>
          </a:lnRef>
          <a:fillRef idx="1">
            <a:schemeClr val="lt1"/>
          </a:fillRef>
          <a:effectRef idx="0">
            <a:schemeClr val="dk1"/>
          </a:effectRef>
          <a:fontRef idx="minor">
            <a:schemeClr val="dk1"/>
          </a:fontRef>
        </p:style>
      </p:pic>
      <p:pic>
        <p:nvPicPr>
          <p:cNvPr id="120" name="Picture 119"/>
          <p:cNvPicPr>
            <a:picLocks noChangeAspect="1"/>
          </p:cNvPicPr>
          <p:nvPr/>
        </p:nvPicPr>
        <p:blipFill rotWithShape="1">
          <a:blip r:embed="rId4">
            <a:extLst>
              <a:ext uri="{28A0092B-C50C-407E-A947-70E740481C1C}">
                <a14:useLocalDpi xmlns:a14="http://schemas.microsoft.com/office/drawing/2010/main" val="0"/>
              </a:ext>
            </a:extLst>
          </a:blip>
          <a:srcRect l="23220" t="-501" r="8434" b="73295"/>
          <a:stretch/>
        </p:blipFill>
        <p:spPr>
          <a:xfrm>
            <a:off x="1415370" y="3521356"/>
            <a:ext cx="2192528" cy="755829"/>
          </a:xfrm>
          <a:prstGeom prst="rect">
            <a:avLst/>
          </a:prstGeom>
          <a:ln>
            <a:noFill/>
          </a:ln>
        </p:spPr>
        <p:style>
          <a:lnRef idx="2">
            <a:schemeClr val="dk1"/>
          </a:lnRef>
          <a:fillRef idx="1">
            <a:schemeClr val="lt1"/>
          </a:fillRef>
          <a:effectRef idx="0">
            <a:schemeClr val="dk1"/>
          </a:effectRef>
          <a:fontRef idx="minor">
            <a:schemeClr val="dk1"/>
          </a:fontRef>
        </p:style>
      </p:pic>
      <p:sp>
        <p:nvSpPr>
          <p:cNvPr id="2" name="Slide Number Placeholder 1"/>
          <p:cNvSpPr>
            <a:spLocks noGrp="1"/>
          </p:cNvSpPr>
          <p:nvPr>
            <p:ph type="sldNum" sz="quarter" idx="12"/>
          </p:nvPr>
        </p:nvSpPr>
        <p:spPr/>
        <p:txBody>
          <a:bodyPr/>
          <a:lstStyle/>
          <a:p>
            <a:fld id="{D431E30F-8439-471B-9257-EDD8E85CDBC8}" type="slidenum">
              <a:rPr lang="en-US" smtClean="0"/>
              <a:t>16</a:t>
            </a:fld>
            <a:endParaRPr lang="en-US"/>
          </a:p>
        </p:txBody>
      </p:sp>
    </p:spTree>
    <p:extLst>
      <p:ext uri="{BB962C8B-B14F-4D97-AF65-F5344CB8AC3E}">
        <p14:creationId xmlns:p14="http://schemas.microsoft.com/office/powerpoint/2010/main" val="1189263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2" presetClass="entr" presetSubtype="8" fill="hold" nodeType="afterEffect">
                                  <p:stCondLst>
                                    <p:cond delay="0"/>
                                  </p:stCondLst>
                                  <p:childTnLst>
                                    <p:set>
                                      <p:cBhvr>
                                        <p:cTn id="6" dur="1" fill="hold">
                                          <p:stCondLst>
                                            <p:cond delay="0"/>
                                          </p:stCondLst>
                                        </p:cTn>
                                        <p:tgtEl>
                                          <p:spTgt spid="119"/>
                                        </p:tgtEl>
                                        <p:attrNameLst>
                                          <p:attrName>style.visibility</p:attrName>
                                        </p:attrNameLst>
                                      </p:cBhvr>
                                      <p:to>
                                        <p:strVal val="visible"/>
                                      </p:to>
                                    </p:set>
                                    <p:animEffect transition="in" filter="wipe(left)">
                                      <p:cBhvr>
                                        <p:cTn id="7" dur="250"/>
                                        <p:tgtEl>
                                          <p:spTgt spid="119"/>
                                        </p:tgtEl>
                                      </p:cBhvr>
                                    </p:animEffect>
                                  </p:childTnLst>
                                </p:cTn>
                              </p:par>
                            </p:childTnLst>
                          </p:cTn>
                        </p:par>
                        <p:par>
                          <p:cTn id="8" fill="hold">
                            <p:stCondLst>
                              <p:cond delay="750"/>
                            </p:stCondLst>
                            <p:childTnLst>
                              <p:par>
                                <p:cTn id="9" presetID="10" presetClass="exit" presetSubtype="0" fill="hold" nodeType="afterEffect">
                                  <p:stCondLst>
                                    <p:cond delay="0"/>
                                  </p:stCondLst>
                                  <p:childTnLst>
                                    <p:animEffect transition="out" filter="fade">
                                      <p:cBhvr>
                                        <p:cTn id="10" dur="250"/>
                                        <p:tgtEl>
                                          <p:spTgt spid="112"/>
                                        </p:tgtEl>
                                      </p:cBhvr>
                                    </p:animEffect>
                                    <p:set>
                                      <p:cBhvr>
                                        <p:cTn id="11" dur="1" fill="hold">
                                          <p:stCondLst>
                                            <p:cond delay="249"/>
                                          </p:stCondLst>
                                        </p:cTn>
                                        <p:tgtEl>
                                          <p:spTgt spid="112"/>
                                        </p:tgtEl>
                                        <p:attrNameLst>
                                          <p:attrName>style.visibility</p:attrName>
                                        </p:attrNameLst>
                                      </p:cBhvr>
                                      <p:to>
                                        <p:strVal val="hidden"/>
                                      </p:to>
                                    </p:se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20"/>
                                        </p:tgtEl>
                                        <p:attrNameLst>
                                          <p:attrName>style.visibility</p:attrName>
                                        </p:attrNameLst>
                                      </p:cBhvr>
                                      <p:to>
                                        <p:strVal val="visible"/>
                                      </p:to>
                                    </p:set>
                                    <p:animEffect transition="in" filter="fade">
                                      <p:cBhvr>
                                        <p:cTn id="15" dur="250"/>
                                        <p:tgtEl>
                                          <p:spTgt spid="12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04"/>
                                        </p:tgtEl>
                                        <p:attrNameLst>
                                          <p:attrName>style.visibility</p:attrName>
                                        </p:attrNameLst>
                                      </p:cBhvr>
                                      <p:to>
                                        <p:strVal val="visible"/>
                                      </p:to>
                                    </p:set>
                                    <p:animEffect transition="in" filter="fade">
                                      <p:cBhvr>
                                        <p:cTn id="25" dur="500"/>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1" name="Group 110"/>
          <p:cNvGrpSpPr/>
          <p:nvPr/>
        </p:nvGrpSpPr>
        <p:grpSpPr>
          <a:xfrm>
            <a:off x="684743" y="3472132"/>
            <a:ext cx="2982478" cy="2596323"/>
            <a:chOff x="2155601" y="1578475"/>
            <a:chExt cx="3736038" cy="3252317"/>
          </a:xfrm>
        </p:grpSpPr>
        <p:sp>
          <p:nvSpPr>
            <p:cNvPr id="113" name="Rectangle 112"/>
            <p:cNvSpPr/>
            <p:nvPr/>
          </p:nvSpPr>
          <p:spPr>
            <a:xfrm>
              <a:off x="2155601" y="1578475"/>
              <a:ext cx="3736038" cy="325231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4" name="Group 113"/>
            <p:cNvGrpSpPr/>
            <p:nvPr/>
          </p:nvGrpSpPr>
          <p:grpSpPr>
            <a:xfrm>
              <a:off x="2170841" y="1607045"/>
              <a:ext cx="3686167" cy="3190118"/>
              <a:chOff x="1164801" y="2536506"/>
              <a:chExt cx="3686167" cy="3190118"/>
            </a:xfrm>
          </p:grpSpPr>
          <p:pic>
            <p:nvPicPr>
              <p:cNvPr id="115" name="Picture 114" descr="fig1.pdf"/>
              <p:cNvPicPr>
                <a:picLocks noChangeAspect="1"/>
              </p:cNvPicPr>
              <p:nvPr/>
            </p:nvPicPr>
            <p:blipFill rotWithShape="1">
              <a:blip r:embed="rId3">
                <a:extLst>
                  <a:ext uri="{28A0092B-C50C-407E-A947-70E740481C1C}">
                    <a14:useLocalDpi xmlns:a14="http://schemas.microsoft.com/office/drawing/2010/main" val="0"/>
                  </a:ext>
                </a:extLst>
              </a:blip>
              <a:srcRect r="80877" b="13113"/>
              <a:stretch/>
            </p:blipFill>
            <p:spPr>
              <a:xfrm>
                <a:off x="1164801" y="2536506"/>
                <a:ext cx="708449" cy="2793024"/>
              </a:xfrm>
              <a:prstGeom prst="rect">
                <a:avLst/>
              </a:prstGeom>
              <a:ln>
                <a:noFill/>
              </a:ln>
            </p:spPr>
            <p:style>
              <a:lnRef idx="2">
                <a:schemeClr val="dk1"/>
              </a:lnRef>
              <a:fillRef idx="1">
                <a:schemeClr val="lt1"/>
              </a:fillRef>
              <a:effectRef idx="0">
                <a:schemeClr val="dk1"/>
              </a:effectRef>
              <a:fontRef idx="minor">
                <a:schemeClr val="dk1"/>
              </a:fontRef>
            </p:style>
          </p:pic>
          <p:pic>
            <p:nvPicPr>
              <p:cNvPr id="116" name="Picture 115" descr="fig1.pdf"/>
              <p:cNvPicPr>
                <a:picLocks noChangeAspect="1"/>
              </p:cNvPicPr>
              <p:nvPr/>
            </p:nvPicPr>
            <p:blipFill rotWithShape="1">
              <a:blip r:embed="rId3">
                <a:extLst>
                  <a:ext uri="{28A0092B-C50C-407E-A947-70E740481C1C}">
                    <a14:useLocalDpi xmlns:a14="http://schemas.microsoft.com/office/drawing/2010/main" val="0"/>
                  </a:ext>
                </a:extLst>
              </a:blip>
              <a:srcRect l="16879" t="84233" r="495" b="96"/>
              <a:stretch/>
            </p:blipFill>
            <p:spPr>
              <a:xfrm>
                <a:off x="1790054" y="5222875"/>
                <a:ext cx="3060914" cy="503749"/>
              </a:xfrm>
              <a:prstGeom prst="rect">
                <a:avLst/>
              </a:prstGeom>
              <a:ln>
                <a:noFill/>
              </a:ln>
            </p:spPr>
            <p:style>
              <a:lnRef idx="2">
                <a:schemeClr val="dk1"/>
              </a:lnRef>
              <a:fillRef idx="1">
                <a:schemeClr val="lt1"/>
              </a:fillRef>
              <a:effectRef idx="0">
                <a:schemeClr val="dk1"/>
              </a:effectRef>
              <a:fontRef idx="minor">
                <a:schemeClr val="dk1"/>
              </a:fontRef>
            </p:style>
          </p:pic>
        </p:grpSp>
      </p:grpSp>
      <p:pic>
        <p:nvPicPr>
          <p:cNvPr id="110" name="Picture 109" descr="fig1.pdf"/>
          <p:cNvPicPr>
            <a:picLocks noChangeAspect="1"/>
          </p:cNvPicPr>
          <p:nvPr/>
        </p:nvPicPr>
        <p:blipFill rotWithShape="1">
          <a:blip r:embed="rId3">
            <a:extLst>
              <a:ext uri="{28A0092B-C50C-407E-A947-70E740481C1C}">
                <a14:useLocalDpi xmlns:a14="http://schemas.microsoft.com/office/drawing/2010/main" val="0"/>
              </a:ext>
            </a:extLst>
          </a:blip>
          <a:srcRect l="19044" t="31457" r="3576" b="15636"/>
          <a:stretch/>
        </p:blipFill>
        <p:spPr>
          <a:xfrm>
            <a:off x="1262464" y="4278624"/>
            <a:ext cx="2288878" cy="1357964"/>
          </a:xfrm>
          <a:prstGeom prst="rect">
            <a:avLst/>
          </a:prstGeom>
          <a:ln>
            <a:noFill/>
          </a:ln>
        </p:spPr>
        <p:style>
          <a:lnRef idx="2">
            <a:schemeClr val="dk1"/>
          </a:lnRef>
          <a:fillRef idx="1">
            <a:schemeClr val="lt1"/>
          </a:fillRef>
          <a:effectRef idx="0">
            <a:schemeClr val="dk1"/>
          </a:effectRef>
          <a:fontRef idx="minor">
            <a:schemeClr val="dk1"/>
          </a:fontRef>
        </p:style>
      </p:pic>
      <p:pic>
        <p:nvPicPr>
          <p:cNvPr id="119" name="Picture 118"/>
          <p:cNvPicPr>
            <a:picLocks noChangeAspect="1"/>
          </p:cNvPicPr>
          <p:nvPr/>
        </p:nvPicPr>
        <p:blipFill rotWithShape="1">
          <a:blip r:embed="rId4">
            <a:extLst>
              <a:ext uri="{28A0092B-C50C-407E-A947-70E740481C1C}">
                <a14:useLocalDpi xmlns:a14="http://schemas.microsoft.com/office/drawing/2010/main" val="0"/>
              </a:ext>
            </a:extLst>
          </a:blip>
          <a:srcRect l="19414" t="29041" r="3530" b="15415"/>
          <a:stretch/>
        </p:blipFill>
        <p:spPr>
          <a:xfrm>
            <a:off x="1268449" y="4193699"/>
            <a:ext cx="2313732" cy="1444328"/>
          </a:xfrm>
          <a:prstGeom prst="rect">
            <a:avLst/>
          </a:prstGeom>
          <a:ln>
            <a:noFill/>
          </a:ln>
        </p:spPr>
        <p:style>
          <a:lnRef idx="2">
            <a:schemeClr val="dk1"/>
          </a:lnRef>
          <a:fillRef idx="1">
            <a:schemeClr val="lt1"/>
          </a:fillRef>
          <a:effectRef idx="0">
            <a:schemeClr val="dk1"/>
          </a:effectRef>
          <a:fontRef idx="minor">
            <a:schemeClr val="dk1"/>
          </a:fontRef>
        </p:style>
      </p:pic>
      <p:sp>
        <p:nvSpPr>
          <p:cNvPr id="12" name="Content Placeholder 2"/>
          <p:cNvSpPr txBox="1">
            <a:spLocks/>
          </p:cNvSpPr>
          <p:nvPr/>
        </p:nvSpPr>
        <p:spPr>
          <a:xfrm>
            <a:off x="515874" y="3401569"/>
            <a:ext cx="7886700" cy="2068195"/>
          </a:xfrm>
          <a:prstGeom prst="rect">
            <a:avLst/>
          </a:prstGeom>
        </p:spPr>
        <p:txBody>
          <a:bodyPr vert="horz" lIns="91440" tIns="45720" rIns="91440" bIns="45720" rtlCol="0">
            <a:normAutofit/>
          </a:bodyPr>
          <a:lstStyle>
            <a:lvl1pPr marL="228591" indent="-228591" algn="l" defTabSz="91436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73" indent="-228591" algn="l" defTabSz="91436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54" indent="-228591" algn="l" defTabSz="91436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36"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18"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99"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81"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63"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45"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dirty="0" smtClean="0"/>
          </a:p>
        </p:txBody>
      </p:sp>
      <p:grpSp>
        <p:nvGrpSpPr>
          <p:cNvPr id="84" name="Group 83"/>
          <p:cNvGrpSpPr/>
          <p:nvPr/>
        </p:nvGrpSpPr>
        <p:grpSpPr>
          <a:xfrm>
            <a:off x="4765983" y="1712457"/>
            <a:ext cx="4314009" cy="2607290"/>
            <a:chOff x="1548167" y="890653"/>
            <a:chExt cx="4314009" cy="2607290"/>
          </a:xfrm>
        </p:grpSpPr>
        <p:sp>
          <p:nvSpPr>
            <p:cNvPr id="95" name="Rounded Rectangle 94"/>
            <p:cNvSpPr/>
            <p:nvPr/>
          </p:nvSpPr>
          <p:spPr>
            <a:xfrm>
              <a:off x="1854940" y="1157145"/>
              <a:ext cx="4007236" cy="2340798"/>
            </a:xfrm>
            <a:prstGeom prst="roundRect">
              <a:avLst>
                <a:gd name="adj" fmla="val 3932"/>
              </a:avLst>
            </a:prstGeom>
            <a:solidFill>
              <a:schemeClr val="bg1">
                <a:alpha val="25000"/>
              </a:schemeClr>
            </a:solidFill>
            <a:ln w="57150">
              <a:solidFill>
                <a:schemeClr val="tx1">
                  <a:alpha val="2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96" name="Rounded Rectangle 95"/>
            <p:cNvSpPr/>
            <p:nvPr/>
          </p:nvSpPr>
          <p:spPr>
            <a:xfrm>
              <a:off x="1752683" y="1068315"/>
              <a:ext cx="4007236" cy="2340798"/>
            </a:xfrm>
            <a:prstGeom prst="roundRect">
              <a:avLst>
                <a:gd name="adj" fmla="val 3932"/>
              </a:avLst>
            </a:prstGeom>
            <a:solidFill>
              <a:schemeClr val="bg1">
                <a:alpha val="50000"/>
              </a:schemeClr>
            </a:solidFill>
            <a:ln w="571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97" name="Rounded Rectangle 96"/>
            <p:cNvSpPr/>
            <p:nvPr/>
          </p:nvSpPr>
          <p:spPr>
            <a:xfrm>
              <a:off x="1650425" y="979484"/>
              <a:ext cx="4007236" cy="2340798"/>
            </a:xfrm>
            <a:prstGeom prst="roundRect">
              <a:avLst>
                <a:gd name="adj" fmla="val 3932"/>
              </a:avLst>
            </a:prstGeom>
            <a:solidFill>
              <a:schemeClr val="bg1">
                <a:alpha val="75000"/>
              </a:schemeClr>
            </a:solidFill>
            <a:ln w="57150">
              <a:solidFill>
                <a:schemeClr val="tx1">
                  <a:alpha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nvGrpSpPr>
            <p:cNvPr id="98" name="Group 97"/>
            <p:cNvGrpSpPr/>
            <p:nvPr/>
          </p:nvGrpSpPr>
          <p:grpSpPr>
            <a:xfrm>
              <a:off x="1548167" y="890653"/>
              <a:ext cx="4007236" cy="2340798"/>
              <a:chOff x="1548167" y="890653"/>
              <a:chExt cx="4007236" cy="2340798"/>
            </a:xfrm>
          </p:grpSpPr>
          <p:sp>
            <p:nvSpPr>
              <p:cNvPr id="99" name="Rounded Rectangle 98"/>
              <p:cNvSpPr/>
              <p:nvPr/>
            </p:nvSpPr>
            <p:spPr>
              <a:xfrm>
                <a:off x="1548167" y="890653"/>
                <a:ext cx="4007236" cy="2340798"/>
              </a:xfrm>
              <a:prstGeom prst="roundRect">
                <a:avLst>
                  <a:gd name="adj" fmla="val 3932"/>
                </a:avLst>
              </a:prstGeom>
              <a:solidFill>
                <a:schemeClr val="bg1"/>
              </a:solidFill>
              <a:ln w="571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cxnSp>
            <p:nvCxnSpPr>
              <p:cNvPr id="100" name="Straight Connector 99"/>
              <p:cNvCxnSpPr/>
              <p:nvPr/>
            </p:nvCxnSpPr>
            <p:spPr>
              <a:xfrm flipV="1">
                <a:off x="1548167" y="2515146"/>
                <a:ext cx="3999266" cy="4309"/>
              </a:xfrm>
              <a:prstGeom prst="line">
                <a:avLst/>
              </a:prstGeom>
              <a:ln w="571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sp>
        <p:nvSpPr>
          <p:cNvPr id="85" name="Can 84"/>
          <p:cNvSpPr/>
          <p:nvPr/>
        </p:nvSpPr>
        <p:spPr>
          <a:xfrm>
            <a:off x="6221344" y="3424559"/>
            <a:ext cx="904605" cy="528273"/>
          </a:xfrm>
          <a:prstGeom prst="can">
            <a:avLst>
              <a:gd name="adj" fmla="val 50000"/>
            </a:avLst>
          </a:prstGeom>
          <a:solidFill>
            <a:schemeClr val="accent4">
              <a:lumMod val="20000"/>
              <a:lumOff val="8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109728" rIns="0" bIns="0" rtlCol="0" anchor="ctr"/>
          <a:lstStyle/>
          <a:p>
            <a:pPr algn="ctr"/>
            <a:endParaRPr lang="en-US" sz="2000" b="1" dirty="0">
              <a:solidFill>
                <a:schemeClr val="tx1"/>
              </a:solidFill>
            </a:endParaRPr>
          </a:p>
        </p:txBody>
      </p:sp>
      <p:sp>
        <p:nvSpPr>
          <p:cNvPr id="86" name="Freeform 85"/>
          <p:cNvSpPr/>
          <p:nvPr/>
        </p:nvSpPr>
        <p:spPr>
          <a:xfrm>
            <a:off x="5221714" y="1415193"/>
            <a:ext cx="1334091" cy="2158288"/>
          </a:xfrm>
          <a:custGeom>
            <a:avLst/>
            <a:gdLst>
              <a:gd name="connsiteX0" fmla="*/ 0 w 1206230"/>
              <a:gd name="connsiteY0" fmla="*/ 0 h 2782111"/>
              <a:gd name="connsiteX1" fmla="*/ 0 w 1206230"/>
              <a:gd name="connsiteY1" fmla="*/ 710119 h 2782111"/>
              <a:gd name="connsiteX2" fmla="*/ 573932 w 1206230"/>
              <a:gd name="connsiteY2" fmla="*/ 1206230 h 2782111"/>
              <a:gd name="connsiteX3" fmla="*/ 573932 w 1206230"/>
              <a:gd name="connsiteY3" fmla="*/ 1682885 h 2782111"/>
              <a:gd name="connsiteX4" fmla="*/ 1206230 w 1206230"/>
              <a:gd name="connsiteY4" fmla="*/ 1682885 h 2782111"/>
              <a:gd name="connsiteX5" fmla="*/ 1206230 w 1206230"/>
              <a:gd name="connsiteY5" fmla="*/ 2782111 h 2782111"/>
              <a:gd name="connsiteX0" fmla="*/ 0 w 1206230"/>
              <a:gd name="connsiteY0" fmla="*/ 0 h 2782111"/>
              <a:gd name="connsiteX1" fmla="*/ 0 w 1206230"/>
              <a:gd name="connsiteY1" fmla="*/ 710119 h 2782111"/>
              <a:gd name="connsiteX2" fmla="*/ 573932 w 1206230"/>
              <a:gd name="connsiteY2" fmla="*/ 1206230 h 2782111"/>
              <a:gd name="connsiteX3" fmla="*/ 1206230 w 1206230"/>
              <a:gd name="connsiteY3" fmla="*/ 1682885 h 2782111"/>
              <a:gd name="connsiteX4" fmla="*/ 1206230 w 1206230"/>
              <a:gd name="connsiteY4" fmla="*/ 2782111 h 2782111"/>
              <a:gd name="connsiteX0" fmla="*/ 0 w 1206230"/>
              <a:gd name="connsiteY0" fmla="*/ 0 h 2782111"/>
              <a:gd name="connsiteX1" fmla="*/ 0 w 1206230"/>
              <a:gd name="connsiteY1" fmla="*/ 710119 h 2782111"/>
              <a:gd name="connsiteX2" fmla="*/ 1206230 w 1206230"/>
              <a:gd name="connsiteY2" fmla="*/ 1682885 h 2782111"/>
              <a:gd name="connsiteX3" fmla="*/ 1206230 w 1206230"/>
              <a:gd name="connsiteY3" fmla="*/ 2782111 h 2782111"/>
            </a:gdLst>
            <a:ahLst/>
            <a:cxnLst>
              <a:cxn ang="0">
                <a:pos x="connsiteX0" y="connsiteY0"/>
              </a:cxn>
              <a:cxn ang="0">
                <a:pos x="connsiteX1" y="connsiteY1"/>
              </a:cxn>
              <a:cxn ang="0">
                <a:pos x="connsiteX2" y="connsiteY2"/>
              </a:cxn>
              <a:cxn ang="0">
                <a:pos x="connsiteX3" y="connsiteY3"/>
              </a:cxn>
            </a:cxnLst>
            <a:rect l="l" t="t" r="r" b="b"/>
            <a:pathLst>
              <a:path w="1206230" h="2782111">
                <a:moveTo>
                  <a:pt x="0" y="0"/>
                </a:moveTo>
                <a:lnTo>
                  <a:pt x="0" y="710119"/>
                </a:lnTo>
                <a:lnTo>
                  <a:pt x="1206230" y="1682885"/>
                </a:lnTo>
                <a:lnTo>
                  <a:pt x="1206230" y="2782111"/>
                </a:lnTo>
              </a:path>
            </a:pathLst>
          </a:custGeom>
          <a:noFill/>
          <a:ln w="57150">
            <a:solidFill>
              <a:schemeClr val="tx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88" name="Freeform 87"/>
          <p:cNvSpPr/>
          <p:nvPr/>
        </p:nvSpPr>
        <p:spPr>
          <a:xfrm>
            <a:off x="6795587" y="1415193"/>
            <a:ext cx="1762714" cy="2156477"/>
          </a:xfrm>
          <a:custGeom>
            <a:avLst/>
            <a:gdLst>
              <a:gd name="connsiteX0" fmla="*/ 1780162 w 1780162"/>
              <a:gd name="connsiteY0" fmla="*/ 0 h 2821022"/>
              <a:gd name="connsiteX1" fmla="*/ 1780162 w 1780162"/>
              <a:gd name="connsiteY1" fmla="*/ 1391056 h 2821022"/>
              <a:gd name="connsiteX2" fmla="*/ 0 w 1780162"/>
              <a:gd name="connsiteY2" fmla="*/ 1391056 h 2821022"/>
              <a:gd name="connsiteX3" fmla="*/ 0 w 1780162"/>
              <a:gd name="connsiteY3" fmla="*/ 2821022 h 2821022"/>
            </a:gdLst>
            <a:ahLst/>
            <a:cxnLst>
              <a:cxn ang="0">
                <a:pos x="connsiteX0" y="connsiteY0"/>
              </a:cxn>
              <a:cxn ang="0">
                <a:pos x="connsiteX1" y="connsiteY1"/>
              </a:cxn>
              <a:cxn ang="0">
                <a:pos x="connsiteX2" y="connsiteY2"/>
              </a:cxn>
              <a:cxn ang="0">
                <a:pos x="connsiteX3" y="connsiteY3"/>
              </a:cxn>
            </a:cxnLst>
            <a:rect l="l" t="t" r="r" b="b"/>
            <a:pathLst>
              <a:path w="1780162" h="2821022">
                <a:moveTo>
                  <a:pt x="1780162" y="0"/>
                </a:moveTo>
                <a:lnTo>
                  <a:pt x="1780162" y="1391056"/>
                </a:lnTo>
                <a:lnTo>
                  <a:pt x="0" y="1391056"/>
                </a:lnTo>
                <a:lnTo>
                  <a:pt x="0" y="2821022"/>
                </a:lnTo>
              </a:path>
            </a:pathLst>
          </a:custGeom>
          <a:noFill/>
          <a:ln w="57150">
            <a:solidFill>
              <a:schemeClr val="tx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77" name="Freeform 76"/>
          <p:cNvSpPr/>
          <p:nvPr/>
        </p:nvSpPr>
        <p:spPr>
          <a:xfrm>
            <a:off x="6668917" y="1415193"/>
            <a:ext cx="225954" cy="2156477"/>
          </a:xfrm>
          <a:custGeom>
            <a:avLst/>
            <a:gdLst>
              <a:gd name="connsiteX0" fmla="*/ 330740 w 330740"/>
              <a:gd name="connsiteY0" fmla="*/ 0 h 2821022"/>
              <a:gd name="connsiteX1" fmla="*/ 0 w 330740"/>
              <a:gd name="connsiteY1" fmla="*/ 651753 h 2821022"/>
              <a:gd name="connsiteX2" fmla="*/ 0 w 330740"/>
              <a:gd name="connsiteY2" fmla="*/ 2821022 h 2821022"/>
            </a:gdLst>
            <a:ahLst/>
            <a:cxnLst>
              <a:cxn ang="0">
                <a:pos x="connsiteX0" y="connsiteY0"/>
              </a:cxn>
              <a:cxn ang="0">
                <a:pos x="connsiteX1" y="connsiteY1"/>
              </a:cxn>
              <a:cxn ang="0">
                <a:pos x="connsiteX2" y="connsiteY2"/>
              </a:cxn>
            </a:cxnLst>
            <a:rect l="l" t="t" r="r" b="b"/>
            <a:pathLst>
              <a:path w="330740" h="2821022">
                <a:moveTo>
                  <a:pt x="330740" y="0"/>
                </a:moveTo>
                <a:lnTo>
                  <a:pt x="0" y="651753"/>
                </a:lnTo>
                <a:lnTo>
                  <a:pt x="0" y="2821022"/>
                </a:lnTo>
              </a:path>
            </a:pathLst>
          </a:custGeom>
          <a:noFill/>
          <a:ln w="57150">
            <a:solidFill>
              <a:schemeClr val="tx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89" name="Rounded Rectangle 88"/>
          <p:cNvSpPr/>
          <p:nvPr/>
        </p:nvSpPr>
        <p:spPr>
          <a:xfrm>
            <a:off x="4885478" y="1809421"/>
            <a:ext cx="1056938" cy="641696"/>
          </a:xfrm>
          <a:prstGeom prst="roundRect">
            <a:avLst/>
          </a:prstGeom>
          <a:solidFill>
            <a:srgbClr val="D0CECE">
              <a:alpha val="89804"/>
            </a:srgb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b" anchorCtr="0"/>
          <a:lstStyle/>
          <a:p>
            <a:r>
              <a:rPr lang="en-US" sz="2000" dirty="0" err="1" smtClean="0">
                <a:solidFill>
                  <a:schemeClr val="tx1"/>
                </a:solidFill>
              </a:rPr>
              <a:t>HBase</a:t>
            </a:r>
            <a:endParaRPr lang="en-US" sz="2000" dirty="0">
              <a:solidFill>
                <a:schemeClr val="tx1"/>
              </a:solidFill>
            </a:endParaRPr>
          </a:p>
        </p:txBody>
      </p:sp>
      <p:sp>
        <p:nvSpPr>
          <p:cNvPr id="90" name="Rounded Rectangle 89"/>
          <p:cNvSpPr/>
          <p:nvPr/>
        </p:nvSpPr>
        <p:spPr>
          <a:xfrm>
            <a:off x="5858825" y="2565222"/>
            <a:ext cx="1075285" cy="644131"/>
          </a:xfrm>
          <a:prstGeom prst="roundRect">
            <a:avLst/>
          </a:prstGeom>
          <a:solidFill>
            <a:srgbClr val="D0CECE">
              <a:alpha val="89804"/>
            </a:srgb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r>
              <a:rPr lang="en-US" sz="2000" dirty="0" smtClean="0">
                <a:solidFill>
                  <a:schemeClr val="tx1"/>
                </a:solidFill>
              </a:rPr>
              <a:t>HDFS</a:t>
            </a:r>
            <a:endParaRPr lang="en-US" sz="2000" dirty="0">
              <a:solidFill>
                <a:schemeClr val="tx1"/>
              </a:solidFill>
            </a:endParaRPr>
          </a:p>
        </p:txBody>
      </p:sp>
      <p:sp>
        <p:nvSpPr>
          <p:cNvPr id="91" name="Rounded Rectangle 90"/>
          <p:cNvSpPr/>
          <p:nvPr/>
        </p:nvSpPr>
        <p:spPr>
          <a:xfrm>
            <a:off x="6819147" y="1888256"/>
            <a:ext cx="1840961" cy="484026"/>
          </a:xfrm>
          <a:prstGeom prst="roundRect">
            <a:avLst/>
          </a:prstGeom>
          <a:solidFill>
            <a:srgbClr val="D0CECE">
              <a:alpha val="89804"/>
            </a:srgb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r>
              <a:rPr lang="en-US" sz="2000" dirty="0" err="1" smtClean="0">
                <a:solidFill>
                  <a:schemeClr val="tx1"/>
                </a:solidFill>
              </a:rPr>
              <a:t>MapReduce</a:t>
            </a:r>
            <a:endParaRPr lang="en-US" sz="2000" dirty="0">
              <a:solidFill>
                <a:schemeClr val="tx1"/>
              </a:solidFill>
            </a:endParaRPr>
          </a:p>
        </p:txBody>
      </p:sp>
      <p:sp>
        <p:nvSpPr>
          <p:cNvPr id="92" name="Freeform 91"/>
          <p:cNvSpPr/>
          <p:nvPr/>
        </p:nvSpPr>
        <p:spPr>
          <a:xfrm>
            <a:off x="8373193" y="933282"/>
            <a:ext cx="323462" cy="37800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94" name="Freeform 93"/>
          <p:cNvSpPr/>
          <p:nvPr/>
        </p:nvSpPr>
        <p:spPr>
          <a:xfrm>
            <a:off x="5065016" y="925533"/>
            <a:ext cx="323462" cy="37800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nvGrpSpPr>
          <p:cNvPr id="104" name="Group 103"/>
          <p:cNvGrpSpPr/>
          <p:nvPr/>
        </p:nvGrpSpPr>
        <p:grpSpPr>
          <a:xfrm>
            <a:off x="83554" y="-59631"/>
            <a:ext cx="5967805" cy="1143000"/>
            <a:chOff x="734060" y="55916"/>
            <a:chExt cx="5967805" cy="1143000"/>
          </a:xfrm>
        </p:grpSpPr>
        <p:sp>
          <p:nvSpPr>
            <p:cNvPr id="105" name="Title 1"/>
            <p:cNvSpPr txBox="1">
              <a:spLocks/>
            </p:cNvSpPr>
            <p:nvPr/>
          </p:nvSpPr>
          <p:spPr>
            <a:xfrm>
              <a:off x="734060" y="55916"/>
              <a:ext cx="5967805" cy="1143000"/>
            </a:xfrm>
            <a:prstGeom prst="rect">
              <a:avLst/>
            </a:prstGeom>
          </p:spPr>
          <p:txBody>
            <a:bodyPr vert="horz" lIns="91440" tIns="45720" rIns="91440" bIns="45720" rtlCol="0" anchor="ctr">
              <a:normAutofit/>
            </a:bodyPr>
            <a:lstStyle>
              <a:lvl1pPr algn="l" defTabSz="914363"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smtClean="0"/>
                <a:t>Happened-before Join (      )</a:t>
              </a:r>
              <a:endParaRPr lang="en-US" sz="4000" dirty="0"/>
            </a:p>
          </p:txBody>
        </p:sp>
        <p:grpSp>
          <p:nvGrpSpPr>
            <p:cNvPr id="106" name="Group 105"/>
            <p:cNvGrpSpPr/>
            <p:nvPr/>
          </p:nvGrpSpPr>
          <p:grpSpPr>
            <a:xfrm>
              <a:off x="5791080" y="422003"/>
              <a:ext cx="467759" cy="416707"/>
              <a:chOff x="-61080" y="-73260"/>
              <a:chExt cx="467759" cy="416707"/>
            </a:xfrm>
          </p:grpSpPr>
          <p:sp>
            <p:nvSpPr>
              <p:cNvPr id="107" name="Freeform 106"/>
              <p:cNvSpPr/>
              <p:nvPr/>
            </p:nvSpPr>
            <p:spPr>
              <a:xfrm rot="5400000">
                <a:off x="2547" y="-60686"/>
                <a:ext cx="340506" cy="467759"/>
              </a:xfrm>
              <a:custGeom>
                <a:avLst/>
                <a:gdLst>
                  <a:gd name="connsiteX0" fmla="*/ 1 w 284694"/>
                  <a:gd name="connsiteY0" fmla="*/ 0 h 391089"/>
                  <a:gd name="connsiteX1" fmla="*/ 284694 w 284694"/>
                  <a:gd name="connsiteY1" fmla="*/ 0 h 391089"/>
                  <a:gd name="connsiteX2" fmla="*/ 142348 w 284694"/>
                  <a:gd name="connsiteY2" fmla="*/ 195544 h 391089"/>
                  <a:gd name="connsiteX3" fmla="*/ 0 w 284694"/>
                  <a:gd name="connsiteY3" fmla="*/ 391089 h 391089"/>
                  <a:gd name="connsiteX4" fmla="*/ 142347 w 284694"/>
                  <a:gd name="connsiteY4" fmla="*/ 195545 h 391089"/>
                  <a:gd name="connsiteX5" fmla="*/ 284693 w 284694"/>
                  <a:gd name="connsiteY5" fmla="*/ 391089 h 391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4694" h="391089">
                    <a:moveTo>
                      <a:pt x="1" y="0"/>
                    </a:moveTo>
                    <a:lnTo>
                      <a:pt x="284694" y="0"/>
                    </a:lnTo>
                    <a:lnTo>
                      <a:pt x="142348" y="195544"/>
                    </a:lnTo>
                    <a:close/>
                    <a:moveTo>
                      <a:pt x="0" y="391089"/>
                    </a:moveTo>
                    <a:lnTo>
                      <a:pt x="142347" y="195545"/>
                    </a:lnTo>
                    <a:lnTo>
                      <a:pt x="284693" y="391089"/>
                    </a:lnTo>
                    <a:close/>
                  </a:path>
                </a:pathLst>
              </a:cu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8" name="Straight Arrow Connector 107"/>
              <p:cNvCxnSpPr/>
              <p:nvPr/>
            </p:nvCxnSpPr>
            <p:spPr>
              <a:xfrm>
                <a:off x="-21510" y="-73260"/>
                <a:ext cx="388620" cy="0"/>
              </a:xfrm>
              <a:prstGeom prst="straightConnector1">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grpSp>
      <p:pic>
        <p:nvPicPr>
          <p:cNvPr id="112" name="Picture 111" descr="fig1.pdf"/>
          <p:cNvPicPr>
            <a:picLocks noChangeAspect="1"/>
          </p:cNvPicPr>
          <p:nvPr/>
        </p:nvPicPr>
        <p:blipFill rotWithShape="1">
          <a:blip r:embed="rId3">
            <a:extLst>
              <a:ext uri="{28A0092B-C50C-407E-A947-70E740481C1C}">
                <a14:useLocalDpi xmlns:a14="http://schemas.microsoft.com/office/drawing/2010/main" val="0"/>
              </a:ext>
            </a:extLst>
          </a:blip>
          <a:srcRect l="27670" r="13501" b="73027"/>
          <a:stretch/>
        </p:blipFill>
        <p:spPr>
          <a:xfrm>
            <a:off x="1594967" y="3565492"/>
            <a:ext cx="1739750" cy="692178"/>
          </a:xfrm>
          <a:prstGeom prst="rect">
            <a:avLst/>
          </a:prstGeom>
          <a:ln>
            <a:noFill/>
          </a:ln>
        </p:spPr>
        <p:style>
          <a:lnRef idx="2">
            <a:schemeClr val="dk1"/>
          </a:lnRef>
          <a:fillRef idx="1">
            <a:schemeClr val="lt1"/>
          </a:fillRef>
          <a:effectRef idx="0">
            <a:schemeClr val="dk1"/>
          </a:effectRef>
          <a:fontRef idx="minor">
            <a:schemeClr val="dk1"/>
          </a:fontRef>
        </p:style>
      </p:pic>
      <p:pic>
        <p:nvPicPr>
          <p:cNvPr id="120" name="Picture 119"/>
          <p:cNvPicPr>
            <a:picLocks noChangeAspect="1"/>
          </p:cNvPicPr>
          <p:nvPr/>
        </p:nvPicPr>
        <p:blipFill rotWithShape="1">
          <a:blip r:embed="rId4">
            <a:extLst>
              <a:ext uri="{28A0092B-C50C-407E-A947-70E740481C1C}">
                <a14:useLocalDpi xmlns:a14="http://schemas.microsoft.com/office/drawing/2010/main" val="0"/>
              </a:ext>
            </a:extLst>
          </a:blip>
          <a:srcRect l="23220" t="-501" r="8434" b="73295"/>
          <a:stretch/>
        </p:blipFill>
        <p:spPr>
          <a:xfrm>
            <a:off x="1415370" y="3521356"/>
            <a:ext cx="2192528" cy="755829"/>
          </a:xfrm>
          <a:prstGeom prst="rect">
            <a:avLst/>
          </a:prstGeom>
          <a:ln>
            <a:noFill/>
          </a:ln>
        </p:spPr>
        <p:style>
          <a:lnRef idx="2">
            <a:schemeClr val="dk1"/>
          </a:lnRef>
          <a:fillRef idx="1">
            <a:schemeClr val="lt1"/>
          </a:fillRef>
          <a:effectRef idx="0">
            <a:schemeClr val="dk1"/>
          </a:effectRef>
          <a:fontRef idx="minor">
            <a:schemeClr val="dk1"/>
          </a:fontRef>
        </p:style>
      </p:pic>
      <p:sp>
        <p:nvSpPr>
          <p:cNvPr id="126" name="TextBox 125"/>
          <p:cNvSpPr txBox="1"/>
          <p:nvPr/>
        </p:nvSpPr>
        <p:spPr>
          <a:xfrm>
            <a:off x="356912" y="2980059"/>
            <a:ext cx="4429418" cy="338554"/>
          </a:xfrm>
          <a:prstGeom prst="rect">
            <a:avLst/>
          </a:prstGeom>
          <a:noFill/>
        </p:spPr>
        <p:txBody>
          <a:bodyPr wrap="none" rtlCol="0">
            <a:spAutoFit/>
          </a:bodyPr>
          <a:lstStyle/>
          <a:p>
            <a:r>
              <a:rPr lang="en-US" sz="1600" dirty="0" smtClean="0">
                <a:solidFill>
                  <a:srgbClr val="2F2364"/>
                </a:solidFill>
                <a:latin typeface="Times New Roman" panose="02020603050405020304" pitchFamily="18" charset="0"/>
                <a:cs typeface="Times New Roman" panose="02020603050405020304" pitchFamily="18" charset="0"/>
              </a:rPr>
              <a:t>(“</a:t>
            </a:r>
            <a:r>
              <a:rPr lang="en-US" sz="1400" dirty="0" err="1" smtClean="0">
                <a:solidFill>
                  <a:srgbClr val="2F2364"/>
                </a:solidFill>
                <a:latin typeface="Consolas" panose="020B0609020204030204" pitchFamily="49" charset="0"/>
                <a:cs typeface="Consolas" panose="020B0609020204030204" pitchFamily="49" charset="0"/>
              </a:rPr>
              <a:t>DataNodeMetrics</a:t>
            </a:r>
            <a:r>
              <a:rPr lang="en-US" sz="1600" dirty="0" smtClean="0">
                <a:solidFill>
                  <a:srgbClr val="2F2364"/>
                </a:solidFill>
                <a:latin typeface="Times New Roman" panose="02020603050405020304" pitchFamily="18" charset="0"/>
                <a:cs typeface="Times New Roman" panose="02020603050405020304" pitchFamily="18" charset="0"/>
              </a:rPr>
              <a:t>”, delta=10, host=“Hop01”, …)</a:t>
            </a:r>
            <a:endParaRPr lang="en-US" sz="1600" dirty="0">
              <a:solidFill>
                <a:srgbClr val="2F2364"/>
              </a:solidFill>
              <a:latin typeface="Times New Roman" panose="02020603050405020304" pitchFamily="18" charset="0"/>
              <a:cs typeface="Times New Roman" panose="02020603050405020304" pitchFamily="18" charset="0"/>
            </a:endParaRPr>
          </a:p>
        </p:txBody>
      </p:sp>
      <p:sp>
        <p:nvSpPr>
          <p:cNvPr id="127" name="TextBox 126"/>
          <p:cNvSpPr txBox="1"/>
          <p:nvPr/>
        </p:nvSpPr>
        <p:spPr>
          <a:xfrm>
            <a:off x="473637" y="1825979"/>
            <a:ext cx="4097597" cy="338554"/>
          </a:xfrm>
          <a:prstGeom prst="rect">
            <a:avLst/>
          </a:prstGeom>
          <a:noFill/>
        </p:spPr>
        <p:txBody>
          <a:bodyPr wrap="none" rtlCol="0">
            <a:spAutoFit/>
          </a:bodyPr>
          <a:lstStyle/>
          <a:p>
            <a:r>
              <a:rPr lang="en-US" sz="1600" dirty="0" smtClean="0">
                <a:solidFill>
                  <a:srgbClr val="23642F"/>
                </a:solidFill>
                <a:latin typeface="Times New Roman" panose="02020603050405020304" pitchFamily="18" charset="0"/>
                <a:cs typeface="Times New Roman" panose="02020603050405020304" pitchFamily="18" charset="0"/>
              </a:rPr>
              <a:t>(“</a:t>
            </a:r>
            <a:r>
              <a:rPr lang="en-US" sz="1400" dirty="0" err="1" smtClean="0">
                <a:solidFill>
                  <a:srgbClr val="23642F"/>
                </a:solidFill>
                <a:latin typeface="Consolas" panose="020B0609020204030204" pitchFamily="49" charset="0"/>
                <a:cs typeface="Consolas" panose="020B0609020204030204" pitchFamily="49" charset="0"/>
              </a:rPr>
              <a:t>ClientProtocols</a:t>
            </a:r>
            <a:r>
              <a:rPr lang="en-US" sz="1600" dirty="0" smtClean="0">
                <a:solidFill>
                  <a:srgbClr val="23642F"/>
                </a:solidFill>
                <a:latin typeface="Times New Roman" panose="02020603050405020304" pitchFamily="18" charset="0"/>
                <a:cs typeface="Times New Roman" panose="02020603050405020304" pitchFamily="18" charset="0"/>
              </a:rPr>
              <a:t>”, </a:t>
            </a:r>
            <a:r>
              <a:rPr lang="en-US" sz="1600" dirty="0" err="1" smtClean="0">
                <a:solidFill>
                  <a:srgbClr val="23642F"/>
                </a:solidFill>
                <a:latin typeface="Times New Roman" panose="02020603050405020304" pitchFamily="18" charset="0"/>
                <a:cs typeface="Times New Roman" panose="02020603050405020304" pitchFamily="18" charset="0"/>
              </a:rPr>
              <a:t>procName</a:t>
            </a:r>
            <a:r>
              <a:rPr lang="en-US" sz="1600" dirty="0" smtClean="0">
                <a:solidFill>
                  <a:srgbClr val="23642F"/>
                </a:solidFill>
                <a:latin typeface="Times New Roman" panose="02020603050405020304" pitchFamily="18" charset="0"/>
                <a:cs typeface="Times New Roman" panose="02020603050405020304" pitchFamily="18" charset="0"/>
              </a:rPr>
              <a:t>=“HG</a:t>
            </a:r>
            <a:r>
              <a:rPr lang="en-US" sz="1400" dirty="0" smtClean="0">
                <a:solidFill>
                  <a:srgbClr val="23642F"/>
                </a:solidFill>
                <a:latin typeface="Times New Roman" panose="02020603050405020304" pitchFamily="18" charset="0"/>
                <a:cs typeface="Times New Roman" panose="02020603050405020304" pitchFamily="18" charset="0"/>
              </a:rPr>
              <a:t>ET</a:t>
            </a:r>
            <a:r>
              <a:rPr lang="en-US" sz="1600" dirty="0" smtClean="0">
                <a:solidFill>
                  <a:srgbClr val="23642F"/>
                </a:solidFill>
                <a:latin typeface="Times New Roman" panose="02020603050405020304" pitchFamily="18" charset="0"/>
                <a:cs typeface="Times New Roman" panose="02020603050405020304" pitchFamily="18" charset="0"/>
              </a:rPr>
              <a:t>”, …)</a:t>
            </a:r>
            <a:endParaRPr lang="en-US" sz="1600" dirty="0">
              <a:solidFill>
                <a:srgbClr val="23642F"/>
              </a:solidFill>
              <a:latin typeface="Times New Roman" panose="02020603050405020304" pitchFamily="18" charset="0"/>
              <a:cs typeface="Times New Roman" panose="02020603050405020304" pitchFamily="18" charset="0"/>
            </a:endParaRPr>
          </a:p>
        </p:txBody>
      </p:sp>
      <p:sp>
        <p:nvSpPr>
          <p:cNvPr id="61" name="Freeform 60"/>
          <p:cNvSpPr/>
          <p:nvPr/>
        </p:nvSpPr>
        <p:spPr>
          <a:xfrm>
            <a:off x="6714240" y="933282"/>
            <a:ext cx="323462" cy="37800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62" name="Freeform 61"/>
          <p:cNvSpPr/>
          <p:nvPr/>
        </p:nvSpPr>
        <p:spPr>
          <a:xfrm>
            <a:off x="6668917" y="1415193"/>
            <a:ext cx="225954" cy="2156477"/>
          </a:xfrm>
          <a:custGeom>
            <a:avLst/>
            <a:gdLst>
              <a:gd name="connsiteX0" fmla="*/ 330740 w 330740"/>
              <a:gd name="connsiteY0" fmla="*/ 0 h 2821022"/>
              <a:gd name="connsiteX1" fmla="*/ 0 w 330740"/>
              <a:gd name="connsiteY1" fmla="*/ 651753 h 2821022"/>
              <a:gd name="connsiteX2" fmla="*/ 0 w 330740"/>
              <a:gd name="connsiteY2" fmla="*/ 2821022 h 2821022"/>
            </a:gdLst>
            <a:ahLst/>
            <a:cxnLst>
              <a:cxn ang="0">
                <a:pos x="connsiteX0" y="connsiteY0"/>
              </a:cxn>
              <a:cxn ang="0">
                <a:pos x="connsiteX1" y="connsiteY1"/>
              </a:cxn>
              <a:cxn ang="0">
                <a:pos x="connsiteX2" y="connsiteY2"/>
              </a:cxn>
            </a:cxnLst>
            <a:rect l="l" t="t" r="r" b="b"/>
            <a:pathLst>
              <a:path w="330740" h="2821022">
                <a:moveTo>
                  <a:pt x="330740" y="0"/>
                </a:moveTo>
                <a:lnTo>
                  <a:pt x="0" y="651753"/>
                </a:lnTo>
                <a:lnTo>
                  <a:pt x="0" y="2821022"/>
                </a:lnTo>
              </a:path>
            </a:pathLst>
          </a:custGeom>
          <a:noFill/>
          <a:ln w="57150">
            <a:solidFill>
              <a:schemeClr val="tx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nvGrpSpPr>
          <p:cNvPr id="64" name="Group 63"/>
          <p:cNvGrpSpPr/>
          <p:nvPr/>
        </p:nvGrpSpPr>
        <p:grpSpPr>
          <a:xfrm flipH="1">
            <a:off x="3687324" y="1511437"/>
            <a:ext cx="4611148" cy="129540"/>
            <a:chOff x="2582455" y="530859"/>
            <a:chExt cx="4611148" cy="129540"/>
          </a:xfrm>
        </p:grpSpPr>
        <p:cxnSp>
          <p:nvCxnSpPr>
            <p:cNvPr id="69" name="Straight Arrow Connector 68"/>
            <p:cNvCxnSpPr/>
            <p:nvPr/>
          </p:nvCxnSpPr>
          <p:spPr>
            <a:xfrm flipH="1">
              <a:off x="2582455" y="660399"/>
              <a:ext cx="4611148" cy="0"/>
            </a:xfrm>
            <a:prstGeom prst="straightConnector1">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p:nvPr/>
          </p:nvCxnSpPr>
          <p:spPr>
            <a:xfrm flipH="1">
              <a:off x="4249265" y="595629"/>
              <a:ext cx="2944338" cy="0"/>
            </a:xfrm>
            <a:prstGeom prst="straightConnector1">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p:nvPr/>
          </p:nvCxnSpPr>
          <p:spPr>
            <a:xfrm flipH="1">
              <a:off x="5862176" y="530859"/>
              <a:ext cx="1331427" cy="0"/>
            </a:xfrm>
            <a:prstGeom prst="straightConnector1">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grpSp>
      <p:sp>
        <p:nvSpPr>
          <p:cNvPr id="65" name="Rounded Rectangle 64"/>
          <p:cNvSpPr/>
          <p:nvPr/>
        </p:nvSpPr>
        <p:spPr>
          <a:xfrm flipH="1">
            <a:off x="2363670" y="1291301"/>
            <a:ext cx="1355165" cy="569812"/>
          </a:xfrm>
          <a:prstGeom prst="roundRect">
            <a:avLst/>
          </a:prstGeom>
          <a:solidFill>
            <a:schemeClr val="bg1"/>
          </a:solidFill>
          <a:ln w="381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dirty="0" smtClean="0">
                <a:solidFill>
                  <a:srgbClr val="23642F"/>
                </a:solidFill>
                <a:latin typeface="Consolas" panose="020B0609020204030204" pitchFamily="49" charset="0"/>
                <a:cs typeface="Consolas" panose="020B0609020204030204" pitchFamily="49" charset="0"/>
              </a:rPr>
              <a:t>Client</a:t>
            </a:r>
          </a:p>
          <a:p>
            <a:pPr algn="ctr"/>
            <a:r>
              <a:rPr lang="en-US" sz="2000" dirty="0" smtClean="0">
                <a:solidFill>
                  <a:srgbClr val="23642F"/>
                </a:solidFill>
                <a:latin typeface="Consolas" panose="020B0609020204030204" pitchFamily="49" charset="0"/>
                <a:cs typeface="Consolas" panose="020B0609020204030204" pitchFamily="49" charset="0"/>
              </a:rPr>
              <a:t>Protocols</a:t>
            </a:r>
            <a:endParaRPr lang="en-US" sz="2000" dirty="0">
              <a:solidFill>
                <a:srgbClr val="23642F"/>
              </a:solidFill>
              <a:latin typeface="Consolas" panose="020B0609020204030204" pitchFamily="49" charset="0"/>
              <a:cs typeface="Consolas" panose="020B0609020204030204" pitchFamily="49" charset="0"/>
            </a:endParaRPr>
          </a:p>
        </p:txBody>
      </p:sp>
      <p:sp>
        <p:nvSpPr>
          <p:cNvPr id="66" name="Rounded Rectangle 65"/>
          <p:cNvSpPr/>
          <p:nvPr/>
        </p:nvSpPr>
        <p:spPr>
          <a:xfrm flipH="1">
            <a:off x="8344691" y="1489874"/>
            <a:ext cx="397779" cy="166266"/>
          </a:xfrm>
          <a:prstGeom prst="roundRect">
            <a:avLst/>
          </a:prstGeom>
          <a:solidFill>
            <a:schemeClr val="bg1"/>
          </a:solidFill>
          <a:ln w="381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67" name="Rounded Rectangle 66"/>
          <p:cNvSpPr/>
          <p:nvPr/>
        </p:nvSpPr>
        <p:spPr>
          <a:xfrm flipH="1">
            <a:off x="6698265" y="1489874"/>
            <a:ext cx="397779" cy="166266"/>
          </a:xfrm>
          <a:prstGeom prst="roundRect">
            <a:avLst/>
          </a:prstGeom>
          <a:solidFill>
            <a:schemeClr val="bg1"/>
          </a:solidFill>
          <a:ln w="381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68" name="Rounded Rectangle 67"/>
          <p:cNvSpPr/>
          <p:nvPr/>
        </p:nvSpPr>
        <p:spPr>
          <a:xfrm flipH="1">
            <a:off x="5036314" y="1489874"/>
            <a:ext cx="397779" cy="166266"/>
          </a:xfrm>
          <a:prstGeom prst="roundRect">
            <a:avLst/>
          </a:prstGeom>
          <a:solidFill>
            <a:schemeClr val="bg1"/>
          </a:solidFill>
          <a:ln w="381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72" name="Rounded Rectangle 71"/>
          <p:cNvSpPr/>
          <p:nvPr/>
        </p:nvSpPr>
        <p:spPr>
          <a:xfrm>
            <a:off x="6497092" y="2975856"/>
            <a:ext cx="397779" cy="166266"/>
          </a:xfrm>
          <a:prstGeom prst="roundRect">
            <a:avLst/>
          </a:prstGeom>
          <a:solidFill>
            <a:schemeClr val="bg1"/>
          </a:solidFill>
          <a:ln w="381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74" name="Freeform 73"/>
          <p:cNvSpPr/>
          <p:nvPr/>
        </p:nvSpPr>
        <p:spPr>
          <a:xfrm flipV="1">
            <a:off x="4314751" y="2590699"/>
            <a:ext cx="2283000" cy="728115"/>
          </a:xfrm>
          <a:custGeom>
            <a:avLst/>
            <a:gdLst>
              <a:gd name="connsiteX0" fmla="*/ 0 w 398834"/>
              <a:gd name="connsiteY0" fmla="*/ 2188723 h 2188723"/>
              <a:gd name="connsiteX1" fmla="*/ 398834 w 398834"/>
              <a:gd name="connsiteY1" fmla="*/ 0 h 2188723"/>
              <a:gd name="connsiteX0" fmla="*/ 70658 w 469492"/>
              <a:gd name="connsiteY0" fmla="*/ 2188723 h 2188723"/>
              <a:gd name="connsiteX1" fmla="*/ 469492 w 469492"/>
              <a:gd name="connsiteY1" fmla="*/ 0 h 2188723"/>
              <a:gd name="connsiteX0" fmla="*/ 0 w 1070042"/>
              <a:gd name="connsiteY0" fmla="*/ 2345655 h 2345655"/>
              <a:gd name="connsiteX1" fmla="*/ 1070042 w 1070042"/>
              <a:gd name="connsiteY1" fmla="*/ 0 h 2345655"/>
              <a:gd name="connsiteX0" fmla="*/ 0 w 1070042"/>
              <a:gd name="connsiteY0" fmla="*/ 2345655 h 2345655"/>
              <a:gd name="connsiteX1" fmla="*/ 1070042 w 1070042"/>
              <a:gd name="connsiteY1" fmla="*/ 0 h 2345655"/>
              <a:gd name="connsiteX0" fmla="*/ 0 w 1245140"/>
              <a:gd name="connsiteY0" fmla="*/ 2478443 h 2478443"/>
              <a:gd name="connsiteX1" fmla="*/ 1245140 w 1245140"/>
              <a:gd name="connsiteY1" fmla="*/ 0 h 2478443"/>
              <a:gd name="connsiteX0" fmla="*/ 0 w 1400783"/>
              <a:gd name="connsiteY0" fmla="*/ 2611231 h 2611231"/>
              <a:gd name="connsiteX1" fmla="*/ 1400783 w 1400783"/>
              <a:gd name="connsiteY1" fmla="*/ 0 h 2611231"/>
              <a:gd name="connsiteX0" fmla="*/ 0 w 1361872"/>
              <a:gd name="connsiteY0" fmla="*/ 2514658 h 2514658"/>
              <a:gd name="connsiteX1" fmla="*/ 1361872 w 1361872"/>
              <a:gd name="connsiteY1" fmla="*/ 0 h 2514658"/>
              <a:gd name="connsiteX0" fmla="*/ 0 w 2508747"/>
              <a:gd name="connsiteY0" fmla="*/ 150276 h 1033436"/>
              <a:gd name="connsiteX1" fmla="*/ 2508747 w 2508747"/>
              <a:gd name="connsiteY1" fmla="*/ 875919 h 1033436"/>
              <a:gd name="connsiteX0" fmla="*/ 525 w 2509272"/>
              <a:gd name="connsiteY0" fmla="*/ 0 h 1012937"/>
              <a:gd name="connsiteX1" fmla="*/ 2509272 w 2509272"/>
              <a:gd name="connsiteY1" fmla="*/ 725643 h 1012937"/>
              <a:gd name="connsiteX0" fmla="*/ 524 w 2509271"/>
              <a:gd name="connsiteY0" fmla="*/ 0 h 725643"/>
              <a:gd name="connsiteX1" fmla="*/ 2509271 w 2509271"/>
              <a:gd name="connsiteY1" fmla="*/ 725643 h 725643"/>
              <a:gd name="connsiteX0" fmla="*/ 623 w 2183905"/>
              <a:gd name="connsiteY0" fmla="*/ 0 h 564077"/>
              <a:gd name="connsiteX1" fmla="*/ 2183905 w 2183905"/>
              <a:gd name="connsiteY1" fmla="*/ 564077 h 564077"/>
              <a:gd name="connsiteX0" fmla="*/ 846 w 2184128"/>
              <a:gd name="connsiteY0" fmla="*/ 0 h 564077"/>
              <a:gd name="connsiteX1" fmla="*/ 2184128 w 2184128"/>
              <a:gd name="connsiteY1" fmla="*/ 564077 h 564077"/>
              <a:gd name="connsiteX0" fmla="*/ 0 w 2183282"/>
              <a:gd name="connsiteY0" fmla="*/ 0 h 564077"/>
              <a:gd name="connsiteX1" fmla="*/ 2183282 w 2183282"/>
              <a:gd name="connsiteY1" fmla="*/ 564077 h 564077"/>
              <a:gd name="connsiteX0" fmla="*/ 0 w 2036464"/>
              <a:gd name="connsiteY0" fmla="*/ 730216 h 1026390"/>
              <a:gd name="connsiteX1" fmla="*/ 2036464 w 2036464"/>
              <a:gd name="connsiteY1" fmla="*/ 192771 h 1026390"/>
              <a:gd name="connsiteX0" fmla="*/ 0 w 2036464"/>
              <a:gd name="connsiteY0" fmla="*/ 843381 h 843381"/>
              <a:gd name="connsiteX1" fmla="*/ 2036464 w 2036464"/>
              <a:gd name="connsiteY1" fmla="*/ 305936 h 843381"/>
            </a:gdLst>
            <a:ahLst/>
            <a:cxnLst>
              <a:cxn ang="0">
                <a:pos x="connsiteX0" y="connsiteY0"/>
              </a:cxn>
              <a:cxn ang="0">
                <a:pos x="connsiteX1" y="connsiteY1"/>
              </a:cxn>
            </a:cxnLst>
            <a:rect l="l" t="t" r="r" b="b"/>
            <a:pathLst>
              <a:path w="2036464" h="843381">
                <a:moveTo>
                  <a:pt x="0" y="843381"/>
                </a:moveTo>
                <a:cubicBezTo>
                  <a:pt x="791598" y="752171"/>
                  <a:pt x="1033800" y="-587859"/>
                  <a:pt x="2036464" y="305936"/>
                </a:cubicBezTo>
              </a:path>
            </a:pathLst>
          </a:custGeom>
          <a:noFill/>
          <a:ln w="38100">
            <a:solidFill>
              <a:schemeClr val="tx1"/>
            </a:solidFill>
            <a:prstDash val="sysDot"/>
            <a:headEnd type="none"/>
            <a:tailEnd type="stealt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75" name="Rounded Rectangle 74"/>
          <p:cNvSpPr/>
          <p:nvPr/>
        </p:nvSpPr>
        <p:spPr>
          <a:xfrm>
            <a:off x="3060844" y="2401875"/>
            <a:ext cx="1255950" cy="569812"/>
          </a:xfrm>
          <a:prstGeom prst="roundRect">
            <a:avLst/>
          </a:prstGeom>
          <a:solidFill>
            <a:schemeClr val="bg1"/>
          </a:solidFill>
          <a:ln w="381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dirty="0" err="1" smtClean="0">
                <a:solidFill>
                  <a:srgbClr val="2F2364"/>
                </a:solidFill>
                <a:latin typeface="Consolas" panose="020B0609020204030204" pitchFamily="49" charset="0"/>
                <a:cs typeface="Consolas" panose="020B0609020204030204" pitchFamily="49" charset="0"/>
              </a:rPr>
              <a:t>DataNode</a:t>
            </a:r>
            <a:endParaRPr lang="en-US" sz="2000" dirty="0" smtClean="0">
              <a:solidFill>
                <a:srgbClr val="2F2364"/>
              </a:solidFill>
              <a:latin typeface="Consolas" panose="020B0609020204030204" pitchFamily="49" charset="0"/>
              <a:cs typeface="Consolas" panose="020B0609020204030204" pitchFamily="49" charset="0"/>
            </a:endParaRPr>
          </a:p>
          <a:p>
            <a:pPr algn="ctr"/>
            <a:r>
              <a:rPr lang="en-US" sz="2000" dirty="0" smtClean="0">
                <a:solidFill>
                  <a:srgbClr val="2F2364"/>
                </a:solidFill>
                <a:latin typeface="Consolas" panose="020B0609020204030204" pitchFamily="49" charset="0"/>
                <a:cs typeface="Consolas" panose="020B0609020204030204" pitchFamily="49" charset="0"/>
              </a:rPr>
              <a:t>Metrics</a:t>
            </a:r>
            <a:endParaRPr lang="en-US" sz="2000" dirty="0">
              <a:solidFill>
                <a:srgbClr val="2F2364"/>
              </a:solidFill>
              <a:latin typeface="Consolas" panose="020B0609020204030204" pitchFamily="49" charset="0"/>
              <a:cs typeface="Consolas" panose="020B0609020204030204" pitchFamily="49" charset="0"/>
            </a:endParaRPr>
          </a:p>
        </p:txBody>
      </p:sp>
      <p:sp>
        <p:nvSpPr>
          <p:cNvPr id="76" name="Oval 75"/>
          <p:cNvSpPr/>
          <p:nvPr/>
        </p:nvSpPr>
        <p:spPr>
          <a:xfrm>
            <a:off x="6819147" y="1326404"/>
            <a:ext cx="164260" cy="164260"/>
          </a:xfrm>
          <a:prstGeom prst="ellips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2" name="Slide Number Placeholder 1"/>
          <p:cNvSpPr>
            <a:spLocks noGrp="1"/>
          </p:cNvSpPr>
          <p:nvPr>
            <p:ph type="sldNum" sz="quarter" idx="12"/>
          </p:nvPr>
        </p:nvSpPr>
        <p:spPr/>
        <p:txBody>
          <a:bodyPr/>
          <a:lstStyle/>
          <a:p>
            <a:fld id="{D431E30F-8439-471B-9257-EDD8E85CDBC8}" type="slidenum">
              <a:rPr lang="en-US" smtClean="0"/>
              <a:t>17</a:t>
            </a:fld>
            <a:endParaRPr lang="en-US"/>
          </a:p>
        </p:txBody>
      </p:sp>
      <p:sp>
        <p:nvSpPr>
          <p:cNvPr id="60" name="Rounded Rectangle 59"/>
          <p:cNvSpPr/>
          <p:nvPr/>
        </p:nvSpPr>
        <p:spPr>
          <a:xfrm flipH="1">
            <a:off x="4502561" y="4599790"/>
            <a:ext cx="1355165" cy="569812"/>
          </a:xfrm>
          <a:prstGeom prst="roundRect">
            <a:avLst/>
          </a:prstGeom>
          <a:solidFill>
            <a:schemeClr val="bg1"/>
          </a:solidFill>
          <a:ln w="381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dirty="0" smtClean="0">
                <a:solidFill>
                  <a:srgbClr val="23642F"/>
                </a:solidFill>
                <a:latin typeface="Consolas" panose="020B0609020204030204" pitchFamily="49" charset="0"/>
                <a:cs typeface="Consolas" panose="020B0609020204030204" pitchFamily="49" charset="0"/>
              </a:rPr>
              <a:t>Client</a:t>
            </a:r>
          </a:p>
          <a:p>
            <a:pPr algn="ctr"/>
            <a:r>
              <a:rPr lang="en-US" sz="2000" dirty="0" smtClean="0">
                <a:solidFill>
                  <a:srgbClr val="23642F"/>
                </a:solidFill>
                <a:latin typeface="Consolas" panose="020B0609020204030204" pitchFamily="49" charset="0"/>
                <a:cs typeface="Consolas" panose="020B0609020204030204" pitchFamily="49" charset="0"/>
              </a:rPr>
              <a:t>Protocols</a:t>
            </a:r>
            <a:endParaRPr lang="en-US" sz="2000" dirty="0">
              <a:solidFill>
                <a:srgbClr val="23642F"/>
              </a:solidFill>
              <a:latin typeface="Consolas" panose="020B0609020204030204" pitchFamily="49" charset="0"/>
              <a:cs typeface="Consolas" panose="020B0609020204030204" pitchFamily="49" charset="0"/>
            </a:endParaRPr>
          </a:p>
        </p:txBody>
      </p:sp>
      <p:grpSp>
        <p:nvGrpSpPr>
          <p:cNvPr id="63" name="Group 62"/>
          <p:cNvGrpSpPr/>
          <p:nvPr/>
        </p:nvGrpSpPr>
        <p:grpSpPr>
          <a:xfrm>
            <a:off x="6063661" y="4676343"/>
            <a:ext cx="467759" cy="416707"/>
            <a:chOff x="5887591" y="5951096"/>
            <a:chExt cx="467759" cy="416707"/>
          </a:xfrm>
        </p:grpSpPr>
        <p:sp>
          <p:nvSpPr>
            <p:cNvPr id="73" name="Freeform 72"/>
            <p:cNvSpPr/>
            <p:nvPr/>
          </p:nvSpPr>
          <p:spPr>
            <a:xfrm rot="5400000">
              <a:off x="5951218" y="5963670"/>
              <a:ext cx="340506" cy="467759"/>
            </a:xfrm>
            <a:custGeom>
              <a:avLst/>
              <a:gdLst>
                <a:gd name="connsiteX0" fmla="*/ 1 w 284694"/>
                <a:gd name="connsiteY0" fmla="*/ 0 h 391089"/>
                <a:gd name="connsiteX1" fmla="*/ 284694 w 284694"/>
                <a:gd name="connsiteY1" fmla="*/ 0 h 391089"/>
                <a:gd name="connsiteX2" fmla="*/ 142348 w 284694"/>
                <a:gd name="connsiteY2" fmla="*/ 195544 h 391089"/>
                <a:gd name="connsiteX3" fmla="*/ 0 w 284694"/>
                <a:gd name="connsiteY3" fmla="*/ 391089 h 391089"/>
                <a:gd name="connsiteX4" fmla="*/ 142347 w 284694"/>
                <a:gd name="connsiteY4" fmla="*/ 195545 h 391089"/>
                <a:gd name="connsiteX5" fmla="*/ 284693 w 284694"/>
                <a:gd name="connsiteY5" fmla="*/ 391089 h 391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4694" h="391089">
                  <a:moveTo>
                    <a:pt x="1" y="0"/>
                  </a:moveTo>
                  <a:lnTo>
                    <a:pt x="284694" y="0"/>
                  </a:lnTo>
                  <a:lnTo>
                    <a:pt x="142348" y="195544"/>
                  </a:lnTo>
                  <a:close/>
                  <a:moveTo>
                    <a:pt x="0" y="391089"/>
                  </a:moveTo>
                  <a:lnTo>
                    <a:pt x="142347" y="195545"/>
                  </a:lnTo>
                  <a:lnTo>
                    <a:pt x="284693" y="391089"/>
                  </a:lnTo>
                  <a:close/>
                </a:path>
              </a:pathLst>
            </a:cu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8" name="Straight Arrow Connector 77"/>
            <p:cNvCxnSpPr/>
            <p:nvPr/>
          </p:nvCxnSpPr>
          <p:spPr>
            <a:xfrm>
              <a:off x="5927161" y="5951096"/>
              <a:ext cx="388620" cy="0"/>
            </a:xfrm>
            <a:prstGeom prst="straightConnector1">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79" name="Rounded Rectangle 78"/>
          <p:cNvSpPr/>
          <p:nvPr/>
        </p:nvSpPr>
        <p:spPr>
          <a:xfrm>
            <a:off x="6737355" y="4599790"/>
            <a:ext cx="1255950" cy="569812"/>
          </a:xfrm>
          <a:prstGeom prst="roundRect">
            <a:avLst/>
          </a:prstGeom>
          <a:solidFill>
            <a:schemeClr val="bg1"/>
          </a:solidFill>
          <a:ln w="381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dirty="0" err="1" smtClean="0">
                <a:solidFill>
                  <a:srgbClr val="2F2364"/>
                </a:solidFill>
                <a:latin typeface="Consolas" panose="020B0609020204030204" pitchFamily="49" charset="0"/>
                <a:cs typeface="Consolas" panose="020B0609020204030204" pitchFamily="49" charset="0"/>
              </a:rPr>
              <a:t>DataNode</a:t>
            </a:r>
            <a:endParaRPr lang="en-US" sz="2000" dirty="0" smtClean="0">
              <a:solidFill>
                <a:srgbClr val="2F2364"/>
              </a:solidFill>
              <a:latin typeface="Consolas" panose="020B0609020204030204" pitchFamily="49" charset="0"/>
              <a:cs typeface="Consolas" panose="020B0609020204030204" pitchFamily="49" charset="0"/>
            </a:endParaRPr>
          </a:p>
          <a:p>
            <a:pPr algn="ctr"/>
            <a:r>
              <a:rPr lang="en-US" sz="2000" dirty="0" smtClean="0">
                <a:solidFill>
                  <a:srgbClr val="2F2364"/>
                </a:solidFill>
                <a:latin typeface="Consolas" panose="020B0609020204030204" pitchFamily="49" charset="0"/>
                <a:cs typeface="Consolas" panose="020B0609020204030204" pitchFamily="49" charset="0"/>
              </a:rPr>
              <a:t>Metrics</a:t>
            </a:r>
            <a:endParaRPr lang="en-US" sz="2000" dirty="0">
              <a:solidFill>
                <a:srgbClr val="2F2364"/>
              </a:solidFill>
              <a:latin typeface="Consolas" panose="020B0609020204030204" pitchFamily="49" charset="0"/>
              <a:cs typeface="Consolas" panose="020B0609020204030204" pitchFamily="49" charset="0"/>
            </a:endParaRPr>
          </a:p>
        </p:txBody>
      </p:sp>
      <p:grpSp>
        <p:nvGrpSpPr>
          <p:cNvPr id="9" name="Group 8"/>
          <p:cNvGrpSpPr/>
          <p:nvPr/>
        </p:nvGrpSpPr>
        <p:grpSpPr>
          <a:xfrm>
            <a:off x="4146377" y="5169744"/>
            <a:ext cx="4149909" cy="769441"/>
            <a:chOff x="4146377" y="5169744"/>
            <a:chExt cx="4149909" cy="769441"/>
          </a:xfrm>
        </p:grpSpPr>
        <p:sp>
          <p:nvSpPr>
            <p:cNvPr id="3" name="TextBox 2"/>
            <p:cNvSpPr txBox="1"/>
            <p:nvPr/>
          </p:nvSpPr>
          <p:spPr>
            <a:xfrm>
              <a:off x="4146377" y="5169744"/>
              <a:ext cx="372218" cy="769441"/>
            </a:xfrm>
            <a:prstGeom prst="rect">
              <a:avLst/>
            </a:prstGeom>
            <a:noFill/>
          </p:spPr>
          <p:txBody>
            <a:bodyPr wrap="none" rtlCol="0">
              <a:spAutoFit/>
            </a:bodyPr>
            <a:lstStyle/>
            <a:p>
              <a:r>
                <a:rPr lang="en-US" sz="4400" dirty="0" smtClean="0">
                  <a:solidFill>
                    <a:srgbClr val="23642F"/>
                  </a:solidFill>
                  <a:latin typeface="Times New Roman" panose="02020603050405020304" pitchFamily="18" charset="0"/>
                  <a:cs typeface="Times New Roman" panose="02020603050405020304" pitchFamily="18" charset="0"/>
                </a:rPr>
                <a:t>(</a:t>
              </a:r>
              <a:endParaRPr lang="en-US" dirty="0">
                <a:solidFill>
                  <a:srgbClr val="23642F"/>
                </a:solidFill>
                <a:latin typeface="Times New Roman" panose="02020603050405020304" pitchFamily="18" charset="0"/>
                <a:cs typeface="Times New Roman" panose="02020603050405020304" pitchFamily="18" charset="0"/>
              </a:endParaRPr>
            </a:p>
          </p:txBody>
        </p:sp>
        <p:sp>
          <p:nvSpPr>
            <p:cNvPr id="81" name="TextBox 80"/>
            <p:cNvSpPr txBox="1"/>
            <p:nvPr/>
          </p:nvSpPr>
          <p:spPr>
            <a:xfrm>
              <a:off x="4309297" y="5282976"/>
              <a:ext cx="3986989" cy="338554"/>
            </a:xfrm>
            <a:prstGeom prst="rect">
              <a:avLst/>
            </a:prstGeom>
            <a:noFill/>
          </p:spPr>
          <p:txBody>
            <a:bodyPr wrap="none" rtlCol="0">
              <a:spAutoFit/>
            </a:bodyPr>
            <a:lstStyle/>
            <a:p>
              <a:r>
                <a:rPr lang="en-US" sz="1600" dirty="0" smtClean="0">
                  <a:solidFill>
                    <a:srgbClr val="23642F"/>
                  </a:solidFill>
                  <a:latin typeface="Times New Roman" panose="02020603050405020304" pitchFamily="18" charset="0"/>
                  <a:cs typeface="Times New Roman" panose="02020603050405020304" pitchFamily="18" charset="0"/>
                </a:rPr>
                <a:t>“</a:t>
              </a:r>
              <a:r>
                <a:rPr lang="en-US" sz="1400" dirty="0" err="1" smtClean="0">
                  <a:solidFill>
                    <a:srgbClr val="23642F"/>
                  </a:solidFill>
                  <a:latin typeface="Consolas" panose="020B0609020204030204" pitchFamily="49" charset="0"/>
                  <a:cs typeface="Consolas" panose="020B0609020204030204" pitchFamily="49" charset="0"/>
                </a:rPr>
                <a:t>ClientProtocols</a:t>
              </a:r>
              <a:r>
                <a:rPr lang="en-US" sz="1600" dirty="0" smtClean="0">
                  <a:solidFill>
                    <a:srgbClr val="23642F"/>
                  </a:solidFill>
                  <a:latin typeface="Times New Roman" panose="02020603050405020304" pitchFamily="18" charset="0"/>
                  <a:cs typeface="Times New Roman" panose="02020603050405020304" pitchFamily="18" charset="0"/>
                </a:rPr>
                <a:t>”, </a:t>
              </a:r>
              <a:r>
                <a:rPr lang="en-US" sz="1600" dirty="0" err="1" smtClean="0">
                  <a:solidFill>
                    <a:srgbClr val="23642F"/>
                  </a:solidFill>
                  <a:latin typeface="Times New Roman" panose="02020603050405020304" pitchFamily="18" charset="0"/>
                  <a:cs typeface="Times New Roman" panose="02020603050405020304" pitchFamily="18" charset="0"/>
                </a:rPr>
                <a:t>procName</a:t>
              </a:r>
              <a:r>
                <a:rPr lang="en-US" sz="1600" dirty="0" smtClean="0">
                  <a:solidFill>
                    <a:srgbClr val="23642F"/>
                  </a:solidFill>
                  <a:latin typeface="Times New Roman" panose="02020603050405020304" pitchFamily="18" charset="0"/>
                  <a:cs typeface="Times New Roman" panose="02020603050405020304" pitchFamily="18" charset="0"/>
                </a:rPr>
                <a:t>=“HG</a:t>
              </a:r>
              <a:r>
                <a:rPr lang="en-US" sz="1400" dirty="0" smtClean="0">
                  <a:solidFill>
                    <a:srgbClr val="23642F"/>
                  </a:solidFill>
                  <a:latin typeface="Times New Roman" panose="02020603050405020304" pitchFamily="18" charset="0"/>
                  <a:cs typeface="Times New Roman" panose="02020603050405020304" pitchFamily="18" charset="0"/>
                </a:rPr>
                <a:t>ET</a:t>
              </a:r>
              <a:r>
                <a:rPr lang="en-US" sz="1600" dirty="0" smtClean="0">
                  <a:solidFill>
                    <a:srgbClr val="23642F"/>
                  </a:solidFill>
                  <a:latin typeface="Times New Roman" panose="02020603050405020304" pitchFamily="18" charset="0"/>
                  <a:cs typeface="Times New Roman" panose="02020603050405020304" pitchFamily="18" charset="0"/>
                </a:rPr>
                <a:t>”, … </a:t>
              </a:r>
              <a:endParaRPr lang="en-US" sz="1600" dirty="0">
                <a:solidFill>
                  <a:srgbClr val="23642F"/>
                </a:solidFill>
                <a:latin typeface="Times New Roman" panose="02020603050405020304" pitchFamily="18" charset="0"/>
                <a:cs typeface="Times New Roman" panose="02020603050405020304" pitchFamily="18" charset="0"/>
              </a:endParaRPr>
            </a:p>
          </p:txBody>
        </p:sp>
      </p:grpSp>
      <p:grpSp>
        <p:nvGrpSpPr>
          <p:cNvPr id="10" name="Group 9"/>
          <p:cNvGrpSpPr/>
          <p:nvPr/>
        </p:nvGrpSpPr>
        <p:grpSpPr>
          <a:xfrm>
            <a:off x="4305083" y="5169744"/>
            <a:ext cx="4429418" cy="769441"/>
            <a:chOff x="4305083" y="5169744"/>
            <a:chExt cx="4429418" cy="769441"/>
          </a:xfrm>
        </p:grpSpPr>
        <p:sp>
          <p:nvSpPr>
            <p:cNvPr id="80" name="TextBox 79"/>
            <p:cNvSpPr txBox="1"/>
            <p:nvPr/>
          </p:nvSpPr>
          <p:spPr>
            <a:xfrm>
              <a:off x="4305083" y="5487398"/>
              <a:ext cx="4429418" cy="338554"/>
            </a:xfrm>
            <a:prstGeom prst="rect">
              <a:avLst/>
            </a:prstGeom>
            <a:noFill/>
          </p:spPr>
          <p:txBody>
            <a:bodyPr wrap="none" rtlCol="0">
              <a:spAutoFit/>
            </a:bodyPr>
            <a:lstStyle/>
            <a:p>
              <a:r>
                <a:rPr lang="en-US" sz="1600" dirty="0" smtClean="0">
                  <a:solidFill>
                    <a:srgbClr val="2F2364"/>
                  </a:solidFill>
                  <a:latin typeface="Times New Roman" panose="02020603050405020304" pitchFamily="18" charset="0"/>
                  <a:cs typeface="Times New Roman" panose="02020603050405020304" pitchFamily="18" charset="0"/>
                </a:rPr>
                <a:t>“</a:t>
              </a:r>
              <a:r>
                <a:rPr lang="en-US" sz="1400" dirty="0" err="1" smtClean="0">
                  <a:solidFill>
                    <a:srgbClr val="2F2364"/>
                  </a:solidFill>
                  <a:latin typeface="Consolas" panose="020B0609020204030204" pitchFamily="49" charset="0"/>
                  <a:cs typeface="Consolas" panose="020B0609020204030204" pitchFamily="49" charset="0"/>
                </a:rPr>
                <a:t>DataNodeMetrics</a:t>
              </a:r>
              <a:r>
                <a:rPr lang="en-US" sz="1600" dirty="0" smtClean="0">
                  <a:solidFill>
                    <a:srgbClr val="2F2364"/>
                  </a:solidFill>
                  <a:latin typeface="Times New Roman" panose="02020603050405020304" pitchFamily="18" charset="0"/>
                  <a:cs typeface="Times New Roman" panose="02020603050405020304" pitchFamily="18" charset="0"/>
                </a:rPr>
                <a:t>”, delta=10, host=“Hop01”, …</a:t>
              </a:r>
              <a:endParaRPr lang="en-US" sz="1600" dirty="0">
                <a:solidFill>
                  <a:srgbClr val="2F2364"/>
                </a:solidFill>
                <a:latin typeface="Times New Roman" panose="02020603050405020304" pitchFamily="18" charset="0"/>
                <a:cs typeface="Times New Roman" panose="02020603050405020304" pitchFamily="18" charset="0"/>
              </a:endParaRPr>
            </a:p>
          </p:txBody>
        </p:sp>
        <p:sp>
          <p:nvSpPr>
            <p:cNvPr id="82" name="TextBox 81"/>
            <p:cNvSpPr txBox="1"/>
            <p:nvPr/>
          </p:nvSpPr>
          <p:spPr>
            <a:xfrm>
              <a:off x="8288310" y="5169744"/>
              <a:ext cx="372218" cy="769441"/>
            </a:xfrm>
            <a:prstGeom prst="rect">
              <a:avLst/>
            </a:prstGeom>
            <a:noFill/>
          </p:spPr>
          <p:txBody>
            <a:bodyPr wrap="none" rtlCol="0">
              <a:spAutoFit/>
            </a:bodyPr>
            <a:lstStyle/>
            <a:p>
              <a:r>
                <a:rPr lang="en-US" sz="4400" dirty="0" smtClean="0">
                  <a:solidFill>
                    <a:srgbClr val="2F2364"/>
                  </a:solidFill>
                  <a:latin typeface="Times New Roman" panose="02020603050405020304" pitchFamily="18" charset="0"/>
                  <a:cs typeface="Times New Roman" panose="02020603050405020304" pitchFamily="18" charset="0"/>
                </a:rPr>
                <a:t>)</a:t>
              </a:r>
              <a:endParaRPr lang="en-US" dirty="0">
                <a:solidFill>
                  <a:srgbClr val="2F2364"/>
                </a:solidFill>
                <a:latin typeface="Times New Roman" panose="02020603050405020304" pitchFamily="18" charset="0"/>
                <a:cs typeface="Times New Roman" panose="02020603050405020304" pitchFamily="18" charset="0"/>
              </a:endParaRPr>
            </a:p>
          </p:txBody>
        </p:sp>
      </p:grpSp>
      <p:sp>
        <p:nvSpPr>
          <p:cNvPr id="121" name="Query"/>
          <p:cNvSpPr txBox="1"/>
          <p:nvPr/>
        </p:nvSpPr>
        <p:spPr>
          <a:xfrm>
            <a:off x="3850813" y="4768939"/>
            <a:ext cx="5299528" cy="775597"/>
          </a:xfrm>
          <a:prstGeom prst="rect">
            <a:avLst/>
          </a:prstGeom>
          <a:noFill/>
        </p:spPr>
        <p:txBody>
          <a:bodyPr wrap="none" lIns="0" tIns="0" rIns="0" bIns="0" rtlCol="0" anchor="t" anchorCtr="0">
            <a:spAutoFit/>
          </a:bodyPr>
          <a:lstStyle/>
          <a:p>
            <a:pPr>
              <a:lnSpc>
                <a:spcPct val="90000"/>
              </a:lnSpc>
            </a:pPr>
            <a:r>
              <a:rPr lang="en-US" sz="1400" b="1" spc="-50" dirty="0" smtClean="0">
                <a:latin typeface="Consolas" panose="020B0609020204030204" pitchFamily="49" charset="0"/>
                <a:cs typeface="Consolas" panose="020B0609020204030204" pitchFamily="49" charset="0"/>
              </a:rPr>
              <a:t>From</a:t>
            </a:r>
            <a:r>
              <a:rPr lang="en-US" sz="1400" spc="-50" dirty="0" smtClean="0">
                <a:latin typeface="Consolas" panose="020B0609020204030204" pitchFamily="49" charset="0"/>
                <a:cs typeface="Consolas" panose="020B0609020204030204" pitchFamily="49" charset="0"/>
              </a:rPr>
              <a:t> </a:t>
            </a:r>
            <a:r>
              <a:rPr lang="en-US" sz="1400" spc="-50" dirty="0" err="1" smtClean="0">
                <a:solidFill>
                  <a:srgbClr val="2F2364"/>
                </a:solidFill>
                <a:latin typeface="Consolas" panose="020B0609020204030204" pitchFamily="49" charset="0"/>
                <a:cs typeface="Consolas" panose="020B0609020204030204" pitchFamily="49" charset="0"/>
              </a:rPr>
              <a:t>incr</a:t>
            </a:r>
            <a:r>
              <a:rPr lang="en-US" sz="1400" spc="-50" dirty="0" smtClean="0">
                <a:latin typeface="Consolas" panose="020B0609020204030204" pitchFamily="49" charset="0"/>
                <a:cs typeface="Consolas" panose="020B0609020204030204" pitchFamily="49" charset="0"/>
              </a:rPr>
              <a:t> </a:t>
            </a:r>
            <a:r>
              <a:rPr lang="en-US" sz="1400" b="1" spc="-50" dirty="0" smtClean="0">
                <a:latin typeface="Consolas" panose="020B0609020204030204" pitchFamily="49" charset="0"/>
                <a:cs typeface="Consolas" panose="020B0609020204030204" pitchFamily="49" charset="0"/>
              </a:rPr>
              <a:t>In</a:t>
            </a:r>
            <a:r>
              <a:rPr lang="en-US" sz="1400" spc="-50" dirty="0" smtClean="0">
                <a:latin typeface="Consolas" panose="020B0609020204030204" pitchFamily="49" charset="0"/>
                <a:cs typeface="Consolas" panose="020B0609020204030204" pitchFamily="49" charset="0"/>
              </a:rPr>
              <a:t> </a:t>
            </a:r>
            <a:r>
              <a:rPr lang="en-US" sz="1400" spc="-50" dirty="0" err="1" smtClean="0">
                <a:solidFill>
                  <a:srgbClr val="2F2364"/>
                </a:solidFill>
                <a:latin typeface="Consolas" panose="020B0609020204030204" pitchFamily="49" charset="0"/>
                <a:cs typeface="Consolas" panose="020B0609020204030204" pitchFamily="49" charset="0"/>
              </a:rPr>
              <a:t>DataNodeMetrics.incrBytesRead</a:t>
            </a:r>
            <a:endParaRPr lang="en-US" sz="1400" spc="-50" dirty="0" smtClean="0">
              <a:solidFill>
                <a:srgbClr val="2F2364"/>
              </a:solidFill>
              <a:latin typeface="Consolas" panose="020B0609020204030204" pitchFamily="49" charset="0"/>
              <a:cs typeface="Consolas" panose="020B0609020204030204" pitchFamily="49" charset="0"/>
            </a:endParaRPr>
          </a:p>
          <a:p>
            <a:pPr>
              <a:lnSpc>
                <a:spcPct val="90000"/>
              </a:lnSpc>
            </a:pPr>
            <a:r>
              <a:rPr lang="en-US" sz="1400" spc="-50" dirty="0">
                <a:latin typeface="Consolas" panose="020B0609020204030204" pitchFamily="49" charset="0"/>
                <a:cs typeface="Consolas" panose="020B0609020204030204" pitchFamily="49" charset="0"/>
              </a:rPr>
              <a:t> </a:t>
            </a:r>
            <a:r>
              <a:rPr lang="en-US" sz="1400" spc="-50" dirty="0" smtClean="0">
                <a:latin typeface="Consolas" panose="020B0609020204030204" pitchFamily="49" charset="0"/>
                <a:cs typeface="Consolas" panose="020B0609020204030204" pitchFamily="49" charset="0"/>
              </a:rPr>
              <a:t> </a:t>
            </a:r>
            <a:r>
              <a:rPr lang="en-US" sz="1400" b="1" spc="-50" dirty="0" smtClean="0">
                <a:latin typeface="Consolas" panose="020B0609020204030204" pitchFamily="49" charset="0"/>
                <a:cs typeface="Consolas" panose="020B0609020204030204" pitchFamily="49" charset="0"/>
              </a:rPr>
              <a:t>Join</a:t>
            </a:r>
            <a:r>
              <a:rPr lang="en-US" sz="1400" spc="-50" dirty="0" smtClean="0">
                <a:latin typeface="Consolas" panose="020B0609020204030204" pitchFamily="49" charset="0"/>
                <a:cs typeface="Consolas" panose="020B0609020204030204" pitchFamily="49" charset="0"/>
              </a:rPr>
              <a:t> </a:t>
            </a:r>
            <a:r>
              <a:rPr lang="en-US" sz="1400" spc="-50" dirty="0" smtClean="0">
                <a:solidFill>
                  <a:srgbClr val="23642F"/>
                </a:solidFill>
                <a:latin typeface="Consolas" panose="020B0609020204030204" pitchFamily="49" charset="0"/>
                <a:cs typeface="Consolas" panose="020B0609020204030204" pitchFamily="49" charset="0"/>
              </a:rPr>
              <a:t>client</a:t>
            </a:r>
            <a:r>
              <a:rPr lang="en-US" sz="1400" spc="-50" dirty="0" smtClean="0">
                <a:latin typeface="Consolas" panose="020B0609020204030204" pitchFamily="49" charset="0"/>
                <a:cs typeface="Consolas" panose="020B0609020204030204" pitchFamily="49" charset="0"/>
              </a:rPr>
              <a:t> </a:t>
            </a:r>
            <a:r>
              <a:rPr lang="en-US" sz="1400" b="1" spc="-50" dirty="0" smtClean="0">
                <a:latin typeface="Consolas" panose="020B0609020204030204" pitchFamily="49" charset="0"/>
                <a:cs typeface="Consolas" panose="020B0609020204030204" pitchFamily="49" charset="0"/>
              </a:rPr>
              <a:t>In</a:t>
            </a:r>
            <a:r>
              <a:rPr lang="en-US" sz="1400" spc="-50" dirty="0" smtClean="0">
                <a:latin typeface="Consolas" panose="020B0609020204030204" pitchFamily="49" charset="0"/>
                <a:cs typeface="Consolas" panose="020B0609020204030204" pitchFamily="49" charset="0"/>
              </a:rPr>
              <a:t> </a:t>
            </a:r>
            <a:r>
              <a:rPr lang="en-US" sz="1400" b="1" spc="-50" dirty="0" smtClean="0">
                <a:latin typeface="Consolas" panose="020B0609020204030204" pitchFamily="49" charset="0"/>
                <a:cs typeface="Consolas" panose="020B0609020204030204" pitchFamily="49" charset="0"/>
              </a:rPr>
              <a:t>First(</a:t>
            </a:r>
            <a:r>
              <a:rPr lang="en-US" sz="1400" spc="-50" dirty="0" err="1" smtClean="0">
                <a:solidFill>
                  <a:srgbClr val="23642F"/>
                </a:solidFill>
                <a:latin typeface="Consolas" panose="020B0609020204030204" pitchFamily="49" charset="0"/>
                <a:cs typeface="Consolas" panose="020B0609020204030204" pitchFamily="49" charset="0"/>
              </a:rPr>
              <a:t>ClientProtocols</a:t>
            </a:r>
            <a:r>
              <a:rPr lang="en-US" sz="1400" spc="-50" dirty="0" smtClean="0">
                <a:latin typeface="Consolas" panose="020B0609020204030204" pitchFamily="49" charset="0"/>
                <a:cs typeface="Consolas" panose="020B0609020204030204" pitchFamily="49" charset="0"/>
              </a:rPr>
              <a:t>) </a:t>
            </a:r>
            <a:r>
              <a:rPr lang="en-US" sz="1400" b="1" spc="-50" dirty="0" smtClean="0">
                <a:latin typeface="Consolas" panose="020B0609020204030204" pitchFamily="49" charset="0"/>
                <a:cs typeface="Consolas" panose="020B0609020204030204" pitchFamily="49" charset="0"/>
              </a:rPr>
              <a:t>On</a:t>
            </a:r>
            <a:r>
              <a:rPr lang="en-US" sz="1400" spc="-50" dirty="0" smtClean="0">
                <a:latin typeface="Consolas" panose="020B0609020204030204" pitchFamily="49" charset="0"/>
                <a:cs typeface="Consolas" panose="020B0609020204030204" pitchFamily="49" charset="0"/>
              </a:rPr>
              <a:t> </a:t>
            </a:r>
            <a:r>
              <a:rPr lang="en-US" sz="1400" spc="-50" dirty="0" smtClean="0">
                <a:solidFill>
                  <a:srgbClr val="23642F"/>
                </a:solidFill>
                <a:latin typeface="Consolas" panose="020B0609020204030204" pitchFamily="49" charset="0"/>
                <a:cs typeface="Consolas" panose="020B0609020204030204" pitchFamily="49" charset="0"/>
              </a:rPr>
              <a:t>client</a:t>
            </a:r>
            <a:r>
              <a:rPr lang="en-US" sz="1400" spc="-50" dirty="0" smtClean="0">
                <a:latin typeface="Consolas" panose="020B0609020204030204" pitchFamily="49" charset="0"/>
                <a:cs typeface="Consolas" panose="020B0609020204030204" pitchFamily="49" charset="0"/>
              </a:rPr>
              <a:t> </a:t>
            </a:r>
            <a:r>
              <a:rPr lang="en-US" sz="1400" b="1" spc="-50" dirty="0" smtClean="0">
                <a:latin typeface="Consolas" panose="020B0609020204030204" pitchFamily="49" charset="0"/>
                <a:cs typeface="Consolas" panose="020B0609020204030204" pitchFamily="49" charset="0"/>
              </a:rPr>
              <a:t>-&gt;</a:t>
            </a:r>
            <a:r>
              <a:rPr lang="en-US" sz="1400" spc="-50" dirty="0" smtClean="0">
                <a:latin typeface="Consolas" panose="020B0609020204030204" pitchFamily="49" charset="0"/>
                <a:cs typeface="Consolas" panose="020B0609020204030204" pitchFamily="49" charset="0"/>
              </a:rPr>
              <a:t> </a:t>
            </a:r>
            <a:r>
              <a:rPr lang="en-US" sz="1400" spc="-50" dirty="0" err="1" smtClean="0">
                <a:solidFill>
                  <a:srgbClr val="2F2364"/>
                </a:solidFill>
                <a:latin typeface="Consolas" panose="020B0609020204030204" pitchFamily="49" charset="0"/>
                <a:cs typeface="Consolas" panose="020B0609020204030204" pitchFamily="49" charset="0"/>
              </a:rPr>
              <a:t>incr</a:t>
            </a:r>
            <a:endParaRPr lang="en-US" sz="1400" spc="-50" dirty="0" smtClean="0">
              <a:solidFill>
                <a:srgbClr val="2F2364"/>
              </a:solidFill>
              <a:latin typeface="Consolas" panose="020B0609020204030204" pitchFamily="49" charset="0"/>
              <a:cs typeface="Consolas" panose="020B0609020204030204" pitchFamily="49" charset="0"/>
            </a:endParaRPr>
          </a:p>
          <a:p>
            <a:pPr>
              <a:lnSpc>
                <a:spcPct val="90000"/>
              </a:lnSpc>
            </a:pPr>
            <a:r>
              <a:rPr lang="en-US" sz="1400" spc="-50" dirty="0" smtClean="0">
                <a:latin typeface="Consolas" panose="020B0609020204030204" pitchFamily="49" charset="0"/>
                <a:cs typeface="Consolas" panose="020B0609020204030204" pitchFamily="49" charset="0"/>
              </a:rPr>
              <a:t>  </a:t>
            </a:r>
            <a:r>
              <a:rPr lang="en-US" sz="1400" b="1" spc="-50" dirty="0" err="1" smtClean="0">
                <a:latin typeface="Consolas" panose="020B0609020204030204" pitchFamily="49" charset="0"/>
                <a:cs typeface="Consolas" panose="020B0609020204030204" pitchFamily="49" charset="0"/>
              </a:rPr>
              <a:t>GroupBy</a:t>
            </a:r>
            <a:r>
              <a:rPr lang="en-US" sz="1400" spc="-50" dirty="0" smtClean="0">
                <a:latin typeface="Consolas" panose="020B0609020204030204" pitchFamily="49" charset="0"/>
                <a:cs typeface="Consolas" panose="020B0609020204030204" pitchFamily="49" charset="0"/>
              </a:rPr>
              <a:t> </a:t>
            </a:r>
            <a:r>
              <a:rPr lang="en-US" sz="1400" spc="-50" dirty="0" err="1" smtClean="0">
                <a:solidFill>
                  <a:srgbClr val="23642F"/>
                </a:solidFill>
                <a:latin typeface="Consolas" panose="020B0609020204030204" pitchFamily="49" charset="0"/>
                <a:cs typeface="Consolas" panose="020B0609020204030204" pitchFamily="49" charset="0"/>
              </a:rPr>
              <a:t>client.procName</a:t>
            </a:r>
            <a:endParaRPr lang="en-US" sz="1400" spc="-50" dirty="0" smtClean="0">
              <a:solidFill>
                <a:srgbClr val="23642F"/>
              </a:solidFill>
              <a:latin typeface="Consolas" panose="020B0609020204030204" pitchFamily="49" charset="0"/>
              <a:cs typeface="Consolas" panose="020B0609020204030204" pitchFamily="49" charset="0"/>
            </a:endParaRPr>
          </a:p>
          <a:p>
            <a:pPr>
              <a:lnSpc>
                <a:spcPct val="90000"/>
              </a:lnSpc>
            </a:pPr>
            <a:r>
              <a:rPr lang="en-US" sz="1400" spc="-50" dirty="0" smtClean="0">
                <a:solidFill>
                  <a:srgbClr val="23642F"/>
                </a:solidFill>
                <a:latin typeface="Consolas" panose="020B0609020204030204" pitchFamily="49" charset="0"/>
                <a:cs typeface="Consolas" panose="020B0609020204030204" pitchFamily="49" charset="0"/>
              </a:rPr>
              <a:t>  </a:t>
            </a:r>
            <a:r>
              <a:rPr lang="en-US" sz="1400" b="1" spc="-50" dirty="0" smtClean="0">
                <a:latin typeface="Consolas" panose="020B0609020204030204" pitchFamily="49" charset="0"/>
                <a:cs typeface="Consolas" panose="020B0609020204030204" pitchFamily="49" charset="0"/>
              </a:rPr>
              <a:t>Select</a:t>
            </a:r>
            <a:r>
              <a:rPr lang="en-US" sz="1400" spc="-50" dirty="0" smtClean="0">
                <a:latin typeface="Consolas" panose="020B0609020204030204" pitchFamily="49" charset="0"/>
                <a:cs typeface="Consolas" panose="020B0609020204030204" pitchFamily="49" charset="0"/>
              </a:rPr>
              <a:t> </a:t>
            </a:r>
            <a:r>
              <a:rPr lang="en-US" sz="1400" spc="-50" dirty="0" err="1" smtClean="0">
                <a:solidFill>
                  <a:srgbClr val="23642F"/>
                </a:solidFill>
                <a:latin typeface="Consolas" panose="020B0609020204030204" pitchFamily="49" charset="0"/>
                <a:cs typeface="Consolas" panose="020B0609020204030204" pitchFamily="49" charset="0"/>
              </a:rPr>
              <a:t>client.procName</a:t>
            </a:r>
            <a:r>
              <a:rPr lang="en-US" sz="1400" spc="-50" dirty="0" smtClean="0">
                <a:latin typeface="Consolas" panose="020B0609020204030204" pitchFamily="49" charset="0"/>
                <a:cs typeface="Consolas" panose="020B0609020204030204" pitchFamily="49" charset="0"/>
              </a:rPr>
              <a:t>,</a:t>
            </a:r>
            <a:r>
              <a:rPr lang="en-US" sz="1400" spc="-50" dirty="0" smtClean="0">
                <a:solidFill>
                  <a:srgbClr val="23642F"/>
                </a:solidFill>
                <a:latin typeface="Consolas" panose="020B0609020204030204" pitchFamily="49" charset="0"/>
                <a:cs typeface="Consolas" panose="020B0609020204030204" pitchFamily="49" charset="0"/>
              </a:rPr>
              <a:t> </a:t>
            </a:r>
            <a:r>
              <a:rPr lang="en-US" sz="1400" b="1" spc="-50" dirty="0" smtClean="0">
                <a:latin typeface="Consolas" panose="020B0609020204030204" pitchFamily="49" charset="0"/>
                <a:cs typeface="Consolas" panose="020B0609020204030204" pitchFamily="49" charset="0"/>
              </a:rPr>
              <a:t>SUM(</a:t>
            </a:r>
            <a:r>
              <a:rPr lang="en-US" sz="1400" spc="-50" dirty="0" err="1" smtClean="0">
                <a:solidFill>
                  <a:srgbClr val="2F2364"/>
                </a:solidFill>
                <a:latin typeface="Consolas" panose="020B0609020204030204" pitchFamily="49" charset="0"/>
                <a:cs typeface="Consolas" panose="020B0609020204030204" pitchFamily="49" charset="0"/>
              </a:rPr>
              <a:t>incr.delta</a:t>
            </a:r>
            <a:r>
              <a:rPr lang="en-US" sz="1400" b="1" spc="-50" dirty="0" smtClean="0">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4023551959"/>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fade">
                                          <p:cBhvr>
                                            <p:cTn id="7" dur="500"/>
                                            <p:tgtEl>
                                              <p:spTgt spid="62"/>
                                            </p:tgtEl>
                                          </p:cBhvr>
                                        </p:animEffect>
                                      </p:childTnLst>
                                    </p:cTn>
                                  </p:par>
                                  <p:par>
                                    <p:cTn id="8" presetID="1" presetClass="emph" presetSubtype="2" fill="hold" nodeType="withEffect">
                                      <p:stCondLst>
                                        <p:cond delay="0"/>
                                      </p:stCondLst>
                                      <p:childTnLst>
                                        <p:animClr clrSpc="rgb" dir="cw">
                                          <p:cBhvr>
                                            <p:cTn id="9" dur="500" fill="hold"/>
                                            <p:tgtEl>
                                              <p:spTgt spid="61"/>
                                            </p:tgtEl>
                                            <p:attrNameLst>
                                              <p:attrName>fillcolor</p:attrName>
                                            </p:attrNameLst>
                                          </p:cBhvr>
                                          <p:to>
                                            <a:schemeClr val="accent2"/>
                                          </p:to>
                                        </p:animClr>
                                        <p:set>
                                          <p:cBhvr>
                                            <p:cTn id="10" dur="500" fill="hold"/>
                                            <p:tgtEl>
                                              <p:spTgt spid="61"/>
                                            </p:tgtEl>
                                            <p:attrNameLst>
                                              <p:attrName>fill.type</p:attrName>
                                            </p:attrNameLst>
                                          </p:cBhvr>
                                          <p:to>
                                            <p:strVal val="solid"/>
                                          </p:to>
                                        </p:set>
                                        <p:set>
                                          <p:cBhvr>
                                            <p:cTn id="11" dur="500" fill="hold"/>
                                            <p:tgtEl>
                                              <p:spTgt spid="61"/>
                                            </p:tgtEl>
                                            <p:attrNameLst>
                                              <p:attrName>fill.on</p:attrName>
                                            </p:attrNameLst>
                                          </p:cBhvr>
                                          <p:to>
                                            <p:strVal val="true"/>
                                          </p:to>
                                        </p:set>
                                      </p:childTnLst>
                                    </p:cTn>
                                  </p:par>
                                  <p:par>
                                    <p:cTn id="12" presetID="7" presetClass="emph" presetSubtype="2" fill="hold" nodeType="withEffect">
                                      <p:stCondLst>
                                        <p:cond delay="0"/>
                                      </p:stCondLst>
                                      <p:childTnLst>
                                        <p:animClr clrSpc="rgb" dir="cw">
                                          <p:cBhvr>
                                            <p:cTn id="13" dur="500" fill="hold"/>
                                            <p:tgtEl>
                                              <p:spTgt spid="62"/>
                                            </p:tgtEl>
                                            <p:attrNameLst>
                                              <p:attrName>stroke.color</p:attrName>
                                            </p:attrNameLst>
                                          </p:cBhvr>
                                          <p:to>
                                            <a:schemeClr val="accent2"/>
                                          </p:to>
                                        </p:animClr>
                                        <p:set>
                                          <p:cBhvr>
                                            <p:cTn id="14" dur="500" fill="hold"/>
                                            <p:tgtEl>
                                              <p:spTgt spid="62"/>
                                            </p:tgtEl>
                                            <p:attrNameLst>
                                              <p:attrName>stroke.on</p:attrName>
                                            </p:attrNameLst>
                                          </p:cBhvr>
                                          <p:to>
                                            <p:strVal val="true"/>
                                          </p:to>
                                        </p:set>
                                      </p:childTnLst>
                                    </p:cTn>
                                  </p:par>
                                  <p:par>
                                    <p:cTn id="15" presetID="10" presetClass="entr" presetSubtype="0" fill="hold" grpId="0" nodeType="withEffect">
                                      <p:stCondLst>
                                        <p:cond delay="0"/>
                                      </p:stCondLst>
                                      <p:childTnLst>
                                        <p:set>
                                          <p:cBhvr>
                                            <p:cTn id="16" dur="1" fill="hold">
                                              <p:stCondLst>
                                                <p:cond delay="0"/>
                                              </p:stCondLst>
                                            </p:cTn>
                                            <p:tgtEl>
                                              <p:spTgt spid="76"/>
                                            </p:tgtEl>
                                            <p:attrNameLst>
                                              <p:attrName>style.visibility</p:attrName>
                                            </p:attrNameLst>
                                          </p:cBhvr>
                                          <p:to>
                                            <p:strVal val="visible"/>
                                          </p:to>
                                        </p:set>
                                        <p:animEffect transition="in" filter="fade">
                                          <p:cBhvr>
                                            <p:cTn id="17" dur="500"/>
                                            <p:tgtEl>
                                              <p:spTgt spid="76"/>
                                            </p:tgtEl>
                                          </p:cBhvr>
                                        </p:animEffect>
                                      </p:childTnLst>
                                    </p:cTn>
                                  </p:par>
                                </p:childTnLst>
                              </p:cTn>
                            </p:par>
                          </p:childTnLst>
                        </p:cTn>
                      </p:par>
                      <p:par>
                        <p:cTn id="18" fill="hold">
                          <p:stCondLst>
                            <p:cond delay="indefinite"/>
                          </p:stCondLst>
                          <p:childTnLst>
                            <p:par>
                              <p:cTn id="19" fill="hold">
                                <p:stCondLst>
                                  <p:cond delay="0"/>
                                </p:stCondLst>
                                <p:childTnLst>
                                  <p:par>
                                    <p:cTn id="20" presetID="0" presetClass="path" presetSubtype="0" fill="hold" grpId="3" nodeType="clickEffect">
                                      <p:stCondLst>
                                        <p:cond delay="0"/>
                                      </p:stCondLst>
                                      <p:childTnLst>
                                        <p:animMotion origin="layout" path="M 2.5E-6 -4.07407E-6 L -0.00642 0.02431 " pathEditMode="relative" rAng="0" ptsTypes="AA">
                                          <p:cBhvr>
                                            <p:cTn id="21" dur="250" fill="hold"/>
                                            <p:tgtEl>
                                              <p:spTgt spid="76"/>
                                            </p:tgtEl>
                                            <p:attrNameLst>
                                              <p:attrName>ppt_x</p:attrName>
                                              <p:attrName>ppt_y</p:attrName>
                                            </p:attrNameLst>
                                          </p:cBhvr>
                                          <p:rCtr x="-469" y="1273"/>
                                        </p:animMotion>
                                      </p:childTnLst>
                                    </p:cTn>
                                  </p:par>
                                </p:childTnLst>
                              </p:cTn>
                            </p:par>
                            <p:par>
                              <p:cTn id="22" fill="hold">
                                <p:stCondLst>
                                  <p:cond delay="250"/>
                                </p:stCondLst>
                                <p:childTnLst>
                                  <p:par>
                                    <p:cTn id="23" presetID="1" presetClass="emph" presetSubtype="2" fill="hold" nodeType="afterEffect">
                                      <p:stCondLst>
                                        <p:cond delay="0"/>
                                      </p:stCondLst>
                                      <p:childTnLst>
                                        <p:animClr clrSpc="rgb" dir="cw">
                                          <p:cBhvr>
                                            <p:cTn id="24" dur="500" fill="hold"/>
                                            <p:tgtEl>
                                              <p:spTgt spid="67"/>
                                            </p:tgtEl>
                                            <p:attrNameLst>
                                              <p:attrName>fillcolor</p:attrName>
                                            </p:attrNameLst>
                                          </p:cBhvr>
                                          <p:to>
                                            <a:srgbClr val="FFC000"/>
                                          </p:to>
                                        </p:animClr>
                                        <p:set>
                                          <p:cBhvr>
                                            <p:cTn id="25" dur="500" fill="hold"/>
                                            <p:tgtEl>
                                              <p:spTgt spid="67"/>
                                            </p:tgtEl>
                                            <p:attrNameLst>
                                              <p:attrName>fill.type</p:attrName>
                                            </p:attrNameLst>
                                          </p:cBhvr>
                                          <p:to>
                                            <p:strVal val="solid"/>
                                          </p:to>
                                        </p:set>
                                        <p:set>
                                          <p:cBhvr>
                                            <p:cTn id="26" dur="500" fill="hold"/>
                                            <p:tgtEl>
                                              <p:spTgt spid="67"/>
                                            </p:tgtEl>
                                            <p:attrNameLst>
                                              <p:attrName>fill.on</p:attrName>
                                            </p:attrNameLst>
                                          </p:cBhvr>
                                          <p:to>
                                            <p:strVal val="true"/>
                                          </p:to>
                                        </p:set>
                                      </p:childTnLst>
                                    </p:cTn>
                                  </p:par>
                                  <p:par>
                                    <p:cTn id="27" presetID="1" presetClass="emph" presetSubtype="2" fill="hold" nodeType="withEffect">
                                      <p:stCondLst>
                                        <p:cond delay="0"/>
                                      </p:stCondLst>
                                      <p:childTnLst>
                                        <p:animClr clrSpc="rgb" dir="cw">
                                          <p:cBhvr>
                                            <p:cTn id="28" dur="500" fill="hold"/>
                                            <p:tgtEl>
                                              <p:spTgt spid="65"/>
                                            </p:tgtEl>
                                            <p:attrNameLst>
                                              <p:attrName>fillcolor</p:attrName>
                                            </p:attrNameLst>
                                          </p:cBhvr>
                                          <p:to>
                                            <a:srgbClr val="FFC000"/>
                                          </p:to>
                                        </p:animClr>
                                        <p:set>
                                          <p:cBhvr>
                                            <p:cTn id="29" dur="500" fill="hold"/>
                                            <p:tgtEl>
                                              <p:spTgt spid="65"/>
                                            </p:tgtEl>
                                            <p:attrNameLst>
                                              <p:attrName>fill.type</p:attrName>
                                            </p:attrNameLst>
                                          </p:cBhvr>
                                          <p:to>
                                            <p:strVal val="solid"/>
                                          </p:to>
                                        </p:set>
                                        <p:set>
                                          <p:cBhvr>
                                            <p:cTn id="30" dur="500" fill="hold"/>
                                            <p:tgtEl>
                                              <p:spTgt spid="65"/>
                                            </p:tgtEl>
                                            <p:attrNameLst>
                                              <p:attrName>fill.on</p:attrName>
                                            </p:attrNameLst>
                                          </p:cBhvr>
                                          <p:to>
                                            <p:strVal val="true"/>
                                          </p:to>
                                        </p:set>
                                      </p:childTnLst>
                                    </p:cTn>
                                  </p:par>
                                </p:childTnLst>
                              </p:cTn>
                            </p:par>
                            <p:par>
                              <p:cTn id="31" fill="hold">
                                <p:stCondLst>
                                  <p:cond delay="750"/>
                                </p:stCondLst>
                                <p:childTnLst>
                                  <p:par>
                                    <p:cTn id="32" presetID="10" presetClass="entr" presetSubtype="0" fill="hold" grpId="0" nodeType="afterEffect">
                                      <p:stCondLst>
                                        <p:cond delay="0"/>
                                      </p:stCondLst>
                                      <p:childTnLst>
                                        <p:set>
                                          <p:cBhvr>
                                            <p:cTn id="33" dur="1" fill="hold">
                                              <p:stCondLst>
                                                <p:cond delay="0"/>
                                              </p:stCondLst>
                                            </p:cTn>
                                            <p:tgtEl>
                                              <p:spTgt spid="127"/>
                                            </p:tgtEl>
                                            <p:attrNameLst>
                                              <p:attrName>style.visibility</p:attrName>
                                            </p:attrNameLst>
                                          </p:cBhvr>
                                          <p:to>
                                            <p:strVal val="visible"/>
                                          </p:to>
                                        </p:set>
                                        <p:animEffect transition="in" filter="fade">
                                          <p:cBhvr>
                                            <p:cTn id="34" dur="500"/>
                                            <p:tgtEl>
                                              <p:spTgt spid="127"/>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fill="hold" grpId="1" nodeType="clickEffect" p14:presetBounceEnd="10000">
                                      <p:stCondLst>
                                        <p:cond delay="0"/>
                                      </p:stCondLst>
                                      <p:childTnLst>
                                        <p:animMotion origin="layout" path="M -0.00642 0.02431 L -0.02413 0.07384 L -0.02413 0.23889 " pathEditMode="relative" rAng="0" ptsTypes="AAA" p14:bounceEnd="10000">
                                          <p:cBhvr>
                                            <p:cTn id="38" dur="1000" fill="hold"/>
                                            <p:tgtEl>
                                              <p:spTgt spid="76"/>
                                            </p:tgtEl>
                                            <p:attrNameLst>
                                              <p:attrName>ppt_x</p:attrName>
                                              <p:attrName>ppt_y</p:attrName>
                                            </p:attrNameLst>
                                          </p:cBhvr>
                                          <p:rCtr x="-885" y="10718"/>
                                        </p:animMotion>
                                      </p:childTnLst>
                                    </p:cTn>
                                  </p:par>
                                </p:childTnLst>
                              </p:cTn>
                            </p:par>
                            <p:par>
                              <p:cTn id="39" fill="hold">
                                <p:stCondLst>
                                  <p:cond delay="1000"/>
                                </p:stCondLst>
                                <p:childTnLst>
                                  <p:par>
                                    <p:cTn id="40" presetID="1" presetClass="emph" presetSubtype="2" fill="hold" nodeType="afterEffect">
                                      <p:stCondLst>
                                        <p:cond delay="0"/>
                                      </p:stCondLst>
                                      <p:childTnLst>
                                        <p:animClr clrSpc="rgb" dir="cw">
                                          <p:cBhvr>
                                            <p:cTn id="41" dur="500" fill="hold"/>
                                            <p:tgtEl>
                                              <p:spTgt spid="72"/>
                                            </p:tgtEl>
                                            <p:attrNameLst>
                                              <p:attrName>fillcolor</p:attrName>
                                            </p:attrNameLst>
                                          </p:cBhvr>
                                          <p:to>
                                            <a:srgbClr val="FFC000"/>
                                          </p:to>
                                        </p:animClr>
                                        <p:set>
                                          <p:cBhvr>
                                            <p:cTn id="42" dur="500" fill="hold"/>
                                            <p:tgtEl>
                                              <p:spTgt spid="72"/>
                                            </p:tgtEl>
                                            <p:attrNameLst>
                                              <p:attrName>fill.type</p:attrName>
                                            </p:attrNameLst>
                                          </p:cBhvr>
                                          <p:to>
                                            <p:strVal val="solid"/>
                                          </p:to>
                                        </p:set>
                                        <p:set>
                                          <p:cBhvr>
                                            <p:cTn id="43" dur="500" fill="hold"/>
                                            <p:tgtEl>
                                              <p:spTgt spid="72"/>
                                            </p:tgtEl>
                                            <p:attrNameLst>
                                              <p:attrName>fill.on</p:attrName>
                                            </p:attrNameLst>
                                          </p:cBhvr>
                                          <p:to>
                                            <p:strVal val="true"/>
                                          </p:to>
                                        </p:set>
                                      </p:childTnLst>
                                    </p:cTn>
                                  </p:par>
                                  <p:par>
                                    <p:cTn id="44" presetID="1" presetClass="emph" presetSubtype="2" fill="hold" nodeType="withEffect">
                                      <p:stCondLst>
                                        <p:cond delay="0"/>
                                      </p:stCondLst>
                                      <p:childTnLst>
                                        <p:animClr clrSpc="rgb" dir="cw">
                                          <p:cBhvr>
                                            <p:cTn id="45" dur="500" fill="hold"/>
                                            <p:tgtEl>
                                              <p:spTgt spid="75"/>
                                            </p:tgtEl>
                                            <p:attrNameLst>
                                              <p:attrName>fillcolor</p:attrName>
                                            </p:attrNameLst>
                                          </p:cBhvr>
                                          <p:to>
                                            <a:srgbClr val="FFC000"/>
                                          </p:to>
                                        </p:animClr>
                                        <p:set>
                                          <p:cBhvr>
                                            <p:cTn id="46" dur="500" fill="hold"/>
                                            <p:tgtEl>
                                              <p:spTgt spid="75"/>
                                            </p:tgtEl>
                                            <p:attrNameLst>
                                              <p:attrName>fill.type</p:attrName>
                                            </p:attrNameLst>
                                          </p:cBhvr>
                                          <p:to>
                                            <p:strVal val="solid"/>
                                          </p:to>
                                        </p:set>
                                        <p:set>
                                          <p:cBhvr>
                                            <p:cTn id="47" dur="500" fill="hold"/>
                                            <p:tgtEl>
                                              <p:spTgt spid="75"/>
                                            </p:tgtEl>
                                            <p:attrNameLst>
                                              <p:attrName>fill.on</p:attrName>
                                            </p:attrNameLst>
                                          </p:cBhvr>
                                          <p:to>
                                            <p:strVal val="true"/>
                                          </p:to>
                                        </p:set>
                                      </p:childTnLst>
                                    </p:cTn>
                                  </p:par>
                                </p:childTnLst>
                              </p:cTn>
                            </p:par>
                            <p:par>
                              <p:cTn id="48" fill="hold">
                                <p:stCondLst>
                                  <p:cond delay="1500"/>
                                </p:stCondLst>
                                <p:childTnLst>
                                  <p:par>
                                    <p:cTn id="49" presetID="10" presetClass="entr" presetSubtype="0" fill="hold" grpId="0" nodeType="afterEffect">
                                      <p:stCondLst>
                                        <p:cond delay="0"/>
                                      </p:stCondLst>
                                      <p:childTnLst>
                                        <p:set>
                                          <p:cBhvr>
                                            <p:cTn id="50" dur="1" fill="hold">
                                              <p:stCondLst>
                                                <p:cond delay="0"/>
                                              </p:stCondLst>
                                            </p:cTn>
                                            <p:tgtEl>
                                              <p:spTgt spid="126"/>
                                            </p:tgtEl>
                                            <p:attrNameLst>
                                              <p:attrName>style.visibility</p:attrName>
                                            </p:attrNameLst>
                                          </p:cBhvr>
                                          <p:to>
                                            <p:strVal val="visible"/>
                                          </p:to>
                                        </p:set>
                                        <p:animEffect transition="in" filter="fade">
                                          <p:cBhvr>
                                            <p:cTn id="51" dur="500"/>
                                            <p:tgtEl>
                                              <p:spTgt spid="126"/>
                                            </p:tgtEl>
                                          </p:cBhvr>
                                        </p:animEffect>
                                      </p:childTnLst>
                                    </p:cTn>
                                  </p:par>
                                </p:childTnLst>
                              </p:cTn>
                            </p:par>
                          </p:childTnLst>
                        </p:cTn>
                      </p:par>
                      <p:par>
                        <p:cTn id="52" fill="hold">
                          <p:stCondLst>
                            <p:cond delay="indefinite"/>
                          </p:stCondLst>
                          <p:childTnLst>
                            <p:par>
                              <p:cTn id="53" fill="hold">
                                <p:stCondLst>
                                  <p:cond delay="0"/>
                                </p:stCondLst>
                                <p:childTnLst>
                                  <p:par>
                                    <p:cTn id="54" presetID="0" presetClass="path" presetSubtype="0" fill="hold" grpId="2" nodeType="clickEffect">
                                      <p:stCondLst>
                                        <p:cond delay="0"/>
                                      </p:stCondLst>
                                      <p:childTnLst>
                                        <p:animMotion origin="layout" path="M -0.02413 0.23889 L -0.02413 0.31459 " pathEditMode="relative" rAng="0" ptsTypes="AA">
                                          <p:cBhvr>
                                            <p:cTn id="55" dur="500" fill="hold"/>
                                            <p:tgtEl>
                                              <p:spTgt spid="76"/>
                                            </p:tgtEl>
                                            <p:attrNameLst>
                                              <p:attrName>ppt_x</p:attrName>
                                              <p:attrName>ppt_y</p:attrName>
                                            </p:attrNameLst>
                                          </p:cBhvr>
                                          <p:rCtr x="0" y="3773"/>
                                        </p:animMotion>
                                      </p:childTnLst>
                                    </p:cTn>
                                  </p:par>
                                </p:childTnLst>
                              </p:cTn>
                            </p:par>
                            <p:par>
                              <p:cTn id="56" fill="hold">
                                <p:stCondLst>
                                  <p:cond delay="500"/>
                                </p:stCondLst>
                                <p:childTnLst>
                                  <p:par>
                                    <p:cTn id="57" presetID="10" presetClass="entr" presetSubtype="0" fill="hold" grpId="0" nodeType="afterEffect">
                                      <p:stCondLst>
                                        <p:cond delay="0"/>
                                      </p:stCondLst>
                                      <p:childTnLst>
                                        <p:set>
                                          <p:cBhvr>
                                            <p:cTn id="58" dur="1" fill="hold">
                                              <p:stCondLst>
                                                <p:cond delay="0"/>
                                              </p:stCondLst>
                                            </p:cTn>
                                            <p:tgtEl>
                                              <p:spTgt spid="60"/>
                                            </p:tgtEl>
                                            <p:attrNameLst>
                                              <p:attrName>style.visibility</p:attrName>
                                            </p:attrNameLst>
                                          </p:cBhvr>
                                          <p:to>
                                            <p:strVal val="visible"/>
                                          </p:to>
                                        </p:set>
                                        <p:animEffect transition="in" filter="fade">
                                          <p:cBhvr>
                                            <p:cTn id="59" dur="500"/>
                                            <p:tgtEl>
                                              <p:spTgt spid="60"/>
                                            </p:tgtEl>
                                          </p:cBhvr>
                                        </p:animEffect>
                                      </p:childTnLst>
                                    </p:cTn>
                                  </p:par>
                                  <p:par>
                                    <p:cTn id="60" presetID="10" presetClass="entr" presetSubtype="0" fill="hold" nodeType="withEffect">
                                      <p:stCondLst>
                                        <p:cond delay="0"/>
                                      </p:stCondLst>
                                      <p:childTnLst>
                                        <p:set>
                                          <p:cBhvr>
                                            <p:cTn id="61" dur="1" fill="hold">
                                              <p:stCondLst>
                                                <p:cond delay="0"/>
                                              </p:stCondLst>
                                            </p:cTn>
                                            <p:tgtEl>
                                              <p:spTgt spid="63"/>
                                            </p:tgtEl>
                                            <p:attrNameLst>
                                              <p:attrName>style.visibility</p:attrName>
                                            </p:attrNameLst>
                                          </p:cBhvr>
                                          <p:to>
                                            <p:strVal val="visible"/>
                                          </p:to>
                                        </p:set>
                                        <p:animEffect transition="in" filter="fade">
                                          <p:cBhvr>
                                            <p:cTn id="62" dur="500"/>
                                            <p:tgtEl>
                                              <p:spTgt spid="6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79"/>
                                            </p:tgtEl>
                                            <p:attrNameLst>
                                              <p:attrName>style.visibility</p:attrName>
                                            </p:attrNameLst>
                                          </p:cBhvr>
                                          <p:to>
                                            <p:strVal val="visible"/>
                                          </p:to>
                                        </p:set>
                                        <p:animEffect transition="in" filter="fade">
                                          <p:cBhvr>
                                            <p:cTn id="65" dur="500"/>
                                            <p:tgtEl>
                                              <p:spTgt spid="79"/>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9"/>
                                            </p:tgtEl>
                                            <p:attrNameLst>
                                              <p:attrName>style.visibility</p:attrName>
                                            </p:attrNameLst>
                                          </p:cBhvr>
                                          <p:to>
                                            <p:strVal val="visible"/>
                                          </p:to>
                                        </p:set>
                                        <p:animEffect transition="in" filter="wipe(left)">
                                          <p:cBhvr>
                                            <p:cTn id="70" dur="500"/>
                                            <p:tgtEl>
                                              <p:spTgt spid="9"/>
                                            </p:tgtEl>
                                          </p:cBhvr>
                                        </p:animEffect>
                                      </p:childTnLst>
                                    </p:cTn>
                                  </p:par>
                                  <p:par>
                                    <p:cTn id="71" presetID="22" presetClass="entr" presetSubtype="2" fill="hold" nodeType="withEffect">
                                      <p:stCondLst>
                                        <p:cond delay="0"/>
                                      </p:stCondLst>
                                      <p:childTnLst>
                                        <p:set>
                                          <p:cBhvr>
                                            <p:cTn id="72" dur="1" fill="hold">
                                              <p:stCondLst>
                                                <p:cond delay="0"/>
                                              </p:stCondLst>
                                            </p:cTn>
                                            <p:tgtEl>
                                              <p:spTgt spid="10"/>
                                            </p:tgtEl>
                                            <p:attrNameLst>
                                              <p:attrName>style.visibility</p:attrName>
                                            </p:attrNameLst>
                                          </p:cBhvr>
                                          <p:to>
                                            <p:strVal val="visible"/>
                                          </p:to>
                                        </p:set>
                                        <p:animEffect transition="in" filter="wipe(right)">
                                          <p:cBhvr>
                                            <p:cTn id="73" dur="500"/>
                                            <p:tgtEl>
                                              <p:spTgt spid="10"/>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xit" presetSubtype="0" fill="hold" grpId="1" nodeType="clickEffect">
                                      <p:stCondLst>
                                        <p:cond delay="0"/>
                                      </p:stCondLst>
                                      <p:childTnLst>
                                        <p:animEffect transition="out" filter="fade">
                                          <p:cBhvr>
                                            <p:cTn id="77" dur="500"/>
                                            <p:tgtEl>
                                              <p:spTgt spid="60"/>
                                            </p:tgtEl>
                                          </p:cBhvr>
                                        </p:animEffect>
                                        <p:set>
                                          <p:cBhvr>
                                            <p:cTn id="78" dur="1" fill="hold">
                                              <p:stCondLst>
                                                <p:cond delay="499"/>
                                              </p:stCondLst>
                                            </p:cTn>
                                            <p:tgtEl>
                                              <p:spTgt spid="60"/>
                                            </p:tgtEl>
                                            <p:attrNameLst>
                                              <p:attrName>style.visibility</p:attrName>
                                            </p:attrNameLst>
                                          </p:cBhvr>
                                          <p:to>
                                            <p:strVal val="hidden"/>
                                          </p:to>
                                        </p:set>
                                      </p:childTnLst>
                                    </p:cTn>
                                  </p:par>
                                  <p:par>
                                    <p:cTn id="79" presetID="10" presetClass="exit" presetSubtype="0" fill="hold" nodeType="withEffect">
                                      <p:stCondLst>
                                        <p:cond delay="0"/>
                                      </p:stCondLst>
                                      <p:childTnLst>
                                        <p:animEffect transition="out" filter="fade">
                                          <p:cBhvr>
                                            <p:cTn id="80" dur="500"/>
                                            <p:tgtEl>
                                              <p:spTgt spid="63"/>
                                            </p:tgtEl>
                                          </p:cBhvr>
                                        </p:animEffect>
                                        <p:set>
                                          <p:cBhvr>
                                            <p:cTn id="81" dur="1" fill="hold">
                                              <p:stCondLst>
                                                <p:cond delay="499"/>
                                              </p:stCondLst>
                                            </p:cTn>
                                            <p:tgtEl>
                                              <p:spTgt spid="63"/>
                                            </p:tgtEl>
                                            <p:attrNameLst>
                                              <p:attrName>style.visibility</p:attrName>
                                            </p:attrNameLst>
                                          </p:cBhvr>
                                          <p:to>
                                            <p:strVal val="hidden"/>
                                          </p:to>
                                        </p:set>
                                      </p:childTnLst>
                                    </p:cTn>
                                  </p:par>
                                  <p:par>
                                    <p:cTn id="82" presetID="10" presetClass="exit" presetSubtype="0" fill="hold" grpId="1" nodeType="withEffect">
                                      <p:stCondLst>
                                        <p:cond delay="0"/>
                                      </p:stCondLst>
                                      <p:childTnLst>
                                        <p:animEffect transition="out" filter="fade">
                                          <p:cBhvr>
                                            <p:cTn id="83" dur="500"/>
                                            <p:tgtEl>
                                              <p:spTgt spid="79"/>
                                            </p:tgtEl>
                                          </p:cBhvr>
                                        </p:animEffect>
                                        <p:set>
                                          <p:cBhvr>
                                            <p:cTn id="84" dur="1" fill="hold">
                                              <p:stCondLst>
                                                <p:cond delay="499"/>
                                              </p:stCondLst>
                                            </p:cTn>
                                            <p:tgtEl>
                                              <p:spTgt spid="79"/>
                                            </p:tgtEl>
                                            <p:attrNameLst>
                                              <p:attrName>style.visibility</p:attrName>
                                            </p:attrNameLst>
                                          </p:cBhvr>
                                          <p:to>
                                            <p:strVal val="hidden"/>
                                          </p:to>
                                        </p:set>
                                      </p:childTnLst>
                                    </p:cTn>
                                  </p:par>
                                  <p:par>
                                    <p:cTn id="85" presetID="10" presetClass="exit" presetSubtype="0" fill="hold" nodeType="withEffect">
                                      <p:stCondLst>
                                        <p:cond delay="0"/>
                                      </p:stCondLst>
                                      <p:childTnLst>
                                        <p:animEffect transition="out" filter="fade">
                                          <p:cBhvr>
                                            <p:cTn id="86" dur="500"/>
                                            <p:tgtEl>
                                              <p:spTgt spid="9"/>
                                            </p:tgtEl>
                                          </p:cBhvr>
                                        </p:animEffect>
                                        <p:set>
                                          <p:cBhvr>
                                            <p:cTn id="87" dur="1" fill="hold">
                                              <p:stCondLst>
                                                <p:cond delay="499"/>
                                              </p:stCondLst>
                                            </p:cTn>
                                            <p:tgtEl>
                                              <p:spTgt spid="9"/>
                                            </p:tgtEl>
                                            <p:attrNameLst>
                                              <p:attrName>style.visibility</p:attrName>
                                            </p:attrNameLst>
                                          </p:cBhvr>
                                          <p:to>
                                            <p:strVal val="hidden"/>
                                          </p:to>
                                        </p:set>
                                      </p:childTnLst>
                                    </p:cTn>
                                  </p:par>
                                  <p:par>
                                    <p:cTn id="88" presetID="10" presetClass="exit" presetSubtype="0" fill="hold" nodeType="withEffect">
                                      <p:stCondLst>
                                        <p:cond delay="0"/>
                                      </p:stCondLst>
                                      <p:childTnLst>
                                        <p:animEffect transition="out" filter="fade">
                                          <p:cBhvr>
                                            <p:cTn id="89" dur="500"/>
                                            <p:tgtEl>
                                              <p:spTgt spid="10"/>
                                            </p:tgtEl>
                                          </p:cBhvr>
                                        </p:animEffect>
                                        <p:set>
                                          <p:cBhvr>
                                            <p:cTn id="90" dur="1" fill="hold">
                                              <p:stCondLst>
                                                <p:cond delay="499"/>
                                              </p:stCondLst>
                                            </p:cTn>
                                            <p:tgtEl>
                                              <p:spTgt spid="10"/>
                                            </p:tgtEl>
                                            <p:attrNameLst>
                                              <p:attrName>style.visibility</p:attrName>
                                            </p:attrNameLst>
                                          </p:cBhvr>
                                          <p:to>
                                            <p:strVal val="hidden"/>
                                          </p:to>
                                        </p:set>
                                      </p:childTnLst>
                                    </p:cTn>
                                  </p:par>
                                  <p:par>
                                    <p:cTn id="91" presetID="10" presetClass="exit" presetSubtype="0" fill="hold" grpId="1" nodeType="withEffect">
                                      <p:stCondLst>
                                        <p:cond delay="0"/>
                                      </p:stCondLst>
                                      <p:childTnLst>
                                        <p:animEffect transition="out" filter="fade">
                                          <p:cBhvr>
                                            <p:cTn id="92" dur="500"/>
                                            <p:tgtEl>
                                              <p:spTgt spid="62"/>
                                            </p:tgtEl>
                                          </p:cBhvr>
                                        </p:animEffect>
                                        <p:set>
                                          <p:cBhvr>
                                            <p:cTn id="93" dur="1" fill="hold">
                                              <p:stCondLst>
                                                <p:cond delay="499"/>
                                              </p:stCondLst>
                                            </p:cTn>
                                            <p:tgtEl>
                                              <p:spTgt spid="62"/>
                                            </p:tgtEl>
                                            <p:attrNameLst>
                                              <p:attrName>style.visibility</p:attrName>
                                            </p:attrNameLst>
                                          </p:cBhvr>
                                          <p:to>
                                            <p:strVal val="hidden"/>
                                          </p:to>
                                        </p:set>
                                      </p:childTnLst>
                                    </p:cTn>
                                  </p:par>
                                  <p:par>
                                    <p:cTn id="94" presetID="10" presetClass="exit" presetSubtype="0" fill="hold" grpId="4" nodeType="withEffect">
                                      <p:stCondLst>
                                        <p:cond delay="0"/>
                                      </p:stCondLst>
                                      <p:childTnLst>
                                        <p:animEffect transition="out" filter="fade">
                                          <p:cBhvr>
                                            <p:cTn id="95" dur="500"/>
                                            <p:tgtEl>
                                              <p:spTgt spid="76"/>
                                            </p:tgtEl>
                                          </p:cBhvr>
                                        </p:animEffect>
                                        <p:set>
                                          <p:cBhvr>
                                            <p:cTn id="96" dur="1" fill="hold">
                                              <p:stCondLst>
                                                <p:cond delay="499"/>
                                              </p:stCondLst>
                                            </p:cTn>
                                            <p:tgtEl>
                                              <p:spTgt spid="76"/>
                                            </p:tgtEl>
                                            <p:attrNameLst>
                                              <p:attrName>style.visibility</p:attrName>
                                            </p:attrNameLst>
                                          </p:cBhvr>
                                          <p:to>
                                            <p:strVal val="hidden"/>
                                          </p:to>
                                        </p:set>
                                      </p:childTnLst>
                                    </p:cTn>
                                  </p:par>
                                  <p:par>
                                    <p:cTn id="97" presetID="1" presetClass="emph" presetSubtype="2" fill="hold" nodeType="withEffect">
                                      <p:stCondLst>
                                        <p:cond delay="0"/>
                                      </p:stCondLst>
                                      <p:childTnLst>
                                        <p:animClr clrSpc="rgb" dir="cw">
                                          <p:cBhvr>
                                            <p:cTn id="98" dur="500" fill="hold"/>
                                            <p:tgtEl>
                                              <p:spTgt spid="67"/>
                                            </p:tgtEl>
                                            <p:attrNameLst>
                                              <p:attrName>fillcolor</p:attrName>
                                            </p:attrNameLst>
                                          </p:cBhvr>
                                          <p:to>
                                            <a:srgbClr val="FFFFFF"/>
                                          </p:to>
                                        </p:animClr>
                                        <p:set>
                                          <p:cBhvr>
                                            <p:cTn id="99" dur="500" fill="hold"/>
                                            <p:tgtEl>
                                              <p:spTgt spid="67"/>
                                            </p:tgtEl>
                                            <p:attrNameLst>
                                              <p:attrName>fill.type</p:attrName>
                                            </p:attrNameLst>
                                          </p:cBhvr>
                                          <p:to>
                                            <p:strVal val="solid"/>
                                          </p:to>
                                        </p:set>
                                        <p:set>
                                          <p:cBhvr>
                                            <p:cTn id="100" dur="500" fill="hold"/>
                                            <p:tgtEl>
                                              <p:spTgt spid="67"/>
                                            </p:tgtEl>
                                            <p:attrNameLst>
                                              <p:attrName>fill.on</p:attrName>
                                            </p:attrNameLst>
                                          </p:cBhvr>
                                          <p:to>
                                            <p:strVal val="true"/>
                                          </p:to>
                                        </p:set>
                                      </p:childTnLst>
                                    </p:cTn>
                                  </p:par>
                                  <p:par>
                                    <p:cTn id="101" presetID="1" presetClass="emph" presetSubtype="2" fill="hold" nodeType="withEffect">
                                      <p:stCondLst>
                                        <p:cond delay="0"/>
                                      </p:stCondLst>
                                      <p:childTnLst>
                                        <p:animClr clrSpc="rgb" dir="cw">
                                          <p:cBhvr>
                                            <p:cTn id="102" dur="500" fill="hold"/>
                                            <p:tgtEl>
                                              <p:spTgt spid="65"/>
                                            </p:tgtEl>
                                            <p:attrNameLst>
                                              <p:attrName>fillcolor</p:attrName>
                                            </p:attrNameLst>
                                          </p:cBhvr>
                                          <p:to>
                                            <a:srgbClr val="FFFFFF"/>
                                          </p:to>
                                        </p:animClr>
                                        <p:set>
                                          <p:cBhvr>
                                            <p:cTn id="103" dur="500" fill="hold"/>
                                            <p:tgtEl>
                                              <p:spTgt spid="65"/>
                                            </p:tgtEl>
                                            <p:attrNameLst>
                                              <p:attrName>fill.type</p:attrName>
                                            </p:attrNameLst>
                                          </p:cBhvr>
                                          <p:to>
                                            <p:strVal val="solid"/>
                                          </p:to>
                                        </p:set>
                                        <p:set>
                                          <p:cBhvr>
                                            <p:cTn id="104" dur="500" fill="hold"/>
                                            <p:tgtEl>
                                              <p:spTgt spid="65"/>
                                            </p:tgtEl>
                                            <p:attrNameLst>
                                              <p:attrName>fill.on</p:attrName>
                                            </p:attrNameLst>
                                          </p:cBhvr>
                                          <p:to>
                                            <p:strVal val="true"/>
                                          </p:to>
                                        </p:set>
                                      </p:childTnLst>
                                    </p:cTn>
                                  </p:par>
                                  <p:par>
                                    <p:cTn id="105" presetID="1" presetClass="emph" presetSubtype="2" fill="hold" nodeType="withEffect">
                                      <p:stCondLst>
                                        <p:cond delay="0"/>
                                      </p:stCondLst>
                                      <p:childTnLst>
                                        <p:animClr clrSpc="rgb" dir="cw">
                                          <p:cBhvr>
                                            <p:cTn id="106" dur="500" fill="hold"/>
                                            <p:tgtEl>
                                              <p:spTgt spid="72"/>
                                            </p:tgtEl>
                                            <p:attrNameLst>
                                              <p:attrName>fillcolor</p:attrName>
                                            </p:attrNameLst>
                                          </p:cBhvr>
                                          <p:to>
                                            <a:srgbClr val="FFFFFF"/>
                                          </p:to>
                                        </p:animClr>
                                        <p:set>
                                          <p:cBhvr>
                                            <p:cTn id="107" dur="500" fill="hold"/>
                                            <p:tgtEl>
                                              <p:spTgt spid="72"/>
                                            </p:tgtEl>
                                            <p:attrNameLst>
                                              <p:attrName>fill.type</p:attrName>
                                            </p:attrNameLst>
                                          </p:cBhvr>
                                          <p:to>
                                            <p:strVal val="solid"/>
                                          </p:to>
                                        </p:set>
                                        <p:set>
                                          <p:cBhvr>
                                            <p:cTn id="108" dur="500" fill="hold"/>
                                            <p:tgtEl>
                                              <p:spTgt spid="72"/>
                                            </p:tgtEl>
                                            <p:attrNameLst>
                                              <p:attrName>fill.on</p:attrName>
                                            </p:attrNameLst>
                                          </p:cBhvr>
                                          <p:to>
                                            <p:strVal val="true"/>
                                          </p:to>
                                        </p:set>
                                      </p:childTnLst>
                                    </p:cTn>
                                  </p:par>
                                  <p:par>
                                    <p:cTn id="109" presetID="1" presetClass="emph" presetSubtype="2" fill="hold" nodeType="withEffect">
                                      <p:stCondLst>
                                        <p:cond delay="0"/>
                                      </p:stCondLst>
                                      <p:childTnLst>
                                        <p:animClr clrSpc="rgb" dir="cw">
                                          <p:cBhvr>
                                            <p:cTn id="110" dur="500" fill="hold"/>
                                            <p:tgtEl>
                                              <p:spTgt spid="75"/>
                                            </p:tgtEl>
                                            <p:attrNameLst>
                                              <p:attrName>fillcolor</p:attrName>
                                            </p:attrNameLst>
                                          </p:cBhvr>
                                          <p:to>
                                            <a:srgbClr val="FFFFFF"/>
                                          </p:to>
                                        </p:animClr>
                                        <p:set>
                                          <p:cBhvr>
                                            <p:cTn id="111" dur="500" fill="hold"/>
                                            <p:tgtEl>
                                              <p:spTgt spid="75"/>
                                            </p:tgtEl>
                                            <p:attrNameLst>
                                              <p:attrName>fill.type</p:attrName>
                                            </p:attrNameLst>
                                          </p:cBhvr>
                                          <p:to>
                                            <p:strVal val="solid"/>
                                          </p:to>
                                        </p:set>
                                        <p:set>
                                          <p:cBhvr>
                                            <p:cTn id="112" dur="500" fill="hold"/>
                                            <p:tgtEl>
                                              <p:spTgt spid="75"/>
                                            </p:tgtEl>
                                            <p:attrNameLst>
                                              <p:attrName>fill.on</p:attrName>
                                            </p:attrNameLst>
                                          </p:cBhvr>
                                          <p:to>
                                            <p:strVal val="true"/>
                                          </p:to>
                                        </p:set>
                                      </p:childTnLst>
                                    </p:cTn>
                                  </p:par>
                                  <p:par>
                                    <p:cTn id="113" presetID="1" presetClass="emph" presetSubtype="2" fill="hold" nodeType="withEffect">
                                      <p:stCondLst>
                                        <p:cond delay="0"/>
                                      </p:stCondLst>
                                      <p:childTnLst>
                                        <p:animClr clrSpc="rgb" dir="cw">
                                          <p:cBhvr>
                                            <p:cTn id="114" dur="500" fill="hold"/>
                                            <p:tgtEl>
                                              <p:spTgt spid="61"/>
                                            </p:tgtEl>
                                            <p:attrNameLst>
                                              <p:attrName>fillcolor</p:attrName>
                                            </p:attrNameLst>
                                          </p:cBhvr>
                                          <p:to>
                                            <a:srgbClr val="000000"/>
                                          </p:to>
                                        </p:animClr>
                                        <p:set>
                                          <p:cBhvr>
                                            <p:cTn id="115" dur="500" fill="hold"/>
                                            <p:tgtEl>
                                              <p:spTgt spid="61"/>
                                            </p:tgtEl>
                                            <p:attrNameLst>
                                              <p:attrName>fill.type</p:attrName>
                                            </p:attrNameLst>
                                          </p:cBhvr>
                                          <p:to>
                                            <p:strVal val="solid"/>
                                          </p:to>
                                        </p:set>
                                        <p:set>
                                          <p:cBhvr>
                                            <p:cTn id="116" dur="500" fill="hold"/>
                                            <p:tgtEl>
                                              <p:spTgt spid="61"/>
                                            </p:tgtEl>
                                            <p:attrNameLst>
                                              <p:attrName>fill.on</p:attrName>
                                            </p:attrNameLst>
                                          </p:cBhvr>
                                          <p:to>
                                            <p:strVal val="true"/>
                                          </p:to>
                                        </p:set>
                                      </p:childTnLst>
                                    </p:cTn>
                                  </p:par>
                                </p:childTnLst>
                              </p:cTn>
                            </p:par>
                            <p:par>
                              <p:cTn id="117" fill="hold">
                                <p:stCondLst>
                                  <p:cond delay="500"/>
                                </p:stCondLst>
                                <p:childTnLst>
                                  <p:par>
                                    <p:cTn id="118" presetID="10" presetClass="entr" presetSubtype="0" fill="hold" grpId="0" nodeType="afterEffect">
                                      <p:stCondLst>
                                        <p:cond delay="0"/>
                                      </p:stCondLst>
                                      <p:childTnLst>
                                        <p:set>
                                          <p:cBhvr>
                                            <p:cTn id="119" dur="1" fill="hold">
                                              <p:stCondLst>
                                                <p:cond delay="0"/>
                                              </p:stCondLst>
                                            </p:cTn>
                                            <p:tgtEl>
                                              <p:spTgt spid="121"/>
                                            </p:tgtEl>
                                            <p:attrNameLst>
                                              <p:attrName>style.visibility</p:attrName>
                                            </p:attrNameLst>
                                          </p:cBhvr>
                                          <p:to>
                                            <p:strVal val="visible"/>
                                          </p:to>
                                        </p:set>
                                        <p:animEffect transition="in" filter="fade">
                                          <p:cBhvr>
                                            <p:cTn id="120" dur="500"/>
                                            <p:tgtEl>
                                              <p:spTgt spid="1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 grpId="0"/>
          <p:bldP spid="127" grpId="0"/>
          <p:bldP spid="62" grpId="0" animBg="1"/>
          <p:bldP spid="62" grpId="1" animBg="1"/>
          <p:bldP spid="76" grpId="0" animBg="1"/>
          <p:bldP spid="76" grpId="1" animBg="1"/>
          <p:bldP spid="76" grpId="2" animBg="1"/>
          <p:bldP spid="76" grpId="3" animBg="1"/>
          <p:bldP spid="76" grpId="4" animBg="1"/>
          <p:bldP spid="60" grpId="0" animBg="1"/>
          <p:bldP spid="60" grpId="1" animBg="1"/>
          <p:bldP spid="79" grpId="0" animBg="1"/>
          <p:bldP spid="79" grpId="1" animBg="1"/>
          <p:bldP spid="121"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fade">
                                          <p:cBhvr>
                                            <p:cTn id="7" dur="500"/>
                                            <p:tgtEl>
                                              <p:spTgt spid="62"/>
                                            </p:tgtEl>
                                          </p:cBhvr>
                                        </p:animEffect>
                                      </p:childTnLst>
                                    </p:cTn>
                                  </p:par>
                                  <p:par>
                                    <p:cTn id="8" presetID="1" presetClass="emph" presetSubtype="2" fill="hold" nodeType="withEffect">
                                      <p:stCondLst>
                                        <p:cond delay="0"/>
                                      </p:stCondLst>
                                      <p:childTnLst>
                                        <p:animClr clrSpc="rgb" dir="cw">
                                          <p:cBhvr>
                                            <p:cTn id="9" dur="500" fill="hold"/>
                                            <p:tgtEl>
                                              <p:spTgt spid="61"/>
                                            </p:tgtEl>
                                            <p:attrNameLst>
                                              <p:attrName>fillcolor</p:attrName>
                                            </p:attrNameLst>
                                          </p:cBhvr>
                                          <p:to>
                                            <a:schemeClr val="accent2"/>
                                          </p:to>
                                        </p:animClr>
                                        <p:set>
                                          <p:cBhvr>
                                            <p:cTn id="10" dur="500" fill="hold"/>
                                            <p:tgtEl>
                                              <p:spTgt spid="61"/>
                                            </p:tgtEl>
                                            <p:attrNameLst>
                                              <p:attrName>fill.type</p:attrName>
                                            </p:attrNameLst>
                                          </p:cBhvr>
                                          <p:to>
                                            <p:strVal val="solid"/>
                                          </p:to>
                                        </p:set>
                                        <p:set>
                                          <p:cBhvr>
                                            <p:cTn id="11" dur="500" fill="hold"/>
                                            <p:tgtEl>
                                              <p:spTgt spid="61"/>
                                            </p:tgtEl>
                                            <p:attrNameLst>
                                              <p:attrName>fill.on</p:attrName>
                                            </p:attrNameLst>
                                          </p:cBhvr>
                                          <p:to>
                                            <p:strVal val="true"/>
                                          </p:to>
                                        </p:set>
                                      </p:childTnLst>
                                    </p:cTn>
                                  </p:par>
                                  <p:par>
                                    <p:cTn id="12" presetID="7" presetClass="emph" presetSubtype="2" fill="hold" nodeType="withEffect">
                                      <p:stCondLst>
                                        <p:cond delay="0"/>
                                      </p:stCondLst>
                                      <p:childTnLst>
                                        <p:animClr clrSpc="rgb" dir="cw">
                                          <p:cBhvr>
                                            <p:cTn id="13" dur="500" fill="hold"/>
                                            <p:tgtEl>
                                              <p:spTgt spid="62"/>
                                            </p:tgtEl>
                                            <p:attrNameLst>
                                              <p:attrName>stroke.color</p:attrName>
                                            </p:attrNameLst>
                                          </p:cBhvr>
                                          <p:to>
                                            <a:schemeClr val="accent2"/>
                                          </p:to>
                                        </p:animClr>
                                        <p:set>
                                          <p:cBhvr>
                                            <p:cTn id="14" dur="500" fill="hold"/>
                                            <p:tgtEl>
                                              <p:spTgt spid="62"/>
                                            </p:tgtEl>
                                            <p:attrNameLst>
                                              <p:attrName>stroke.on</p:attrName>
                                            </p:attrNameLst>
                                          </p:cBhvr>
                                          <p:to>
                                            <p:strVal val="true"/>
                                          </p:to>
                                        </p:set>
                                      </p:childTnLst>
                                    </p:cTn>
                                  </p:par>
                                  <p:par>
                                    <p:cTn id="15" presetID="10" presetClass="entr" presetSubtype="0" fill="hold" grpId="0" nodeType="withEffect">
                                      <p:stCondLst>
                                        <p:cond delay="0"/>
                                      </p:stCondLst>
                                      <p:childTnLst>
                                        <p:set>
                                          <p:cBhvr>
                                            <p:cTn id="16" dur="1" fill="hold">
                                              <p:stCondLst>
                                                <p:cond delay="0"/>
                                              </p:stCondLst>
                                            </p:cTn>
                                            <p:tgtEl>
                                              <p:spTgt spid="76"/>
                                            </p:tgtEl>
                                            <p:attrNameLst>
                                              <p:attrName>style.visibility</p:attrName>
                                            </p:attrNameLst>
                                          </p:cBhvr>
                                          <p:to>
                                            <p:strVal val="visible"/>
                                          </p:to>
                                        </p:set>
                                        <p:animEffect transition="in" filter="fade">
                                          <p:cBhvr>
                                            <p:cTn id="17" dur="500"/>
                                            <p:tgtEl>
                                              <p:spTgt spid="76"/>
                                            </p:tgtEl>
                                          </p:cBhvr>
                                        </p:animEffect>
                                      </p:childTnLst>
                                    </p:cTn>
                                  </p:par>
                                </p:childTnLst>
                              </p:cTn>
                            </p:par>
                          </p:childTnLst>
                        </p:cTn>
                      </p:par>
                      <p:par>
                        <p:cTn id="18" fill="hold">
                          <p:stCondLst>
                            <p:cond delay="indefinite"/>
                          </p:stCondLst>
                          <p:childTnLst>
                            <p:par>
                              <p:cTn id="19" fill="hold">
                                <p:stCondLst>
                                  <p:cond delay="0"/>
                                </p:stCondLst>
                                <p:childTnLst>
                                  <p:par>
                                    <p:cTn id="20" presetID="0" presetClass="path" presetSubtype="0" fill="hold" grpId="3" nodeType="clickEffect">
                                      <p:stCondLst>
                                        <p:cond delay="0"/>
                                      </p:stCondLst>
                                      <p:childTnLst>
                                        <p:animMotion origin="layout" path="M 2.5E-6 -4.07407E-6 L -0.00642 0.02431 " pathEditMode="relative" rAng="0" ptsTypes="AA">
                                          <p:cBhvr>
                                            <p:cTn id="21" dur="250" fill="hold"/>
                                            <p:tgtEl>
                                              <p:spTgt spid="76"/>
                                            </p:tgtEl>
                                            <p:attrNameLst>
                                              <p:attrName>ppt_x</p:attrName>
                                              <p:attrName>ppt_y</p:attrName>
                                            </p:attrNameLst>
                                          </p:cBhvr>
                                          <p:rCtr x="-469" y="1273"/>
                                        </p:animMotion>
                                      </p:childTnLst>
                                    </p:cTn>
                                  </p:par>
                                </p:childTnLst>
                              </p:cTn>
                            </p:par>
                            <p:par>
                              <p:cTn id="22" fill="hold">
                                <p:stCondLst>
                                  <p:cond delay="250"/>
                                </p:stCondLst>
                                <p:childTnLst>
                                  <p:par>
                                    <p:cTn id="23" presetID="1" presetClass="emph" presetSubtype="2" fill="hold" nodeType="afterEffect">
                                      <p:stCondLst>
                                        <p:cond delay="0"/>
                                      </p:stCondLst>
                                      <p:childTnLst>
                                        <p:animClr clrSpc="rgb" dir="cw">
                                          <p:cBhvr>
                                            <p:cTn id="24" dur="500" fill="hold"/>
                                            <p:tgtEl>
                                              <p:spTgt spid="67"/>
                                            </p:tgtEl>
                                            <p:attrNameLst>
                                              <p:attrName>fillcolor</p:attrName>
                                            </p:attrNameLst>
                                          </p:cBhvr>
                                          <p:to>
                                            <a:srgbClr val="FFC000"/>
                                          </p:to>
                                        </p:animClr>
                                        <p:set>
                                          <p:cBhvr>
                                            <p:cTn id="25" dur="500" fill="hold"/>
                                            <p:tgtEl>
                                              <p:spTgt spid="67"/>
                                            </p:tgtEl>
                                            <p:attrNameLst>
                                              <p:attrName>fill.type</p:attrName>
                                            </p:attrNameLst>
                                          </p:cBhvr>
                                          <p:to>
                                            <p:strVal val="solid"/>
                                          </p:to>
                                        </p:set>
                                        <p:set>
                                          <p:cBhvr>
                                            <p:cTn id="26" dur="500" fill="hold"/>
                                            <p:tgtEl>
                                              <p:spTgt spid="67"/>
                                            </p:tgtEl>
                                            <p:attrNameLst>
                                              <p:attrName>fill.on</p:attrName>
                                            </p:attrNameLst>
                                          </p:cBhvr>
                                          <p:to>
                                            <p:strVal val="true"/>
                                          </p:to>
                                        </p:set>
                                      </p:childTnLst>
                                    </p:cTn>
                                  </p:par>
                                  <p:par>
                                    <p:cTn id="27" presetID="1" presetClass="emph" presetSubtype="2" fill="hold" nodeType="withEffect">
                                      <p:stCondLst>
                                        <p:cond delay="0"/>
                                      </p:stCondLst>
                                      <p:childTnLst>
                                        <p:animClr clrSpc="rgb" dir="cw">
                                          <p:cBhvr>
                                            <p:cTn id="28" dur="500" fill="hold"/>
                                            <p:tgtEl>
                                              <p:spTgt spid="65"/>
                                            </p:tgtEl>
                                            <p:attrNameLst>
                                              <p:attrName>fillcolor</p:attrName>
                                            </p:attrNameLst>
                                          </p:cBhvr>
                                          <p:to>
                                            <a:srgbClr val="FFC000"/>
                                          </p:to>
                                        </p:animClr>
                                        <p:set>
                                          <p:cBhvr>
                                            <p:cTn id="29" dur="500" fill="hold"/>
                                            <p:tgtEl>
                                              <p:spTgt spid="65"/>
                                            </p:tgtEl>
                                            <p:attrNameLst>
                                              <p:attrName>fill.type</p:attrName>
                                            </p:attrNameLst>
                                          </p:cBhvr>
                                          <p:to>
                                            <p:strVal val="solid"/>
                                          </p:to>
                                        </p:set>
                                        <p:set>
                                          <p:cBhvr>
                                            <p:cTn id="30" dur="500" fill="hold"/>
                                            <p:tgtEl>
                                              <p:spTgt spid="65"/>
                                            </p:tgtEl>
                                            <p:attrNameLst>
                                              <p:attrName>fill.on</p:attrName>
                                            </p:attrNameLst>
                                          </p:cBhvr>
                                          <p:to>
                                            <p:strVal val="true"/>
                                          </p:to>
                                        </p:set>
                                      </p:childTnLst>
                                    </p:cTn>
                                  </p:par>
                                </p:childTnLst>
                              </p:cTn>
                            </p:par>
                            <p:par>
                              <p:cTn id="31" fill="hold">
                                <p:stCondLst>
                                  <p:cond delay="750"/>
                                </p:stCondLst>
                                <p:childTnLst>
                                  <p:par>
                                    <p:cTn id="32" presetID="10" presetClass="entr" presetSubtype="0" fill="hold" grpId="0" nodeType="afterEffect">
                                      <p:stCondLst>
                                        <p:cond delay="0"/>
                                      </p:stCondLst>
                                      <p:childTnLst>
                                        <p:set>
                                          <p:cBhvr>
                                            <p:cTn id="33" dur="1" fill="hold">
                                              <p:stCondLst>
                                                <p:cond delay="0"/>
                                              </p:stCondLst>
                                            </p:cTn>
                                            <p:tgtEl>
                                              <p:spTgt spid="127"/>
                                            </p:tgtEl>
                                            <p:attrNameLst>
                                              <p:attrName>style.visibility</p:attrName>
                                            </p:attrNameLst>
                                          </p:cBhvr>
                                          <p:to>
                                            <p:strVal val="visible"/>
                                          </p:to>
                                        </p:set>
                                        <p:animEffect transition="in" filter="fade">
                                          <p:cBhvr>
                                            <p:cTn id="34" dur="500"/>
                                            <p:tgtEl>
                                              <p:spTgt spid="127"/>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fill="hold" grpId="1" nodeType="clickEffect">
                                      <p:stCondLst>
                                        <p:cond delay="0"/>
                                      </p:stCondLst>
                                      <p:childTnLst>
                                        <p:animMotion origin="layout" path="M -0.00642 0.02431 L -0.02413 0.07384 L -0.02413 0.23889 " pathEditMode="relative" rAng="0" ptsTypes="AAA">
                                          <p:cBhvr>
                                            <p:cTn id="38" dur="1000" fill="hold"/>
                                            <p:tgtEl>
                                              <p:spTgt spid="76"/>
                                            </p:tgtEl>
                                            <p:attrNameLst>
                                              <p:attrName>ppt_x</p:attrName>
                                              <p:attrName>ppt_y</p:attrName>
                                            </p:attrNameLst>
                                          </p:cBhvr>
                                          <p:rCtr x="-885" y="10718"/>
                                        </p:animMotion>
                                      </p:childTnLst>
                                    </p:cTn>
                                  </p:par>
                                </p:childTnLst>
                              </p:cTn>
                            </p:par>
                            <p:par>
                              <p:cTn id="39" fill="hold">
                                <p:stCondLst>
                                  <p:cond delay="1000"/>
                                </p:stCondLst>
                                <p:childTnLst>
                                  <p:par>
                                    <p:cTn id="40" presetID="1" presetClass="emph" presetSubtype="2" fill="hold" nodeType="afterEffect">
                                      <p:stCondLst>
                                        <p:cond delay="0"/>
                                      </p:stCondLst>
                                      <p:childTnLst>
                                        <p:animClr clrSpc="rgb" dir="cw">
                                          <p:cBhvr>
                                            <p:cTn id="41" dur="500" fill="hold"/>
                                            <p:tgtEl>
                                              <p:spTgt spid="72"/>
                                            </p:tgtEl>
                                            <p:attrNameLst>
                                              <p:attrName>fillcolor</p:attrName>
                                            </p:attrNameLst>
                                          </p:cBhvr>
                                          <p:to>
                                            <a:srgbClr val="FFC000"/>
                                          </p:to>
                                        </p:animClr>
                                        <p:set>
                                          <p:cBhvr>
                                            <p:cTn id="42" dur="500" fill="hold"/>
                                            <p:tgtEl>
                                              <p:spTgt spid="72"/>
                                            </p:tgtEl>
                                            <p:attrNameLst>
                                              <p:attrName>fill.type</p:attrName>
                                            </p:attrNameLst>
                                          </p:cBhvr>
                                          <p:to>
                                            <p:strVal val="solid"/>
                                          </p:to>
                                        </p:set>
                                        <p:set>
                                          <p:cBhvr>
                                            <p:cTn id="43" dur="500" fill="hold"/>
                                            <p:tgtEl>
                                              <p:spTgt spid="72"/>
                                            </p:tgtEl>
                                            <p:attrNameLst>
                                              <p:attrName>fill.on</p:attrName>
                                            </p:attrNameLst>
                                          </p:cBhvr>
                                          <p:to>
                                            <p:strVal val="true"/>
                                          </p:to>
                                        </p:set>
                                      </p:childTnLst>
                                    </p:cTn>
                                  </p:par>
                                  <p:par>
                                    <p:cTn id="44" presetID="1" presetClass="emph" presetSubtype="2" fill="hold" nodeType="withEffect">
                                      <p:stCondLst>
                                        <p:cond delay="0"/>
                                      </p:stCondLst>
                                      <p:childTnLst>
                                        <p:animClr clrSpc="rgb" dir="cw">
                                          <p:cBhvr>
                                            <p:cTn id="45" dur="500" fill="hold"/>
                                            <p:tgtEl>
                                              <p:spTgt spid="75"/>
                                            </p:tgtEl>
                                            <p:attrNameLst>
                                              <p:attrName>fillcolor</p:attrName>
                                            </p:attrNameLst>
                                          </p:cBhvr>
                                          <p:to>
                                            <a:srgbClr val="FFC000"/>
                                          </p:to>
                                        </p:animClr>
                                        <p:set>
                                          <p:cBhvr>
                                            <p:cTn id="46" dur="500" fill="hold"/>
                                            <p:tgtEl>
                                              <p:spTgt spid="75"/>
                                            </p:tgtEl>
                                            <p:attrNameLst>
                                              <p:attrName>fill.type</p:attrName>
                                            </p:attrNameLst>
                                          </p:cBhvr>
                                          <p:to>
                                            <p:strVal val="solid"/>
                                          </p:to>
                                        </p:set>
                                        <p:set>
                                          <p:cBhvr>
                                            <p:cTn id="47" dur="500" fill="hold"/>
                                            <p:tgtEl>
                                              <p:spTgt spid="75"/>
                                            </p:tgtEl>
                                            <p:attrNameLst>
                                              <p:attrName>fill.on</p:attrName>
                                            </p:attrNameLst>
                                          </p:cBhvr>
                                          <p:to>
                                            <p:strVal val="true"/>
                                          </p:to>
                                        </p:set>
                                      </p:childTnLst>
                                    </p:cTn>
                                  </p:par>
                                </p:childTnLst>
                              </p:cTn>
                            </p:par>
                            <p:par>
                              <p:cTn id="48" fill="hold">
                                <p:stCondLst>
                                  <p:cond delay="1500"/>
                                </p:stCondLst>
                                <p:childTnLst>
                                  <p:par>
                                    <p:cTn id="49" presetID="10" presetClass="entr" presetSubtype="0" fill="hold" grpId="0" nodeType="afterEffect">
                                      <p:stCondLst>
                                        <p:cond delay="0"/>
                                      </p:stCondLst>
                                      <p:childTnLst>
                                        <p:set>
                                          <p:cBhvr>
                                            <p:cTn id="50" dur="1" fill="hold">
                                              <p:stCondLst>
                                                <p:cond delay="0"/>
                                              </p:stCondLst>
                                            </p:cTn>
                                            <p:tgtEl>
                                              <p:spTgt spid="126"/>
                                            </p:tgtEl>
                                            <p:attrNameLst>
                                              <p:attrName>style.visibility</p:attrName>
                                            </p:attrNameLst>
                                          </p:cBhvr>
                                          <p:to>
                                            <p:strVal val="visible"/>
                                          </p:to>
                                        </p:set>
                                        <p:animEffect transition="in" filter="fade">
                                          <p:cBhvr>
                                            <p:cTn id="51" dur="500"/>
                                            <p:tgtEl>
                                              <p:spTgt spid="126"/>
                                            </p:tgtEl>
                                          </p:cBhvr>
                                        </p:animEffect>
                                      </p:childTnLst>
                                    </p:cTn>
                                  </p:par>
                                </p:childTnLst>
                              </p:cTn>
                            </p:par>
                          </p:childTnLst>
                        </p:cTn>
                      </p:par>
                      <p:par>
                        <p:cTn id="52" fill="hold">
                          <p:stCondLst>
                            <p:cond delay="indefinite"/>
                          </p:stCondLst>
                          <p:childTnLst>
                            <p:par>
                              <p:cTn id="53" fill="hold">
                                <p:stCondLst>
                                  <p:cond delay="0"/>
                                </p:stCondLst>
                                <p:childTnLst>
                                  <p:par>
                                    <p:cTn id="54" presetID="0" presetClass="path" presetSubtype="0" fill="hold" grpId="2" nodeType="clickEffect">
                                      <p:stCondLst>
                                        <p:cond delay="0"/>
                                      </p:stCondLst>
                                      <p:childTnLst>
                                        <p:animMotion origin="layout" path="M -0.02413 0.23889 L -0.02413 0.31459 " pathEditMode="relative" rAng="0" ptsTypes="AA">
                                          <p:cBhvr>
                                            <p:cTn id="55" dur="500" fill="hold"/>
                                            <p:tgtEl>
                                              <p:spTgt spid="76"/>
                                            </p:tgtEl>
                                            <p:attrNameLst>
                                              <p:attrName>ppt_x</p:attrName>
                                              <p:attrName>ppt_y</p:attrName>
                                            </p:attrNameLst>
                                          </p:cBhvr>
                                          <p:rCtr x="0" y="3773"/>
                                        </p:animMotion>
                                      </p:childTnLst>
                                    </p:cTn>
                                  </p:par>
                                </p:childTnLst>
                              </p:cTn>
                            </p:par>
                            <p:par>
                              <p:cTn id="56" fill="hold">
                                <p:stCondLst>
                                  <p:cond delay="500"/>
                                </p:stCondLst>
                                <p:childTnLst>
                                  <p:par>
                                    <p:cTn id="57" presetID="10" presetClass="entr" presetSubtype="0" fill="hold" grpId="0" nodeType="afterEffect">
                                      <p:stCondLst>
                                        <p:cond delay="0"/>
                                      </p:stCondLst>
                                      <p:childTnLst>
                                        <p:set>
                                          <p:cBhvr>
                                            <p:cTn id="58" dur="1" fill="hold">
                                              <p:stCondLst>
                                                <p:cond delay="0"/>
                                              </p:stCondLst>
                                            </p:cTn>
                                            <p:tgtEl>
                                              <p:spTgt spid="60"/>
                                            </p:tgtEl>
                                            <p:attrNameLst>
                                              <p:attrName>style.visibility</p:attrName>
                                            </p:attrNameLst>
                                          </p:cBhvr>
                                          <p:to>
                                            <p:strVal val="visible"/>
                                          </p:to>
                                        </p:set>
                                        <p:animEffect transition="in" filter="fade">
                                          <p:cBhvr>
                                            <p:cTn id="59" dur="500"/>
                                            <p:tgtEl>
                                              <p:spTgt spid="60"/>
                                            </p:tgtEl>
                                          </p:cBhvr>
                                        </p:animEffect>
                                      </p:childTnLst>
                                    </p:cTn>
                                  </p:par>
                                  <p:par>
                                    <p:cTn id="60" presetID="10" presetClass="entr" presetSubtype="0" fill="hold" nodeType="withEffect">
                                      <p:stCondLst>
                                        <p:cond delay="0"/>
                                      </p:stCondLst>
                                      <p:childTnLst>
                                        <p:set>
                                          <p:cBhvr>
                                            <p:cTn id="61" dur="1" fill="hold">
                                              <p:stCondLst>
                                                <p:cond delay="0"/>
                                              </p:stCondLst>
                                            </p:cTn>
                                            <p:tgtEl>
                                              <p:spTgt spid="63"/>
                                            </p:tgtEl>
                                            <p:attrNameLst>
                                              <p:attrName>style.visibility</p:attrName>
                                            </p:attrNameLst>
                                          </p:cBhvr>
                                          <p:to>
                                            <p:strVal val="visible"/>
                                          </p:to>
                                        </p:set>
                                        <p:animEffect transition="in" filter="fade">
                                          <p:cBhvr>
                                            <p:cTn id="62" dur="500"/>
                                            <p:tgtEl>
                                              <p:spTgt spid="6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79"/>
                                            </p:tgtEl>
                                            <p:attrNameLst>
                                              <p:attrName>style.visibility</p:attrName>
                                            </p:attrNameLst>
                                          </p:cBhvr>
                                          <p:to>
                                            <p:strVal val="visible"/>
                                          </p:to>
                                        </p:set>
                                        <p:animEffect transition="in" filter="fade">
                                          <p:cBhvr>
                                            <p:cTn id="65" dur="500"/>
                                            <p:tgtEl>
                                              <p:spTgt spid="79"/>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9"/>
                                            </p:tgtEl>
                                            <p:attrNameLst>
                                              <p:attrName>style.visibility</p:attrName>
                                            </p:attrNameLst>
                                          </p:cBhvr>
                                          <p:to>
                                            <p:strVal val="visible"/>
                                          </p:to>
                                        </p:set>
                                        <p:animEffect transition="in" filter="wipe(left)">
                                          <p:cBhvr>
                                            <p:cTn id="70" dur="500"/>
                                            <p:tgtEl>
                                              <p:spTgt spid="9"/>
                                            </p:tgtEl>
                                          </p:cBhvr>
                                        </p:animEffect>
                                      </p:childTnLst>
                                    </p:cTn>
                                  </p:par>
                                  <p:par>
                                    <p:cTn id="71" presetID="22" presetClass="entr" presetSubtype="2" fill="hold" nodeType="withEffect">
                                      <p:stCondLst>
                                        <p:cond delay="0"/>
                                      </p:stCondLst>
                                      <p:childTnLst>
                                        <p:set>
                                          <p:cBhvr>
                                            <p:cTn id="72" dur="1" fill="hold">
                                              <p:stCondLst>
                                                <p:cond delay="0"/>
                                              </p:stCondLst>
                                            </p:cTn>
                                            <p:tgtEl>
                                              <p:spTgt spid="10"/>
                                            </p:tgtEl>
                                            <p:attrNameLst>
                                              <p:attrName>style.visibility</p:attrName>
                                            </p:attrNameLst>
                                          </p:cBhvr>
                                          <p:to>
                                            <p:strVal val="visible"/>
                                          </p:to>
                                        </p:set>
                                        <p:animEffect transition="in" filter="wipe(right)">
                                          <p:cBhvr>
                                            <p:cTn id="73" dur="500"/>
                                            <p:tgtEl>
                                              <p:spTgt spid="10"/>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xit" presetSubtype="0" fill="hold" grpId="1" nodeType="clickEffect">
                                      <p:stCondLst>
                                        <p:cond delay="0"/>
                                      </p:stCondLst>
                                      <p:childTnLst>
                                        <p:animEffect transition="out" filter="fade">
                                          <p:cBhvr>
                                            <p:cTn id="77" dur="500"/>
                                            <p:tgtEl>
                                              <p:spTgt spid="60"/>
                                            </p:tgtEl>
                                          </p:cBhvr>
                                        </p:animEffect>
                                        <p:set>
                                          <p:cBhvr>
                                            <p:cTn id="78" dur="1" fill="hold">
                                              <p:stCondLst>
                                                <p:cond delay="499"/>
                                              </p:stCondLst>
                                            </p:cTn>
                                            <p:tgtEl>
                                              <p:spTgt spid="60"/>
                                            </p:tgtEl>
                                            <p:attrNameLst>
                                              <p:attrName>style.visibility</p:attrName>
                                            </p:attrNameLst>
                                          </p:cBhvr>
                                          <p:to>
                                            <p:strVal val="hidden"/>
                                          </p:to>
                                        </p:set>
                                      </p:childTnLst>
                                    </p:cTn>
                                  </p:par>
                                  <p:par>
                                    <p:cTn id="79" presetID="10" presetClass="exit" presetSubtype="0" fill="hold" nodeType="withEffect">
                                      <p:stCondLst>
                                        <p:cond delay="0"/>
                                      </p:stCondLst>
                                      <p:childTnLst>
                                        <p:animEffect transition="out" filter="fade">
                                          <p:cBhvr>
                                            <p:cTn id="80" dur="500"/>
                                            <p:tgtEl>
                                              <p:spTgt spid="63"/>
                                            </p:tgtEl>
                                          </p:cBhvr>
                                        </p:animEffect>
                                        <p:set>
                                          <p:cBhvr>
                                            <p:cTn id="81" dur="1" fill="hold">
                                              <p:stCondLst>
                                                <p:cond delay="499"/>
                                              </p:stCondLst>
                                            </p:cTn>
                                            <p:tgtEl>
                                              <p:spTgt spid="63"/>
                                            </p:tgtEl>
                                            <p:attrNameLst>
                                              <p:attrName>style.visibility</p:attrName>
                                            </p:attrNameLst>
                                          </p:cBhvr>
                                          <p:to>
                                            <p:strVal val="hidden"/>
                                          </p:to>
                                        </p:set>
                                      </p:childTnLst>
                                    </p:cTn>
                                  </p:par>
                                  <p:par>
                                    <p:cTn id="82" presetID="10" presetClass="exit" presetSubtype="0" fill="hold" grpId="1" nodeType="withEffect">
                                      <p:stCondLst>
                                        <p:cond delay="0"/>
                                      </p:stCondLst>
                                      <p:childTnLst>
                                        <p:animEffect transition="out" filter="fade">
                                          <p:cBhvr>
                                            <p:cTn id="83" dur="500"/>
                                            <p:tgtEl>
                                              <p:spTgt spid="79"/>
                                            </p:tgtEl>
                                          </p:cBhvr>
                                        </p:animEffect>
                                        <p:set>
                                          <p:cBhvr>
                                            <p:cTn id="84" dur="1" fill="hold">
                                              <p:stCondLst>
                                                <p:cond delay="499"/>
                                              </p:stCondLst>
                                            </p:cTn>
                                            <p:tgtEl>
                                              <p:spTgt spid="79"/>
                                            </p:tgtEl>
                                            <p:attrNameLst>
                                              <p:attrName>style.visibility</p:attrName>
                                            </p:attrNameLst>
                                          </p:cBhvr>
                                          <p:to>
                                            <p:strVal val="hidden"/>
                                          </p:to>
                                        </p:set>
                                      </p:childTnLst>
                                    </p:cTn>
                                  </p:par>
                                  <p:par>
                                    <p:cTn id="85" presetID="10" presetClass="exit" presetSubtype="0" fill="hold" nodeType="withEffect">
                                      <p:stCondLst>
                                        <p:cond delay="0"/>
                                      </p:stCondLst>
                                      <p:childTnLst>
                                        <p:animEffect transition="out" filter="fade">
                                          <p:cBhvr>
                                            <p:cTn id="86" dur="500"/>
                                            <p:tgtEl>
                                              <p:spTgt spid="9"/>
                                            </p:tgtEl>
                                          </p:cBhvr>
                                        </p:animEffect>
                                        <p:set>
                                          <p:cBhvr>
                                            <p:cTn id="87" dur="1" fill="hold">
                                              <p:stCondLst>
                                                <p:cond delay="499"/>
                                              </p:stCondLst>
                                            </p:cTn>
                                            <p:tgtEl>
                                              <p:spTgt spid="9"/>
                                            </p:tgtEl>
                                            <p:attrNameLst>
                                              <p:attrName>style.visibility</p:attrName>
                                            </p:attrNameLst>
                                          </p:cBhvr>
                                          <p:to>
                                            <p:strVal val="hidden"/>
                                          </p:to>
                                        </p:set>
                                      </p:childTnLst>
                                    </p:cTn>
                                  </p:par>
                                  <p:par>
                                    <p:cTn id="88" presetID="10" presetClass="exit" presetSubtype="0" fill="hold" nodeType="withEffect">
                                      <p:stCondLst>
                                        <p:cond delay="0"/>
                                      </p:stCondLst>
                                      <p:childTnLst>
                                        <p:animEffect transition="out" filter="fade">
                                          <p:cBhvr>
                                            <p:cTn id="89" dur="500"/>
                                            <p:tgtEl>
                                              <p:spTgt spid="10"/>
                                            </p:tgtEl>
                                          </p:cBhvr>
                                        </p:animEffect>
                                        <p:set>
                                          <p:cBhvr>
                                            <p:cTn id="90" dur="1" fill="hold">
                                              <p:stCondLst>
                                                <p:cond delay="499"/>
                                              </p:stCondLst>
                                            </p:cTn>
                                            <p:tgtEl>
                                              <p:spTgt spid="10"/>
                                            </p:tgtEl>
                                            <p:attrNameLst>
                                              <p:attrName>style.visibility</p:attrName>
                                            </p:attrNameLst>
                                          </p:cBhvr>
                                          <p:to>
                                            <p:strVal val="hidden"/>
                                          </p:to>
                                        </p:set>
                                      </p:childTnLst>
                                    </p:cTn>
                                  </p:par>
                                  <p:par>
                                    <p:cTn id="91" presetID="10" presetClass="exit" presetSubtype="0" fill="hold" grpId="1" nodeType="withEffect">
                                      <p:stCondLst>
                                        <p:cond delay="0"/>
                                      </p:stCondLst>
                                      <p:childTnLst>
                                        <p:animEffect transition="out" filter="fade">
                                          <p:cBhvr>
                                            <p:cTn id="92" dur="500"/>
                                            <p:tgtEl>
                                              <p:spTgt spid="62"/>
                                            </p:tgtEl>
                                          </p:cBhvr>
                                        </p:animEffect>
                                        <p:set>
                                          <p:cBhvr>
                                            <p:cTn id="93" dur="1" fill="hold">
                                              <p:stCondLst>
                                                <p:cond delay="499"/>
                                              </p:stCondLst>
                                            </p:cTn>
                                            <p:tgtEl>
                                              <p:spTgt spid="62"/>
                                            </p:tgtEl>
                                            <p:attrNameLst>
                                              <p:attrName>style.visibility</p:attrName>
                                            </p:attrNameLst>
                                          </p:cBhvr>
                                          <p:to>
                                            <p:strVal val="hidden"/>
                                          </p:to>
                                        </p:set>
                                      </p:childTnLst>
                                    </p:cTn>
                                  </p:par>
                                  <p:par>
                                    <p:cTn id="94" presetID="10" presetClass="exit" presetSubtype="0" fill="hold" grpId="4" nodeType="withEffect">
                                      <p:stCondLst>
                                        <p:cond delay="0"/>
                                      </p:stCondLst>
                                      <p:childTnLst>
                                        <p:animEffect transition="out" filter="fade">
                                          <p:cBhvr>
                                            <p:cTn id="95" dur="500"/>
                                            <p:tgtEl>
                                              <p:spTgt spid="76"/>
                                            </p:tgtEl>
                                          </p:cBhvr>
                                        </p:animEffect>
                                        <p:set>
                                          <p:cBhvr>
                                            <p:cTn id="96" dur="1" fill="hold">
                                              <p:stCondLst>
                                                <p:cond delay="499"/>
                                              </p:stCondLst>
                                            </p:cTn>
                                            <p:tgtEl>
                                              <p:spTgt spid="76"/>
                                            </p:tgtEl>
                                            <p:attrNameLst>
                                              <p:attrName>style.visibility</p:attrName>
                                            </p:attrNameLst>
                                          </p:cBhvr>
                                          <p:to>
                                            <p:strVal val="hidden"/>
                                          </p:to>
                                        </p:set>
                                      </p:childTnLst>
                                    </p:cTn>
                                  </p:par>
                                  <p:par>
                                    <p:cTn id="97" presetID="1" presetClass="emph" presetSubtype="2" fill="hold" nodeType="withEffect">
                                      <p:stCondLst>
                                        <p:cond delay="0"/>
                                      </p:stCondLst>
                                      <p:childTnLst>
                                        <p:animClr clrSpc="rgb" dir="cw">
                                          <p:cBhvr>
                                            <p:cTn id="98" dur="500" fill="hold"/>
                                            <p:tgtEl>
                                              <p:spTgt spid="67"/>
                                            </p:tgtEl>
                                            <p:attrNameLst>
                                              <p:attrName>fillcolor</p:attrName>
                                            </p:attrNameLst>
                                          </p:cBhvr>
                                          <p:to>
                                            <a:srgbClr val="FFFFFF"/>
                                          </p:to>
                                        </p:animClr>
                                        <p:set>
                                          <p:cBhvr>
                                            <p:cTn id="99" dur="500" fill="hold"/>
                                            <p:tgtEl>
                                              <p:spTgt spid="67"/>
                                            </p:tgtEl>
                                            <p:attrNameLst>
                                              <p:attrName>fill.type</p:attrName>
                                            </p:attrNameLst>
                                          </p:cBhvr>
                                          <p:to>
                                            <p:strVal val="solid"/>
                                          </p:to>
                                        </p:set>
                                        <p:set>
                                          <p:cBhvr>
                                            <p:cTn id="100" dur="500" fill="hold"/>
                                            <p:tgtEl>
                                              <p:spTgt spid="67"/>
                                            </p:tgtEl>
                                            <p:attrNameLst>
                                              <p:attrName>fill.on</p:attrName>
                                            </p:attrNameLst>
                                          </p:cBhvr>
                                          <p:to>
                                            <p:strVal val="true"/>
                                          </p:to>
                                        </p:set>
                                      </p:childTnLst>
                                    </p:cTn>
                                  </p:par>
                                  <p:par>
                                    <p:cTn id="101" presetID="1" presetClass="emph" presetSubtype="2" fill="hold" nodeType="withEffect">
                                      <p:stCondLst>
                                        <p:cond delay="0"/>
                                      </p:stCondLst>
                                      <p:childTnLst>
                                        <p:animClr clrSpc="rgb" dir="cw">
                                          <p:cBhvr>
                                            <p:cTn id="102" dur="500" fill="hold"/>
                                            <p:tgtEl>
                                              <p:spTgt spid="65"/>
                                            </p:tgtEl>
                                            <p:attrNameLst>
                                              <p:attrName>fillcolor</p:attrName>
                                            </p:attrNameLst>
                                          </p:cBhvr>
                                          <p:to>
                                            <a:srgbClr val="FFFFFF"/>
                                          </p:to>
                                        </p:animClr>
                                        <p:set>
                                          <p:cBhvr>
                                            <p:cTn id="103" dur="500" fill="hold"/>
                                            <p:tgtEl>
                                              <p:spTgt spid="65"/>
                                            </p:tgtEl>
                                            <p:attrNameLst>
                                              <p:attrName>fill.type</p:attrName>
                                            </p:attrNameLst>
                                          </p:cBhvr>
                                          <p:to>
                                            <p:strVal val="solid"/>
                                          </p:to>
                                        </p:set>
                                        <p:set>
                                          <p:cBhvr>
                                            <p:cTn id="104" dur="500" fill="hold"/>
                                            <p:tgtEl>
                                              <p:spTgt spid="65"/>
                                            </p:tgtEl>
                                            <p:attrNameLst>
                                              <p:attrName>fill.on</p:attrName>
                                            </p:attrNameLst>
                                          </p:cBhvr>
                                          <p:to>
                                            <p:strVal val="true"/>
                                          </p:to>
                                        </p:set>
                                      </p:childTnLst>
                                    </p:cTn>
                                  </p:par>
                                  <p:par>
                                    <p:cTn id="105" presetID="1" presetClass="emph" presetSubtype="2" fill="hold" nodeType="withEffect">
                                      <p:stCondLst>
                                        <p:cond delay="0"/>
                                      </p:stCondLst>
                                      <p:childTnLst>
                                        <p:animClr clrSpc="rgb" dir="cw">
                                          <p:cBhvr>
                                            <p:cTn id="106" dur="500" fill="hold"/>
                                            <p:tgtEl>
                                              <p:spTgt spid="72"/>
                                            </p:tgtEl>
                                            <p:attrNameLst>
                                              <p:attrName>fillcolor</p:attrName>
                                            </p:attrNameLst>
                                          </p:cBhvr>
                                          <p:to>
                                            <a:srgbClr val="FFFFFF"/>
                                          </p:to>
                                        </p:animClr>
                                        <p:set>
                                          <p:cBhvr>
                                            <p:cTn id="107" dur="500" fill="hold"/>
                                            <p:tgtEl>
                                              <p:spTgt spid="72"/>
                                            </p:tgtEl>
                                            <p:attrNameLst>
                                              <p:attrName>fill.type</p:attrName>
                                            </p:attrNameLst>
                                          </p:cBhvr>
                                          <p:to>
                                            <p:strVal val="solid"/>
                                          </p:to>
                                        </p:set>
                                        <p:set>
                                          <p:cBhvr>
                                            <p:cTn id="108" dur="500" fill="hold"/>
                                            <p:tgtEl>
                                              <p:spTgt spid="72"/>
                                            </p:tgtEl>
                                            <p:attrNameLst>
                                              <p:attrName>fill.on</p:attrName>
                                            </p:attrNameLst>
                                          </p:cBhvr>
                                          <p:to>
                                            <p:strVal val="true"/>
                                          </p:to>
                                        </p:set>
                                      </p:childTnLst>
                                    </p:cTn>
                                  </p:par>
                                  <p:par>
                                    <p:cTn id="109" presetID="1" presetClass="emph" presetSubtype="2" fill="hold" nodeType="withEffect">
                                      <p:stCondLst>
                                        <p:cond delay="0"/>
                                      </p:stCondLst>
                                      <p:childTnLst>
                                        <p:animClr clrSpc="rgb" dir="cw">
                                          <p:cBhvr>
                                            <p:cTn id="110" dur="500" fill="hold"/>
                                            <p:tgtEl>
                                              <p:spTgt spid="75"/>
                                            </p:tgtEl>
                                            <p:attrNameLst>
                                              <p:attrName>fillcolor</p:attrName>
                                            </p:attrNameLst>
                                          </p:cBhvr>
                                          <p:to>
                                            <a:srgbClr val="FFFFFF"/>
                                          </p:to>
                                        </p:animClr>
                                        <p:set>
                                          <p:cBhvr>
                                            <p:cTn id="111" dur="500" fill="hold"/>
                                            <p:tgtEl>
                                              <p:spTgt spid="75"/>
                                            </p:tgtEl>
                                            <p:attrNameLst>
                                              <p:attrName>fill.type</p:attrName>
                                            </p:attrNameLst>
                                          </p:cBhvr>
                                          <p:to>
                                            <p:strVal val="solid"/>
                                          </p:to>
                                        </p:set>
                                        <p:set>
                                          <p:cBhvr>
                                            <p:cTn id="112" dur="500" fill="hold"/>
                                            <p:tgtEl>
                                              <p:spTgt spid="75"/>
                                            </p:tgtEl>
                                            <p:attrNameLst>
                                              <p:attrName>fill.on</p:attrName>
                                            </p:attrNameLst>
                                          </p:cBhvr>
                                          <p:to>
                                            <p:strVal val="true"/>
                                          </p:to>
                                        </p:set>
                                      </p:childTnLst>
                                    </p:cTn>
                                  </p:par>
                                  <p:par>
                                    <p:cTn id="113" presetID="1" presetClass="emph" presetSubtype="2" fill="hold" nodeType="withEffect">
                                      <p:stCondLst>
                                        <p:cond delay="0"/>
                                      </p:stCondLst>
                                      <p:childTnLst>
                                        <p:animClr clrSpc="rgb" dir="cw">
                                          <p:cBhvr>
                                            <p:cTn id="114" dur="500" fill="hold"/>
                                            <p:tgtEl>
                                              <p:spTgt spid="61"/>
                                            </p:tgtEl>
                                            <p:attrNameLst>
                                              <p:attrName>fillcolor</p:attrName>
                                            </p:attrNameLst>
                                          </p:cBhvr>
                                          <p:to>
                                            <a:srgbClr val="000000"/>
                                          </p:to>
                                        </p:animClr>
                                        <p:set>
                                          <p:cBhvr>
                                            <p:cTn id="115" dur="500" fill="hold"/>
                                            <p:tgtEl>
                                              <p:spTgt spid="61"/>
                                            </p:tgtEl>
                                            <p:attrNameLst>
                                              <p:attrName>fill.type</p:attrName>
                                            </p:attrNameLst>
                                          </p:cBhvr>
                                          <p:to>
                                            <p:strVal val="solid"/>
                                          </p:to>
                                        </p:set>
                                        <p:set>
                                          <p:cBhvr>
                                            <p:cTn id="116" dur="500" fill="hold"/>
                                            <p:tgtEl>
                                              <p:spTgt spid="61"/>
                                            </p:tgtEl>
                                            <p:attrNameLst>
                                              <p:attrName>fill.on</p:attrName>
                                            </p:attrNameLst>
                                          </p:cBhvr>
                                          <p:to>
                                            <p:strVal val="true"/>
                                          </p:to>
                                        </p:set>
                                      </p:childTnLst>
                                    </p:cTn>
                                  </p:par>
                                </p:childTnLst>
                              </p:cTn>
                            </p:par>
                            <p:par>
                              <p:cTn id="117" fill="hold">
                                <p:stCondLst>
                                  <p:cond delay="500"/>
                                </p:stCondLst>
                                <p:childTnLst>
                                  <p:par>
                                    <p:cTn id="118" presetID="10" presetClass="entr" presetSubtype="0" fill="hold" grpId="0" nodeType="afterEffect">
                                      <p:stCondLst>
                                        <p:cond delay="0"/>
                                      </p:stCondLst>
                                      <p:childTnLst>
                                        <p:set>
                                          <p:cBhvr>
                                            <p:cTn id="119" dur="1" fill="hold">
                                              <p:stCondLst>
                                                <p:cond delay="0"/>
                                              </p:stCondLst>
                                            </p:cTn>
                                            <p:tgtEl>
                                              <p:spTgt spid="121"/>
                                            </p:tgtEl>
                                            <p:attrNameLst>
                                              <p:attrName>style.visibility</p:attrName>
                                            </p:attrNameLst>
                                          </p:cBhvr>
                                          <p:to>
                                            <p:strVal val="visible"/>
                                          </p:to>
                                        </p:set>
                                        <p:animEffect transition="in" filter="fade">
                                          <p:cBhvr>
                                            <p:cTn id="120" dur="500"/>
                                            <p:tgtEl>
                                              <p:spTgt spid="1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 grpId="0"/>
          <p:bldP spid="127" grpId="0"/>
          <p:bldP spid="62" grpId="0" animBg="1"/>
          <p:bldP spid="62" grpId="1" animBg="1"/>
          <p:bldP spid="76" grpId="0" animBg="1"/>
          <p:bldP spid="76" grpId="1" animBg="1"/>
          <p:bldP spid="76" grpId="2" animBg="1"/>
          <p:bldP spid="76" grpId="3" animBg="1"/>
          <p:bldP spid="76" grpId="4" animBg="1"/>
          <p:bldP spid="60" grpId="0" animBg="1"/>
          <p:bldP spid="60" grpId="1" animBg="1"/>
          <p:bldP spid="79" grpId="0" animBg="1"/>
          <p:bldP spid="79" grpId="1" animBg="1"/>
          <p:bldP spid="121" grpId="0"/>
        </p:bldLst>
      </p:timing>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Query"/>
          <p:cNvSpPr txBox="1"/>
          <p:nvPr/>
        </p:nvSpPr>
        <p:spPr>
          <a:xfrm>
            <a:off x="3850813" y="4768939"/>
            <a:ext cx="5299528" cy="775597"/>
          </a:xfrm>
          <a:prstGeom prst="rect">
            <a:avLst/>
          </a:prstGeom>
          <a:noFill/>
        </p:spPr>
        <p:txBody>
          <a:bodyPr wrap="none" lIns="0" tIns="0" rIns="0" bIns="0" rtlCol="0" anchor="t" anchorCtr="0">
            <a:spAutoFit/>
          </a:bodyPr>
          <a:lstStyle/>
          <a:p>
            <a:pPr>
              <a:lnSpc>
                <a:spcPct val="90000"/>
              </a:lnSpc>
            </a:pPr>
            <a:r>
              <a:rPr lang="en-US" sz="1400" b="1" spc="-50" dirty="0" smtClean="0">
                <a:latin typeface="Consolas" panose="020B0609020204030204" pitchFamily="49" charset="0"/>
                <a:cs typeface="Consolas" panose="020B0609020204030204" pitchFamily="49" charset="0"/>
              </a:rPr>
              <a:t>From</a:t>
            </a:r>
            <a:r>
              <a:rPr lang="en-US" sz="1400" spc="-50" dirty="0" smtClean="0">
                <a:latin typeface="Consolas" panose="020B0609020204030204" pitchFamily="49" charset="0"/>
                <a:cs typeface="Consolas" panose="020B0609020204030204" pitchFamily="49" charset="0"/>
              </a:rPr>
              <a:t> </a:t>
            </a:r>
            <a:r>
              <a:rPr lang="en-US" sz="1400" spc="-50" dirty="0" err="1" smtClean="0">
                <a:solidFill>
                  <a:srgbClr val="2F2364"/>
                </a:solidFill>
                <a:latin typeface="Consolas" panose="020B0609020204030204" pitchFamily="49" charset="0"/>
                <a:cs typeface="Consolas" panose="020B0609020204030204" pitchFamily="49" charset="0"/>
              </a:rPr>
              <a:t>incr</a:t>
            </a:r>
            <a:r>
              <a:rPr lang="en-US" sz="1400" spc="-50" dirty="0" smtClean="0">
                <a:latin typeface="Consolas" panose="020B0609020204030204" pitchFamily="49" charset="0"/>
                <a:cs typeface="Consolas" panose="020B0609020204030204" pitchFamily="49" charset="0"/>
              </a:rPr>
              <a:t> </a:t>
            </a:r>
            <a:r>
              <a:rPr lang="en-US" sz="1400" b="1" spc="-50" dirty="0" smtClean="0">
                <a:latin typeface="Consolas" panose="020B0609020204030204" pitchFamily="49" charset="0"/>
                <a:cs typeface="Consolas" panose="020B0609020204030204" pitchFamily="49" charset="0"/>
              </a:rPr>
              <a:t>In</a:t>
            </a:r>
            <a:r>
              <a:rPr lang="en-US" sz="1400" spc="-50" dirty="0" smtClean="0">
                <a:latin typeface="Consolas" panose="020B0609020204030204" pitchFamily="49" charset="0"/>
                <a:cs typeface="Consolas" panose="020B0609020204030204" pitchFamily="49" charset="0"/>
              </a:rPr>
              <a:t> </a:t>
            </a:r>
            <a:r>
              <a:rPr lang="en-US" sz="1400" spc="-50" dirty="0" err="1" smtClean="0">
                <a:solidFill>
                  <a:srgbClr val="2F2364"/>
                </a:solidFill>
                <a:latin typeface="Consolas" panose="020B0609020204030204" pitchFamily="49" charset="0"/>
                <a:cs typeface="Consolas" panose="020B0609020204030204" pitchFamily="49" charset="0"/>
              </a:rPr>
              <a:t>DataNodeMetrics.incrBytesRead</a:t>
            </a:r>
            <a:endParaRPr lang="en-US" sz="1400" spc="-50" dirty="0" smtClean="0">
              <a:solidFill>
                <a:srgbClr val="2F2364"/>
              </a:solidFill>
              <a:latin typeface="Consolas" panose="020B0609020204030204" pitchFamily="49" charset="0"/>
              <a:cs typeface="Consolas" panose="020B0609020204030204" pitchFamily="49" charset="0"/>
            </a:endParaRPr>
          </a:p>
          <a:p>
            <a:pPr>
              <a:lnSpc>
                <a:spcPct val="90000"/>
              </a:lnSpc>
            </a:pPr>
            <a:r>
              <a:rPr lang="en-US" sz="1400" spc="-50" dirty="0">
                <a:latin typeface="Consolas" panose="020B0609020204030204" pitchFamily="49" charset="0"/>
                <a:cs typeface="Consolas" panose="020B0609020204030204" pitchFamily="49" charset="0"/>
              </a:rPr>
              <a:t> </a:t>
            </a:r>
            <a:r>
              <a:rPr lang="en-US" sz="1400" spc="-50" dirty="0" smtClean="0">
                <a:latin typeface="Consolas" panose="020B0609020204030204" pitchFamily="49" charset="0"/>
                <a:cs typeface="Consolas" panose="020B0609020204030204" pitchFamily="49" charset="0"/>
              </a:rPr>
              <a:t> </a:t>
            </a:r>
            <a:r>
              <a:rPr lang="en-US" sz="1400" b="1" spc="-50" dirty="0" smtClean="0">
                <a:latin typeface="Consolas" panose="020B0609020204030204" pitchFamily="49" charset="0"/>
                <a:cs typeface="Consolas" panose="020B0609020204030204" pitchFamily="49" charset="0"/>
              </a:rPr>
              <a:t>Join</a:t>
            </a:r>
            <a:r>
              <a:rPr lang="en-US" sz="1400" spc="-50" dirty="0" smtClean="0">
                <a:latin typeface="Consolas" panose="020B0609020204030204" pitchFamily="49" charset="0"/>
                <a:cs typeface="Consolas" panose="020B0609020204030204" pitchFamily="49" charset="0"/>
              </a:rPr>
              <a:t> </a:t>
            </a:r>
            <a:r>
              <a:rPr lang="en-US" sz="1400" spc="-50" dirty="0" smtClean="0">
                <a:solidFill>
                  <a:srgbClr val="23642F"/>
                </a:solidFill>
                <a:latin typeface="Consolas" panose="020B0609020204030204" pitchFamily="49" charset="0"/>
                <a:cs typeface="Consolas" panose="020B0609020204030204" pitchFamily="49" charset="0"/>
              </a:rPr>
              <a:t>client</a:t>
            </a:r>
            <a:r>
              <a:rPr lang="en-US" sz="1400" spc="-50" dirty="0" smtClean="0">
                <a:latin typeface="Consolas" panose="020B0609020204030204" pitchFamily="49" charset="0"/>
                <a:cs typeface="Consolas" panose="020B0609020204030204" pitchFamily="49" charset="0"/>
              </a:rPr>
              <a:t> </a:t>
            </a:r>
            <a:r>
              <a:rPr lang="en-US" sz="1400" b="1" spc="-50" dirty="0" smtClean="0">
                <a:latin typeface="Consolas" panose="020B0609020204030204" pitchFamily="49" charset="0"/>
                <a:cs typeface="Consolas" panose="020B0609020204030204" pitchFamily="49" charset="0"/>
              </a:rPr>
              <a:t>In</a:t>
            </a:r>
            <a:r>
              <a:rPr lang="en-US" sz="1400" spc="-50" dirty="0" smtClean="0">
                <a:latin typeface="Consolas" panose="020B0609020204030204" pitchFamily="49" charset="0"/>
                <a:cs typeface="Consolas" panose="020B0609020204030204" pitchFamily="49" charset="0"/>
              </a:rPr>
              <a:t> </a:t>
            </a:r>
            <a:r>
              <a:rPr lang="en-US" sz="1400" b="1" spc="-50" dirty="0" smtClean="0">
                <a:latin typeface="Consolas" panose="020B0609020204030204" pitchFamily="49" charset="0"/>
                <a:cs typeface="Consolas" panose="020B0609020204030204" pitchFamily="49" charset="0"/>
              </a:rPr>
              <a:t>First(</a:t>
            </a:r>
            <a:r>
              <a:rPr lang="en-US" sz="1400" spc="-50" dirty="0" err="1" smtClean="0">
                <a:solidFill>
                  <a:srgbClr val="23642F"/>
                </a:solidFill>
                <a:latin typeface="Consolas" panose="020B0609020204030204" pitchFamily="49" charset="0"/>
                <a:cs typeface="Consolas" panose="020B0609020204030204" pitchFamily="49" charset="0"/>
              </a:rPr>
              <a:t>ClientProtocols</a:t>
            </a:r>
            <a:r>
              <a:rPr lang="en-US" sz="1400" spc="-50" dirty="0" smtClean="0">
                <a:latin typeface="Consolas" panose="020B0609020204030204" pitchFamily="49" charset="0"/>
                <a:cs typeface="Consolas" panose="020B0609020204030204" pitchFamily="49" charset="0"/>
              </a:rPr>
              <a:t>) </a:t>
            </a:r>
            <a:r>
              <a:rPr lang="en-US" sz="1400" b="1" spc="-50" dirty="0" smtClean="0">
                <a:latin typeface="Consolas" panose="020B0609020204030204" pitchFamily="49" charset="0"/>
                <a:cs typeface="Consolas" panose="020B0609020204030204" pitchFamily="49" charset="0"/>
              </a:rPr>
              <a:t>On</a:t>
            </a:r>
            <a:r>
              <a:rPr lang="en-US" sz="1400" spc="-50" dirty="0" smtClean="0">
                <a:latin typeface="Consolas" panose="020B0609020204030204" pitchFamily="49" charset="0"/>
                <a:cs typeface="Consolas" panose="020B0609020204030204" pitchFamily="49" charset="0"/>
              </a:rPr>
              <a:t> </a:t>
            </a:r>
            <a:r>
              <a:rPr lang="en-US" sz="1400" spc="-50" dirty="0" smtClean="0">
                <a:solidFill>
                  <a:srgbClr val="23642F"/>
                </a:solidFill>
                <a:latin typeface="Consolas" panose="020B0609020204030204" pitchFamily="49" charset="0"/>
                <a:cs typeface="Consolas" panose="020B0609020204030204" pitchFamily="49" charset="0"/>
              </a:rPr>
              <a:t>client</a:t>
            </a:r>
            <a:r>
              <a:rPr lang="en-US" sz="1400" spc="-50" dirty="0" smtClean="0">
                <a:latin typeface="Consolas" panose="020B0609020204030204" pitchFamily="49" charset="0"/>
                <a:cs typeface="Consolas" panose="020B0609020204030204" pitchFamily="49" charset="0"/>
              </a:rPr>
              <a:t> </a:t>
            </a:r>
            <a:r>
              <a:rPr lang="en-US" sz="1400" b="1" spc="-50" dirty="0" smtClean="0">
                <a:latin typeface="Consolas" panose="020B0609020204030204" pitchFamily="49" charset="0"/>
                <a:cs typeface="Consolas" panose="020B0609020204030204" pitchFamily="49" charset="0"/>
              </a:rPr>
              <a:t>-&gt;</a:t>
            </a:r>
            <a:r>
              <a:rPr lang="en-US" sz="1400" spc="-50" dirty="0" smtClean="0">
                <a:latin typeface="Consolas" panose="020B0609020204030204" pitchFamily="49" charset="0"/>
                <a:cs typeface="Consolas" panose="020B0609020204030204" pitchFamily="49" charset="0"/>
              </a:rPr>
              <a:t> </a:t>
            </a:r>
            <a:r>
              <a:rPr lang="en-US" sz="1400" spc="-50" dirty="0" err="1" smtClean="0">
                <a:solidFill>
                  <a:srgbClr val="2F2364"/>
                </a:solidFill>
                <a:latin typeface="Consolas" panose="020B0609020204030204" pitchFamily="49" charset="0"/>
                <a:cs typeface="Consolas" panose="020B0609020204030204" pitchFamily="49" charset="0"/>
              </a:rPr>
              <a:t>incr</a:t>
            </a:r>
            <a:endParaRPr lang="en-US" sz="1400" spc="-50" dirty="0" smtClean="0">
              <a:solidFill>
                <a:srgbClr val="2F2364"/>
              </a:solidFill>
              <a:latin typeface="Consolas" panose="020B0609020204030204" pitchFamily="49" charset="0"/>
              <a:cs typeface="Consolas" panose="020B0609020204030204" pitchFamily="49" charset="0"/>
            </a:endParaRPr>
          </a:p>
          <a:p>
            <a:pPr>
              <a:lnSpc>
                <a:spcPct val="90000"/>
              </a:lnSpc>
            </a:pPr>
            <a:r>
              <a:rPr lang="en-US" sz="1400" spc="-50" dirty="0" smtClean="0">
                <a:latin typeface="Consolas" panose="020B0609020204030204" pitchFamily="49" charset="0"/>
                <a:cs typeface="Consolas" panose="020B0609020204030204" pitchFamily="49" charset="0"/>
              </a:rPr>
              <a:t>  </a:t>
            </a:r>
            <a:r>
              <a:rPr lang="en-US" sz="1400" b="1" spc="-50" dirty="0" err="1" smtClean="0">
                <a:latin typeface="Consolas" panose="020B0609020204030204" pitchFamily="49" charset="0"/>
                <a:cs typeface="Consolas" panose="020B0609020204030204" pitchFamily="49" charset="0"/>
              </a:rPr>
              <a:t>GroupBy</a:t>
            </a:r>
            <a:r>
              <a:rPr lang="en-US" sz="1400" spc="-50" dirty="0" smtClean="0">
                <a:latin typeface="Consolas" panose="020B0609020204030204" pitchFamily="49" charset="0"/>
                <a:cs typeface="Consolas" panose="020B0609020204030204" pitchFamily="49" charset="0"/>
              </a:rPr>
              <a:t> </a:t>
            </a:r>
            <a:r>
              <a:rPr lang="en-US" sz="1400" spc="-50" dirty="0" err="1" smtClean="0">
                <a:solidFill>
                  <a:srgbClr val="23642F"/>
                </a:solidFill>
                <a:latin typeface="Consolas" panose="020B0609020204030204" pitchFamily="49" charset="0"/>
                <a:cs typeface="Consolas" panose="020B0609020204030204" pitchFamily="49" charset="0"/>
              </a:rPr>
              <a:t>client.procName</a:t>
            </a:r>
            <a:endParaRPr lang="en-US" sz="1400" spc="-50" dirty="0" smtClean="0">
              <a:solidFill>
                <a:srgbClr val="23642F"/>
              </a:solidFill>
              <a:latin typeface="Consolas" panose="020B0609020204030204" pitchFamily="49" charset="0"/>
              <a:cs typeface="Consolas" panose="020B0609020204030204" pitchFamily="49" charset="0"/>
            </a:endParaRPr>
          </a:p>
          <a:p>
            <a:pPr>
              <a:lnSpc>
                <a:spcPct val="90000"/>
              </a:lnSpc>
            </a:pPr>
            <a:r>
              <a:rPr lang="en-US" sz="1400" spc="-50" dirty="0" smtClean="0">
                <a:solidFill>
                  <a:srgbClr val="23642F"/>
                </a:solidFill>
                <a:latin typeface="Consolas" panose="020B0609020204030204" pitchFamily="49" charset="0"/>
                <a:cs typeface="Consolas" panose="020B0609020204030204" pitchFamily="49" charset="0"/>
              </a:rPr>
              <a:t>  </a:t>
            </a:r>
            <a:r>
              <a:rPr lang="en-US" sz="1400" b="1" spc="-50" dirty="0" smtClean="0">
                <a:latin typeface="Consolas" panose="020B0609020204030204" pitchFamily="49" charset="0"/>
                <a:cs typeface="Consolas" panose="020B0609020204030204" pitchFamily="49" charset="0"/>
              </a:rPr>
              <a:t>Select</a:t>
            </a:r>
            <a:r>
              <a:rPr lang="en-US" sz="1400" spc="-50" dirty="0" smtClean="0">
                <a:latin typeface="Consolas" panose="020B0609020204030204" pitchFamily="49" charset="0"/>
                <a:cs typeface="Consolas" panose="020B0609020204030204" pitchFamily="49" charset="0"/>
              </a:rPr>
              <a:t> </a:t>
            </a:r>
            <a:r>
              <a:rPr lang="en-US" sz="1400" spc="-50" dirty="0" err="1" smtClean="0">
                <a:solidFill>
                  <a:srgbClr val="23642F"/>
                </a:solidFill>
                <a:latin typeface="Consolas" panose="020B0609020204030204" pitchFamily="49" charset="0"/>
                <a:cs typeface="Consolas" panose="020B0609020204030204" pitchFamily="49" charset="0"/>
              </a:rPr>
              <a:t>client.procName</a:t>
            </a:r>
            <a:r>
              <a:rPr lang="en-US" sz="1400" spc="-50" dirty="0" smtClean="0">
                <a:latin typeface="Consolas" panose="020B0609020204030204" pitchFamily="49" charset="0"/>
                <a:cs typeface="Consolas" panose="020B0609020204030204" pitchFamily="49" charset="0"/>
              </a:rPr>
              <a:t>,</a:t>
            </a:r>
            <a:r>
              <a:rPr lang="en-US" sz="1400" spc="-50" dirty="0" smtClean="0">
                <a:solidFill>
                  <a:srgbClr val="23642F"/>
                </a:solidFill>
                <a:latin typeface="Consolas" panose="020B0609020204030204" pitchFamily="49" charset="0"/>
                <a:cs typeface="Consolas" panose="020B0609020204030204" pitchFamily="49" charset="0"/>
              </a:rPr>
              <a:t> </a:t>
            </a:r>
            <a:r>
              <a:rPr lang="en-US" sz="1400" b="1" spc="-50" dirty="0" smtClean="0">
                <a:latin typeface="Consolas" panose="020B0609020204030204" pitchFamily="49" charset="0"/>
                <a:cs typeface="Consolas" panose="020B0609020204030204" pitchFamily="49" charset="0"/>
              </a:rPr>
              <a:t>SUM(</a:t>
            </a:r>
            <a:r>
              <a:rPr lang="en-US" sz="1400" spc="-50" dirty="0" err="1" smtClean="0">
                <a:solidFill>
                  <a:srgbClr val="2F2364"/>
                </a:solidFill>
                <a:latin typeface="Consolas" panose="020B0609020204030204" pitchFamily="49" charset="0"/>
                <a:cs typeface="Consolas" panose="020B0609020204030204" pitchFamily="49" charset="0"/>
              </a:rPr>
              <a:t>incr.delta</a:t>
            </a:r>
            <a:r>
              <a:rPr lang="en-US" sz="1400" b="1" spc="-50" dirty="0" smtClean="0">
                <a:latin typeface="Consolas" panose="020B0609020204030204" pitchFamily="49" charset="0"/>
                <a:cs typeface="Consolas" panose="020B0609020204030204" pitchFamily="49" charset="0"/>
              </a:rPr>
              <a:t>)</a:t>
            </a:r>
          </a:p>
        </p:txBody>
      </p:sp>
      <p:sp>
        <p:nvSpPr>
          <p:cNvPr id="4" name="Query Coverup 1"/>
          <p:cNvSpPr/>
          <p:nvPr/>
        </p:nvSpPr>
        <p:spPr>
          <a:xfrm>
            <a:off x="3687325" y="4947098"/>
            <a:ext cx="5456676" cy="678426"/>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Query Coverup 2"/>
          <p:cNvSpPr/>
          <p:nvPr/>
        </p:nvSpPr>
        <p:spPr>
          <a:xfrm>
            <a:off x="3772239" y="4274238"/>
            <a:ext cx="5496509" cy="1567717"/>
          </a:xfrm>
          <a:custGeom>
            <a:avLst/>
            <a:gdLst>
              <a:gd name="connsiteX0" fmla="*/ 0 w 5496509"/>
              <a:gd name="connsiteY0" fmla="*/ 889291 h 1567717"/>
              <a:gd name="connsiteX1" fmla="*/ 5456676 w 5496509"/>
              <a:gd name="connsiteY1" fmla="*/ 889291 h 1567717"/>
              <a:gd name="connsiteX2" fmla="*/ 5456676 w 5496509"/>
              <a:gd name="connsiteY2" fmla="*/ 1567717 h 1567717"/>
              <a:gd name="connsiteX3" fmla="*/ 0 w 5496509"/>
              <a:gd name="connsiteY3" fmla="*/ 1567717 h 1567717"/>
              <a:gd name="connsiteX4" fmla="*/ 39833 w 5496509"/>
              <a:gd name="connsiteY4" fmla="*/ 0 h 1567717"/>
              <a:gd name="connsiteX5" fmla="*/ 5496509 w 5496509"/>
              <a:gd name="connsiteY5" fmla="*/ 0 h 1567717"/>
              <a:gd name="connsiteX6" fmla="*/ 5496509 w 5496509"/>
              <a:gd name="connsiteY6" fmla="*/ 678426 h 1567717"/>
              <a:gd name="connsiteX7" fmla="*/ 39833 w 5496509"/>
              <a:gd name="connsiteY7" fmla="*/ 678426 h 1567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96509" h="1567717">
                <a:moveTo>
                  <a:pt x="0" y="889291"/>
                </a:moveTo>
                <a:lnTo>
                  <a:pt x="5456676" y="889291"/>
                </a:lnTo>
                <a:lnTo>
                  <a:pt x="5456676" y="1567717"/>
                </a:lnTo>
                <a:lnTo>
                  <a:pt x="0" y="1567717"/>
                </a:lnTo>
                <a:close/>
                <a:moveTo>
                  <a:pt x="39833" y="0"/>
                </a:moveTo>
                <a:lnTo>
                  <a:pt x="5496509" y="0"/>
                </a:lnTo>
                <a:lnTo>
                  <a:pt x="5496509" y="678426"/>
                </a:lnTo>
                <a:lnTo>
                  <a:pt x="39833" y="678426"/>
                </a:lnTo>
                <a:close/>
              </a:path>
            </a:pathLst>
          </a:cu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Query Coverup 3"/>
          <p:cNvSpPr/>
          <p:nvPr/>
        </p:nvSpPr>
        <p:spPr>
          <a:xfrm>
            <a:off x="3639575" y="4464637"/>
            <a:ext cx="5496509" cy="1567717"/>
          </a:xfrm>
          <a:custGeom>
            <a:avLst/>
            <a:gdLst>
              <a:gd name="connsiteX0" fmla="*/ 0 w 5496509"/>
              <a:gd name="connsiteY0" fmla="*/ 889291 h 1567717"/>
              <a:gd name="connsiteX1" fmla="*/ 5456676 w 5496509"/>
              <a:gd name="connsiteY1" fmla="*/ 889291 h 1567717"/>
              <a:gd name="connsiteX2" fmla="*/ 5456676 w 5496509"/>
              <a:gd name="connsiteY2" fmla="*/ 1567717 h 1567717"/>
              <a:gd name="connsiteX3" fmla="*/ 0 w 5496509"/>
              <a:gd name="connsiteY3" fmla="*/ 1567717 h 1567717"/>
              <a:gd name="connsiteX4" fmla="*/ 39833 w 5496509"/>
              <a:gd name="connsiteY4" fmla="*/ 0 h 1567717"/>
              <a:gd name="connsiteX5" fmla="*/ 5496509 w 5496509"/>
              <a:gd name="connsiteY5" fmla="*/ 0 h 1567717"/>
              <a:gd name="connsiteX6" fmla="*/ 5496509 w 5496509"/>
              <a:gd name="connsiteY6" fmla="*/ 678426 h 1567717"/>
              <a:gd name="connsiteX7" fmla="*/ 39833 w 5496509"/>
              <a:gd name="connsiteY7" fmla="*/ 678426 h 1567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96509" h="1567717">
                <a:moveTo>
                  <a:pt x="0" y="889291"/>
                </a:moveTo>
                <a:lnTo>
                  <a:pt x="5456676" y="889291"/>
                </a:lnTo>
                <a:lnTo>
                  <a:pt x="5456676" y="1567717"/>
                </a:lnTo>
                <a:lnTo>
                  <a:pt x="0" y="1567717"/>
                </a:lnTo>
                <a:close/>
                <a:moveTo>
                  <a:pt x="39833" y="0"/>
                </a:moveTo>
                <a:lnTo>
                  <a:pt x="5496509" y="0"/>
                </a:lnTo>
                <a:lnTo>
                  <a:pt x="5496509" y="678426"/>
                </a:lnTo>
                <a:lnTo>
                  <a:pt x="39833" y="678426"/>
                </a:lnTo>
                <a:close/>
              </a:path>
            </a:pathLst>
          </a:cu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Query Coverup 4"/>
          <p:cNvSpPr/>
          <p:nvPr/>
        </p:nvSpPr>
        <p:spPr>
          <a:xfrm>
            <a:off x="3752322" y="4688694"/>
            <a:ext cx="5496509" cy="1567717"/>
          </a:xfrm>
          <a:custGeom>
            <a:avLst/>
            <a:gdLst>
              <a:gd name="connsiteX0" fmla="*/ 0 w 5496509"/>
              <a:gd name="connsiteY0" fmla="*/ 889291 h 1567717"/>
              <a:gd name="connsiteX1" fmla="*/ 5456676 w 5496509"/>
              <a:gd name="connsiteY1" fmla="*/ 889291 h 1567717"/>
              <a:gd name="connsiteX2" fmla="*/ 5456676 w 5496509"/>
              <a:gd name="connsiteY2" fmla="*/ 1567717 h 1567717"/>
              <a:gd name="connsiteX3" fmla="*/ 0 w 5496509"/>
              <a:gd name="connsiteY3" fmla="*/ 1567717 h 1567717"/>
              <a:gd name="connsiteX4" fmla="*/ 39833 w 5496509"/>
              <a:gd name="connsiteY4" fmla="*/ 0 h 1567717"/>
              <a:gd name="connsiteX5" fmla="*/ 5496509 w 5496509"/>
              <a:gd name="connsiteY5" fmla="*/ 0 h 1567717"/>
              <a:gd name="connsiteX6" fmla="*/ 5496509 w 5496509"/>
              <a:gd name="connsiteY6" fmla="*/ 678426 h 1567717"/>
              <a:gd name="connsiteX7" fmla="*/ 39833 w 5496509"/>
              <a:gd name="connsiteY7" fmla="*/ 678426 h 1567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96509" h="1567717">
                <a:moveTo>
                  <a:pt x="0" y="889291"/>
                </a:moveTo>
                <a:lnTo>
                  <a:pt x="5456676" y="889291"/>
                </a:lnTo>
                <a:lnTo>
                  <a:pt x="5456676" y="1567717"/>
                </a:lnTo>
                <a:lnTo>
                  <a:pt x="0" y="1567717"/>
                </a:lnTo>
                <a:close/>
                <a:moveTo>
                  <a:pt x="39833" y="0"/>
                </a:moveTo>
                <a:lnTo>
                  <a:pt x="5496509" y="0"/>
                </a:lnTo>
                <a:lnTo>
                  <a:pt x="5496509" y="678426"/>
                </a:lnTo>
                <a:lnTo>
                  <a:pt x="39833" y="678426"/>
                </a:lnTo>
                <a:close/>
              </a:path>
            </a:pathLst>
          </a:cu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1" name="Group 110"/>
          <p:cNvGrpSpPr/>
          <p:nvPr/>
        </p:nvGrpSpPr>
        <p:grpSpPr>
          <a:xfrm>
            <a:off x="684743" y="3472132"/>
            <a:ext cx="2982478" cy="2596323"/>
            <a:chOff x="2155601" y="1578475"/>
            <a:chExt cx="3736038" cy="3252317"/>
          </a:xfrm>
        </p:grpSpPr>
        <p:sp>
          <p:nvSpPr>
            <p:cNvPr id="113" name="Rectangle 112"/>
            <p:cNvSpPr/>
            <p:nvPr/>
          </p:nvSpPr>
          <p:spPr>
            <a:xfrm>
              <a:off x="2155601" y="1578475"/>
              <a:ext cx="3736038" cy="325231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4" name="Group 113"/>
            <p:cNvGrpSpPr/>
            <p:nvPr/>
          </p:nvGrpSpPr>
          <p:grpSpPr>
            <a:xfrm>
              <a:off x="2170841" y="1607045"/>
              <a:ext cx="3686167" cy="3190118"/>
              <a:chOff x="1164801" y="2536506"/>
              <a:chExt cx="3686167" cy="3190118"/>
            </a:xfrm>
          </p:grpSpPr>
          <p:pic>
            <p:nvPicPr>
              <p:cNvPr id="115" name="Picture 114" descr="fig1.pdf"/>
              <p:cNvPicPr>
                <a:picLocks noChangeAspect="1"/>
              </p:cNvPicPr>
              <p:nvPr/>
            </p:nvPicPr>
            <p:blipFill rotWithShape="1">
              <a:blip r:embed="rId3">
                <a:extLst>
                  <a:ext uri="{28A0092B-C50C-407E-A947-70E740481C1C}">
                    <a14:useLocalDpi xmlns:a14="http://schemas.microsoft.com/office/drawing/2010/main" val="0"/>
                  </a:ext>
                </a:extLst>
              </a:blip>
              <a:srcRect r="80877" b="13113"/>
              <a:stretch/>
            </p:blipFill>
            <p:spPr>
              <a:xfrm>
                <a:off x="1164801" y="2536506"/>
                <a:ext cx="708449" cy="2793024"/>
              </a:xfrm>
              <a:prstGeom prst="rect">
                <a:avLst/>
              </a:prstGeom>
              <a:ln>
                <a:noFill/>
              </a:ln>
            </p:spPr>
            <p:style>
              <a:lnRef idx="2">
                <a:schemeClr val="dk1"/>
              </a:lnRef>
              <a:fillRef idx="1">
                <a:schemeClr val="lt1"/>
              </a:fillRef>
              <a:effectRef idx="0">
                <a:schemeClr val="dk1"/>
              </a:effectRef>
              <a:fontRef idx="minor">
                <a:schemeClr val="dk1"/>
              </a:fontRef>
            </p:style>
          </p:pic>
          <p:pic>
            <p:nvPicPr>
              <p:cNvPr id="116" name="Picture 115" descr="fig1.pdf"/>
              <p:cNvPicPr>
                <a:picLocks noChangeAspect="1"/>
              </p:cNvPicPr>
              <p:nvPr/>
            </p:nvPicPr>
            <p:blipFill rotWithShape="1">
              <a:blip r:embed="rId3">
                <a:extLst>
                  <a:ext uri="{28A0092B-C50C-407E-A947-70E740481C1C}">
                    <a14:useLocalDpi xmlns:a14="http://schemas.microsoft.com/office/drawing/2010/main" val="0"/>
                  </a:ext>
                </a:extLst>
              </a:blip>
              <a:srcRect l="16879" t="84233" r="495" b="96"/>
              <a:stretch/>
            </p:blipFill>
            <p:spPr>
              <a:xfrm>
                <a:off x="1790054" y="5222875"/>
                <a:ext cx="3060914" cy="503749"/>
              </a:xfrm>
              <a:prstGeom prst="rect">
                <a:avLst/>
              </a:prstGeom>
              <a:ln>
                <a:noFill/>
              </a:ln>
            </p:spPr>
            <p:style>
              <a:lnRef idx="2">
                <a:schemeClr val="dk1"/>
              </a:lnRef>
              <a:fillRef idx="1">
                <a:schemeClr val="lt1"/>
              </a:fillRef>
              <a:effectRef idx="0">
                <a:schemeClr val="dk1"/>
              </a:effectRef>
              <a:fontRef idx="minor">
                <a:schemeClr val="dk1"/>
              </a:fontRef>
            </p:style>
          </p:pic>
        </p:grpSp>
      </p:grpSp>
      <p:pic>
        <p:nvPicPr>
          <p:cNvPr id="110" name="Picture 109" descr="fig1.pdf"/>
          <p:cNvPicPr>
            <a:picLocks noChangeAspect="1"/>
          </p:cNvPicPr>
          <p:nvPr/>
        </p:nvPicPr>
        <p:blipFill rotWithShape="1">
          <a:blip r:embed="rId3">
            <a:extLst>
              <a:ext uri="{28A0092B-C50C-407E-A947-70E740481C1C}">
                <a14:useLocalDpi xmlns:a14="http://schemas.microsoft.com/office/drawing/2010/main" val="0"/>
              </a:ext>
            </a:extLst>
          </a:blip>
          <a:srcRect l="19044" t="31457" r="3576" b="15636"/>
          <a:stretch/>
        </p:blipFill>
        <p:spPr>
          <a:xfrm>
            <a:off x="1262464" y="4278624"/>
            <a:ext cx="2288878" cy="1357964"/>
          </a:xfrm>
          <a:prstGeom prst="rect">
            <a:avLst/>
          </a:prstGeom>
          <a:ln>
            <a:noFill/>
          </a:ln>
        </p:spPr>
        <p:style>
          <a:lnRef idx="2">
            <a:schemeClr val="dk1"/>
          </a:lnRef>
          <a:fillRef idx="1">
            <a:schemeClr val="lt1"/>
          </a:fillRef>
          <a:effectRef idx="0">
            <a:schemeClr val="dk1"/>
          </a:effectRef>
          <a:fontRef idx="minor">
            <a:schemeClr val="dk1"/>
          </a:fontRef>
        </p:style>
      </p:pic>
      <p:pic>
        <p:nvPicPr>
          <p:cNvPr id="119" name="Picture 118"/>
          <p:cNvPicPr>
            <a:picLocks noChangeAspect="1"/>
          </p:cNvPicPr>
          <p:nvPr/>
        </p:nvPicPr>
        <p:blipFill rotWithShape="1">
          <a:blip r:embed="rId4">
            <a:extLst>
              <a:ext uri="{28A0092B-C50C-407E-A947-70E740481C1C}">
                <a14:useLocalDpi xmlns:a14="http://schemas.microsoft.com/office/drawing/2010/main" val="0"/>
              </a:ext>
            </a:extLst>
          </a:blip>
          <a:srcRect l="19414" t="29041" r="3530" b="15415"/>
          <a:stretch/>
        </p:blipFill>
        <p:spPr>
          <a:xfrm>
            <a:off x="1268449" y="4193699"/>
            <a:ext cx="2313732" cy="1444328"/>
          </a:xfrm>
          <a:prstGeom prst="rect">
            <a:avLst/>
          </a:prstGeom>
          <a:ln>
            <a:noFill/>
          </a:ln>
        </p:spPr>
        <p:style>
          <a:lnRef idx="2">
            <a:schemeClr val="dk1"/>
          </a:lnRef>
          <a:fillRef idx="1">
            <a:schemeClr val="lt1"/>
          </a:fillRef>
          <a:effectRef idx="0">
            <a:schemeClr val="dk1"/>
          </a:effectRef>
          <a:fontRef idx="minor">
            <a:schemeClr val="dk1"/>
          </a:fontRef>
        </p:style>
      </p:pic>
      <p:sp>
        <p:nvSpPr>
          <p:cNvPr id="12" name="Content Placeholder 2"/>
          <p:cNvSpPr txBox="1">
            <a:spLocks/>
          </p:cNvSpPr>
          <p:nvPr/>
        </p:nvSpPr>
        <p:spPr>
          <a:xfrm>
            <a:off x="515874" y="3401569"/>
            <a:ext cx="7886700" cy="2068195"/>
          </a:xfrm>
          <a:prstGeom prst="rect">
            <a:avLst/>
          </a:prstGeom>
        </p:spPr>
        <p:txBody>
          <a:bodyPr vert="horz" lIns="91440" tIns="45720" rIns="91440" bIns="45720" rtlCol="0">
            <a:normAutofit/>
          </a:bodyPr>
          <a:lstStyle>
            <a:lvl1pPr marL="228591" indent="-228591" algn="l" defTabSz="91436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73" indent="-228591" algn="l" defTabSz="91436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54" indent="-228591" algn="l" defTabSz="91436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36"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18"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99"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81"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63"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45"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dirty="0" smtClean="0"/>
          </a:p>
        </p:txBody>
      </p:sp>
      <p:grpSp>
        <p:nvGrpSpPr>
          <p:cNvPr id="84" name="Group 83"/>
          <p:cNvGrpSpPr/>
          <p:nvPr/>
        </p:nvGrpSpPr>
        <p:grpSpPr>
          <a:xfrm>
            <a:off x="4765983" y="1712457"/>
            <a:ext cx="4314009" cy="2607290"/>
            <a:chOff x="1548167" y="890653"/>
            <a:chExt cx="4314009" cy="2607290"/>
          </a:xfrm>
        </p:grpSpPr>
        <p:sp>
          <p:nvSpPr>
            <p:cNvPr id="95" name="Rounded Rectangle 94"/>
            <p:cNvSpPr/>
            <p:nvPr/>
          </p:nvSpPr>
          <p:spPr>
            <a:xfrm>
              <a:off x="1854940" y="1157145"/>
              <a:ext cx="4007236" cy="2340798"/>
            </a:xfrm>
            <a:prstGeom prst="roundRect">
              <a:avLst>
                <a:gd name="adj" fmla="val 3932"/>
              </a:avLst>
            </a:prstGeom>
            <a:solidFill>
              <a:schemeClr val="bg1">
                <a:alpha val="25000"/>
              </a:schemeClr>
            </a:solidFill>
            <a:ln w="57150">
              <a:solidFill>
                <a:schemeClr val="tx1">
                  <a:alpha val="2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96" name="Rounded Rectangle 95"/>
            <p:cNvSpPr/>
            <p:nvPr/>
          </p:nvSpPr>
          <p:spPr>
            <a:xfrm>
              <a:off x="1752683" y="1068315"/>
              <a:ext cx="4007236" cy="2340798"/>
            </a:xfrm>
            <a:prstGeom prst="roundRect">
              <a:avLst>
                <a:gd name="adj" fmla="val 3932"/>
              </a:avLst>
            </a:prstGeom>
            <a:solidFill>
              <a:schemeClr val="bg1">
                <a:alpha val="50000"/>
              </a:schemeClr>
            </a:solidFill>
            <a:ln w="571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97" name="Rounded Rectangle 96"/>
            <p:cNvSpPr/>
            <p:nvPr/>
          </p:nvSpPr>
          <p:spPr>
            <a:xfrm>
              <a:off x="1650425" y="979484"/>
              <a:ext cx="4007236" cy="2340798"/>
            </a:xfrm>
            <a:prstGeom prst="roundRect">
              <a:avLst>
                <a:gd name="adj" fmla="val 3932"/>
              </a:avLst>
            </a:prstGeom>
            <a:solidFill>
              <a:schemeClr val="bg1">
                <a:alpha val="75000"/>
              </a:schemeClr>
            </a:solidFill>
            <a:ln w="57150">
              <a:solidFill>
                <a:schemeClr val="tx1">
                  <a:alpha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nvGrpSpPr>
            <p:cNvPr id="98" name="Group 97"/>
            <p:cNvGrpSpPr/>
            <p:nvPr/>
          </p:nvGrpSpPr>
          <p:grpSpPr>
            <a:xfrm>
              <a:off x="1548167" y="890653"/>
              <a:ext cx="4007236" cy="2340798"/>
              <a:chOff x="1548167" y="890653"/>
              <a:chExt cx="4007236" cy="2340798"/>
            </a:xfrm>
          </p:grpSpPr>
          <p:sp>
            <p:nvSpPr>
              <p:cNvPr id="99" name="Rounded Rectangle 98"/>
              <p:cNvSpPr/>
              <p:nvPr/>
            </p:nvSpPr>
            <p:spPr>
              <a:xfrm>
                <a:off x="1548167" y="890653"/>
                <a:ext cx="4007236" cy="2340798"/>
              </a:xfrm>
              <a:prstGeom prst="roundRect">
                <a:avLst>
                  <a:gd name="adj" fmla="val 3932"/>
                </a:avLst>
              </a:prstGeom>
              <a:solidFill>
                <a:schemeClr val="bg1"/>
              </a:solidFill>
              <a:ln w="571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cxnSp>
            <p:nvCxnSpPr>
              <p:cNvPr id="100" name="Straight Connector 99"/>
              <p:cNvCxnSpPr/>
              <p:nvPr/>
            </p:nvCxnSpPr>
            <p:spPr>
              <a:xfrm flipV="1">
                <a:off x="1548167" y="2515146"/>
                <a:ext cx="3999266" cy="4309"/>
              </a:xfrm>
              <a:prstGeom prst="line">
                <a:avLst/>
              </a:prstGeom>
              <a:ln w="571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sp>
        <p:nvSpPr>
          <p:cNvPr id="85" name="Can 84"/>
          <p:cNvSpPr/>
          <p:nvPr/>
        </p:nvSpPr>
        <p:spPr>
          <a:xfrm>
            <a:off x="6221344" y="3424559"/>
            <a:ext cx="904605" cy="528273"/>
          </a:xfrm>
          <a:prstGeom prst="can">
            <a:avLst>
              <a:gd name="adj" fmla="val 50000"/>
            </a:avLst>
          </a:prstGeom>
          <a:solidFill>
            <a:schemeClr val="accent4">
              <a:lumMod val="20000"/>
              <a:lumOff val="8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109728" rIns="0" bIns="0" rtlCol="0" anchor="ctr"/>
          <a:lstStyle/>
          <a:p>
            <a:pPr algn="ctr"/>
            <a:endParaRPr lang="en-US" sz="2000" b="1" dirty="0">
              <a:solidFill>
                <a:schemeClr val="tx1"/>
              </a:solidFill>
            </a:endParaRPr>
          </a:p>
        </p:txBody>
      </p:sp>
      <p:sp>
        <p:nvSpPr>
          <p:cNvPr id="62" name="Freeform 61"/>
          <p:cNvSpPr/>
          <p:nvPr/>
        </p:nvSpPr>
        <p:spPr>
          <a:xfrm>
            <a:off x="6668917" y="1415193"/>
            <a:ext cx="225954" cy="2156477"/>
          </a:xfrm>
          <a:custGeom>
            <a:avLst/>
            <a:gdLst>
              <a:gd name="connsiteX0" fmla="*/ 330740 w 330740"/>
              <a:gd name="connsiteY0" fmla="*/ 0 h 2821022"/>
              <a:gd name="connsiteX1" fmla="*/ 0 w 330740"/>
              <a:gd name="connsiteY1" fmla="*/ 651753 h 2821022"/>
              <a:gd name="connsiteX2" fmla="*/ 0 w 330740"/>
              <a:gd name="connsiteY2" fmla="*/ 2821022 h 2821022"/>
            </a:gdLst>
            <a:ahLst/>
            <a:cxnLst>
              <a:cxn ang="0">
                <a:pos x="connsiteX0" y="connsiteY0"/>
              </a:cxn>
              <a:cxn ang="0">
                <a:pos x="connsiteX1" y="connsiteY1"/>
              </a:cxn>
              <a:cxn ang="0">
                <a:pos x="connsiteX2" y="connsiteY2"/>
              </a:cxn>
            </a:cxnLst>
            <a:rect l="l" t="t" r="r" b="b"/>
            <a:pathLst>
              <a:path w="330740" h="2821022">
                <a:moveTo>
                  <a:pt x="330740" y="0"/>
                </a:moveTo>
                <a:lnTo>
                  <a:pt x="0" y="651753"/>
                </a:lnTo>
                <a:lnTo>
                  <a:pt x="0" y="2821022"/>
                </a:lnTo>
              </a:path>
            </a:pathLst>
          </a:custGeom>
          <a:noFill/>
          <a:ln w="57150">
            <a:solidFill>
              <a:schemeClr val="tx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86" name="Freeform 85"/>
          <p:cNvSpPr/>
          <p:nvPr/>
        </p:nvSpPr>
        <p:spPr>
          <a:xfrm>
            <a:off x="5221714" y="1415193"/>
            <a:ext cx="1334091" cy="2158288"/>
          </a:xfrm>
          <a:custGeom>
            <a:avLst/>
            <a:gdLst>
              <a:gd name="connsiteX0" fmla="*/ 0 w 1206230"/>
              <a:gd name="connsiteY0" fmla="*/ 0 h 2782111"/>
              <a:gd name="connsiteX1" fmla="*/ 0 w 1206230"/>
              <a:gd name="connsiteY1" fmla="*/ 710119 h 2782111"/>
              <a:gd name="connsiteX2" fmla="*/ 573932 w 1206230"/>
              <a:gd name="connsiteY2" fmla="*/ 1206230 h 2782111"/>
              <a:gd name="connsiteX3" fmla="*/ 573932 w 1206230"/>
              <a:gd name="connsiteY3" fmla="*/ 1682885 h 2782111"/>
              <a:gd name="connsiteX4" fmla="*/ 1206230 w 1206230"/>
              <a:gd name="connsiteY4" fmla="*/ 1682885 h 2782111"/>
              <a:gd name="connsiteX5" fmla="*/ 1206230 w 1206230"/>
              <a:gd name="connsiteY5" fmla="*/ 2782111 h 2782111"/>
              <a:gd name="connsiteX0" fmla="*/ 0 w 1206230"/>
              <a:gd name="connsiteY0" fmla="*/ 0 h 2782111"/>
              <a:gd name="connsiteX1" fmla="*/ 0 w 1206230"/>
              <a:gd name="connsiteY1" fmla="*/ 710119 h 2782111"/>
              <a:gd name="connsiteX2" fmla="*/ 573932 w 1206230"/>
              <a:gd name="connsiteY2" fmla="*/ 1206230 h 2782111"/>
              <a:gd name="connsiteX3" fmla="*/ 1206230 w 1206230"/>
              <a:gd name="connsiteY3" fmla="*/ 1682885 h 2782111"/>
              <a:gd name="connsiteX4" fmla="*/ 1206230 w 1206230"/>
              <a:gd name="connsiteY4" fmla="*/ 2782111 h 2782111"/>
              <a:gd name="connsiteX0" fmla="*/ 0 w 1206230"/>
              <a:gd name="connsiteY0" fmla="*/ 0 h 2782111"/>
              <a:gd name="connsiteX1" fmla="*/ 0 w 1206230"/>
              <a:gd name="connsiteY1" fmla="*/ 710119 h 2782111"/>
              <a:gd name="connsiteX2" fmla="*/ 1206230 w 1206230"/>
              <a:gd name="connsiteY2" fmla="*/ 1682885 h 2782111"/>
              <a:gd name="connsiteX3" fmla="*/ 1206230 w 1206230"/>
              <a:gd name="connsiteY3" fmla="*/ 2782111 h 2782111"/>
            </a:gdLst>
            <a:ahLst/>
            <a:cxnLst>
              <a:cxn ang="0">
                <a:pos x="connsiteX0" y="connsiteY0"/>
              </a:cxn>
              <a:cxn ang="0">
                <a:pos x="connsiteX1" y="connsiteY1"/>
              </a:cxn>
              <a:cxn ang="0">
                <a:pos x="connsiteX2" y="connsiteY2"/>
              </a:cxn>
              <a:cxn ang="0">
                <a:pos x="connsiteX3" y="connsiteY3"/>
              </a:cxn>
            </a:cxnLst>
            <a:rect l="l" t="t" r="r" b="b"/>
            <a:pathLst>
              <a:path w="1206230" h="2782111">
                <a:moveTo>
                  <a:pt x="0" y="0"/>
                </a:moveTo>
                <a:lnTo>
                  <a:pt x="0" y="710119"/>
                </a:lnTo>
                <a:lnTo>
                  <a:pt x="1206230" y="1682885"/>
                </a:lnTo>
                <a:lnTo>
                  <a:pt x="1206230" y="2782111"/>
                </a:lnTo>
              </a:path>
            </a:pathLst>
          </a:custGeom>
          <a:noFill/>
          <a:ln w="57150">
            <a:solidFill>
              <a:schemeClr val="tx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88" name="Freeform 87"/>
          <p:cNvSpPr/>
          <p:nvPr/>
        </p:nvSpPr>
        <p:spPr>
          <a:xfrm>
            <a:off x="6795587" y="1415193"/>
            <a:ext cx="1762714" cy="2156477"/>
          </a:xfrm>
          <a:custGeom>
            <a:avLst/>
            <a:gdLst>
              <a:gd name="connsiteX0" fmla="*/ 1780162 w 1780162"/>
              <a:gd name="connsiteY0" fmla="*/ 0 h 2821022"/>
              <a:gd name="connsiteX1" fmla="*/ 1780162 w 1780162"/>
              <a:gd name="connsiteY1" fmla="*/ 1391056 h 2821022"/>
              <a:gd name="connsiteX2" fmla="*/ 0 w 1780162"/>
              <a:gd name="connsiteY2" fmla="*/ 1391056 h 2821022"/>
              <a:gd name="connsiteX3" fmla="*/ 0 w 1780162"/>
              <a:gd name="connsiteY3" fmla="*/ 2821022 h 2821022"/>
            </a:gdLst>
            <a:ahLst/>
            <a:cxnLst>
              <a:cxn ang="0">
                <a:pos x="connsiteX0" y="connsiteY0"/>
              </a:cxn>
              <a:cxn ang="0">
                <a:pos x="connsiteX1" y="connsiteY1"/>
              </a:cxn>
              <a:cxn ang="0">
                <a:pos x="connsiteX2" y="connsiteY2"/>
              </a:cxn>
              <a:cxn ang="0">
                <a:pos x="connsiteX3" y="connsiteY3"/>
              </a:cxn>
            </a:cxnLst>
            <a:rect l="l" t="t" r="r" b="b"/>
            <a:pathLst>
              <a:path w="1780162" h="2821022">
                <a:moveTo>
                  <a:pt x="1780162" y="0"/>
                </a:moveTo>
                <a:lnTo>
                  <a:pt x="1780162" y="1391056"/>
                </a:lnTo>
                <a:lnTo>
                  <a:pt x="0" y="1391056"/>
                </a:lnTo>
                <a:lnTo>
                  <a:pt x="0" y="2821022"/>
                </a:lnTo>
              </a:path>
            </a:pathLst>
          </a:custGeom>
          <a:noFill/>
          <a:ln w="57150">
            <a:solidFill>
              <a:schemeClr val="tx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77" name="Freeform 76"/>
          <p:cNvSpPr/>
          <p:nvPr/>
        </p:nvSpPr>
        <p:spPr>
          <a:xfrm>
            <a:off x="6668917" y="1415193"/>
            <a:ext cx="225954" cy="2156477"/>
          </a:xfrm>
          <a:custGeom>
            <a:avLst/>
            <a:gdLst>
              <a:gd name="connsiteX0" fmla="*/ 330740 w 330740"/>
              <a:gd name="connsiteY0" fmla="*/ 0 h 2821022"/>
              <a:gd name="connsiteX1" fmla="*/ 0 w 330740"/>
              <a:gd name="connsiteY1" fmla="*/ 651753 h 2821022"/>
              <a:gd name="connsiteX2" fmla="*/ 0 w 330740"/>
              <a:gd name="connsiteY2" fmla="*/ 2821022 h 2821022"/>
            </a:gdLst>
            <a:ahLst/>
            <a:cxnLst>
              <a:cxn ang="0">
                <a:pos x="connsiteX0" y="connsiteY0"/>
              </a:cxn>
              <a:cxn ang="0">
                <a:pos x="connsiteX1" y="connsiteY1"/>
              </a:cxn>
              <a:cxn ang="0">
                <a:pos x="connsiteX2" y="connsiteY2"/>
              </a:cxn>
            </a:cxnLst>
            <a:rect l="l" t="t" r="r" b="b"/>
            <a:pathLst>
              <a:path w="330740" h="2821022">
                <a:moveTo>
                  <a:pt x="330740" y="0"/>
                </a:moveTo>
                <a:lnTo>
                  <a:pt x="0" y="651753"/>
                </a:lnTo>
                <a:lnTo>
                  <a:pt x="0" y="2821022"/>
                </a:lnTo>
              </a:path>
            </a:pathLst>
          </a:custGeom>
          <a:noFill/>
          <a:ln w="57150">
            <a:solidFill>
              <a:schemeClr val="tx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89" name="Rounded Rectangle 88"/>
          <p:cNvSpPr/>
          <p:nvPr/>
        </p:nvSpPr>
        <p:spPr>
          <a:xfrm>
            <a:off x="4885478" y="1809421"/>
            <a:ext cx="1056938" cy="641696"/>
          </a:xfrm>
          <a:prstGeom prst="roundRect">
            <a:avLst/>
          </a:prstGeom>
          <a:solidFill>
            <a:srgbClr val="D0CECE">
              <a:alpha val="89804"/>
            </a:srgb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b" anchorCtr="0"/>
          <a:lstStyle/>
          <a:p>
            <a:r>
              <a:rPr lang="en-US" sz="2000" dirty="0" err="1" smtClean="0">
                <a:solidFill>
                  <a:schemeClr val="tx1"/>
                </a:solidFill>
              </a:rPr>
              <a:t>HBase</a:t>
            </a:r>
            <a:endParaRPr lang="en-US" sz="2000" dirty="0">
              <a:solidFill>
                <a:schemeClr val="tx1"/>
              </a:solidFill>
            </a:endParaRPr>
          </a:p>
        </p:txBody>
      </p:sp>
      <p:sp>
        <p:nvSpPr>
          <p:cNvPr id="90" name="Rounded Rectangle 89"/>
          <p:cNvSpPr/>
          <p:nvPr/>
        </p:nvSpPr>
        <p:spPr>
          <a:xfrm>
            <a:off x="5858825" y="2565222"/>
            <a:ext cx="1075285" cy="644131"/>
          </a:xfrm>
          <a:prstGeom prst="roundRect">
            <a:avLst/>
          </a:prstGeom>
          <a:solidFill>
            <a:srgbClr val="D0CECE">
              <a:alpha val="89804"/>
            </a:srgb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r>
              <a:rPr lang="en-US" sz="2000" dirty="0" smtClean="0">
                <a:solidFill>
                  <a:schemeClr val="tx1"/>
                </a:solidFill>
              </a:rPr>
              <a:t>HDFS</a:t>
            </a:r>
            <a:endParaRPr lang="en-US" sz="2000" dirty="0">
              <a:solidFill>
                <a:schemeClr val="tx1"/>
              </a:solidFill>
            </a:endParaRPr>
          </a:p>
        </p:txBody>
      </p:sp>
      <p:sp>
        <p:nvSpPr>
          <p:cNvPr id="91" name="Rounded Rectangle 90"/>
          <p:cNvSpPr/>
          <p:nvPr/>
        </p:nvSpPr>
        <p:spPr>
          <a:xfrm>
            <a:off x="6819147" y="1888256"/>
            <a:ext cx="1840961" cy="484026"/>
          </a:xfrm>
          <a:prstGeom prst="roundRect">
            <a:avLst/>
          </a:prstGeom>
          <a:solidFill>
            <a:srgbClr val="D0CECE">
              <a:alpha val="89804"/>
            </a:srgb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r>
              <a:rPr lang="en-US" sz="2000" dirty="0" err="1" smtClean="0">
                <a:solidFill>
                  <a:schemeClr val="tx1"/>
                </a:solidFill>
              </a:rPr>
              <a:t>MapReduce</a:t>
            </a:r>
            <a:endParaRPr lang="en-US" sz="2000" dirty="0">
              <a:solidFill>
                <a:schemeClr val="tx1"/>
              </a:solidFill>
            </a:endParaRPr>
          </a:p>
        </p:txBody>
      </p:sp>
      <p:sp>
        <p:nvSpPr>
          <p:cNvPr id="92" name="Freeform 91"/>
          <p:cNvSpPr/>
          <p:nvPr/>
        </p:nvSpPr>
        <p:spPr>
          <a:xfrm>
            <a:off x="8373193" y="933282"/>
            <a:ext cx="323462" cy="37800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94" name="Freeform 93"/>
          <p:cNvSpPr/>
          <p:nvPr/>
        </p:nvSpPr>
        <p:spPr>
          <a:xfrm>
            <a:off x="5065016" y="925533"/>
            <a:ext cx="323462" cy="37800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nvGrpSpPr>
          <p:cNvPr id="104" name="Group 103"/>
          <p:cNvGrpSpPr/>
          <p:nvPr/>
        </p:nvGrpSpPr>
        <p:grpSpPr>
          <a:xfrm>
            <a:off x="83554" y="-59631"/>
            <a:ext cx="5967805" cy="1143000"/>
            <a:chOff x="734060" y="55916"/>
            <a:chExt cx="5967805" cy="1143000"/>
          </a:xfrm>
        </p:grpSpPr>
        <p:sp>
          <p:nvSpPr>
            <p:cNvPr id="105" name="Title 1"/>
            <p:cNvSpPr txBox="1">
              <a:spLocks/>
            </p:cNvSpPr>
            <p:nvPr/>
          </p:nvSpPr>
          <p:spPr>
            <a:xfrm>
              <a:off x="734060" y="55916"/>
              <a:ext cx="5967805" cy="1143000"/>
            </a:xfrm>
            <a:prstGeom prst="rect">
              <a:avLst/>
            </a:prstGeom>
          </p:spPr>
          <p:txBody>
            <a:bodyPr vert="horz" lIns="91440" tIns="45720" rIns="91440" bIns="45720" rtlCol="0" anchor="ctr">
              <a:normAutofit/>
            </a:bodyPr>
            <a:lstStyle>
              <a:lvl1pPr algn="l" defTabSz="914363"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smtClean="0"/>
                <a:t>Happened-before Join (      )</a:t>
              </a:r>
              <a:endParaRPr lang="en-US" sz="4000" dirty="0"/>
            </a:p>
          </p:txBody>
        </p:sp>
        <p:grpSp>
          <p:nvGrpSpPr>
            <p:cNvPr id="106" name="Group 105"/>
            <p:cNvGrpSpPr/>
            <p:nvPr/>
          </p:nvGrpSpPr>
          <p:grpSpPr>
            <a:xfrm>
              <a:off x="5791080" y="422003"/>
              <a:ext cx="467759" cy="416707"/>
              <a:chOff x="-61080" y="-73260"/>
              <a:chExt cx="467759" cy="416707"/>
            </a:xfrm>
          </p:grpSpPr>
          <p:sp>
            <p:nvSpPr>
              <p:cNvPr id="107" name="Freeform 106"/>
              <p:cNvSpPr/>
              <p:nvPr/>
            </p:nvSpPr>
            <p:spPr>
              <a:xfrm rot="5400000">
                <a:off x="2547" y="-60686"/>
                <a:ext cx="340506" cy="467759"/>
              </a:xfrm>
              <a:custGeom>
                <a:avLst/>
                <a:gdLst>
                  <a:gd name="connsiteX0" fmla="*/ 1 w 284694"/>
                  <a:gd name="connsiteY0" fmla="*/ 0 h 391089"/>
                  <a:gd name="connsiteX1" fmla="*/ 284694 w 284694"/>
                  <a:gd name="connsiteY1" fmla="*/ 0 h 391089"/>
                  <a:gd name="connsiteX2" fmla="*/ 142348 w 284694"/>
                  <a:gd name="connsiteY2" fmla="*/ 195544 h 391089"/>
                  <a:gd name="connsiteX3" fmla="*/ 0 w 284694"/>
                  <a:gd name="connsiteY3" fmla="*/ 391089 h 391089"/>
                  <a:gd name="connsiteX4" fmla="*/ 142347 w 284694"/>
                  <a:gd name="connsiteY4" fmla="*/ 195545 h 391089"/>
                  <a:gd name="connsiteX5" fmla="*/ 284693 w 284694"/>
                  <a:gd name="connsiteY5" fmla="*/ 391089 h 391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4694" h="391089">
                    <a:moveTo>
                      <a:pt x="1" y="0"/>
                    </a:moveTo>
                    <a:lnTo>
                      <a:pt x="284694" y="0"/>
                    </a:lnTo>
                    <a:lnTo>
                      <a:pt x="142348" y="195544"/>
                    </a:lnTo>
                    <a:close/>
                    <a:moveTo>
                      <a:pt x="0" y="391089"/>
                    </a:moveTo>
                    <a:lnTo>
                      <a:pt x="142347" y="195545"/>
                    </a:lnTo>
                    <a:lnTo>
                      <a:pt x="284693" y="391089"/>
                    </a:lnTo>
                    <a:close/>
                  </a:path>
                </a:pathLst>
              </a:cu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8" name="Straight Arrow Connector 107"/>
              <p:cNvCxnSpPr/>
              <p:nvPr/>
            </p:nvCxnSpPr>
            <p:spPr>
              <a:xfrm>
                <a:off x="-21510" y="-73260"/>
                <a:ext cx="388620" cy="0"/>
              </a:xfrm>
              <a:prstGeom prst="straightConnector1">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grpSp>
      <p:pic>
        <p:nvPicPr>
          <p:cNvPr id="112" name="Picture 111" descr="fig1.pdf"/>
          <p:cNvPicPr>
            <a:picLocks noChangeAspect="1"/>
          </p:cNvPicPr>
          <p:nvPr/>
        </p:nvPicPr>
        <p:blipFill rotWithShape="1">
          <a:blip r:embed="rId3">
            <a:extLst>
              <a:ext uri="{28A0092B-C50C-407E-A947-70E740481C1C}">
                <a14:useLocalDpi xmlns:a14="http://schemas.microsoft.com/office/drawing/2010/main" val="0"/>
              </a:ext>
            </a:extLst>
          </a:blip>
          <a:srcRect l="27670" r="13501" b="73027"/>
          <a:stretch/>
        </p:blipFill>
        <p:spPr>
          <a:xfrm>
            <a:off x="1594967" y="3565492"/>
            <a:ext cx="1739750" cy="692178"/>
          </a:xfrm>
          <a:prstGeom prst="rect">
            <a:avLst/>
          </a:prstGeom>
          <a:ln>
            <a:noFill/>
          </a:ln>
        </p:spPr>
        <p:style>
          <a:lnRef idx="2">
            <a:schemeClr val="dk1"/>
          </a:lnRef>
          <a:fillRef idx="1">
            <a:schemeClr val="lt1"/>
          </a:fillRef>
          <a:effectRef idx="0">
            <a:schemeClr val="dk1"/>
          </a:effectRef>
          <a:fontRef idx="minor">
            <a:schemeClr val="dk1"/>
          </a:fontRef>
        </p:style>
      </p:pic>
      <p:pic>
        <p:nvPicPr>
          <p:cNvPr id="120" name="Picture 119"/>
          <p:cNvPicPr>
            <a:picLocks noChangeAspect="1"/>
          </p:cNvPicPr>
          <p:nvPr/>
        </p:nvPicPr>
        <p:blipFill rotWithShape="1">
          <a:blip r:embed="rId4">
            <a:extLst>
              <a:ext uri="{28A0092B-C50C-407E-A947-70E740481C1C}">
                <a14:useLocalDpi xmlns:a14="http://schemas.microsoft.com/office/drawing/2010/main" val="0"/>
              </a:ext>
            </a:extLst>
          </a:blip>
          <a:srcRect l="23220" t="-501" r="8434" b="73295"/>
          <a:stretch/>
        </p:blipFill>
        <p:spPr>
          <a:xfrm>
            <a:off x="1415370" y="3521356"/>
            <a:ext cx="2192528" cy="755829"/>
          </a:xfrm>
          <a:prstGeom prst="rect">
            <a:avLst/>
          </a:prstGeom>
          <a:ln>
            <a:noFill/>
          </a:ln>
        </p:spPr>
        <p:style>
          <a:lnRef idx="2">
            <a:schemeClr val="dk1"/>
          </a:lnRef>
          <a:fillRef idx="1">
            <a:schemeClr val="lt1"/>
          </a:fillRef>
          <a:effectRef idx="0">
            <a:schemeClr val="dk1"/>
          </a:effectRef>
          <a:fontRef idx="minor">
            <a:schemeClr val="dk1"/>
          </a:fontRef>
        </p:style>
      </p:pic>
      <p:sp>
        <p:nvSpPr>
          <p:cNvPr id="126" name="TextBox 125"/>
          <p:cNvSpPr txBox="1"/>
          <p:nvPr/>
        </p:nvSpPr>
        <p:spPr>
          <a:xfrm>
            <a:off x="356912" y="2980059"/>
            <a:ext cx="4429418" cy="338554"/>
          </a:xfrm>
          <a:prstGeom prst="rect">
            <a:avLst/>
          </a:prstGeom>
          <a:noFill/>
        </p:spPr>
        <p:txBody>
          <a:bodyPr wrap="none" rtlCol="0">
            <a:spAutoFit/>
          </a:bodyPr>
          <a:lstStyle/>
          <a:p>
            <a:r>
              <a:rPr lang="en-US" sz="1600" dirty="0" smtClean="0">
                <a:solidFill>
                  <a:srgbClr val="2F2364"/>
                </a:solidFill>
                <a:latin typeface="Times New Roman" panose="02020603050405020304" pitchFamily="18" charset="0"/>
                <a:cs typeface="Times New Roman" panose="02020603050405020304" pitchFamily="18" charset="0"/>
              </a:rPr>
              <a:t>(“</a:t>
            </a:r>
            <a:r>
              <a:rPr lang="en-US" sz="1400" dirty="0" err="1" smtClean="0">
                <a:solidFill>
                  <a:srgbClr val="2F2364"/>
                </a:solidFill>
                <a:latin typeface="Consolas" panose="020B0609020204030204" pitchFamily="49" charset="0"/>
                <a:cs typeface="Consolas" panose="020B0609020204030204" pitchFamily="49" charset="0"/>
              </a:rPr>
              <a:t>DataNodeMetrics</a:t>
            </a:r>
            <a:r>
              <a:rPr lang="en-US" sz="1600" dirty="0" smtClean="0">
                <a:solidFill>
                  <a:srgbClr val="2F2364"/>
                </a:solidFill>
                <a:latin typeface="Times New Roman" panose="02020603050405020304" pitchFamily="18" charset="0"/>
                <a:cs typeface="Times New Roman" panose="02020603050405020304" pitchFamily="18" charset="0"/>
              </a:rPr>
              <a:t>”, delta=10, host=“Hop01”, …)</a:t>
            </a:r>
            <a:endParaRPr lang="en-US" sz="1600" dirty="0">
              <a:solidFill>
                <a:srgbClr val="2F2364"/>
              </a:solidFill>
              <a:latin typeface="Times New Roman" panose="02020603050405020304" pitchFamily="18" charset="0"/>
              <a:cs typeface="Times New Roman" panose="02020603050405020304" pitchFamily="18" charset="0"/>
            </a:endParaRPr>
          </a:p>
        </p:txBody>
      </p:sp>
      <p:sp>
        <p:nvSpPr>
          <p:cNvPr id="127" name="TextBox 126"/>
          <p:cNvSpPr txBox="1"/>
          <p:nvPr/>
        </p:nvSpPr>
        <p:spPr>
          <a:xfrm>
            <a:off x="473637" y="1825979"/>
            <a:ext cx="4097597" cy="338554"/>
          </a:xfrm>
          <a:prstGeom prst="rect">
            <a:avLst/>
          </a:prstGeom>
          <a:noFill/>
        </p:spPr>
        <p:txBody>
          <a:bodyPr wrap="none" rtlCol="0">
            <a:spAutoFit/>
          </a:bodyPr>
          <a:lstStyle/>
          <a:p>
            <a:r>
              <a:rPr lang="en-US" sz="1600" dirty="0" smtClean="0">
                <a:solidFill>
                  <a:srgbClr val="23642F"/>
                </a:solidFill>
                <a:latin typeface="Times New Roman" panose="02020603050405020304" pitchFamily="18" charset="0"/>
                <a:cs typeface="Times New Roman" panose="02020603050405020304" pitchFamily="18" charset="0"/>
              </a:rPr>
              <a:t>(“</a:t>
            </a:r>
            <a:r>
              <a:rPr lang="en-US" sz="1400" dirty="0" err="1" smtClean="0">
                <a:solidFill>
                  <a:srgbClr val="23642F"/>
                </a:solidFill>
                <a:latin typeface="Consolas" panose="020B0609020204030204" pitchFamily="49" charset="0"/>
                <a:cs typeface="Consolas" panose="020B0609020204030204" pitchFamily="49" charset="0"/>
              </a:rPr>
              <a:t>ClientProtocols</a:t>
            </a:r>
            <a:r>
              <a:rPr lang="en-US" sz="1600" dirty="0" smtClean="0">
                <a:solidFill>
                  <a:srgbClr val="23642F"/>
                </a:solidFill>
                <a:latin typeface="Times New Roman" panose="02020603050405020304" pitchFamily="18" charset="0"/>
                <a:cs typeface="Times New Roman" panose="02020603050405020304" pitchFamily="18" charset="0"/>
              </a:rPr>
              <a:t>”, </a:t>
            </a:r>
            <a:r>
              <a:rPr lang="en-US" sz="1600" dirty="0" err="1" smtClean="0">
                <a:solidFill>
                  <a:srgbClr val="23642F"/>
                </a:solidFill>
                <a:latin typeface="Times New Roman" panose="02020603050405020304" pitchFamily="18" charset="0"/>
                <a:cs typeface="Times New Roman" panose="02020603050405020304" pitchFamily="18" charset="0"/>
              </a:rPr>
              <a:t>procName</a:t>
            </a:r>
            <a:r>
              <a:rPr lang="en-US" sz="1600" dirty="0" smtClean="0">
                <a:solidFill>
                  <a:srgbClr val="23642F"/>
                </a:solidFill>
                <a:latin typeface="Times New Roman" panose="02020603050405020304" pitchFamily="18" charset="0"/>
                <a:cs typeface="Times New Roman" panose="02020603050405020304" pitchFamily="18" charset="0"/>
              </a:rPr>
              <a:t>=“HG</a:t>
            </a:r>
            <a:r>
              <a:rPr lang="en-US" sz="1400" dirty="0" smtClean="0">
                <a:solidFill>
                  <a:srgbClr val="23642F"/>
                </a:solidFill>
                <a:latin typeface="Times New Roman" panose="02020603050405020304" pitchFamily="18" charset="0"/>
                <a:cs typeface="Times New Roman" panose="02020603050405020304" pitchFamily="18" charset="0"/>
              </a:rPr>
              <a:t>ET</a:t>
            </a:r>
            <a:r>
              <a:rPr lang="en-US" sz="1600" dirty="0" smtClean="0">
                <a:solidFill>
                  <a:srgbClr val="23642F"/>
                </a:solidFill>
                <a:latin typeface="Times New Roman" panose="02020603050405020304" pitchFamily="18" charset="0"/>
                <a:cs typeface="Times New Roman" panose="02020603050405020304" pitchFamily="18" charset="0"/>
              </a:rPr>
              <a:t>”, …)</a:t>
            </a:r>
            <a:endParaRPr lang="en-US" sz="1600" dirty="0">
              <a:solidFill>
                <a:srgbClr val="23642F"/>
              </a:solidFill>
              <a:latin typeface="Times New Roman" panose="02020603050405020304" pitchFamily="18" charset="0"/>
              <a:cs typeface="Times New Roman" panose="02020603050405020304" pitchFamily="18" charset="0"/>
            </a:endParaRPr>
          </a:p>
        </p:txBody>
      </p:sp>
      <p:sp>
        <p:nvSpPr>
          <p:cNvPr id="61" name="Freeform 60"/>
          <p:cNvSpPr/>
          <p:nvPr/>
        </p:nvSpPr>
        <p:spPr>
          <a:xfrm>
            <a:off x="6714240" y="933282"/>
            <a:ext cx="323462" cy="37800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nvGrpSpPr>
          <p:cNvPr id="64" name="Group 63"/>
          <p:cNvGrpSpPr/>
          <p:nvPr/>
        </p:nvGrpSpPr>
        <p:grpSpPr>
          <a:xfrm flipH="1">
            <a:off x="3687324" y="1511437"/>
            <a:ext cx="4611148" cy="129540"/>
            <a:chOff x="2582455" y="530859"/>
            <a:chExt cx="4611148" cy="129540"/>
          </a:xfrm>
        </p:grpSpPr>
        <p:cxnSp>
          <p:nvCxnSpPr>
            <p:cNvPr id="69" name="Straight Arrow Connector 68"/>
            <p:cNvCxnSpPr/>
            <p:nvPr/>
          </p:nvCxnSpPr>
          <p:spPr>
            <a:xfrm flipH="1">
              <a:off x="2582455" y="660399"/>
              <a:ext cx="4611148" cy="0"/>
            </a:xfrm>
            <a:prstGeom prst="straightConnector1">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p:nvPr/>
          </p:nvCxnSpPr>
          <p:spPr>
            <a:xfrm flipH="1">
              <a:off x="4249265" y="595629"/>
              <a:ext cx="2944338" cy="0"/>
            </a:xfrm>
            <a:prstGeom prst="straightConnector1">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p:nvPr/>
          </p:nvCxnSpPr>
          <p:spPr>
            <a:xfrm flipH="1">
              <a:off x="5862176" y="530859"/>
              <a:ext cx="1331427" cy="0"/>
            </a:xfrm>
            <a:prstGeom prst="straightConnector1">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grpSp>
      <p:sp>
        <p:nvSpPr>
          <p:cNvPr id="65" name="Rounded Rectangle 64"/>
          <p:cNvSpPr/>
          <p:nvPr/>
        </p:nvSpPr>
        <p:spPr>
          <a:xfrm flipH="1">
            <a:off x="2363670" y="1291301"/>
            <a:ext cx="1355165" cy="569812"/>
          </a:xfrm>
          <a:prstGeom prst="roundRect">
            <a:avLst/>
          </a:prstGeom>
          <a:solidFill>
            <a:schemeClr val="bg1"/>
          </a:solidFill>
          <a:ln w="381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dirty="0" smtClean="0">
                <a:solidFill>
                  <a:srgbClr val="23642F"/>
                </a:solidFill>
                <a:latin typeface="Consolas" panose="020B0609020204030204" pitchFamily="49" charset="0"/>
                <a:cs typeface="Consolas" panose="020B0609020204030204" pitchFamily="49" charset="0"/>
              </a:rPr>
              <a:t>Client</a:t>
            </a:r>
          </a:p>
          <a:p>
            <a:pPr algn="ctr"/>
            <a:r>
              <a:rPr lang="en-US" sz="2000" dirty="0" smtClean="0">
                <a:solidFill>
                  <a:srgbClr val="23642F"/>
                </a:solidFill>
                <a:latin typeface="Consolas" panose="020B0609020204030204" pitchFamily="49" charset="0"/>
                <a:cs typeface="Consolas" panose="020B0609020204030204" pitchFamily="49" charset="0"/>
              </a:rPr>
              <a:t>Protocols</a:t>
            </a:r>
            <a:endParaRPr lang="en-US" sz="2000" dirty="0">
              <a:solidFill>
                <a:srgbClr val="23642F"/>
              </a:solidFill>
              <a:latin typeface="Consolas" panose="020B0609020204030204" pitchFamily="49" charset="0"/>
              <a:cs typeface="Consolas" panose="020B0609020204030204" pitchFamily="49" charset="0"/>
            </a:endParaRPr>
          </a:p>
        </p:txBody>
      </p:sp>
      <p:sp>
        <p:nvSpPr>
          <p:cNvPr id="66" name="Rounded Rectangle 65"/>
          <p:cNvSpPr/>
          <p:nvPr/>
        </p:nvSpPr>
        <p:spPr>
          <a:xfrm flipH="1">
            <a:off x="8344691" y="1489874"/>
            <a:ext cx="397779" cy="166266"/>
          </a:xfrm>
          <a:prstGeom prst="roundRect">
            <a:avLst/>
          </a:prstGeom>
          <a:solidFill>
            <a:schemeClr val="bg1"/>
          </a:solidFill>
          <a:ln w="381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67" name="Rounded Rectangle 66"/>
          <p:cNvSpPr/>
          <p:nvPr/>
        </p:nvSpPr>
        <p:spPr>
          <a:xfrm flipH="1">
            <a:off x="6698265" y="1489874"/>
            <a:ext cx="397779" cy="166266"/>
          </a:xfrm>
          <a:prstGeom prst="roundRect">
            <a:avLst/>
          </a:prstGeom>
          <a:solidFill>
            <a:schemeClr val="bg1"/>
          </a:solidFill>
          <a:ln w="381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68" name="Rounded Rectangle 67"/>
          <p:cNvSpPr/>
          <p:nvPr/>
        </p:nvSpPr>
        <p:spPr>
          <a:xfrm flipH="1">
            <a:off x="5036314" y="1489874"/>
            <a:ext cx="397779" cy="166266"/>
          </a:xfrm>
          <a:prstGeom prst="roundRect">
            <a:avLst/>
          </a:prstGeom>
          <a:solidFill>
            <a:schemeClr val="bg1"/>
          </a:solidFill>
          <a:ln w="381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72" name="Rounded Rectangle 71"/>
          <p:cNvSpPr/>
          <p:nvPr/>
        </p:nvSpPr>
        <p:spPr>
          <a:xfrm>
            <a:off x="6497092" y="2975856"/>
            <a:ext cx="397779" cy="166266"/>
          </a:xfrm>
          <a:prstGeom prst="roundRect">
            <a:avLst/>
          </a:prstGeom>
          <a:solidFill>
            <a:schemeClr val="bg1"/>
          </a:solidFill>
          <a:ln w="381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74" name="Freeform 73"/>
          <p:cNvSpPr/>
          <p:nvPr/>
        </p:nvSpPr>
        <p:spPr>
          <a:xfrm flipV="1">
            <a:off x="4314751" y="2590699"/>
            <a:ext cx="2283000" cy="728115"/>
          </a:xfrm>
          <a:custGeom>
            <a:avLst/>
            <a:gdLst>
              <a:gd name="connsiteX0" fmla="*/ 0 w 398834"/>
              <a:gd name="connsiteY0" fmla="*/ 2188723 h 2188723"/>
              <a:gd name="connsiteX1" fmla="*/ 398834 w 398834"/>
              <a:gd name="connsiteY1" fmla="*/ 0 h 2188723"/>
              <a:gd name="connsiteX0" fmla="*/ 70658 w 469492"/>
              <a:gd name="connsiteY0" fmla="*/ 2188723 h 2188723"/>
              <a:gd name="connsiteX1" fmla="*/ 469492 w 469492"/>
              <a:gd name="connsiteY1" fmla="*/ 0 h 2188723"/>
              <a:gd name="connsiteX0" fmla="*/ 0 w 1070042"/>
              <a:gd name="connsiteY0" fmla="*/ 2345655 h 2345655"/>
              <a:gd name="connsiteX1" fmla="*/ 1070042 w 1070042"/>
              <a:gd name="connsiteY1" fmla="*/ 0 h 2345655"/>
              <a:gd name="connsiteX0" fmla="*/ 0 w 1070042"/>
              <a:gd name="connsiteY0" fmla="*/ 2345655 h 2345655"/>
              <a:gd name="connsiteX1" fmla="*/ 1070042 w 1070042"/>
              <a:gd name="connsiteY1" fmla="*/ 0 h 2345655"/>
              <a:gd name="connsiteX0" fmla="*/ 0 w 1245140"/>
              <a:gd name="connsiteY0" fmla="*/ 2478443 h 2478443"/>
              <a:gd name="connsiteX1" fmla="*/ 1245140 w 1245140"/>
              <a:gd name="connsiteY1" fmla="*/ 0 h 2478443"/>
              <a:gd name="connsiteX0" fmla="*/ 0 w 1400783"/>
              <a:gd name="connsiteY0" fmla="*/ 2611231 h 2611231"/>
              <a:gd name="connsiteX1" fmla="*/ 1400783 w 1400783"/>
              <a:gd name="connsiteY1" fmla="*/ 0 h 2611231"/>
              <a:gd name="connsiteX0" fmla="*/ 0 w 1361872"/>
              <a:gd name="connsiteY0" fmla="*/ 2514658 h 2514658"/>
              <a:gd name="connsiteX1" fmla="*/ 1361872 w 1361872"/>
              <a:gd name="connsiteY1" fmla="*/ 0 h 2514658"/>
              <a:gd name="connsiteX0" fmla="*/ 0 w 2508747"/>
              <a:gd name="connsiteY0" fmla="*/ 150276 h 1033436"/>
              <a:gd name="connsiteX1" fmla="*/ 2508747 w 2508747"/>
              <a:gd name="connsiteY1" fmla="*/ 875919 h 1033436"/>
              <a:gd name="connsiteX0" fmla="*/ 525 w 2509272"/>
              <a:gd name="connsiteY0" fmla="*/ 0 h 1012937"/>
              <a:gd name="connsiteX1" fmla="*/ 2509272 w 2509272"/>
              <a:gd name="connsiteY1" fmla="*/ 725643 h 1012937"/>
              <a:gd name="connsiteX0" fmla="*/ 524 w 2509271"/>
              <a:gd name="connsiteY0" fmla="*/ 0 h 725643"/>
              <a:gd name="connsiteX1" fmla="*/ 2509271 w 2509271"/>
              <a:gd name="connsiteY1" fmla="*/ 725643 h 725643"/>
              <a:gd name="connsiteX0" fmla="*/ 623 w 2183905"/>
              <a:gd name="connsiteY0" fmla="*/ 0 h 564077"/>
              <a:gd name="connsiteX1" fmla="*/ 2183905 w 2183905"/>
              <a:gd name="connsiteY1" fmla="*/ 564077 h 564077"/>
              <a:gd name="connsiteX0" fmla="*/ 846 w 2184128"/>
              <a:gd name="connsiteY0" fmla="*/ 0 h 564077"/>
              <a:gd name="connsiteX1" fmla="*/ 2184128 w 2184128"/>
              <a:gd name="connsiteY1" fmla="*/ 564077 h 564077"/>
              <a:gd name="connsiteX0" fmla="*/ 0 w 2183282"/>
              <a:gd name="connsiteY0" fmla="*/ 0 h 564077"/>
              <a:gd name="connsiteX1" fmla="*/ 2183282 w 2183282"/>
              <a:gd name="connsiteY1" fmla="*/ 564077 h 564077"/>
              <a:gd name="connsiteX0" fmla="*/ 0 w 2036464"/>
              <a:gd name="connsiteY0" fmla="*/ 730216 h 1026390"/>
              <a:gd name="connsiteX1" fmla="*/ 2036464 w 2036464"/>
              <a:gd name="connsiteY1" fmla="*/ 192771 h 1026390"/>
              <a:gd name="connsiteX0" fmla="*/ 0 w 2036464"/>
              <a:gd name="connsiteY0" fmla="*/ 843381 h 843381"/>
              <a:gd name="connsiteX1" fmla="*/ 2036464 w 2036464"/>
              <a:gd name="connsiteY1" fmla="*/ 305936 h 843381"/>
            </a:gdLst>
            <a:ahLst/>
            <a:cxnLst>
              <a:cxn ang="0">
                <a:pos x="connsiteX0" y="connsiteY0"/>
              </a:cxn>
              <a:cxn ang="0">
                <a:pos x="connsiteX1" y="connsiteY1"/>
              </a:cxn>
            </a:cxnLst>
            <a:rect l="l" t="t" r="r" b="b"/>
            <a:pathLst>
              <a:path w="2036464" h="843381">
                <a:moveTo>
                  <a:pt x="0" y="843381"/>
                </a:moveTo>
                <a:cubicBezTo>
                  <a:pt x="791598" y="752171"/>
                  <a:pt x="1033800" y="-587859"/>
                  <a:pt x="2036464" y="305936"/>
                </a:cubicBezTo>
              </a:path>
            </a:pathLst>
          </a:custGeom>
          <a:noFill/>
          <a:ln w="38100">
            <a:solidFill>
              <a:schemeClr val="tx1"/>
            </a:solidFill>
            <a:prstDash val="sysDot"/>
            <a:headEnd type="none"/>
            <a:tailEnd type="stealt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75" name="Rounded Rectangle 74"/>
          <p:cNvSpPr/>
          <p:nvPr/>
        </p:nvSpPr>
        <p:spPr>
          <a:xfrm>
            <a:off x="3060844" y="2401875"/>
            <a:ext cx="1255950" cy="569812"/>
          </a:xfrm>
          <a:prstGeom prst="roundRect">
            <a:avLst/>
          </a:prstGeom>
          <a:solidFill>
            <a:schemeClr val="bg1"/>
          </a:solidFill>
          <a:ln w="381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dirty="0" err="1" smtClean="0">
                <a:solidFill>
                  <a:srgbClr val="2F2364"/>
                </a:solidFill>
                <a:latin typeface="Consolas" panose="020B0609020204030204" pitchFamily="49" charset="0"/>
                <a:cs typeface="Consolas" panose="020B0609020204030204" pitchFamily="49" charset="0"/>
              </a:rPr>
              <a:t>DataNode</a:t>
            </a:r>
            <a:endParaRPr lang="en-US" sz="2000" dirty="0" smtClean="0">
              <a:solidFill>
                <a:srgbClr val="2F2364"/>
              </a:solidFill>
              <a:latin typeface="Consolas" panose="020B0609020204030204" pitchFamily="49" charset="0"/>
              <a:cs typeface="Consolas" panose="020B0609020204030204" pitchFamily="49" charset="0"/>
            </a:endParaRPr>
          </a:p>
          <a:p>
            <a:pPr algn="ctr"/>
            <a:r>
              <a:rPr lang="en-US" sz="2000" dirty="0" smtClean="0">
                <a:solidFill>
                  <a:srgbClr val="2F2364"/>
                </a:solidFill>
                <a:latin typeface="Consolas" panose="020B0609020204030204" pitchFamily="49" charset="0"/>
                <a:cs typeface="Consolas" panose="020B0609020204030204" pitchFamily="49" charset="0"/>
              </a:rPr>
              <a:t>Metrics</a:t>
            </a:r>
            <a:endParaRPr lang="en-US" sz="2000" dirty="0">
              <a:solidFill>
                <a:srgbClr val="2F2364"/>
              </a:solidFill>
              <a:latin typeface="Consolas" panose="020B0609020204030204" pitchFamily="49" charset="0"/>
              <a:cs typeface="Consolas" panose="020B0609020204030204" pitchFamily="49" charset="0"/>
            </a:endParaRPr>
          </a:p>
        </p:txBody>
      </p:sp>
      <p:sp>
        <p:nvSpPr>
          <p:cNvPr id="2" name="Slide Number Placeholder 1"/>
          <p:cNvSpPr>
            <a:spLocks noGrp="1"/>
          </p:cNvSpPr>
          <p:nvPr>
            <p:ph type="sldNum" sz="quarter" idx="12"/>
          </p:nvPr>
        </p:nvSpPr>
        <p:spPr/>
        <p:txBody>
          <a:bodyPr/>
          <a:lstStyle/>
          <a:p>
            <a:fld id="{D431E30F-8439-471B-9257-EDD8E85CDBC8}" type="slidenum">
              <a:rPr lang="en-US" smtClean="0"/>
              <a:t>18</a:t>
            </a:fld>
            <a:endParaRPr lang="en-US"/>
          </a:p>
        </p:txBody>
      </p:sp>
      <p:sp>
        <p:nvSpPr>
          <p:cNvPr id="121" name="TextBox 120"/>
          <p:cNvSpPr txBox="1"/>
          <p:nvPr/>
        </p:nvSpPr>
        <p:spPr>
          <a:xfrm>
            <a:off x="4765983" y="5864543"/>
            <a:ext cx="3110147" cy="338554"/>
          </a:xfrm>
          <a:prstGeom prst="rect">
            <a:avLst/>
          </a:prstGeom>
          <a:noFill/>
        </p:spPr>
        <p:txBody>
          <a:bodyPr wrap="none" rtlCol="0">
            <a:spAutoFit/>
          </a:bodyPr>
          <a:lstStyle/>
          <a:p>
            <a:r>
              <a:rPr lang="en-US" sz="1600" dirty="0" smtClean="0">
                <a:latin typeface="Times New Roman" panose="02020603050405020304" pitchFamily="18" charset="0"/>
                <a:cs typeface="Times New Roman" panose="02020603050405020304" pitchFamily="18" charset="0"/>
              </a:rPr>
              <a:t>(</a:t>
            </a:r>
            <a:r>
              <a:rPr lang="en-US" sz="1600" dirty="0" err="1" smtClean="0">
                <a:solidFill>
                  <a:srgbClr val="23642F"/>
                </a:solidFill>
                <a:latin typeface="Times New Roman" panose="02020603050405020304" pitchFamily="18" charset="0"/>
                <a:cs typeface="Times New Roman" panose="02020603050405020304" pitchFamily="18" charset="0"/>
              </a:rPr>
              <a:t>procName</a:t>
            </a:r>
            <a:r>
              <a:rPr lang="en-US" sz="1600" dirty="0" smtClean="0">
                <a:solidFill>
                  <a:srgbClr val="23642F"/>
                </a:solidFill>
                <a:latin typeface="Times New Roman" panose="02020603050405020304" pitchFamily="18" charset="0"/>
                <a:cs typeface="Times New Roman" panose="02020603050405020304" pitchFamily="18" charset="0"/>
              </a:rPr>
              <a:t>=“HG</a:t>
            </a:r>
            <a:r>
              <a:rPr lang="en-US" sz="1400" dirty="0" smtClean="0">
                <a:solidFill>
                  <a:srgbClr val="23642F"/>
                </a:solidFill>
                <a:latin typeface="Times New Roman" panose="02020603050405020304" pitchFamily="18" charset="0"/>
                <a:cs typeface="Times New Roman" panose="02020603050405020304" pitchFamily="18" charset="0"/>
              </a:rPr>
              <a:t>ET”</a:t>
            </a:r>
            <a:r>
              <a:rPr lang="en-US" sz="1600" dirty="0" smtClean="0">
                <a:latin typeface="Times New Roman" panose="02020603050405020304" pitchFamily="18" charset="0"/>
                <a:cs typeface="Times New Roman" panose="02020603050405020304" pitchFamily="18" charset="0"/>
              </a:rPr>
              <a:t>, </a:t>
            </a:r>
            <a:r>
              <a:rPr lang="en-US" sz="1600" dirty="0" smtClean="0">
                <a:solidFill>
                  <a:srgbClr val="2F2364"/>
                </a:solidFill>
                <a:latin typeface="Times New Roman" panose="02020603050405020304" pitchFamily="18" charset="0"/>
                <a:cs typeface="Times New Roman" panose="02020603050405020304" pitchFamily="18" charset="0"/>
              </a:rPr>
              <a:t>delta=10</a:t>
            </a:r>
            <a:r>
              <a:rPr lang="en-US" sz="1600" dirty="0" smtClean="0">
                <a:latin typeface="Times New Roman" panose="02020603050405020304" pitchFamily="18" charset="0"/>
                <a:cs typeface="Times New Roman" panose="02020603050405020304" pitchFamily="18" charset="0"/>
              </a:rPr>
              <a:t>, …)</a:t>
            </a:r>
            <a:endParaRPr lang="en-US" sz="1600" dirty="0">
              <a:latin typeface="Times New Roman" panose="02020603050405020304" pitchFamily="18" charset="0"/>
              <a:cs typeface="Times New Roman" panose="02020603050405020304" pitchFamily="18" charset="0"/>
            </a:endParaRPr>
          </a:p>
        </p:txBody>
      </p:sp>
      <p:sp>
        <p:nvSpPr>
          <p:cNvPr id="128" name="Query Coverup 1"/>
          <p:cNvSpPr/>
          <p:nvPr/>
        </p:nvSpPr>
        <p:spPr>
          <a:xfrm>
            <a:off x="374208" y="1181537"/>
            <a:ext cx="4365213" cy="1002331"/>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Query Coverup 1"/>
          <p:cNvSpPr/>
          <p:nvPr/>
        </p:nvSpPr>
        <p:spPr>
          <a:xfrm>
            <a:off x="399611" y="2302209"/>
            <a:ext cx="4339810" cy="1002331"/>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26793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8"/>
                                        </p:tgtEl>
                                        <p:attrNameLst>
                                          <p:attrName>style.visibility</p:attrName>
                                        </p:attrNameLst>
                                      </p:cBhvr>
                                      <p:to>
                                        <p:strVal val="visible"/>
                                      </p:to>
                                    </p:set>
                                    <p:animEffect transition="in" filter="fade">
                                      <p:cBhvr>
                                        <p:cTn id="10" dur="500"/>
                                        <p:tgtEl>
                                          <p:spTgt spid="12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9"/>
                                        </p:tgtEl>
                                        <p:attrNameLst>
                                          <p:attrName>style.visibility</p:attrName>
                                        </p:attrNameLst>
                                      </p:cBhvr>
                                      <p:to>
                                        <p:strVal val="visible"/>
                                      </p:to>
                                    </p:set>
                                    <p:animEffect transition="in" filter="fade">
                                      <p:cBhvr>
                                        <p:cTn id="15" dur="500"/>
                                        <p:tgtEl>
                                          <p:spTgt spid="10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9"/>
                                        </p:tgtEl>
                                        <p:attrNameLst>
                                          <p:attrName>style.visibility</p:attrName>
                                        </p:attrNameLst>
                                      </p:cBhvr>
                                      <p:to>
                                        <p:strVal val="visible"/>
                                      </p:to>
                                    </p:set>
                                    <p:animEffect transition="in" filter="fade">
                                      <p:cBhvr>
                                        <p:cTn id="18" dur="500"/>
                                        <p:tgtEl>
                                          <p:spTgt spid="129"/>
                                        </p:tgtEl>
                                      </p:cBhvr>
                                    </p:animEffect>
                                  </p:childTnLst>
                                </p:cTn>
                              </p:par>
                              <p:par>
                                <p:cTn id="19" presetID="10" presetClass="exit" presetSubtype="0" fill="hold" grpId="1" nodeType="withEffect">
                                  <p:stCondLst>
                                    <p:cond delay="0"/>
                                  </p:stCondLst>
                                  <p:childTnLst>
                                    <p:animEffect transition="out" filter="fade">
                                      <p:cBhvr>
                                        <p:cTn id="20" dur="500"/>
                                        <p:tgtEl>
                                          <p:spTgt spid="4"/>
                                        </p:tgtEl>
                                      </p:cBhvr>
                                    </p:animEffect>
                                    <p:set>
                                      <p:cBhvr>
                                        <p:cTn id="21" dur="1" fill="hold">
                                          <p:stCondLst>
                                            <p:cond delay="499"/>
                                          </p:stCondLst>
                                        </p:cTn>
                                        <p:tgtEl>
                                          <p:spTgt spid="4"/>
                                        </p:tgtEl>
                                        <p:attrNameLst>
                                          <p:attrName>style.visibility</p:attrName>
                                        </p:attrNameLst>
                                      </p:cBhvr>
                                      <p:to>
                                        <p:strVal val="hidden"/>
                                      </p:to>
                                    </p:set>
                                  </p:childTnLst>
                                </p:cTn>
                              </p:par>
                              <p:par>
                                <p:cTn id="22" presetID="10" presetClass="exit" presetSubtype="0" fill="hold" grpId="1" nodeType="withEffect">
                                  <p:stCondLst>
                                    <p:cond delay="0"/>
                                  </p:stCondLst>
                                  <p:childTnLst>
                                    <p:animEffect transition="out" filter="fade">
                                      <p:cBhvr>
                                        <p:cTn id="23" dur="500"/>
                                        <p:tgtEl>
                                          <p:spTgt spid="128"/>
                                        </p:tgtEl>
                                      </p:cBhvr>
                                    </p:animEffect>
                                    <p:set>
                                      <p:cBhvr>
                                        <p:cTn id="24" dur="1" fill="hold">
                                          <p:stCondLst>
                                            <p:cond delay="499"/>
                                          </p:stCondLst>
                                        </p:cTn>
                                        <p:tgtEl>
                                          <p:spTgt spid="128"/>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7"/>
                                        </p:tgtEl>
                                        <p:attrNameLst>
                                          <p:attrName>style.visibility</p:attrName>
                                        </p:attrNameLst>
                                      </p:cBhvr>
                                      <p:to>
                                        <p:strVal val="visible"/>
                                      </p:to>
                                    </p:set>
                                    <p:animEffect transition="in" filter="fade">
                                      <p:cBhvr>
                                        <p:cTn id="29" dur="500"/>
                                        <p:tgtEl>
                                          <p:spTgt spid="117"/>
                                        </p:tgtEl>
                                      </p:cBhvr>
                                    </p:animEffect>
                                  </p:childTnLst>
                                </p:cTn>
                              </p:par>
                              <p:par>
                                <p:cTn id="30" presetID="10" presetClass="exit" presetSubtype="0" fill="hold" grpId="1" nodeType="withEffect">
                                  <p:stCondLst>
                                    <p:cond delay="0"/>
                                  </p:stCondLst>
                                  <p:childTnLst>
                                    <p:animEffect transition="out" filter="fade">
                                      <p:cBhvr>
                                        <p:cTn id="31" dur="500"/>
                                        <p:tgtEl>
                                          <p:spTgt spid="109"/>
                                        </p:tgtEl>
                                      </p:cBhvr>
                                    </p:animEffect>
                                    <p:set>
                                      <p:cBhvr>
                                        <p:cTn id="32" dur="1" fill="hold">
                                          <p:stCondLst>
                                            <p:cond delay="499"/>
                                          </p:stCondLst>
                                        </p:cTn>
                                        <p:tgtEl>
                                          <p:spTgt spid="109"/>
                                        </p:tgtEl>
                                        <p:attrNameLst>
                                          <p:attrName>style.visibility</p:attrName>
                                        </p:attrNameLst>
                                      </p:cBhvr>
                                      <p:to>
                                        <p:strVal val="hidden"/>
                                      </p:to>
                                    </p:set>
                                  </p:childTnLst>
                                </p:cTn>
                              </p:par>
                              <p:par>
                                <p:cTn id="33" presetID="10" presetClass="exit" presetSubtype="0" fill="hold" grpId="1" nodeType="withEffect">
                                  <p:stCondLst>
                                    <p:cond delay="0"/>
                                  </p:stCondLst>
                                  <p:childTnLst>
                                    <p:animEffect transition="out" filter="fade">
                                      <p:cBhvr>
                                        <p:cTn id="34" dur="500"/>
                                        <p:tgtEl>
                                          <p:spTgt spid="129"/>
                                        </p:tgtEl>
                                      </p:cBhvr>
                                    </p:animEffect>
                                    <p:set>
                                      <p:cBhvr>
                                        <p:cTn id="35" dur="1" fill="hold">
                                          <p:stCondLst>
                                            <p:cond delay="499"/>
                                          </p:stCondLst>
                                        </p:cTn>
                                        <p:tgtEl>
                                          <p:spTgt spid="129"/>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18"/>
                                        </p:tgtEl>
                                        <p:attrNameLst>
                                          <p:attrName>style.visibility</p:attrName>
                                        </p:attrNameLst>
                                      </p:cBhvr>
                                      <p:to>
                                        <p:strVal val="visible"/>
                                      </p:to>
                                    </p:set>
                                    <p:animEffect transition="in" filter="fade">
                                      <p:cBhvr>
                                        <p:cTn id="40" dur="500"/>
                                        <p:tgtEl>
                                          <p:spTgt spid="118"/>
                                        </p:tgtEl>
                                      </p:cBhvr>
                                    </p:animEffect>
                                  </p:childTnLst>
                                </p:cTn>
                              </p:par>
                              <p:par>
                                <p:cTn id="41" presetID="10" presetClass="exit" presetSubtype="0" fill="hold" grpId="1" nodeType="withEffect">
                                  <p:stCondLst>
                                    <p:cond delay="0"/>
                                  </p:stCondLst>
                                  <p:childTnLst>
                                    <p:animEffect transition="out" filter="fade">
                                      <p:cBhvr>
                                        <p:cTn id="42" dur="500"/>
                                        <p:tgtEl>
                                          <p:spTgt spid="117"/>
                                        </p:tgtEl>
                                      </p:cBhvr>
                                    </p:animEffect>
                                    <p:set>
                                      <p:cBhvr>
                                        <p:cTn id="43" dur="1" fill="hold">
                                          <p:stCondLst>
                                            <p:cond delay="499"/>
                                          </p:stCondLst>
                                        </p:cTn>
                                        <p:tgtEl>
                                          <p:spTgt spid="117"/>
                                        </p:tgtEl>
                                        <p:attrNameLst>
                                          <p:attrName>style.visibility</p:attrName>
                                        </p:attrNameLst>
                                      </p:cBhvr>
                                      <p:to>
                                        <p:strVal val="hidden"/>
                                      </p:to>
                                    </p:set>
                                  </p:childTnLst>
                                </p:cTn>
                              </p:par>
                            </p:childTnLst>
                          </p:cTn>
                        </p:par>
                      </p:childTnLst>
                    </p:cTn>
                  </p:par>
                  <p:par>
                    <p:cTn id="44" fill="hold">
                      <p:stCondLst>
                        <p:cond delay="indefinite"/>
                      </p:stCondLst>
                      <p:childTnLst>
                        <p:par>
                          <p:cTn id="45" fill="hold">
                            <p:stCondLst>
                              <p:cond delay="0"/>
                            </p:stCondLst>
                            <p:childTnLst>
                              <p:par>
                                <p:cTn id="46" presetID="10" presetClass="exit" presetSubtype="0" fill="hold" grpId="1" nodeType="clickEffect">
                                  <p:stCondLst>
                                    <p:cond delay="0"/>
                                  </p:stCondLst>
                                  <p:childTnLst>
                                    <p:animEffect transition="out" filter="fade">
                                      <p:cBhvr>
                                        <p:cTn id="47" dur="500"/>
                                        <p:tgtEl>
                                          <p:spTgt spid="118"/>
                                        </p:tgtEl>
                                      </p:cBhvr>
                                    </p:animEffect>
                                    <p:set>
                                      <p:cBhvr>
                                        <p:cTn id="48" dur="1" fill="hold">
                                          <p:stCondLst>
                                            <p:cond delay="499"/>
                                          </p:stCondLst>
                                        </p:cTn>
                                        <p:tgtEl>
                                          <p:spTgt spid="118"/>
                                        </p:tgtEl>
                                        <p:attrNameLst>
                                          <p:attrName>style.visibility</p:attrName>
                                        </p:attrNameLst>
                                      </p:cBhvr>
                                      <p:to>
                                        <p:strVal val="hidden"/>
                                      </p:to>
                                    </p:set>
                                  </p:childTnLst>
                                </p:cTn>
                              </p:par>
                            </p:childTnLst>
                          </p:cTn>
                        </p:par>
                        <p:par>
                          <p:cTn id="49" fill="hold">
                            <p:stCondLst>
                              <p:cond delay="500"/>
                            </p:stCondLst>
                            <p:childTnLst>
                              <p:par>
                                <p:cTn id="50" presetID="47" presetClass="entr" presetSubtype="0" fill="hold" grpId="0" nodeType="afterEffect">
                                  <p:stCondLst>
                                    <p:cond delay="0"/>
                                  </p:stCondLst>
                                  <p:childTnLst>
                                    <p:set>
                                      <p:cBhvr>
                                        <p:cTn id="51" dur="1" fill="hold">
                                          <p:stCondLst>
                                            <p:cond delay="0"/>
                                          </p:stCondLst>
                                        </p:cTn>
                                        <p:tgtEl>
                                          <p:spTgt spid="121"/>
                                        </p:tgtEl>
                                        <p:attrNameLst>
                                          <p:attrName>style.visibility</p:attrName>
                                        </p:attrNameLst>
                                      </p:cBhvr>
                                      <p:to>
                                        <p:strVal val="visible"/>
                                      </p:to>
                                    </p:set>
                                    <p:animEffect transition="in" filter="fade">
                                      <p:cBhvr>
                                        <p:cTn id="52" dur="1000"/>
                                        <p:tgtEl>
                                          <p:spTgt spid="121"/>
                                        </p:tgtEl>
                                      </p:cBhvr>
                                    </p:animEffect>
                                    <p:anim calcmode="lin" valueType="num">
                                      <p:cBhvr>
                                        <p:cTn id="53" dur="1000" fill="hold"/>
                                        <p:tgtEl>
                                          <p:spTgt spid="121"/>
                                        </p:tgtEl>
                                        <p:attrNameLst>
                                          <p:attrName>ppt_x</p:attrName>
                                        </p:attrNameLst>
                                      </p:cBhvr>
                                      <p:tavLst>
                                        <p:tav tm="0">
                                          <p:val>
                                            <p:strVal val="#ppt_x"/>
                                          </p:val>
                                        </p:tav>
                                        <p:tav tm="100000">
                                          <p:val>
                                            <p:strVal val="#ppt_x"/>
                                          </p:val>
                                        </p:tav>
                                      </p:tavLst>
                                    </p:anim>
                                    <p:anim calcmode="lin" valueType="num">
                                      <p:cBhvr>
                                        <p:cTn id="54" dur="1000" fill="hold"/>
                                        <p:tgtEl>
                                          <p:spTgt spid="1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109" grpId="0" animBg="1"/>
      <p:bldP spid="109" grpId="1" animBg="1"/>
      <p:bldP spid="117" grpId="0" animBg="1"/>
      <p:bldP spid="117" grpId="1" animBg="1"/>
      <p:bldP spid="118" grpId="0" animBg="1"/>
      <p:bldP spid="118" grpId="1" animBg="1"/>
      <p:bldP spid="121" grpId="0"/>
      <p:bldP spid="128" grpId="0" animBg="1"/>
      <p:bldP spid="128" grpId="1" animBg="1"/>
      <p:bldP spid="129" grpId="0" animBg="1"/>
      <p:bldP spid="129"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914717"/>
            <a:ext cx="9210675" cy="1325563"/>
          </a:xfrm>
        </p:spPr>
        <p:txBody>
          <a:bodyPr>
            <a:normAutofit fontScale="90000"/>
          </a:bodyPr>
          <a:lstStyle/>
          <a:p>
            <a:pPr algn="ctr"/>
            <a:r>
              <a:rPr lang="en-US" sz="5400" dirty="0" smtClean="0"/>
              <a:t>Design &amp; Implementation</a:t>
            </a:r>
            <a:br>
              <a:rPr lang="en-US" sz="5400" dirty="0" smtClean="0"/>
            </a:br>
            <a:r>
              <a:rPr lang="en-US" dirty="0" smtClean="0"/>
              <a:t>Pivot Tracing Pre-requisites</a:t>
            </a:r>
            <a:endParaRPr lang="en-US" sz="5400" dirty="0"/>
          </a:p>
        </p:txBody>
      </p:sp>
      <p:sp>
        <p:nvSpPr>
          <p:cNvPr id="9" name="Rectangle 8"/>
          <p:cNvSpPr/>
          <p:nvPr/>
        </p:nvSpPr>
        <p:spPr>
          <a:xfrm>
            <a:off x="-294119" y="3042590"/>
            <a:ext cx="4572000" cy="523220"/>
          </a:xfrm>
          <a:prstGeom prst="rect">
            <a:avLst/>
          </a:prstGeom>
        </p:spPr>
        <p:txBody>
          <a:bodyPr>
            <a:spAutoFit/>
          </a:bodyPr>
          <a:lstStyle/>
          <a:p>
            <a:pPr marL="457200" lvl="1" indent="0" algn="ctr">
              <a:buNone/>
            </a:pPr>
            <a:r>
              <a:rPr lang="en-US" sz="2800" b="1" dirty="0"/>
              <a:t>Dynamic </a:t>
            </a:r>
            <a:r>
              <a:rPr lang="en-US" sz="2800" b="1" dirty="0" smtClean="0"/>
              <a:t>instrumentation</a:t>
            </a:r>
            <a:endParaRPr lang="en-US" sz="2800" b="1" dirty="0"/>
          </a:p>
        </p:txBody>
      </p:sp>
      <p:sp>
        <p:nvSpPr>
          <p:cNvPr id="10" name="Rectangle 9"/>
          <p:cNvSpPr/>
          <p:nvPr/>
        </p:nvSpPr>
        <p:spPr>
          <a:xfrm>
            <a:off x="-185658" y="4664987"/>
            <a:ext cx="4572000" cy="523220"/>
          </a:xfrm>
          <a:prstGeom prst="rect">
            <a:avLst/>
          </a:prstGeom>
        </p:spPr>
        <p:txBody>
          <a:bodyPr>
            <a:spAutoFit/>
          </a:bodyPr>
          <a:lstStyle/>
          <a:p>
            <a:pPr marL="457200" lvl="1" indent="0" algn="ctr">
              <a:buNone/>
            </a:pPr>
            <a:r>
              <a:rPr lang="en-US" sz="2800" b="1" dirty="0"/>
              <a:t>Causal </a:t>
            </a:r>
            <a:r>
              <a:rPr lang="en-US" sz="2800" b="1" dirty="0" smtClean="0"/>
              <a:t>tracing</a:t>
            </a:r>
            <a:endParaRPr lang="en-US" sz="2000" b="1" dirty="0"/>
          </a:p>
        </p:txBody>
      </p:sp>
      <p:grpSp>
        <p:nvGrpSpPr>
          <p:cNvPr id="11" name="Group 10"/>
          <p:cNvGrpSpPr/>
          <p:nvPr/>
        </p:nvGrpSpPr>
        <p:grpSpPr>
          <a:xfrm>
            <a:off x="6321846" y="4577833"/>
            <a:ext cx="2588497" cy="646331"/>
            <a:chOff x="619624" y="3265714"/>
            <a:chExt cx="2588498" cy="646331"/>
          </a:xfrm>
        </p:grpSpPr>
        <p:sp>
          <p:nvSpPr>
            <p:cNvPr id="12" name="Freeform 11"/>
            <p:cNvSpPr/>
            <p:nvPr/>
          </p:nvSpPr>
          <p:spPr>
            <a:xfrm flipH="1">
              <a:off x="619624" y="3334957"/>
              <a:ext cx="616567" cy="504935"/>
            </a:xfrm>
            <a:custGeom>
              <a:avLst/>
              <a:gdLst>
                <a:gd name="connsiteX0" fmla="*/ 205184 w 1161142"/>
                <a:gd name="connsiteY0" fmla="*/ 225311 h 1009083"/>
                <a:gd name="connsiteX1" fmla="*/ 130631 w 1161142"/>
                <a:gd name="connsiteY1" fmla="*/ 225311 h 1009083"/>
                <a:gd name="connsiteX2" fmla="*/ 0 w 1161142"/>
                <a:gd name="connsiteY2" fmla="*/ 355942 h 1009083"/>
                <a:gd name="connsiteX3" fmla="*/ 0 w 1161142"/>
                <a:gd name="connsiteY3" fmla="*/ 878452 h 1009083"/>
                <a:gd name="connsiteX4" fmla="*/ 130631 w 1161142"/>
                <a:gd name="connsiteY4" fmla="*/ 1009083 h 1009083"/>
                <a:gd name="connsiteX5" fmla="*/ 205184 w 1161142"/>
                <a:gd name="connsiteY5" fmla="*/ 1009083 h 1009083"/>
                <a:gd name="connsiteX6" fmla="*/ 1030511 w 1161142"/>
                <a:gd name="connsiteY6" fmla="*/ 225311 h 1009083"/>
                <a:gd name="connsiteX7" fmla="*/ 955958 w 1161142"/>
                <a:gd name="connsiteY7" fmla="*/ 225311 h 1009083"/>
                <a:gd name="connsiteX8" fmla="*/ 955958 w 1161142"/>
                <a:gd name="connsiteY8" fmla="*/ 1009083 h 1009083"/>
                <a:gd name="connsiteX9" fmla="*/ 1030511 w 1161142"/>
                <a:gd name="connsiteY9" fmla="*/ 1009083 h 1009083"/>
                <a:gd name="connsiteX10" fmla="*/ 1161142 w 1161142"/>
                <a:gd name="connsiteY10" fmla="*/ 878452 h 1009083"/>
                <a:gd name="connsiteX11" fmla="*/ 1161142 w 1161142"/>
                <a:gd name="connsiteY11" fmla="*/ 355942 h 1009083"/>
                <a:gd name="connsiteX12" fmla="*/ 1030511 w 1161142"/>
                <a:gd name="connsiteY12" fmla="*/ 225311 h 1009083"/>
                <a:gd name="connsiteX13" fmla="*/ 580571 w 1161142"/>
                <a:gd name="connsiteY13" fmla="*/ 76200 h 1009083"/>
                <a:gd name="connsiteX14" fmla="*/ 729682 w 1161142"/>
                <a:gd name="connsiteY14" fmla="*/ 225311 h 1009083"/>
                <a:gd name="connsiteX15" fmla="*/ 431460 w 1161142"/>
                <a:gd name="connsiteY15" fmla="*/ 225311 h 1009083"/>
                <a:gd name="connsiteX16" fmla="*/ 580571 w 1161142"/>
                <a:gd name="connsiteY16" fmla="*/ 76200 h 1009083"/>
                <a:gd name="connsiteX17" fmla="*/ 580571 w 1161142"/>
                <a:gd name="connsiteY17" fmla="*/ 0 h 1009083"/>
                <a:gd name="connsiteX18" fmla="*/ 355260 w 1161142"/>
                <a:gd name="connsiteY18" fmla="*/ 225311 h 1009083"/>
                <a:gd name="connsiteX19" fmla="*/ 290704 w 1161142"/>
                <a:gd name="connsiteY19" fmla="*/ 225311 h 1009083"/>
                <a:gd name="connsiteX20" fmla="*/ 290704 w 1161142"/>
                <a:gd name="connsiteY20" fmla="*/ 1009083 h 1009083"/>
                <a:gd name="connsiteX21" fmla="*/ 870438 w 1161142"/>
                <a:gd name="connsiteY21" fmla="*/ 1009083 h 1009083"/>
                <a:gd name="connsiteX22" fmla="*/ 870438 w 1161142"/>
                <a:gd name="connsiteY22" fmla="*/ 225311 h 1009083"/>
                <a:gd name="connsiteX23" fmla="*/ 805882 w 1161142"/>
                <a:gd name="connsiteY23" fmla="*/ 225311 h 1009083"/>
                <a:gd name="connsiteX24" fmla="*/ 580571 w 1161142"/>
                <a:gd name="connsiteY24" fmla="*/ 0 h 100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61142" h="1009083">
                  <a:moveTo>
                    <a:pt x="205184" y="225311"/>
                  </a:moveTo>
                  <a:lnTo>
                    <a:pt x="130631" y="225311"/>
                  </a:lnTo>
                  <a:cubicBezTo>
                    <a:pt x="58485" y="225311"/>
                    <a:pt x="0" y="283796"/>
                    <a:pt x="0" y="355942"/>
                  </a:cubicBezTo>
                  <a:lnTo>
                    <a:pt x="0" y="878452"/>
                  </a:lnTo>
                  <a:cubicBezTo>
                    <a:pt x="0" y="950598"/>
                    <a:pt x="58485" y="1009083"/>
                    <a:pt x="130631" y="1009083"/>
                  </a:cubicBezTo>
                  <a:lnTo>
                    <a:pt x="205184" y="1009083"/>
                  </a:lnTo>
                  <a:close/>
                  <a:moveTo>
                    <a:pt x="1030511" y="225311"/>
                  </a:moveTo>
                  <a:lnTo>
                    <a:pt x="955958" y="225311"/>
                  </a:lnTo>
                  <a:lnTo>
                    <a:pt x="955958" y="1009083"/>
                  </a:lnTo>
                  <a:lnTo>
                    <a:pt x="1030511" y="1009083"/>
                  </a:lnTo>
                  <a:cubicBezTo>
                    <a:pt x="1102657" y="1009083"/>
                    <a:pt x="1161142" y="950598"/>
                    <a:pt x="1161142" y="878452"/>
                  </a:cubicBezTo>
                  <a:lnTo>
                    <a:pt x="1161142" y="355942"/>
                  </a:lnTo>
                  <a:cubicBezTo>
                    <a:pt x="1161142" y="283796"/>
                    <a:pt x="1102657" y="225311"/>
                    <a:pt x="1030511" y="225311"/>
                  </a:cubicBezTo>
                  <a:close/>
                  <a:moveTo>
                    <a:pt x="580571" y="76200"/>
                  </a:moveTo>
                  <a:cubicBezTo>
                    <a:pt x="662923" y="76200"/>
                    <a:pt x="729682" y="142959"/>
                    <a:pt x="729682" y="225311"/>
                  </a:cubicBezTo>
                  <a:lnTo>
                    <a:pt x="431460" y="225311"/>
                  </a:lnTo>
                  <a:cubicBezTo>
                    <a:pt x="431460" y="142959"/>
                    <a:pt x="498219" y="76200"/>
                    <a:pt x="580571" y="76200"/>
                  </a:cubicBezTo>
                  <a:close/>
                  <a:moveTo>
                    <a:pt x="580571" y="0"/>
                  </a:moveTo>
                  <a:cubicBezTo>
                    <a:pt x="456135" y="0"/>
                    <a:pt x="355260" y="100875"/>
                    <a:pt x="355260" y="225311"/>
                  </a:cubicBezTo>
                  <a:lnTo>
                    <a:pt x="290704" y="225311"/>
                  </a:lnTo>
                  <a:lnTo>
                    <a:pt x="290704" y="1009083"/>
                  </a:lnTo>
                  <a:lnTo>
                    <a:pt x="870438" y="1009083"/>
                  </a:lnTo>
                  <a:lnTo>
                    <a:pt x="870438" y="225311"/>
                  </a:lnTo>
                  <a:lnTo>
                    <a:pt x="805882" y="225311"/>
                  </a:lnTo>
                  <a:cubicBezTo>
                    <a:pt x="805882" y="100875"/>
                    <a:pt x="705007" y="0"/>
                    <a:pt x="580571"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3" name="TextBox 12"/>
            <p:cNvSpPr txBox="1"/>
            <p:nvPr/>
          </p:nvSpPr>
          <p:spPr>
            <a:xfrm>
              <a:off x="1454243" y="3265714"/>
              <a:ext cx="1753879" cy="646331"/>
            </a:xfrm>
            <a:prstGeom prst="rect">
              <a:avLst/>
            </a:prstGeom>
            <a:noFill/>
          </p:spPr>
          <p:txBody>
            <a:bodyPr wrap="none" rtlCol="0">
              <a:spAutoFit/>
            </a:bodyPr>
            <a:lstStyle/>
            <a:p>
              <a:r>
                <a:rPr lang="en-US" sz="3600" dirty="0"/>
                <a:t>Baggage</a:t>
              </a:r>
            </a:p>
          </p:txBody>
        </p:sp>
      </p:grpSp>
      <p:grpSp>
        <p:nvGrpSpPr>
          <p:cNvPr id="14" name="Group 13"/>
          <p:cNvGrpSpPr/>
          <p:nvPr/>
        </p:nvGrpSpPr>
        <p:grpSpPr>
          <a:xfrm>
            <a:off x="6018650" y="3134923"/>
            <a:ext cx="2891693" cy="646331"/>
            <a:chOff x="415365" y="3265714"/>
            <a:chExt cx="2891693" cy="646331"/>
          </a:xfrm>
        </p:grpSpPr>
        <p:sp>
          <p:nvSpPr>
            <p:cNvPr id="15" name="TextBox 14"/>
            <p:cNvSpPr txBox="1"/>
            <p:nvPr/>
          </p:nvSpPr>
          <p:spPr>
            <a:xfrm>
              <a:off x="1454243" y="3265714"/>
              <a:ext cx="1852815" cy="646331"/>
            </a:xfrm>
            <a:prstGeom prst="rect">
              <a:avLst/>
            </a:prstGeom>
            <a:noFill/>
          </p:spPr>
          <p:txBody>
            <a:bodyPr wrap="none" rtlCol="0">
              <a:spAutoFit/>
            </a:bodyPr>
            <a:lstStyle/>
            <a:p>
              <a:r>
                <a:rPr lang="en-US" sz="3600" dirty="0" smtClean="0"/>
                <a:t>PT Agent</a:t>
              </a:r>
              <a:endParaRPr lang="en-US" sz="3600" dirty="0"/>
            </a:p>
          </p:txBody>
        </p:sp>
        <p:grpSp>
          <p:nvGrpSpPr>
            <p:cNvPr id="16" name="Group 15"/>
            <p:cNvGrpSpPr/>
            <p:nvPr/>
          </p:nvGrpSpPr>
          <p:grpSpPr>
            <a:xfrm>
              <a:off x="415365" y="3272655"/>
              <a:ext cx="1046285" cy="639303"/>
              <a:chOff x="415365" y="3272655"/>
              <a:chExt cx="1046285" cy="639303"/>
            </a:xfrm>
          </p:grpSpPr>
          <p:sp>
            <p:nvSpPr>
              <p:cNvPr id="17" name="Freeform 16"/>
              <p:cNvSpPr/>
              <p:nvPr/>
            </p:nvSpPr>
            <p:spPr>
              <a:xfrm>
                <a:off x="415365" y="3376988"/>
                <a:ext cx="493032" cy="534970"/>
              </a:xfrm>
              <a:custGeom>
                <a:avLst/>
                <a:gdLst>
                  <a:gd name="connsiteX0" fmla="*/ 250470 w 278551"/>
                  <a:gd name="connsiteY0" fmla="*/ 185740 h 302245"/>
                  <a:gd name="connsiteX1" fmla="*/ 278551 w 278551"/>
                  <a:gd name="connsiteY1" fmla="*/ 212135 h 302245"/>
                  <a:gd name="connsiteX2" fmla="*/ 261752 w 278551"/>
                  <a:gd name="connsiteY2" fmla="*/ 241233 h 302245"/>
                  <a:gd name="connsiteX3" fmla="*/ 225317 w 278551"/>
                  <a:gd name="connsiteY3" fmla="*/ 230252 h 302245"/>
                  <a:gd name="connsiteX4" fmla="*/ 247440 w 278551"/>
                  <a:gd name="connsiteY4" fmla="*/ 199863 h 302245"/>
                  <a:gd name="connsiteX5" fmla="*/ 139274 w 278551"/>
                  <a:gd name="connsiteY5" fmla="*/ 84295 h 302245"/>
                  <a:gd name="connsiteX6" fmla="*/ 196885 w 278551"/>
                  <a:gd name="connsiteY6" fmla="*/ 113100 h 302245"/>
                  <a:gd name="connsiteX7" fmla="*/ 196884 w 278551"/>
                  <a:gd name="connsiteY7" fmla="*/ 114931 h 302245"/>
                  <a:gd name="connsiteX8" fmla="*/ 141702 w 278551"/>
                  <a:gd name="connsiteY8" fmla="*/ 86497 h 302245"/>
                  <a:gd name="connsiteX9" fmla="*/ 91232 w 278551"/>
                  <a:gd name="connsiteY9" fmla="*/ 110971 h 302245"/>
                  <a:gd name="connsiteX10" fmla="*/ 90180 w 278551"/>
                  <a:gd name="connsiteY10" fmla="*/ 108843 h 302245"/>
                  <a:gd name="connsiteX11" fmla="*/ 93907 w 278551"/>
                  <a:gd name="connsiteY11" fmla="*/ 56612 h 302245"/>
                  <a:gd name="connsiteX12" fmla="*/ 77529 w 278551"/>
                  <a:gd name="connsiteY12" fmla="*/ 83250 h 302245"/>
                  <a:gd name="connsiteX13" fmla="*/ 90180 w 278551"/>
                  <a:gd name="connsiteY13" fmla="*/ 108843 h 302245"/>
                  <a:gd name="connsiteX14" fmla="*/ 81665 w 278551"/>
                  <a:gd name="connsiteY14" fmla="*/ 113100 h 302245"/>
                  <a:gd name="connsiteX15" fmla="*/ 81665 w 278551"/>
                  <a:gd name="connsiteY15" fmla="*/ 189144 h 302245"/>
                  <a:gd name="connsiteX16" fmla="*/ 139274 w 278551"/>
                  <a:gd name="connsiteY16" fmla="*/ 217949 h 302245"/>
                  <a:gd name="connsiteX17" fmla="*/ 196884 w 278551"/>
                  <a:gd name="connsiteY17" fmla="*/ 189144 h 302245"/>
                  <a:gd name="connsiteX18" fmla="*/ 196884 w 278551"/>
                  <a:gd name="connsiteY18" fmla="*/ 114931 h 302245"/>
                  <a:gd name="connsiteX19" fmla="*/ 198958 w 278551"/>
                  <a:gd name="connsiteY19" fmla="*/ 115999 h 302245"/>
                  <a:gd name="connsiteX20" fmla="*/ 198034 w 278551"/>
                  <a:gd name="connsiteY20" fmla="*/ 192038 h 302245"/>
                  <a:gd name="connsiteX21" fmla="*/ 144208 w 278551"/>
                  <a:gd name="connsiteY21" fmla="*/ 218139 h 302245"/>
                  <a:gd name="connsiteX22" fmla="*/ 155568 w 278551"/>
                  <a:gd name="connsiteY22" fmla="*/ 241121 h 302245"/>
                  <a:gd name="connsiteX23" fmla="*/ 182697 w 278551"/>
                  <a:gd name="connsiteY23" fmla="*/ 246757 h 302245"/>
                  <a:gd name="connsiteX24" fmla="*/ 166987 w 278551"/>
                  <a:gd name="connsiteY24" fmla="*/ 255827 h 302245"/>
                  <a:gd name="connsiteX25" fmla="*/ 156075 w 278551"/>
                  <a:gd name="connsiteY25" fmla="*/ 302245 h 302245"/>
                  <a:gd name="connsiteX26" fmla="*/ 122476 w 278551"/>
                  <a:gd name="connsiteY26" fmla="*/ 302245 h 302245"/>
                  <a:gd name="connsiteX27" fmla="*/ 111565 w 278551"/>
                  <a:gd name="connsiteY27" fmla="*/ 255827 h 302245"/>
                  <a:gd name="connsiteX28" fmla="*/ 62455 w 278551"/>
                  <a:gd name="connsiteY28" fmla="*/ 227473 h 302245"/>
                  <a:gd name="connsiteX29" fmla="*/ 16799 w 278551"/>
                  <a:gd name="connsiteY29" fmla="*/ 241233 h 302245"/>
                  <a:gd name="connsiteX30" fmla="*/ 0 w 278551"/>
                  <a:gd name="connsiteY30" fmla="*/ 212135 h 302245"/>
                  <a:gd name="connsiteX31" fmla="*/ 34743 w 278551"/>
                  <a:gd name="connsiteY31" fmla="*/ 179476 h 302245"/>
                  <a:gd name="connsiteX32" fmla="*/ 34743 w 278551"/>
                  <a:gd name="connsiteY32" fmla="*/ 122768 h 302245"/>
                  <a:gd name="connsiteX33" fmla="*/ 0 w 278551"/>
                  <a:gd name="connsiteY33" fmla="*/ 90110 h 302245"/>
                  <a:gd name="connsiteX34" fmla="*/ 16799 w 278551"/>
                  <a:gd name="connsiteY34" fmla="*/ 61012 h 302245"/>
                  <a:gd name="connsiteX35" fmla="*/ 62454 w 278551"/>
                  <a:gd name="connsiteY35" fmla="*/ 74772 h 302245"/>
                  <a:gd name="connsiteX36" fmla="*/ 122476 w 278551"/>
                  <a:gd name="connsiteY36" fmla="*/ 0 h 302245"/>
                  <a:gd name="connsiteX37" fmla="*/ 156075 w 278551"/>
                  <a:gd name="connsiteY37" fmla="*/ 0 h 302245"/>
                  <a:gd name="connsiteX38" fmla="*/ 165987 w 278551"/>
                  <a:gd name="connsiteY38" fmla="*/ 42169 h 302245"/>
                  <a:gd name="connsiteX39" fmla="*/ 142303 w 278551"/>
                  <a:gd name="connsiteY39" fmla="*/ 37087 h 302245"/>
                  <a:gd name="connsiteX40" fmla="*/ 112428 w 278551"/>
                  <a:gd name="connsiteY40" fmla="*/ 42742 h 30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78551" h="302245">
                    <a:moveTo>
                      <a:pt x="250470" y="185740"/>
                    </a:moveTo>
                    <a:lnTo>
                      <a:pt x="278551" y="212135"/>
                    </a:lnTo>
                    <a:lnTo>
                      <a:pt x="261752" y="241233"/>
                    </a:lnTo>
                    <a:lnTo>
                      <a:pt x="225317" y="230252"/>
                    </a:lnTo>
                    <a:lnTo>
                      <a:pt x="247440" y="199863"/>
                    </a:lnTo>
                    <a:close/>
                    <a:moveTo>
                      <a:pt x="139274" y="84295"/>
                    </a:moveTo>
                    <a:lnTo>
                      <a:pt x="196885" y="113100"/>
                    </a:lnTo>
                    <a:lnTo>
                      <a:pt x="196884" y="114931"/>
                    </a:lnTo>
                    <a:lnTo>
                      <a:pt x="141702" y="86497"/>
                    </a:lnTo>
                    <a:lnTo>
                      <a:pt x="91232" y="110971"/>
                    </a:lnTo>
                    <a:lnTo>
                      <a:pt x="90180" y="108843"/>
                    </a:lnTo>
                    <a:close/>
                    <a:moveTo>
                      <a:pt x="93907" y="56612"/>
                    </a:moveTo>
                    <a:lnTo>
                      <a:pt x="77529" y="83250"/>
                    </a:lnTo>
                    <a:lnTo>
                      <a:pt x="90180" y="108843"/>
                    </a:lnTo>
                    <a:lnTo>
                      <a:pt x="81665" y="113100"/>
                    </a:lnTo>
                    <a:lnTo>
                      <a:pt x="81665" y="189144"/>
                    </a:lnTo>
                    <a:lnTo>
                      <a:pt x="139274" y="217949"/>
                    </a:lnTo>
                    <a:lnTo>
                      <a:pt x="196884" y="189144"/>
                    </a:lnTo>
                    <a:lnTo>
                      <a:pt x="196884" y="114931"/>
                    </a:lnTo>
                    <a:lnTo>
                      <a:pt x="198958" y="115999"/>
                    </a:lnTo>
                    <a:lnTo>
                      <a:pt x="198034" y="192038"/>
                    </a:lnTo>
                    <a:lnTo>
                      <a:pt x="144208" y="218139"/>
                    </a:lnTo>
                    <a:lnTo>
                      <a:pt x="155568" y="241121"/>
                    </a:lnTo>
                    <a:lnTo>
                      <a:pt x="182697" y="246757"/>
                    </a:lnTo>
                    <a:lnTo>
                      <a:pt x="166987" y="255827"/>
                    </a:lnTo>
                    <a:lnTo>
                      <a:pt x="156075" y="302245"/>
                    </a:lnTo>
                    <a:lnTo>
                      <a:pt x="122476" y="302245"/>
                    </a:lnTo>
                    <a:lnTo>
                      <a:pt x="111565" y="255827"/>
                    </a:lnTo>
                    <a:cubicBezTo>
                      <a:pt x="92967" y="250905"/>
                      <a:pt x="76016" y="241118"/>
                      <a:pt x="62455" y="227473"/>
                    </a:cubicBezTo>
                    <a:lnTo>
                      <a:pt x="16799" y="241233"/>
                    </a:lnTo>
                    <a:lnTo>
                      <a:pt x="0" y="212135"/>
                    </a:lnTo>
                    <a:lnTo>
                      <a:pt x="34743" y="179476"/>
                    </a:lnTo>
                    <a:cubicBezTo>
                      <a:pt x="29707" y="160909"/>
                      <a:pt x="29707" y="141335"/>
                      <a:pt x="34743" y="122768"/>
                    </a:cubicBezTo>
                    <a:lnTo>
                      <a:pt x="0" y="90110"/>
                    </a:lnTo>
                    <a:lnTo>
                      <a:pt x="16799" y="61012"/>
                    </a:lnTo>
                    <a:lnTo>
                      <a:pt x="62454" y="74772"/>
                    </a:lnTo>
                    <a:close/>
                    <a:moveTo>
                      <a:pt x="122476" y="0"/>
                    </a:moveTo>
                    <a:lnTo>
                      <a:pt x="156075" y="0"/>
                    </a:lnTo>
                    <a:lnTo>
                      <a:pt x="165987" y="42169"/>
                    </a:lnTo>
                    <a:lnTo>
                      <a:pt x="142303" y="37087"/>
                    </a:lnTo>
                    <a:lnTo>
                      <a:pt x="112428" y="42742"/>
                    </a:lnTo>
                    <a:close/>
                  </a:path>
                </a:pathLst>
              </a:custGeom>
              <a:solidFill>
                <a:schemeClr val="accent4"/>
              </a:solidFill>
              <a:ln w="2857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8" name="Freeform 17"/>
              <p:cNvSpPr/>
              <p:nvPr/>
            </p:nvSpPr>
            <p:spPr>
              <a:xfrm rot="20021754">
                <a:off x="580509" y="3272655"/>
                <a:ext cx="881141" cy="399985"/>
              </a:xfrm>
              <a:custGeom>
                <a:avLst/>
                <a:gdLst>
                  <a:gd name="connsiteX0" fmla="*/ 816859 w 881141"/>
                  <a:gd name="connsiteY0" fmla="*/ 93843 h 399985"/>
                  <a:gd name="connsiteX1" fmla="*/ 881141 w 881141"/>
                  <a:gd name="connsiteY1" fmla="*/ 190824 h 399985"/>
                  <a:gd name="connsiteX2" fmla="*/ 775889 w 881141"/>
                  <a:gd name="connsiteY2" fmla="*/ 296076 h 399985"/>
                  <a:gd name="connsiteX3" fmla="*/ 227922 w 881141"/>
                  <a:gd name="connsiteY3" fmla="*/ 296076 h 399985"/>
                  <a:gd name="connsiteX4" fmla="*/ 178135 w 881141"/>
                  <a:gd name="connsiteY4" fmla="*/ 358860 h 399985"/>
                  <a:gd name="connsiteX5" fmla="*/ 99698 w 881141"/>
                  <a:gd name="connsiteY5" fmla="*/ 399937 h 399985"/>
                  <a:gd name="connsiteX6" fmla="*/ 98734 w 881141"/>
                  <a:gd name="connsiteY6" fmla="*/ 399985 h 399985"/>
                  <a:gd name="connsiteX7" fmla="*/ 41671 w 881141"/>
                  <a:gd name="connsiteY7" fmla="*/ 384868 h 399985"/>
                  <a:gd name="connsiteX8" fmla="*/ 0 w 881141"/>
                  <a:gd name="connsiteY8" fmla="*/ 352264 h 399985"/>
                  <a:gd name="connsiteX9" fmla="*/ 0 w 881141"/>
                  <a:gd name="connsiteY9" fmla="*/ 306889 h 399985"/>
                  <a:gd name="connsiteX10" fmla="*/ 105879 w 881141"/>
                  <a:gd name="connsiteY10" fmla="*/ 307693 h 399985"/>
                  <a:gd name="connsiteX11" fmla="*/ 166986 w 881141"/>
                  <a:gd name="connsiteY11" fmla="*/ 187765 h 399985"/>
                  <a:gd name="connsiteX12" fmla="*/ 165060 w 881141"/>
                  <a:gd name="connsiteY12" fmla="*/ 185156 h 399985"/>
                  <a:gd name="connsiteX13" fmla="*/ 167580 w 881141"/>
                  <a:gd name="connsiteY13" fmla="*/ 180056 h 399985"/>
                  <a:gd name="connsiteX14" fmla="*/ 96285 w 881141"/>
                  <a:gd name="connsiteY14" fmla="*/ 85892 h 399985"/>
                  <a:gd name="connsiteX15" fmla="*/ 0 w 881141"/>
                  <a:gd name="connsiteY15" fmla="*/ 86330 h 399985"/>
                  <a:gd name="connsiteX16" fmla="*/ 0 w 881141"/>
                  <a:gd name="connsiteY16" fmla="*/ 40559 h 399985"/>
                  <a:gd name="connsiteX17" fmla="*/ 61500 w 881141"/>
                  <a:gd name="connsiteY17" fmla="*/ 1965 h 399985"/>
                  <a:gd name="connsiteX18" fmla="*/ 74035 w 881141"/>
                  <a:gd name="connsiteY18" fmla="*/ 0 h 399985"/>
                  <a:gd name="connsiteX19" fmla="*/ 138985 w 881141"/>
                  <a:gd name="connsiteY19" fmla="*/ 18118 h 399985"/>
                  <a:gd name="connsiteX20" fmla="*/ 203002 w 881141"/>
                  <a:gd name="connsiteY20" fmla="*/ 68881 h 399985"/>
                  <a:gd name="connsiteX21" fmla="*/ 212257 w 881141"/>
                  <a:gd name="connsiteY21" fmla="*/ 85572 h 399985"/>
                  <a:gd name="connsiteX22" fmla="*/ 775889 w 881141"/>
                  <a:gd name="connsiteY22" fmla="*/ 85572 h 399985"/>
                  <a:gd name="connsiteX23" fmla="*/ 816859 w 881141"/>
                  <a:gd name="connsiteY23" fmla="*/ 93843 h 399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81141" h="399985">
                    <a:moveTo>
                      <a:pt x="816859" y="93843"/>
                    </a:moveTo>
                    <a:cubicBezTo>
                      <a:pt x="854635" y="109821"/>
                      <a:pt x="881141" y="147227"/>
                      <a:pt x="881141" y="190824"/>
                    </a:cubicBezTo>
                    <a:cubicBezTo>
                      <a:pt x="881141" y="248954"/>
                      <a:pt x="834019" y="296076"/>
                      <a:pt x="775889" y="296076"/>
                    </a:cubicBezTo>
                    <a:lnTo>
                      <a:pt x="227922" y="296076"/>
                    </a:lnTo>
                    <a:lnTo>
                      <a:pt x="178135" y="358860"/>
                    </a:lnTo>
                    <a:cubicBezTo>
                      <a:pt x="155127" y="378216"/>
                      <a:pt x="128278" y="392137"/>
                      <a:pt x="99698" y="399937"/>
                    </a:cubicBezTo>
                    <a:lnTo>
                      <a:pt x="98734" y="399985"/>
                    </a:lnTo>
                    <a:lnTo>
                      <a:pt x="41671" y="384868"/>
                    </a:lnTo>
                    <a:lnTo>
                      <a:pt x="0" y="352264"/>
                    </a:lnTo>
                    <a:lnTo>
                      <a:pt x="0" y="306889"/>
                    </a:lnTo>
                    <a:lnTo>
                      <a:pt x="105879" y="307693"/>
                    </a:lnTo>
                    <a:lnTo>
                      <a:pt x="166986" y="187765"/>
                    </a:lnTo>
                    <a:lnTo>
                      <a:pt x="165060" y="185156"/>
                    </a:lnTo>
                    <a:lnTo>
                      <a:pt x="167580" y="180056"/>
                    </a:lnTo>
                    <a:lnTo>
                      <a:pt x="96285" y="85892"/>
                    </a:lnTo>
                    <a:lnTo>
                      <a:pt x="0" y="86330"/>
                    </a:lnTo>
                    <a:lnTo>
                      <a:pt x="0" y="40559"/>
                    </a:lnTo>
                    <a:lnTo>
                      <a:pt x="61500" y="1965"/>
                    </a:lnTo>
                    <a:lnTo>
                      <a:pt x="74035" y="0"/>
                    </a:lnTo>
                    <a:lnTo>
                      <a:pt x="138985" y="18118"/>
                    </a:lnTo>
                    <a:cubicBezTo>
                      <a:pt x="164296" y="31014"/>
                      <a:pt x="185796" y="48429"/>
                      <a:pt x="203002" y="68881"/>
                    </a:cubicBezTo>
                    <a:lnTo>
                      <a:pt x="212257" y="85572"/>
                    </a:lnTo>
                    <a:lnTo>
                      <a:pt x="775889" y="85572"/>
                    </a:lnTo>
                    <a:cubicBezTo>
                      <a:pt x="790422" y="85572"/>
                      <a:pt x="804265" y="88517"/>
                      <a:pt x="816859" y="93843"/>
                    </a:cubicBezTo>
                    <a:close/>
                  </a:path>
                </a:pathLst>
              </a:custGeom>
              <a:solidFill>
                <a:srgbClr val="D0CECE"/>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9" name="Hexagon 18"/>
              <p:cNvSpPr/>
              <p:nvPr/>
            </p:nvSpPr>
            <p:spPr>
              <a:xfrm rot="16200000">
                <a:off x="542215" y="3538831"/>
                <a:ext cx="244092" cy="211283"/>
              </a:xfrm>
              <a:prstGeom prst="hexagon">
                <a:avLst/>
              </a:prstGeom>
              <a:solidFill>
                <a:schemeClr val="accent4">
                  <a:lumMod val="7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grpSp>
      <p:sp>
        <p:nvSpPr>
          <p:cNvPr id="20" name="Freeform 19"/>
          <p:cNvSpPr/>
          <p:nvPr/>
        </p:nvSpPr>
        <p:spPr>
          <a:xfrm>
            <a:off x="4302046" y="4860563"/>
            <a:ext cx="1415490" cy="240676"/>
          </a:xfrm>
          <a:custGeom>
            <a:avLst/>
            <a:gdLst>
              <a:gd name="connsiteX0" fmla="*/ 0 w 1619250"/>
              <a:gd name="connsiteY0" fmla="*/ 144918 h 240676"/>
              <a:gd name="connsiteX1" fmla="*/ 400050 w 1619250"/>
              <a:gd name="connsiteY1" fmla="*/ 2043 h 240676"/>
              <a:gd name="connsiteX2" fmla="*/ 476250 w 1619250"/>
              <a:gd name="connsiteY2" fmla="*/ 240168 h 240676"/>
              <a:gd name="connsiteX3" fmla="*/ 704850 w 1619250"/>
              <a:gd name="connsiteY3" fmla="*/ 68718 h 240676"/>
              <a:gd name="connsiteX4" fmla="*/ 923925 w 1619250"/>
              <a:gd name="connsiteY4" fmla="*/ 192543 h 240676"/>
              <a:gd name="connsiteX5" fmla="*/ 1190625 w 1619250"/>
              <a:gd name="connsiteY5" fmla="*/ 40143 h 240676"/>
              <a:gd name="connsiteX6" fmla="*/ 1333500 w 1619250"/>
              <a:gd name="connsiteY6" fmla="*/ 154443 h 240676"/>
              <a:gd name="connsiteX7" fmla="*/ 1495425 w 1619250"/>
              <a:gd name="connsiteY7" fmla="*/ 106818 h 240676"/>
              <a:gd name="connsiteX8" fmla="*/ 1619250 w 1619250"/>
              <a:gd name="connsiteY8" fmla="*/ 97293 h 240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9250" h="240676">
                <a:moveTo>
                  <a:pt x="0" y="144918"/>
                </a:moveTo>
                <a:cubicBezTo>
                  <a:pt x="160337" y="65543"/>
                  <a:pt x="320675" y="-13832"/>
                  <a:pt x="400050" y="2043"/>
                </a:cubicBezTo>
                <a:cubicBezTo>
                  <a:pt x="479425" y="17918"/>
                  <a:pt x="425450" y="229056"/>
                  <a:pt x="476250" y="240168"/>
                </a:cubicBezTo>
                <a:cubicBezTo>
                  <a:pt x="527050" y="251281"/>
                  <a:pt x="630238" y="76655"/>
                  <a:pt x="704850" y="68718"/>
                </a:cubicBezTo>
                <a:cubicBezTo>
                  <a:pt x="779462" y="60781"/>
                  <a:pt x="842963" y="197305"/>
                  <a:pt x="923925" y="192543"/>
                </a:cubicBezTo>
                <a:cubicBezTo>
                  <a:pt x="1004887" y="187781"/>
                  <a:pt x="1122363" y="46493"/>
                  <a:pt x="1190625" y="40143"/>
                </a:cubicBezTo>
                <a:cubicBezTo>
                  <a:pt x="1258888" y="33793"/>
                  <a:pt x="1282700" y="143330"/>
                  <a:pt x="1333500" y="154443"/>
                </a:cubicBezTo>
                <a:cubicBezTo>
                  <a:pt x="1384300" y="165556"/>
                  <a:pt x="1447800" y="116343"/>
                  <a:pt x="1495425" y="106818"/>
                </a:cubicBezTo>
                <a:cubicBezTo>
                  <a:pt x="1543050" y="97293"/>
                  <a:pt x="1581150" y="97293"/>
                  <a:pt x="1619250" y="97293"/>
                </a:cubicBezTo>
              </a:path>
            </a:pathLst>
          </a:custGeom>
          <a:noFill/>
          <a:ln w="28575">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20"/>
          <p:cNvSpPr/>
          <p:nvPr/>
        </p:nvSpPr>
        <p:spPr>
          <a:xfrm>
            <a:off x="4470446" y="3352385"/>
            <a:ext cx="1142364" cy="232226"/>
          </a:xfrm>
          <a:custGeom>
            <a:avLst/>
            <a:gdLst>
              <a:gd name="connsiteX0" fmla="*/ 0 w 1466850"/>
              <a:gd name="connsiteY0" fmla="*/ 108281 h 232226"/>
              <a:gd name="connsiteX1" fmla="*/ 152400 w 1466850"/>
              <a:gd name="connsiteY1" fmla="*/ 3506 h 232226"/>
              <a:gd name="connsiteX2" fmla="*/ 247650 w 1466850"/>
              <a:gd name="connsiteY2" fmla="*/ 222581 h 232226"/>
              <a:gd name="connsiteX3" fmla="*/ 400050 w 1466850"/>
              <a:gd name="connsiteY3" fmla="*/ 60656 h 232226"/>
              <a:gd name="connsiteX4" fmla="*/ 638175 w 1466850"/>
              <a:gd name="connsiteY4" fmla="*/ 136856 h 232226"/>
              <a:gd name="connsiteX5" fmla="*/ 800100 w 1466850"/>
              <a:gd name="connsiteY5" fmla="*/ 60656 h 232226"/>
              <a:gd name="connsiteX6" fmla="*/ 1009650 w 1466850"/>
              <a:gd name="connsiteY6" fmla="*/ 232106 h 232226"/>
              <a:gd name="connsiteX7" fmla="*/ 1171575 w 1466850"/>
              <a:gd name="connsiteY7" fmla="*/ 89231 h 232226"/>
              <a:gd name="connsiteX8" fmla="*/ 1304925 w 1466850"/>
              <a:gd name="connsiteY8" fmla="*/ 174956 h 232226"/>
              <a:gd name="connsiteX9" fmla="*/ 1466850 w 1466850"/>
              <a:gd name="connsiteY9" fmla="*/ 165431 h 232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66850" h="232226">
                <a:moveTo>
                  <a:pt x="0" y="108281"/>
                </a:moveTo>
                <a:cubicBezTo>
                  <a:pt x="55562" y="46368"/>
                  <a:pt x="111125" y="-15544"/>
                  <a:pt x="152400" y="3506"/>
                </a:cubicBezTo>
                <a:cubicBezTo>
                  <a:pt x="193675" y="22556"/>
                  <a:pt x="206375" y="213056"/>
                  <a:pt x="247650" y="222581"/>
                </a:cubicBezTo>
                <a:cubicBezTo>
                  <a:pt x="288925" y="232106"/>
                  <a:pt x="334963" y="74943"/>
                  <a:pt x="400050" y="60656"/>
                </a:cubicBezTo>
                <a:cubicBezTo>
                  <a:pt x="465137" y="46369"/>
                  <a:pt x="571500" y="136856"/>
                  <a:pt x="638175" y="136856"/>
                </a:cubicBezTo>
                <a:cubicBezTo>
                  <a:pt x="704850" y="136856"/>
                  <a:pt x="738188" y="44781"/>
                  <a:pt x="800100" y="60656"/>
                </a:cubicBezTo>
                <a:cubicBezTo>
                  <a:pt x="862013" y="76531"/>
                  <a:pt x="947738" y="227344"/>
                  <a:pt x="1009650" y="232106"/>
                </a:cubicBezTo>
                <a:cubicBezTo>
                  <a:pt x="1071563" y="236869"/>
                  <a:pt x="1122362" y="98756"/>
                  <a:pt x="1171575" y="89231"/>
                </a:cubicBezTo>
                <a:cubicBezTo>
                  <a:pt x="1220788" y="79706"/>
                  <a:pt x="1255713" y="162256"/>
                  <a:pt x="1304925" y="174956"/>
                </a:cubicBezTo>
                <a:cubicBezTo>
                  <a:pt x="1354137" y="187656"/>
                  <a:pt x="1446213" y="168606"/>
                  <a:pt x="1466850" y="165431"/>
                </a:cubicBezTo>
              </a:path>
            </a:pathLst>
          </a:custGeom>
          <a:noFill/>
          <a:ln w="28575">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p:cNvGrpSpPr/>
          <p:nvPr/>
        </p:nvGrpSpPr>
        <p:grpSpPr>
          <a:xfrm>
            <a:off x="-185658" y="4577833"/>
            <a:ext cx="9096001" cy="646331"/>
            <a:chOff x="-172879" y="2972777"/>
            <a:chExt cx="9096001" cy="646331"/>
          </a:xfrm>
        </p:grpSpPr>
        <p:sp>
          <p:nvSpPr>
            <p:cNvPr id="23" name="Rectangle 22"/>
            <p:cNvSpPr/>
            <p:nvPr/>
          </p:nvSpPr>
          <p:spPr>
            <a:xfrm>
              <a:off x="-172879" y="3059931"/>
              <a:ext cx="4572000" cy="523220"/>
            </a:xfrm>
            <a:prstGeom prst="rect">
              <a:avLst/>
            </a:prstGeom>
          </p:spPr>
          <p:txBody>
            <a:bodyPr>
              <a:spAutoFit/>
            </a:bodyPr>
            <a:lstStyle/>
            <a:p>
              <a:pPr marL="457200" lvl="1" indent="0" algn="ctr">
                <a:buNone/>
              </a:pPr>
              <a:r>
                <a:rPr lang="en-US" sz="2800" b="1" dirty="0"/>
                <a:t>Causal </a:t>
              </a:r>
              <a:r>
                <a:rPr lang="en-US" sz="2800" b="1" dirty="0" smtClean="0"/>
                <a:t>tracing</a:t>
              </a:r>
              <a:endParaRPr lang="en-US" sz="2000" b="1" dirty="0"/>
            </a:p>
          </p:txBody>
        </p:sp>
        <p:grpSp>
          <p:nvGrpSpPr>
            <p:cNvPr id="24" name="Group 23"/>
            <p:cNvGrpSpPr/>
            <p:nvPr/>
          </p:nvGrpSpPr>
          <p:grpSpPr>
            <a:xfrm>
              <a:off x="6334625" y="2972777"/>
              <a:ext cx="2588497" cy="646331"/>
              <a:chOff x="619624" y="3265714"/>
              <a:chExt cx="2588498" cy="646331"/>
            </a:xfrm>
          </p:grpSpPr>
          <p:sp>
            <p:nvSpPr>
              <p:cNvPr id="26" name="Freeform 25"/>
              <p:cNvSpPr/>
              <p:nvPr/>
            </p:nvSpPr>
            <p:spPr>
              <a:xfrm flipH="1">
                <a:off x="619624" y="3334957"/>
                <a:ext cx="616567" cy="504935"/>
              </a:xfrm>
              <a:custGeom>
                <a:avLst/>
                <a:gdLst>
                  <a:gd name="connsiteX0" fmla="*/ 205184 w 1161142"/>
                  <a:gd name="connsiteY0" fmla="*/ 225311 h 1009083"/>
                  <a:gd name="connsiteX1" fmla="*/ 130631 w 1161142"/>
                  <a:gd name="connsiteY1" fmla="*/ 225311 h 1009083"/>
                  <a:gd name="connsiteX2" fmla="*/ 0 w 1161142"/>
                  <a:gd name="connsiteY2" fmla="*/ 355942 h 1009083"/>
                  <a:gd name="connsiteX3" fmla="*/ 0 w 1161142"/>
                  <a:gd name="connsiteY3" fmla="*/ 878452 h 1009083"/>
                  <a:gd name="connsiteX4" fmla="*/ 130631 w 1161142"/>
                  <a:gd name="connsiteY4" fmla="*/ 1009083 h 1009083"/>
                  <a:gd name="connsiteX5" fmla="*/ 205184 w 1161142"/>
                  <a:gd name="connsiteY5" fmla="*/ 1009083 h 1009083"/>
                  <a:gd name="connsiteX6" fmla="*/ 1030511 w 1161142"/>
                  <a:gd name="connsiteY6" fmla="*/ 225311 h 1009083"/>
                  <a:gd name="connsiteX7" fmla="*/ 955958 w 1161142"/>
                  <a:gd name="connsiteY7" fmla="*/ 225311 h 1009083"/>
                  <a:gd name="connsiteX8" fmla="*/ 955958 w 1161142"/>
                  <a:gd name="connsiteY8" fmla="*/ 1009083 h 1009083"/>
                  <a:gd name="connsiteX9" fmla="*/ 1030511 w 1161142"/>
                  <a:gd name="connsiteY9" fmla="*/ 1009083 h 1009083"/>
                  <a:gd name="connsiteX10" fmla="*/ 1161142 w 1161142"/>
                  <a:gd name="connsiteY10" fmla="*/ 878452 h 1009083"/>
                  <a:gd name="connsiteX11" fmla="*/ 1161142 w 1161142"/>
                  <a:gd name="connsiteY11" fmla="*/ 355942 h 1009083"/>
                  <a:gd name="connsiteX12" fmla="*/ 1030511 w 1161142"/>
                  <a:gd name="connsiteY12" fmla="*/ 225311 h 1009083"/>
                  <a:gd name="connsiteX13" fmla="*/ 580571 w 1161142"/>
                  <a:gd name="connsiteY13" fmla="*/ 76200 h 1009083"/>
                  <a:gd name="connsiteX14" fmla="*/ 729682 w 1161142"/>
                  <a:gd name="connsiteY14" fmla="*/ 225311 h 1009083"/>
                  <a:gd name="connsiteX15" fmla="*/ 431460 w 1161142"/>
                  <a:gd name="connsiteY15" fmla="*/ 225311 h 1009083"/>
                  <a:gd name="connsiteX16" fmla="*/ 580571 w 1161142"/>
                  <a:gd name="connsiteY16" fmla="*/ 76200 h 1009083"/>
                  <a:gd name="connsiteX17" fmla="*/ 580571 w 1161142"/>
                  <a:gd name="connsiteY17" fmla="*/ 0 h 1009083"/>
                  <a:gd name="connsiteX18" fmla="*/ 355260 w 1161142"/>
                  <a:gd name="connsiteY18" fmla="*/ 225311 h 1009083"/>
                  <a:gd name="connsiteX19" fmla="*/ 290704 w 1161142"/>
                  <a:gd name="connsiteY19" fmla="*/ 225311 h 1009083"/>
                  <a:gd name="connsiteX20" fmla="*/ 290704 w 1161142"/>
                  <a:gd name="connsiteY20" fmla="*/ 1009083 h 1009083"/>
                  <a:gd name="connsiteX21" fmla="*/ 870438 w 1161142"/>
                  <a:gd name="connsiteY21" fmla="*/ 1009083 h 1009083"/>
                  <a:gd name="connsiteX22" fmla="*/ 870438 w 1161142"/>
                  <a:gd name="connsiteY22" fmla="*/ 225311 h 1009083"/>
                  <a:gd name="connsiteX23" fmla="*/ 805882 w 1161142"/>
                  <a:gd name="connsiteY23" fmla="*/ 225311 h 1009083"/>
                  <a:gd name="connsiteX24" fmla="*/ 580571 w 1161142"/>
                  <a:gd name="connsiteY24" fmla="*/ 0 h 100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61142" h="1009083">
                    <a:moveTo>
                      <a:pt x="205184" y="225311"/>
                    </a:moveTo>
                    <a:lnTo>
                      <a:pt x="130631" y="225311"/>
                    </a:lnTo>
                    <a:cubicBezTo>
                      <a:pt x="58485" y="225311"/>
                      <a:pt x="0" y="283796"/>
                      <a:pt x="0" y="355942"/>
                    </a:cubicBezTo>
                    <a:lnTo>
                      <a:pt x="0" y="878452"/>
                    </a:lnTo>
                    <a:cubicBezTo>
                      <a:pt x="0" y="950598"/>
                      <a:pt x="58485" y="1009083"/>
                      <a:pt x="130631" y="1009083"/>
                    </a:cubicBezTo>
                    <a:lnTo>
                      <a:pt x="205184" y="1009083"/>
                    </a:lnTo>
                    <a:close/>
                    <a:moveTo>
                      <a:pt x="1030511" y="225311"/>
                    </a:moveTo>
                    <a:lnTo>
                      <a:pt x="955958" y="225311"/>
                    </a:lnTo>
                    <a:lnTo>
                      <a:pt x="955958" y="1009083"/>
                    </a:lnTo>
                    <a:lnTo>
                      <a:pt x="1030511" y="1009083"/>
                    </a:lnTo>
                    <a:cubicBezTo>
                      <a:pt x="1102657" y="1009083"/>
                      <a:pt x="1161142" y="950598"/>
                      <a:pt x="1161142" y="878452"/>
                    </a:cubicBezTo>
                    <a:lnTo>
                      <a:pt x="1161142" y="355942"/>
                    </a:lnTo>
                    <a:cubicBezTo>
                      <a:pt x="1161142" y="283796"/>
                      <a:pt x="1102657" y="225311"/>
                      <a:pt x="1030511" y="225311"/>
                    </a:cubicBezTo>
                    <a:close/>
                    <a:moveTo>
                      <a:pt x="580571" y="76200"/>
                    </a:moveTo>
                    <a:cubicBezTo>
                      <a:pt x="662923" y="76200"/>
                      <a:pt x="729682" y="142959"/>
                      <a:pt x="729682" y="225311"/>
                    </a:cubicBezTo>
                    <a:lnTo>
                      <a:pt x="431460" y="225311"/>
                    </a:lnTo>
                    <a:cubicBezTo>
                      <a:pt x="431460" y="142959"/>
                      <a:pt x="498219" y="76200"/>
                      <a:pt x="580571" y="76200"/>
                    </a:cubicBezTo>
                    <a:close/>
                    <a:moveTo>
                      <a:pt x="580571" y="0"/>
                    </a:moveTo>
                    <a:cubicBezTo>
                      <a:pt x="456135" y="0"/>
                      <a:pt x="355260" y="100875"/>
                      <a:pt x="355260" y="225311"/>
                    </a:cubicBezTo>
                    <a:lnTo>
                      <a:pt x="290704" y="225311"/>
                    </a:lnTo>
                    <a:lnTo>
                      <a:pt x="290704" y="1009083"/>
                    </a:lnTo>
                    <a:lnTo>
                      <a:pt x="870438" y="1009083"/>
                    </a:lnTo>
                    <a:lnTo>
                      <a:pt x="870438" y="225311"/>
                    </a:lnTo>
                    <a:lnTo>
                      <a:pt x="805882" y="225311"/>
                    </a:lnTo>
                    <a:cubicBezTo>
                      <a:pt x="805882" y="100875"/>
                      <a:pt x="705007" y="0"/>
                      <a:pt x="580571"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27" name="TextBox 26"/>
              <p:cNvSpPr txBox="1"/>
              <p:nvPr/>
            </p:nvSpPr>
            <p:spPr>
              <a:xfrm>
                <a:off x="1454243" y="3265714"/>
                <a:ext cx="1753879" cy="646331"/>
              </a:xfrm>
              <a:prstGeom prst="rect">
                <a:avLst/>
              </a:prstGeom>
              <a:noFill/>
            </p:spPr>
            <p:txBody>
              <a:bodyPr wrap="none" rtlCol="0">
                <a:spAutoFit/>
              </a:bodyPr>
              <a:lstStyle/>
              <a:p>
                <a:r>
                  <a:rPr lang="en-US" sz="3600" dirty="0"/>
                  <a:t>Baggage</a:t>
                </a:r>
              </a:p>
            </p:txBody>
          </p:sp>
        </p:grpSp>
        <p:sp>
          <p:nvSpPr>
            <p:cNvPr id="25" name="Freeform 24"/>
            <p:cNvSpPr/>
            <p:nvPr/>
          </p:nvSpPr>
          <p:spPr>
            <a:xfrm>
              <a:off x="4314825" y="3255507"/>
              <a:ext cx="1415490" cy="240676"/>
            </a:xfrm>
            <a:custGeom>
              <a:avLst/>
              <a:gdLst>
                <a:gd name="connsiteX0" fmla="*/ 0 w 1619250"/>
                <a:gd name="connsiteY0" fmla="*/ 144918 h 240676"/>
                <a:gd name="connsiteX1" fmla="*/ 400050 w 1619250"/>
                <a:gd name="connsiteY1" fmla="*/ 2043 h 240676"/>
                <a:gd name="connsiteX2" fmla="*/ 476250 w 1619250"/>
                <a:gd name="connsiteY2" fmla="*/ 240168 h 240676"/>
                <a:gd name="connsiteX3" fmla="*/ 704850 w 1619250"/>
                <a:gd name="connsiteY3" fmla="*/ 68718 h 240676"/>
                <a:gd name="connsiteX4" fmla="*/ 923925 w 1619250"/>
                <a:gd name="connsiteY4" fmla="*/ 192543 h 240676"/>
                <a:gd name="connsiteX5" fmla="*/ 1190625 w 1619250"/>
                <a:gd name="connsiteY5" fmla="*/ 40143 h 240676"/>
                <a:gd name="connsiteX6" fmla="*/ 1333500 w 1619250"/>
                <a:gd name="connsiteY6" fmla="*/ 154443 h 240676"/>
                <a:gd name="connsiteX7" fmla="*/ 1495425 w 1619250"/>
                <a:gd name="connsiteY7" fmla="*/ 106818 h 240676"/>
                <a:gd name="connsiteX8" fmla="*/ 1619250 w 1619250"/>
                <a:gd name="connsiteY8" fmla="*/ 97293 h 240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9250" h="240676">
                  <a:moveTo>
                    <a:pt x="0" y="144918"/>
                  </a:moveTo>
                  <a:cubicBezTo>
                    <a:pt x="160337" y="65543"/>
                    <a:pt x="320675" y="-13832"/>
                    <a:pt x="400050" y="2043"/>
                  </a:cubicBezTo>
                  <a:cubicBezTo>
                    <a:pt x="479425" y="17918"/>
                    <a:pt x="425450" y="229056"/>
                    <a:pt x="476250" y="240168"/>
                  </a:cubicBezTo>
                  <a:cubicBezTo>
                    <a:pt x="527050" y="251281"/>
                    <a:pt x="630238" y="76655"/>
                    <a:pt x="704850" y="68718"/>
                  </a:cubicBezTo>
                  <a:cubicBezTo>
                    <a:pt x="779462" y="60781"/>
                    <a:pt x="842963" y="197305"/>
                    <a:pt x="923925" y="192543"/>
                  </a:cubicBezTo>
                  <a:cubicBezTo>
                    <a:pt x="1004887" y="187781"/>
                    <a:pt x="1122363" y="46493"/>
                    <a:pt x="1190625" y="40143"/>
                  </a:cubicBezTo>
                  <a:cubicBezTo>
                    <a:pt x="1258888" y="33793"/>
                    <a:pt x="1282700" y="143330"/>
                    <a:pt x="1333500" y="154443"/>
                  </a:cubicBezTo>
                  <a:cubicBezTo>
                    <a:pt x="1384300" y="165556"/>
                    <a:pt x="1447800" y="116343"/>
                    <a:pt x="1495425" y="106818"/>
                  </a:cubicBezTo>
                  <a:cubicBezTo>
                    <a:pt x="1543050" y="97293"/>
                    <a:pt x="1581150" y="97293"/>
                    <a:pt x="1619250" y="97293"/>
                  </a:cubicBezTo>
                </a:path>
              </a:pathLst>
            </a:custGeom>
            <a:noFill/>
            <a:ln w="28575">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Slide Number Placeholder 2"/>
          <p:cNvSpPr>
            <a:spLocks noGrp="1"/>
          </p:cNvSpPr>
          <p:nvPr>
            <p:ph type="sldNum" sz="quarter" idx="12"/>
          </p:nvPr>
        </p:nvSpPr>
        <p:spPr/>
        <p:txBody>
          <a:bodyPr/>
          <a:lstStyle/>
          <a:p>
            <a:fld id="{D431E30F-8439-471B-9257-EDD8E85CDBC8}" type="slidenum">
              <a:rPr lang="en-US" smtClean="0"/>
              <a:t>19</a:t>
            </a:fld>
            <a:endParaRPr lang="en-US"/>
          </a:p>
        </p:txBody>
      </p:sp>
    </p:spTree>
    <p:extLst>
      <p:ext uri="{BB962C8B-B14F-4D97-AF65-F5344CB8AC3E}">
        <p14:creationId xmlns:p14="http://schemas.microsoft.com/office/powerpoint/2010/main" val="15828067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wipe(left)">
                                      <p:cBhvr>
                                        <p:cTn id="11" dur="500"/>
                                        <p:tgtEl>
                                          <p:spTgt spid="21"/>
                                        </p:tgtEl>
                                      </p:cBhvr>
                                    </p:animEffect>
                                  </p:childTnLst>
                                </p:cTn>
                              </p:par>
                            </p:childTnLst>
                          </p:cTn>
                        </p:par>
                        <p:par>
                          <p:cTn id="12" fill="hold">
                            <p:stCondLst>
                              <p:cond delay="1000"/>
                            </p:stCondLst>
                            <p:childTnLst>
                              <p:par>
                                <p:cTn id="13" presetID="1" presetClass="entr" presetSubtype="0" fill="hold" nodeType="after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par>
                          <p:cTn id="20" fill="hold">
                            <p:stCondLst>
                              <p:cond delay="500"/>
                            </p:stCondLst>
                            <p:childTnLst>
                              <p:par>
                                <p:cTn id="21" presetID="22" presetClass="entr" presetSubtype="8" fill="hold" grpId="0" nodeType="after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wipe(left)">
                                      <p:cBhvr>
                                        <p:cTn id="23" dur="550"/>
                                        <p:tgtEl>
                                          <p:spTgt spid="20"/>
                                        </p:tgtEl>
                                      </p:cBhvr>
                                    </p:animEffect>
                                  </p:childTnLst>
                                </p:cTn>
                              </p:par>
                            </p:childTnLst>
                          </p:cTn>
                        </p:par>
                        <p:par>
                          <p:cTn id="24" fill="hold">
                            <p:stCondLst>
                              <p:cond delay="1050"/>
                            </p:stCondLst>
                            <p:childTnLst>
                              <p:par>
                                <p:cTn id="25" presetID="1" presetClass="entr" presetSubtype="0" fill="hold" nodeType="after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0" presetClass="path" presetSubtype="0" accel="50000" decel="50000" fill="hold" nodeType="withEffect">
                                  <p:stCondLst>
                                    <p:cond delay="0"/>
                                  </p:stCondLst>
                                  <p:childTnLst>
                                    <p:animMotion origin="layout" path="M 0.0007 0.00139 L 0.00261 0.1757 " pathEditMode="relative" rAng="0" ptsTypes="AA">
                                      <p:cBhvr>
                                        <p:cTn id="32" dur="750" fill="hold"/>
                                        <p:tgtEl>
                                          <p:spTgt spid="22"/>
                                        </p:tgtEl>
                                        <p:attrNameLst>
                                          <p:attrName>ppt_x</p:attrName>
                                          <p:attrName>ppt_y</p:attrName>
                                        </p:attrNameLst>
                                      </p:cBhvr>
                                      <p:rCtr x="87" y="8704"/>
                                    </p:animMotion>
                                  </p:childTnLst>
                                </p:cTn>
                              </p:par>
                              <p:par>
                                <p:cTn id="33" presetID="1" presetClass="exit" presetSubtype="0" fill="hold" grpId="1" nodeType="withEffect">
                                  <p:stCondLst>
                                    <p:cond delay="0"/>
                                  </p:stCondLst>
                                  <p:childTnLst>
                                    <p:set>
                                      <p:cBhvr>
                                        <p:cTn id="34" dur="1" fill="hold">
                                          <p:stCondLst>
                                            <p:cond delay="0"/>
                                          </p:stCondLst>
                                        </p:cTn>
                                        <p:tgtEl>
                                          <p:spTgt spid="10"/>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0"/>
                                          </p:stCondLst>
                                        </p:cTn>
                                        <p:tgtEl>
                                          <p:spTgt spid="20"/>
                                        </p:tgtEl>
                                        <p:attrNameLst>
                                          <p:attrName>style.visibility</p:attrName>
                                        </p:attrNameLst>
                                      </p:cBhvr>
                                      <p:to>
                                        <p:strVal val="hidden"/>
                                      </p:to>
                                    </p:set>
                                  </p:childTnLst>
                                </p:cTn>
                              </p:par>
                              <p:par>
                                <p:cTn id="37" presetID="1" presetClass="exit" presetSubtype="0" fill="hold" nodeType="withEffect">
                                  <p:stCondLst>
                                    <p:cond delay="0"/>
                                  </p:stCondLst>
                                  <p:childTnLst>
                                    <p:set>
                                      <p:cBhvr>
                                        <p:cTn id="38" dur="1" fill="hold">
                                          <p:stCondLst>
                                            <p:cond delay="0"/>
                                          </p:stCondLst>
                                        </p:cTn>
                                        <p:tgtEl>
                                          <p:spTgt spid="11"/>
                                        </p:tgtEl>
                                        <p:attrNameLst>
                                          <p:attrName>style.visibility</p:attrName>
                                        </p:attrNameLst>
                                      </p:cBhvr>
                                      <p:to>
                                        <p:strVal val="hidden"/>
                                      </p:to>
                                    </p:set>
                                  </p:childTnLst>
                                </p:cTn>
                              </p:par>
                              <p:par>
                                <p:cTn id="39" presetID="10" presetClass="exit" presetSubtype="0" fill="hold" grpId="1" nodeType="withEffect">
                                  <p:stCondLst>
                                    <p:cond delay="0"/>
                                  </p:stCondLst>
                                  <p:childTnLst>
                                    <p:animEffect transition="out" filter="fade">
                                      <p:cBhvr>
                                        <p:cTn id="40" dur="500"/>
                                        <p:tgtEl>
                                          <p:spTgt spid="9"/>
                                        </p:tgtEl>
                                      </p:cBhvr>
                                    </p:animEffect>
                                    <p:set>
                                      <p:cBhvr>
                                        <p:cTn id="41" dur="1" fill="hold">
                                          <p:stCondLst>
                                            <p:cond delay="499"/>
                                          </p:stCondLst>
                                        </p:cTn>
                                        <p:tgtEl>
                                          <p:spTgt spid="9"/>
                                        </p:tgtEl>
                                        <p:attrNameLst>
                                          <p:attrName>style.visibility</p:attrName>
                                        </p:attrNameLst>
                                      </p:cBhvr>
                                      <p:to>
                                        <p:strVal val="hidden"/>
                                      </p:to>
                                    </p:set>
                                  </p:childTnLst>
                                </p:cTn>
                              </p:par>
                              <p:par>
                                <p:cTn id="42" presetID="10" presetClass="exit" presetSubtype="0" fill="hold" grpId="1" nodeType="withEffect">
                                  <p:stCondLst>
                                    <p:cond delay="0"/>
                                  </p:stCondLst>
                                  <p:childTnLst>
                                    <p:animEffect transition="out" filter="fade">
                                      <p:cBhvr>
                                        <p:cTn id="43" dur="500"/>
                                        <p:tgtEl>
                                          <p:spTgt spid="21"/>
                                        </p:tgtEl>
                                      </p:cBhvr>
                                    </p:animEffect>
                                    <p:set>
                                      <p:cBhvr>
                                        <p:cTn id="44" dur="1" fill="hold">
                                          <p:stCondLst>
                                            <p:cond delay="499"/>
                                          </p:stCondLst>
                                        </p:cTn>
                                        <p:tgtEl>
                                          <p:spTgt spid="21"/>
                                        </p:tgtEl>
                                        <p:attrNameLst>
                                          <p:attrName>style.visibility</p:attrName>
                                        </p:attrNameLst>
                                      </p:cBhvr>
                                      <p:to>
                                        <p:strVal val="hidden"/>
                                      </p:to>
                                    </p:set>
                                  </p:childTnLst>
                                </p:cTn>
                              </p:par>
                              <p:par>
                                <p:cTn id="45" presetID="10" presetClass="exit" presetSubtype="0" fill="hold" nodeType="withEffect">
                                  <p:stCondLst>
                                    <p:cond delay="0"/>
                                  </p:stCondLst>
                                  <p:childTnLst>
                                    <p:animEffect transition="out" filter="fade">
                                      <p:cBhvr>
                                        <p:cTn id="46" dur="500"/>
                                        <p:tgtEl>
                                          <p:spTgt spid="14"/>
                                        </p:tgtEl>
                                      </p:cBhvr>
                                    </p:animEffect>
                                    <p:set>
                                      <p:cBhvr>
                                        <p:cTn id="47" dur="1" fill="hold">
                                          <p:stCondLst>
                                            <p:cond delay="499"/>
                                          </p:stCondLst>
                                        </p:cTn>
                                        <p:tgtEl>
                                          <p:spTgt spid="14"/>
                                        </p:tgtEl>
                                        <p:attrNameLst>
                                          <p:attrName>style.visibility</p:attrName>
                                        </p:attrNameLst>
                                      </p:cBhvr>
                                      <p:to>
                                        <p:strVal val="hidden"/>
                                      </p:to>
                                    </p:set>
                                  </p:childTnLst>
                                </p:cTn>
                              </p:par>
                              <p:par>
                                <p:cTn id="48" presetID="10" presetClass="exit" presetSubtype="0" fill="hold" grpId="0" nodeType="withEffect">
                                  <p:stCondLst>
                                    <p:cond delay="0"/>
                                  </p:stCondLst>
                                  <p:childTnLst>
                                    <p:animEffect transition="out" filter="fade">
                                      <p:cBhvr>
                                        <p:cTn id="49" dur="500"/>
                                        <p:tgtEl>
                                          <p:spTgt spid="2"/>
                                        </p:tgtEl>
                                      </p:cBhvr>
                                    </p:animEffect>
                                    <p:set>
                                      <p:cBhvr>
                                        <p:cTn id="50"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p:bldP spid="9" grpId="1"/>
      <p:bldP spid="10" grpId="0"/>
      <p:bldP spid="10" grpId="1"/>
      <p:bldP spid="20" grpId="0" animBg="1"/>
      <p:bldP spid="20" grpId="1" animBg="1"/>
      <p:bldP spid="21" grpId="0" animBg="1"/>
      <p:bldP spid="21"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hidden="1"/>
          <p:cNvSpPr/>
          <p:nvPr/>
        </p:nvSpPr>
        <p:spPr>
          <a:xfrm>
            <a:off x="5760244" y="1675522"/>
            <a:ext cx="1255058" cy="824753"/>
          </a:xfrm>
          <a:prstGeom prst="roundRect">
            <a:avLst/>
          </a:prstGeom>
          <a:solidFill>
            <a:srgbClr val="D0CECE">
              <a:alpha val="74902"/>
            </a:srgbClr>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5" name="Rounded Rectangle 4" hidden="1"/>
          <p:cNvSpPr/>
          <p:nvPr/>
        </p:nvSpPr>
        <p:spPr>
          <a:xfrm>
            <a:off x="1398116" y="1271190"/>
            <a:ext cx="1255058" cy="824753"/>
          </a:xfrm>
          <a:prstGeom prst="roundRect">
            <a:avLst/>
          </a:prstGeom>
          <a:solidFill>
            <a:srgbClr val="D0CECE">
              <a:alpha val="74902"/>
            </a:srgbClr>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6" name="Rounded Rectangle 5" hidden="1"/>
          <p:cNvSpPr/>
          <p:nvPr/>
        </p:nvSpPr>
        <p:spPr>
          <a:xfrm>
            <a:off x="2858616" y="778030"/>
            <a:ext cx="1255058" cy="824753"/>
          </a:xfrm>
          <a:prstGeom prst="roundRect">
            <a:avLst/>
          </a:prstGeom>
          <a:solidFill>
            <a:srgbClr val="D0CECE">
              <a:alpha val="74902"/>
            </a:srgbClr>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7" name="Rounded Rectangle 6" hidden="1"/>
          <p:cNvSpPr/>
          <p:nvPr/>
        </p:nvSpPr>
        <p:spPr>
          <a:xfrm>
            <a:off x="5508706" y="1523209"/>
            <a:ext cx="1255058" cy="824753"/>
          </a:xfrm>
          <a:prstGeom prst="roundRect">
            <a:avLst/>
          </a:prstGeom>
          <a:solidFill>
            <a:srgbClr val="D0CECE">
              <a:alpha val="74902"/>
            </a:srgbClr>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8" name="Rounded Rectangle 7" hidden="1"/>
          <p:cNvSpPr/>
          <p:nvPr/>
        </p:nvSpPr>
        <p:spPr>
          <a:xfrm>
            <a:off x="3778844" y="1953852"/>
            <a:ext cx="1255058" cy="824753"/>
          </a:xfrm>
          <a:prstGeom prst="roundRect">
            <a:avLst/>
          </a:prstGeom>
          <a:solidFill>
            <a:srgbClr val="D0CECE">
              <a:alpha val="74902"/>
            </a:srgbClr>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29" name="Freeform 28" hidden="1"/>
          <p:cNvSpPr/>
          <p:nvPr/>
        </p:nvSpPr>
        <p:spPr>
          <a:xfrm>
            <a:off x="1021080" y="1013460"/>
            <a:ext cx="4549140" cy="762000"/>
          </a:xfrm>
          <a:custGeom>
            <a:avLst/>
            <a:gdLst>
              <a:gd name="connsiteX0" fmla="*/ 0 w 4549140"/>
              <a:gd name="connsiteY0" fmla="*/ 480060 h 762000"/>
              <a:gd name="connsiteX1" fmla="*/ 1028700 w 4549140"/>
              <a:gd name="connsiteY1" fmla="*/ 480060 h 762000"/>
              <a:gd name="connsiteX2" fmla="*/ 1805940 w 4549140"/>
              <a:gd name="connsiteY2" fmla="*/ 0 h 762000"/>
              <a:gd name="connsiteX3" fmla="*/ 2773680 w 4549140"/>
              <a:gd name="connsiteY3" fmla="*/ 0 h 762000"/>
              <a:gd name="connsiteX4" fmla="*/ 3025140 w 4549140"/>
              <a:gd name="connsiteY4" fmla="*/ 762000 h 762000"/>
              <a:gd name="connsiteX5" fmla="*/ 4549140 w 4549140"/>
              <a:gd name="connsiteY5" fmla="*/ 762000 h 76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49140" h="762000">
                <a:moveTo>
                  <a:pt x="0" y="480060"/>
                </a:moveTo>
                <a:lnTo>
                  <a:pt x="1028700" y="480060"/>
                </a:lnTo>
                <a:lnTo>
                  <a:pt x="1805940" y="0"/>
                </a:lnTo>
                <a:lnTo>
                  <a:pt x="2773680" y="0"/>
                </a:lnTo>
                <a:lnTo>
                  <a:pt x="3025140" y="762000"/>
                </a:lnTo>
                <a:lnTo>
                  <a:pt x="4549140" y="762000"/>
                </a:lnTo>
              </a:path>
            </a:pathLst>
          </a:custGeom>
          <a:noFill/>
          <a:ln w="50800">
            <a:solidFill>
              <a:schemeClr val="accent2"/>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8" name="Freeform 17"/>
          <p:cNvSpPr/>
          <p:nvPr/>
        </p:nvSpPr>
        <p:spPr>
          <a:xfrm>
            <a:off x="1021080" y="1013460"/>
            <a:ext cx="4549140" cy="762000"/>
          </a:xfrm>
          <a:custGeom>
            <a:avLst/>
            <a:gdLst>
              <a:gd name="connsiteX0" fmla="*/ 0 w 4549140"/>
              <a:gd name="connsiteY0" fmla="*/ 480060 h 762000"/>
              <a:gd name="connsiteX1" fmla="*/ 1028700 w 4549140"/>
              <a:gd name="connsiteY1" fmla="*/ 480060 h 762000"/>
              <a:gd name="connsiteX2" fmla="*/ 1805940 w 4549140"/>
              <a:gd name="connsiteY2" fmla="*/ 0 h 762000"/>
              <a:gd name="connsiteX3" fmla="*/ 2773680 w 4549140"/>
              <a:gd name="connsiteY3" fmla="*/ 0 h 762000"/>
              <a:gd name="connsiteX4" fmla="*/ 3025140 w 4549140"/>
              <a:gd name="connsiteY4" fmla="*/ 762000 h 762000"/>
              <a:gd name="connsiteX5" fmla="*/ 4549140 w 4549140"/>
              <a:gd name="connsiteY5" fmla="*/ 762000 h 76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49140" h="762000">
                <a:moveTo>
                  <a:pt x="0" y="480060"/>
                </a:moveTo>
                <a:lnTo>
                  <a:pt x="1028700" y="480060"/>
                </a:lnTo>
                <a:lnTo>
                  <a:pt x="1805940" y="0"/>
                </a:lnTo>
                <a:lnTo>
                  <a:pt x="2773680" y="0"/>
                </a:lnTo>
                <a:lnTo>
                  <a:pt x="3025140" y="762000"/>
                </a:lnTo>
                <a:lnTo>
                  <a:pt x="4549140" y="762000"/>
                </a:lnTo>
              </a:path>
            </a:pathLst>
          </a:custGeom>
          <a:noFill/>
          <a:ln w="50800">
            <a:solidFill>
              <a:schemeClr val="tx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9" name="Rounded Rectangle 8" hidden="1"/>
          <p:cNvSpPr/>
          <p:nvPr/>
        </p:nvSpPr>
        <p:spPr>
          <a:xfrm>
            <a:off x="5257173" y="1370904"/>
            <a:ext cx="1255058" cy="824753"/>
          </a:xfrm>
          <a:prstGeom prst="roundRect">
            <a:avLst/>
          </a:prstGeom>
          <a:solidFill>
            <a:srgbClr val="D0CECE">
              <a:alpha val="74902"/>
            </a:srgbClr>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9" name="Freeform 18" hidden="1"/>
          <p:cNvSpPr/>
          <p:nvPr/>
        </p:nvSpPr>
        <p:spPr>
          <a:xfrm>
            <a:off x="1021080" y="1569720"/>
            <a:ext cx="5273040" cy="541020"/>
          </a:xfrm>
          <a:custGeom>
            <a:avLst/>
            <a:gdLst>
              <a:gd name="connsiteX0" fmla="*/ 0 w 5341620"/>
              <a:gd name="connsiteY0" fmla="*/ 0 h 541020"/>
              <a:gd name="connsiteX1" fmla="*/ 1097280 w 5341620"/>
              <a:gd name="connsiteY1" fmla="*/ 0 h 541020"/>
              <a:gd name="connsiteX2" fmla="*/ 1638300 w 5341620"/>
              <a:gd name="connsiteY2" fmla="*/ 541020 h 541020"/>
              <a:gd name="connsiteX3" fmla="*/ 3962400 w 5341620"/>
              <a:gd name="connsiteY3" fmla="*/ 541020 h 541020"/>
              <a:gd name="connsiteX4" fmla="*/ 4419600 w 5341620"/>
              <a:gd name="connsiteY4" fmla="*/ 411480 h 541020"/>
              <a:gd name="connsiteX5" fmla="*/ 5341620 w 5341620"/>
              <a:gd name="connsiteY5" fmla="*/ 411480 h 541020"/>
              <a:gd name="connsiteX0" fmla="*/ 0 w 5341620"/>
              <a:gd name="connsiteY0" fmla="*/ 0 h 541020"/>
              <a:gd name="connsiteX1" fmla="*/ 647700 w 5341620"/>
              <a:gd name="connsiteY1" fmla="*/ 0 h 541020"/>
              <a:gd name="connsiteX2" fmla="*/ 1097280 w 5341620"/>
              <a:gd name="connsiteY2" fmla="*/ 0 h 541020"/>
              <a:gd name="connsiteX3" fmla="*/ 1638300 w 5341620"/>
              <a:gd name="connsiteY3" fmla="*/ 541020 h 541020"/>
              <a:gd name="connsiteX4" fmla="*/ 3962400 w 5341620"/>
              <a:gd name="connsiteY4" fmla="*/ 541020 h 541020"/>
              <a:gd name="connsiteX5" fmla="*/ 4419600 w 5341620"/>
              <a:gd name="connsiteY5" fmla="*/ 411480 h 541020"/>
              <a:gd name="connsiteX6" fmla="*/ 5341620 w 5341620"/>
              <a:gd name="connsiteY6" fmla="*/ 411480 h 541020"/>
              <a:gd name="connsiteX0" fmla="*/ 0 w 5265420"/>
              <a:gd name="connsiteY0" fmla="*/ 403860 h 541020"/>
              <a:gd name="connsiteX1" fmla="*/ 571500 w 5265420"/>
              <a:gd name="connsiteY1" fmla="*/ 0 h 541020"/>
              <a:gd name="connsiteX2" fmla="*/ 1021080 w 5265420"/>
              <a:gd name="connsiteY2" fmla="*/ 0 h 541020"/>
              <a:gd name="connsiteX3" fmla="*/ 1562100 w 5265420"/>
              <a:gd name="connsiteY3" fmla="*/ 541020 h 541020"/>
              <a:gd name="connsiteX4" fmla="*/ 3886200 w 5265420"/>
              <a:gd name="connsiteY4" fmla="*/ 541020 h 541020"/>
              <a:gd name="connsiteX5" fmla="*/ 4343400 w 5265420"/>
              <a:gd name="connsiteY5" fmla="*/ 411480 h 541020"/>
              <a:gd name="connsiteX6" fmla="*/ 5265420 w 5265420"/>
              <a:gd name="connsiteY6" fmla="*/ 411480 h 541020"/>
              <a:gd name="connsiteX0" fmla="*/ 0 w 5273040"/>
              <a:gd name="connsiteY0" fmla="*/ 502920 h 541020"/>
              <a:gd name="connsiteX1" fmla="*/ 579120 w 5273040"/>
              <a:gd name="connsiteY1" fmla="*/ 0 h 541020"/>
              <a:gd name="connsiteX2" fmla="*/ 1028700 w 5273040"/>
              <a:gd name="connsiteY2" fmla="*/ 0 h 541020"/>
              <a:gd name="connsiteX3" fmla="*/ 1569720 w 5273040"/>
              <a:gd name="connsiteY3" fmla="*/ 541020 h 541020"/>
              <a:gd name="connsiteX4" fmla="*/ 3893820 w 5273040"/>
              <a:gd name="connsiteY4" fmla="*/ 541020 h 541020"/>
              <a:gd name="connsiteX5" fmla="*/ 4351020 w 5273040"/>
              <a:gd name="connsiteY5" fmla="*/ 411480 h 541020"/>
              <a:gd name="connsiteX6" fmla="*/ 5273040 w 5273040"/>
              <a:gd name="connsiteY6" fmla="*/ 411480 h 541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3040" h="541020">
                <a:moveTo>
                  <a:pt x="0" y="502920"/>
                </a:moveTo>
                <a:lnTo>
                  <a:pt x="579120" y="0"/>
                </a:lnTo>
                <a:lnTo>
                  <a:pt x="1028700" y="0"/>
                </a:lnTo>
                <a:lnTo>
                  <a:pt x="1569720" y="541020"/>
                </a:lnTo>
                <a:lnTo>
                  <a:pt x="3893820" y="541020"/>
                </a:lnTo>
                <a:lnTo>
                  <a:pt x="4351020" y="411480"/>
                </a:lnTo>
                <a:lnTo>
                  <a:pt x="5273040" y="411480"/>
                </a:lnTo>
              </a:path>
            </a:pathLst>
          </a:custGeom>
          <a:noFill/>
          <a:ln w="50800">
            <a:solidFill>
              <a:srgbClr val="4472C4"/>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20" name="Freeform 19" hidden="1"/>
          <p:cNvSpPr/>
          <p:nvPr/>
        </p:nvSpPr>
        <p:spPr>
          <a:xfrm>
            <a:off x="3985260" y="1569720"/>
            <a:ext cx="1485900" cy="0"/>
          </a:xfrm>
          <a:custGeom>
            <a:avLst/>
            <a:gdLst>
              <a:gd name="connsiteX0" fmla="*/ 0 w 1485900"/>
              <a:gd name="connsiteY0" fmla="*/ 0 h 0"/>
              <a:gd name="connsiteX1" fmla="*/ 1485900 w 1485900"/>
              <a:gd name="connsiteY1" fmla="*/ 0 h 0"/>
            </a:gdLst>
            <a:ahLst/>
            <a:cxnLst>
              <a:cxn ang="0">
                <a:pos x="connsiteX0" y="connsiteY0"/>
              </a:cxn>
              <a:cxn ang="0">
                <a:pos x="connsiteX1" y="connsiteY1"/>
              </a:cxn>
            </a:cxnLst>
            <a:rect l="l" t="t" r="r" b="b"/>
            <a:pathLst>
              <a:path w="1485900">
                <a:moveTo>
                  <a:pt x="0" y="0"/>
                </a:moveTo>
                <a:lnTo>
                  <a:pt x="1485900" y="0"/>
                </a:lnTo>
              </a:path>
            </a:pathLst>
          </a:custGeom>
          <a:noFill/>
          <a:ln w="50800">
            <a:solidFill>
              <a:schemeClr val="accent2"/>
            </a:solidFill>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dirty="0"/>
          </a:p>
        </p:txBody>
      </p:sp>
      <p:sp>
        <p:nvSpPr>
          <p:cNvPr id="13" name="Freeform 12"/>
          <p:cNvSpPr/>
          <p:nvPr/>
        </p:nvSpPr>
        <p:spPr>
          <a:xfrm>
            <a:off x="1121977" y="670347"/>
            <a:ext cx="323462" cy="37800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rgbClr val="70AD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4" name="Freeform 13" hidden="1"/>
          <p:cNvSpPr/>
          <p:nvPr/>
        </p:nvSpPr>
        <p:spPr>
          <a:xfrm>
            <a:off x="586073" y="1297517"/>
            <a:ext cx="323462" cy="37800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5" name="Freeform 14" hidden="1"/>
          <p:cNvSpPr/>
          <p:nvPr/>
        </p:nvSpPr>
        <p:spPr>
          <a:xfrm>
            <a:off x="568581" y="1890717"/>
            <a:ext cx="323462" cy="37800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nvGrpSpPr>
          <p:cNvPr id="43" name="Group 42"/>
          <p:cNvGrpSpPr/>
          <p:nvPr/>
        </p:nvGrpSpPr>
        <p:grpSpPr>
          <a:xfrm>
            <a:off x="568582" y="670347"/>
            <a:ext cx="6446721" cy="2108257"/>
            <a:chOff x="568581" y="670347"/>
            <a:chExt cx="6446721" cy="2108257"/>
          </a:xfrm>
        </p:grpSpPr>
        <p:grpSp>
          <p:nvGrpSpPr>
            <p:cNvPr id="42" name="Group 41"/>
            <p:cNvGrpSpPr/>
            <p:nvPr/>
          </p:nvGrpSpPr>
          <p:grpSpPr>
            <a:xfrm>
              <a:off x="1021080" y="914400"/>
              <a:ext cx="5273040" cy="1638300"/>
              <a:chOff x="1021080" y="914400"/>
              <a:chExt cx="5273040" cy="1638300"/>
            </a:xfrm>
          </p:grpSpPr>
          <p:sp>
            <p:nvSpPr>
              <p:cNvPr id="31" name="Freeform 30" hidden="1"/>
              <p:cNvSpPr/>
              <p:nvPr/>
            </p:nvSpPr>
            <p:spPr>
              <a:xfrm>
                <a:off x="1752600" y="914400"/>
                <a:ext cx="3048000" cy="1638300"/>
              </a:xfrm>
              <a:custGeom>
                <a:avLst/>
                <a:gdLst>
                  <a:gd name="connsiteX0" fmla="*/ 0 w 3048000"/>
                  <a:gd name="connsiteY0" fmla="*/ 0 h 1638300"/>
                  <a:gd name="connsiteX1" fmla="*/ 1325880 w 3048000"/>
                  <a:gd name="connsiteY1" fmla="*/ 0 h 1638300"/>
                  <a:gd name="connsiteX2" fmla="*/ 1699260 w 3048000"/>
                  <a:gd name="connsiteY2" fmla="*/ 457200 h 1638300"/>
                  <a:gd name="connsiteX3" fmla="*/ 2103120 w 3048000"/>
                  <a:gd name="connsiteY3" fmla="*/ 457200 h 1638300"/>
                  <a:gd name="connsiteX4" fmla="*/ 2255520 w 3048000"/>
                  <a:gd name="connsiteY4" fmla="*/ 1264920 h 1638300"/>
                  <a:gd name="connsiteX5" fmla="*/ 2689860 w 3048000"/>
                  <a:gd name="connsiteY5" fmla="*/ 1264920 h 1638300"/>
                  <a:gd name="connsiteX6" fmla="*/ 3048000 w 3048000"/>
                  <a:gd name="connsiteY6" fmla="*/ 1638300 h 163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48000" h="1638300">
                    <a:moveTo>
                      <a:pt x="0" y="0"/>
                    </a:moveTo>
                    <a:lnTo>
                      <a:pt x="1325880" y="0"/>
                    </a:lnTo>
                    <a:lnTo>
                      <a:pt x="1699260" y="457200"/>
                    </a:lnTo>
                    <a:lnTo>
                      <a:pt x="2103120" y="457200"/>
                    </a:lnTo>
                    <a:lnTo>
                      <a:pt x="2255520" y="1264920"/>
                    </a:lnTo>
                    <a:lnTo>
                      <a:pt x="2689860" y="1264920"/>
                    </a:lnTo>
                    <a:lnTo>
                      <a:pt x="3048000" y="1638300"/>
                    </a:lnTo>
                  </a:path>
                </a:pathLst>
              </a:custGeom>
              <a:noFill/>
              <a:ln w="50800">
                <a:solidFill>
                  <a:schemeClr val="tx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32" name="Freeform 31"/>
              <p:cNvSpPr/>
              <p:nvPr/>
            </p:nvSpPr>
            <p:spPr>
              <a:xfrm>
                <a:off x="1021080" y="1569720"/>
                <a:ext cx="5273040" cy="541020"/>
              </a:xfrm>
              <a:custGeom>
                <a:avLst/>
                <a:gdLst>
                  <a:gd name="connsiteX0" fmla="*/ 0 w 5341620"/>
                  <a:gd name="connsiteY0" fmla="*/ 0 h 541020"/>
                  <a:gd name="connsiteX1" fmla="*/ 1097280 w 5341620"/>
                  <a:gd name="connsiteY1" fmla="*/ 0 h 541020"/>
                  <a:gd name="connsiteX2" fmla="*/ 1638300 w 5341620"/>
                  <a:gd name="connsiteY2" fmla="*/ 541020 h 541020"/>
                  <a:gd name="connsiteX3" fmla="*/ 3962400 w 5341620"/>
                  <a:gd name="connsiteY3" fmla="*/ 541020 h 541020"/>
                  <a:gd name="connsiteX4" fmla="*/ 4419600 w 5341620"/>
                  <a:gd name="connsiteY4" fmla="*/ 411480 h 541020"/>
                  <a:gd name="connsiteX5" fmla="*/ 5341620 w 5341620"/>
                  <a:gd name="connsiteY5" fmla="*/ 411480 h 541020"/>
                  <a:gd name="connsiteX0" fmla="*/ 0 w 5341620"/>
                  <a:gd name="connsiteY0" fmla="*/ 0 h 541020"/>
                  <a:gd name="connsiteX1" fmla="*/ 647700 w 5341620"/>
                  <a:gd name="connsiteY1" fmla="*/ 0 h 541020"/>
                  <a:gd name="connsiteX2" fmla="*/ 1097280 w 5341620"/>
                  <a:gd name="connsiteY2" fmla="*/ 0 h 541020"/>
                  <a:gd name="connsiteX3" fmla="*/ 1638300 w 5341620"/>
                  <a:gd name="connsiteY3" fmla="*/ 541020 h 541020"/>
                  <a:gd name="connsiteX4" fmla="*/ 3962400 w 5341620"/>
                  <a:gd name="connsiteY4" fmla="*/ 541020 h 541020"/>
                  <a:gd name="connsiteX5" fmla="*/ 4419600 w 5341620"/>
                  <a:gd name="connsiteY5" fmla="*/ 411480 h 541020"/>
                  <a:gd name="connsiteX6" fmla="*/ 5341620 w 5341620"/>
                  <a:gd name="connsiteY6" fmla="*/ 411480 h 541020"/>
                  <a:gd name="connsiteX0" fmla="*/ 0 w 5265420"/>
                  <a:gd name="connsiteY0" fmla="*/ 403860 h 541020"/>
                  <a:gd name="connsiteX1" fmla="*/ 571500 w 5265420"/>
                  <a:gd name="connsiteY1" fmla="*/ 0 h 541020"/>
                  <a:gd name="connsiteX2" fmla="*/ 1021080 w 5265420"/>
                  <a:gd name="connsiteY2" fmla="*/ 0 h 541020"/>
                  <a:gd name="connsiteX3" fmla="*/ 1562100 w 5265420"/>
                  <a:gd name="connsiteY3" fmla="*/ 541020 h 541020"/>
                  <a:gd name="connsiteX4" fmla="*/ 3886200 w 5265420"/>
                  <a:gd name="connsiteY4" fmla="*/ 541020 h 541020"/>
                  <a:gd name="connsiteX5" fmla="*/ 4343400 w 5265420"/>
                  <a:gd name="connsiteY5" fmla="*/ 411480 h 541020"/>
                  <a:gd name="connsiteX6" fmla="*/ 5265420 w 5265420"/>
                  <a:gd name="connsiteY6" fmla="*/ 411480 h 541020"/>
                  <a:gd name="connsiteX0" fmla="*/ 0 w 5273040"/>
                  <a:gd name="connsiteY0" fmla="*/ 502920 h 541020"/>
                  <a:gd name="connsiteX1" fmla="*/ 579120 w 5273040"/>
                  <a:gd name="connsiteY1" fmla="*/ 0 h 541020"/>
                  <a:gd name="connsiteX2" fmla="*/ 1028700 w 5273040"/>
                  <a:gd name="connsiteY2" fmla="*/ 0 h 541020"/>
                  <a:gd name="connsiteX3" fmla="*/ 1569720 w 5273040"/>
                  <a:gd name="connsiteY3" fmla="*/ 541020 h 541020"/>
                  <a:gd name="connsiteX4" fmla="*/ 3893820 w 5273040"/>
                  <a:gd name="connsiteY4" fmla="*/ 541020 h 541020"/>
                  <a:gd name="connsiteX5" fmla="*/ 4351020 w 5273040"/>
                  <a:gd name="connsiteY5" fmla="*/ 411480 h 541020"/>
                  <a:gd name="connsiteX6" fmla="*/ 5273040 w 5273040"/>
                  <a:gd name="connsiteY6" fmla="*/ 411480 h 541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3040" h="541020">
                    <a:moveTo>
                      <a:pt x="0" y="502920"/>
                    </a:moveTo>
                    <a:lnTo>
                      <a:pt x="579120" y="0"/>
                    </a:lnTo>
                    <a:lnTo>
                      <a:pt x="1028700" y="0"/>
                    </a:lnTo>
                    <a:lnTo>
                      <a:pt x="1569720" y="541020"/>
                    </a:lnTo>
                    <a:lnTo>
                      <a:pt x="3893820" y="541020"/>
                    </a:lnTo>
                    <a:lnTo>
                      <a:pt x="4351020" y="411480"/>
                    </a:lnTo>
                    <a:lnTo>
                      <a:pt x="5273040" y="411480"/>
                    </a:lnTo>
                  </a:path>
                </a:pathLst>
              </a:custGeom>
              <a:noFill/>
              <a:ln w="50800">
                <a:solidFill>
                  <a:schemeClr val="tx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33" name="Freeform 32"/>
              <p:cNvSpPr/>
              <p:nvPr/>
            </p:nvSpPr>
            <p:spPr>
              <a:xfrm>
                <a:off x="3985260" y="1569720"/>
                <a:ext cx="1485900" cy="0"/>
              </a:xfrm>
              <a:custGeom>
                <a:avLst/>
                <a:gdLst>
                  <a:gd name="connsiteX0" fmla="*/ 0 w 1485900"/>
                  <a:gd name="connsiteY0" fmla="*/ 0 h 0"/>
                  <a:gd name="connsiteX1" fmla="*/ 1485900 w 1485900"/>
                  <a:gd name="connsiteY1" fmla="*/ 0 h 0"/>
                </a:gdLst>
                <a:ahLst/>
                <a:cxnLst>
                  <a:cxn ang="0">
                    <a:pos x="connsiteX0" y="connsiteY0"/>
                  </a:cxn>
                  <a:cxn ang="0">
                    <a:pos x="connsiteX1" y="connsiteY1"/>
                  </a:cxn>
                </a:cxnLst>
                <a:rect l="l" t="t" r="r" b="b"/>
                <a:pathLst>
                  <a:path w="1485900">
                    <a:moveTo>
                      <a:pt x="0" y="0"/>
                    </a:moveTo>
                    <a:lnTo>
                      <a:pt x="1485900" y="0"/>
                    </a:lnTo>
                  </a:path>
                </a:pathLst>
              </a:custGeom>
              <a:noFill/>
              <a:ln w="50800">
                <a:solidFill>
                  <a:schemeClr val="tx1"/>
                </a:solidFill>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dirty="0"/>
              </a:p>
            </p:txBody>
          </p:sp>
        </p:grpSp>
        <p:grpSp>
          <p:nvGrpSpPr>
            <p:cNvPr id="37" name="Group 36"/>
            <p:cNvGrpSpPr/>
            <p:nvPr/>
          </p:nvGrpSpPr>
          <p:grpSpPr>
            <a:xfrm>
              <a:off x="1398116" y="778030"/>
              <a:ext cx="5617186" cy="2000574"/>
              <a:chOff x="1398116" y="778030"/>
              <a:chExt cx="5617186" cy="2000574"/>
            </a:xfrm>
          </p:grpSpPr>
          <p:sp>
            <p:nvSpPr>
              <p:cNvPr id="24" name="Rounded Rectangle 23"/>
              <p:cNvSpPr/>
              <p:nvPr/>
            </p:nvSpPr>
            <p:spPr>
              <a:xfrm>
                <a:off x="5760244" y="1675521"/>
                <a:ext cx="1255058" cy="824753"/>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25" name="Rounded Rectangle 24"/>
              <p:cNvSpPr/>
              <p:nvPr/>
            </p:nvSpPr>
            <p:spPr>
              <a:xfrm>
                <a:off x="1398116" y="1271190"/>
                <a:ext cx="1255058" cy="824753"/>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26" name="Rounded Rectangle 25"/>
              <p:cNvSpPr/>
              <p:nvPr/>
            </p:nvSpPr>
            <p:spPr>
              <a:xfrm>
                <a:off x="2858616" y="778030"/>
                <a:ext cx="1255058" cy="824753"/>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27" name="Rounded Rectangle 26"/>
              <p:cNvSpPr/>
              <p:nvPr/>
            </p:nvSpPr>
            <p:spPr>
              <a:xfrm>
                <a:off x="5508706" y="1523209"/>
                <a:ext cx="1255058" cy="824753"/>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28" name="Rounded Rectangle 27"/>
              <p:cNvSpPr/>
              <p:nvPr/>
            </p:nvSpPr>
            <p:spPr>
              <a:xfrm>
                <a:off x="3778844" y="1953851"/>
                <a:ext cx="1255058" cy="824753"/>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30" name="Rounded Rectangle 29"/>
              <p:cNvSpPr/>
              <p:nvPr/>
            </p:nvSpPr>
            <p:spPr>
              <a:xfrm>
                <a:off x="5257173" y="1370903"/>
                <a:ext cx="1255058" cy="824753"/>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grpSp>
          <p:nvGrpSpPr>
            <p:cNvPr id="40" name="Group 39"/>
            <p:cNvGrpSpPr/>
            <p:nvPr/>
          </p:nvGrpSpPr>
          <p:grpSpPr>
            <a:xfrm>
              <a:off x="568581" y="670347"/>
              <a:ext cx="876858" cy="1598374"/>
              <a:chOff x="568581" y="670347"/>
              <a:chExt cx="876858" cy="1598374"/>
            </a:xfrm>
          </p:grpSpPr>
          <p:sp>
            <p:nvSpPr>
              <p:cNvPr id="34" name="Freeform 33" hidden="1"/>
              <p:cNvSpPr/>
              <p:nvPr/>
            </p:nvSpPr>
            <p:spPr>
              <a:xfrm>
                <a:off x="1121977" y="670347"/>
                <a:ext cx="323462" cy="37800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35" name="Freeform 34"/>
              <p:cNvSpPr/>
              <p:nvPr/>
            </p:nvSpPr>
            <p:spPr>
              <a:xfrm>
                <a:off x="586073" y="1297517"/>
                <a:ext cx="323462" cy="37800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36" name="Freeform 35"/>
              <p:cNvSpPr/>
              <p:nvPr/>
            </p:nvSpPr>
            <p:spPr>
              <a:xfrm>
                <a:off x="568581" y="1890717"/>
                <a:ext cx="323462" cy="37800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grpSp>
      <p:grpSp>
        <p:nvGrpSpPr>
          <p:cNvPr id="3" name="Group 2"/>
          <p:cNvGrpSpPr/>
          <p:nvPr/>
        </p:nvGrpSpPr>
        <p:grpSpPr>
          <a:xfrm>
            <a:off x="7531089" y="98779"/>
            <a:ext cx="1691591" cy="1757222"/>
            <a:chOff x="7531089" y="98779"/>
            <a:chExt cx="1691591" cy="1757222"/>
          </a:xfrm>
        </p:grpSpPr>
        <p:grpSp>
          <p:nvGrpSpPr>
            <p:cNvPr id="56" name="Group 55"/>
            <p:cNvGrpSpPr/>
            <p:nvPr/>
          </p:nvGrpSpPr>
          <p:grpSpPr>
            <a:xfrm>
              <a:off x="7608280" y="98779"/>
              <a:ext cx="1374656" cy="424732"/>
              <a:chOff x="7760681" y="98778"/>
              <a:chExt cx="1374656" cy="424732"/>
            </a:xfrm>
          </p:grpSpPr>
          <p:sp>
            <p:nvSpPr>
              <p:cNvPr id="57" name="Rounded Rectangle 56"/>
              <p:cNvSpPr>
                <a:spLocks noChangeAspect="1"/>
              </p:cNvSpPr>
              <p:nvPr/>
            </p:nvSpPr>
            <p:spPr>
              <a:xfrm>
                <a:off x="7760681" y="167204"/>
                <a:ext cx="353775" cy="232481"/>
              </a:xfrm>
              <a:prstGeom prst="roundRect">
                <a:avLst/>
              </a:prstGeom>
              <a:solidFill>
                <a:schemeClr val="bg2">
                  <a:lumMod val="9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58" name="TextBox 57"/>
              <p:cNvSpPr txBox="1"/>
              <p:nvPr/>
            </p:nvSpPr>
            <p:spPr>
              <a:xfrm>
                <a:off x="8097552" y="98778"/>
                <a:ext cx="1037785" cy="424732"/>
              </a:xfrm>
              <a:prstGeom prst="rect">
                <a:avLst/>
              </a:prstGeom>
              <a:noFill/>
            </p:spPr>
            <p:txBody>
              <a:bodyPr wrap="none" rtlCol="0">
                <a:spAutoFit/>
              </a:bodyPr>
              <a:lstStyle/>
              <a:p>
                <a:r>
                  <a:rPr lang="en-US" sz="2160" dirty="0"/>
                  <a:t>Process</a:t>
                </a:r>
              </a:p>
            </p:txBody>
          </p:sp>
        </p:grpSp>
        <p:grpSp>
          <p:nvGrpSpPr>
            <p:cNvPr id="59" name="Group 58"/>
            <p:cNvGrpSpPr/>
            <p:nvPr/>
          </p:nvGrpSpPr>
          <p:grpSpPr>
            <a:xfrm>
              <a:off x="7616735" y="534828"/>
              <a:ext cx="1276179" cy="436902"/>
              <a:chOff x="7769133" y="576298"/>
              <a:chExt cx="1276179" cy="436902"/>
            </a:xfrm>
          </p:grpSpPr>
          <p:sp>
            <p:nvSpPr>
              <p:cNvPr id="60" name="Freeform 59"/>
              <p:cNvSpPr/>
              <p:nvPr/>
            </p:nvSpPr>
            <p:spPr>
              <a:xfrm>
                <a:off x="7769133" y="576298"/>
                <a:ext cx="336871" cy="393673"/>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62" name="TextBox 61"/>
              <p:cNvSpPr txBox="1"/>
              <p:nvPr/>
            </p:nvSpPr>
            <p:spPr>
              <a:xfrm>
                <a:off x="8097552" y="588468"/>
                <a:ext cx="947760" cy="424732"/>
              </a:xfrm>
              <a:prstGeom prst="rect">
                <a:avLst/>
              </a:prstGeom>
              <a:noFill/>
            </p:spPr>
            <p:txBody>
              <a:bodyPr wrap="none" rtlCol="0">
                <a:spAutoFit/>
              </a:bodyPr>
              <a:lstStyle/>
              <a:p>
                <a:r>
                  <a:rPr lang="en-US" sz="2160" dirty="0"/>
                  <a:t>Tenant</a:t>
                </a:r>
              </a:p>
            </p:txBody>
          </p:sp>
        </p:grpSp>
        <p:grpSp>
          <p:nvGrpSpPr>
            <p:cNvPr id="69" name="Group 68"/>
            <p:cNvGrpSpPr/>
            <p:nvPr/>
          </p:nvGrpSpPr>
          <p:grpSpPr>
            <a:xfrm>
              <a:off x="7628169" y="995219"/>
              <a:ext cx="1594511" cy="424732"/>
              <a:chOff x="7780570" y="1040742"/>
              <a:chExt cx="1594511" cy="424732"/>
            </a:xfrm>
          </p:grpSpPr>
          <p:grpSp>
            <p:nvGrpSpPr>
              <p:cNvPr id="70" name="Group 69"/>
              <p:cNvGrpSpPr/>
              <p:nvPr/>
            </p:nvGrpSpPr>
            <p:grpSpPr>
              <a:xfrm>
                <a:off x="7780570" y="1151283"/>
                <a:ext cx="313996" cy="148250"/>
                <a:chOff x="614994" y="4474896"/>
                <a:chExt cx="659606" cy="148250"/>
              </a:xfrm>
            </p:grpSpPr>
            <p:sp>
              <p:nvSpPr>
                <p:cNvPr id="73" name="Freeform 72"/>
                <p:cNvSpPr/>
                <p:nvPr/>
              </p:nvSpPr>
              <p:spPr>
                <a:xfrm>
                  <a:off x="614994" y="4474896"/>
                  <a:ext cx="658368" cy="148250"/>
                </a:xfrm>
                <a:custGeom>
                  <a:avLst/>
                  <a:gdLst>
                    <a:gd name="connsiteX0" fmla="*/ 0 w 663547"/>
                    <a:gd name="connsiteY0" fmla="*/ 0 h 153748"/>
                    <a:gd name="connsiteX1" fmla="*/ 234669 w 663547"/>
                    <a:gd name="connsiteY1" fmla="*/ 0 h 153748"/>
                    <a:gd name="connsiteX2" fmla="*/ 291313 w 663547"/>
                    <a:gd name="connsiteY2" fmla="*/ 153748 h 153748"/>
                    <a:gd name="connsiteX3" fmla="*/ 663547 w 663547"/>
                    <a:gd name="connsiteY3" fmla="*/ 153748 h 153748"/>
                  </a:gdLst>
                  <a:ahLst/>
                  <a:cxnLst>
                    <a:cxn ang="0">
                      <a:pos x="connsiteX0" y="connsiteY0"/>
                    </a:cxn>
                    <a:cxn ang="0">
                      <a:pos x="connsiteX1" y="connsiteY1"/>
                    </a:cxn>
                    <a:cxn ang="0">
                      <a:pos x="connsiteX2" y="connsiteY2"/>
                    </a:cxn>
                    <a:cxn ang="0">
                      <a:pos x="connsiteX3" y="connsiteY3"/>
                    </a:cxn>
                  </a:cxnLst>
                  <a:rect l="l" t="t" r="r" b="b"/>
                  <a:pathLst>
                    <a:path w="663547" h="153748">
                      <a:moveTo>
                        <a:pt x="0" y="0"/>
                      </a:moveTo>
                      <a:lnTo>
                        <a:pt x="234669" y="0"/>
                      </a:lnTo>
                      <a:lnTo>
                        <a:pt x="291313" y="153748"/>
                      </a:lnTo>
                      <a:lnTo>
                        <a:pt x="663547" y="153748"/>
                      </a:lnTo>
                    </a:path>
                  </a:pathLst>
                </a:custGeom>
                <a:noFill/>
                <a:ln w="38100">
                  <a:solidFill>
                    <a:schemeClr val="tx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74" name="Freeform 73"/>
                <p:cNvSpPr/>
                <p:nvPr/>
              </p:nvSpPr>
              <p:spPr>
                <a:xfrm>
                  <a:off x="614994" y="4474896"/>
                  <a:ext cx="659606" cy="80756"/>
                </a:xfrm>
                <a:custGeom>
                  <a:avLst/>
                  <a:gdLst>
                    <a:gd name="connsiteX0" fmla="*/ 0 w 659606"/>
                    <a:gd name="connsiteY0" fmla="*/ 90488 h 90488"/>
                    <a:gd name="connsiteX1" fmla="*/ 366713 w 659606"/>
                    <a:gd name="connsiteY1" fmla="*/ 90488 h 90488"/>
                    <a:gd name="connsiteX2" fmla="*/ 421481 w 659606"/>
                    <a:gd name="connsiteY2" fmla="*/ 0 h 90488"/>
                    <a:gd name="connsiteX3" fmla="*/ 659606 w 659606"/>
                    <a:gd name="connsiteY3" fmla="*/ 0 h 90488"/>
                  </a:gdLst>
                  <a:ahLst/>
                  <a:cxnLst>
                    <a:cxn ang="0">
                      <a:pos x="connsiteX0" y="connsiteY0"/>
                    </a:cxn>
                    <a:cxn ang="0">
                      <a:pos x="connsiteX1" y="connsiteY1"/>
                    </a:cxn>
                    <a:cxn ang="0">
                      <a:pos x="connsiteX2" y="connsiteY2"/>
                    </a:cxn>
                    <a:cxn ang="0">
                      <a:pos x="connsiteX3" y="connsiteY3"/>
                    </a:cxn>
                  </a:cxnLst>
                  <a:rect l="l" t="t" r="r" b="b"/>
                  <a:pathLst>
                    <a:path w="659606" h="90488">
                      <a:moveTo>
                        <a:pt x="0" y="90488"/>
                      </a:moveTo>
                      <a:lnTo>
                        <a:pt x="366713" y="90488"/>
                      </a:lnTo>
                      <a:lnTo>
                        <a:pt x="421481" y="0"/>
                      </a:lnTo>
                      <a:lnTo>
                        <a:pt x="659606" y="0"/>
                      </a:lnTo>
                    </a:path>
                  </a:pathLst>
                </a:custGeom>
                <a:noFill/>
                <a:ln w="38100">
                  <a:solidFill>
                    <a:schemeClr val="tx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sp>
            <p:nvSpPr>
              <p:cNvPr id="72" name="TextBox 71"/>
              <p:cNvSpPr txBox="1"/>
              <p:nvPr/>
            </p:nvSpPr>
            <p:spPr>
              <a:xfrm>
                <a:off x="8097552" y="1040742"/>
                <a:ext cx="1277529" cy="424732"/>
              </a:xfrm>
              <a:prstGeom prst="rect">
                <a:avLst/>
              </a:prstGeom>
              <a:noFill/>
            </p:spPr>
            <p:txBody>
              <a:bodyPr wrap="none" rtlCol="0">
                <a:spAutoFit/>
              </a:bodyPr>
              <a:lstStyle/>
              <a:p>
                <a:r>
                  <a:rPr lang="en-US" sz="2160" dirty="0"/>
                  <a:t>Workload</a:t>
                </a:r>
              </a:p>
            </p:txBody>
          </p:sp>
        </p:grpSp>
        <p:grpSp>
          <p:nvGrpSpPr>
            <p:cNvPr id="75" name="Group 74"/>
            <p:cNvGrpSpPr/>
            <p:nvPr/>
          </p:nvGrpSpPr>
          <p:grpSpPr>
            <a:xfrm>
              <a:off x="7531089" y="1431269"/>
              <a:ext cx="1507265" cy="424732"/>
              <a:chOff x="7683487" y="1521761"/>
              <a:chExt cx="1507265" cy="424732"/>
            </a:xfrm>
          </p:grpSpPr>
          <p:sp>
            <p:nvSpPr>
              <p:cNvPr id="77" name="TextBox 76"/>
              <p:cNvSpPr txBox="1"/>
              <p:nvPr/>
            </p:nvSpPr>
            <p:spPr>
              <a:xfrm>
                <a:off x="8093977" y="1521761"/>
                <a:ext cx="1096775" cy="424732"/>
              </a:xfrm>
              <a:prstGeom prst="rect">
                <a:avLst/>
              </a:prstGeom>
              <a:noFill/>
            </p:spPr>
            <p:txBody>
              <a:bodyPr wrap="none" rtlCol="0">
                <a:spAutoFit/>
              </a:bodyPr>
              <a:lstStyle/>
              <a:p>
                <a:r>
                  <a:rPr lang="en-US" sz="2160" dirty="0"/>
                  <a:t>Request</a:t>
                </a:r>
              </a:p>
            </p:txBody>
          </p:sp>
          <p:grpSp>
            <p:nvGrpSpPr>
              <p:cNvPr id="79" name="Group 78"/>
              <p:cNvGrpSpPr/>
              <p:nvPr/>
            </p:nvGrpSpPr>
            <p:grpSpPr>
              <a:xfrm>
                <a:off x="7683487" y="1597704"/>
                <a:ext cx="507572" cy="217447"/>
                <a:chOff x="7707297" y="1536329"/>
                <a:chExt cx="507572" cy="217447"/>
              </a:xfrm>
            </p:grpSpPr>
            <p:grpSp>
              <p:nvGrpSpPr>
                <p:cNvPr id="80" name="Group 79"/>
                <p:cNvGrpSpPr/>
                <p:nvPr/>
              </p:nvGrpSpPr>
              <p:grpSpPr>
                <a:xfrm>
                  <a:off x="7707297" y="1536329"/>
                  <a:ext cx="507572" cy="217447"/>
                  <a:chOff x="7741078" y="1532153"/>
                  <a:chExt cx="507572" cy="217447"/>
                </a:xfrm>
                <a:gradFill flip="none" rotWithShape="1">
                  <a:gsLst>
                    <a:gs pos="0">
                      <a:schemeClr val="tx1">
                        <a:alpha val="0"/>
                      </a:schemeClr>
                    </a:gs>
                    <a:gs pos="25000">
                      <a:schemeClr val="tx1"/>
                    </a:gs>
                    <a:gs pos="75000">
                      <a:schemeClr val="tx1"/>
                    </a:gs>
                    <a:gs pos="100000">
                      <a:schemeClr val="tx1">
                        <a:alpha val="0"/>
                      </a:schemeClr>
                    </a:gs>
                  </a:gsLst>
                  <a:lin ang="0" scaled="1"/>
                  <a:tileRect/>
                </a:gradFill>
              </p:grpSpPr>
              <p:sp>
                <p:nvSpPr>
                  <p:cNvPr id="89" name="Oval 88"/>
                  <p:cNvSpPr/>
                  <p:nvPr/>
                </p:nvSpPr>
                <p:spPr>
                  <a:xfrm>
                    <a:off x="7886141" y="1532153"/>
                    <a:ext cx="217447" cy="21744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90" name="Rectangle 89"/>
                  <p:cNvSpPr/>
                  <p:nvPr/>
                </p:nvSpPr>
                <p:spPr>
                  <a:xfrm>
                    <a:off x="7741078" y="1618017"/>
                    <a:ext cx="507572" cy="575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cxnSp>
              <p:nvCxnSpPr>
                <p:cNvPr id="81" name="Straight Connector 80"/>
                <p:cNvCxnSpPr/>
                <p:nvPr/>
              </p:nvCxnSpPr>
              <p:spPr>
                <a:xfrm>
                  <a:off x="7808610" y="1566471"/>
                  <a:ext cx="152473" cy="0"/>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7808610" y="1723633"/>
                  <a:ext cx="152473" cy="0"/>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grpSp>
      <p:sp>
        <p:nvSpPr>
          <p:cNvPr id="17" name="Freeform 16"/>
          <p:cNvSpPr/>
          <p:nvPr/>
        </p:nvSpPr>
        <p:spPr>
          <a:xfrm>
            <a:off x="1752600" y="914400"/>
            <a:ext cx="3048000" cy="1638300"/>
          </a:xfrm>
          <a:custGeom>
            <a:avLst/>
            <a:gdLst>
              <a:gd name="connsiteX0" fmla="*/ 0 w 3048000"/>
              <a:gd name="connsiteY0" fmla="*/ 0 h 1638300"/>
              <a:gd name="connsiteX1" fmla="*/ 1325880 w 3048000"/>
              <a:gd name="connsiteY1" fmla="*/ 0 h 1638300"/>
              <a:gd name="connsiteX2" fmla="*/ 1699260 w 3048000"/>
              <a:gd name="connsiteY2" fmla="*/ 457200 h 1638300"/>
              <a:gd name="connsiteX3" fmla="*/ 2103120 w 3048000"/>
              <a:gd name="connsiteY3" fmla="*/ 457200 h 1638300"/>
              <a:gd name="connsiteX4" fmla="*/ 2255520 w 3048000"/>
              <a:gd name="connsiteY4" fmla="*/ 1264920 h 1638300"/>
              <a:gd name="connsiteX5" fmla="*/ 2689860 w 3048000"/>
              <a:gd name="connsiteY5" fmla="*/ 1264920 h 1638300"/>
              <a:gd name="connsiteX6" fmla="*/ 3048000 w 3048000"/>
              <a:gd name="connsiteY6" fmla="*/ 1638300 h 163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48000" h="1638300">
                <a:moveTo>
                  <a:pt x="0" y="0"/>
                </a:moveTo>
                <a:lnTo>
                  <a:pt x="1325880" y="0"/>
                </a:lnTo>
                <a:lnTo>
                  <a:pt x="1699260" y="457200"/>
                </a:lnTo>
                <a:lnTo>
                  <a:pt x="2103120" y="457200"/>
                </a:lnTo>
                <a:lnTo>
                  <a:pt x="2255520" y="1264920"/>
                </a:lnTo>
                <a:lnTo>
                  <a:pt x="2689860" y="1264920"/>
                </a:lnTo>
                <a:lnTo>
                  <a:pt x="3048000" y="1638300"/>
                </a:lnTo>
              </a:path>
            </a:pathLst>
          </a:custGeom>
          <a:noFill/>
          <a:ln w="50800">
            <a:solidFill>
              <a:schemeClr val="accent6"/>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76" name="Freeform 75"/>
          <p:cNvSpPr/>
          <p:nvPr/>
        </p:nvSpPr>
        <p:spPr>
          <a:xfrm flipH="1">
            <a:off x="1637647" y="534828"/>
            <a:ext cx="272422" cy="449159"/>
          </a:xfrm>
          <a:custGeom>
            <a:avLst/>
            <a:gdLst>
              <a:gd name="connsiteX0" fmla="*/ 132677 w 272422"/>
              <a:gd name="connsiteY0" fmla="*/ 284899 h 449159"/>
              <a:gd name="connsiteX1" fmla="*/ 50547 w 272422"/>
              <a:gd name="connsiteY1" fmla="*/ 367029 h 449159"/>
              <a:gd name="connsiteX2" fmla="*/ 132677 w 272422"/>
              <a:gd name="connsiteY2" fmla="*/ 449159 h 449159"/>
              <a:gd name="connsiteX3" fmla="*/ 214807 w 272422"/>
              <a:gd name="connsiteY3" fmla="*/ 367029 h 449159"/>
              <a:gd name="connsiteX4" fmla="*/ 132677 w 272422"/>
              <a:gd name="connsiteY4" fmla="*/ 284899 h 449159"/>
              <a:gd name="connsiteX5" fmla="*/ 48139 w 272422"/>
              <a:gd name="connsiteY5" fmla="*/ 52862 h 449159"/>
              <a:gd name="connsiteX6" fmla="*/ 30648 w 272422"/>
              <a:gd name="connsiteY6" fmla="*/ 52862 h 449159"/>
              <a:gd name="connsiteX7" fmla="*/ 0 w 272422"/>
              <a:gd name="connsiteY7" fmla="*/ 83510 h 449159"/>
              <a:gd name="connsiteX8" fmla="*/ 0 w 272422"/>
              <a:gd name="connsiteY8" fmla="*/ 206099 h 449159"/>
              <a:gd name="connsiteX9" fmla="*/ 30648 w 272422"/>
              <a:gd name="connsiteY9" fmla="*/ 236747 h 449159"/>
              <a:gd name="connsiteX10" fmla="*/ 48139 w 272422"/>
              <a:gd name="connsiteY10" fmla="*/ 236747 h 449159"/>
              <a:gd name="connsiteX11" fmla="*/ 241774 w 272422"/>
              <a:gd name="connsiteY11" fmla="*/ 52862 h 449159"/>
              <a:gd name="connsiteX12" fmla="*/ 224283 w 272422"/>
              <a:gd name="connsiteY12" fmla="*/ 52862 h 449159"/>
              <a:gd name="connsiteX13" fmla="*/ 224283 w 272422"/>
              <a:gd name="connsiteY13" fmla="*/ 236747 h 449159"/>
              <a:gd name="connsiteX14" fmla="*/ 241774 w 272422"/>
              <a:gd name="connsiteY14" fmla="*/ 236747 h 449159"/>
              <a:gd name="connsiteX15" fmla="*/ 272422 w 272422"/>
              <a:gd name="connsiteY15" fmla="*/ 206099 h 449159"/>
              <a:gd name="connsiteX16" fmla="*/ 272422 w 272422"/>
              <a:gd name="connsiteY16" fmla="*/ 83510 h 449159"/>
              <a:gd name="connsiteX17" fmla="*/ 241774 w 272422"/>
              <a:gd name="connsiteY17" fmla="*/ 52862 h 449159"/>
              <a:gd name="connsiteX18" fmla="*/ 136211 w 272422"/>
              <a:gd name="connsiteY18" fmla="*/ 17878 h 449159"/>
              <a:gd name="connsiteX19" fmla="*/ 171195 w 272422"/>
              <a:gd name="connsiteY19" fmla="*/ 52862 h 449159"/>
              <a:gd name="connsiteX20" fmla="*/ 101227 w 272422"/>
              <a:gd name="connsiteY20" fmla="*/ 52862 h 449159"/>
              <a:gd name="connsiteX21" fmla="*/ 136211 w 272422"/>
              <a:gd name="connsiteY21" fmla="*/ 17878 h 449159"/>
              <a:gd name="connsiteX22" fmla="*/ 136211 w 272422"/>
              <a:gd name="connsiteY22" fmla="*/ 0 h 449159"/>
              <a:gd name="connsiteX23" fmla="*/ 83350 w 272422"/>
              <a:gd name="connsiteY23" fmla="*/ 52862 h 449159"/>
              <a:gd name="connsiteX24" fmla="*/ 68204 w 272422"/>
              <a:gd name="connsiteY24" fmla="*/ 52862 h 449159"/>
              <a:gd name="connsiteX25" fmla="*/ 68204 w 272422"/>
              <a:gd name="connsiteY25" fmla="*/ 236747 h 449159"/>
              <a:gd name="connsiteX26" fmla="*/ 204218 w 272422"/>
              <a:gd name="connsiteY26" fmla="*/ 236747 h 449159"/>
              <a:gd name="connsiteX27" fmla="*/ 204218 w 272422"/>
              <a:gd name="connsiteY27" fmla="*/ 52862 h 449159"/>
              <a:gd name="connsiteX28" fmla="*/ 189073 w 272422"/>
              <a:gd name="connsiteY28" fmla="*/ 52862 h 449159"/>
              <a:gd name="connsiteX29" fmla="*/ 136211 w 272422"/>
              <a:gd name="connsiteY29" fmla="*/ 0 h 449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72422" h="449159">
                <a:moveTo>
                  <a:pt x="132677" y="284899"/>
                </a:moveTo>
                <a:cubicBezTo>
                  <a:pt x="87318" y="284899"/>
                  <a:pt x="50547" y="321670"/>
                  <a:pt x="50547" y="367029"/>
                </a:cubicBezTo>
                <a:cubicBezTo>
                  <a:pt x="50547" y="412388"/>
                  <a:pt x="87318" y="449159"/>
                  <a:pt x="132677" y="449159"/>
                </a:cubicBezTo>
                <a:cubicBezTo>
                  <a:pt x="178036" y="449159"/>
                  <a:pt x="214807" y="412388"/>
                  <a:pt x="214807" y="367029"/>
                </a:cubicBezTo>
                <a:cubicBezTo>
                  <a:pt x="214807" y="321670"/>
                  <a:pt x="178036" y="284899"/>
                  <a:pt x="132677" y="284899"/>
                </a:cubicBezTo>
                <a:close/>
                <a:moveTo>
                  <a:pt x="48139" y="52862"/>
                </a:moveTo>
                <a:lnTo>
                  <a:pt x="30648" y="52862"/>
                </a:lnTo>
                <a:cubicBezTo>
                  <a:pt x="13722" y="52862"/>
                  <a:pt x="0" y="66583"/>
                  <a:pt x="0" y="83510"/>
                </a:cubicBezTo>
                <a:lnTo>
                  <a:pt x="0" y="206099"/>
                </a:lnTo>
                <a:cubicBezTo>
                  <a:pt x="0" y="223026"/>
                  <a:pt x="13722" y="236747"/>
                  <a:pt x="30648" y="236747"/>
                </a:cubicBezTo>
                <a:lnTo>
                  <a:pt x="48139" y="236747"/>
                </a:lnTo>
                <a:close/>
                <a:moveTo>
                  <a:pt x="241774" y="52862"/>
                </a:moveTo>
                <a:lnTo>
                  <a:pt x="224283" y="52862"/>
                </a:lnTo>
                <a:lnTo>
                  <a:pt x="224283" y="236747"/>
                </a:lnTo>
                <a:lnTo>
                  <a:pt x="241774" y="236747"/>
                </a:lnTo>
                <a:cubicBezTo>
                  <a:pt x="258701" y="236747"/>
                  <a:pt x="272422" y="223026"/>
                  <a:pt x="272422" y="206099"/>
                </a:cubicBezTo>
                <a:lnTo>
                  <a:pt x="272422" y="83510"/>
                </a:lnTo>
                <a:cubicBezTo>
                  <a:pt x="272422" y="66583"/>
                  <a:pt x="258701" y="52862"/>
                  <a:pt x="241774" y="52862"/>
                </a:cubicBezTo>
                <a:close/>
                <a:moveTo>
                  <a:pt x="136211" y="17878"/>
                </a:moveTo>
                <a:cubicBezTo>
                  <a:pt x="155532" y="17878"/>
                  <a:pt x="171195" y="33540"/>
                  <a:pt x="171195" y="52862"/>
                </a:cubicBezTo>
                <a:lnTo>
                  <a:pt x="101227" y="52862"/>
                </a:lnTo>
                <a:cubicBezTo>
                  <a:pt x="101227" y="33540"/>
                  <a:pt x="116890" y="17878"/>
                  <a:pt x="136211" y="17878"/>
                </a:cubicBezTo>
                <a:close/>
                <a:moveTo>
                  <a:pt x="136211" y="0"/>
                </a:moveTo>
                <a:cubicBezTo>
                  <a:pt x="107016" y="0"/>
                  <a:pt x="83350" y="23667"/>
                  <a:pt x="83350" y="52862"/>
                </a:cubicBezTo>
                <a:lnTo>
                  <a:pt x="68204" y="52862"/>
                </a:lnTo>
                <a:lnTo>
                  <a:pt x="68204" y="236747"/>
                </a:lnTo>
                <a:lnTo>
                  <a:pt x="204218" y="236747"/>
                </a:lnTo>
                <a:lnTo>
                  <a:pt x="204218" y="52862"/>
                </a:lnTo>
                <a:lnTo>
                  <a:pt x="189073" y="52862"/>
                </a:lnTo>
                <a:cubicBezTo>
                  <a:pt x="189073" y="23667"/>
                  <a:pt x="165406" y="0"/>
                  <a:pt x="136211" y="0"/>
                </a:cubicBezTo>
                <a:close/>
              </a:path>
            </a:pathLst>
          </a:custGeom>
          <a:solidFill>
            <a:srgbClr val="70AD4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60"/>
          </a:p>
        </p:txBody>
      </p:sp>
      <p:grpSp>
        <p:nvGrpSpPr>
          <p:cNvPr id="86" name="Group 85"/>
          <p:cNvGrpSpPr/>
          <p:nvPr/>
        </p:nvGrpSpPr>
        <p:grpSpPr>
          <a:xfrm>
            <a:off x="-159408" y="5773127"/>
            <a:ext cx="9096001" cy="646331"/>
            <a:chOff x="-172879" y="2972777"/>
            <a:chExt cx="9096001" cy="646331"/>
          </a:xfrm>
        </p:grpSpPr>
        <p:sp>
          <p:nvSpPr>
            <p:cNvPr id="87" name="Rectangle 86"/>
            <p:cNvSpPr/>
            <p:nvPr/>
          </p:nvSpPr>
          <p:spPr>
            <a:xfrm>
              <a:off x="-172879" y="3059931"/>
              <a:ext cx="4572000" cy="523220"/>
            </a:xfrm>
            <a:prstGeom prst="rect">
              <a:avLst/>
            </a:prstGeom>
          </p:spPr>
          <p:txBody>
            <a:bodyPr>
              <a:spAutoFit/>
            </a:bodyPr>
            <a:lstStyle/>
            <a:p>
              <a:pPr marL="457200" lvl="1" indent="0" algn="ctr">
                <a:buNone/>
              </a:pPr>
              <a:r>
                <a:rPr lang="en-US" sz="2800" b="1" dirty="0"/>
                <a:t>Causal </a:t>
              </a:r>
              <a:r>
                <a:rPr lang="en-US" sz="2800" b="1" dirty="0" smtClean="0"/>
                <a:t>tracing</a:t>
              </a:r>
              <a:endParaRPr lang="en-US" sz="2000" b="1" dirty="0"/>
            </a:p>
          </p:txBody>
        </p:sp>
        <p:grpSp>
          <p:nvGrpSpPr>
            <p:cNvPr id="88" name="Group 87"/>
            <p:cNvGrpSpPr/>
            <p:nvPr/>
          </p:nvGrpSpPr>
          <p:grpSpPr>
            <a:xfrm>
              <a:off x="6334625" y="2972777"/>
              <a:ext cx="2588497" cy="646331"/>
              <a:chOff x="619624" y="3265714"/>
              <a:chExt cx="2588498" cy="646331"/>
            </a:xfrm>
          </p:grpSpPr>
          <p:sp>
            <p:nvSpPr>
              <p:cNvPr id="92" name="Freeform 91"/>
              <p:cNvSpPr/>
              <p:nvPr/>
            </p:nvSpPr>
            <p:spPr>
              <a:xfrm flipH="1">
                <a:off x="619624" y="3334957"/>
                <a:ext cx="616567" cy="504935"/>
              </a:xfrm>
              <a:custGeom>
                <a:avLst/>
                <a:gdLst>
                  <a:gd name="connsiteX0" fmla="*/ 205184 w 1161142"/>
                  <a:gd name="connsiteY0" fmla="*/ 225311 h 1009083"/>
                  <a:gd name="connsiteX1" fmla="*/ 130631 w 1161142"/>
                  <a:gd name="connsiteY1" fmla="*/ 225311 h 1009083"/>
                  <a:gd name="connsiteX2" fmla="*/ 0 w 1161142"/>
                  <a:gd name="connsiteY2" fmla="*/ 355942 h 1009083"/>
                  <a:gd name="connsiteX3" fmla="*/ 0 w 1161142"/>
                  <a:gd name="connsiteY3" fmla="*/ 878452 h 1009083"/>
                  <a:gd name="connsiteX4" fmla="*/ 130631 w 1161142"/>
                  <a:gd name="connsiteY4" fmla="*/ 1009083 h 1009083"/>
                  <a:gd name="connsiteX5" fmla="*/ 205184 w 1161142"/>
                  <a:gd name="connsiteY5" fmla="*/ 1009083 h 1009083"/>
                  <a:gd name="connsiteX6" fmla="*/ 1030511 w 1161142"/>
                  <a:gd name="connsiteY6" fmla="*/ 225311 h 1009083"/>
                  <a:gd name="connsiteX7" fmla="*/ 955958 w 1161142"/>
                  <a:gd name="connsiteY7" fmla="*/ 225311 h 1009083"/>
                  <a:gd name="connsiteX8" fmla="*/ 955958 w 1161142"/>
                  <a:gd name="connsiteY8" fmla="*/ 1009083 h 1009083"/>
                  <a:gd name="connsiteX9" fmla="*/ 1030511 w 1161142"/>
                  <a:gd name="connsiteY9" fmla="*/ 1009083 h 1009083"/>
                  <a:gd name="connsiteX10" fmla="*/ 1161142 w 1161142"/>
                  <a:gd name="connsiteY10" fmla="*/ 878452 h 1009083"/>
                  <a:gd name="connsiteX11" fmla="*/ 1161142 w 1161142"/>
                  <a:gd name="connsiteY11" fmla="*/ 355942 h 1009083"/>
                  <a:gd name="connsiteX12" fmla="*/ 1030511 w 1161142"/>
                  <a:gd name="connsiteY12" fmla="*/ 225311 h 1009083"/>
                  <a:gd name="connsiteX13" fmla="*/ 580571 w 1161142"/>
                  <a:gd name="connsiteY13" fmla="*/ 76200 h 1009083"/>
                  <a:gd name="connsiteX14" fmla="*/ 729682 w 1161142"/>
                  <a:gd name="connsiteY14" fmla="*/ 225311 h 1009083"/>
                  <a:gd name="connsiteX15" fmla="*/ 431460 w 1161142"/>
                  <a:gd name="connsiteY15" fmla="*/ 225311 h 1009083"/>
                  <a:gd name="connsiteX16" fmla="*/ 580571 w 1161142"/>
                  <a:gd name="connsiteY16" fmla="*/ 76200 h 1009083"/>
                  <a:gd name="connsiteX17" fmla="*/ 580571 w 1161142"/>
                  <a:gd name="connsiteY17" fmla="*/ 0 h 1009083"/>
                  <a:gd name="connsiteX18" fmla="*/ 355260 w 1161142"/>
                  <a:gd name="connsiteY18" fmla="*/ 225311 h 1009083"/>
                  <a:gd name="connsiteX19" fmla="*/ 290704 w 1161142"/>
                  <a:gd name="connsiteY19" fmla="*/ 225311 h 1009083"/>
                  <a:gd name="connsiteX20" fmla="*/ 290704 w 1161142"/>
                  <a:gd name="connsiteY20" fmla="*/ 1009083 h 1009083"/>
                  <a:gd name="connsiteX21" fmla="*/ 870438 w 1161142"/>
                  <a:gd name="connsiteY21" fmla="*/ 1009083 h 1009083"/>
                  <a:gd name="connsiteX22" fmla="*/ 870438 w 1161142"/>
                  <a:gd name="connsiteY22" fmla="*/ 225311 h 1009083"/>
                  <a:gd name="connsiteX23" fmla="*/ 805882 w 1161142"/>
                  <a:gd name="connsiteY23" fmla="*/ 225311 h 1009083"/>
                  <a:gd name="connsiteX24" fmla="*/ 580571 w 1161142"/>
                  <a:gd name="connsiteY24" fmla="*/ 0 h 100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61142" h="1009083">
                    <a:moveTo>
                      <a:pt x="205184" y="225311"/>
                    </a:moveTo>
                    <a:lnTo>
                      <a:pt x="130631" y="225311"/>
                    </a:lnTo>
                    <a:cubicBezTo>
                      <a:pt x="58485" y="225311"/>
                      <a:pt x="0" y="283796"/>
                      <a:pt x="0" y="355942"/>
                    </a:cubicBezTo>
                    <a:lnTo>
                      <a:pt x="0" y="878452"/>
                    </a:lnTo>
                    <a:cubicBezTo>
                      <a:pt x="0" y="950598"/>
                      <a:pt x="58485" y="1009083"/>
                      <a:pt x="130631" y="1009083"/>
                    </a:cubicBezTo>
                    <a:lnTo>
                      <a:pt x="205184" y="1009083"/>
                    </a:lnTo>
                    <a:close/>
                    <a:moveTo>
                      <a:pt x="1030511" y="225311"/>
                    </a:moveTo>
                    <a:lnTo>
                      <a:pt x="955958" y="225311"/>
                    </a:lnTo>
                    <a:lnTo>
                      <a:pt x="955958" y="1009083"/>
                    </a:lnTo>
                    <a:lnTo>
                      <a:pt x="1030511" y="1009083"/>
                    </a:lnTo>
                    <a:cubicBezTo>
                      <a:pt x="1102657" y="1009083"/>
                      <a:pt x="1161142" y="950598"/>
                      <a:pt x="1161142" y="878452"/>
                    </a:cubicBezTo>
                    <a:lnTo>
                      <a:pt x="1161142" y="355942"/>
                    </a:lnTo>
                    <a:cubicBezTo>
                      <a:pt x="1161142" y="283796"/>
                      <a:pt x="1102657" y="225311"/>
                      <a:pt x="1030511" y="225311"/>
                    </a:cubicBezTo>
                    <a:close/>
                    <a:moveTo>
                      <a:pt x="580571" y="76200"/>
                    </a:moveTo>
                    <a:cubicBezTo>
                      <a:pt x="662923" y="76200"/>
                      <a:pt x="729682" y="142959"/>
                      <a:pt x="729682" y="225311"/>
                    </a:cubicBezTo>
                    <a:lnTo>
                      <a:pt x="431460" y="225311"/>
                    </a:lnTo>
                    <a:cubicBezTo>
                      <a:pt x="431460" y="142959"/>
                      <a:pt x="498219" y="76200"/>
                      <a:pt x="580571" y="76200"/>
                    </a:cubicBezTo>
                    <a:close/>
                    <a:moveTo>
                      <a:pt x="580571" y="0"/>
                    </a:moveTo>
                    <a:cubicBezTo>
                      <a:pt x="456135" y="0"/>
                      <a:pt x="355260" y="100875"/>
                      <a:pt x="355260" y="225311"/>
                    </a:cubicBezTo>
                    <a:lnTo>
                      <a:pt x="290704" y="225311"/>
                    </a:lnTo>
                    <a:lnTo>
                      <a:pt x="290704" y="1009083"/>
                    </a:lnTo>
                    <a:lnTo>
                      <a:pt x="870438" y="1009083"/>
                    </a:lnTo>
                    <a:lnTo>
                      <a:pt x="870438" y="225311"/>
                    </a:lnTo>
                    <a:lnTo>
                      <a:pt x="805882" y="225311"/>
                    </a:lnTo>
                    <a:cubicBezTo>
                      <a:pt x="805882" y="100875"/>
                      <a:pt x="705007" y="0"/>
                      <a:pt x="580571"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93" name="TextBox 92"/>
              <p:cNvSpPr txBox="1"/>
              <p:nvPr/>
            </p:nvSpPr>
            <p:spPr>
              <a:xfrm>
                <a:off x="1454243" y="3265714"/>
                <a:ext cx="1753879" cy="646331"/>
              </a:xfrm>
              <a:prstGeom prst="rect">
                <a:avLst/>
              </a:prstGeom>
              <a:noFill/>
            </p:spPr>
            <p:txBody>
              <a:bodyPr wrap="none" rtlCol="0">
                <a:spAutoFit/>
              </a:bodyPr>
              <a:lstStyle/>
              <a:p>
                <a:r>
                  <a:rPr lang="en-US" sz="3600" dirty="0"/>
                  <a:t>Baggage</a:t>
                </a:r>
              </a:p>
            </p:txBody>
          </p:sp>
        </p:grpSp>
        <p:sp>
          <p:nvSpPr>
            <p:cNvPr id="91" name="Freeform 90"/>
            <p:cNvSpPr/>
            <p:nvPr/>
          </p:nvSpPr>
          <p:spPr>
            <a:xfrm>
              <a:off x="4314825" y="3255507"/>
              <a:ext cx="1415490" cy="240676"/>
            </a:xfrm>
            <a:custGeom>
              <a:avLst/>
              <a:gdLst>
                <a:gd name="connsiteX0" fmla="*/ 0 w 1619250"/>
                <a:gd name="connsiteY0" fmla="*/ 144918 h 240676"/>
                <a:gd name="connsiteX1" fmla="*/ 400050 w 1619250"/>
                <a:gd name="connsiteY1" fmla="*/ 2043 h 240676"/>
                <a:gd name="connsiteX2" fmla="*/ 476250 w 1619250"/>
                <a:gd name="connsiteY2" fmla="*/ 240168 h 240676"/>
                <a:gd name="connsiteX3" fmla="*/ 704850 w 1619250"/>
                <a:gd name="connsiteY3" fmla="*/ 68718 h 240676"/>
                <a:gd name="connsiteX4" fmla="*/ 923925 w 1619250"/>
                <a:gd name="connsiteY4" fmla="*/ 192543 h 240676"/>
                <a:gd name="connsiteX5" fmla="*/ 1190625 w 1619250"/>
                <a:gd name="connsiteY5" fmla="*/ 40143 h 240676"/>
                <a:gd name="connsiteX6" fmla="*/ 1333500 w 1619250"/>
                <a:gd name="connsiteY6" fmla="*/ 154443 h 240676"/>
                <a:gd name="connsiteX7" fmla="*/ 1495425 w 1619250"/>
                <a:gd name="connsiteY7" fmla="*/ 106818 h 240676"/>
                <a:gd name="connsiteX8" fmla="*/ 1619250 w 1619250"/>
                <a:gd name="connsiteY8" fmla="*/ 97293 h 240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9250" h="240676">
                  <a:moveTo>
                    <a:pt x="0" y="144918"/>
                  </a:moveTo>
                  <a:cubicBezTo>
                    <a:pt x="160337" y="65543"/>
                    <a:pt x="320675" y="-13832"/>
                    <a:pt x="400050" y="2043"/>
                  </a:cubicBezTo>
                  <a:cubicBezTo>
                    <a:pt x="479425" y="17918"/>
                    <a:pt x="425450" y="229056"/>
                    <a:pt x="476250" y="240168"/>
                  </a:cubicBezTo>
                  <a:cubicBezTo>
                    <a:pt x="527050" y="251281"/>
                    <a:pt x="630238" y="76655"/>
                    <a:pt x="704850" y="68718"/>
                  </a:cubicBezTo>
                  <a:cubicBezTo>
                    <a:pt x="779462" y="60781"/>
                    <a:pt x="842963" y="197305"/>
                    <a:pt x="923925" y="192543"/>
                  </a:cubicBezTo>
                  <a:cubicBezTo>
                    <a:pt x="1004887" y="187781"/>
                    <a:pt x="1122363" y="46493"/>
                    <a:pt x="1190625" y="40143"/>
                  </a:cubicBezTo>
                  <a:cubicBezTo>
                    <a:pt x="1258888" y="33793"/>
                    <a:pt x="1282700" y="143330"/>
                    <a:pt x="1333500" y="154443"/>
                  </a:cubicBezTo>
                  <a:cubicBezTo>
                    <a:pt x="1384300" y="165556"/>
                    <a:pt x="1447800" y="116343"/>
                    <a:pt x="1495425" y="106818"/>
                  </a:cubicBezTo>
                  <a:cubicBezTo>
                    <a:pt x="1543050" y="97293"/>
                    <a:pt x="1581150" y="97293"/>
                    <a:pt x="1619250" y="97293"/>
                  </a:cubicBezTo>
                </a:path>
              </a:pathLst>
            </a:custGeom>
            <a:noFill/>
            <a:ln w="28575">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 name="Group 1"/>
          <p:cNvGrpSpPr/>
          <p:nvPr/>
        </p:nvGrpSpPr>
        <p:grpSpPr>
          <a:xfrm>
            <a:off x="237768" y="3170941"/>
            <a:ext cx="8668465" cy="461665"/>
            <a:chOff x="30872" y="3170941"/>
            <a:chExt cx="8668465" cy="461665"/>
          </a:xfrm>
        </p:grpSpPr>
        <p:sp>
          <p:nvSpPr>
            <p:cNvPr id="94" name="Freeform 93"/>
            <p:cNvSpPr/>
            <p:nvPr/>
          </p:nvSpPr>
          <p:spPr>
            <a:xfrm flipH="1">
              <a:off x="30872" y="3207473"/>
              <a:ext cx="474512" cy="388600"/>
            </a:xfrm>
            <a:custGeom>
              <a:avLst/>
              <a:gdLst>
                <a:gd name="connsiteX0" fmla="*/ 205184 w 1161142"/>
                <a:gd name="connsiteY0" fmla="*/ 225311 h 1009083"/>
                <a:gd name="connsiteX1" fmla="*/ 130631 w 1161142"/>
                <a:gd name="connsiteY1" fmla="*/ 225311 h 1009083"/>
                <a:gd name="connsiteX2" fmla="*/ 0 w 1161142"/>
                <a:gd name="connsiteY2" fmla="*/ 355942 h 1009083"/>
                <a:gd name="connsiteX3" fmla="*/ 0 w 1161142"/>
                <a:gd name="connsiteY3" fmla="*/ 878452 h 1009083"/>
                <a:gd name="connsiteX4" fmla="*/ 130631 w 1161142"/>
                <a:gd name="connsiteY4" fmla="*/ 1009083 h 1009083"/>
                <a:gd name="connsiteX5" fmla="*/ 205184 w 1161142"/>
                <a:gd name="connsiteY5" fmla="*/ 1009083 h 1009083"/>
                <a:gd name="connsiteX6" fmla="*/ 1030511 w 1161142"/>
                <a:gd name="connsiteY6" fmla="*/ 225311 h 1009083"/>
                <a:gd name="connsiteX7" fmla="*/ 955958 w 1161142"/>
                <a:gd name="connsiteY7" fmla="*/ 225311 h 1009083"/>
                <a:gd name="connsiteX8" fmla="*/ 955958 w 1161142"/>
                <a:gd name="connsiteY8" fmla="*/ 1009083 h 1009083"/>
                <a:gd name="connsiteX9" fmla="*/ 1030511 w 1161142"/>
                <a:gd name="connsiteY9" fmla="*/ 1009083 h 1009083"/>
                <a:gd name="connsiteX10" fmla="*/ 1161142 w 1161142"/>
                <a:gd name="connsiteY10" fmla="*/ 878452 h 1009083"/>
                <a:gd name="connsiteX11" fmla="*/ 1161142 w 1161142"/>
                <a:gd name="connsiteY11" fmla="*/ 355942 h 1009083"/>
                <a:gd name="connsiteX12" fmla="*/ 1030511 w 1161142"/>
                <a:gd name="connsiteY12" fmla="*/ 225311 h 1009083"/>
                <a:gd name="connsiteX13" fmla="*/ 580571 w 1161142"/>
                <a:gd name="connsiteY13" fmla="*/ 76200 h 1009083"/>
                <a:gd name="connsiteX14" fmla="*/ 729682 w 1161142"/>
                <a:gd name="connsiteY14" fmla="*/ 225311 h 1009083"/>
                <a:gd name="connsiteX15" fmla="*/ 431460 w 1161142"/>
                <a:gd name="connsiteY15" fmla="*/ 225311 h 1009083"/>
                <a:gd name="connsiteX16" fmla="*/ 580571 w 1161142"/>
                <a:gd name="connsiteY16" fmla="*/ 76200 h 1009083"/>
                <a:gd name="connsiteX17" fmla="*/ 580571 w 1161142"/>
                <a:gd name="connsiteY17" fmla="*/ 0 h 1009083"/>
                <a:gd name="connsiteX18" fmla="*/ 355260 w 1161142"/>
                <a:gd name="connsiteY18" fmla="*/ 225311 h 1009083"/>
                <a:gd name="connsiteX19" fmla="*/ 290704 w 1161142"/>
                <a:gd name="connsiteY19" fmla="*/ 225311 h 1009083"/>
                <a:gd name="connsiteX20" fmla="*/ 290704 w 1161142"/>
                <a:gd name="connsiteY20" fmla="*/ 1009083 h 1009083"/>
                <a:gd name="connsiteX21" fmla="*/ 870438 w 1161142"/>
                <a:gd name="connsiteY21" fmla="*/ 1009083 h 1009083"/>
                <a:gd name="connsiteX22" fmla="*/ 870438 w 1161142"/>
                <a:gd name="connsiteY22" fmla="*/ 225311 h 1009083"/>
                <a:gd name="connsiteX23" fmla="*/ 805882 w 1161142"/>
                <a:gd name="connsiteY23" fmla="*/ 225311 h 1009083"/>
                <a:gd name="connsiteX24" fmla="*/ 580571 w 1161142"/>
                <a:gd name="connsiteY24" fmla="*/ 0 h 100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61142" h="1009083">
                  <a:moveTo>
                    <a:pt x="205184" y="225311"/>
                  </a:moveTo>
                  <a:lnTo>
                    <a:pt x="130631" y="225311"/>
                  </a:lnTo>
                  <a:cubicBezTo>
                    <a:pt x="58485" y="225311"/>
                    <a:pt x="0" y="283796"/>
                    <a:pt x="0" y="355942"/>
                  </a:cubicBezTo>
                  <a:lnTo>
                    <a:pt x="0" y="878452"/>
                  </a:lnTo>
                  <a:cubicBezTo>
                    <a:pt x="0" y="950598"/>
                    <a:pt x="58485" y="1009083"/>
                    <a:pt x="130631" y="1009083"/>
                  </a:cubicBezTo>
                  <a:lnTo>
                    <a:pt x="205184" y="1009083"/>
                  </a:lnTo>
                  <a:close/>
                  <a:moveTo>
                    <a:pt x="1030511" y="225311"/>
                  </a:moveTo>
                  <a:lnTo>
                    <a:pt x="955958" y="225311"/>
                  </a:lnTo>
                  <a:lnTo>
                    <a:pt x="955958" y="1009083"/>
                  </a:lnTo>
                  <a:lnTo>
                    <a:pt x="1030511" y="1009083"/>
                  </a:lnTo>
                  <a:cubicBezTo>
                    <a:pt x="1102657" y="1009083"/>
                    <a:pt x="1161142" y="950598"/>
                    <a:pt x="1161142" y="878452"/>
                  </a:cubicBezTo>
                  <a:lnTo>
                    <a:pt x="1161142" y="355942"/>
                  </a:lnTo>
                  <a:cubicBezTo>
                    <a:pt x="1161142" y="283796"/>
                    <a:pt x="1102657" y="225311"/>
                    <a:pt x="1030511" y="225311"/>
                  </a:cubicBezTo>
                  <a:close/>
                  <a:moveTo>
                    <a:pt x="580571" y="76200"/>
                  </a:moveTo>
                  <a:cubicBezTo>
                    <a:pt x="662923" y="76200"/>
                    <a:pt x="729682" y="142959"/>
                    <a:pt x="729682" y="225311"/>
                  </a:cubicBezTo>
                  <a:lnTo>
                    <a:pt x="431460" y="225311"/>
                  </a:lnTo>
                  <a:cubicBezTo>
                    <a:pt x="431460" y="142959"/>
                    <a:pt x="498219" y="76200"/>
                    <a:pt x="580571" y="76200"/>
                  </a:cubicBezTo>
                  <a:close/>
                  <a:moveTo>
                    <a:pt x="580571" y="0"/>
                  </a:moveTo>
                  <a:cubicBezTo>
                    <a:pt x="456135" y="0"/>
                    <a:pt x="355260" y="100875"/>
                    <a:pt x="355260" y="225311"/>
                  </a:cubicBezTo>
                  <a:lnTo>
                    <a:pt x="290704" y="225311"/>
                  </a:lnTo>
                  <a:lnTo>
                    <a:pt x="290704" y="1009083"/>
                  </a:lnTo>
                  <a:lnTo>
                    <a:pt x="870438" y="1009083"/>
                  </a:lnTo>
                  <a:lnTo>
                    <a:pt x="870438" y="225311"/>
                  </a:lnTo>
                  <a:lnTo>
                    <a:pt x="805882" y="225311"/>
                  </a:lnTo>
                  <a:cubicBezTo>
                    <a:pt x="805882" y="100875"/>
                    <a:pt x="705007" y="0"/>
                    <a:pt x="580571"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95" name="TextBox 94"/>
            <p:cNvSpPr txBox="1"/>
            <p:nvPr/>
          </p:nvSpPr>
          <p:spPr>
            <a:xfrm>
              <a:off x="505384" y="3170941"/>
              <a:ext cx="8193953" cy="461665"/>
            </a:xfrm>
            <a:prstGeom prst="rect">
              <a:avLst/>
            </a:prstGeom>
            <a:noFill/>
          </p:spPr>
          <p:txBody>
            <a:bodyPr wrap="square" rtlCol="0">
              <a:spAutoFit/>
            </a:bodyPr>
            <a:lstStyle/>
            <a:p>
              <a:r>
                <a:rPr lang="en-US" sz="2400" dirty="0" smtClean="0"/>
                <a:t>Baggage is a </a:t>
              </a:r>
              <a:r>
                <a:rPr lang="en-US" sz="2400" dirty="0" err="1" smtClean="0"/>
                <a:t>Key:Value</a:t>
              </a:r>
              <a:r>
                <a:rPr lang="en-US" sz="2400" dirty="0" smtClean="0"/>
                <a:t> container propagated alongside a request</a:t>
              </a:r>
              <a:endParaRPr lang="en-US" sz="2400" dirty="0"/>
            </a:p>
          </p:txBody>
        </p:sp>
      </p:grpSp>
      <p:sp>
        <p:nvSpPr>
          <p:cNvPr id="112" name="TextBox 111"/>
          <p:cNvSpPr txBox="1"/>
          <p:nvPr/>
        </p:nvSpPr>
        <p:spPr>
          <a:xfrm>
            <a:off x="769943" y="3727710"/>
            <a:ext cx="7916533" cy="1569660"/>
          </a:xfrm>
          <a:prstGeom prst="rect">
            <a:avLst/>
          </a:prstGeom>
          <a:noFill/>
        </p:spPr>
        <p:txBody>
          <a:bodyPr wrap="square" rtlCol="0">
            <a:spAutoFit/>
          </a:bodyPr>
          <a:lstStyle/>
          <a:p>
            <a:pPr marL="285739" indent="-285739">
              <a:buFont typeface="Arial" panose="020B0604020202020204" pitchFamily="34" charset="0"/>
              <a:buChar char="•"/>
            </a:pPr>
            <a:r>
              <a:rPr lang="en-US" sz="2400" dirty="0" smtClean="0"/>
              <a:t>Generalization </a:t>
            </a:r>
            <a:r>
              <a:rPr lang="en-US" sz="2400" dirty="0"/>
              <a:t>of metadata in end-to-end </a:t>
            </a:r>
            <a:r>
              <a:rPr lang="en-US" sz="2400" dirty="0" smtClean="0"/>
              <a:t>tracing</a:t>
            </a:r>
          </a:p>
          <a:p>
            <a:pPr marL="285739" indent="-285739">
              <a:buFont typeface="Arial" panose="020B0604020202020204" pitchFamily="34" charset="0"/>
              <a:buChar char="•"/>
            </a:pPr>
            <a:r>
              <a:rPr lang="en-US" sz="2400" dirty="0"/>
              <a:t>One instance per </a:t>
            </a:r>
            <a:r>
              <a:rPr lang="en-US" sz="2400" dirty="0" smtClean="0"/>
              <a:t>request</a:t>
            </a:r>
            <a:endParaRPr lang="en-US" sz="2400" dirty="0"/>
          </a:p>
          <a:p>
            <a:pPr marL="285739" indent="-285739">
              <a:buFont typeface="Arial" panose="020B0604020202020204" pitchFamily="34" charset="0"/>
              <a:buChar char="•"/>
            </a:pPr>
            <a:endParaRPr lang="en-US" sz="2400" dirty="0"/>
          </a:p>
          <a:p>
            <a:pPr marL="742920" lvl="1" indent="-285739">
              <a:buFont typeface="Arial" panose="020B0604020202020204" pitchFamily="34" charset="0"/>
              <a:buChar char="•"/>
            </a:pPr>
            <a:endParaRPr lang="en-US" sz="2400" dirty="0"/>
          </a:p>
        </p:txBody>
      </p:sp>
      <p:sp>
        <p:nvSpPr>
          <p:cNvPr id="10" name="Slide Number Placeholder 9"/>
          <p:cNvSpPr>
            <a:spLocks noGrp="1"/>
          </p:cNvSpPr>
          <p:nvPr>
            <p:ph type="sldNum" sz="quarter" idx="12"/>
          </p:nvPr>
        </p:nvSpPr>
        <p:spPr/>
        <p:txBody>
          <a:bodyPr/>
          <a:lstStyle/>
          <a:p>
            <a:fld id="{D431E30F-8439-471B-9257-EDD8E85CDBC8}" type="slidenum">
              <a:rPr lang="en-US" smtClean="0"/>
              <a:t>20</a:t>
            </a:fld>
            <a:endParaRPr lang="en-US"/>
          </a:p>
        </p:txBody>
      </p:sp>
    </p:spTree>
    <p:extLst>
      <p:ext uri="{BB962C8B-B14F-4D97-AF65-F5344CB8AC3E}">
        <p14:creationId xmlns:p14="http://schemas.microsoft.com/office/powerpoint/2010/main" val="1923338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3"/>
                                        </p:tgtEl>
                                        <p:attrNameLst>
                                          <p:attrName>style.visibility</p:attrName>
                                        </p:attrNameLst>
                                      </p:cBhvr>
                                      <p:to>
                                        <p:strVal val="visible"/>
                                      </p:to>
                                    </p:set>
                                    <p:animEffect transition="in" filter="fade">
                                      <p:cBhvr>
                                        <p:cTn id="10" dur="500"/>
                                        <p:tgtEl>
                                          <p:spTgt spid="4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6"/>
                                        </p:tgtEl>
                                        <p:attrNameLst>
                                          <p:attrName>style.visibility</p:attrName>
                                        </p:attrNameLst>
                                      </p:cBhvr>
                                      <p:to>
                                        <p:strVal val="visible"/>
                                      </p:to>
                                    </p:set>
                                    <p:animEffect transition="in" filter="fade">
                                      <p:cBhvr>
                                        <p:cTn id="16" dur="500"/>
                                        <p:tgtEl>
                                          <p:spTgt spid="7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childTnLst>
                          </p:cTn>
                        </p:par>
                        <p:par>
                          <p:cTn id="23" fill="hold">
                            <p:stCondLst>
                              <p:cond delay="500"/>
                            </p:stCondLst>
                            <p:childTnLst>
                              <p:par>
                                <p:cTn id="24" presetID="0" presetClass="path" presetSubtype="0" repeatCount="indefinite" decel="14000" fill="hold" grpId="1" nodeType="afterEffect">
                                  <p:stCondLst>
                                    <p:cond delay="1000"/>
                                  </p:stCondLst>
                                  <p:endCondLst>
                                    <p:cond evt="onNext" delay="0">
                                      <p:tgtEl>
                                        <p:sldTgt/>
                                      </p:tgtEl>
                                    </p:cond>
                                  </p:endCondLst>
                                  <p:childTnLst>
                                    <p:animMotion origin="layout" path="M 3.61111E-6 2.22222E-6 L 0.14236 2.22222E-6 L 0.18403 0.06713 L 0.22743 0.06713 L 0.24514 0.18518 L 0.29115 0.18518 L 0.33108 0.23842 " pathEditMode="relative" ptsTypes="AAAAAAA">
                                      <p:cBhvr>
                                        <p:cTn id="25" dur="8000" fill="hold"/>
                                        <p:tgtEl>
                                          <p:spTgt spid="76"/>
                                        </p:tgtEl>
                                        <p:attrNameLst>
                                          <p:attrName>ppt_x</p:attrName>
                                          <p:attrName>ppt_y</p:attrName>
                                        </p:attrNameLst>
                                      </p:cBhvr>
                                    </p:animMotion>
                                  </p:childTnLst>
                                </p:cTn>
                              </p:par>
                              <p:par>
                                <p:cTn id="26" presetID="10" presetClass="entr" presetSubtype="0" fill="hold" nodeType="withEffect">
                                  <p:stCondLst>
                                    <p:cond delay="6000"/>
                                  </p:stCondLst>
                                  <p:childTnLst>
                                    <p:set>
                                      <p:cBhvr>
                                        <p:cTn id="27" dur="1" fill="hold">
                                          <p:stCondLst>
                                            <p:cond delay="0"/>
                                          </p:stCondLst>
                                        </p:cTn>
                                        <p:tgtEl>
                                          <p:spTgt spid="112">
                                            <p:txEl>
                                              <p:pRg st="0" end="0"/>
                                            </p:txEl>
                                          </p:spTgt>
                                        </p:tgtEl>
                                        <p:attrNameLst>
                                          <p:attrName>style.visibility</p:attrName>
                                        </p:attrNameLst>
                                      </p:cBhvr>
                                      <p:to>
                                        <p:strVal val="visible"/>
                                      </p:to>
                                    </p:set>
                                    <p:animEffect transition="in" filter="fade">
                                      <p:cBhvr>
                                        <p:cTn id="28" dur="500"/>
                                        <p:tgtEl>
                                          <p:spTgt spid="112">
                                            <p:txEl>
                                              <p:pRg st="0" end="0"/>
                                            </p:txEl>
                                          </p:spTgt>
                                        </p:tgtEl>
                                      </p:cBhvr>
                                    </p:animEffect>
                                  </p:childTnLst>
                                </p:cTn>
                              </p:par>
                              <p:par>
                                <p:cTn id="29" presetID="10" presetClass="entr" presetSubtype="0" fill="hold" nodeType="withEffect">
                                  <p:stCondLst>
                                    <p:cond delay="10000"/>
                                  </p:stCondLst>
                                  <p:childTnLst>
                                    <p:set>
                                      <p:cBhvr>
                                        <p:cTn id="30" dur="1" fill="hold">
                                          <p:stCondLst>
                                            <p:cond delay="0"/>
                                          </p:stCondLst>
                                        </p:cTn>
                                        <p:tgtEl>
                                          <p:spTgt spid="112">
                                            <p:txEl>
                                              <p:pRg st="1" end="1"/>
                                            </p:txEl>
                                          </p:spTgt>
                                        </p:tgtEl>
                                        <p:attrNameLst>
                                          <p:attrName>style.visibility</p:attrName>
                                        </p:attrNameLst>
                                      </p:cBhvr>
                                      <p:to>
                                        <p:strVal val="visible"/>
                                      </p:to>
                                    </p:set>
                                    <p:animEffect transition="in" filter="fade">
                                      <p:cBhvr>
                                        <p:cTn id="31" dur="500"/>
                                        <p:tgtEl>
                                          <p:spTgt spid="11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3" grpId="0" animBg="1"/>
      <p:bldP spid="17" grpId="0" animBg="1"/>
      <p:bldP spid="76" grpId="0" animBg="1"/>
      <p:bldP spid="76"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Freeform 107"/>
          <p:cNvSpPr/>
          <p:nvPr/>
        </p:nvSpPr>
        <p:spPr>
          <a:xfrm>
            <a:off x="1752601" y="914401"/>
            <a:ext cx="3048000" cy="1638300"/>
          </a:xfrm>
          <a:custGeom>
            <a:avLst/>
            <a:gdLst>
              <a:gd name="connsiteX0" fmla="*/ 0 w 3048000"/>
              <a:gd name="connsiteY0" fmla="*/ 0 h 1638300"/>
              <a:gd name="connsiteX1" fmla="*/ 1325880 w 3048000"/>
              <a:gd name="connsiteY1" fmla="*/ 0 h 1638300"/>
              <a:gd name="connsiteX2" fmla="*/ 1699260 w 3048000"/>
              <a:gd name="connsiteY2" fmla="*/ 457200 h 1638300"/>
              <a:gd name="connsiteX3" fmla="*/ 2103120 w 3048000"/>
              <a:gd name="connsiteY3" fmla="*/ 457200 h 1638300"/>
              <a:gd name="connsiteX4" fmla="*/ 2255520 w 3048000"/>
              <a:gd name="connsiteY4" fmla="*/ 1264920 h 1638300"/>
              <a:gd name="connsiteX5" fmla="*/ 2689860 w 3048000"/>
              <a:gd name="connsiteY5" fmla="*/ 1264920 h 1638300"/>
              <a:gd name="connsiteX6" fmla="*/ 3048000 w 3048000"/>
              <a:gd name="connsiteY6" fmla="*/ 1638300 h 163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48000" h="1638300">
                <a:moveTo>
                  <a:pt x="0" y="0"/>
                </a:moveTo>
                <a:lnTo>
                  <a:pt x="1325880" y="0"/>
                </a:lnTo>
                <a:lnTo>
                  <a:pt x="1699260" y="457200"/>
                </a:lnTo>
                <a:lnTo>
                  <a:pt x="2103120" y="457200"/>
                </a:lnTo>
                <a:lnTo>
                  <a:pt x="2255520" y="1264920"/>
                </a:lnTo>
                <a:lnTo>
                  <a:pt x="2689860" y="1264920"/>
                </a:lnTo>
                <a:lnTo>
                  <a:pt x="3048000" y="1638300"/>
                </a:lnTo>
              </a:path>
            </a:pathLst>
          </a:custGeom>
          <a:noFill/>
          <a:ln w="50800">
            <a:solidFill>
              <a:schemeClr val="tx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4" name="Rounded Rectangle 3"/>
          <p:cNvSpPr/>
          <p:nvPr/>
        </p:nvSpPr>
        <p:spPr>
          <a:xfrm>
            <a:off x="5760244" y="1675522"/>
            <a:ext cx="1255058" cy="824753"/>
          </a:xfrm>
          <a:prstGeom prst="roundRect">
            <a:avLst/>
          </a:prstGeom>
          <a:solidFill>
            <a:srgbClr val="D0CECE">
              <a:alpha val="74902"/>
            </a:srgbClr>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5" name="Rounded Rectangle 4"/>
          <p:cNvSpPr/>
          <p:nvPr/>
        </p:nvSpPr>
        <p:spPr>
          <a:xfrm>
            <a:off x="1398116" y="1271190"/>
            <a:ext cx="1255058" cy="824753"/>
          </a:xfrm>
          <a:prstGeom prst="roundRect">
            <a:avLst/>
          </a:prstGeom>
          <a:solidFill>
            <a:srgbClr val="D0CECE">
              <a:alpha val="74902"/>
            </a:srgbClr>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6" name="Rounded Rectangle 5"/>
          <p:cNvSpPr/>
          <p:nvPr/>
        </p:nvSpPr>
        <p:spPr>
          <a:xfrm>
            <a:off x="2858616" y="778030"/>
            <a:ext cx="1255058" cy="824753"/>
          </a:xfrm>
          <a:prstGeom prst="roundRect">
            <a:avLst/>
          </a:prstGeom>
          <a:solidFill>
            <a:srgbClr val="D0CECE">
              <a:alpha val="74902"/>
            </a:srgbClr>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7" name="Rounded Rectangle 6"/>
          <p:cNvSpPr/>
          <p:nvPr/>
        </p:nvSpPr>
        <p:spPr>
          <a:xfrm>
            <a:off x="5508706" y="1523209"/>
            <a:ext cx="1255058" cy="824753"/>
          </a:xfrm>
          <a:prstGeom prst="roundRect">
            <a:avLst/>
          </a:prstGeom>
          <a:solidFill>
            <a:srgbClr val="D0CECE">
              <a:alpha val="74902"/>
            </a:srgbClr>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8" name="Rounded Rectangle 7"/>
          <p:cNvSpPr/>
          <p:nvPr/>
        </p:nvSpPr>
        <p:spPr>
          <a:xfrm>
            <a:off x="3778844" y="1953852"/>
            <a:ext cx="1255058" cy="824753"/>
          </a:xfrm>
          <a:prstGeom prst="roundRect">
            <a:avLst/>
          </a:prstGeom>
          <a:solidFill>
            <a:srgbClr val="D0CECE">
              <a:alpha val="74902"/>
            </a:srgbClr>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29" name="Freeform 28"/>
          <p:cNvSpPr/>
          <p:nvPr/>
        </p:nvSpPr>
        <p:spPr>
          <a:xfrm>
            <a:off x="1021080" y="1013460"/>
            <a:ext cx="4549140" cy="762000"/>
          </a:xfrm>
          <a:custGeom>
            <a:avLst/>
            <a:gdLst>
              <a:gd name="connsiteX0" fmla="*/ 0 w 4549140"/>
              <a:gd name="connsiteY0" fmla="*/ 480060 h 762000"/>
              <a:gd name="connsiteX1" fmla="*/ 1028700 w 4549140"/>
              <a:gd name="connsiteY1" fmla="*/ 480060 h 762000"/>
              <a:gd name="connsiteX2" fmla="*/ 1805940 w 4549140"/>
              <a:gd name="connsiteY2" fmla="*/ 0 h 762000"/>
              <a:gd name="connsiteX3" fmla="*/ 2773680 w 4549140"/>
              <a:gd name="connsiteY3" fmla="*/ 0 h 762000"/>
              <a:gd name="connsiteX4" fmla="*/ 3025140 w 4549140"/>
              <a:gd name="connsiteY4" fmla="*/ 762000 h 762000"/>
              <a:gd name="connsiteX5" fmla="*/ 4549140 w 4549140"/>
              <a:gd name="connsiteY5" fmla="*/ 762000 h 76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49140" h="762000">
                <a:moveTo>
                  <a:pt x="0" y="480060"/>
                </a:moveTo>
                <a:lnTo>
                  <a:pt x="1028700" y="480060"/>
                </a:lnTo>
                <a:lnTo>
                  <a:pt x="1805940" y="0"/>
                </a:lnTo>
                <a:lnTo>
                  <a:pt x="2773680" y="0"/>
                </a:lnTo>
                <a:lnTo>
                  <a:pt x="3025140" y="762000"/>
                </a:lnTo>
                <a:lnTo>
                  <a:pt x="4549140" y="762000"/>
                </a:lnTo>
              </a:path>
            </a:pathLst>
          </a:custGeom>
          <a:noFill/>
          <a:ln w="50800">
            <a:solidFill>
              <a:schemeClr val="accent2"/>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8" name="Freeform 17"/>
          <p:cNvSpPr/>
          <p:nvPr/>
        </p:nvSpPr>
        <p:spPr>
          <a:xfrm>
            <a:off x="1021080" y="1013460"/>
            <a:ext cx="4549140" cy="762000"/>
          </a:xfrm>
          <a:custGeom>
            <a:avLst/>
            <a:gdLst>
              <a:gd name="connsiteX0" fmla="*/ 0 w 4549140"/>
              <a:gd name="connsiteY0" fmla="*/ 480060 h 762000"/>
              <a:gd name="connsiteX1" fmla="*/ 1028700 w 4549140"/>
              <a:gd name="connsiteY1" fmla="*/ 480060 h 762000"/>
              <a:gd name="connsiteX2" fmla="*/ 1805940 w 4549140"/>
              <a:gd name="connsiteY2" fmla="*/ 0 h 762000"/>
              <a:gd name="connsiteX3" fmla="*/ 2773680 w 4549140"/>
              <a:gd name="connsiteY3" fmla="*/ 0 h 762000"/>
              <a:gd name="connsiteX4" fmla="*/ 3025140 w 4549140"/>
              <a:gd name="connsiteY4" fmla="*/ 762000 h 762000"/>
              <a:gd name="connsiteX5" fmla="*/ 4549140 w 4549140"/>
              <a:gd name="connsiteY5" fmla="*/ 762000 h 76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49140" h="762000">
                <a:moveTo>
                  <a:pt x="0" y="480060"/>
                </a:moveTo>
                <a:lnTo>
                  <a:pt x="1028700" y="480060"/>
                </a:lnTo>
                <a:lnTo>
                  <a:pt x="1805940" y="0"/>
                </a:lnTo>
                <a:lnTo>
                  <a:pt x="2773680" y="0"/>
                </a:lnTo>
                <a:lnTo>
                  <a:pt x="3025140" y="762000"/>
                </a:lnTo>
                <a:lnTo>
                  <a:pt x="4549140" y="762000"/>
                </a:lnTo>
              </a:path>
            </a:pathLst>
          </a:custGeom>
          <a:noFill/>
          <a:ln w="50800">
            <a:solidFill>
              <a:schemeClr val="tx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9" name="Rounded Rectangle 8"/>
          <p:cNvSpPr/>
          <p:nvPr/>
        </p:nvSpPr>
        <p:spPr>
          <a:xfrm>
            <a:off x="5257173" y="1370904"/>
            <a:ext cx="1255058" cy="824753"/>
          </a:xfrm>
          <a:prstGeom prst="roundRect">
            <a:avLst/>
          </a:prstGeom>
          <a:solidFill>
            <a:srgbClr val="D0CECE">
              <a:alpha val="74902"/>
            </a:srgbClr>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9" name="Freeform 18"/>
          <p:cNvSpPr/>
          <p:nvPr/>
        </p:nvSpPr>
        <p:spPr>
          <a:xfrm>
            <a:off x="1021080" y="1569720"/>
            <a:ext cx="5273040" cy="541020"/>
          </a:xfrm>
          <a:custGeom>
            <a:avLst/>
            <a:gdLst>
              <a:gd name="connsiteX0" fmla="*/ 0 w 5341620"/>
              <a:gd name="connsiteY0" fmla="*/ 0 h 541020"/>
              <a:gd name="connsiteX1" fmla="*/ 1097280 w 5341620"/>
              <a:gd name="connsiteY1" fmla="*/ 0 h 541020"/>
              <a:gd name="connsiteX2" fmla="*/ 1638300 w 5341620"/>
              <a:gd name="connsiteY2" fmla="*/ 541020 h 541020"/>
              <a:gd name="connsiteX3" fmla="*/ 3962400 w 5341620"/>
              <a:gd name="connsiteY3" fmla="*/ 541020 h 541020"/>
              <a:gd name="connsiteX4" fmla="*/ 4419600 w 5341620"/>
              <a:gd name="connsiteY4" fmla="*/ 411480 h 541020"/>
              <a:gd name="connsiteX5" fmla="*/ 5341620 w 5341620"/>
              <a:gd name="connsiteY5" fmla="*/ 411480 h 541020"/>
              <a:gd name="connsiteX0" fmla="*/ 0 w 5341620"/>
              <a:gd name="connsiteY0" fmla="*/ 0 h 541020"/>
              <a:gd name="connsiteX1" fmla="*/ 647700 w 5341620"/>
              <a:gd name="connsiteY1" fmla="*/ 0 h 541020"/>
              <a:gd name="connsiteX2" fmla="*/ 1097280 w 5341620"/>
              <a:gd name="connsiteY2" fmla="*/ 0 h 541020"/>
              <a:gd name="connsiteX3" fmla="*/ 1638300 w 5341620"/>
              <a:gd name="connsiteY3" fmla="*/ 541020 h 541020"/>
              <a:gd name="connsiteX4" fmla="*/ 3962400 w 5341620"/>
              <a:gd name="connsiteY4" fmla="*/ 541020 h 541020"/>
              <a:gd name="connsiteX5" fmla="*/ 4419600 w 5341620"/>
              <a:gd name="connsiteY5" fmla="*/ 411480 h 541020"/>
              <a:gd name="connsiteX6" fmla="*/ 5341620 w 5341620"/>
              <a:gd name="connsiteY6" fmla="*/ 411480 h 541020"/>
              <a:gd name="connsiteX0" fmla="*/ 0 w 5265420"/>
              <a:gd name="connsiteY0" fmla="*/ 403860 h 541020"/>
              <a:gd name="connsiteX1" fmla="*/ 571500 w 5265420"/>
              <a:gd name="connsiteY1" fmla="*/ 0 h 541020"/>
              <a:gd name="connsiteX2" fmla="*/ 1021080 w 5265420"/>
              <a:gd name="connsiteY2" fmla="*/ 0 h 541020"/>
              <a:gd name="connsiteX3" fmla="*/ 1562100 w 5265420"/>
              <a:gd name="connsiteY3" fmla="*/ 541020 h 541020"/>
              <a:gd name="connsiteX4" fmla="*/ 3886200 w 5265420"/>
              <a:gd name="connsiteY4" fmla="*/ 541020 h 541020"/>
              <a:gd name="connsiteX5" fmla="*/ 4343400 w 5265420"/>
              <a:gd name="connsiteY5" fmla="*/ 411480 h 541020"/>
              <a:gd name="connsiteX6" fmla="*/ 5265420 w 5265420"/>
              <a:gd name="connsiteY6" fmla="*/ 411480 h 541020"/>
              <a:gd name="connsiteX0" fmla="*/ 0 w 5273040"/>
              <a:gd name="connsiteY0" fmla="*/ 502920 h 541020"/>
              <a:gd name="connsiteX1" fmla="*/ 579120 w 5273040"/>
              <a:gd name="connsiteY1" fmla="*/ 0 h 541020"/>
              <a:gd name="connsiteX2" fmla="*/ 1028700 w 5273040"/>
              <a:gd name="connsiteY2" fmla="*/ 0 h 541020"/>
              <a:gd name="connsiteX3" fmla="*/ 1569720 w 5273040"/>
              <a:gd name="connsiteY3" fmla="*/ 541020 h 541020"/>
              <a:gd name="connsiteX4" fmla="*/ 3893820 w 5273040"/>
              <a:gd name="connsiteY4" fmla="*/ 541020 h 541020"/>
              <a:gd name="connsiteX5" fmla="*/ 4351020 w 5273040"/>
              <a:gd name="connsiteY5" fmla="*/ 411480 h 541020"/>
              <a:gd name="connsiteX6" fmla="*/ 5273040 w 5273040"/>
              <a:gd name="connsiteY6" fmla="*/ 411480 h 541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3040" h="541020">
                <a:moveTo>
                  <a:pt x="0" y="502920"/>
                </a:moveTo>
                <a:lnTo>
                  <a:pt x="579120" y="0"/>
                </a:lnTo>
                <a:lnTo>
                  <a:pt x="1028700" y="0"/>
                </a:lnTo>
                <a:lnTo>
                  <a:pt x="1569720" y="541020"/>
                </a:lnTo>
                <a:lnTo>
                  <a:pt x="3893820" y="541020"/>
                </a:lnTo>
                <a:lnTo>
                  <a:pt x="4351020" y="411480"/>
                </a:lnTo>
                <a:lnTo>
                  <a:pt x="5273040" y="411480"/>
                </a:lnTo>
              </a:path>
            </a:pathLst>
          </a:custGeom>
          <a:noFill/>
          <a:ln w="50800">
            <a:solidFill>
              <a:srgbClr val="4472C4"/>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20" name="Freeform 19"/>
          <p:cNvSpPr/>
          <p:nvPr/>
        </p:nvSpPr>
        <p:spPr>
          <a:xfrm>
            <a:off x="3985260" y="1569720"/>
            <a:ext cx="1485900" cy="0"/>
          </a:xfrm>
          <a:custGeom>
            <a:avLst/>
            <a:gdLst>
              <a:gd name="connsiteX0" fmla="*/ 0 w 1485900"/>
              <a:gd name="connsiteY0" fmla="*/ 0 h 0"/>
              <a:gd name="connsiteX1" fmla="*/ 1485900 w 1485900"/>
              <a:gd name="connsiteY1" fmla="*/ 0 h 0"/>
            </a:gdLst>
            <a:ahLst/>
            <a:cxnLst>
              <a:cxn ang="0">
                <a:pos x="connsiteX0" y="connsiteY0"/>
              </a:cxn>
              <a:cxn ang="0">
                <a:pos x="connsiteX1" y="connsiteY1"/>
              </a:cxn>
            </a:cxnLst>
            <a:rect l="l" t="t" r="r" b="b"/>
            <a:pathLst>
              <a:path w="1485900">
                <a:moveTo>
                  <a:pt x="0" y="0"/>
                </a:moveTo>
                <a:lnTo>
                  <a:pt x="1485900" y="0"/>
                </a:lnTo>
              </a:path>
            </a:pathLst>
          </a:custGeom>
          <a:noFill/>
          <a:ln w="50800">
            <a:solidFill>
              <a:schemeClr val="accent2"/>
            </a:solidFill>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dirty="0"/>
          </a:p>
        </p:txBody>
      </p:sp>
      <p:sp>
        <p:nvSpPr>
          <p:cNvPr id="13" name="Freeform 12"/>
          <p:cNvSpPr/>
          <p:nvPr/>
        </p:nvSpPr>
        <p:spPr>
          <a:xfrm>
            <a:off x="1121977" y="670347"/>
            <a:ext cx="323462" cy="37800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rgbClr val="70AD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4" name="Freeform 13"/>
          <p:cNvSpPr/>
          <p:nvPr/>
        </p:nvSpPr>
        <p:spPr>
          <a:xfrm>
            <a:off x="586073" y="1297517"/>
            <a:ext cx="323462" cy="37800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5" name="Freeform 14"/>
          <p:cNvSpPr/>
          <p:nvPr/>
        </p:nvSpPr>
        <p:spPr>
          <a:xfrm>
            <a:off x="568581" y="1890717"/>
            <a:ext cx="323462" cy="37800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nvGrpSpPr>
          <p:cNvPr id="43" name="Group 42"/>
          <p:cNvGrpSpPr/>
          <p:nvPr/>
        </p:nvGrpSpPr>
        <p:grpSpPr>
          <a:xfrm>
            <a:off x="568582" y="670347"/>
            <a:ext cx="6446721" cy="2108257"/>
            <a:chOff x="568581" y="670347"/>
            <a:chExt cx="6446721" cy="2108257"/>
          </a:xfrm>
        </p:grpSpPr>
        <p:grpSp>
          <p:nvGrpSpPr>
            <p:cNvPr id="42" name="Group 41"/>
            <p:cNvGrpSpPr/>
            <p:nvPr/>
          </p:nvGrpSpPr>
          <p:grpSpPr>
            <a:xfrm>
              <a:off x="1021080" y="914400"/>
              <a:ext cx="5273040" cy="1638300"/>
              <a:chOff x="1021080" y="914400"/>
              <a:chExt cx="5273040" cy="1638300"/>
            </a:xfrm>
          </p:grpSpPr>
          <p:sp>
            <p:nvSpPr>
              <p:cNvPr id="31" name="Freeform 30" hidden="1"/>
              <p:cNvSpPr/>
              <p:nvPr/>
            </p:nvSpPr>
            <p:spPr>
              <a:xfrm>
                <a:off x="1752600" y="914400"/>
                <a:ext cx="3048000" cy="1638300"/>
              </a:xfrm>
              <a:custGeom>
                <a:avLst/>
                <a:gdLst>
                  <a:gd name="connsiteX0" fmla="*/ 0 w 3048000"/>
                  <a:gd name="connsiteY0" fmla="*/ 0 h 1638300"/>
                  <a:gd name="connsiteX1" fmla="*/ 1325880 w 3048000"/>
                  <a:gd name="connsiteY1" fmla="*/ 0 h 1638300"/>
                  <a:gd name="connsiteX2" fmla="*/ 1699260 w 3048000"/>
                  <a:gd name="connsiteY2" fmla="*/ 457200 h 1638300"/>
                  <a:gd name="connsiteX3" fmla="*/ 2103120 w 3048000"/>
                  <a:gd name="connsiteY3" fmla="*/ 457200 h 1638300"/>
                  <a:gd name="connsiteX4" fmla="*/ 2255520 w 3048000"/>
                  <a:gd name="connsiteY4" fmla="*/ 1264920 h 1638300"/>
                  <a:gd name="connsiteX5" fmla="*/ 2689860 w 3048000"/>
                  <a:gd name="connsiteY5" fmla="*/ 1264920 h 1638300"/>
                  <a:gd name="connsiteX6" fmla="*/ 3048000 w 3048000"/>
                  <a:gd name="connsiteY6" fmla="*/ 1638300 h 163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48000" h="1638300">
                    <a:moveTo>
                      <a:pt x="0" y="0"/>
                    </a:moveTo>
                    <a:lnTo>
                      <a:pt x="1325880" y="0"/>
                    </a:lnTo>
                    <a:lnTo>
                      <a:pt x="1699260" y="457200"/>
                    </a:lnTo>
                    <a:lnTo>
                      <a:pt x="2103120" y="457200"/>
                    </a:lnTo>
                    <a:lnTo>
                      <a:pt x="2255520" y="1264920"/>
                    </a:lnTo>
                    <a:lnTo>
                      <a:pt x="2689860" y="1264920"/>
                    </a:lnTo>
                    <a:lnTo>
                      <a:pt x="3048000" y="1638300"/>
                    </a:lnTo>
                  </a:path>
                </a:pathLst>
              </a:custGeom>
              <a:noFill/>
              <a:ln w="50800">
                <a:solidFill>
                  <a:schemeClr val="tx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32" name="Freeform 31"/>
              <p:cNvSpPr/>
              <p:nvPr/>
            </p:nvSpPr>
            <p:spPr>
              <a:xfrm>
                <a:off x="1021080" y="1569720"/>
                <a:ext cx="5273040" cy="541020"/>
              </a:xfrm>
              <a:custGeom>
                <a:avLst/>
                <a:gdLst>
                  <a:gd name="connsiteX0" fmla="*/ 0 w 5341620"/>
                  <a:gd name="connsiteY0" fmla="*/ 0 h 541020"/>
                  <a:gd name="connsiteX1" fmla="*/ 1097280 w 5341620"/>
                  <a:gd name="connsiteY1" fmla="*/ 0 h 541020"/>
                  <a:gd name="connsiteX2" fmla="*/ 1638300 w 5341620"/>
                  <a:gd name="connsiteY2" fmla="*/ 541020 h 541020"/>
                  <a:gd name="connsiteX3" fmla="*/ 3962400 w 5341620"/>
                  <a:gd name="connsiteY3" fmla="*/ 541020 h 541020"/>
                  <a:gd name="connsiteX4" fmla="*/ 4419600 w 5341620"/>
                  <a:gd name="connsiteY4" fmla="*/ 411480 h 541020"/>
                  <a:gd name="connsiteX5" fmla="*/ 5341620 w 5341620"/>
                  <a:gd name="connsiteY5" fmla="*/ 411480 h 541020"/>
                  <a:gd name="connsiteX0" fmla="*/ 0 w 5341620"/>
                  <a:gd name="connsiteY0" fmla="*/ 0 h 541020"/>
                  <a:gd name="connsiteX1" fmla="*/ 647700 w 5341620"/>
                  <a:gd name="connsiteY1" fmla="*/ 0 h 541020"/>
                  <a:gd name="connsiteX2" fmla="*/ 1097280 w 5341620"/>
                  <a:gd name="connsiteY2" fmla="*/ 0 h 541020"/>
                  <a:gd name="connsiteX3" fmla="*/ 1638300 w 5341620"/>
                  <a:gd name="connsiteY3" fmla="*/ 541020 h 541020"/>
                  <a:gd name="connsiteX4" fmla="*/ 3962400 w 5341620"/>
                  <a:gd name="connsiteY4" fmla="*/ 541020 h 541020"/>
                  <a:gd name="connsiteX5" fmla="*/ 4419600 w 5341620"/>
                  <a:gd name="connsiteY5" fmla="*/ 411480 h 541020"/>
                  <a:gd name="connsiteX6" fmla="*/ 5341620 w 5341620"/>
                  <a:gd name="connsiteY6" fmla="*/ 411480 h 541020"/>
                  <a:gd name="connsiteX0" fmla="*/ 0 w 5265420"/>
                  <a:gd name="connsiteY0" fmla="*/ 403860 h 541020"/>
                  <a:gd name="connsiteX1" fmla="*/ 571500 w 5265420"/>
                  <a:gd name="connsiteY1" fmla="*/ 0 h 541020"/>
                  <a:gd name="connsiteX2" fmla="*/ 1021080 w 5265420"/>
                  <a:gd name="connsiteY2" fmla="*/ 0 h 541020"/>
                  <a:gd name="connsiteX3" fmla="*/ 1562100 w 5265420"/>
                  <a:gd name="connsiteY3" fmla="*/ 541020 h 541020"/>
                  <a:gd name="connsiteX4" fmla="*/ 3886200 w 5265420"/>
                  <a:gd name="connsiteY4" fmla="*/ 541020 h 541020"/>
                  <a:gd name="connsiteX5" fmla="*/ 4343400 w 5265420"/>
                  <a:gd name="connsiteY5" fmla="*/ 411480 h 541020"/>
                  <a:gd name="connsiteX6" fmla="*/ 5265420 w 5265420"/>
                  <a:gd name="connsiteY6" fmla="*/ 411480 h 541020"/>
                  <a:gd name="connsiteX0" fmla="*/ 0 w 5273040"/>
                  <a:gd name="connsiteY0" fmla="*/ 502920 h 541020"/>
                  <a:gd name="connsiteX1" fmla="*/ 579120 w 5273040"/>
                  <a:gd name="connsiteY1" fmla="*/ 0 h 541020"/>
                  <a:gd name="connsiteX2" fmla="*/ 1028700 w 5273040"/>
                  <a:gd name="connsiteY2" fmla="*/ 0 h 541020"/>
                  <a:gd name="connsiteX3" fmla="*/ 1569720 w 5273040"/>
                  <a:gd name="connsiteY3" fmla="*/ 541020 h 541020"/>
                  <a:gd name="connsiteX4" fmla="*/ 3893820 w 5273040"/>
                  <a:gd name="connsiteY4" fmla="*/ 541020 h 541020"/>
                  <a:gd name="connsiteX5" fmla="*/ 4351020 w 5273040"/>
                  <a:gd name="connsiteY5" fmla="*/ 411480 h 541020"/>
                  <a:gd name="connsiteX6" fmla="*/ 5273040 w 5273040"/>
                  <a:gd name="connsiteY6" fmla="*/ 411480 h 541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3040" h="541020">
                    <a:moveTo>
                      <a:pt x="0" y="502920"/>
                    </a:moveTo>
                    <a:lnTo>
                      <a:pt x="579120" y="0"/>
                    </a:lnTo>
                    <a:lnTo>
                      <a:pt x="1028700" y="0"/>
                    </a:lnTo>
                    <a:lnTo>
                      <a:pt x="1569720" y="541020"/>
                    </a:lnTo>
                    <a:lnTo>
                      <a:pt x="3893820" y="541020"/>
                    </a:lnTo>
                    <a:lnTo>
                      <a:pt x="4351020" y="411480"/>
                    </a:lnTo>
                    <a:lnTo>
                      <a:pt x="5273040" y="411480"/>
                    </a:lnTo>
                  </a:path>
                </a:pathLst>
              </a:custGeom>
              <a:noFill/>
              <a:ln w="50800">
                <a:solidFill>
                  <a:schemeClr val="tx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33" name="Freeform 32"/>
              <p:cNvSpPr/>
              <p:nvPr/>
            </p:nvSpPr>
            <p:spPr>
              <a:xfrm>
                <a:off x="3985260" y="1569720"/>
                <a:ext cx="1485900" cy="0"/>
              </a:xfrm>
              <a:custGeom>
                <a:avLst/>
                <a:gdLst>
                  <a:gd name="connsiteX0" fmla="*/ 0 w 1485900"/>
                  <a:gd name="connsiteY0" fmla="*/ 0 h 0"/>
                  <a:gd name="connsiteX1" fmla="*/ 1485900 w 1485900"/>
                  <a:gd name="connsiteY1" fmla="*/ 0 h 0"/>
                </a:gdLst>
                <a:ahLst/>
                <a:cxnLst>
                  <a:cxn ang="0">
                    <a:pos x="connsiteX0" y="connsiteY0"/>
                  </a:cxn>
                  <a:cxn ang="0">
                    <a:pos x="connsiteX1" y="connsiteY1"/>
                  </a:cxn>
                </a:cxnLst>
                <a:rect l="l" t="t" r="r" b="b"/>
                <a:pathLst>
                  <a:path w="1485900">
                    <a:moveTo>
                      <a:pt x="0" y="0"/>
                    </a:moveTo>
                    <a:lnTo>
                      <a:pt x="1485900" y="0"/>
                    </a:lnTo>
                  </a:path>
                </a:pathLst>
              </a:custGeom>
              <a:noFill/>
              <a:ln w="50800">
                <a:solidFill>
                  <a:schemeClr val="tx1"/>
                </a:solidFill>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dirty="0"/>
              </a:p>
            </p:txBody>
          </p:sp>
        </p:grpSp>
        <p:grpSp>
          <p:nvGrpSpPr>
            <p:cNvPr id="37" name="Group 36"/>
            <p:cNvGrpSpPr/>
            <p:nvPr/>
          </p:nvGrpSpPr>
          <p:grpSpPr>
            <a:xfrm>
              <a:off x="1398116" y="778030"/>
              <a:ext cx="5617186" cy="2000574"/>
              <a:chOff x="1398116" y="778030"/>
              <a:chExt cx="5617186" cy="2000574"/>
            </a:xfrm>
          </p:grpSpPr>
          <p:sp>
            <p:nvSpPr>
              <p:cNvPr id="24" name="Rounded Rectangle 23"/>
              <p:cNvSpPr/>
              <p:nvPr/>
            </p:nvSpPr>
            <p:spPr>
              <a:xfrm>
                <a:off x="5760244" y="1675521"/>
                <a:ext cx="1255058" cy="824753"/>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25" name="Rounded Rectangle 24"/>
              <p:cNvSpPr/>
              <p:nvPr/>
            </p:nvSpPr>
            <p:spPr>
              <a:xfrm>
                <a:off x="1398116" y="1271190"/>
                <a:ext cx="1255058" cy="824753"/>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26" name="Rounded Rectangle 25"/>
              <p:cNvSpPr/>
              <p:nvPr/>
            </p:nvSpPr>
            <p:spPr>
              <a:xfrm>
                <a:off x="2858616" y="778030"/>
                <a:ext cx="1255058" cy="824753"/>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27" name="Rounded Rectangle 26"/>
              <p:cNvSpPr/>
              <p:nvPr/>
            </p:nvSpPr>
            <p:spPr>
              <a:xfrm>
                <a:off x="5508706" y="1523209"/>
                <a:ext cx="1255058" cy="824753"/>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28" name="Rounded Rectangle 27"/>
              <p:cNvSpPr/>
              <p:nvPr/>
            </p:nvSpPr>
            <p:spPr>
              <a:xfrm>
                <a:off x="3778844" y="1953851"/>
                <a:ext cx="1255058" cy="824753"/>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30" name="Rounded Rectangle 29"/>
              <p:cNvSpPr/>
              <p:nvPr/>
            </p:nvSpPr>
            <p:spPr>
              <a:xfrm>
                <a:off x="5257173" y="1370903"/>
                <a:ext cx="1255058" cy="824753"/>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grpSp>
          <p:nvGrpSpPr>
            <p:cNvPr id="40" name="Group 39"/>
            <p:cNvGrpSpPr/>
            <p:nvPr/>
          </p:nvGrpSpPr>
          <p:grpSpPr>
            <a:xfrm>
              <a:off x="568581" y="670347"/>
              <a:ext cx="876858" cy="1598374"/>
              <a:chOff x="568581" y="670347"/>
              <a:chExt cx="876858" cy="1598374"/>
            </a:xfrm>
          </p:grpSpPr>
          <p:sp>
            <p:nvSpPr>
              <p:cNvPr id="34" name="Freeform 33" hidden="1"/>
              <p:cNvSpPr/>
              <p:nvPr/>
            </p:nvSpPr>
            <p:spPr>
              <a:xfrm>
                <a:off x="1121977" y="670347"/>
                <a:ext cx="323462" cy="37800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35" name="Freeform 34"/>
              <p:cNvSpPr/>
              <p:nvPr/>
            </p:nvSpPr>
            <p:spPr>
              <a:xfrm>
                <a:off x="586073" y="1297517"/>
                <a:ext cx="323462" cy="37800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36" name="Freeform 35"/>
              <p:cNvSpPr/>
              <p:nvPr/>
            </p:nvSpPr>
            <p:spPr>
              <a:xfrm>
                <a:off x="568581" y="1890717"/>
                <a:ext cx="323462" cy="37800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grpSp>
      <p:sp>
        <p:nvSpPr>
          <p:cNvPr id="17" name="Freeform 16"/>
          <p:cNvSpPr/>
          <p:nvPr/>
        </p:nvSpPr>
        <p:spPr>
          <a:xfrm>
            <a:off x="1752600" y="914400"/>
            <a:ext cx="3048000" cy="1638300"/>
          </a:xfrm>
          <a:custGeom>
            <a:avLst/>
            <a:gdLst>
              <a:gd name="connsiteX0" fmla="*/ 0 w 3048000"/>
              <a:gd name="connsiteY0" fmla="*/ 0 h 1638300"/>
              <a:gd name="connsiteX1" fmla="*/ 1325880 w 3048000"/>
              <a:gd name="connsiteY1" fmla="*/ 0 h 1638300"/>
              <a:gd name="connsiteX2" fmla="*/ 1699260 w 3048000"/>
              <a:gd name="connsiteY2" fmla="*/ 457200 h 1638300"/>
              <a:gd name="connsiteX3" fmla="*/ 2103120 w 3048000"/>
              <a:gd name="connsiteY3" fmla="*/ 457200 h 1638300"/>
              <a:gd name="connsiteX4" fmla="*/ 2255520 w 3048000"/>
              <a:gd name="connsiteY4" fmla="*/ 1264920 h 1638300"/>
              <a:gd name="connsiteX5" fmla="*/ 2689860 w 3048000"/>
              <a:gd name="connsiteY5" fmla="*/ 1264920 h 1638300"/>
              <a:gd name="connsiteX6" fmla="*/ 3048000 w 3048000"/>
              <a:gd name="connsiteY6" fmla="*/ 1638300 h 163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48000" h="1638300">
                <a:moveTo>
                  <a:pt x="0" y="0"/>
                </a:moveTo>
                <a:lnTo>
                  <a:pt x="1325880" y="0"/>
                </a:lnTo>
                <a:lnTo>
                  <a:pt x="1699260" y="457200"/>
                </a:lnTo>
                <a:lnTo>
                  <a:pt x="2103120" y="457200"/>
                </a:lnTo>
                <a:lnTo>
                  <a:pt x="2255520" y="1264920"/>
                </a:lnTo>
                <a:lnTo>
                  <a:pt x="2689860" y="1264920"/>
                </a:lnTo>
                <a:lnTo>
                  <a:pt x="3048000" y="1638300"/>
                </a:lnTo>
              </a:path>
            </a:pathLst>
          </a:custGeom>
          <a:noFill/>
          <a:ln w="50800">
            <a:solidFill>
              <a:schemeClr val="accent6"/>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56" name="Oval 55"/>
          <p:cNvSpPr/>
          <p:nvPr/>
        </p:nvSpPr>
        <p:spPr>
          <a:xfrm>
            <a:off x="3177363" y="1048151"/>
            <a:ext cx="217010" cy="217010"/>
          </a:xfrm>
          <a:prstGeom prst="ellipse">
            <a:avLst/>
          </a:prstGeom>
          <a:solidFill>
            <a:schemeClr val="bg1"/>
          </a:solidFill>
          <a:ln w="381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60" dirty="0">
                <a:solidFill>
                  <a:schemeClr val="tx1"/>
                </a:solidFill>
              </a:rPr>
              <a:t>A</a:t>
            </a:r>
          </a:p>
        </p:txBody>
      </p:sp>
      <p:sp>
        <p:nvSpPr>
          <p:cNvPr id="58" name="Oval 57"/>
          <p:cNvSpPr/>
          <p:nvPr/>
        </p:nvSpPr>
        <p:spPr>
          <a:xfrm>
            <a:off x="4096582" y="2055703"/>
            <a:ext cx="217010" cy="217010"/>
          </a:xfrm>
          <a:prstGeom prst="ellipse">
            <a:avLst/>
          </a:prstGeom>
          <a:solidFill>
            <a:schemeClr val="bg1"/>
          </a:solidFill>
          <a:ln w="381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60" dirty="0">
                <a:solidFill>
                  <a:schemeClr val="tx1"/>
                </a:solidFill>
              </a:rPr>
              <a:t>B</a:t>
            </a:r>
          </a:p>
        </p:txBody>
      </p:sp>
      <p:sp>
        <p:nvSpPr>
          <p:cNvPr id="76" name="Freeform 75"/>
          <p:cNvSpPr/>
          <p:nvPr/>
        </p:nvSpPr>
        <p:spPr>
          <a:xfrm flipH="1">
            <a:off x="1637647" y="534828"/>
            <a:ext cx="272422" cy="449159"/>
          </a:xfrm>
          <a:custGeom>
            <a:avLst/>
            <a:gdLst>
              <a:gd name="connsiteX0" fmla="*/ 132677 w 272422"/>
              <a:gd name="connsiteY0" fmla="*/ 284899 h 449159"/>
              <a:gd name="connsiteX1" fmla="*/ 50547 w 272422"/>
              <a:gd name="connsiteY1" fmla="*/ 367029 h 449159"/>
              <a:gd name="connsiteX2" fmla="*/ 132677 w 272422"/>
              <a:gd name="connsiteY2" fmla="*/ 449159 h 449159"/>
              <a:gd name="connsiteX3" fmla="*/ 214807 w 272422"/>
              <a:gd name="connsiteY3" fmla="*/ 367029 h 449159"/>
              <a:gd name="connsiteX4" fmla="*/ 132677 w 272422"/>
              <a:gd name="connsiteY4" fmla="*/ 284899 h 449159"/>
              <a:gd name="connsiteX5" fmla="*/ 48139 w 272422"/>
              <a:gd name="connsiteY5" fmla="*/ 52862 h 449159"/>
              <a:gd name="connsiteX6" fmla="*/ 30648 w 272422"/>
              <a:gd name="connsiteY6" fmla="*/ 52862 h 449159"/>
              <a:gd name="connsiteX7" fmla="*/ 0 w 272422"/>
              <a:gd name="connsiteY7" fmla="*/ 83510 h 449159"/>
              <a:gd name="connsiteX8" fmla="*/ 0 w 272422"/>
              <a:gd name="connsiteY8" fmla="*/ 206099 h 449159"/>
              <a:gd name="connsiteX9" fmla="*/ 30648 w 272422"/>
              <a:gd name="connsiteY9" fmla="*/ 236747 h 449159"/>
              <a:gd name="connsiteX10" fmla="*/ 48139 w 272422"/>
              <a:gd name="connsiteY10" fmla="*/ 236747 h 449159"/>
              <a:gd name="connsiteX11" fmla="*/ 241774 w 272422"/>
              <a:gd name="connsiteY11" fmla="*/ 52862 h 449159"/>
              <a:gd name="connsiteX12" fmla="*/ 224283 w 272422"/>
              <a:gd name="connsiteY12" fmla="*/ 52862 h 449159"/>
              <a:gd name="connsiteX13" fmla="*/ 224283 w 272422"/>
              <a:gd name="connsiteY13" fmla="*/ 236747 h 449159"/>
              <a:gd name="connsiteX14" fmla="*/ 241774 w 272422"/>
              <a:gd name="connsiteY14" fmla="*/ 236747 h 449159"/>
              <a:gd name="connsiteX15" fmla="*/ 272422 w 272422"/>
              <a:gd name="connsiteY15" fmla="*/ 206099 h 449159"/>
              <a:gd name="connsiteX16" fmla="*/ 272422 w 272422"/>
              <a:gd name="connsiteY16" fmla="*/ 83510 h 449159"/>
              <a:gd name="connsiteX17" fmla="*/ 241774 w 272422"/>
              <a:gd name="connsiteY17" fmla="*/ 52862 h 449159"/>
              <a:gd name="connsiteX18" fmla="*/ 136211 w 272422"/>
              <a:gd name="connsiteY18" fmla="*/ 17878 h 449159"/>
              <a:gd name="connsiteX19" fmla="*/ 171195 w 272422"/>
              <a:gd name="connsiteY19" fmla="*/ 52862 h 449159"/>
              <a:gd name="connsiteX20" fmla="*/ 101227 w 272422"/>
              <a:gd name="connsiteY20" fmla="*/ 52862 h 449159"/>
              <a:gd name="connsiteX21" fmla="*/ 136211 w 272422"/>
              <a:gd name="connsiteY21" fmla="*/ 17878 h 449159"/>
              <a:gd name="connsiteX22" fmla="*/ 136211 w 272422"/>
              <a:gd name="connsiteY22" fmla="*/ 0 h 449159"/>
              <a:gd name="connsiteX23" fmla="*/ 83350 w 272422"/>
              <a:gd name="connsiteY23" fmla="*/ 52862 h 449159"/>
              <a:gd name="connsiteX24" fmla="*/ 68204 w 272422"/>
              <a:gd name="connsiteY24" fmla="*/ 52862 h 449159"/>
              <a:gd name="connsiteX25" fmla="*/ 68204 w 272422"/>
              <a:gd name="connsiteY25" fmla="*/ 236747 h 449159"/>
              <a:gd name="connsiteX26" fmla="*/ 204218 w 272422"/>
              <a:gd name="connsiteY26" fmla="*/ 236747 h 449159"/>
              <a:gd name="connsiteX27" fmla="*/ 204218 w 272422"/>
              <a:gd name="connsiteY27" fmla="*/ 52862 h 449159"/>
              <a:gd name="connsiteX28" fmla="*/ 189073 w 272422"/>
              <a:gd name="connsiteY28" fmla="*/ 52862 h 449159"/>
              <a:gd name="connsiteX29" fmla="*/ 136211 w 272422"/>
              <a:gd name="connsiteY29" fmla="*/ 0 h 449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72422" h="449159">
                <a:moveTo>
                  <a:pt x="132677" y="284899"/>
                </a:moveTo>
                <a:cubicBezTo>
                  <a:pt x="87318" y="284899"/>
                  <a:pt x="50547" y="321670"/>
                  <a:pt x="50547" y="367029"/>
                </a:cubicBezTo>
                <a:cubicBezTo>
                  <a:pt x="50547" y="412388"/>
                  <a:pt x="87318" y="449159"/>
                  <a:pt x="132677" y="449159"/>
                </a:cubicBezTo>
                <a:cubicBezTo>
                  <a:pt x="178036" y="449159"/>
                  <a:pt x="214807" y="412388"/>
                  <a:pt x="214807" y="367029"/>
                </a:cubicBezTo>
                <a:cubicBezTo>
                  <a:pt x="214807" y="321670"/>
                  <a:pt x="178036" y="284899"/>
                  <a:pt x="132677" y="284899"/>
                </a:cubicBezTo>
                <a:close/>
                <a:moveTo>
                  <a:pt x="48139" y="52862"/>
                </a:moveTo>
                <a:lnTo>
                  <a:pt x="30648" y="52862"/>
                </a:lnTo>
                <a:cubicBezTo>
                  <a:pt x="13722" y="52862"/>
                  <a:pt x="0" y="66583"/>
                  <a:pt x="0" y="83510"/>
                </a:cubicBezTo>
                <a:lnTo>
                  <a:pt x="0" y="206099"/>
                </a:lnTo>
                <a:cubicBezTo>
                  <a:pt x="0" y="223026"/>
                  <a:pt x="13722" y="236747"/>
                  <a:pt x="30648" y="236747"/>
                </a:cubicBezTo>
                <a:lnTo>
                  <a:pt x="48139" y="236747"/>
                </a:lnTo>
                <a:close/>
                <a:moveTo>
                  <a:pt x="241774" y="52862"/>
                </a:moveTo>
                <a:lnTo>
                  <a:pt x="224283" y="52862"/>
                </a:lnTo>
                <a:lnTo>
                  <a:pt x="224283" y="236747"/>
                </a:lnTo>
                <a:lnTo>
                  <a:pt x="241774" y="236747"/>
                </a:lnTo>
                <a:cubicBezTo>
                  <a:pt x="258701" y="236747"/>
                  <a:pt x="272422" y="223026"/>
                  <a:pt x="272422" y="206099"/>
                </a:cubicBezTo>
                <a:lnTo>
                  <a:pt x="272422" y="83510"/>
                </a:lnTo>
                <a:cubicBezTo>
                  <a:pt x="272422" y="66583"/>
                  <a:pt x="258701" y="52862"/>
                  <a:pt x="241774" y="52862"/>
                </a:cubicBezTo>
                <a:close/>
                <a:moveTo>
                  <a:pt x="136211" y="17878"/>
                </a:moveTo>
                <a:cubicBezTo>
                  <a:pt x="155532" y="17878"/>
                  <a:pt x="171195" y="33540"/>
                  <a:pt x="171195" y="52862"/>
                </a:cubicBezTo>
                <a:lnTo>
                  <a:pt x="101227" y="52862"/>
                </a:lnTo>
                <a:cubicBezTo>
                  <a:pt x="101227" y="33540"/>
                  <a:pt x="116890" y="17878"/>
                  <a:pt x="136211" y="17878"/>
                </a:cubicBezTo>
                <a:close/>
                <a:moveTo>
                  <a:pt x="136211" y="0"/>
                </a:moveTo>
                <a:cubicBezTo>
                  <a:pt x="107016" y="0"/>
                  <a:pt x="83350" y="23667"/>
                  <a:pt x="83350" y="52862"/>
                </a:cubicBezTo>
                <a:lnTo>
                  <a:pt x="68204" y="52862"/>
                </a:lnTo>
                <a:lnTo>
                  <a:pt x="68204" y="236747"/>
                </a:lnTo>
                <a:lnTo>
                  <a:pt x="204218" y="236747"/>
                </a:lnTo>
                <a:lnTo>
                  <a:pt x="204218" y="52862"/>
                </a:lnTo>
                <a:lnTo>
                  <a:pt x="189073" y="52862"/>
                </a:lnTo>
                <a:cubicBezTo>
                  <a:pt x="189073" y="23667"/>
                  <a:pt x="165406" y="0"/>
                  <a:pt x="136211" y="0"/>
                </a:cubicBezTo>
                <a:close/>
              </a:path>
            </a:pathLst>
          </a:custGeom>
          <a:solidFill>
            <a:srgbClr val="70AD4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60"/>
          </a:p>
        </p:txBody>
      </p:sp>
      <p:sp>
        <p:nvSpPr>
          <p:cNvPr id="3" name="TextBox 2"/>
          <p:cNvSpPr txBox="1"/>
          <p:nvPr/>
        </p:nvSpPr>
        <p:spPr>
          <a:xfrm>
            <a:off x="3559208" y="907808"/>
            <a:ext cx="3062057" cy="400110"/>
          </a:xfrm>
          <a:prstGeom prst="rect">
            <a:avLst/>
          </a:prstGeom>
          <a:ln w="28575">
            <a:solidFill>
              <a:srgbClr val="4472C4"/>
            </a:solidFill>
            <a:prstDash val="lgDash"/>
          </a:ln>
        </p:spPr>
        <p:style>
          <a:lnRef idx="2">
            <a:schemeClr val="accent2"/>
          </a:lnRef>
          <a:fillRef idx="1">
            <a:schemeClr val="lt1"/>
          </a:fillRef>
          <a:effectRef idx="0">
            <a:schemeClr val="accent2"/>
          </a:effectRef>
          <a:fontRef idx="minor">
            <a:schemeClr val="dk1"/>
          </a:fontRef>
        </p:style>
        <p:txBody>
          <a:bodyPr wrap="none" rtlCol="0">
            <a:spAutoFit/>
          </a:bodyPr>
          <a:lstStyle/>
          <a:p>
            <a:r>
              <a:rPr lang="en-US" b="1" dirty="0" smtClean="0">
                <a:latin typeface="Times New Roman" panose="02020603050405020304" pitchFamily="18" charset="0"/>
                <a:cs typeface="Times New Roman" panose="02020603050405020304" pitchFamily="18" charset="0"/>
              </a:rPr>
              <a:t>P</a:t>
            </a:r>
            <a:r>
              <a:rPr lang="en-US" sz="1400" b="1" dirty="0" smtClean="0">
                <a:latin typeface="Times New Roman" panose="02020603050405020304" pitchFamily="18" charset="0"/>
                <a:cs typeface="Times New Roman" panose="02020603050405020304" pitchFamily="18" charset="0"/>
              </a:rPr>
              <a:t>ACK</a:t>
            </a:r>
            <a:r>
              <a:rPr lang="en-US" sz="2000" b="1" dirty="0" smtClean="0">
                <a:latin typeface="Times New Roman" panose="02020603050405020304" pitchFamily="18" charset="0"/>
                <a:cs typeface="Times New Roman" panose="02020603050405020304" pitchFamily="18" charset="0"/>
              </a:rPr>
              <a:t>(</a:t>
            </a:r>
            <a:r>
              <a:rPr lang="en-US" spc="-100" dirty="0" err="1" smtClean="0">
                <a:latin typeface="Consolas" panose="020B0609020204030204" pitchFamily="49" charset="0"/>
                <a:cs typeface="Consolas" panose="020B0609020204030204" pitchFamily="49" charset="0"/>
              </a:rPr>
              <a:t>clientName</a:t>
            </a:r>
            <a:r>
              <a:rPr lang="en-US" i="1" spc="-100" dirty="0" smtClean="0">
                <a:latin typeface="Consolas" panose="020B0609020204030204" pitchFamily="49" charset="0"/>
                <a:cs typeface="Consolas" panose="020B0609020204030204" pitchFamily="49" charset="0"/>
              </a:rPr>
              <a:t>,“</a:t>
            </a:r>
            <a:r>
              <a:rPr lang="en-US" spc="-100" dirty="0" err="1" smtClean="0">
                <a:latin typeface="Consolas" panose="020B0609020204030204" pitchFamily="49" charset="0"/>
                <a:cs typeface="Consolas" panose="020B0609020204030204" pitchFamily="49" charset="0"/>
              </a:rPr>
              <a:t>FSRead</a:t>
            </a:r>
            <a:r>
              <a:rPr lang="en-US" spc="-100" dirty="0" smtClean="0">
                <a:latin typeface="Consolas" panose="020B0609020204030204" pitchFamily="49" charset="0"/>
                <a:cs typeface="Consolas" panose="020B0609020204030204" pitchFamily="49" charset="0"/>
              </a:rPr>
              <a:t>”</a:t>
            </a:r>
            <a:r>
              <a:rPr lang="en-US" sz="2000" b="1" dirty="0" smtClean="0">
                <a:latin typeface="Times New Roman" panose="02020603050405020304" pitchFamily="18" charset="0"/>
                <a:cs typeface="Times New Roman" panose="02020603050405020304" pitchFamily="18" charset="0"/>
              </a:rPr>
              <a:t>)</a:t>
            </a:r>
            <a:endParaRPr lang="en-US" sz="2000" b="1" i="1" dirty="0">
              <a:latin typeface="Times New Roman" panose="02020603050405020304" pitchFamily="18" charset="0"/>
              <a:cs typeface="Times New Roman" panose="02020603050405020304" pitchFamily="18" charset="0"/>
            </a:endParaRPr>
          </a:p>
        </p:txBody>
      </p:sp>
      <p:cxnSp>
        <p:nvCxnSpPr>
          <p:cNvPr id="11" name="Straight Arrow Connector 10"/>
          <p:cNvCxnSpPr/>
          <p:nvPr/>
        </p:nvCxnSpPr>
        <p:spPr>
          <a:xfrm flipV="1">
            <a:off x="3285868" y="951923"/>
            <a:ext cx="0" cy="256186"/>
          </a:xfrm>
          <a:prstGeom prst="straightConnector1">
            <a:avLst/>
          </a:prstGeom>
          <a:ln w="38100">
            <a:solidFill>
              <a:srgbClr val="4472C4"/>
            </a:solidFill>
            <a:tailEnd type="triangle" w="med" len="med"/>
          </a:ln>
        </p:spPr>
        <p:style>
          <a:lnRef idx="1">
            <a:schemeClr val="accent1"/>
          </a:lnRef>
          <a:fillRef idx="0">
            <a:schemeClr val="accent1"/>
          </a:fillRef>
          <a:effectRef idx="0">
            <a:schemeClr val="accent1"/>
          </a:effectRef>
          <a:fontRef idx="minor">
            <a:schemeClr val="tx1"/>
          </a:fontRef>
        </p:style>
      </p:cxnSp>
      <p:sp>
        <p:nvSpPr>
          <p:cNvPr id="70" name="TextBox 69"/>
          <p:cNvSpPr txBox="1"/>
          <p:nvPr/>
        </p:nvSpPr>
        <p:spPr>
          <a:xfrm>
            <a:off x="4390953" y="1884724"/>
            <a:ext cx="2284087" cy="400110"/>
          </a:xfrm>
          <a:prstGeom prst="rect">
            <a:avLst/>
          </a:prstGeom>
          <a:ln w="28575">
            <a:solidFill>
              <a:srgbClr val="4472C4"/>
            </a:solidFill>
            <a:prstDash val="lgDash"/>
          </a:ln>
        </p:spPr>
        <p:style>
          <a:lnRef idx="2">
            <a:schemeClr val="accent2"/>
          </a:lnRef>
          <a:fillRef idx="1">
            <a:schemeClr val="lt1"/>
          </a:fillRef>
          <a:effectRef idx="0">
            <a:schemeClr val="accent2"/>
          </a:effectRef>
          <a:fontRef idx="minor">
            <a:schemeClr val="dk1"/>
          </a:fontRef>
        </p:style>
        <p:txBody>
          <a:bodyPr wrap="none" rtlCol="0">
            <a:spAutoFit/>
          </a:bodyPr>
          <a:lstStyle/>
          <a:p>
            <a:r>
              <a:rPr lang="en-US" b="1" dirty="0" smtClean="0">
                <a:latin typeface="Times New Roman" panose="02020603050405020304" pitchFamily="18" charset="0"/>
                <a:cs typeface="Times New Roman" panose="02020603050405020304" pitchFamily="18" charset="0"/>
              </a:rPr>
              <a:t>U</a:t>
            </a:r>
            <a:r>
              <a:rPr lang="en-US" sz="1400" b="1" dirty="0" smtClean="0">
                <a:latin typeface="Times New Roman" panose="02020603050405020304" pitchFamily="18" charset="0"/>
                <a:cs typeface="Times New Roman" panose="02020603050405020304" pitchFamily="18" charset="0"/>
              </a:rPr>
              <a:t>NPACK</a:t>
            </a:r>
            <a:r>
              <a:rPr lang="en-US" sz="2000" b="1" dirty="0" smtClean="0">
                <a:latin typeface="Times New Roman" panose="02020603050405020304" pitchFamily="18" charset="0"/>
                <a:cs typeface="Times New Roman" panose="02020603050405020304" pitchFamily="18" charset="0"/>
              </a:rPr>
              <a:t>(</a:t>
            </a:r>
            <a:r>
              <a:rPr lang="en-US" spc="-100" dirty="0" err="1" smtClean="0">
                <a:latin typeface="Consolas" panose="020B0609020204030204" pitchFamily="49" charset="0"/>
                <a:cs typeface="Consolas" panose="020B0609020204030204" pitchFamily="49" charset="0"/>
              </a:rPr>
              <a:t>clientName</a:t>
            </a:r>
            <a:r>
              <a:rPr lang="en-US" sz="2000" b="1" dirty="0" smtClean="0">
                <a:latin typeface="Times New Roman" panose="02020603050405020304" pitchFamily="18" charset="0"/>
                <a:cs typeface="Times New Roman" panose="02020603050405020304" pitchFamily="18" charset="0"/>
              </a:rPr>
              <a:t>)</a:t>
            </a:r>
            <a:endParaRPr lang="en-US" sz="2000" b="1" i="1" dirty="0">
              <a:latin typeface="Times New Roman" panose="02020603050405020304" pitchFamily="18" charset="0"/>
              <a:cs typeface="Times New Roman" panose="02020603050405020304" pitchFamily="18" charset="0"/>
            </a:endParaRPr>
          </a:p>
        </p:txBody>
      </p:sp>
      <p:sp>
        <p:nvSpPr>
          <p:cNvPr id="38" name="Freeform 37"/>
          <p:cNvSpPr/>
          <p:nvPr/>
        </p:nvSpPr>
        <p:spPr>
          <a:xfrm>
            <a:off x="4140414" y="1999703"/>
            <a:ext cx="129224" cy="207646"/>
          </a:xfrm>
          <a:custGeom>
            <a:avLst/>
            <a:gdLst>
              <a:gd name="connsiteX0" fmla="*/ 0 w 53340"/>
              <a:gd name="connsiteY0" fmla="*/ 205752 h 205752"/>
              <a:gd name="connsiteX1" fmla="*/ 30480 w 53340"/>
              <a:gd name="connsiteY1" fmla="*/ 12 h 205752"/>
              <a:gd name="connsiteX2" fmla="*/ 53340 w 53340"/>
              <a:gd name="connsiteY2" fmla="*/ 198132 h 205752"/>
              <a:gd name="connsiteX0" fmla="*/ 15957 w 91334"/>
              <a:gd name="connsiteY0" fmla="*/ 205749 h 205749"/>
              <a:gd name="connsiteX1" fmla="*/ 46437 w 91334"/>
              <a:gd name="connsiteY1" fmla="*/ 9 h 205749"/>
              <a:gd name="connsiteX2" fmla="*/ 69297 w 91334"/>
              <a:gd name="connsiteY2" fmla="*/ 198129 h 205749"/>
              <a:gd name="connsiteX0" fmla="*/ 0 w 53340"/>
              <a:gd name="connsiteY0" fmla="*/ 205741 h 207646"/>
              <a:gd name="connsiteX1" fmla="*/ 30480 w 53340"/>
              <a:gd name="connsiteY1" fmla="*/ 1 h 207646"/>
              <a:gd name="connsiteX2" fmla="*/ 53340 w 53340"/>
              <a:gd name="connsiteY2" fmla="*/ 207646 h 207646"/>
              <a:gd name="connsiteX0" fmla="*/ 22145 w 103781"/>
              <a:gd name="connsiteY0" fmla="*/ 205741 h 207646"/>
              <a:gd name="connsiteX1" fmla="*/ 52625 w 103781"/>
              <a:gd name="connsiteY1" fmla="*/ 1 h 207646"/>
              <a:gd name="connsiteX2" fmla="*/ 75485 w 103781"/>
              <a:gd name="connsiteY2" fmla="*/ 207646 h 207646"/>
              <a:gd name="connsiteX0" fmla="*/ 0 w 77153"/>
              <a:gd name="connsiteY0" fmla="*/ 205741 h 207646"/>
              <a:gd name="connsiteX1" fmla="*/ 54293 w 77153"/>
              <a:gd name="connsiteY1" fmla="*/ 1 h 207646"/>
              <a:gd name="connsiteX2" fmla="*/ 77153 w 77153"/>
              <a:gd name="connsiteY2" fmla="*/ 207646 h 207646"/>
              <a:gd name="connsiteX0" fmla="*/ 0 w 91623"/>
              <a:gd name="connsiteY0" fmla="*/ 205741 h 207646"/>
              <a:gd name="connsiteX1" fmla="*/ 54293 w 91623"/>
              <a:gd name="connsiteY1" fmla="*/ 1 h 207646"/>
              <a:gd name="connsiteX2" fmla="*/ 77153 w 91623"/>
              <a:gd name="connsiteY2" fmla="*/ 207646 h 207646"/>
              <a:gd name="connsiteX0" fmla="*/ 5549 w 97172"/>
              <a:gd name="connsiteY0" fmla="*/ 205741 h 207646"/>
              <a:gd name="connsiteX1" fmla="*/ 59842 w 97172"/>
              <a:gd name="connsiteY1" fmla="*/ 1 h 207646"/>
              <a:gd name="connsiteX2" fmla="*/ 82702 w 97172"/>
              <a:gd name="connsiteY2" fmla="*/ 207646 h 207646"/>
              <a:gd name="connsiteX0" fmla="*/ 16645 w 129224"/>
              <a:gd name="connsiteY0" fmla="*/ 205741 h 207646"/>
              <a:gd name="connsiteX1" fmla="*/ 70938 w 129224"/>
              <a:gd name="connsiteY1" fmla="*/ 1 h 207646"/>
              <a:gd name="connsiteX2" fmla="*/ 93798 w 129224"/>
              <a:gd name="connsiteY2" fmla="*/ 207646 h 207646"/>
            </a:gdLst>
            <a:ahLst/>
            <a:cxnLst>
              <a:cxn ang="0">
                <a:pos x="connsiteX0" y="connsiteY0"/>
              </a:cxn>
              <a:cxn ang="0">
                <a:pos x="connsiteX1" y="connsiteY1"/>
              </a:cxn>
              <a:cxn ang="0">
                <a:pos x="connsiteX2" y="connsiteY2"/>
              </a:cxn>
            </a:cxnLst>
            <a:rect l="l" t="t" r="r" b="b"/>
            <a:pathLst>
              <a:path w="129224" h="207646">
                <a:moveTo>
                  <a:pt x="16645" y="205741"/>
                </a:moveTo>
                <a:cubicBezTo>
                  <a:pt x="-8278" y="103506"/>
                  <a:pt x="-15740" y="-316"/>
                  <a:pt x="70938" y="1"/>
                </a:cubicBezTo>
                <a:cubicBezTo>
                  <a:pt x="157616" y="318"/>
                  <a:pt x="132057" y="103189"/>
                  <a:pt x="93798" y="207646"/>
                </a:cubicBezTo>
              </a:path>
            </a:pathLst>
          </a:custGeom>
          <a:noFill/>
          <a:ln w="38100">
            <a:solidFill>
              <a:srgbClr val="4472C4"/>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41" name="Rounded Rectangle 40"/>
          <p:cNvSpPr/>
          <p:nvPr/>
        </p:nvSpPr>
        <p:spPr>
          <a:xfrm>
            <a:off x="2431322" y="519550"/>
            <a:ext cx="1709092" cy="232481"/>
          </a:xfrm>
          <a:prstGeom prst="roundRect">
            <a:avLst>
              <a:gd name="adj" fmla="val 50000"/>
            </a:avLst>
          </a:prstGeom>
          <a:solidFill>
            <a:schemeClr val="accent1">
              <a:lumMod val="20000"/>
              <a:lumOff val="80000"/>
            </a:schemeClr>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spc="-100" dirty="0" err="1" smtClean="0">
                <a:solidFill>
                  <a:schemeClr val="tx1"/>
                </a:solidFill>
                <a:latin typeface="Consolas" panose="020B0609020204030204" pitchFamily="49" charset="0"/>
                <a:cs typeface="Consolas" panose="020B0609020204030204" pitchFamily="49" charset="0"/>
              </a:rPr>
              <a:t>clientName</a:t>
            </a:r>
            <a:r>
              <a:rPr lang="en-US" sz="1400" spc="-100" dirty="0" smtClean="0">
                <a:solidFill>
                  <a:schemeClr val="tx1"/>
                </a:solidFill>
                <a:latin typeface="Consolas" panose="020B0609020204030204" pitchFamily="49" charset="0"/>
                <a:cs typeface="Consolas" panose="020B0609020204030204" pitchFamily="49" charset="0"/>
              </a:rPr>
              <a:t>=“</a:t>
            </a:r>
            <a:r>
              <a:rPr lang="en-US" sz="1400" spc="-100" dirty="0" err="1" smtClean="0">
                <a:solidFill>
                  <a:schemeClr val="tx1"/>
                </a:solidFill>
                <a:latin typeface="Consolas" panose="020B0609020204030204" pitchFamily="49" charset="0"/>
                <a:cs typeface="Consolas" panose="020B0609020204030204" pitchFamily="49" charset="0"/>
              </a:rPr>
              <a:t>FSRead</a:t>
            </a:r>
            <a:r>
              <a:rPr lang="en-US" sz="1400" spc="-100" dirty="0" smtClean="0">
                <a:solidFill>
                  <a:schemeClr val="tx1"/>
                </a:solidFill>
                <a:latin typeface="Consolas" panose="020B0609020204030204" pitchFamily="49" charset="0"/>
                <a:cs typeface="Consolas" panose="020B0609020204030204" pitchFamily="49" charset="0"/>
              </a:rPr>
              <a:t>”</a:t>
            </a:r>
            <a:endParaRPr lang="en-US" sz="1400" spc="-100" dirty="0">
              <a:solidFill>
                <a:schemeClr val="tx1"/>
              </a:solidFill>
              <a:latin typeface="Consolas" panose="020B0609020204030204" pitchFamily="49" charset="0"/>
              <a:cs typeface="Consolas" panose="020B0609020204030204" pitchFamily="49" charset="0"/>
            </a:endParaRPr>
          </a:p>
        </p:txBody>
      </p:sp>
      <p:sp>
        <p:nvSpPr>
          <p:cNvPr id="74" name="Rounded Rectangle 73"/>
          <p:cNvSpPr/>
          <p:nvPr/>
        </p:nvSpPr>
        <p:spPr>
          <a:xfrm>
            <a:off x="3351757" y="2306849"/>
            <a:ext cx="1747638" cy="232481"/>
          </a:xfrm>
          <a:prstGeom prst="roundRect">
            <a:avLst>
              <a:gd name="adj" fmla="val 50000"/>
            </a:avLst>
          </a:prstGeom>
          <a:solidFill>
            <a:schemeClr val="bg2"/>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400" spc="-100" dirty="0" err="1" smtClean="0">
                <a:solidFill>
                  <a:schemeClr val="accent3">
                    <a:lumMod val="75000"/>
                  </a:schemeClr>
                </a:solidFill>
                <a:latin typeface="Consolas" panose="020B0609020204030204" pitchFamily="49" charset="0"/>
                <a:cs typeface="Consolas" panose="020B0609020204030204" pitchFamily="49" charset="0"/>
              </a:rPr>
              <a:t>clientName</a:t>
            </a:r>
            <a:r>
              <a:rPr lang="en-US" sz="1400" spc="-100" dirty="0" smtClean="0">
                <a:solidFill>
                  <a:schemeClr val="accent3">
                    <a:lumMod val="75000"/>
                  </a:schemeClr>
                </a:solidFill>
                <a:latin typeface="Consolas" panose="020B0609020204030204" pitchFamily="49" charset="0"/>
                <a:cs typeface="Consolas" panose="020B0609020204030204" pitchFamily="49" charset="0"/>
              </a:rPr>
              <a:t>=“</a:t>
            </a:r>
            <a:r>
              <a:rPr lang="en-US" sz="1400" spc="-100" dirty="0" err="1" smtClean="0">
                <a:solidFill>
                  <a:schemeClr val="accent3">
                    <a:lumMod val="75000"/>
                  </a:schemeClr>
                </a:solidFill>
                <a:latin typeface="Consolas" panose="020B0609020204030204" pitchFamily="49" charset="0"/>
                <a:cs typeface="Consolas" panose="020B0609020204030204" pitchFamily="49" charset="0"/>
              </a:rPr>
              <a:t>FSRead</a:t>
            </a:r>
            <a:r>
              <a:rPr lang="en-US" sz="1400" spc="-100" dirty="0" smtClean="0">
                <a:solidFill>
                  <a:schemeClr val="accent3">
                    <a:lumMod val="75000"/>
                  </a:schemeClr>
                </a:solidFill>
                <a:latin typeface="Consolas" panose="020B0609020204030204" pitchFamily="49" charset="0"/>
                <a:cs typeface="Consolas" panose="020B0609020204030204" pitchFamily="49" charset="0"/>
              </a:rPr>
              <a:t>”</a:t>
            </a:r>
            <a:endParaRPr lang="en-US" sz="1400" spc="-100" dirty="0">
              <a:solidFill>
                <a:schemeClr val="accent3">
                  <a:lumMod val="75000"/>
                </a:schemeClr>
              </a:solidFill>
              <a:latin typeface="Consolas" panose="020B0609020204030204" pitchFamily="49" charset="0"/>
              <a:cs typeface="Consolas" panose="020B0609020204030204" pitchFamily="49" charset="0"/>
            </a:endParaRPr>
          </a:p>
        </p:txBody>
      </p:sp>
      <p:grpSp>
        <p:nvGrpSpPr>
          <p:cNvPr id="69" name="Group 68"/>
          <p:cNvGrpSpPr/>
          <p:nvPr/>
        </p:nvGrpSpPr>
        <p:grpSpPr>
          <a:xfrm>
            <a:off x="7608280" y="98779"/>
            <a:ext cx="1374656" cy="424732"/>
            <a:chOff x="7760681" y="98778"/>
            <a:chExt cx="1374656" cy="424732"/>
          </a:xfrm>
        </p:grpSpPr>
        <p:sp>
          <p:nvSpPr>
            <p:cNvPr id="72" name="Rounded Rectangle 71"/>
            <p:cNvSpPr>
              <a:spLocks noChangeAspect="1"/>
            </p:cNvSpPr>
            <p:nvPr/>
          </p:nvSpPr>
          <p:spPr>
            <a:xfrm>
              <a:off x="7760681" y="167204"/>
              <a:ext cx="353775" cy="232481"/>
            </a:xfrm>
            <a:prstGeom prst="roundRect">
              <a:avLst/>
            </a:prstGeom>
            <a:solidFill>
              <a:schemeClr val="bg2">
                <a:lumMod val="9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73" name="TextBox 72"/>
            <p:cNvSpPr txBox="1"/>
            <p:nvPr/>
          </p:nvSpPr>
          <p:spPr>
            <a:xfrm>
              <a:off x="8097552" y="98778"/>
              <a:ext cx="1037785" cy="424732"/>
            </a:xfrm>
            <a:prstGeom prst="rect">
              <a:avLst/>
            </a:prstGeom>
            <a:noFill/>
          </p:spPr>
          <p:txBody>
            <a:bodyPr wrap="none" rtlCol="0">
              <a:spAutoFit/>
            </a:bodyPr>
            <a:lstStyle/>
            <a:p>
              <a:r>
                <a:rPr lang="en-US" sz="2160" dirty="0"/>
                <a:t>Process</a:t>
              </a:r>
            </a:p>
          </p:txBody>
        </p:sp>
      </p:grpSp>
      <p:grpSp>
        <p:nvGrpSpPr>
          <p:cNvPr id="75" name="Group 74"/>
          <p:cNvGrpSpPr/>
          <p:nvPr/>
        </p:nvGrpSpPr>
        <p:grpSpPr>
          <a:xfrm>
            <a:off x="7616735" y="534828"/>
            <a:ext cx="1276179" cy="436902"/>
            <a:chOff x="7769133" y="576298"/>
            <a:chExt cx="1276179" cy="436902"/>
          </a:xfrm>
        </p:grpSpPr>
        <p:sp>
          <p:nvSpPr>
            <p:cNvPr id="77" name="Freeform 76"/>
            <p:cNvSpPr/>
            <p:nvPr/>
          </p:nvSpPr>
          <p:spPr>
            <a:xfrm>
              <a:off x="7769133" y="576298"/>
              <a:ext cx="336871" cy="393673"/>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79" name="TextBox 78"/>
            <p:cNvSpPr txBox="1"/>
            <p:nvPr/>
          </p:nvSpPr>
          <p:spPr>
            <a:xfrm>
              <a:off x="8097552" y="588468"/>
              <a:ext cx="947760" cy="424732"/>
            </a:xfrm>
            <a:prstGeom prst="rect">
              <a:avLst/>
            </a:prstGeom>
            <a:noFill/>
          </p:spPr>
          <p:txBody>
            <a:bodyPr wrap="none" rtlCol="0">
              <a:spAutoFit/>
            </a:bodyPr>
            <a:lstStyle/>
            <a:p>
              <a:r>
                <a:rPr lang="en-US" sz="2160" dirty="0"/>
                <a:t>Tenant</a:t>
              </a:r>
            </a:p>
          </p:txBody>
        </p:sp>
      </p:grpSp>
      <p:grpSp>
        <p:nvGrpSpPr>
          <p:cNvPr id="80" name="Group 79"/>
          <p:cNvGrpSpPr/>
          <p:nvPr/>
        </p:nvGrpSpPr>
        <p:grpSpPr>
          <a:xfrm>
            <a:off x="7628169" y="995219"/>
            <a:ext cx="1594511" cy="424732"/>
            <a:chOff x="7780570" y="1040742"/>
            <a:chExt cx="1594511" cy="424732"/>
          </a:xfrm>
        </p:grpSpPr>
        <p:grpSp>
          <p:nvGrpSpPr>
            <p:cNvPr id="81" name="Group 80"/>
            <p:cNvGrpSpPr/>
            <p:nvPr/>
          </p:nvGrpSpPr>
          <p:grpSpPr>
            <a:xfrm>
              <a:off x="7780570" y="1151283"/>
              <a:ext cx="313996" cy="148250"/>
              <a:chOff x="614994" y="4474896"/>
              <a:chExt cx="659606" cy="148250"/>
            </a:xfrm>
          </p:grpSpPr>
          <p:sp>
            <p:nvSpPr>
              <p:cNvPr id="89" name="Freeform 88"/>
              <p:cNvSpPr/>
              <p:nvPr/>
            </p:nvSpPr>
            <p:spPr>
              <a:xfrm>
                <a:off x="614994" y="4474896"/>
                <a:ext cx="658368" cy="148250"/>
              </a:xfrm>
              <a:custGeom>
                <a:avLst/>
                <a:gdLst>
                  <a:gd name="connsiteX0" fmla="*/ 0 w 663547"/>
                  <a:gd name="connsiteY0" fmla="*/ 0 h 153748"/>
                  <a:gd name="connsiteX1" fmla="*/ 234669 w 663547"/>
                  <a:gd name="connsiteY1" fmla="*/ 0 h 153748"/>
                  <a:gd name="connsiteX2" fmla="*/ 291313 w 663547"/>
                  <a:gd name="connsiteY2" fmla="*/ 153748 h 153748"/>
                  <a:gd name="connsiteX3" fmla="*/ 663547 w 663547"/>
                  <a:gd name="connsiteY3" fmla="*/ 153748 h 153748"/>
                </a:gdLst>
                <a:ahLst/>
                <a:cxnLst>
                  <a:cxn ang="0">
                    <a:pos x="connsiteX0" y="connsiteY0"/>
                  </a:cxn>
                  <a:cxn ang="0">
                    <a:pos x="connsiteX1" y="connsiteY1"/>
                  </a:cxn>
                  <a:cxn ang="0">
                    <a:pos x="connsiteX2" y="connsiteY2"/>
                  </a:cxn>
                  <a:cxn ang="0">
                    <a:pos x="connsiteX3" y="connsiteY3"/>
                  </a:cxn>
                </a:cxnLst>
                <a:rect l="l" t="t" r="r" b="b"/>
                <a:pathLst>
                  <a:path w="663547" h="153748">
                    <a:moveTo>
                      <a:pt x="0" y="0"/>
                    </a:moveTo>
                    <a:lnTo>
                      <a:pt x="234669" y="0"/>
                    </a:lnTo>
                    <a:lnTo>
                      <a:pt x="291313" y="153748"/>
                    </a:lnTo>
                    <a:lnTo>
                      <a:pt x="663547" y="153748"/>
                    </a:lnTo>
                  </a:path>
                </a:pathLst>
              </a:custGeom>
              <a:noFill/>
              <a:ln w="38100">
                <a:solidFill>
                  <a:schemeClr val="tx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90" name="Freeform 89"/>
              <p:cNvSpPr/>
              <p:nvPr/>
            </p:nvSpPr>
            <p:spPr>
              <a:xfrm>
                <a:off x="614994" y="4474896"/>
                <a:ext cx="659606" cy="80756"/>
              </a:xfrm>
              <a:custGeom>
                <a:avLst/>
                <a:gdLst>
                  <a:gd name="connsiteX0" fmla="*/ 0 w 659606"/>
                  <a:gd name="connsiteY0" fmla="*/ 90488 h 90488"/>
                  <a:gd name="connsiteX1" fmla="*/ 366713 w 659606"/>
                  <a:gd name="connsiteY1" fmla="*/ 90488 h 90488"/>
                  <a:gd name="connsiteX2" fmla="*/ 421481 w 659606"/>
                  <a:gd name="connsiteY2" fmla="*/ 0 h 90488"/>
                  <a:gd name="connsiteX3" fmla="*/ 659606 w 659606"/>
                  <a:gd name="connsiteY3" fmla="*/ 0 h 90488"/>
                </a:gdLst>
                <a:ahLst/>
                <a:cxnLst>
                  <a:cxn ang="0">
                    <a:pos x="connsiteX0" y="connsiteY0"/>
                  </a:cxn>
                  <a:cxn ang="0">
                    <a:pos x="connsiteX1" y="connsiteY1"/>
                  </a:cxn>
                  <a:cxn ang="0">
                    <a:pos x="connsiteX2" y="connsiteY2"/>
                  </a:cxn>
                  <a:cxn ang="0">
                    <a:pos x="connsiteX3" y="connsiteY3"/>
                  </a:cxn>
                </a:cxnLst>
                <a:rect l="l" t="t" r="r" b="b"/>
                <a:pathLst>
                  <a:path w="659606" h="90488">
                    <a:moveTo>
                      <a:pt x="0" y="90488"/>
                    </a:moveTo>
                    <a:lnTo>
                      <a:pt x="366713" y="90488"/>
                    </a:lnTo>
                    <a:lnTo>
                      <a:pt x="421481" y="0"/>
                    </a:lnTo>
                    <a:lnTo>
                      <a:pt x="659606" y="0"/>
                    </a:lnTo>
                  </a:path>
                </a:pathLst>
              </a:custGeom>
              <a:noFill/>
              <a:ln w="38100">
                <a:solidFill>
                  <a:schemeClr val="tx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sp>
          <p:nvSpPr>
            <p:cNvPr id="84" name="TextBox 83"/>
            <p:cNvSpPr txBox="1"/>
            <p:nvPr/>
          </p:nvSpPr>
          <p:spPr>
            <a:xfrm>
              <a:off x="8097552" y="1040742"/>
              <a:ext cx="1277529" cy="424732"/>
            </a:xfrm>
            <a:prstGeom prst="rect">
              <a:avLst/>
            </a:prstGeom>
            <a:noFill/>
          </p:spPr>
          <p:txBody>
            <a:bodyPr wrap="none" rtlCol="0">
              <a:spAutoFit/>
            </a:bodyPr>
            <a:lstStyle/>
            <a:p>
              <a:r>
                <a:rPr lang="en-US" sz="2160" dirty="0"/>
                <a:t>Workload</a:t>
              </a:r>
            </a:p>
          </p:txBody>
        </p:sp>
      </p:grpSp>
      <p:grpSp>
        <p:nvGrpSpPr>
          <p:cNvPr id="91" name="Group 90"/>
          <p:cNvGrpSpPr/>
          <p:nvPr/>
        </p:nvGrpSpPr>
        <p:grpSpPr>
          <a:xfrm>
            <a:off x="7531089" y="1431269"/>
            <a:ext cx="1507265" cy="424732"/>
            <a:chOff x="7683487" y="1521761"/>
            <a:chExt cx="1507265" cy="424732"/>
          </a:xfrm>
        </p:grpSpPr>
        <p:sp>
          <p:nvSpPr>
            <p:cNvPr id="92" name="TextBox 91"/>
            <p:cNvSpPr txBox="1"/>
            <p:nvPr/>
          </p:nvSpPr>
          <p:spPr>
            <a:xfrm>
              <a:off x="8093977" y="1521761"/>
              <a:ext cx="1096775" cy="424732"/>
            </a:xfrm>
            <a:prstGeom prst="rect">
              <a:avLst/>
            </a:prstGeom>
            <a:noFill/>
          </p:spPr>
          <p:txBody>
            <a:bodyPr wrap="none" rtlCol="0">
              <a:spAutoFit/>
            </a:bodyPr>
            <a:lstStyle/>
            <a:p>
              <a:r>
                <a:rPr lang="en-US" sz="2160" dirty="0"/>
                <a:t>Request</a:t>
              </a:r>
            </a:p>
          </p:txBody>
        </p:sp>
        <p:grpSp>
          <p:nvGrpSpPr>
            <p:cNvPr id="93" name="Group 92"/>
            <p:cNvGrpSpPr/>
            <p:nvPr/>
          </p:nvGrpSpPr>
          <p:grpSpPr>
            <a:xfrm>
              <a:off x="7683487" y="1597704"/>
              <a:ext cx="507572" cy="217447"/>
              <a:chOff x="7707297" y="1536329"/>
              <a:chExt cx="507572" cy="217447"/>
            </a:xfrm>
          </p:grpSpPr>
          <p:grpSp>
            <p:nvGrpSpPr>
              <p:cNvPr id="94" name="Group 93"/>
              <p:cNvGrpSpPr/>
              <p:nvPr/>
            </p:nvGrpSpPr>
            <p:grpSpPr>
              <a:xfrm>
                <a:off x="7707297" y="1536329"/>
                <a:ext cx="507572" cy="217447"/>
                <a:chOff x="7741078" y="1532153"/>
                <a:chExt cx="507572" cy="217447"/>
              </a:xfrm>
              <a:gradFill flip="none" rotWithShape="1">
                <a:gsLst>
                  <a:gs pos="0">
                    <a:schemeClr val="tx1">
                      <a:alpha val="0"/>
                    </a:schemeClr>
                  </a:gs>
                  <a:gs pos="25000">
                    <a:schemeClr val="tx1"/>
                  </a:gs>
                  <a:gs pos="75000">
                    <a:schemeClr val="tx1"/>
                  </a:gs>
                  <a:gs pos="100000">
                    <a:schemeClr val="tx1">
                      <a:alpha val="0"/>
                    </a:schemeClr>
                  </a:gs>
                </a:gsLst>
                <a:lin ang="0" scaled="1"/>
                <a:tileRect/>
              </a:gradFill>
            </p:grpSpPr>
            <p:sp>
              <p:nvSpPr>
                <p:cNvPr id="97" name="Oval 96"/>
                <p:cNvSpPr/>
                <p:nvPr/>
              </p:nvSpPr>
              <p:spPr>
                <a:xfrm>
                  <a:off x="7886141" y="1532153"/>
                  <a:ext cx="217447" cy="21744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98" name="Rectangle 97"/>
                <p:cNvSpPr/>
                <p:nvPr/>
              </p:nvSpPr>
              <p:spPr>
                <a:xfrm>
                  <a:off x="7741078" y="1618017"/>
                  <a:ext cx="507572" cy="575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cxnSp>
            <p:nvCxnSpPr>
              <p:cNvPr id="95" name="Straight Connector 94"/>
              <p:cNvCxnSpPr/>
              <p:nvPr/>
            </p:nvCxnSpPr>
            <p:spPr>
              <a:xfrm>
                <a:off x="7808610" y="1566471"/>
                <a:ext cx="152473" cy="0"/>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p:nvPr/>
            </p:nvCxnSpPr>
            <p:spPr>
              <a:xfrm>
                <a:off x="7808610" y="1723633"/>
                <a:ext cx="152473" cy="0"/>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sp>
        <p:nvSpPr>
          <p:cNvPr id="82" name="TextBox 81"/>
          <p:cNvSpPr txBox="1"/>
          <p:nvPr/>
        </p:nvSpPr>
        <p:spPr>
          <a:xfrm>
            <a:off x="769943" y="3727710"/>
            <a:ext cx="7916533" cy="830997"/>
          </a:xfrm>
          <a:prstGeom prst="rect">
            <a:avLst/>
          </a:prstGeom>
          <a:noFill/>
        </p:spPr>
        <p:txBody>
          <a:bodyPr wrap="square" rtlCol="0">
            <a:spAutoFit/>
          </a:bodyPr>
          <a:lstStyle/>
          <a:p>
            <a:pPr marL="285739" indent="-285739">
              <a:buFont typeface="Arial" panose="020B0604020202020204" pitchFamily="34" charset="0"/>
              <a:buChar char="•"/>
            </a:pPr>
            <a:r>
              <a:rPr lang="en-US" sz="2400" dirty="0"/>
              <a:t>Generalization of metadata in end-to-end tracing</a:t>
            </a:r>
          </a:p>
          <a:p>
            <a:pPr marL="285739" indent="-285739">
              <a:buFont typeface="Arial" panose="020B0604020202020204" pitchFamily="34" charset="0"/>
              <a:buChar char="•"/>
            </a:pPr>
            <a:r>
              <a:rPr lang="en-US" sz="2400" dirty="0"/>
              <a:t>One instance per </a:t>
            </a:r>
            <a:r>
              <a:rPr lang="en-US" sz="2400" dirty="0" smtClean="0"/>
              <a:t>request</a:t>
            </a:r>
            <a:endParaRPr lang="en-US" sz="2400" dirty="0"/>
          </a:p>
        </p:txBody>
      </p:sp>
      <p:grpSp>
        <p:nvGrpSpPr>
          <p:cNvPr id="67" name="Group 66"/>
          <p:cNvGrpSpPr/>
          <p:nvPr/>
        </p:nvGrpSpPr>
        <p:grpSpPr>
          <a:xfrm>
            <a:off x="-159408" y="5773127"/>
            <a:ext cx="9096001" cy="646331"/>
            <a:chOff x="-172879" y="2972777"/>
            <a:chExt cx="9096001" cy="646331"/>
          </a:xfrm>
        </p:grpSpPr>
        <p:sp>
          <p:nvSpPr>
            <p:cNvPr id="68" name="Rectangle 67"/>
            <p:cNvSpPr/>
            <p:nvPr/>
          </p:nvSpPr>
          <p:spPr>
            <a:xfrm>
              <a:off x="-172879" y="3059931"/>
              <a:ext cx="4572000" cy="523220"/>
            </a:xfrm>
            <a:prstGeom prst="rect">
              <a:avLst/>
            </a:prstGeom>
          </p:spPr>
          <p:txBody>
            <a:bodyPr>
              <a:spAutoFit/>
            </a:bodyPr>
            <a:lstStyle/>
            <a:p>
              <a:pPr marL="457200" lvl="1" indent="0" algn="ctr">
                <a:buNone/>
              </a:pPr>
              <a:r>
                <a:rPr lang="en-US" sz="2800" b="1" dirty="0"/>
                <a:t>Causal </a:t>
              </a:r>
              <a:r>
                <a:rPr lang="en-US" sz="2800" b="1" dirty="0" smtClean="0"/>
                <a:t>tracing</a:t>
              </a:r>
              <a:endParaRPr lang="en-US" sz="2000" b="1" dirty="0"/>
            </a:p>
          </p:txBody>
        </p:sp>
        <p:grpSp>
          <p:nvGrpSpPr>
            <p:cNvPr id="71" name="Group 70"/>
            <p:cNvGrpSpPr/>
            <p:nvPr/>
          </p:nvGrpSpPr>
          <p:grpSpPr>
            <a:xfrm>
              <a:off x="6334625" y="2972777"/>
              <a:ext cx="2588497" cy="646331"/>
              <a:chOff x="619624" y="3265714"/>
              <a:chExt cx="2588498" cy="646331"/>
            </a:xfrm>
          </p:grpSpPr>
          <p:sp>
            <p:nvSpPr>
              <p:cNvPr id="100" name="Freeform 99"/>
              <p:cNvSpPr/>
              <p:nvPr/>
            </p:nvSpPr>
            <p:spPr>
              <a:xfrm flipH="1">
                <a:off x="619624" y="3334957"/>
                <a:ext cx="616567" cy="504935"/>
              </a:xfrm>
              <a:custGeom>
                <a:avLst/>
                <a:gdLst>
                  <a:gd name="connsiteX0" fmla="*/ 205184 w 1161142"/>
                  <a:gd name="connsiteY0" fmla="*/ 225311 h 1009083"/>
                  <a:gd name="connsiteX1" fmla="*/ 130631 w 1161142"/>
                  <a:gd name="connsiteY1" fmla="*/ 225311 h 1009083"/>
                  <a:gd name="connsiteX2" fmla="*/ 0 w 1161142"/>
                  <a:gd name="connsiteY2" fmla="*/ 355942 h 1009083"/>
                  <a:gd name="connsiteX3" fmla="*/ 0 w 1161142"/>
                  <a:gd name="connsiteY3" fmla="*/ 878452 h 1009083"/>
                  <a:gd name="connsiteX4" fmla="*/ 130631 w 1161142"/>
                  <a:gd name="connsiteY4" fmla="*/ 1009083 h 1009083"/>
                  <a:gd name="connsiteX5" fmla="*/ 205184 w 1161142"/>
                  <a:gd name="connsiteY5" fmla="*/ 1009083 h 1009083"/>
                  <a:gd name="connsiteX6" fmla="*/ 1030511 w 1161142"/>
                  <a:gd name="connsiteY6" fmla="*/ 225311 h 1009083"/>
                  <a:gd name="connsiteX7" fmla="*/ 955958 w 1161142"/>
                  <a:gd name="connsiteY7" fmla="*/ 225311 h 1009083"/>
                  <a:gd name="connsiteX8" fmla="*/ 955958 w 1161142"/>
                  <a:gd name="connsiteY8" fmla="*/ 1009083 h 1009083"/>
                  <a:gd name="connsiteX9" fmla="*/ 1030511 w 1161142"/>
                  <a:gd name="connsiteY9" fmla="*/ 1009083 h 1009083"/>
                  <a:gd name="connsiteX10" fmla="*/ 1161142 w 1161142"/>
                  <a:gd name="connsiteY10" fmla="*/ 878452 h 1009083"/>
                  <a:gd name="connsiteX11" fmla="*/ 1161142 w 1161142"/>
                  <a:gd name="connsiteY11" fmla="*/ 355942 h 1009083"/>
                  <a:gd name="connsiteX12" fmla="*/ 1030511 w 1161142"/>
                  <a:gd name="connsiteY12" fmla="*/ 225311 h 1009083"/>
                  <a:gd name="connsiteX13" fmla="*/ 580571 w 1161142"/>
                  <a:gd name="connsiteY13" fmla="*/ 76200 h 1009083"/>
                  <a:gd name="connsiteX14" fmla="*/ 729682 w 1161142"/>
                  <a:gd name="connsiteY14" fmla="*/ 225311 h 1009083"/>
                  <a:gd name="connsiteX15" fmla="*/ 431460 w 1161142"/>
                  <a:gd name="connsiteY15" fmla="*/ 225311 h 1009083"/>
                  <a:gd name="connsiteX16" fmla="*/ 580571 w 1161142"/>
                  <a:gd name="connsiteY16" fmla="*/ 76200 h 1009083"/>
                  <a:gd name="connsiteX17" fmla="*/ 580571 w 1161142"/>
                  <a:gd name="connsiteY17" fmla="*/ 0 h 1009083"/>
                  <a:gd name="connsiteX18" fmla="*/ 355260 w 1161142"/>
                  <a:gd name="connsiteY18" fmla="*/ 225311 h 1009083"/>
                  <a:gd name="connsiteX19" fmla="*/ 290704 w 1161142"/>
                  <a:gd name="connsiteY19" fmla="*/ 225311 h 1009083"/>
                  <a:gd name="connsiteX20" fmla="*/ 290704 w 1161142"/>
                  <a:gd name="connsiteY20" fmla="*/ 1009083 h 1009083"/>
                  <a:gd name="connsiteX21" fmla="*/ 870438 w 1161142"/>
                  <a:gd name="connsiteY21" fmla="*/ 1009083 h 1009083"/>
                  <a:gd name="connsiteX22" fmla="*/ 870438 w 1161142"/>
                  <a:gd name="connsiteY22" fmla="*/ 225311 h 1009083"/>
                  <a:gd name="connsiteX23" fmla="*/ 805882 w 1161142"/>
                  <a:gd name="connsiteY23" fmla="*/ 225311 h 1009083"/>
                  <a:gd name="connsiteX24" fmla="*/ 580571 w 1161142"/>
                  <a:gd name="connsiteY24" fmla="*/ 0 h 100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61142" h="1009083">
                    <a:moveTo>
                      <a:pt x="205184" y="225311"/>
                    </a:moveTo>
                    <a:lnTo>
                      <a:pt x="130631" y="225311"/>
                    </a:lnTo>
                    <a:cubicBezTo>
                      <a:pt x="58485" y="225311"/>
                      <a:pt x="0" y="283796"/>
                      <a:pt x="0" y="355942"/>
                    </a:cubicBezTo>
                    <a:lnTo>
                      <a:pt x="0" y="878452"/>
                    </a:lnTo>
                    <a:cubicBezTo>
                      <a:pt x="0" y="950598"/>
                      <a:pt x="58485" y="1009083"/>
                      <a:pt x="130631" y="1009083"/>
                    </a:cubicBezTo>
                    <a:lnTo>
                      <a:pt x="205184" y="1009083"/>
                    </a:lnTo>
                    <a:close/>
                    <a:moveTo>
                      <a:pt x="1030511" y="225311"/>
                    </a:moveTo>
                    <a:lnTo>
                      <a:pt x="955958" y="225311"/>
                    </a:lnTo>
                    <a:lnTo>
                      <a:pt x="955958" y="1009083"/>
                    </a:lnTo>
                    <a:lnTo>
                      <a:pt x="1030511" y="1009083"/>
                    </a:lnTo>
                    <a:cubicBezTo>
                      <a:pt x="1102657" y="1009083"/>
                      <a:pt x="1161142" y="950598"/>
                      <a:pt x="1161142" y="878452"/>
                    </a:cubicBezTo>
                    <a:lnTo>
                      <a:pt x="1161142" y="355942"/>
                    </a:lnTo>
                    <a:cubicBezTo>
                      <a:pt x="1161142" y="283796"/>
                      <a:pt x="1102657" y="225311"/>
                      <a:pt x="1030511" y="225311"/>
                    </a:cubicBezTo>
                    <a:close/>
                    <a:moveTo>
                      <a:pt x="580571" y="76200"/>
                    </a:moveTo>
                    <a:cubicBezTo>
                      <a:pt x="662923" y="76200"/>
                      <a:pt x="729682" y="142959"/>
                      <a:pt x="729682" y="225311"/>
                    </a:cubicBezTo>
                    <a:lnTo>
                      <a:pt x="431460" y="225311"/>
                    </a:lnTo>
                    <a:cubicBezTo>
                      <a:pt x="431460" y="142959"/>
                      <a:pt x="498219" y="76200"/>
                      <a:pt x="580571" y="76200"/>
                    </a:cubicBezTo>
                    <a:close/>
                    <a:moveTo>
                      <a:pt x="580571" y="0"/>
                    </a:moveTo>
                    <a:cubicBezTo>
                      <a:pt x="456135" y="0"/>
                      <a:pt x="355260" y="100875"/>
                      <a:pt x="355260" y="225311"/>
                    </a:cubicBezTo>
                    <a:lnTo>
                      <a:pt x="290704" y="225311"/>
                    </a:lnTo>
                    <a:lnTo>
                      <a:pt x="290704" y="1009083"/>
                    </a:lnTo>
                    <a:lnTo>
                      <a:pt x="870438" y="1009083"/>
                    </a:lnTo>
                    <a:lnTo>
                      <a:pt x="870438" y="225311"/>
                    </a:lnTo>
                    <a:lnTo>
                      <a:pt x="805882" y="225311"/>
                    </a:lnTo>
                    <a:cubicBezTo>
                      <a:pt x="805882" y="100875"/>
                      <a:pt x="705007" y="0"/>
                      <a:pt x="580571"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01" name="TextBox 100"/>
              <p:cNvSpPr txBox="1"/>
              <p:nvPr/>
            </p:nvSpPr>
            <p:spPr>
              <a:xfrm>
                <a:off x="1454243" y="3265714"/>
                <a:ext cx="1753879" cy="646331"/>
              </a:xfrm>
              <a:prstGeom prst="rect">
                <a:avLst/>
              </a:prstGeom>
              <a:noFill/>
            </p:spPr>
            <p:txBody>
              <a:bodyPr wrap="none" rtlCol="0">
                <a:spAutoFit/>
              </a:bodyPr>
              <a:lstStyle/>
              <a:p>
                <a:r>
                  <a:rPr lang="en-US" sz="3600" dirty="0"/>
                  <a:t>Baggage</a:t>
                </a:r>
              </a:p>
            </p:txBody>
          </p:sp>
        </p:grpSp>
        <p:sp>
          <p:nvSpPr>
            <p:cNvPr id="78" name="Freeform 77"/>
            <p:cNvSpPr/>
            <p:nvPr/>
          </p:nvSpPr>
          <p:spPr>
            <a:xfrm>
              <a:off x="4314825" y="3255507"/>
              <a:ext cx="1415490" cy="240676"/>
            </a:xfrm>
            <a:custGeom>
              <a:avLst/>
              <a:gdLst>
                <a:gd name="connsiteX0" fmla="*/ 0 w 1619250"/>
                <a:gd name="connsiteY0" fmla="*/ 144918 h 240676"/>
                <a:gd name="connsiteX1" fmla="*/ 400050 w 1619250"/>
                <a:gd name="connsiteY1" fmla="*/ 2043 h 240676"/>
                <a:gd name="connsiteX2" fmla="*/ 476250 w 1619250"/>
                <a:gd name="connsiteY2" fmla="*/ 240168 h 240676"/>
                <a:gd name="connsiteX3" fmla="*/ 704850 w 1619250"/>
                <a:gd name="connsiteY3" fmla="*/ 68718 h 240676"/>
                <a:gd name="connsiteX4" fmla="*/ 923925 w 1619250"/>
                <a:gd name="connsiteY4" fmla="*/ 192543 h 240676"/>
                <a:gd name="connsiteX5" fmla="*/ 1190625 w 1619250"/>
                <a:gd name="connsiteY5" fmla="*/ 40143 h 240676"/>
                <a:gd name="connsiteX6" fmla="*/ 1333500 w 1619250"/>
                <a:gd name="connsiteY6" fmla="*/ 154443 h 240676"/>
                <a:gd name="connsiteX7" fmla="*/ 1495425 w 1619250"/>
                <a:gd name="connsiteY7" fmla="*/ 106818 h 240676"/>
                <a:gd name="connsiteX8" fmla="*/ 1619250 w 1619250"/>
                <a:gd name="connsiteY8" fmla="*/ 97293 h 240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9250" h="240676">
                  <a:moveTo>
                    <a:pt x="0" y="144918"/>
                  </a:moveTo>
                  <a:cubicBezTo>
                    <a:pt x="160337" y="65543"/>
                    <a:pt x="320675" y="-13832"/>
                    <a:pt x="400050" y="2043"/>
                  </a:cubicBezTo>
                  <a:cubicBezTo>
                    <a:pt x="479425" y="17918"/>
                    <a:pt x="425450" y="229056"/>
                    <a:pt x="476250" y="240168"/>
                  </a:cubicBezTo>
                  <a:cubicBezTo>
                    <a:pt x="527050" y="251281"/>
                    <a:pt x="630238" y="76655"/>
                    <a:pt x="704850" y="68718"/>
                  </a:cubicBezTo>
                  <a:cubicBezTo>
                    <a:pt x="779462" y="60781"/>
                    <a:pt x="842963" y="197305"/>
                    <a:pt x="923925" y="192543"/>
                  </a:cubicBezTo>
                  <a:cubicBezTo>
                    <a:pt x="1004887" y="187781"/>
                    <a:pt x="1122363" y="46493"/>
                    <a:pt x="1190625" y="40143"/>
                  </a:cubicBezTo>
                  <a:cubicBezTo>
                    <a:pt x="1258888" y="33793"/>
                    <a:pt x="1282700" y="143330"/>
                    <a:pt x="1333500" y="154443"/>
                  </a:cubicBezTo>
                  <a:cubicBezTo>
                    <a:pt x="1384300" y="165556"/>
                    <a:pt x="1447800" y="116343"/>
                    <a:pt x="1495425" y="106818"/>
                  </a:cubicBezTo>
                  <a:cubicBezTo>
                    <a:pt x="1543050" y="97293"/>
                    <a:pt x="1581150" y="97293"/>
                    <a:pt x="1619250" y="97293"/>
                  </a:cubicBezTo>
                </a:path>
              </a:pathLst>
            </a:custGeom>
            <a:noFill/>
            <a:ln w="28575">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 name="Group 101"/>
          <p:cNvGrpSpPr/>
          <p:nvPr/>
        </p:nvGrpSpPr>
        <p:grpSpPr>
          <a:xfrm>
            <a:off x="237768" y="3170941"/>
            <a:ext cx="8668465" cy="461665"/>
            <a:chOff x="30872" y="3170941"/>
            <a:chExt cx="8668465" cy="461665"/>
          </a:xfrm>
        </p:grpSpPr>
        <p:sp>
          <p:nvSpPr>
            <p:cNvPr id="103" name="Freeform 102"/>
            <p:cNvSpPr/>
            <p:nvPr/>
          </p:nvSpPr>
          <p:spPr>
            <a:xfrm flipH="1">
              <a:off x="30872" y="3207473"/>
              <a:ext cx="474512" cy="388600"/>
            </a:xfrm>
            <a:custGeom>
              <a:avLst/>
              <a:gdLst>
                <a:gd name="connsiteX0" fmla="*/ 205184 w 1161142"/>
                <a:gd name="connsiteY0" fmla="*/ 225311 h 1009083"/>
                <a:gd name="connsiteX1" fmla="*/ 130631 w 1161142"/>
                <a:gd name="connsiteY1" fmla="*/ 225311 h 1009083"/>
                <a:gd name="connsiteX2" fmla="*/ 0 w 1161142"/>
                <a:gd name="connsiteY2" fmla="*/ 355942 h 1009083"/>
                <a:gd name="connsiteX3" fmla="*/ 0 w 1161142"/>
                <a:gd name="connsiteY3" fmla="*/ 878452 h 1009083"/>
                <a:gd name="connsiteX4" fmla="*/ 130631 w 1161142"/>
                <a:gd name="connsiteY4" fmla="*/ 1009083 h 1009083"/>
                <a:gd name="connsiteX5" fmla="*/ 205184 w 1161142"/>
                <a:gd name="connsiteY5" fmla="*/ 1009083 h 1009083"/>
                <a:gd name="connsiteX6" fmla="*/ 1030511 w 1161142"/>
                <a:gd name="connsiteY6" fmla="*/ 225311 h 1009083"/>
                <a:gd name="connsiteX7" fmla="*/ 955958 w 1161142"/>
                <a:gd name="connsiteY7" fmla="*/ 225311 h 1009083"/>
                <a:gd name="connsiteX8" fmla="*/ 955958 w 1161142"/>
                <a:gd name="connsiteY8" fmla="*/ 1009083 h 1009083"/>
                <a:gd name="connsiteX9" fmla="*/ 1030511 w 1161142"/>
                <a:gd name="connsiteY9" fmla="*/ 1009083 h 1009083"/>
                <a:gd name="connsiteX10" fmla="*/ 1161142 w 1161142"/>
                <a:gd name="connsiteY10" fmla="*/ 878452 h 1009083"/>
                <a:gd name="connsiteX11" fmla="*/ 1161142 w 1161142"/>
                <a:gd name="connsiteY11" fmla="*/ 355942 h 1009083"/>
                <a:gd name="connsiteX12" fmla="*/ 1030511 w 1161142"/>
                <a:gd name="connsiteY12" fmla="*/ 225311 h 1009083"/>
                <a:gd name="connsiteX13" fmla="*/ 580571 w 1161142"/>
                <a:gd name="connsiteY13" fmla="*/ 76200 h 1009083"/>
                <a:gd name="connsiteX14" fmla="*/ 729682 w 1161142"/>
                <a:gd name="connsiteY14" fmla="*/ 225311 h 1009083"/>
                <a:gd name="connsiteX15" fmla="*/ 431460 w 1161142"/>
                <a:gd name="connsiteY15" fmla="*/ 225311 h 1009083"/>
                <a:gd name="connsiteX16" fmla="*/ 580571 w 1161142"/>
                <a:gd name="connsiteY16" fmla="*/ 76200 h 1009083"/>
                <a:gd name="connsiteX17" fmla="*/ 580571 w 1161142"/>
                <a:gd name="connsiteY17" fmla="*/ 0 h 1009083"/>
                <a:gd name="connsiteX18" fmla="*/ 355260 w 1161142"/>
                <a:gd name="connsiteY18" fmla="*/ 225311 h 1009083"/>
                <a:gd name="connsiteX19" fmla="*/ 290704 w 1161142"/>
                <a:gd name="connsiteY19" fmla="*/ 225311 h 1009083"/>
                <a:gd name="connsiteX20" fmla="*/ 290704 w 1161142"/>
                <a:gd name="connsiteY20" fmla="*/ 1009083 h 1009083"/>
                <a:gd name="connsiteX21" fmla="*/ 870438 w 1161142"/>
                <a:gd name="connsiteY21" fmla="*/ 1009083 h 1009083"/>
                <a:gd name="connsiteX22" fmla="*/ 870438 w 1161142"/>
                <a:gd name="connsiteY22" fmla="*/ 225311 h 1009083"/>
                <a:gd name="connsiteX23" fmla="*/ 805882 w 1161142"/>
                <a:gd name="connsiteY23" fmla="*/ 225311 h 1009083"/>
                <a:gd name="connsiteX24" fmla="*/ 580571 w 1161142"/>
                <a:gd name="connsiteY24" fmla="*/ 0 h 100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61142" h="1009083">
                  <a:moveTo>
                    <a:pt x="205184" y="225311"/>
                  </a:moveTo>
                  <a:lnTo>
                    <a:pt x="130631" y="225311"/>
                  </a:lnTo>
                  <a:cubicBezTo>
                    <a:pt x="58485" y="225311"/>
                    <a:pt x="0" y="283796"/>
                    <a:pt x="0" y="355942"/>
                  </a:cubicBezTo>
                  <a:lnTo>
                    <a:pt x="0" y="878452"/>
                  </a:lnTo>
                  <a:cubicBezTo>
                    <a:pt x="0" y="950598"/>
                    <a:pt x="58485" y="1009083"/>
                    <a:pt x="130631" y="1009083"/>
                  </a:cubicBezTo>
                  <a:lnTo>
                    <a:pt x="205184" y="1009083"/>
                  </a:lnTo>
                  <a:close/>
                  <a:moveTo>
                    <a:pt x="1030511" y="225311"/>
                  </a:moveTo>
                  <a:lnTo>
                    <a:pt x="955958" y="225311"/>
                  </a:lnTo>
                  <a:lnTo>
                    <a:pt x="955958" y="1009083"/>
                  </a:lnTo>
                  <a:lnTo>
                    <a:pt x="1030511" y="1009083"/>
                  </a:lnTo>
                  <a:cubicBezTo>
                    <a:pt x="1102657" y="1009083"/>
                    <a:pt x="1161142" y="950598"/>
                    <a:pt x="1161142" y="878452"/>
                  </a:cubicBezTo>
                  <a:lnTo>
                    <a:pt x="1161142" y="355942"/>
                  </a:lnTo>
                  <a:cubicBezTo>
                    <a:pt x="1161142" y="283796"/>
                    <a:pt x="1102657" y="225311"/>
                    <a:pt x="1030511" y="225311"/>
                  </a:cubicBezTo>
                  <a:close/>
                  <a:moveTo>
                    <a:pt x="580571" y="76200"/>
                  </a:moveTo>
                  <a:cubicBezTo>
                    <a:pt x="662923" y="76200"/>
                    <a:pt x="729682" y="142959"/>
                    <a:pt x="729682" y="225311"/>
                  </a:cubicBezTo>
                  <a:lnTo>
                    <a:pt x="431460" y="225311"/>
                  </a:lnTo>
                  <a:cubicBezTo>
                    <a:pt x="431460" y="142959"/>
                    <a:pt x="498219" y="76200"/>
                    <a:pt x="580571" y="76200"/>
                  </a:cubicBezTo>
                  <a:close/>
                  <a:moveTo>
                    <a:pt x="580571" y="0"/>
                  </a:moveTo>
                  <a:cubicBezTo>
                    <a:pt x="456135" y="0"/>
                    <a:pt x="355260" y="100875"/>
                    <a:pt x="355260" y="225311"/>
                  </a:cubicBezTo>
                  <a:lnTo>
                    <a:pt x="290704" y="225311"/>
                  </a:lnTo>
                  <a:lnTo>
                    <a:pt x="290704" y="1009083"/>
                  </a:lnTo>
                  <a:lnTo>
                    <a:pt x="870438" y="1009083"/>
                  </a:lnTo>
                  <a:lnTo>
                    <a:pt x="870438" y="225311"/>
                  </a:lnTo>
                  <a:lnTo>
                    <a:pt x="805882" y="225311"/>
                  </a:lnTo>
                  <a:cubicBezTo>
                    <a:pt x="805882" y="100875"/>
                    <a:pt x="705007" y="0"/>
                    <a:pt x="580571"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04" name="TextBox 103"/>
            <p:cNvSpPr txBox="1"/>
            <p:nvPr/>
          </p:nvSpPr>
          <p:spPr>
            <a:xfrm>
              <a:off x="505384" y="3170941"/>
              <a:ext cx="8193953" cy="461665"/>
            </a:xfrm>
            <a:prstGeom prst="rect">
              <a:avLst/>
            </a:prstGeom>
            <a:noFill/>
          </p:spPr>
          <p:txBody>
            <a:bodyPr wrap="square" rtlCol="0">
              <a:spAutoFit/>
            </a:bodyPr>
            <a:lstStyle/>
            <a:p>
              <a:r>
                <a:rPr lang="en-US" sz="2400" dirty="0" smtClean="0"/>
                <a:t>Baggage is a </a:t>
              </a:r>
              <a:r>
                <a:rPr lang="en-US" sz="2400" dirty="0" err="1" smtClean="0"/>
                <a:t>Key:Value</a:t>
              </a:r>
              <a:r>
                <a:rPr lang="en-US" sz="2400" dirty="0" smtClean="0"/>
                <a:t> container propagated alongside a request</a:t>
              </a:r>
              <a:endParaRPr lang="en-US" sz="2400" dirty="0"/>
            </a:p>
          </p:txBody>
        </p:sp>
      </p:grpSp>
      <p:sp>
        <p:nvSpPr>
          <p:cNvPr id="105" name="Freeform 104"/>
          <p:cNvSpPr/>
          <p:nvPr/>
        </p:nvSpPr>
        <p:spPr>
          <a:xfrm>
            <a:off x="1121977" y="670347"/>
            <a:ext cx="323462" cy="37800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2" name="Slide Number Placeholder 1"/>
          <p:cNvSpPr>
            <a:spLocks noGrp="1"/>
          </p:cNvSpPr>
          <p:nvPr>
            <p:ph type="sldNum" sz="quarter" idx="12"/>
          </p:nvPr>
        </p:nvSpPr>
        <p:spPr/>
        <p:txBody>
          <a:bodyPr/>
          <a:lstStyle/>
          <a:p>
            <a:fld id="{D431E30F-8439-471B-9257-EDD8E85CDBC8}" type="slidenum">
              <a:rPr lang="en-US" smtClean="0"/>
              <a:t>21</a:t>
            </a:fld>
            <a:endParaRPr lang="en-US"/>
          </a:p>
        </p:txBody>
      </p:sp>
    </p:spTree>
    <p:extLst>
      <p:ext uri="{BB962C8B-B14F-4D97-AF65-F5344CB8AC3E}">
        <p14:creationId xmlns:p14="http://schemas.microsoft.com/office/powerpoint/2010/main" val="3472766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fade">
                                      <p:cBhvr>
                                        <p:cTn id="7" dur="500"/>
                                        <p:tgtEl>
                                          <p:spTgt spid="5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8"/>
                                        </p:tgtEl>
                                        <p:attrNameLst>
                                          <p:attrName>style.visibility</p:attrName>
                                        </p:attrNameLst>
                                      </p:cBhvr>
                                      <p:to>
                                        <p:strVal val="visible"/>
                                      </p:to>
                                    </p:set>
                                    <p:animEffect transition="in" filter="fade">
                                      <p:cBhvr>
                                        <p:cTn id="11" dur="500"/>
                                        <p:tgtEl>
                                          <p:spTgt spid="58"/>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4" nodeType="clickEffect">
                                  <p:stCondLst>
                                    <p:cond delay="0"/>
                                  </p:stCondLst>
                                  <p:childTnLst>
                                    <p:set>
                                      <p:cBhvr>
                                        <p:cTn id="15" dur="1" fill="hold">
                                          <p:stCondLst>
                                            <p:cond delay="0"/>
                                          </p:stCondLst>
                                        </p:cTn>
                                        <p:tgtEl>
                                          <p:spTgt spid="76"/>
                                        </p:tgtEl>
                                        <p:attrNameLst>
                                          <p:attrName>style.visibility</p:attrName>
                                        </p:attrNameLst>
                                      </p:cBhvr>
                                      <p:to>
                                        <p:strVal val="visible"/>
                                      </p:to>
                                    </p:set>
                                    <p:animEffect transition="in" filter="fade">
                                      <p:cBhvr>
                                        <p:cTn id="16" dur="500"/>
                                        <p:tgtEl>
                                          <p:spTgt spid="76"/>
                                        </p:tgtEl>
                                      </p:cBhvr>
                                    </p:animEffect>
                                  </p:childTnLst>
                                </p:cTn>
                              </p:par>
                              <p:par>
                                <p:cTn id="17" presetID="0" presetClass="path" presetSubtype="0" fill="hold" grpId="0" nodeType="withEffect">
                                  <p:stCondLst>
                                    <p:cond delay="0"/>
                                  </p:stCondLst>
                                  <p:childTnLst>
                                    <p:animMotion origin="layout" path="M 0 0 L 0.1408 0 L 0.16545 0.0375 " pathEditMode="relative" ptsTypes="AAA">
                                      <p:cBhvr>
                                        <p:cTn id="18" dur="1500" fill="hold"/>
                                        <p:tgtEl>
                                          <p:spTgt spid="76"/>
                                        </p:tgtEl>
                                        <p:attrNameLst>
                                          <p:attrName>ppt_x</p:attrName>
                                          <p:attrName>ppt_y</p:attrName>
                                        </p:attrNameLst>
                                      </p:cBhvr>
                                    </p:animMotion>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par>
                                <p:cTn id="23" presetID="22" presetClass="entr" presetSubtype="4"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wipe(down)">
                                      <p:cBhvr>
                                        <p:cTn id="25" dur="750"/>
                                        <p:tgtEl>
                                          <p:spTgt spid="11"/>
                                        </p:tgtEl>
                                      </p:cBhvr>
                                    </p:animEffect>
                                  </p:childTnLst>
                                </p:cTn>
                              </p:par>
                              <p:par>
                                <p:cTn id="26" presetID="42" presetClass="entr" presetSubtype="0" fill="hold" grpId="0" nodeType="withEffect">
                                  <p:stCondLst>
                                    <p:cond delay="0"/>
                                  </p:stCondLst>
                                  <p:childTnLst>
                                    <p:set>
                                      <p:cBhvr>
                                        <p:cTn id="27" dur="1" fill="hold">
                                          <p:stCondLst>
                                            <p:cond delay="0"/>
                                          </p:stCondLst>
                                        </p:cTn>
                                        <p:tgtEl>
                                          <p:spTgt spid="41"/>
                                        </p:tgtEl>
                                        <p:attrNameLst>
                                          <p:attrName>style.visibility</p:attrName>
                                        </p:attrNameLst>
                                      </p:cBhvr>
                                      <p:to>
                                        <p:strVal val="visible"/>
                                      </p:to>
                                    </p:set>
                                    <p:animEffect transition="in" filter="fade">
                                      <p:cBhvr>
                                        <p:cTn id="28" dur="1000"/>
                                        <p:tgtEl>
                                          <p:spTgt spid="41"/>
                                        </p:tgtEl>
                                      </p:cBhvr>
                                    </p:animEffect>
                                    <p:anim calcmode="lin" valueType="num">
                                      <p:cBhvr>
                                        <p:cTn id="29" dur="1000" fill="hold"/>
                                        <p:tgtEl>
                                          <p:spTgt spid="41"/>
                                        </p:tgtEl>
                                        <p:attrNameLst>
                                          <p:attrName>ppt_x</p:attrName>
                                        </p:attrNameLst>
                                      </p:cBhvr>
                                      <p:tavLst>
                                        <p:tav tm="0">
                                          <p:val>
                                            <p:strVal val="#ppt_x"/>
                                          </p:val>
                                        </p:tav>
                                        <p:tav tm="100000">
                                          <p:val>
                                            <p:strVal val="#ppt_x"/>
                                          </p:val>
                                        </p:tav>
                                      </p:tavLst>
                                    </p:anim>
                                    <p:anim calcmode="lin" valueType="num">
                                      <p:cBhvr>
                                        <p:cTn id="30"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0" presetClass="exit" presetSubtype="0" fill="hold" grpId="1" nodeType="clickEffect">
                                  <p:stCondLst>
                                    <p:cond delay="0"/>
                                  </p:stCondLst>
                                  <p:childTnLst>
                                    <p:animEffect transition="out" filter="fade">
                                      <p:cBhvr>
                                        <p:cTn id="34" dur="500"/>
                                        <p:tgtEl>
                                          <p:spTgt spid="3"/>
                                        </p:tgtEl>
                                      </p:cBhvr>
                                    </p:animEffect>
                                    <p:set>
                                      <p:cBhvr>
                                        <p:cTn id="35" dur="1" fill="hold">
                                          <p:stCondLst>
                                            <p:cond delay="499"/>
                                          </p:stCondLst>
                                        </p:cTn>
                                        <p:tgtEl>
                                          <p:spTgt spid="3"/>
                                        </p:tgtEl>
                                        <p:attrNameLst>
                                          <p:attrName>style.visibility</p:attrName>
                                        </p:attrNameLst>
                                      </p:cBhvr>
                                      <p:to>
                                        <p:strVal val="hidden"/>
                                      </p:to>
                                    </p:set>
                                  </p:childTnLst>
                                </p:cTn>
                              </p:par>
                              <p:par>
                                <p:cTn id="36" presetID="10" presetClass="exit" presetSubtype="0" fill="hold" nodeType="withEffect">
                                  <p:stCondLst>
                                    <p:cond delay="0"/>
                                  </p:stCondLst>
                                  <p:childTnLst>
                                    <p:animEffect transition="out" filter="fade">
                                      <p:cBhvr>
                                        <p:cTn id="37" dur="500"/>
                                        <p:tgtEl>
                                          <p:spTgt spid="11"/>
                                        </p:tgtEl>
                                      </p:cBhvr>
                                    </p:animEffect>
                                    <p:set>
                                      <p:cBhvr>
                                        <p:cTn id="38" dur="1" fill="hold">
                                          <p:stCondLst>
                                            <p:cond delay="499"/>
                                          </p:stCondLst>
                                        </p:cTn>
                                        <p:tgtEl>
                                          <p:spTgt spid="11"/>
                                        </p:tgtEl>
                                        <p:attrNameLst>
                                          <p:attrName>style.visibility</p:attrName>
                                        </p:attrNameLst>
                                      </p:cBhvr>
                                      <p:to>
                                        <p:strVal val="hidden"/>
                                      </p:to>
                                    </p:set>
                                  </p:childTnLst>
                                </p:cTn>
                              </p:par>
                            </p:childTnLst>
                          </p:cTn>
                        </p:par>
                        <p:par>
                          <p:cTn id="39" fill="hold">
                            <p:stCondLst>
                              <p:cond delay="500"/>
                            </p:stCondLst>
                            <p:childTnLst>
                              <p:par>
                                <p:cTn id="40" presetID="0" presetClass="path" presetSubtype="0" fill="hold" grpId="1" nodeType="afterEffect">
                                  <p:stCondLst>
                                    <p:cond delay="0"/>
                                  </p:stCondLst>
                                  <p:childTnLst>
                                    <p:animMotion origin="layout" path="M 0.16546 0.0375 L 0.18265 0.06643 L 0.22813 0.06643 L 0.24445 0.18426 L 0.26546 0.18426 " pathEditMode="relative" ptsTypes="AAAAA">
                                      <p:cBhvr>
                                        <p:cTn id="41" dur="1500" fill="hold"/>
                                        <p:tgtEl>
                                          <p:spTgt spid="76"/>
                                        </p:tgtEl>
                                        <p:attrNameLst>
                                          <p:attrName>ppt_x</p:attrName>
                                          <p:attrName>ppt_y</p:attrName>
                                        </p:attrNameLst>
                                      </p:cBhvr>
                                    </p:animMotion>
                                  </p:childTnLst>
                                </p:cTn>
                              </p:par>
                              <p:par>
                                <p:cTn id="42" presetID="0" presetClass="path" presetSubtype="0" fill="hold" grpId="1" nodeType="withEffect">
                                  <p:stCondLst>
                                    <p:cond delay="0"/>
                                  </p:stCondLst>
                                  <p:childTnLst>
                                    <p:animMotion origin="layout" path="M 5E-6 -2.59259E-6 L 0.0165 0.02662 L 0.06233 0.02662 L 0.07657 0.1456 L 0.09914 0.1456 " pathEditMode="relative" rAng="0" ptsTypes="AAAAA">
                                      <p:cBhvr>
                                        <p:cTn id="43" dur="1500" fill="hold"/>
                                        <p:tgtEl>
                                          <p:spTgt spid="41"/>
                                        </p:tgtEl>
                                        <p:attrNameLst>
                                          <p:attrName>ppt_x</p:attrName>
                                          <p:attrName>ppt_y</p:attrName>
                                        </p:attrNameLst>
                                      </p:cBhvr>
                                      <p:rCtr x="4948" y="7269"/>
                                    </p:animMotion>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70"/>
                                        </p:tgtEl>
                                        <p:attrNameLst>
                                          <p:attrName>style.visibility</p:attrName>
                                        </p:attrNameLst>
                                      </p:cBhvr>
                                      <p:to>
                                        <p:strVal val="visible"/>
                                      </p:to>
                                    </p:set>
                                  </p:childTnLst>
                                </p:cTn>
                              </p:par>
                              <p:par>
                                <p:cTn id="48" presetID="10" presetClass="entr" presetSubtype="0" fill="hold" grpId="0" nodeType="withEffect">
                                  <p:stCondLst>
                                    <p:cond delay="0"/>
                                  </p:stCondLst>
                                  <p:childTnLst>
                                    <p:set>
                                      <p:cBhvr>
                                        <p:cTn id="49" dur="1" fill="hold">
                                          <p:stCondLst>
                                            <p:cond delay="0"/>
                                          </p:stCondLst>
                                        </p:cTn>
                                        <p:tgtEl>
                                          <p:spTgt spid="38"/>
                                        </p:tgtEl>
                                        <p:attrNameLst>
                                          <p:attrName>style.visibility</p:attrName>
                                        </p:attrNameLst>
                                      </p:cBhvr>
                                      <p:to>
                                        <p:strVal val="visible"/>
                                      </p:to>
                                    </p:set>
                                    <p:animEffect transition="in" filter="fade">
                                      <p:cBhvr>
                                        <p:cTn id="50" dur="500"/>
                                        <p:tgtEl>
                                          <p:spTgt spid="38"/>
                                        </p:tgtEl>
                                      </p:cBhvr>
                                    </p:animEffect>
                                  </p:childTnLst>
                                </p:cTn>
                              </p:par>
                              <p:par>
                                <p:cTn id="51" presetID="47" presetClass="entr" presetSubtype="0" fill="hold" grpId="0" nodeType="withEffect">
                                  <p:stCondLst>
                                    <p:cond delay="500"/>
                                  </p:stCondLst>
                                  <p:childTnLst>
                                    <p:set>
                                      <p:cBhvr>
                                        <p:cTn id="52" dur="1" fill="hold">
                                          <p:stCondLst>
                                            <p:cond delay="0"/>
                                          </p:stCondLst>
                                        </p:cTn>
                                        <p:tgtEl>
                                          <p:spTgt spid="74"/>
                                        </p:tgtEl>
                                        <p:attrNameLst>
                                          <p:attrName>style.visibility</p:attrName>
                                        </p:attrNameLst>
                                      </p:cBhvr>
                                      <p:to>
                                        <p:strVal val="visible"/>
                                      </p:to>
                                    </p:set>
                                    <p:animEffect transition="in" filter="fade">
                                      <p:cBhvr>
                                        <p:cTn id="53" dur="1000"/>
                                        <p:tgtEl>
                                          <p:spTgt spid="74"/>
                                        </p:tgtEl>
                                      </p:cBhvr>
                                    </p:animEffect>
                                    <p:anim calcmode="lin" valueType="num">
                                      <p:cBhvr>
                                        <p:cTn id="54" dur="1000" fill="hold"/>
                                        <p:tgtEl>
                                          <p:spTgt spid="74"/>
                                        </p:tgtEl>
                                        <p:attrNameLst>
                                          <p:attrName>ppt_x</p:attrName>
                                        </p:attrNameLst>
                                      </p:cBhvr>
                                      <p:tavLst>
                                        <p:tav tm="0">
                                          <p:val>
                                            <p:strVal val="#ppt_x"/>
                                          </p:val>
                                        </p:tav>
                                        <p:tav tm="100000">
                                          <p:val>
                                            <p:strVal val="#ppt_x"/>
                                          </p:val>
                                        </p:tav>
                                      </p:tavLst>
                                    </p:anim>
                                    <p:anim calcmode="lin" valueType="num">
                                      <p:cBhvr>
                                        <p:cTn id="55" dur="1000" fill="hold"/>
                                        <p:tgtEl>
                                          <p:spTgt spid="74"/>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10" presetClass="exit" presetSubtype="0" fill="hold" grpId="1" nodeType="clickEffect">
                                  <p:stCondLst>
                                    <p:cond delay="0"/>
                                  </p:stCondLst>
                                  <p:childTnLst>
                                    <p:animEffect transition="out" filter="fade">
                                      <p:cBhvr>
                                        <p:cTn id="59" dur="500"/>
                                        <p:tgtEl>
                                          <p:spTgt spid="74"/>
                                        </p:tgtEl>
                                      </p:cBhvr>
                                    </p:animEffect>
                                    <p:set>
                                      <p:cBhvr>
                                        <p:cTn id="60" dur="1" fill="hold">
                                          <p:stCondLst>
                                            <p:cond delay="499"/>
                                          </p:stCondLst>
                                        </p:cTn>
                                        <p:tgtEl>
                                          <p:spTgt spid="74"/>
                                        </p:tgtEl>
                                        <p:attrNameLst>
                                          <p:attrName>style.visibility</p:attrName>
                                        </p:attrNameLst>
                                      </p:cBhvr>
                                      <p:to>
                                        <p:strVal val="hidden"/>
                                      </p:to>
                                    </p:set>
                                  </p:childTnLst>
                                </p:cTn>
                              </p:par>
                              <p:par>
                                <p:cTn id="61" presetID="10" presetClass="exit" presetSubtype="0" fill="hold" grpId="1" nodeType="withEffect">
                                  <p:stCondLst>
                                    <p:cond delay="500"/>
                                  </p:stCondLst>
                                  <p:childTnLst>
                                    <p:animEffect transition="out" filter="fade">
                                      <p:cBhvr>
                                        <p:cTn id="62" dur="500"/>
                                        <p:tgtEl>
                                          <p:spTgt spid="70"/>
                                        </p:tgtEl>
                                      </p:cBhvr>
                                    </p:animEffect>
                                    <p:set>
                                      <p:cBhvr>
                                        <p:cTn id="63" dur="1" fill="hold">
                                          <p:stCondLst>
                                            <p:cond delay="499"/>
                                          </p:stCondLst>
                                        </p:cTn>
                                        <p:tgtEl>
                                          <p:spTgt spid="70"/>
                                        </p:tgtEl>
                                        <p:attrNameLst>
                                          <p:attrName>style.visibility</p:attrName>
                                        </p:attrNameLst>
                                      </p:cBhvr>
                                      <p:to>
                                        <p:strVal val="hidden"/>
                                      </p:to>
                                    </p:set>
                                  </p:childTnLst>
                                </p:cTn>
                              </p:par>
                              <p:par>
                                <p:cTn id="64" presetID="10" presetClass="exit" presetSubtype="0" fill="hold" grpId="1" nodeType="withEffect">
                                  <p:stCondLst>
                                    <p:cond delay="500"/>
                                  </p:stCondLst>
                                  <p:childTnLst>
                                    <p:animEffect transition="out" filter="fade">
                                      <p:cBhvr>
                                        <p:cTn id="65" dur="500"/>
                                        <p:tgtEl>
                                          <p:spTgt spid="38"/>
                                        </p:tgtEl>
                                      </p:cBhvr>
                                    </p:animEffect>
                                    <p:set>
                                      <p:cBhvr>
                                        <p:cTn id="66" dur="1" fill="hold">
                                          <p:stCondLst>
                                            <p:cond delay="499"/>
                                          </p:stCondLst>
                                        </p:cTn>
                                        <p:tgtEl>
                                          <p:spTgt spid="38"/>
                                        </p:tgtEl>
                                        <p:attrNameLst>
                                          <p:attrName>style.visibility</p:attrName>
                                        </p:attrNameLst>
                                      </p:cBhvr>
                                      <p:to>
                                        <p:strVal val="hidden"/>
                                      </p:to>
                                    </p:set>
                                  </p:childTnLst>
                                </p:cTn>
                              </p:par>
                            </p:childTnLst>
                          </p:cTn>
                        </p:par>
                        <p:par>
                          <p:cTn id="67" fill="hold">
                            <p:stCondLst>
                              <p:cond delay="1000"/>
                            </p:stCondLst>
                            <p:childTnLst>
                              <p:par>
                                <p:cTn id="68" presetID="0" presetClass="path" presetSubtype="0" fill="hold" grpId="2" nodeType="afterEffect">
                                  <p:stCondLst>
                                    <p:cond delay="0"/>
                                  </p:stCondLst>
                                  <p:childTnLst>
                                    <p:animMotion origin="layout" path="M 0.26546 0.18425 L 0.29185 0.18425 L 0.33195 0.23749 " pathEditMode="relative" ptsTypes="AAA">
                                      <p:cBhvr>
                                        <p:cTn id="69" dur="750" fill="hold"/>
                                        <p:tgtEl>
                                          <p:spTgt spid="76"/>
                                        </p:tgtEl>
                                        <p:attrNameLst>
                                          <p:attrName>ppt_x</p:attrName>
                                          <p:attrName>ppt_y</p:attrName>
                                        </p:attrNameLst>
                                      </p:cBhvr>
                                    </p:animMotion>
                                  </p:childTnLst>
                                </p:cTn>
                              </p:par>
                              <p:par>
                                <p:cTn id="70" presetID="0" presetClass="path" presetSubtype="0" fill="hold" grpId="2" nodeType="withEffect">
                                  <p:stCondLst>
                                    <p:cond delay="0"/>
                                  </p:stCondLst>
                                  <p:childTnLst>
                                    <p:animMotion origin="layout" path="M 0.09914 0.1456 L 0.12483 0.1456 L 0.16494 0.19885 " pathEditMode="relative" rAng="0" ptsTypes="AAA">
                                      <p:cBhvr>
                                        <p:cTn id="71" dur="750" fill="hold"/>
                                        <p:tgtEl>
                                          <p:spTgt spid="41"/>
                                        </p:tgtEl>
                                        <p:attrNameLst>
                                          <p:attrName>ppt_x</p:attrName>
                                          <p:attrName>ppt_y</p:attrName>
                                        </p:attrNameLst>
                                      </p:cBhvr>
                                      <p:rCtr x="3281" y="2662"/>
                                    </p:animMotion>
                                  </p:childTnLst>
                                </p:cTn>
                              </p:par>
                            </p:childTnLst>
                          </p:cTn>
                        </p:par>
                        <p:par>
                          <p:cTn id="72" fill="hold">
                            <p:stCondLst>
                              <p:cond delay="1750"/>
                            </p:stCondLst>
                            <p:childTnLst>
                              <p:par>
                                <p:cTn id="73" presetID="10" presetClass="exit" presetSubtype="0" fill="hold" grpId="3" nodeType="afterEffect">
                                  <p:stCondLst>
                                    <p:cond delay="0"/>
                                  </p:stCondLst>
                                  <p:childTnLst>
                                    <p:animEffect transition="out" filter="fade">
                                      <p:cBhvr>
                                        <p:cTn id="74" dur="500"/>
                                        <p:tgtEl>
                                          <p:spTgt spid="76"/>
                                        </p:tgtEl>
                                      </p:cBhvr>
                                    </p:animEffect>
                                    <p:set>
                                      <p:cBhvr>
                                        <p:cTn id="75" dur="1" fill="hold">
                                          <p:stCondLst>
                                            <p:cond delay="499"/>
                                          </p:stCondLst>
                                        </p:cTn>
                                        <p:tgtEl>
                                          <p:spTgt spid="76"/>
                                        </p:tgtEl>
                                        <p:attrNameLst>
                                          <p:attrName>style.visibility</p:attrName>
                                        </p:attrNameLst>
                                      </p:cBhvr>
                                      <p:to>
                                        <p:strVal val="hidden"/>
                                      </p:to>
                                    </p:set>
                                  </p:childTnLst>
                                </p:cTn>
                              </p:par>
                              <p:par>
                                <p:cTn id="76" presetID="10" presetClass="exit" presetSubtype="0" fill="hold" grpId="3" nodeType="withEffect">
                                  <p:stCondLst>
                                    <p:cond delay="0"/>
                                  </p:stCondLst>
                                  <p:childTnLst>
                                    <p:animEffect transition="out" filter="fade">
                                      <p:cBhvr>
                                        <p:cTn id="77" dur="500"/>
                                        <p:tgtEl>
                                          <p:spTgt spid="41"/>
                                        </p:tgtEl>
                                      </p:cBhvr>
                                    </p:animEffect>
                                    <p:set>
                                      <p:cBhvr>
                                        <p:cTn id="78" dur="1" fill="hold">
                                          <p:stCondLst>
                                            <p:cond delay="499"/>
                                          </p:stCondLst>
                                        </p:cTn>
                                        <p:tgtEl>
                                          <p:spTgt spid="41"/>
                                        </p:tgtEl>
                                        <p:attrNameLst>
                                          <p:attrName>style.visibility</p:attrName>
                                        </p:attrNameLst>
                                      </p:cBhvr>
                                      <p:to>
                                        <p:strVal val="hidden"/>
                                      </p:to>
                                    </p:set>
                                  </p:childTnLst>
                                </p:cTn>
                              </p:par>
                              <p:par>
                                <p:cTn id="79" presetID="10" presetClass="exit" presetSubtype="0" fill="hold" grpId="1" nodeType="withEffect">
                                  <p:stCondLst>
                                    <p:cond delay="0"/>
                                  </p:stCondLst>
                                  <p:childTnLst>
                                    <p:animEffect transition="out" filter="fade">
                                      <p:cBhvr>
                                        <p:cTn id="80" dur="500"/>
                                        <p:tgtEl>
                                          <p:spTgt spid="56"/>
                                        </p:tgtEl>
                                      </p:cBhvr>
                                    </p:animEffect>
                                    <p:set>
                                      <p:cBhvr>
                                        <p:cTn id="81" dur="1" fill="hold">
                                          <p:stCondLst>
                                            <p:cond delay="499"/>
                                          </p:stCondLst>
                                        </p:cTn>
                                        <p:tgtEl>
                                          <p:spTgt spid="56"/>
                                        </p:tgtEl>
                                        <p:attrNameLst>
                                          <p:attrName>style.visibility</p:attrName>
                                        </p:attrNameLst>
                                      </p:cBhvr>
                                      <p:to>
                                        <p:strVal val="hidden"/>
                                      </p:to>
                                    </p:set>
                                  </p:childTnLst>
                                </p:cTn>
                              </p:par>
                              <p:par>
                                <p:cTn id="82" presetID="10" presetClass="exit" presetSubtype="0" fill="hold" grpId="1" nodeType="withEffect">
                                  <p:stCondLst>
                                    <p:cond delay="0"/>
                                  </p:stCondLst>
                                  <p:childTnLst>
                                    <p:animEffect transition="out" filter="fade">
                                      <p:cBhvr>
                                        <p:cTn id="83" dur="500"/>
                                        <p:tgtEl>
                                          <p:spTgt spid="58"/>
                                        </p:tgtEl>
                                      </p:cBhvr>
                                    </p:animEffect>
                                    <p:set>
                                      <p:cBhvr>
                                        <p:cTn id="84" dur="1" fill="hold">
                                          <p:stCondLst>
                                            <p:cond delay="499"/>
                                          </p:stCondLst>
                                        </p:cTn>
                                        <p:tgtEl>
                                          <p:spTgt spid="58"/>
                                        </p:tgtEl>
                                        <p:attrNameLst>
                                          <p:attrName>style.visibility</p:attrName>
                                        </p:attrNameLst>
                                      </p:cBhvr>
                                      <p:to>
                                        <p:strVal val="hidden"/>
                                      </p:to>
                                    </p:set>
                                  </p:childTnLst>
                                </p:cTn>
                              </p:par>
                              <p:par>
                                <p:cTn id="85" presetID="10" presetClass="exit" presetSubtype="0" fill="hold" grpId="0" nodeType="withEffect">
                                  <p:stCondLst>
                                    <p:cond delay="0"/>
                                  </p:stCondLst>
                                  <p:childTnLst>
                                    <p:animEffect transition="out" filter="fade">
                                      <p:cBhvr>
                                        <p:cTn id="86" dur="500"/>
                                        <p:tgtEl>
                                          <p:spTgt spid="82">
                                            <p:txEl>
                                              <p:pRg st="0" end="0"/>
                                            </p:txEl>
                                          </p:spTgt>
                                        </p:tgtEl>
                                      </p:cBhvr>
                                    </p:animEffect>
                                    <p:set>
                                      <p:cBhvr>
                                        <p:cTn id="87" dur="1" fill="hold">
                                          <p:stCondLst>
                                            <p:cond delay="499"/>
                                          </p:stCondLst>
                                        </p:cTn>
                                        <p:tgtEl>
                                          <p:spTgt spid="82">
                                            <p:txEl>
                                              <p:pRg st="0" end="0"/>
                                            </p:txEl>
                                          </p:spTgt>
                                        </p:tgtEl>
                                        <p:attrNameLst>
                                          <p:attrName>style.visibility</p:attrName>
                                        </p:attrNameLst>
                                      </p:cBhvr>
                                      <p:to>
                                        <p:strVal val="hidden"/>
                                      </p:to>
                                    </p:set>
                                  </p:childTnLst>
                                </p:cTn>
                              </p:par>
                              <p:par>
                                <p:cTn id="88" presetID="10" presetClass="exit" presetSubtype="0" fill="hold" grpId="0" nodeType="withEffect">
                                  <p:stCondLst>
                                    <p:cond delay="0"/>
                                  </p:stCondLst>
                                  <p:childTnLst>
                                    <p:animEffect transition="out" filter="fade">
                                      <p:cBhvr>
                                        <p:cTn id="89" dur="500"/>
                                        <p:tgtEl>
                                          <p:spTgt spid="82">
                                            <p:txEl>
                                              <p:pRg st="1" end="1"/>
                                            </p:txEl>
                                          </p:spTgt>
                                        </p:tgtEl>
                                      </p:cBhvr>
                                    </p:animEffect>
                                    <p:set>
                                      <p:cBhvr>
                                        <p:cTn id="90" dur="1" fill="hold">
                                          <p:stCondLst>
                                            <p:cond delay="499"/>
                                          </p:stCondLst>
                                        </p:cTn>
                                        <p:tgtEl>
                                          <p:spTgt spid="82">
                                            <p:txEl>
                                              <p:pRg st="1" end="1"/>
                                            </p:txEl>
                                          </p:spTgt>
                                        </p:tgtEl>
                                        <p:attrNameLst>
                                          <p:attrName>style.visibility</p:attrName>
                                        </p:attrNameLst>
                                      </p:cBhvr>
                                      <p:to>
                                        <p:strVal val="hidden"/>
                                      </p:to>
                                    </p:set>
                                  </p:childTnLst>
                                </p:cTn>
                              </p:par>
                              <p:par>
                                <p:cTn id="91" presetID="10" presetClass="exit" presetSubtype="0" fill="hold" nodeType="withEffect">
                                  <p:stCondLst>
                                    <p:cond delay="0"/>
                                  </p:stCondLst>
                                  <p:childTnLst>
                                    <p:animEffect transition="out" filter="fade">
                                      <p:cBhvr>
                                        <p:cTn id="92" dur="500"/>
                                        <p:tgtEl>
                                          <p:spTgt spid="102"/>
                                        </p:tgtEl>
                                      </p:cBhvr>
                                    </p:animEffect>
                                    <p:set>
                                      <p:cBhvr>
                                        <p:cTn id="93" dur="1" fill="hold">
                                          <p:stCondLst>
                                            <p:cond delay="499"/>
                                          </p:stCondLst>
                                        </p:cTn>
                                        <p:tgtEl>
                                          <p:spTgt spid="102"/>
                                        </p:tgtEl>
                                        <p:attrNameLst>
                                          <p:attrName>style.visibility</p:attrName>
                                        </p:attrNameLst>
                                      </p:cBhvr>
                                      <p:to>
                                        <p:strVal val="hidden"/>
                                      </p:to>
                                    </p:set>
                                  </p:childTnLst>
                                </p:cTn>
                              </p:par>
                              <p:par>
                                <p:cTn id="94" presetID="10" presetClass="exit" presetSubtype="0" fill="hold" nodeType="withEffect">
                                  <p:stCondLst>
                                    <p:cond delay="0"/>
                                  </p:stCondLst>
                                  <p:childTnLst>
                                    <p:animEffect transition="out" filter="fade">
                                      <p:cBhvr>
                                        <p:cTn id="95" dur="500"/>
                                        <p:tgtEl>
                                          <p:spTgt spid="67"/>
                                        </p:tgtEl>
                                      </p:cBhvr>
                                    </p:animEffect>
                                    <p:set>
                                      <p:cBhvr>
                                        <p:cTn id="96" dur="1" fill="hold">
                                          <p:stCondLst>
                                            <p:cond delay="499"/>
                                          </p:stCondLst>
                                        </p:cTn>
                                        <p:tgtEl>
                                          <p:spTgt spid="67"/>
                                        </p:tgtEl>
                                        <p:attrNameLst>
                                          <p:attrName>style.visibility</p:attrName>
                                        </p:attrNameLst>
                                      </p:cBhvr>
                                      <p:to>
                                        <p:strVal val="hidden"/>
                                      </p:to>
                                    </p:set>
                                  </p:childTnLst>
                                </p:cTn>
                              </p:par>
                              <p:par>
                                <p:cTn id="97" presetID="10" presetClass="exit" presetSubtype="0" fill="hold" grpId="0" nodeType="withEffect">
                                  <p:stCondLst>
                                    <p:cond delay="0"/>
                                  </p:stCondLst>
                                  <p:childTnLst>
                                    <p:animEffect transition="out" filter="fade">
                                      <p:cBhvr>
                                        <p:cTn id="98" dur="500"/>
                                        <p:tgtEl>
                                          <p:spTgt spid="17"/>
                                        </p:tgtEl>
                                      </p:cBhvr>
                                    </p:animEffect>
                                    <p:set>
                                      <p:cBhvr>
                                        <p:cTn id="99" dur="1" fill="hold">
                                          <p:stCondLst>
                                            <p:cond delay="499"/>
                                          </p:stCondLst>
                                        </p:cTn>
                                        <p:tgtEl>
                                          <p:spTgt spid="17"/>
                                        </p:tgtEl>
                                        <p:attrNameLst>
                                          <p:attrName>style.visibility</p:attrName>
                                        </p:attrNameLst>
                                      </p:cBhvr>
                                      <p:to>
                                        <p:strVal val="hidden"/>
                                      </p:to>
                                    </p:set>
                                  </p:childTnLst>
                                </p:cTn>
                              </p:par>
                              <p:par>
                                <p:cTn id="100" presetID="10" presetClass="exit" presetSubtype="0" fill="hold" grpId="0" nodeType="withEffect">
                                  <p:stCondLst>
                                    <p:cond delay="0"/>
                                  </p:stCondLst>
                                  <p:childTnLst>
                                    <p:animEffect transition="out" filter="fade">
                                      <p:cBhvr>
                                        <p:cTn id="101" dur="500"/>
                                        <p:tgtEl>
                                          <p:spTgt spid="13"/>
                                        </p:tgtEl>
                                      </p:cBhvr>
                                    </p:animEffect>
                                    <p:set>
                                      <p:cBhvr>
                                        <p:cTn id="102" dur="1" fill="hold">
                                          <p:stCondLst>
                                            <p:cond delay="499"/>
                                          </p:stCondLst>
                                        </p:cTn>
                                        <p:tgtEl>
                                          <p:spTgt spid="13"/>
                                        </p:tgtEl>
                                        <p:attrNameLst>
                                          <p:attrName>style.visibility</p:attrName>
                                        </p:attrNameLst>
                                      </p:cBhvr>
                                      <p:to>
                                        <p:strVal val="hidden"/>
                                      </p:to>
                                    </p:set>
                                  </p:childTnLst>
                                </p:cTn>
                              </p:par>
                              <p:par>
                                <p:cTn id="103" presetID="10" presetClass="entr" presetSubtype="0" fill="hold" grpId="0" nodeType="withEffect">
                                  <p:stCondLst>
                                    <p:cond delay="0"/>
                                  </p:stCondLst>
                                  <p:childTnLst>
                                    <p:set>
                                      <p:cBhvr>
                                        <p:cTn id="104" dur="1" fill="hold">
                                          <p:stCondLst>
                                            <p:cond delay="0"/>
                                          </p:stCondLst>
                                        </p:cTn>
                                        <p:tgtEl>
                                          <p:spTgt spid="105"/>
                                        </p:tgtEl>
                                        <p:attrNameLst>
                                          <p:attrName>style.visibility</p:attrName>
                                        </p:attrNameLst>
                                      </p:cBhvr>
                                      <p:to>
                                        <p:strVal val="visible"/>
                                      </p:to>
                                    </p:set>
                                    <p:animEffect transition="in" filter="fade">
                                      <p:cBhvr>
                                        <p:cTn id="105" dur="500"/>
                                        <p:tgtEl>
                                          <p:spTgt spid="105"/>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108"/>
                                        </p:tgtEl>
                                        <p:attrNameLst>
                                          <p:attrName>style.visibility</p:attrName>
                                        </p:attrNameLst>
                                      </p:cBhvr>
                                      <p:to>
                                        <p:strVal val="visible"/>
                                      </p:to>
                                    </p:set>
                                    <p:animEffect transition="in" filter="fade">
                                      <p:cBhvr>
                                        <p:cTn id="108" dur="5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 grpId="0" animBg="1"/>
      <p:bldP spid="13" grpId="0" animBg="1"/>
      <p:bldP spid="17" grpId="0" animBg="1"/>
      <p:bldP spid="56" grpId="0" animBg="1"/>
      <p:bldP spid="56" grpId="1" animBg="1"/>
      <p:bldP spid="58" grpId="0" animBg="1"/>
      <p:bldP spid="58" grpId="1" animBg="1"/>
      <p:bldP spid="76" grpId="0" animBg="1"/>
      <p:bldP spid="76" grpId="1" animBg="1"/>
      <p:bldP spid="76" grpId="2" animBg="1"/>
      <p:bldP spid="76" grpId="3" animBg="1"/>
      <p:bldP spid="76" grpId="4" animBg="1"/>
      <p:bldP spid="3" grpId="0" animBg="1"/>
      <p:bldP spid="3" grpId="1" animBg="1"/>
      <p:bldP spid="70" grpId="0" animBg="1"/>
      <p:bldP spid="70" grpId="1" animBg="1"/>
      <p:bldP spid="38" grpId="0" animBg="1"/>
      <p:bldP spid="38" grpId="1" animBg="1"/>
      <p:bldP spid="41" grpId="0" animBg="1"/>
      <p:bldP spid="41" grpId="1" animBg="1"/>
      <p:bldP spid="41" grpId="2" animBg="1"/>
      <p:bldP spid="41" grpId="3" animBg="1"/>
      <p:bldP spid="74" grpId="0" animBg="1"/>
      <p:bldP spid="74" grpId="1" animBg="1"/>
      <p:bldP spid="82" grpId="0" uiExpand="1" build="allAtOnce"/>
      <p:bldP spid="10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Freeform 143"/>
          <p:cNvSpPr/>
          <p:nvPr/>
        </p:nvSpPr>
        <p:spPr>
          <a:xfrm>
            <a:off x="1121977" y="670347"/>
            <a:ext cx="323462" cy="37800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rgbClr val="70AD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4" name="Rounded Rectangle 3"/>
          <p:cNvSpPr/>
          <p:nvPr/>
        </p:nvSpPr>
        <p:spPr>
          <a:xfrm>
            <a:off x="5760244" y="1675522"/>
            <a:ext cx="1255058" cy="824753"/>
          </a:xfrm>
          <a:prstGeom prst="roundRect">
            <a:avLst/>
          </a:prstGeom>
          <a:solidFill>
            <a:srgbClr val="D0CECE">
              <a:alpha val="74902"/>
            </a:srgbClr>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5" name="Rounded Rectangle 4"/>
          <p:cNvSpPr/>
          <p:nvPr/>
        </p:nvSpPr>
        <p:spPr>
          <a:xfrm>
            <a:off x="1398116" y="1271190"/>
            <a:ext cx="1255058" cy="824753"/>
          </a:xfrm>
          <a:prstGeom prst="roundRect">
            <a:avLst/>
          </a:prstGeom>
          <a:solidFill>
            <a:srgbClr val="D0CECE">
              <a:alpha val="74902"/>
            </a:srgbClr>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6" name="Rounded Rectangle 5"/>
          <p:cNvSpPr/>
          <p:nvPr/>
        </p:nvSpPr>
        <p:spPr>
          <a:xfrm>
            <a:off x="2858616" y="778030"/>
            <a:ext cx="1255058" cy="824753"/>
          </a:xfrm>
          <a:prstGeom prst="roundRect">
            <a:avLst/>
          </a:prstGeom>
          <a:solidFill>
            <a:srgbClr val="D0CECE">
              <a:alpha val="74902"/>
            </a:srgbClr>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7" name="Rounded Rectangle 6"/>
          <p:cNvSpPr/>
          <p:nvPr/>
        </p:nvSpPr>
        <p:spPr>
          <a:xfrm>
            <a:off x="5508706" y="1523209"/>
            <a:ext cx="1255058" cy="824753"/>
          </a:xfrm>
          <a:prstGeom prst="roundRect">
            <a:avLst/>
          </a:prstGeom>
          <a:solidFill>
            <a:srgbClr val="D0CECE">
              <a:alpha val="74902"/>
            </a:srgbClr>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8" name="Rounded Rectangle 7"/>
          <p:cNvSpPr/>
          <p:nvPr/>
        </p:nvSpPr>
        <p:spPr>
          <a:xfrm>
            <a:off x="3778844" y="1953852"/>
            <a:ext cx="1255058" cy="824753"/>
          </a:xfrm>
          <a:prstGeom prst="roundRect">
            <a:avLst/>
          </a:prstGeom>
          <a:solidFill>
            <a:srgbClr val="D0CECE">
              <a:alpha val="74902"/>
            </a:srgbClr>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29" name="Freeform 28"/>
          <p:cNvSpPr/>
          <p:nvPr/>
        </p:nvSpPr>
        <p:spPr>
          <a:xfrm>
            <a:off x="1021080" y="1013460"/>
            <a:ext cx="4549140" cy="762000"/>
          </a:xfrm>
          <a:custGeom>
            <a:avLst/>
            <a:gdLst>
              <a:gd name="connsiteX0" fmla="*/ 0 w 4549140"/>
              <a:gd name="connsiteY0" fmla="*/ 480060 h 762000"/>
              <a:gd name="connsiteX1" fmla="*/ 1028700 w 4549140"/>
              <a:gd name="connsiteY1" fmla="*/ 480060 h 762000"/>
              <a:gd name="connsiteX2" fmla="*/ 1805940 w 4549140"/>
              <a:gd name="connsiteY2" fmla="*/ 0 h 762000"/>
              <a:gd name="connsiteX3" fmla="*/ 2773680 w 4549140"/>
              <a:gd name="connsiteY3" fmla="*/ 0 h 762000"/>
              <a:gd name="connsiteX4" fmla="*/ 3025140 w 4549140"/>
              <a:gd name="connsiteY4" fmla="*/ 762000 h 762000"/>
              <a:gd name="connsiteX5" fmla="*/ 4549140 w 4549140"/>
              <a:gd name="connsiteY5" fmla="*/ 762000 h 76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49140" h="762000">
                <a:moveTo>
                  <a:pt x="0" y="480060"/>
                </a:moveTo>
                <a:lnTo>
                  <a:pt x="1028700" y="480060"/>
                </a:lnTo>
                <a:lnTo>
                  <a:pt x="1805940" y="0"/>
                </a:lnTo>
                <a:lnTo>
                  <a:pt x="2773680" y="0"/>
                </a:lnTo>
                <a:lnTo>
                  <a:pt x="3025140" y="762000"/>
                </a:lnTo>
                <a:lnTo>
                  <a:pt x="4549140" y="762000"/>
                </a:lnTo>
              </a:path>
            </a:pathLst>
          </a:custGeom>
          <a:noFill/>
          <a:ln w="50800">
            <a:solidFill>
              <a:schemeClr val="accent2"/>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8" name="Freeform 17"/>
          <p:cNvSpPr/>
          <p:nvPr/>
        </p:nvSpPr>
        <p:spPr>
          <a:xfrm>
            <a:off x="1021080" y="1013460"/>
            <a:ext cx="4549140" cy="762000"/>
          </a:xfrm>
          <a:custGeom>
            <a:avLst/>
            <a:gdLst>
              <a:gd name="connsiteX0" fmla="*/ 0 w 4549140"/>
              <a:gd name="connsiteY0" fmla="*/ 480060 h 762000"/>
              <a:gd name="connsiteX1" fmla="*/ 1028700 w 4549140"/>
              <a:gd name="connsiteY1" fmla="*/ 480060 h 762000"/>
              <a:gd name="connsiteX2" fmla="*/ 1805940 w 4549140"/>
              <a:gd name="connsiteY2" fmla="*/ 0 h 762000"/>
              <a:gd name="connsiteX3" fmla="*/ 2773680 w 4549140"/>
              <a:gd name="connsiteY3" fmla="*/ 0 h 762000"/>
              <a:gd name="connsiteX4" fmla="*/ 3025140 w 4549140"/>
              <a:gd name="connsiteY4" fmla="*/ 762000 h 762000"/>
              <a:gd name="connsiteX5" fmla="*/ 4549140 w 4549140"/>
              <a:gd name="connsiteY5" fmla="*/ 762000 h 76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49140" h="762000">
                <a:moveTo>
                  <a:pt x="0" y="480060"/>
                </a:moveTo>
                <a:lnTo>
                  <a:pt x="1028700" y="480060"/>
                </a:lnTo>
                <a:lnTo>
                  <a:pt x="1805940" y="0"/>
                </a:lnTo>
                <a:lnTo>
                  <a:pt x="2773680" y="0"/>
                </a:lnTo>
                <a:lnTo>
                  <a:pt x="3025140" y="762000"/>
                </a:lnTo>
                <a:lnTo>
                  <a:pt x="4549140" y="762000"/>
                </a:lnTo>
              </a:path>
            </a:pathLst>
          </a:custGeom>
          <a:noFill/>
          <a:ln w="50800">
            <a:solidFill>
              <a:schemeClr val="tx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9" name="Rounded Rectangle 8"/>
          <p:cNvSpPr/>
          <p:nvPr/>
        </p:nvSpPr>
        <p:spPr>
          <a:xfrm>
            <a:off x="5257173" y="1370904"/>
            <a:ext cx="1255058" cy="824753"/>
          </a:xfrm>
          <a:prstGeom prst="roundRect">
            <a:avLst/>
          </a:prstGeom>
          <a:solidFill>
            <a:srgbClr val="D0CECE">
              <a:alpha val="74902"/>
            </a:srgbClr>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20" name="Freeform 19"/>
          <p:cNvSpPr/>
          <p:nvPr/>
        </p:nvSpPr>
        <p:spPr>
          <a:xfrm>
            <a:off x="3985260" y="1569720"/>
            <a:ext cx="1485900" cy="0"/>
          </a:xfrm>
          <a:custGeom>
            <a:avLst/>
            <a:gdLst>
              <a:gd name="connsiteX0" fmla="*/ 0 w 1485900"/>
              <a:gd name="connsiteY0" fmla="*/ 0 h 0"/>
              <a:gd name="connsiteX1" fmla="*/ 1485900 w 1485900"/>
              <a:gd name="connsiteY1" fmla="*/ 0 h 0"/>
            </a:gdLst>
            <a:ahLst/>
            <a:cxnLst>
              <a:cxn ang="0">
                <a:pos x="connsiteX0" y="connsiteY0"/>
              </a:cxn>
              <a:cxn ang="0">
                <a:pos x="connsiteX1" y="connsiteY1"/>
              </a:cxn>
            </a:cxnLst>
            <a:rect l="l" t="t" r="r" b="b"/>
            <a:pathLst>
              <a:path w="1485900">
                <a:moveTo>
                  <a:pt x="0" y="0"/>
                </a:moveTo>
                <a:lnTo>
                  <a:pt x="1485900" y="0"/>
                </a:lnTo>
              </a:path>
            </a:pathLst>
          </a:custGeom>
          <a:noFill/>
          <a:ln w="50800">
            <a:solidFill>
              <a:schemeClr val="accent2"/>
            </a:solidFill>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dirty="0"/>
          </a:p>
        </p:txBody>
      </p:sp>
      <p:sp>
        <p:nvSpPr>
          <p:cNvPr id="13" name="Freeform 12"/>
          <p:cNvSpPr/>
          <p:nvPr/>
        </p:nvSpPr>
        <p:spPr>
          <a:xfrm>
            <a:off x="1121977" y="670347"/>
            <a:ext cx="323462" cy="37800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rgbClr val="70AD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4" name="Freeform 13"/>
          <p:cNvSpPr/>
          <p:nvPr/>
        </p:nvSpPr>
        <p:spPr>
          <a:xfrm>
            <a:off x="586073" y="1297517"/>
            <a:ext cx="323462" cy="37800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nvGrpSpPr>
          <p:cNvPr id="43" name="Group 42"/>
          <p:cNvGrpSpPr/>
          <p:nvPr/>
        </p:nvGrpSpPr>
        <p:grpSpPr>
          <a:xfrm>
            <a:off x="568582" y="778031"/>
            <a:ext cx="6446721" cy="2000574"/>
            <a:chOff x="568581" y="778030"/>
            <a:chExt cx="6446721" cy="2000574"/>
          </a:xfrm>
        </p:grpSpPr>
        <p:grpSp>
          <p:nvGrpSpPr>
            <p:cNvPr id="42" name="Group 41"/>
            <p:cNvGrpSpPr/>
            <p:nvPr/>
          </p:nvGrpSpPr>
          <p:grpSpPr>
            <a:xfrm>
              <a:off x="1021080" y="914400"/>
              <a:ext cx="5273040" cy="1638300"/>
              <a:chOff x="1021080" y="914400"/>
              <a:chExt cx="5273040" cy="1638300"/>
            </a:xfrm>
          </p:grpSpPr>
          <p:sp>
            <p:nvSpPr>
              <p:cNvPr id="31" name="Freeform 30"/>
              <p:cNvSpPr/>
              <p:nvPr/>
            </p:nvSpPr>
            <p:spPr>
              <a:xfrm>
                <a:off x="1752600" y="914400"/>
                <a:ext cx="3048000" cy="1638300"/>
              </a:xfrm>
              <a:custGeom>
                <a:avLst/>
                <a:gdLst>
                  <a:gd name="connsiteX0" fmla="*/ 0 w 3048000"/>
                  <a:gd name="connsiteY0" fmla="*/ 0 h 1638300"/>
                  <a:gd name="connsiteX1" fmla="*/ 1325880 w 3048000"/>
                  <a:gd name="connsiteY1" fmla="*/ 0 h 1638300"/>
                  <a:gd name="connsiteX2" fmla="*/ 1699260 w 3048000"/>
                  <a:gd name="connsiteY2" fmla="*/ 457200 h 1638300"/>
                  <a:gd name="connsiteX3" fmla="*/ 2103120 w 3048000"/>
                  <a:gd name="connsiteY3" fmla="*/ 457200 h 1638300"/>
                  <a:gd name="connsiteX4" fmla="*/ 2255520 w 3048000"/>
                  <a:gd name="connsiteY4" fmla="*/ 1264920 h 1638300"/>
                  <a:gd name="connsiteX5" fmla="*/ 2689860 w 3048000"/>
                  <a:gd name="connsiteY5" fmla="*/ 1264920 h 1638300"/>
                  <a:gd name="connsiteX6" fmla="*/ 3048000 w 3048000"/>
                  <a:gd name="connsiteY6" fmla="*/ 1638300 h 163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48000" h="1638300">
                    <a:moveTo>
                      <a:pt x="0" y="0"/>
                    </a:moveTo>
                    <a:lnTo>
                      <a:pt x="1325880" y="0"/>
                    </a:lnTo>
                    <a:lnTo>
                      <a:pt x="1699260" y="457200"/>
                    </a:lnTo>
                    <a:lnTo>
                      <a:pt x="2103120" y="457200"/>
                    </a:lnTo>
                    <a:lnTo>
                      <a:pt x="2255520" y="1264920"/>
                    </a:lnTo>
                    <a:lnTo>
                      <a:pt x="2689860" y="1264920"/>
                    </a:lnTo>
                    <a:lnTo>
                      <a:pt x="3048000" y="1638300"/>
                    </a:lnTo>
                  </a:path>
                </a:pathLst>
              </a:custGeom>
              <a:noFill/>
              <a:ln w="50800">
                <a:solidFill>
                  <a:schemeClr val="tx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32" name="Freeform 31"/>
              <p:cNvSpPr/>
              <p:nvPr/>
            </p:nvSpPr>
            <p:spPr>
              <a:xfrm>
                <a:off x="1021080" y="1569720"/>
                <a:ext cx="5273040" cy="541020"/>
              </a:xfrm>
              <a:custGeom>
                <a:avLst/>
                <a:gdLst>
                  <a:gd name="connsiteX0" fmla="*/ 0 w 5341620"/>
                  <a:gd name="connsiteY0" fmla="*/ 0 h 541020"/>
                  <a:gd name="connsiteX1" fmla="*/ 1097280 w 5341620"/>
                  <a:gd name="connsiteY1" fmla="*/ 0 h 541020"/>
                  <a:gd name="connsiteX2" fmla="*/ 1638300 w 5341620"/>
                  <a:gd name="connsiteY2" fmla="*/ 541020 h 541020"/>
                  <a:gd name="connsiteX3" fmla="*/ 3962400 w 5341620"/>
                  <a:gd name="connsiteY3" fmla="*/ 541020 h 541020"/>
                  <a:gd name="connsiteX4" fmla="*/ 4419600 w 5341620"/>
                  <a:gd name="connsiteY4" fmla="*/ 411480 h 541020"/>
                  <a:gd name="connsiteX5" fmla="*/ 5341620 w 5341620"/>
                  <a:gd name="connsiteY5" fmla="*/ 411480 h 541020"/>
                  <a:gd name="connsiteX0" fmla="*/ 0 w 5341620"/>
                  <a:gd name="connsiteY0" fmla="*/ 0 h 541020"/>
                  <a:gd name="connsiteX1" fmla="*/ 647700 w 5341620"/>
                  <a:gd name="connsiteY1" fmla="*/ 0 h 541020"/>
                  <a:gd name="connsiteX2" fmla="*/ 1097280 w 5341620"/>
                  <a:gd name="connsiteY2" fmla="*/ 0 h 541020"/>
                  <a:gd name="connsiteX3" fmla="*/ 1638300 w 5341620"/>
                  <a:gd name="connsiteY3" fmla="*/ 541020 h 541020"/>
                  <a:gd name="connsiteX4" fmla="*/ 3962400 w 5341620"/>
                  <a:gd name="connsiteY4" fmla="*/ 541020 h 541020"/>
                  <a:gd name="connsiteX5" fmla="*/ 4419600 w 5341620"/>
                  <a:gd name="connsiteY5" fmla="*/ 411480 h 541020"/>
                  <a:gd name="connsiteX6" fmla="*/ 5341620 w 5341620"/>
                  <a:gd name="connsiteY6" fmla="*/ 411480 h 541020"/>
                  <a:gd name="connsiteX0" fmla="*/ 0 w 5265420"/>
                  <a:gd name="connsiteY0" fmla="*/ 403860 h 541020"/>
                  <a:gd name="connsiteX1" fmla="*/ 571500 w 5265420"/>
                  <a:gd name="connsiteY1" fmla="*/ 0 h 541020"/>
                  <a:gd name="connsiteX2" fmla="*/ 1021080 w 5265420"/>
                  <a:gd name="connsiteY2" fmla="*/ 0 h 541020"/>
                  <a:gd name="connsiteX3" fmla="*/ 1562100 w 5265420"/>
                  <a:gd name="connsiteY3" fmla="*/ 541020 h 541020"/>
                  <a:gd name="connsiteX4" fmla="*/ 3886200 w 5265420"/>
                  <a:gd name="connsiteY4" fmla="*/ 541020 h 541020"/>
                  <a:gd name="connsiteX5" fmla="*/ 4343400 w 5265420"/>
                  <a:gd name="connsiteY5" fmla="*/ 411480 h 541020"/>
                  <a:gd name="connsiteX6" fmla="*/ 5265420 w 5265420"/>
                  <a:gd name="connsiteY6" fmla="*/ 411480 h 541020"/>
                  <a:gd name="connsiteX0" fmla="*/ 0 w 5273040"/>
                  <a:gd name="connsiteY0" fmla="*/ 502920 h 541020"/>
                  <a:gd name="connsiteX1" fmla="*/ 579120 w 5273040"/>
                  <a:gd name="connsiteY1" fmla="*/ 0 h 541020"/>
                  <a:gd name="connsiteX2" fmla="*/ 1028700 w 5273040"/>
                  <a:gd name="connsiteY2" fmla="*/ 0 h 541020"/>
                  <a:gd name="connsiteX3" fmla="*/ 1569720 w 5273040"/>
                  <a:gd name="connsiteY3" fmla="*/ 541020 h 541020"/>
                  <a:gd name="connsiteX4" fmla="*/ 3893820 w 5273040"/>
                  <a:gd name="connsiteY4" fmla="*/ 541020 h 541020"/>
                  <a:gd name="connsiteX5" fmla="*/ 4351020 w 5273040"/>
                  <a:gd name="connsiteY5" fmla="*/ 411480 h 541020"/>
                  <a:gd name="connsiteX6" fmla="*/ 5273040 w 5273040"/>
                  <a:gd name="connsiteY6" fmla="*/ 411480 h 541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3040" h="541020">
                    <a:moveTo>
                      <a:pt x="0" y="502920"/>
                    </a:moveTo>
                    <a:lnTo>
                      <a:pt x="579120" y="0"/>
                    </a:lnTo>
                    <a:lnTo>
                      <a:pt x="1028700" y="0"/>
                    </a:lnTo>
                    <a:lnTo>
                      <a:pt x="1569720" y="541020"/>
                    </a:lnTo>
                    <a:lnTo>
                      <a:pt x="3893820" y="541020"/>
                    </a:lnTo>
                    <a:lnTo>
                      <a:pt x="4351020" y="411480"/>
                    </a:lnTo>
                    <a:lnTo>
                      <a:pt x="5273040" y="411480"/>
                    </a:lnTo>
                  </a:path>
                </a:pathLst>
              </a:custGeom>
              <a:noFill/>
              <a:ln w="50800">
                <a:solidFill>
                  <a:schemeClr val="tx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33" name="Freeform 32"/>
              <p:cNvSpPr/>
              <p:nvPr/>
            </p:nvSpPr>
            <p:spPr>
              <a:xfrm>
                <a:off x="3985260" y="1569720"/>
                <a:ext cx="1485900" cy="0"/>
              </a:xfrm>
              <a:custGeom>
                <a:avLst/>
                <a:gdLst>
                  <a:gd name="connsiteX0" fmla="*/ 0 w 1485900"/>
                  <a:gd name="connsiteY0" fmla="*/ 0 h 0"/>
                  <a:gd name="connsiteX1" fmla="*/ 1485900 w 1485900"/>
                  <a:gd name="connsiteY1" fmla="*/ 0 h 0"/>
                </a:gdLst>
                <a:ahLst/>
                <a:cxnLst>
                  <a:cxn ang="0">
                    <a:pos x="connsiteX0" y="connsiteY0"/>
                  </a:cxn>
                  <a:cxn ang="0">
                    <a:pos x="connsiteX1" y="connsiteY1"/>
                  </a:cxn>
                </a:cxnLst>
                <a:rect l="l" t="t" r="r" b="b"/>
                <a:pathLst>
                  <a:path w="1485900">
                    <a:moveTo>
                      <a:pt x="0" y="0"/>
                    </a:moveTo>
                    <a:lnTo>
                      <a:pt x="1485900" y="0"/>
                    </a:lnTo>
                  </a:path>
                </a:pathLst>
              </a:custGeom>
              <a:noFill/>
              <a:ln w="50800">
                <a:solidFill>
                  <a:schemeClr val="tx1"/>
                </a:solidFill>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dirty="0"/>
              </a:p>
            </p:txBody>
          </p:sp>
        </p:grpSp>
        <p:grpSp>
          <p:nvGrpSpPr>
            <p:cNvPr id="37" name="Group 36"/>
            <p:cNvGrpSpPr/>
            <p:nvPr/>
          </p:nvGrpSpPr>
          <p:grpSpPr>
            <a:xfrm>
              <a:off x="1398116" y="778030"/>
              <a:ext cx="5617186" cy="2000574"/>
              <a:chOff x="1398116" y="778030"/>
              <a:chExt cx="5617186" cy="2000574"/>
            </a:xfrm>
          </p:grpSpPr>
          <p:sp>
            <p:nvSpPr>
              <p:cNvPr id="24" name="Rounded Rectangle 23"/>
              <p:cNvSpPr/>
              <p:nvPr/>
            </p:nvSpPr>
            <p:spPr>
              <a:xfrm>
                <a:off x="5760244" y="1675521"/>
                <a:ext cx="1255058" cy="824753"/>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25" name="Rounded Rectangle 24"/>
              <p:cNvSpPr/>
              <p:nvPr/>
            </p:nvSpPr>
            <p:spPr>
              <a:xfrm>
                <a:off x="1398116" y="1271190"/>
                <a:ext cx="1255058" cy="824753"/>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26" name="Rounded Rectangle 25"/>
              <p:cNvSpPr/>
              <p:nvPr/>
            </p:nvSpPr>
            <p:spPr>
              <a:xfrm>
                <a:off x="2858616" y="778030"/>
                <a:ext cx="1255058" cy="824753"/>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27" name="Rounded Rectangle 26"/>
              <p:cNvSpPr/>
              <p:nvPr/>
            </p:nvSpPr>
            <p:spPr>
              <a:xfrm>
                <a:off x="5508706" y="1523209"/>
                <a:ext cx="1255058" cy="824753"/>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28" name="Rounded Rectangle 27"/>
              <p:cNvSpPr/>
              <p:nvPr/>
            </p:nvSpPr>
            <p:spPr>
              <a:xfrm>
                <a:off x="3778844" y="1953851"/>
                <a:ext cx="1255058" cy="824753"/>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30" name="Rounded Rectangle 29"/>
              <p:cNvSpPr/>
              <p:nvPr/>
            </p:nvSpPr>
            <p:spPr>
              <a:xfrm>
                <a:off x="5257173" y="1370903"/>
                <a:ext cx="1255058" cy="824753"/>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grpSp>
          <p:nvGrpSpPr>
            <p:cNvPr id="40" name="Group 39"/>
            <p:cNvGrpSpPr/>
            <p:nvPr/>
          </p:nvGrpSpPr>
          <p:grpSpPr>
            <a:xfrm>
              <a:off x="568581" y="1297517"/>
              <a:ext cx="340954" cy="971204"/>
              <a:chOff x="568581" y="1297517"/>
              <a:chExt cx="340954" cy="971204"/>
            </a:xfrm>
          </p:grpSpPr>
          <p:sp>
            <p:nvSpPr>
              <p:cNvPr id="35" name="Freeform 34"/>
              <p:cNvSpPr/>
              <p:nvPr/>
            </p:nvSpPr>
            <p:spPr>
              <a:xfrm>
                <a:off x="586073" y="1297517"/>
                <a:ext cx="323462" cy="37800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36" name="Freeform 35"/>
              <p:cNvSpPr/>
              <p:nvPr/>
            </p:nvSpPr>
            <p:spPr>
              <a:xfrm>
                <a:off x="568581" y="1890717"/>
                <a:ext cx="323462" cy="37800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grpSp>
      <p:sp>
        <p:nvSpPr>
          <p:cNvPr id="70" name="Freeform 69"/>
          <p:cNvSpPr/>
          <p:nvPr/>
        </p:nvSpPr>
        <p:spPr>
          <a:xfrm>
            <a:off x="1121977" y="670347"/>
            <a:ext cx="323462" cy="37800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nvGrpSpPr>
          <p:cNvPr id="3" name="Group 2"/>
          <p:cNvGrpSpPr/>
          <p:nvPr/>
        </p:nvGrpSpPr>
        <p:grpSpPr>
          <a:xfrm>
            <a:off x="596655" y="3891592"/>
            <a:ext cx="6917567" cy="2210781"/>
            <a:chOff x="596654" y="3891591"/>
            <a:chExt cx="6917567" cy="2210781"/>
          </a:xfrm>
        </p:grpSpPr>
        <p:sp>
          <p:nvSpPr>
            <p:cNvPr id="94" name="Freeform 93"/>
            <p:cNvSpPr/>
            <p:nvPr/>
          </p:nvSpPr>
          <p:spPr>
            <a:xfrm>
              <a:off x="1146997" y="3994115"/>
              <a:ext cx="323462" cy="37800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rgbClr val="70AD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95" name="Rounded Rectangle 94"/>
            <p:cNvSpPr/>
            <p:nvPr/>
          </p:nvSpPr>
          <p:spPr>
            <a:xfrm>
              <a:off x="5785264" y="4999289"/>
              <a:ext cx="1255058" cy="824753"/>
            </a:xfrm>
            <a:prstGeom prst="roundRect">
              <a:avLst/>
            </a:prstGeom>
            <a:solidFill>
              <a:srgbClr val="D0CECE">
                <a:alpha val="74902"/>
              </a:srgbClr>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96" name="Rounded Rectangle 95"/>
            <p:cNvSpPr/>
            <p:nvPr/>
          </p:nvSpPr>
          <p:spPr>
            <a:xfrm>
              <a:off x="1423136" y="4594958"/>
              <a:ext cx="1255058" cy="824753"/>
            </a:xfrm>
            <a:prstGeom prst="roundRect">
              <a:avLst/>
            </a:prstGeom>
            <a:solidFill>
              <a:srgbClr val="D0CECE">
                <a:alpha val="74902"/>
              </a:srgbClr>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97" name="Rounded Rectangle 96"/>
            <p:cNvSpPr/>
            <p:nvPr/>
          </p:nvSpPr>
          <p:spPr>
            <a:xfrm>
              <a:off x="2883636" y="4101798"/>
              <a:ext cx="1255058" cy="824753"/>
            </a:xfrm>
            <a:prstGeom prst="roundRect">
              <a:avLst/>
            </a:prstGeom>
            <a:solidFill>
              <a:srgbClr val="D0CECE">
                <a:alpha val="74902"/>
              </a:srgbClr>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98" name="Rounded Rectangle 97"/>
            <p:cNvSpPr/>
            <p:nvPr/>
          </p:nvSpPr>
          <p:spPr>
            <a:xfrm>
              <a:off x="5533726" y="4846977"/>
              <a:ext cx="1255058" cy="824753"/>
            </a:xfrm>
            <a:prstGeom prst="roundRect">
              <a:avLst/>
            </a:prstGeom>
            <a:solidFill>
              <a:srgbClr val="D0CECE">
                <a:alpha val="74902"/>
              </a:srgbClr>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99" name="Rounded Rectangle 98"/>
            <p:cNvSpPr/>
            <p:nvPr/>
          </p:nvSpPr>
          <p:spPr>
            <a:xfrm>
              <a:off x="3803864" y="5277619"/>
              <a:ext cx="1255058" cy="824753"/>
            </a:xfrm>
            <a:prstGeom prst="roundRect">
              <a:avLst/>
            </a:prstGeom>
            <a:solidFill>
              <a:srgbClr val="D0CECE">
                <a:alpha val="74902"/>
              </a:srgbClr>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00" name="Freeform 99"/>
            <p:cNvSpPr/>
            <p:nvPr/>
          </p:nvSpPr>
          <p:spPr>
            <a:xfrm>
              <a:off x="1046100" y="4337228"/>
              <a:ext cx="4549140" cy="762000"/>
            </a:xfrm>
            <a:custGeom>
              <a:avLst/>
              <a:gdLst>
                <a:gd name="connsiteX0" fmla="*/ 0 w 4549140"/>
                <a:gd name="connsiteY0" fmla="*/ 480060 h 762000"/>
                <a:gd name="connsiteX1" fmla="*/ 1028700 w 4549140"/>
                <a:gd name="connsiteY1" fmla="*/ 480060 h 762000"/>
                <a:gd name="connsiteX2" fmla="*/ 1805940 w 4549140"/>
                <a:gd name="connsiteY2" fmla="*/ 0 h 762000"/>
                <a:gd name="connsiteX3" fmla="*/ 2773680 w 4549140"/>
                <a:gd name="connsiteY3" fmla="*/ 0 h 762000"/>
                <a:gd name="connsiteX4" fmla="*/ 3025140 w 4549140"/>
                <a:gd name="connsiteY4" fmla="*/ 762000 h 762000"/>
                <a:gd name="connsiteX5" fmla="*/ 4549140 w 4549140"/>
                <a:gd name="connsiteY5" fmla="*/ 762000 h 76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49140" h="762000">
                  <a:moveTo>
                    <a:pt x="0" y="480060"/>
                  </a:moveTo>
                  <a:lnTo>
                    <a:pt x="1028700" y="480060"/>
                  </a:lnTo>
                  <a:lnTo>
                    <a:pt x="1805940" y="0"/>
                  </a:lnTo>
                  <a:lnTo>
                    <a:pt x="2773680" y="0"/>
                  </a:lnTo>
                  <a:lnTo>
                    <a:pt x="3025140" y="762000"/>
                  </a:lnTo>
                  <a:lnTo>
                    <a:pt x="4549140" y="762000"/>
                  </a:lnTo>
                </a:path>
              </a:pathLst>
            </a:custGeom>
            <a:noFill/>
            <a:ln w="50800">
              <a:solidFill>
                <a:schemeClr val="accent2"/>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02" name="Rounded Rectangle 101"/>
            <p:cNvSpPr/>
            <p:nvPr/>
          </p:nvSpPr>
          <p:spPr>
            <a:xfrm>
              <a:off x="5282193" y="4694671"/>
              <a:ext cx="1255058" cy="824753"/>
            </a:xfrm>
            <a:prstGeom prst="roundRect">
              <a:avLst/>
            </a:prstGeom>
            <a:solidFill>
              <a:srgbClr val="D0CECE">
                <a:alpha val="74902"/>
              </a:srgbClr>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03" name="Freeform 102"/>
            <p:cNvSpPr/>
            <p:nvPr/>
          </p:nvSpPr>
          <p:spPr>
            <a:xfrm>
              <a:off x="4010280" y="4893488"/>
              <a:ext cx="1485900" cy="0"/>
            </a:xfrm>
            <a:custGeom>
              <a:avLst/>
              <a:gdLst>
                <a:gd name="connsiteX0" fmla="*/ 0 w 1485900"/>
                <a:gd name="connsiteY0" fmla="*/ 0 h 0"/>
                <a:gd name="connsiteX1" fmla="*/ 1485900 w 1485900"/>
                <a:gd name="connsiteY1" fmla="*/ 0 h 0"/>
              </a:gdLst>
              <a:ahLst/>
              <a:cxnLst>
                <a:cxn ang="0">
                  <a:pos x="connsiteX0" y="connsiteY0"/>
                </a:cxn>
                <a:cxn ang="0">
                  <a:pos x="connsiteX1" y="connsiteY1"/>
                </a:cxn>
              </a:cxnLst>
              <a:rect l="l" t="t" r="r" b="b"/>
              <a:pathLst>
                <a:path w="1485900">
                  <a:moveTo>
                    <a:pt x="0" y="0"/>
                  </a:moveTo>
                  <a:lnTo>
                    <a:pt x="1485900" y="0"/>
                  </a:lnTo>
                </a:path>
              </a:pathLst>
            </a:custGeom>
            <a:noFill/>
            <a:ln w="50800">
              <a:solidFill>
                <a:schemeClr val="accent2"/>
              </a:solidFill>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dirty="0"/>
            </a:p>
          </p:txBody>
        </p:sp>
        <p:sp>
          <p:nvSpPr>
            <p:cNvPr id="104" name="Freeform 103"/>
            <p:cNvSpPr/>
            <p:nvPr/>
          </p:nvSpPr>
          <p:spPr>
            <a:xfrm>
              <a:off x="1146997" y="3994115"/>
              <a:ext cx="323462" cy="37800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rgbClr val="70AD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05" name="Freeform 104"/>
            <p:cNvSpPr/>
            <p:nvPr/>
          </p:nvSpPr>
          <p:spPr>
            <a:xfrm>
              <a:off x="611093" y="4621285"/>
              <a:ext cx="323462" cy="37800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85" name="Freeform 184"/>
            <p:cNvSpPr/>
            <p:nvPr/>
          </p:nvSpPr>
          <p:spPr>
            <a:xfrm>
              <a:off x="1049153" y="4888388"/>
              <a:ext cx="5273040" cy="541020"/>
            </a:xfrm>
            <a:custGeom>
              <a:avLst/>
              <a:gdLst>
                <a:gd name="connsiteX0" fmla="*/ 0 w 5341620"/>
                <a:gd name="connsiteY0" fmla="*/ 0 h 541020"/>
                <a:gd name="connsiteX1" fmla="*/ 1097280 w 5341620"/>
                <a:gd name="connsiteY1" fmla="*/ 0 h 541020"/>
                <a:gd name="connsiteX2" fmla="*/ 1638300 w 5341620"/>
                <a:gd name="connsiteY2" fmla="*/ 541020 h 541020"/>
                <a:gd name="connsiteX3" fmla="*/ 3962400 w 5341620"/>
                <a:gd name="connsiteY3" fmla="*/ 541020 h 541020"/>
                <a:gd name="connsiteX4" fmla="*/ 4419600 w 5341620"/>
                <a:gd name="connsiteY4" fmla="*/ 411480 h 541020"/>
                <a:gd name="connsiteX5" fmla="*/ 5341620 w 5341620"/>
                <a:gd name="connsiteY5" fmla="*/ 411480 h 541020"/>
                <a:gd name="connsiteX0" fmla="*/ 0 w 5341620"/>
                <a:gd name="connsiteY0" fmla="*/ 0 h 541020"/>
                <a:gd name="connsiteX1" fmla="*/ 647700 w 5341620"/>
                <a:gd name="connsiteY1" fmla="*/ 0 h 541020"/>
                <a:gd name="connsiteX2" fmla="*/ 1097280 w 5341620"/>
                <a:gd name="connsiteY2" fmla="*/ 0 h 541020"/>
                <a:gd name="connsiteX3" fmla="*/ 1638300 w 5341620"/>
                <a:gd name="connsiteY3" fmla="*/ 541020 h 541020"/>
                <a:gd name="connsiteX4" fmla="*/ 3962400 w 5341620"/>
                <a:gd name="connsiteY4" fmla="*/ 541020 h 541020"/>
                <a:gd name="connsiteX5" fmla="*/ 4419600 w 5341620"/>
                <a:gd name="connsiteY5" fmla="*/ 411480 h 541020"/>
                <a:gd name="connsiteX6" fmla="*/ 5341620 w 5341620"/>
                <a:gd name="connsiteY6" fmla="*/ 411480 h 541020"/>
                <a:gd name="connsiteX0" fmla="*/ 0 w 5265420"/>
                <a:gd name="connsiteY0" fmla="*/ 403860 h 541020"/>
                <a:gd name="connsiteX1" fmla="*/ 571500 w 5265420"/>
                <a:gd name="connsiteY1" fmla="*/ 0 h 541020"/>
                <a:gd name="connsiteX2" fmla="*/ 1021080 w 5265420"/>
                <a:gd name="connsiteY2" fmla="*/ 0 h 541020"/>
                <a:gd name="connsiteX3" fmla="*/ 1562100 w 5265420"/>
                <a:gd name="connsiteY3" fmla="*/ 541020 h 541020"/>
                <a:gd name="connsiteX4" fmla="*/ 3886200 w 5265420"/>
                <a:gd name="connsiteY4" fmla="*/ 541020 h 541020"/>
                <a:gd name="connsiteX5" fmla="*/ 4343400 w 5265420"/>
                <a:gd name="connsiteY5" fmla="*/ 411480 h 541020"/>
                <a:gd name="connsiteX6" fmla="*/ 5265420 w 5265420"/>
                <a:gd name="connsiteY6" fmla="*/ 411480 h 541020"/>
                <a:gd name="connsiteX0" fmla="*/ 0 w 5273040"/>
                <a:gd name="connsiteY0" fmla="*/ 502920 h 541020"/>
                <a:gd name="connsiteX1" fmla="*/ 579120 w 5273040"/>
                <a:gd name="connsiteY1" fmla="*/ 0 h 541020"/>
                <a:gd name="connsiteX2" fmla="*/ 1028700 w 5273040"/>
                <a:gd name="connsiteY2" fmla="*/ 0 h 541020"/>
                <a:gd name="connsiteX3" fmla="*/ 1569720 w 5273040"/>
                <a:gd name="connsiteY3" fmla="*/ 541020 h 541020"/>
                <a:gd name="connsiteX4" fmla="*/ 3893820 w 5273040"/>
                <a:gd name="connsiteY4" fmla="*/ 541020 h 541020"/>
                <a:gd name="connsiteX5" fmla="*/ 4351020 w 5273040"/>
                <a:gd name="connsiteY5" fmla="*/ 411480 h 541020"/>
                <a:gd name="connsiteX6" fmla="*/ 5273040 w 5273040"/>
                <a:gd name="connsiteY6" fmla="*/ 411480 h 541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3040" h="541020">
                  <a:moveTo>
                    <a:pt x="0" y="502920"/>
                  </a:moveTo>
                  <a:lnTo>
                    <a:pt x="579120" y="0"/>
                  </a:lnTo>
                  <a:lnTo>
                    <a:pt x="1028700" y="0"/>
                  </a:lnTo>
                  <a:lnTo>
                    <a:pt x="1569720" y="541020"/>
                  </a:lnTo>
                  <a:lnTo>
                    <a:pt x="3893820" y="541020"/>
                  </a:lnTo>
                  <a:lnTo>
                    <a:pt x="4351020" y="411480"/>
                  </a:lnTo>
                  <a:lnTo>
                    <a:pt x="5273040" y="411480"/>
                  </a:lnTo>
                </a:path>
              </a:pathLst>
            </a:custGeom>
            <a:noFill/>
            <a:ln w="50800">
              <a:solidFill>
                <a:srgbClr val="4472C4"/>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nvGrpSpPr>
            <p:cNvPr id="2" name="Group 1"/>
            <p:cNvGrpSpPr/>
            <p:nvPr/>
          </p:nvGrpSpPr>
          <p:grpSpPr>
            <a:xfrm>
              <a:off x="2536191" y="3924560"/>
              <a:ext cx="4978030" cy="1532111"/>
              <a:chOff x="2536191" y="3924560"/>
              <a:chExt cx="4978030" cy="1532111"/>
            </a:xfrm>
          </p:grpSpPr>
          <p:grpSp>
            <p:nvGrpSpPr>
              <p:cNvPr id="161" name="Group 160"/>
              <p:cNvGrpSpPr/>
              <p:nvPr/>
            </p:nvGrpSpPr>
            <p:grpSpPr>
              <a:xfrm>
                <a:off x="2536191" y="4436791"/>
                <a:ext cx="608714" cy="371937"/>
                <a:chOff x="596854" y="3260753"/>
                <a:chExt cx="1046285" cy="639303"/>
              </a:xfrm>
              <a:solidFill>
                <a:schemeClr val="bg1"/>
              </a:solidFill>
            </p:grpSpPr>
            <p:sp>
              <p:nvSpPr>
                <p:cNvPr id="178" name="Freeform 177"/>
                <p:cNvSpPr/>
                <p:nvPr/>
              </p:nvSpPr>
              <p:spPr>
                <a:xfrm>
                  <a:off x="596854" y="3365086"/>
                  <a:ext cx="493032" cy="534970"/>
                </a:xfrm>
                <a:custGeom>
                  <a:avLst/>
                  <a:gdLst>
                    <a:gd name="connsiteX0" fmla="*/ 250470 w 278551"/>
                    <a:gd name="connsiteY0" fmla="*/ 185740 h 302245"/>
                    <a:gd name="connsiteX1" fmla="*/ 278551 w 278551"/>
                    <a:gd name="connsiteY1" fmla="*/ 212135 h 302245"/>
                    <a:gd name="connsiteX2" fmla="*/ 261752 w 278551"/>
                    <a:gd name="connsiteY2" fmla="*/ 241233 h 302245"/>
                    <a:gd name="connsiteX3" fmla="*/ 225317 w 278551"/>
                    <a:gd name="connsiteY3" fmla="*/ 230252 h 302245"/>
                    <a:gd name="connsiteX4" fmla="*/ 247440 w 278551"/>
                    <a:gd name="connsiteY4" fmla="*/ 199863 h 302245"/>
                    <a:gd name="connsiteX5" fmla="*/ 139274 w 278551"/>
                    <a:gd name="connsiteY5" fmla="*/ 84295 h 302245"/>
                    <a:gd name="connsiteX6" fmla="*/ 196885 w 278551"/>
                    <a:gd name="connsiteY6" fmla="*/ 113100 h 302245"/>
                    <a:gd name="connsiteX7" fmla="*/ 196884 w 278551"/>
                    <a:gd name="connsiteY7" fmla="*/ 114931 h 302245"/>
                    <a:gd name="connsiteX8" fmla="*/ 141702 w 278551"/>
                    <a:gd name="connsiteY8" fmla="*/ 86497 h 302245"/>
                    <a:gd name="connsiteX9" fmla="*/ 91232 w 278551"/>
                    <a:gd name="connsiteY9" fmla="*/ 110971 h 302245"/>
                    <a:gd name="connsiteX10" fmla="*/ 90180 w 278551"/>
                    <a:gd name="connsiteY10" fmla="*/ 108843 h 302245"/>
                    <a:gd name="connsiteX11" fmla="*/ 93907 w 278551"/>
                    <a:gd name="connsiteY11" fmla="*/ 56612 h 302245"/>
                    <a:gd name="connsiteX12" fmla="*/ 77529 w 278551"/>
                    <a:gd name="connsiteY12" fmla="*/ 83250 h 302245"/>
                    <a:gd name="connsiteX13" fmla="*/ 90180 w 278551"/>
                    <a:gd name="connsiteY13" fmla="*/ 108843 h 302245"/>
                    <a:gd name="connsiteX14" fmla="*/ 81665 w 278551"/>
                    <a:gd name="connsiteY14" fmla="*/ 113100 h 302245"/>
                    <a:gd name="connsiteX15" fmla="*/ 81665 w 278551"/>
                    <a:gd name="connsiteY15" fmla="*/ 189144 h 302245"/>
                    <a:gd name="connsiteX16" fmla="*/ 139274 w 278551"/>
                    <a:gd name="connsiteY16" fmla="*/ 217949 h 302245"/>
                    <a:gd name="connsiteX17" fmla="*/ 196884 w 278551"/>
                    <a:gd name="connsiteY17" fmla="*/ 189144 h 302245"/>
                    <a:gd name="connsiteX18" fmla="*/ 196884 w 278551"/>
                    <a:gd name="connsiteY18" fmla="*/ 114931 h 302245"/>
                    <a:gd name="connsiteX19" fmla="*/ 198958 w 278551"/>
                    <a:gd name="connsiteY19" fmla="*/ 115999 h 302245"/>
                    <a:gd name="connsiteX20" fmla="*/ 198034 w 278551"/>
                    <a:gd name="connsiteY20" fmla="*/ 192038 h 302245"/>
                    <a:gd name="connsiteX21" fmla="*/ 144208 w 278551"/>
                    <a:gd name="connsiteY21" fmla="*/ 218139 h 302245"/>
                    <a:gd name="connsiteX22" fmla="*/ 155568 w 278551"/>
                    <a:gd name="connsiteY22" fmla="*/ 241121 h 302245"/>
                    <a:gd name="connsiteX23" fmla="*/ 182697 w 278551"/>
                    <a:gd name="connsiteY23" fmla="*/ 246757 h 302245"/>
                    <a:gd name="connsiteX24" fmla="*/ 166987 w 278551"/>
                    <a:gd name="connsiteY24" fmla="*/ 255827 h 302245"/>
                    <a:gd name="connsiteX25" fmla="*/ 156075 w 278551"/>
                    <a:gd name="connsiteY25" fmla="*/ 302245 h 302245"/>
                    <a:gd name="connsiteX26" fmla="*/ 122476 w 278551"/>
                    <a:gd name="connsiteY26" fmla="*/ 302245 h 302245"/>
                    <a:gd name="connsiteX27" fmla="*/ 111565 w 278551"/>
                    <a:gd name="connsiteY27" fmla="*/ 255827 h 302245"/>
                    <a:gd name="connsiteX28" fmla="*/ 62455 w 278551"/>
                    <a:gd name="connsiteY28" fmla="*/ 227473 h 302245"/>
                    <a:gd name="connsiteX29" fmla="*/ 16799 w 278551"/>
                    <a:gd name="connsiteY29" fmla="*/ 241233 h 302245"/>
                    <a:gd name="connsiteX30" fmla="*/ 0 w 278551"/>
                    <a:gd name="connsiteY30" fmla="*/ 212135 h 302245"/>
                    <a:gd name="connsiteX31" fmla="*/ 34743 w 278551"/>
                    <a:gd name="connsiteY31" fmla="*/ 179476 h 302245"/>
                    <a:gd name="connsiteX32" fmla="*/ 34743 w 278551"/>
                    <a:gd name="connsiteY32" fmla="*/ 122768 h 302245"/>
                    <a:gd name="connsiteX33" fmla="*/ 0 w 278551"/>
                    <a:gd name="connsiteY33" fmla="*/ 90110 h 302245"/>
                    <a:gd name="connsiteX34" fmla="*/ 16799 w 278551"/>
                    <a:gd name="connsiteY34" fmla="*/ 61012 h 302245"/>
                    <a:gd name="connsiteX35" fmla="*/ 62454 w 278551"/>
                    <a:gd name="connsiteY35" fmla="*/ 74772 h 302245"/>
                    <a:gd name="connsiteX36" fmla="*/ 122476 w 278551"/>
                    <a:gd name="connsiteY36" fmla="*/ 0 h 302245"/>
                    <a:gd name="connsiteX37" fmla="*/ 156075 w 278551"/>
                    <a:gd name="connsiteY37" fmla="*/ 0 h 302245"/>
                    <a:gd name="connsiteX38" fmla="*/ 165987 w 278551"/>
                    <a:gd name="connsiteY38" fmla="*/ 42169 h 302245"/>
                    <a:gd name="connsiteX39" fmla="*/ 142303 w 278551"/>
                    <a:gd name="connsiteY39" fmla="*/ 37087 h 302245"/>
                    <a:gd name="connsiteX40" fmla="*/ 112428 w 278551"/>
                    <a:gd name="connsiteY40" fmla="*/ 42742 h 30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78551" h="302245">
                      <a:moveTo>
                        <a:pt x="250470" y="185740"/>
                      </a:moveTo>
                      <a:lnTo>
                        <a:pt x="278551" y="212135"/>
                      </a:lnTo>
                      <a:lnTo>
                        <a:pt x="261752" y="241233"/>
                      </a:lnTo>
                      <a:lnTo>
                        <a:pt x="225317" y="230252"/>
                      </a:lnTo>
                      <a:lnTo>
                        <a:pt x="247440" y="199863"/>
                      </a:lnTo>
                      <a:close/>
                      <a:moveTo>
                        <a:pt x="139274" y="84295"/>
                      </a:moveTo>
                      <a:lnTo>
                        <a:pt x="196885" y="113100"/>
                      </a:lnTo>
                      <a:lnTo>
                        <a:pt x="196884" y="114931"/>
                      </a:lnTo>
                      <a:lnTo>
                        <a:pt x="141702" y="86497"/>
                      </a:lnTo>
                      <a:lnTo>
                        <a:pt x="91232" y="110971"/>
                      </a:lnTo>
                      <a:lnTo>
                        <a:pt x="90180" y="108843"/>
                      </a:lnTo>
                      <a:close/>
                      <a:moveTo>
                        <a:pt x="93907" y="56612"/>
                      </a:moveTo>
                      <a:lnTo>
                        <a:pt x="77529" y="83250"/>
                      </a:lnTo>
                      <a:lnTo>
                        <a:pt x="90180" y="108843"/>
                      </a:lnTo>
                      <a:lnTo>
                        <a:pt x="81665" y="113100"/>
                      </a:lnTo>
                      <a:lnTo>
                        <a:pt x="81665" y="189144"/>
                      </a:lnTo>
                      <a:lnTo>
                        <a:pt x="139274" y="217949"/>
                      </a:lnTo>
                      <a:lnTo>
                        <a:pt x="196884" y="189144"/>
                      </a:lnTo>
                      <a:lnTo>
                        <a:pt x="196884" y="114931"/>
                      </a:lnTo>
                      <a:lnTo>
                        <a:pt x="198958" y="115999"/>
                      </a:lnTo>
                      <a:lnTo>
                        <a:pt x="198034" y="192038"/>
                      </a:lnTo>
                      <a:lnTo>
                        <a:pt x="144208" y="218139"/>
                      </a:lnTo>
                      <a:lnTo>
                        <a:pt x="155568" y="241121"/>
                      </a:lnTo>
                      <a:lnTo>
                        <a:pt x="182697" y="246757"/>
                      </a:lnTo>
                      <a:lnTo>
                        <a:pt x="166987" y="255827"/>
                      </a:lnTo>
                      <a:lnTo>
                        <a:pt x="156075" y="302245"/>
                      </a:lnTo>
                      <a:lnTo>
                        <a:pt x="122476" y="302245"/>
                      </a:lnTo>
                      <a:lnTo>
                        <a:pt x="111565" y="255827"/>
                      </a:lnTo>
                      <a:cubicBezTo>
                        <a:pt x="92967" y="250905"/>
                        <a:pt x="76016" y="241118"/>
                        <a:pt x="62455" y="227473"/>
                      </a:cubicBezTo>
                      <a:lnTo>
                        <a:pt x="16799" y="241233"/>
                      </a:lnTo>
                      <a:lnTo>
                        <a:pt x="0" y="212135"/>
                      </a:lnTo>
                      <a:lnTo>
                        <a:pt x="34743" y="179476"/>
                      </a:lnTo>
                      <a:cubicBezTo>
                        <a:pt x="29707" y="160909"/>
                        <a:pt x="29707" y="141335"/>
                        <a:pt x="34743" y="122768"/>
                      </a:cubicBezTo>
                      <a:lnTo>
                        <a:pt x="0" y="90110"/>
                      </a:lnTo>
                      <a:lnTo>
                        <a:pt x="16799" y="61012"/>
                      </a:lnTo>
                      <a:lnTo>
                        <a:pt x="62454" y="74772"/>
                      </a:lnTo>
                      <a:close/>
                      <a:moveTo>
                        <a:pt x="122476" y="0"/>
                      </a:moveTo>
                      <a:lnTo>
                        <a:pt x="156075" y="0"/>
                      </a:lnTo>
                      <a:lnTo>
                        <a:pt x="165987" y="42169"/>
                      </a:lnTo>
                      <a:lnTo>
                        <a:pt x="142303" y="37087"/>
                      </a:lnTo>
                      <a:lnTo>
                        <a:pt x="112428" y="42742"/>
                      </a:lnTo>
                      <a:close/>
                    </a:path>
                  </a:pathLst>
                </a:custGeom>
                <a:grpFill/>
                <a:ln w="19050">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79" name="Freeform 178"/>
                <p:cNvSpPr/>
                <p:nvPr/>
              </p:nvSpPr>
              <p:spPr>
                <a:xfrm rot="20021754">
                  <a:off x="761998" y="3260753"/>
                  <a:ext cx="881141" cy="399985"/>
                </a:xfrm>
                <a:custGeom>
                  <a:avLst/>
                  <a:gdLst>
                    <a:gd name="connsiteX0" fmla="*/ 816859 w 881141"/>
                    <a:gd name="connsiteY0" fmla="*/ 93843 h 399985"/>
                    <a:gd name="connsiteX1" fmla="*/ 881141 w 881141"/>
                    <a:gd name="connsiteY1" fmla="*/ 190824 h 399985"/>
                    <a:gd name="connsiteX2" fmla="*/ 775889 w 881141"/>
                    <a:gd name="connsiteY2" fmla="*/ 296076 h 399985"/>
                    <a:gd name="connsiteX3" fmla="*/ 227922 w 881141"/>
                    <a:gd name="connsiteY3" fmla="*/ 296076 h 399985"/>
                    <a:gd name="connsiteX4" fmla="*/ 178135 w 881141"/>
                    <a:gd name="connsiteY4" fmla="*/ 358860 h 399985"/>
                    <a:gd name="connsiteX5" fmla="*/ 99698 w 881141"/>
                    <a:gd name="connsiteY5" fmla="*/ 399937 h 399985"/>
                    <a:gd name="connsiteX6" fmla="*/ 98734 w 881141"/>
                    <a:gd name="connsiteY6" fmla="*/ 399985 h 399985"/>
                    <a:gd name="connsiteX7" fmla="*/ 41671 w 881141"/>
                    <a:gd name="connsiteY7" fmla="*/ 384868 h 399985"/>
                    <a:gd name="connsiteX8" fmla="*/ 0 w 881141"/>
                    <a:gd name="connsiteY8" fmla="*/ 352264 h 399985"/>
                    <a:gd name="connsiteX9" fmla="*/ 0 w 881141"/>
                    <a:gd name="connsiteY9" fmla="*/ 306889 h 399985"/>
                    <a:gd name="connsiteX10" fmla="*/ 105879 w 881141"/>
                    <a:gd name="connsiteY10" fmla="*/ 307693 h 399985"/>
                    <a:gd name="connsiteX11" fmla="*/ 166986 w 881141"/>
                    <a:gd name="connsiteY11" fmla="*/ 187765 h 399985"/>
                    <a:gd name="connsiteX12" fmla="*/ 165060 w 881141"/>
                    <a:gd name="connsiteY12" fmla="*/ 185156 h 399985"/>
                    <a:gd name="connsiteX13" fmla="*/ 167580 w 881141"/>
                    <a:gd name="connsiteY13" fmla="*/ 180056 h 399985"/>
                    <a:gd name="connsiteX14" fmla="*/ 96285 w 881141"/>
                    <a:gd name="connsiteY14" fmla="*/ 85892 h 399985"/>
                    <a:gd name="connsiteX15" fmla="*/ 0 w 881141"/>
                    <a:gd name="connsiteY15" fmla="*/ 86330 h 399985"/>
                    <a:gd name="connsiteX16" fmla="*/ 0 w 881141"/>
                    <a:gd name="connsiteY16" fmla="*/ 40559 h 399985"/>
                    <a:gd name="connsiteX17" fmla="*/ 61500 w 881141"/>
                    <a:gd name="connsiteY17" fmla="*/ 1965 h 399985"/>
                    <a:gd name="connsiteX18" fmla="*/ 74035 w 881141"/>
                    <a:gd name="connsiteY18" fmla="*/ 0 h 399985"/>
                    <a:gd name="connsiteX19" fmla="*/ 138985 w 881141"/>
                    <a:gd name="connsiteY19" fmla="*/ 18118 h 399985"/>
                    <a:gd name="connsiteX20" fmla="*/ 203002 w 881141"/>
                    <a:gd name="connsiteY20" fmla="*/ 68881 h 399985"/>
                    <a:gd name="connsiteX21" fmla="*/ 212257 w 881141"/>
                    <a:gd name="connsiteY21" fmla="*/ 85572 h 399985"/>
                    <a:gd name="connsiteX22" fmla="*/ 775889 w 881141"/>
                    <a:gd name="connsiteY22" fmla="*/ 85572 h 399985"/>
                    <a:gd name="connsiteX23" fmla="*/ 816859 w 881141"/>
                    <a:gd name="connsiteY23" fmla="*/ 93843 h 399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81141" h="399985">
                      <a:moveTo>
                        <a:pt x="816859" y="93843"/>
                      </a:moveTo>
                      <a:cubicBezTo>
                        <a:pt x="854635" y="109821"/>
                        <a:pt x="881141" y="147227"/>
                        <a:pt x="881141" y="190824"/>
                      </a:cubicBezTo>
                      <a:cubicBezTo>
                        <a:pt x="881141" y="248954"/>
                        <a:pt x="834019" y="296076"/>
                        <a:pt x="775889" y="296076"/>
                      </a:cubicBezTo>
                      <a:lnTo>
                        <a:pt x="227922" y="296076"/>
                      </a:lnTo>
                      <a:lnTo>
                        <a:pt x="178135" y="358860"/>
                      </a:lnTo>
                      <a:cubicBezTo>
                        <a:pt x="155127" y="378216"/>
                        <a:pt x="128278" y="392137"/>
                        <a:pt x="99698" y="399937"/>
                      </a:cubicBezTo>
                      <a:lnTo>
                        <a:pt x="98734" y="399985"/>
                      </a:lnTo>
                      <a:lnTo>
                        <a:pt x="41671" y="384868"/>
                      </a:lnTo>
                      <a:lnTo>
                        <a:pt x="0" y="352264"/>
                      </a:lnTo>
                      <a:lnTo>
                        <a:pt x="0" y="306889"/>
                      </a:lnTo>
                      <a:lnTo>
                        <a:pt x="105879" y="307693"/>
                      </a:lnTo>
                      <a:lnTo>
                        <a:pt x="166986" y="187765"/>
                      </a:lnTo>
                      <a:lnTo>
                        <a:pt x="165060" y="185156"/>
                      </a:lnTo>
                      <a:lnTo>
                        <a:pt x="167580" y="180056"/>
                      </a:lnTo>
                      <a:lnTo>
                        <a:pt x="96285" y="85892"/>
                      </a:lnTo>
                      <a:lnTo>
                        <a:pt x="0" y="86330"/>
                      </a:lnTo>
                      <a:lnTo>
                        <a:pt x="0" y="40559"/>
                      </a:lnTo>
                      <a:lnTo>
                        <a:pt x="61500" y="1965"/>
                      </a:lnTo>
                      <a:lnTo>
                        <a:pt x="74035" y="0"/>
                      </a:lnTo>
                      <a:lnTo>
                        <a:pt x="138985" y="18118"/>
                      </a:lnTo>
                      <a:cubicBezTo>
                        <a:pt x="164296" y="31014"/>
                        <a:pt x="185796" y="48429"/>
                        <a:pt x="203002" y="68881"/>
                      </a:cubicBezTo>
                      <a:lnTo>
                        <a:pt x="212257" y="85572"/>
                      </a:lnTo>
                      <a:lnTo>
                        <a:pt x="775889" y="85572"/>
                      </a:lnTo>
                      <a:cubicBezTo>
                        <a:pt x="790422" y="85572"/>
                        <a:pt x="804265" y="88517"/>
                        <a:pt x="816859" y="93843"/>
                      </a:cubicBezTo>
                      <a:close/>
                    </a:path>
                  </a:pathLst>
                </a:custGeom>
                <a:grp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80" name="Hexagon 179"/>
                <p:cNvSpPr/>
                <p:nvPr/>
              </p:nvSpPr>
              <p:spPr>
                <a:xfrm rot="16200000">
                  <a:off x="723704" y="3526929"/>
                  <a:ext cx="244092" cy="211283"/>
                </a:xfrm>
                <a:prstGeom prst="hexagon">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grpSp>
            <p:nvGrpSpPr>
              <p:cNvPr id="162" name="Group 161"/>
              <p:cNvGrpSpPr/>
              <p:nvPr/>
            </p:nvGrpSpPr>
            <p:grpSpPr>
              <a:xfrm>
                <a:off x="4916272" y="5084734"/>
                <a:ext cx="608714" cy="371937"/>
                <a:chOff x="596854" y="3260753"/>
                <a:chExt cx="1046285" cy="639303"/>
              </a:xfrm>
              <a:solidFill>
                <a:schemeClr val="bg1"/>
              </a:solidFill>
            </p:grpSpPr>
            <p:sp>
              <p:nvSpPr>
                <p:cNvPr id="175" name="Freeform 174"/>
                <p:cNvSpPr/>
                <p:nvPr/>
              </p:nvSpPr>
              <p:spPr>
                <a:xfrm>
                  <a:off x="596854" y="3365086"/>
                  <a:ext cx="493032" cy="534970"/>
                </a:xfrm>
                <a:custGeom>
                  <a:avLst/>
                  <a:gdLst>
                    <a:gd name="connsiteX0" fmla="*/ 250470 w 278551"/>
                    <a:gd name="connsiteY0" fmla="*/ 185740 h 302245"/>
                    <a:gd name="connsiteX1" fmla="*/ 278551 w 278551"/>
                    <a:gd name="connsiteY1" fmla="*/ 212135 h 302245"/>
                    <a:gd name="connsiteX2" fmla="*/ 261752 w 278551"/>
                    <a:gd name="connsiteY2" fmla="*/ 241233 h 302245"/>
                    <a:gd name="connsiteX3" fmla="*/ 225317 w 278551"/>
                    <a:gd name="connsiteY3" fmla="*/ 230252 h 302245"/>
                    <a:gd name="connsiteX4" fmla="*/ 247440 w 278551"/>
                    <a:gd name="connsiteY4" fmla="*/ 199863 h 302245"/>
                    <a:gd name="connsiteX5" fmla="*/ 139274 w 278551"/>
                    <a:gd name="connsiteY5" fmla="*/ 84295 h 302245"/>
                    <a:gd name="connsiteX6" fmla="*/ 196885 w 278551"/>
                    <a:gd name="connsiteY6" fmla="*/ 113100 h 302245"/>
                    <a:gd name="connsiteX7" fmla="*/ 196884 w 278551"/>
                    <a:gd name="connsiteY7" fmla="*/ 114931 h 302245"/>
                    <a:gd name="connsiteX8" fmla="*/ 141702 w 278551"/>
                    <a:gd name="connsiteY8" fmla="*/ 86497 h 302245"/>
                    <a:gd name="connsiteX9" fmla="*/ 91232 w 278551"/>
                    <a:gd name="connsiteY9" fmla="*/ 110971 h 302245"/>
                    <a:gd name="connsiteX10" fmla="*/ 90180 w 278551"/>
                    <a:gd name="connsiteY10" fmla="*/ 108843 h 302245"/>
                    <a:gd name="connsiteX11" fmla="*/ 93907 w 278551"/>
                    <a:gd name="connsiteY11" fmla="*/ 56612 h 302245"/>
                    <a:gd name="connsiteX12" fmla="*/ 77529 w 278551"/>
                    <a:gd name="connsiteY12" fmla="*/ 83250 h 302245"/>
                    <a:gd name="connsiteX13" fmla="*/ 90180 w 278551"/>
                    <a:gd name="connsiteY13" fmla="*/ 108843 h 302245"/>
                    <a:gd name="connsiteX14" fmla="*/ 81665 w 278551"/>
                    <a:gd name="connsiteY14" fmla="*/ 113100 h 302245"/>
                    <a:gd name="connsiteX15" fmla="*/ 81665 w 278551"/>
                    <a:gd name="connsiteY15" fmla="*/ 189144 h 302245"/>
                    <a:gd name="connsiteX16" fmla="*/ 139274 w 278551"/>
                    <a:gd name="connsiteY16" fmla="*/ 217949 h 302245"/>
                    <a:gd name="connsiteX17" fmla="*/ 196884 w 278551"/>
                    <a:gd name="connsiteY17" fmla="*/ 189144 h 302245"/>
                    <a:gd name="connsiteX18" fmla="*/ 196884 w 278551"/>
                    <a:gd name="connsiteY18" fmla="*/ 114931 h 302245"/>
                    <a:gd name="connsiteX19" fmla="*/ 198958 w 278551"/>
                    <a:gd name="connsiteY19" fmla="*/ 115999 h 302245"/>
                    <a:gd name="connsiteX20" fmla="*/ 198034 w 278551"/>
                    <a:gd name="connsiteY20" fmla="*/ 192038 h 302245"/>
                    <a:gd name="connsiteX21" fmla="*/ 144208 w 278551"/>
                    <a:gd name="connsiteY21" fmla="*/ 218139 h 302245"/>
                    <a:gd name="connsiteX22" fmla="*/ 155568 w 278551"/>
                    <a:gd name="connsiteY22" fmla="*/ 241121 h 302245"/>
                    <a:gd name="connsiteX23" fmla="*/ 182697 w 278551"/>
                    <a:gd name="connsiteY23" fmla="*/ 246757 h 302245"/>
                    <a:gd name="connsiteX24" fmla="*/ 166987 w 278551"/>
                    <a:gd name="connsiteY24" fmla="*/ 255827 h 302245"/>
                    <a:gd name="connsiteX25" fmla="*/ 156075 w 278551"/>
                    <a:gd name="connsiteY25" fmla="*/ 302245 h 302245"/>
                    <a:gd name="connsiteX26" fmla="*/ 122476 w 278551"/>
                    <a:gd name="connsiteY26" fmla="*/ 302245 h 302245"/>
                    <a:gd name="connsiteX27" fmla="*/ 111565 w 278551"/>
                    <a:gd name="connsiteY27" fmla="*/ 255827 h 302245"/>
                    <a:gd name="connsiteX28" fmla="*/ 62455 w 278551"/>
                    <a:gd name="connsiteY28" fmla="*/ 227473 h 302245"/>
                    <a:gd name="connsiteX29" fmla="*/ 16799 w 278551"/>
                    <a:gd name="connsiteY29" fmla="*/ 241233 h 302245"/>
                    <a:gd name="connsiteX30" fmla="*/ 0 w 278551"/>
                    <a:gd name="connsiteY30" fmla="*/ 212135 h 302245"/>
                    <a:gd name="connsiteX31" fmla="*/ 34743 w 278551"/>
                    <a:gd name="connsiteY31" fmla="*/ 179476 h 302245"/>
                    <a:gd name="connsiteX32" fmla="*/ 34743 w 278551"/>
                    <a:gd name="connsiteY32" fmla="*/ 122768 h 302245"/>
                    <a:gd name="connsiteX33" fmla="*/ 0 w 278551"/>
                    <a:gd name="connsiteY33" fmla="*/ 90110 h 302245"/>
                    <a:gd name="connsiteX34" fmla="*/ 16799 w 278551"/>
                    <a:gd name="connsiteY34" fmla="*/ 61012 h 302245"/>
                    <a:gd name="connsiteX35" fmla="*/ 62454 w 278551"/>
                    <a:gd name="connsiteY35" fmla="*/ 74772 h 302245"/>
                    <a:gd name="connsiteX36" fmla="*/ 122476 w 278551"/>
                    <a:gd name="connsiteY36" fmla="*/ 0 h 302245"/>
                    <a:gd name="connsiteX37" fmla="*/ 156075 w 278551"/>
                    <a:gd name="connsiteY37" fmla="*/ 0 h 302245"/>
                    <a:gd name="connsiteX38" fmla="*/ 165987 w 278551"/>
                    <a:gd name="connsiteY38" fmla="*/ 42169 h 302245"/>
                    <a:gd name="connsiteX39" fmla="*/ 142303 w 278551"/>
                    <a:gd name="connsiteY39" fmla="*/ 37087 h 302245"/>
                    <a:gd name="connsiteX40" fmla="*/ 112428 w 278551"/>
                    <a:gd name="connsiteY40" fmla="*/ 42742 h 30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78551" h="302245">
                      <a:moveTo>
                        <a:pt x="250470" y="185740"/>
                      </a:moveTo>
                      <a:lnTo>
                        <a:pt x="278551" y="212135"/>
                      </a:lnTo>
                      <a:lnTo>
                        <a:pt x="261752" y="241233"/>
                      </a:lnTo>
                      <a:lnTo>
                        <a:pt x="225317" y="230252"/>
                      </a:lnTo>
                      <a:lnTo>
                        <a:pt x="247440" y="199863"/>
                      </a:lnTo>
                      <a:close/>
                      <a:moveTo>
                        <a:pt x="139274" y="84295"/>
                      </a:moveTo>
                      <a:lnTo>
                        <a:pt x="196885" y="113100"/>
                      </a:lnTo>
                      <a:lnTo>
                        <a:pt x="196884" y="114931"/>
                      </a:lnTo>
                      <a:lnTo>
                        <a:pt x="141702" y="86497"/>
                      </a:lnTo>
                      <a:lnTo>
                        <a:pt x="91232" y="110971"/>
                      </a:lnTo>
                      <a:lnTo>
                        <a:pt x="90180" y="108843"/>
                      </a:lnTo>
                      <a:close/>
                      <a:moveTo>
                        <a:pt x="93907" y="56612"/>
                      </a:moveTo>
                      <a:lnTo>
                        <a:pt x="77529" y="83250"/>
                      </a:lnTo>
                      <a:lnTo>
                        <a:pt x="90180" y="108843"/>
                      </a:lnTo>
                      <a:lnTo>
                        <a:pt x="81665" y="113100"/>
                      </a:lnTo>
                      <a:lnTo>
                        <a:pt x="81665" y="189144"/>
                      </a:lnTo>
                      <a:lnTo>
                        <a:pt x="139274" y="217949"/>
                      </a:lnTo>
                      <a:lnTo>
                        <a:pt x="196884" y="189144"/>
                      </a:lnTo>
                      <a:lnTo>
                        <a:pt x="196884" y="114931"/>
                      </a:lnTo>
                      <a:lnTo>
                        <a:pt x="198958" y="115999"/>
                      </a:lnTo>
                      <a:lnTo>
                        <a:pt x="198034" y="192038"/>
                      </a:lnTo>
                      <a:lnTo>
                        <a:pt x="144208" y="218139"/>
                      </a:lnTo>
                      <a:lnTo>
                        <a:pt x="155568" y="241121"/>
                      </a:lnTo>
                      <a:lnTo>
                        <a:pt x="182697" y="246757"/>
                      </a:lnTo>
                      <a:lnTo>
                        <a:pt x="166987" y="255827"/>
                      </a:lnTo>
                      <a:lnTo>
                        <a:pt x="156075" y="302245"/>
                      </a:lnTo>
                      <a:lnTo>
                        <a:pt x="122476" y="302245"/>
                      </a:lnTo>
                      <a:lnTo>
                        <a:pt x="111565" y="255827"/>
                      </a:lnTo>
                      <a:cubicBezTo>
                        <a:pt x="92967" y="250905"/>
                        <a:pt x="76016" y="241118"/>
                        <a:pt x="62455" y="227473"/>
                      </a:cubicBezTo>
                      <a:lnTo>
                        <a:pt x="16799" y="241233"/>
                      </a:lnTo>
                      <a:lnTo>
                        <a:pt x="0" y="212135"/>
                      </a:lnTo>
                      <a:lnTo>
                        <a:pt x="34743" y="179476"/>
                      </a:lnTo>
                      <a:cubicBezTo>
                        <a:pt x="29707" y="160909"/>
                        <a:pt x="29707" y="141335"/>
                        <a:pt x="34743" y="122768"/>
                      </a:cubicBezTo>
                      <a:lnTo>
                        <a:pt x="0" y="90110"/>
                      </a:lnTo>
                      <a:lnTo>
                        <a:pt x="16799" y="61012"/>
                      </a:lnTo>
                      <a:lnTo>
                        <a:pt x="62454" y="74772"/>
                      </a:lnTo>
                      <a:close/>
                      <a:moveTo>
                        <a:pt x="122476" y="0"/>
                      </a:moveTo>
                      <a:lnTo>
                        <a:pt x="156075" y="0"/>
                      </a:lnTo>
                      <a:lnTo>
                        <a:pt x="165987" y="42169"/>
                      </a:lnTo>
                      <a:lnTo>
                        <a:pt x="142303" y="37087"/>
                      </a:lnTo>
                      <a:lnTo>
                        <a:pt x="112428" y="42742"/>
                      </a:lnTo>
                      <a:close/>
                    </a:path>
                  </a:pathLst>
                </a:custGeom>
                <a:grpFill/>
                <a:ln w="19050">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76" name="Freeform 175"/>
                <p:cNvSpPr/>
                <p:nvPr/>
              </p:nvSpPr>
              <p:spPr>
                <a:xfrm rot="20021754">
                  <a:off x="761998" y="3260753"/>
                  <a:ext cx="881141" cy="399985"/>
                </a:xfrm>
                <a:custGeom>
                  <a:avLst/>
                  <a:gdLst>
                    <a:gd name="connsiteX0" fmla="*/ 816859 w 881141"/>
                    <a:gd name="connsiteY0" fmla="*/ 93843 h 399985"/>
                    <a:gd name="connsiteX1" fmla="*/ 881141 w 881141"/>
                    <a:gd name="connsiteY1" fmla="*/ 190824 h 399985"/>
                    <a:gd name="connsiteX2" fmla="*/ 775889 w 881141"/>
                    <a:gd name="connsiteY2" fmla="*/ 296076 h 399985"/>
                    <a:gd name="connsiteX3" fmla="*/ 227922 w 881141"/>
                    <a:gd name="connsiteY3" fmla="*/ 296076 h 399985"/>
                    <a:gd name="connsiteX4" fmla="*/ 178135 w 881141"/>
                    <a:gd name="connsiteY4" fmla="*/ 358860 h 399985"/>
                    <a:gd name="connsiteX5" fmla="*/ 99698 w 881141"/>
                    <a:gd name="connsiteY5" fmla="*/ 399937 h 399985"/>
                    <a:gd name="connsiteX6" fmla="*/ 98734 w 881141"/>
                    <a:gd name="connsiteY6" fmla="*/ 399985 h 399985"/>
                    <a:gd name="connsiteX7" fmla="*/ 41671 w 881141"/>
                    <a:gd name="connsiteY7" fmla="*/ 384868 h 399985"/>
                    <a:gd name="connsiteX8" fmla="*/ 0 w 881141"/>
                    <a:gd name="connsiteY8" fmla="*/ 352264 h 399985"/>
                    <a:gd name="connsiteX9" fmla="*/ 0 w 881141"/>
                    <a:gd name="connsiteY9" fmla="*/ 306889 h 399985"/>
                    <a:gd name="connsiteX10" fmla="*/ 105879 w 881141"/>
                    <a:gd name="connsiteY10" fmla="*/ 307693 h 399985"/>
                    <a:gd name="connsiteX11" fmla="*/ 166986 w 881141"/>
                    <a:gd name="connsiteY11" fmla="*/ 187765 h 399985"/>
                    <a:gd name="connsiteX12" fmla="*/ 165060 w 881141"/>
                    <a:gd name="connsiteY12" fmla="*/ 185156 h 399985"/>
                    <a:gd name="connsiteX13" fmla="*/ 167580 w 881141"/>
                    <a:gd name="connsiteY13" fmla="*/ 180056 h 399985"/>
                    <a:gd name="connsiteX14" fmla="*/ 96285 w 881141"/>
                    <a:gd name="connsiteY14" fmla="*/ 85892 h 399985"/>
                    <a:gd name="connsiteX15" fmla="*/ 0 w 881141"/>
                    <a:gd name="connsiteY15" fmla="*/ 86330 h 399985"/>
                    <a:gd name="connsiteX16" fmla="*/ 0 w 881141"/>
                    <a:gd name="connsiteY16" fmla="*/ 40559 h 399985"/>
                    <a:gd name="connsiteX17" fmla="*/ 61500 w 881141"/>
                    <a:gd name="connsiteY17" fmla="*/ 1965 h 399985"/>
                    <a:gd name="connsiteX18" fmla="*/ 74035 w 881141"/>
                    <a:gd name="connsiteY18" fmla="*/ 0 h 399985"/>
                    <a:gd name="connsiteX19" fmla="*/ 138985 w 881141"/>
                    <a:gd name="connsiteY19" fmla="*/ 18118 h 399985"/>
                    <a:gd name="connsiteX20" fmla="*/ 203002 w 881141"/>
                    <a:gd name="connsiteY20" fmla="*/ 68881 h 399985"/>
                    <a:gd name="connsiteX21" fmla="*/ 212257 w 881141"/>
                    <a:gd name="connsiteY21" fmla="*/ 85572 h 399985"/>
                    <a:gd name="connsiteX22" fmla="*/ 775889 w 881141"/>
                    <a:gd name="connsiteY22" fmla="*/ 85572 h 399985"/>
                    <a:gd name="connsiteX23" fmla="*/ 816859 w 881141"/>
                    <a:gd name="connsiteY23" fmla="*/ 93843 h 399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81141" h="399985">
                      <a:moveTo>
                        <a:pt x="816859" y="93843"/>
                      </a:moveTo>
                      <a:cubicBezTo>
                        <a:pt x="854635" y="109821"/>
                        <a:pt x="881141" y="147227"/>
                        <a:pt x="881141" y="190824"/>
                      </a:cubicBezTo>
                      <a:cubicBezTo>
                        <a:pt x="881141" y="248954"/>
                        <a:pt x="834019" y="296076"/>
                        <a:pt x="775889" y="296076"/>
                      </a:cubicBezTo>
                      <a:lnTo>
                        <a:pt x="227922" y="296076"/>
                      </a:lnTo>
                      <a:lnTo>
                        <a:pt x="178135" y="358860"/>
                      </a:lnTo>
                      <a:cubicBezTo>
                        <a:pt x="155127" y="378216"/>
                        <a:pt x="128278" y="392137"/>
                        <a:pt x="99698" y="399937"/>
                      </a:cubicBezTo>
                      <a:lnTo>
                        <a:pt x="98734" y="399985"/>
                      </a:lnTo>
                      <a:lnTo>
                        <a:pt x="41671" y="384868"/>
                      </a:lnTo>
                      <a:lnTo>
                        <a:pt x="0" y="352264"/>
                      </a:lnTo>
                      <a:lnTo>
                        <a:pt x="0" y="306889"/>
                      </a:lnTo>
                      <a:lnTo>
                        <a:pt x="105879" y="307693"/>
                      </a:lnTo>
                      <a:lnTo>
                        <a:pt x="166986" y="187765"/>
                      </a:lnTo>
                      <a:lnTo>
                        <a:pt x="165060" y="185156"/>
                      </a:lnTo>
                      <a:lnTo>
                        <a:pt x="167580" y="180056"/>
                      </a:lnTo>
                      <a:lnTo>
                        <a:pt x="96285" y="85892"/>
                      </a:lnTo>
                      <a:lnTo>
                        <a:pt x="0" y="86330"/>
                      </a:lnTo>
                      <a:lnTo>
                        <a:pt x="0" y="40559"/>
                      </a:lnTo>
                      <a:lnTo>
                        <a:pt x="61500" y="1965"/>
                      </a:lnTo>
                      <a:lnTo>
                        <a:pt x="74035" y="0"/>
                      </a:lnTo>
                      <a:lnTo>
                        <a:pt x="138985" y="18118"/>
                      </a:lnTo>
                      <a:cubicBezTo>
                        <a:pt x="164296" y="31014"/>
                        <a:pt x="185796" y="48429"/>
                        <a:pt x="203002" y="68881"/>
                      </a:cubicBezTo>
                      <a:lnTo>
                        <a:pt x="212257" y="85572"/>
                      </a:lnTo>
                      <a:lnTo>
                        <a:pt x="775889" y="85572"/>
                      </a:lnTo>
                      <a:cubicBezTo>
                        <a:pt x="790422" y="85572"/>
                        <a:pt x="804265" y="88517"/>
                        <a:pt x="816859" y="93843"/>
                      </a:cubicBezTo>
                      <a:close/>
                    </a:path>
                  </a:pathLst>
                </a:custGeom>
                <a:grp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77" name="Hexagon 176"/>
                <p:cNvSpPr/>
                <p:nvPr/>
              </p:nvSpPr>
              <p:spPr>
                <a:xfrm rot="16200000">
                  <a:off x="723704" y="3526929"/>
                  <a:ext cx="244092" cy="211283"/>
                </a:xfrm>
                <a:prstGeom prst="hexagon">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grpSp>
            <p:nvGrpSpPr>
              <p:cNvPr id="163" name="Group 162"/>
              <p:cNvGrpSpPr/>
              <p:nvPr/>
            </p:nvGrpSpPr>
            <p:grpSpPr>
              <a:xfrm>
                <a:off x="6905507" y="4832312"/>
                <a:ext cx="608714" cy="371937"/>
                <a:chOff x="596854" y="3260753"/>
                <a:chExt cx="1046285" cy="639303"/>
              </a:xfrm>
              <a:solidFill>
                <a:schemeClr val="bg1"/>
              </a:solidFill>
            </p:grpSpPr>
            <p:sp>
              <p:nvSpPr>
                <p:cNvPr id="172" name="Freeform 171"/>
                <p:cNvSpPr/>
                <p:nvPr/>
              </p:nvSpPr>
              <p:spPr>
                <a:xfrm>
                  <a:off x="596854" y="3365086"/>
                  <a:ext cx="493032" cy="534970"/>
                </a:xfrm>
                <a:custGeom>
                  <a:avLst/>
                  <a:gdLst>
                    <a:gd name="connsiteX0" fmla="*/ 250470 w 278551"/>
                    <a:gd name="connsiteY0" fmla="*/ 185740 h 302245"/>
                    <a:gd name="connsiteX1" fmla="*/ 278551 w 278551"/>
                    <a:gd name="connsiteY1" fmla="*/ 212135 h 302245"/>
                    <a:gd name="connsiteX2" fmla="*/ 261752 w 278551"/>
                    <a:gd name="connsiteY2" fmla="*/ 241233 h 302245"/>
                    <a:gd name="connsiteX3" fmla="*/ 225317 w 278551"/>
                    <a:gd name="connsiteY3" fmla="*/ 230252 h 302245"/>
                    <a:gd name="connsiteX4" fmla="*/ 247440 w 278551"/>
                    <a:gd name="connsiteY4" fmla="*/ 199863 h 302245"/>
                    <a:gd name="connsiteX5" fmla="*/ 139274 w 278551"/>
                    <a:gd name="connsiteY5" fmla="*/ 84295 h 302245"/>
                    <a:gd name="connsiteX6" fmla="*/ 196885 w 278551"/>
                    <a:gd name="connsiteY6" fmla="*/ 113100 h 302245"/>
                    <a:gd name="connsiteX7" fmla="*/ 196884 w 278551"/>
                    <a:gd name="connsiteY7" fmla="*/ 114931 h 302245"/>
                    <a:gd name="connsiteX8" fmla="*/ 141702 w 278551"/>
                    <a:gd name="connsiteY8" fmla="*/ 86497 h 302245"/>
                    <a:gd name="connsiteX9" fmla="*/ 91232 w 278551"/>
                    <a:gd name="connsiteY9" fmla="*/ 110971 h 302245"/>
                    <a:gd name="connsiteX10" fmla="*/ 90180 w 278551"/>
                    <a:gd name="connsiteY10" fmla="*/ 108843 h 302245"/>
                    <a:gd name="connsiteX11" fmla="*/ 93907 w 278551"/>
                    <a:gd name="connsiteY11" fmla="*/ 56612 h 302245"/>
                    <a:gd name="connsiteX12" fmla="*/ 77529 w 278551"/>
                    <a:gd name="connsiteY12" fmla="*/ 83250 h 302245"/>
                    <a:gd name="connsiteX13" fmla="*/ 90180 w 278551"/>
                    <a:gd name="connsiteY13" fmla="*/ 108843 h 302245"/>
                    <a:gd name="connsiteX14" fmla="*/ 81665 w 278551"/>
                    <a:gd name="connsiteY14" fmla="*/ 113100 h 302245"/>
                    <a:gd name="connsiteX15" fmla="*/ 81665 w 278551"/>
                    <a:gd name="connsiteY15" fmla="*/ 189144 h 302245"/>
                    <a:gd name="connsiteX16" fmla="*/ 139274 w 278551"/>
                    <a:gd name="connsiteY16" fmla="*/ 217949 h 302245"/>
                    <a:gd name="connsiteX17" fmla="*/ 196884 w 278551"/>
                    <a:gd name="connsiteY17" fmla="*/ 189144 h 302245"/>
                    <a:gd name="connsiteX18" fmla="*/ 196884 w 278551"/>
                    <a:gd name="connsiteY18" fmla="*/ 114931 h 302245"/>
                    <a:gd name="connsiteX19" fmla="*/ 198958 w 278551"/>
                    <a:gd name="connsiteY19" fmla="*/ 115999 h 302245"/>
                    <a:gd name="connsiteX20" fmla="*/ 198034 w 278551"/>
                    <a:gd name="connsiteY20" fmla="*/ 192038 h 302245"/>
                    <a:gd name="connsiteX21" fmla="*/ 144208 w 278551"/>
                    <a:gd name="connsiteY21" fmla="*/ 218139 h 302245"/>
                    <a:gd name="connsiteX22" fmla="*/ 155568 w 278551"/>
                    <a:gd name="connsiteY22" fmla="*/ 241121 h 302245"/>
                    <a:gd name="connsiteX23" fmla="*/ 182697 w 278551"/>
                    <a:gd name="connsiteY23" fmla="*/ 246757 h 302245"/>
                    <a:gd name="connsiteX24" fmla="*/ 166987 w 278551"/>
                    <a:gd name="connsiteY24" fmla="*/ 255827 h 302245"/>
                    <a:gd name="connsiteX25" fmla="*/ 156075 w 278551"/>
                    <a:gd name="connsiteY25" fmla="*/ 302245 h 302245"/>
                    <a:gd name="connsiteX26" fmla="*/ 122476 w 278551"/>
                    <a:gd name="connsiteY26" fmla="*/ 302245 h 302245"/>
                    <a:gd name="connsiteX27" fmla="*/ 111565 w 278551"/>
                    <a:gd name="connsiteY27" fmla="*/ 255827 h 302245"/>
                    <a:gd name="connsiteX28" fmla="*/ 62455 w 278551"/>
                    <a:gd name="connsiteY28" fmla="*/ 227473 h 302245"/>
                    <a:gd name="connsiteX29" fmla="*/ 16799 w 278551"/>
                    <a:gd name="connsiteY29" fmla="*/ 241233 h 302245"/>
                    <a:gd name="connsiteX30" fmla="*/ 0 w 278551"/>
                    <a:gd name="connsiteY30" fmla="*/ 212135 h 302245"/>
                    <a:gd name="connsiteX31" fmla="*/ 34743 w 278551"/>
                    <a:gd name="connsiteY31" fmla="*/ 179476 h 302245"/>
                    <a:gd name="connsiteX32" fmla="*/ 34743 w 278551"/>
                    <a:gd name="connsiteY32" fmla="*/ 122768 h 302245"/>
                    <a:gd name="connsiteX33" fmla="*/ 0 w 278551"/>
                    <a:gd name="connsiteY33" fmla="*/ 90110 h 302245"/>
                    <a:gd name="connsiteX34" fmla="*/ 16799 w 278551"/>
                    <a:gd name="connsiteY34" fmla="*/ 61012 h 302245"/>
                    <a:gd name="connsiteX35" fmla="*/ 62454 w 278551"/>
                    <a:gd name="connsiteY35" fmla="*/ 74772 h 302245"/>
                    <a:gd name="connsiteX36" fmla="*/ 122476 w 278551"/>
                    <a:gd name="connsiteY36" fmla="*/ 0 h 302245"/>
                    <a:gd name="connsiteX37" fmla="*/ 156075 w 278551"/>
                    <a:gd name="connsiteY37" fmla="*/ 0 h 302245"/>
                    <a:gd name="connsiteX38" fmla="*/ 165987 w 278551"/>
                    <a:gd name="connsiteY38" fmla="*/ 42169 h 302245"/>
                    <a:gd name="connsiteX39" fmla="*/ 142303 w 278551"/>
                    <a:gd name="connsiteY39" fmla="*/ 37087 h 302245"/>
                    <a:gd name="connsiteX40" fmla="*/ 112428 w 278551"/>
                    <a:gd name="connsiteY40" fmla="*/ 42742 h 30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78551" h="302245">
                      <a:moveTo>
                        <a:pt x="250470" y="185740"/>
                      </a:moveTo>
                      <a:lnTo>
                        <a:pt x="278551" y="212135"/>
                      </a:lnTo>
                      <a:lnTo>
                        <a:pt x="261752" y="241233"/>
                      </a:lnTo>
                      <a:lnTo>
                        <a:pt x="225317" y="230252"/>
                      </a:lnTo>
                      <a:lnTo>
                        <a:pt x="247440" y="199863"/>
                      </a:lnTo>
                      <a:close/>
                      <a:moveTo>
                        <a:pt x="139274" y="84295"/>
                      </a:moveTo>
                      <a:lnTo>
                        <a:pt x="196885" y="113100"/>
                      </a:lnTo>
                      <a:lnTo>
                        <a:pt x="196884" y="114931"/>
                      </a:lnTo>
                      <a:lnTo>
                        <a:pt x="141702" y="86497"/>
                      </a:lnTo>
                      <a:lnTo>
                        <a:pt x="91232" y="110971"/>
                      </a:lnTo>
                      <a:lnTo>
                        <a:pt x="90180" y="108843"/>
                      </a:lnTo>
                      <a:close/>
                      <a:moveTo>
                        <a:pt x="93907" y="56612"/>
                      </a:moveTo>
                      <a:lnTo>
                        <a:pt x="77529" y="83250"/>
                      </a:lnTo>
                      <a:lnTo>
                        <a:pt x="90180" y="108843"/>
                      </a:lnTo>
                      <a:lnTo>
                        <a:pt x="81665" y="113100"/>
                      </a:lnTo>
                      <a:lnTo>
                        <a:pt x="81665" y="189144"/>
                      </a:lnTo>
                      <a:lnTo>
                        <a:pt x="139274" y="217949"/>
                      </a:lnTo>
                      <a:lnTo>
                        <a:pt x="196884" y="189144"/>
                      </a:lnTo>
                      <a:lnTo>
                        <a:pt x="196884" y="114931"/>
                      </a:lnTo>
                      <a:lnTo>
                        <a:pt x="198958" y="115999"/>
                      </a:lnTo>
                      <a:lnTo>
                        <a:pt x="198034" y="192038"/>
                      </a:lnTo>
                      <a:lnTo>
                        <a:pt x="144208" y="218139"/>
                      </a:lnTo>
                      <a:lnTo>
                        <a:pt x="155568" y="241121"/>
                      </a:lnTo>
                      <a:lnTo>
                        <a:pt x="182697" y="246757"/>
                      </a:lnTo>
                      <a:lnTo>
                        <a:pt x="166987" y="255827"/>
                      </a:lnTo>
                      <a:lnTo>
                        <a:pt x="156075" y="302245"/>
                      </a:lnTo>
                      <a:lnTo>
                        <a:pt x="122476" y="302245"/>
                      </a:lnTo>
                      <a:lnTo>
                        <a:pt x="111565" y="255827"/>
                      </a:lnTo>
                      <a:cubicBezTo>
                        <a:pt x="92967" y="250905"/>
                        <a:pt x="76016" y="241118"/>
                        <a:pt x="62455" y="227473"/>
                      </a:cubicBezTo>
                      <a:lnTo>
                        <a:pt x="16799" y="241233"/>
                      </a:lnTo>
                      <a:lnTo>
                        <a:pt x="0" y="212135"/>
                      </a:lnTo>
                      <a:lnTo>
                        <a:pt x="34743" y="179476"/>
                      </a:lnTo>
                      <a:cubicBezTo>
                        <a:pt x="29707" y="160909"/>
                        <a:pt x="29707" y="141335"/>
                        <a:pt x="34743" y="122768"/>
                      </a:cubicBezTo>
                      <a:lnTo>
                        <a:pt x="0" y="90110"/>
                      </a:lnTo>
                      <a:lnTo>
                        <a:pt x="16799" y="61012"/>
                      </a:lnTo>
                      <a:lnTo>
                        <a:pt x="62454" y="74772"/>
                      </a:lnTo>
                      <a:close/>
                      <a:moveTo>
                        <a:pt x="122476" y="0"/>
                      </a:moveTo>
                      <a:lnTo>
                        <a:pt x="156075" y="0"/>
                      </a:lnTo>
                      <a:lnTo>
                        <a:pt x="165987" y="42169"/>
                      </a:lnTo>
                      <a:lnTo>
                        <a:pt x="142303" y="37087"/>
                      </a:lnTo>
                      <a:lnTo>
                        <a:pt x="112428" y="42742"/>
                      </a:lnTo>
                      <a:close/>
                    </a:path>
                  </a:pathLst>
                </a:custGeom>
                <a:grpFill/>
                <a:ln w="19050">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73" name="Freeform 172"/>
                <p:cNvSpPr/>
                <p:nvPr/>
              </p:nvSpPr>
              <p:spPr>
                <a:xfrm rot="20021754">
                  <a:off x="761998" y="3260753"/>
                  <a:ext cx="881141" cy="399985"/>
                </a:xfrm>
                <a:custGeom>
                  <a:avLst/>
                  <a:gdLst>
                    <a:gd name="connsiteX0" fmla="*/ 816859 w 881141"/>
                    <a:gd name="connsiteY0" fmla="*/ 93843 h 399985"/>
                    <a:gd name="connsiteX1" fmla="*/ 881141 w 881141"/>
                    <a:gd name="connsiteY1" fmla="*/ 190824 h 399985"/>
                    <a:gd name="connsiteX2" fmla="*/ 775889 w 881141"/>
                    <a:gd name="connsiteY2" fmla="*/ 296076 h 399985"/>
                    <a:gd name="connsiteX3" fmla="*/ 227922 w 881141"/>
                    <a:gd name="connsiteY3" fmla="*/ 296076 h 399985"/>
                    <a:gd name="connsiteX4" fmla="*/ 178135 w 881141"/>
                    <a:gd name="connsiteY4" fmla="*/ 358860 h 399985"/>
                    <a:gd name="connsiteX5" fmla="*/ 99698 w 881141"/>
                    <a:gd name="connsiteY5" fmla="*/ 399937 h 399985"/>
                    <a:gd name="connsiteX6" fmla="*/ 98734 w 881141"/>
                    <a:gd name="connsiteY6" fmla="*/ 399985 h 399985"/>
                    <a:gd name="connsiteX7" fmla="*/ 41671 w 881141"/>
                    <a:gd name="connsiteY7" fmla="*/ 384868 h 399985"/>
                    <a:gd name="connsiteX8" fmla="*/ 0 w 881141"/>
                    <a:gd name="connsiteY8" fmla="*/ 352264 h 399985"/>
                    <a:gd name="connsiteX9" fmla="*/ 0 w 881141"/>
                    <a:gd name="connsiteY9" fmla="*/ 306889 h 399985"/>
                    <a:gd name="connsiteX10" fmla="*/ 105879 w 881141"/>
                    <a:gd name="connsiteY10" fmla="*/ 307693 h 399985"/>
                    <a:gd name="connsiteX11" fmla="*/ 166986 w 881141"/>
                    <a:gd name="connsiteY11" fmla="*/ 187765 h 399985"/>
                    <a:gd name="connsiteX12" fmla="*/ 165060 w 881141"/>
                    <a:gd name="connsiteY12" fmla="*/ 185156 h 399985"/>
                    <a:gd name="connsiteX13" fmla="*/ 167580 w 881141"/>
                    <a:gd name="connsiteY13" fmla="*/ 180056 h 399985"/>
                    <a:gd name="connsiteX14" fmla="*/ 96285 w 881141"/>
                    <a:gd name="connsiteY14" fmla="*/ 85892 h 399985"/>
                    <a:gd name="connsiteX15" fmla="*/ 0 w 881141"/>
                    <a:gd name="connsiteY15" fmla="*/ 86330 h 399985"/>
                    <a:gd name="connsiteX16" fmla="*/ 0 w 881141"/>
                    <a:gd name="connsiteY16" fmla="*/ 40559 h 399985"/>
                    <a:gd name="connsiteX17" fmla="*/ 61500 w 881141"/>
                    <a:gd name="connsiteY17" fmla="*/ 1965 h 399985"/>
                    <a:gd name="connsiteX18" fmla="*/ 74035 w 881141"/>
                    <a:gd name="connsiteY18" fmla="*/ 0 h 399985"/>
                    <a:gd name="connsiteX19" fmla="*/ 138985 w 881141"/>
                    <a:gd name="connsiteY19" fmla="*/ 18118 h 399985"/>
                    <a:gd name="connsiteX20" fmla="*/ 203002 w 881141"/>
                    <a:gd name="connsiteY20" fmla="*/ 68881 h 399985"/>
                    <a:gd name="connsiteX21" fmla="*/ 212257 w 881141"/>
                    <a:gd name="connsiteY21" fmla="*/ 85572 h 399985"/>
                    <a:gd name="connsiteX22" fmla="*/ 775889 w 881141"/>
                    <a:gd name="connsiteY22" fmla="*/ 85572 h 399985"/>
                    <a:gd name="connsiteX23" fmla="*/ 816859 w 881141"/>
                    <a:gd name="connsiteY23" fmla="*/ 93843 h 399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81141" h="399985">
                      <a:moveTo>
                        <a:pt x="816859" y="93843"/>
                      </a:moveTo>
                      <a:cubicBezTo>
                        <a:pt x="854635" y="109821"/>
                        <a:pt x="881141" y="147227"/>
                        <a:pt x="881141" y="190824"/>
                      </a:cubicBezTo>
                      <a:cubicBezTo>
                        <a:pt x="881141" y="248954"/>
                        <a:pt x="834019" y="296076"/>
                        <a:pt x="775889" y="296076"/>
                      </a:cubicBezTo>
                      <a:lnTo>
                        <a:pt x="227922" y="296076"/>
                      </a:lnTo>
                      <a:lnTo>
                        <a:pt x="178135" y="358860"/>
                      </a:lnTo>
                      <a:cubicBezTo>
                        <a:pt x="155127" y="378216"/>
                        <a:pt x="128278" y="392137"/>
                        <a:pt x="99698" y="399937"/>
                      </a:cubicBezTo>
                      <a:lnTo>
                        <a:pt x="98734" y="399985"/>
                      </a:lnTo>
                      <a:lnTo>
                        <a:pt x="41671" y="384868"/>
                      </a:lnTo>
                      <a:lnTo>
                        <a:pt x="0" y="352264"/>
                      </a:lnTo>
                      <a:lnTo>
                        <a:pt x="0" y="306889"/>
                      </a:lnTo>
                      <a:lnTo>
                        <a:pt x="105879" y="307693"/>
                      </a:lnTo>
                      <a:lnTo>
                        <a:pt x="166986" y="187765"/>
                      </a:lnTo>
                      <a:lnTo>
                        <a:pt x="165060" y="185156"/>
                      </a:lnTo>
                      <a:lnTo>
                        <a:pt x="167580" y="180056"/>
                      </a:lnTo>
                      <a:lnTo>
                        <a:pt x="96285" y="85892"/>
                      </a:lnTo>
                      <a:lnTo>
                        <a:pt x="0" y="86330"/>
                      </a:lnTo>
                      <a:lnTo>
                        <a:pt x="0" y="40559"/>
                      </a:lnTo>
                      <a:lnTo>
                        <a:pt x="61500" y="1965"/>
                      </a:lnTo>
                      <a:lnTo>
                        <a:pt x="74035" y="0"/>
                      </a:lnTo>
                      <a:lnTo>
                        <a:pt x="138985" y="18118"/>
                      </a:lnTo>
                      <a:cubicBezTo>
                        <a:pt x="164296" y="31014"/>
                        <a:pt x="185796" y="48429"/>
                        <a:pt x="203002" y="68881"/>
                      </a:cubicBezTo>
                      <a:lnTo>
                        <a:pt x="212257" y="85572"/>
                      </a:lnTo>
                      <a:lnTo>
                        <a:pt x="775889" y="85572"/>
                      </a:lnTo>
                      <a:cubicBezTo>
                        <a:pt x="790422" y="85572"/>
                        <a:pt x="804265" y="88517"/>
                        <a:pt x="816859" y="93843"/>
                      </a:cubicBezTo>
                      <a:close/>
                    </a:path>
                  </a:pathLst>
                </a:custGeom>
                <a:grp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74" name="Hexagon 173"/>
                <p:cNvSpPr/>
                <p:nvPr/>
              </p:nvSpPr>
              <p:spPr>
                <a:xfrm rot="16200000">
                  <a:off x="723704" y="3526929"/>
                  <a:ext cx="244092" cy="211283"/>
                </a:xfrm>
                <a:prstGeom prst="hexagon">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grpSp>
            <p:nvGrpSpPr>
              <p:cNvPr id="164" name="Group 163"/>
              <p:cNvGrpSpPr/>
              <p:nvPr/>
            </p:nvGrpSpPr>
            <p:grpSpPr>
              <a:xfrm>
                <a:off x="6651203" y="4670507"/>
                <a:ext cx="608714" cy="371937"/>
                <a:chOff x="596854" y="3260753"/>
                <a:chExt cx="1046285" cy="639303"/>
              </a:xfrm>
              <a:solidFill>
                <a:schemeClr val="bg1"/>
              </a:solidFill>
            </p:grpSpPr>
            <p:sp>
              <p:nvSpPr>
                <p:cNvPr id="169" name="Freeform 168"/>
                <p:cNvSpPr/>
                <p:nvPr/>
              </p:nvSpPr>
              <p:spPr>
                <a:xfrm>
                  <a:off x="596854" y="3365086"/>
                  <a:ext cx="493032" cy="534970"/>
                </a:xfrm>
                <a:custGeom>
                  <a:avLst/>
                  <a:gdLst>
                    <a:gd name="connsiteX0" fmla="*/ 250470 w 278551"/>
                    <a:gd name="connsiteY0" fmla="*/ 185740 h 302245"/>
                    <a:gd name="connsiteX1" fmla="*/ 278551 w 278551"/>
                    <a:gd name="connsiteY1" fmla="*/ 212135 h 302245"/>
                    <a:gd name="connsiteX2" fmla="*/ 261752 w 278551"/>
                    <a:gd name="connsiteY2" fmla="*/ 241233 h 302245"/>
                    <a:gd name="connsiteX3" fmla="*/ 225317 w 278551"/>
                    <a:gd name="connsiteY3" fmla="*/ 230252 h 302245"/>
                    <a:gd name="connsiteX4" fmla="*/ 247440 w 278551"/>
                    <a:gd name="connsiteY4" fmla="*/ 199863 h 302245"/>
                    <a:gd name="connsiteX5" fmla="*/ 139274 w 278551"/>
                    <a:gd name="connsiteY5" fmla="*/ 84295 h 302245"/>
                    <a:gd name="connsiteX6" fmla="*/ 196885 w 278551"/>
                    <a:gd name="connsiteY6" fmla="*/ 113100 h 302245"/>
                    <a:gd name="connsiteX7" fmla="*/ 196884 w 278551"/>
                    <a:gd name="connsiteY7" fmla="*/ 114931 h 302245"/>
                    <a:gd name="connsiteX8" fmla="*/ 141702 w 278551"/>
                    <a:gd name="connsiteY8" fmla="*/ 86497 h 302245"/>
                    <a:gd name="connsiteX9" fmla="*/ 91232 w 278551"/>
                    <a:gd name="connsiteY9" fmla="*/ 110971 h 302245"/>
                    <a:gd name="connsiteX10" fmla="*/ 90180 w 278551"/>
                    <a:gd name="connsiteY10" fmla="*/ 108843 h 302245"/>
                    <a:gd name="connsiteX11" fmla="*/ 93907 w 278551"/>
                    <a:gd name="connsiteY11" fmla="*/ 56612 h 302245"/>
                    <a:gd name="connsiteX12" fmla="*/ 77529 w 278551"/>
                    <a:gd name="connsiteY12" fmla="*/ 83250 h 302245"/>
                    <a:gd name="connsiteX13" fmla="*/ 90180 w 278551"/>
                    <a:gd name="connsiteY13" fmla="*/ 108843 h 302245"/>
                    <a:gd name="connsiteX14" fmla="*/ 81665 w 278551"/>
                    <a:gd name="connsiteY14" fmla="*/ 113100 h 302245"/>
                    <a:gd name="connsiteX15" fmla="*/ 81665 w 278551"/>
                    <a:gd name="connsiteY15" fmla="*/ 189144 h 302245"/>
                    <a:gd name="connsiteX16" fmla="*/ 139274 w 278551"/>
                    <a:gd name="connsiteY16" fmla="*/ 217949 h 302245"/>
                    <a:gd name="connsiteX17" fmla="*/ 196884 w 278551"/>
                    <a:gd name="connsiteY17" fmla="*/ 189144 h 302245"/>
                    <a:gd name="connsiteX18" fmla="*/ 196884 w 278551"/>
                    <a:gd name="connsiteY18" fmla="*/ 114931 h 302245"/>
                    <a:gd name="connsiteX19" fmla="*/ 198958 w 278551"/>
                    <a:gd name="connsiteY19" fmla="*/ 115999 h 302245"/>
                    <a:gd name="connsiteX20" fmla="*/ 198034 w 278551"/>
                    <a:gd name="connsiteY20" fmla="*/ 192038 h 302245"/>
                    <a:gd name="connsiteX21" fmla="*/ 144208 w 278551"/>
                    <a:gd name="connsiteY21" fmla="*/ 218139 h 302245"/>
                    <a:gd name="connsiteX22" fmla="*/ 155568 w 278551"/>
                    <a:gd name="connsiteY22" fmla="*/ 241121 h 302245"/>
                    <a:gd name="connsiteX23" fmla="*/ 182697 w 278551"/>
                    <a:gd name="connsiteY23" fmla="*/ 246757 h 302245"/>
                    <a:gd name="connsiteX24" fmla="*/ 166987 w 278551"/>
                    <a:gd name="connsiteY24" fmla="*/ 255827 h 302245"/>
                    <a:gd name="connsiteX25" fmla="*/ 156075 w 278551"/>
                    <a:gd name="connsiteY25" fmla="*/ 302245 h 302245"/>
                    <a:gd name="connsiteX26" fmla="*/ 122476 w 278551"/>
                    <a:gd name="connsiteY26" fmla="*/ 302245 h 302245"/>
                    <a:gd name="connsiteX27" fmla="*/ 111565 w 278551"/>
                    <a:gd name="connsiteY27" fmla="*/ 255827 h 302245"/>
                    <a:gd name="connsiteX28" fmla="*/ 62455 w 278551"/>
                    <a:gd name="connsiteY28" fmla="*/ 227473 h 302245"/>
                    <a:gd name="connsiteX29" fmla="*/ 16799 w 278551"/>
                    <a:gd name="connsiteY29" fmla="*/ 241233 h 302245"/>
                    <a:gd name="connsiteX30" fmla="*/ 0 w 278551"/>
                    <a:gd name="connsiteY30" fmla="*/ 212135 h 302245"/>
                    <a:gd name="connsiteX31" fmla="*/ 34743 w 278551"/>
                    <a:gd name="connsiteY31" fmla="*/ 179476 h 302245"/>
                    <a:gd name="connsiteX32" fmla="*/ 34743 w 278551"/>
                    <a:gd name="connsiteY32" fmla="*/ 122768 h 302245"/>
                    <a:gd name="connsiteX33" fmla="*/ 0 w 278551"/>
                    <a:gd name="connsiteY33" fmla="*/ 90110 h 302245"/>
                    <a:gd name="connsiteX34" fmla="*/ 16799 w 278551"/>
                    <a:gd name="connsiteY34" fmla="*/ 61012 h 302245"/>
                    <a:gd name="connsiteX35" fmla="*/ 62454 w 278551"/>
                    <a:gd name="connsiteY35" fmla="*/ 74772 h 302245"/>
                    <a:gd name="connsiteX36" fmla="*/ 122476 w 278551"/>
                    <a:gd name="connsiteY36" fmla="*/ 0 h 302245"/>
                    <a:gd name="connsiteX37" fmla="*/ 156075 w 278551"/>
                    <a:gd name="connsiteY37" fmla="*/ 0 h 302245"/>
                    <a:gd name="connsiteX38" fmla="*/ 165987 w 278551"/>
                    <a:gd name="connsiteY38" fmla="*/ 42169 h 302245"/>
                    <a:gd name="connsiteX39" fmla="*/ 142303 w 278551"/>
                    <a:gd name="connsiteY39" fmla="*/ 37087 h 302245"/>
                    <a:gd name="connsiteX40" fmla="*/ 112428 w 278551"/>
                    <a:gd name="connsiteY40" fmla="*/ 42742 h 30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78551" h="302245">
                      <a:moveTo>
                        <a:pt x="250470" y="185740"/>
                      </a:moveTo>
                      <a:lnTo>
                        <a:pt x="278551" y="212135"/>
                      </a:lnTo>
                      <a:lnTo>
                        <a:pt x="261752" y="241233"/>
                      </a:lnTo>
                      <a:lnTo>
                        <a:pt x="225317" y="230252"/>
                      </a:lnTo>
                      <a:lnTo>
                        <a:pt x="247440" y="199863"/>
                      </a:lnTo>
                      <a:close/>
                      <a:moveTo>
                        <a:pt x="139274" y="84295"/>
                      </a:moveTo>
                      <a:lnTo>
                        <a:pt x="196885" y="113100"/>
                      </a:lnTo>
                      <a:lnTo>
                        <a:pt x="196884" y="114931"/>
                      </a:lnTo>
                      <a:lnTo>
                        <a:pt x="141702" y="86497"/>
                      </a:lnTo>
                      <a:lnTo>
                        <a:pt x="91232" y="110971"/>
                      </a:lnTo>
                      <a:lnTo>
                        <a:pt x="90180" y="108843"/>
                      </a:lnTo>
                      <a:close/>
                      <a:moveTo>
                        <a:pt x="93907" y="56612"/>
                      </a:moveTo>
                      <a:lnTo>
                        <a:pt x="77529" y="83250"/>
                      </a:lnTo>
                      <a:lnTo>
                        <a:pt x="90180" y="108843"/>
                      </a:lnTo>
                      <a:lnTo>
                        <a:pt x="81665" y="113100"/>
                      </a:lnTo>
                      <a:lnTo>
                        <a:pt x="81665" y="189144"/>
                      </a:lnTo>
                      <a:lnTo>
                        <a:pt x="139274" y="217949"/>
                      </a:lnTo>
                      <a:lnTo>
                        <a:pt x="196884" y="189144"/>
                      </a:lnTo>
                      <a:lnTo>
                        <a:pt x="196884" y="114931"/>
                      </a:lnTo>
                      <a:lnTo>
                        <a:pt x="198958" y="115999"/>
                      </a:lnTo>
                      <a:lnTo>
                        <a:pt x="198034" y="192038"/>
                      </a:lnTo>
                      <a:lnTo>
                        <a:pt x="144208" y="218139"/>
                      </a:lnTo>
                      <a:lnTo>
                        <a:pt x="155568" y="241121"/>
                      </a:lnTo>
                      <a:lnTo>
                        <a:pt x="182697" y="246757"/>
                      </a:lnTo>
                      <a:lnTo>
                        <a:pt x="166987" y="255827"/>
                      </a:lnTo>
                      <a:lnTo>
                        <a:pt x="156075" y="302245"/>
                      </a:lnTo>
                      <a:lnTo>
                        <a:pt x="122476" y="302245"/>
                      </a:lnTo>
                      <a:lnTo>
                        <a:pt x="111565" y="255827"/>
                      </a:lnTo>
                      <a:cubicBezTo>
                        <a:pt x="92967" y="250905"/>
                        <a:pt x="76016" y="241118"/>
                        <a:pt x="62455" y="227473"/>
                      </a:cubicBezTo>
                      <a:lnTo>
                        <a:pt x="16799" y="241233"/>
                      </a:lnTo>
                      <a:lnTo>
                        <a:pt x="0" y="212135"/>
                      </a:lnTo>
                      <a:lnTo>
                        <a:pt x="34743" y="179476"/>
                      </a:lnTo>
                      <a:cubicBezTo>
                        <a:pt x="29707" y="160909"/>
                        <a:pt x="29707" y="141335"/>
                        <a:pt x="34743" y="122768"/>
                      </a:cubicBezTo>
                      <a:lnTo>
                        <a:pt x="0" y="90110"/>
                      </a:lnTo>
                      <a:lnTo>
                        <a:pt x="16799" y="61012"/>
                      </a:lnTo>
                      <a:lnTo>
                        <a:pt x="62454" y="74772"/>
                      </a:lnTo>
                      <a:close/>
                      <a:moveTo>
                        <a:pt x="122476" y="0"/>
                      </a:moveTo>
                      <a:lnTo>
                        <a:pt x="156075" y="0"/>
                      </a:lnTo>
                      <a:lnTo>
                        <a:pt x="165987" y="42169"/>
                      </a:lnTo>
                      <a:lnTo>
                        <a:pt x="142303" y="37087"/>
                      </a:lnTo>
                      <a:lnTo>
                        <a:pt x="112428" y="42742"/>
                      </a:lnTo>
                      <a:close/>
                    </a:path>
                  </a:pathLst>
                </a:custGeom>
                <a:grpFill/>
                <a:ln w="19050">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70" name="Freeform 169"/>
                <p:cNvSpPr/>
                <p:nvPr/>
              </p:nvSpPr>
              <p:spPr>
                <a:xfrm rot="20021754">
                  <a:off x="761998" y="3260753"/>
                  <a:ext cx="881141" cy="399985"/>
                </a:xfrm>
                <a:custGeom>
                  <a:avLst/>
                  <a:gdLst>
                    <a:gd name="connsiteX0" fmla="*/ 816859 w 881141"/>
                    <a:gd name="connsiteY0" fmla="*/ 93843 h 399985"/>
                    <a:gd name="connsiteX1" fmla="*/ 881141 w 881141"/>
                    <a:gd name="connsiteY1" fmla="*/ 190824 h 399985"/>
                    <a:gd name="connsiteX2" fmla="*/ 775889 w 881141"/>
                    <a:gd name="connsiteY2" fmla="*/ 296076 h 399985"/>
                    <a:gd name="connsiteX3" fmla="*/ 227922 w 881141"/>
                    <a:gd name="connsiteY3" fmla="*/ 296076 h 399985"/>
                    <a:gd name="connsiteX4" fmla="*/ 178135 w 881141"/>
                    <a:gd name="connsiteY4" fmla="*/ 358860 h 399985"/>
                    <a:gd name="connsiteX5" fmla="*/ 99698 w 881141"/>
                    <a:gd name="connsiteY5" fmla="*/ 399937 h 399985"/>
                    <a:gd name="connsiteX6" fmla="*/ 98734 w 881141"/>
                    <a:gd name="connsiteY6" fmla="*/ 399985 h 399985"/>
                    <a:gd name="connsiteX7" fmla="*/ 41671 w 881141"/>
                    <a:gd name="connsiteY7" fmla="*/ 384868 h 399985"/>
                    <a:gd name="connsiteX8" fmla="*/ 0 w 881141"/>
                    <a:gd name="connsiteY8" fmla="*/ 352264 h 399985"/>
                    <a:gd name="connsiteX9" fmla="*/ 0 w 881141"/>
                    <a:gd name="connsiteY9" fmla="*/ 306889 h 399985"/>
                    <a:gd name="connsiteX10" fmla="*/ 105879 w 881141"/>
                    <a:gd name="connsiteY10" fmla="*/ 307693 h 399985"/>
                    <a:gd name="connsiteX11" fmla="*/ 166986 w 881141"/>
                    <a:gd name="connsiteY11" fmla="*/ 187765 h 399985"/>
                    <a:gd name="connsiteX12" fmla="*/ 165060 w 881141"/>
                    <a:gd name="connsiteY12" fmla="*/ 185156 h 399985"/>
                    <a:gd name="connsiteX13" fmla="*/ 167580 w 881141"/>
                    <a:gd name="connsiteY13" fmla="*/ 180056 h 399985"/>
                    <a:gd name="connsiteX14" fmla="*/ 96285 w 881141"/>
                    <a:gd name="connsiteY14" fmla="*/ 85892 h 399985"/>
                    <a:gd name="connsiteX15" fmla="*/ 0 w 881141"/>
                    <a:gd name="connsiteY15" fmla="*/ 86330 h 399985"/>
                    <a:gd name="connsiteX16" fmla="*/ 0 w 881141"/>
                    <a:gd name="connsiteY16" fmla="*/ 40559 h 399985"/>
                    <a:gd name="connsiteX17" fmla="*/ 61500 w 881141"/>
                    <a:gd name="connsiteY17" fmla="*/ 1965 h 399985"/>
                    <a:gd name="connsiteX18" fmla="*/ 74035 w 881141"/>
                    <a:gd name="connsiteY18" fmla="*/ 0 h 399985"/>
                    <a:gd name="connsiteX19" fmla="*/ 138985 w 881141"/>
                    <a:gd name="connsiteY19" fmla="*/ 18118 h 399985"/>
                    <a:gd name="connsiteX20" fmla="*/ 203002 w 881141"/>
                    <a:gd name="connsiteY20" fmla="*/ 68881 h 399985"/>
                    <a:gd name="connsiteX21" fmla="*/ 212257 w 881141"/>
                    <a:gd name="connsiteY21" fmla="*/ 85572 h 399985"/>
                    <a:gd name="connsiteX22" fmla="*/ 775889 w 881141"/>
                    <a:gd name="connsiteY22" fmla="*/ 85572 h 399985"/>
                    <a:gd name="connsiteX23" fmla="*/ 816859 w 881141"/>
                    <a:gd name="connsiteY23" fmla="*/ 93843 h 399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81141" h="399985">
                      <a:moveTo>
                        <a:pt x="816859" y="93843"/>
                      </a:moveTo>
                      <a:cubicBezTo>
                        <a:pt x="854635" y="109821"/>
                        <a:pt x="881141" y="147227"/>
                        <a:pt x="881141" y="190824"/>
                      </a:cubicBezTo>
                      <a:cubicBezTo>
                        <a:pt x="881141" y="248954"/>
                        <a:pt x="834019" y="296076"/>
                        <a:pt x="775889" y="296076"/>
                      </a:cubicBezTo>
                      <a:lnTo>
                        <a:pt x="227922" y="296076"/>
                      </a:lnTo>
                      <a:lnTo>
                        <a:pt x="178135" y="358860"/>
                      </a:lnTo>
                      <a:cubicBezTo>
                        <a:pt x="155127" y="378216"/>
                        <a:pt x="128278" y="392137"/>
                        <a:pt x="99698" y="399937"/>
                      </a:cubicBezTo>
                      <a:lnTo>
                        <a:pt x="98734" y="399985"/>
                      </a:lnTo>
                      <a:lnTo>
                        <a:pt x="41671" y="384868"/>
                      </a:lnTo>
                      <a:lnTo>
                        <a:pt x="0" y="352264"/>
                      </a:lnTo>
                      <a:lnTo>
                        <a:pt x="0" y="306889"/>
                      </a:lnTo>
                      <a:lnTo>
                        <a:pt x="105879" y="307693"/>
                      </a:lnTo>
                      <a:lnTo>
                        <a:pt x="166986" y="187765"/>
                      </a:lnTo>
                      <a:lnTo>
                        <a:pt x="165060" y="185156"/>
                      </a:lnTo>
                      <a:lnTo>
                        <a:pt x="167580" y="180056"/>
                      </a:lnTo>
                      <a:lnTo>
                        <a:pt x="96285" y="85892"/>
                      </a:lnTo>
                      <a:lnTo>
                        <a:pt x="0" y="86330"/>
                      </a:lnTo>
                      <a:lnTo>
                        <a:pt x="0" y="40559"/>
                      </a:lnTo>
                      <a:lnTo>
                        <a:pt x="61500" y="1965"/>
                      </a:lnTo>
                      <a:lnTo>
                        <a:pt x="74035" y="0"/>
                      </a:lnTo>
                      <a:lnTo>
                        <a:pt x="138985" y="18118"/>
                      </a:lnTo>
                      <a:cubicBezTo>
                        <a:pt x="164296" y="31014"/>
                        <a:pt x="185796" y="48429"/>
                        <a:pt x="203002" y="68881"/>
                      </a:cubicBezTo>
                      <a:lnTo>
                        <a:pt x="212257" y="85572"/>
                      </a:lnTo>
                      <a:lnTo>
                        <a:pt x="775889" y="85572"/>
                      </a:lnTo>
                      <a:cubicBezTo>
                        <a:pt x="790422" y="85572"/>
                        <a:pt x="804265" y="88517"/>
                        <a:pt x="816859" y="93843"/>
                      </a:cubicBezTo>
                      <a:close/>
                    </a:path>
                  </a:pathLst>
                </a:custGeom>
                <a:grp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71" name="Hexagon 170"/>
                <p:cNvSpPr/>
                <p:nvPr/>
              </p:nvSpPr>
              <p:spPr>
                <a:xfrm rot="16200000">
                  <a:off x="723704" y="3526929"/>
                  <a:ext cx="244092" cy="211283"/>
                </a:xfrm>
                <a:prstGeom prst="hexagon">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grpSp>
            <p:nvGrpSpPr>
              <p:cNvPr id="165" name="Group 164"/>
              <p:cNvGrpSpPr/>
              <p:nvPr/>
            </p:nvGrpSpPr>
            <p:grpSpPr>
              <a:xfrm>
                <a:off x="6396899" y="4508702"/>
                <a:ext cx="608714" cy="371937"/>
                <a:chOff x="596854" y="3260753"/>
                <a:chExt cx="1046285" cy="639303"/>
              </a:xfrm>
              <a:solidFill>
                <a:schemeClr val="bg1"/>
              </a:solidFill>
            </p:grpSpPr>
            <p:sp>
              <p:nvSpPr>
                <p:cNvPr id="166" name="Freeform 165"/>
                <p:cNvSpPr/>
                <p:nvPr/>
              </p:nvSpPr>
              <p:spPr>
                <a:xfrm>
                  <a:off x="596854" y="3365086"/>
                  <a:ext cx="493032" cy="534970"/>
                </a:xfrm>
                <a:custGeom>
                  <a:avLst/>
                  <a:gdLst>
                    <a:gd name="connsiteX0" fmla="*/ 250470 w 278551"/>
                    <a:gd name="connsiteY0" fmla="*/ 185740 h 302245"/>
                    <a:gd name="connsiteX1" fmla="*/ 278551 w 278551"/>
                    <a:gd name="connsiteY1" fmla="*/ 212135 h 302245"/>
                    <a:gd name="connsiteX2" fmla="*/ 261752 w 278551"/>
                    <a:gd name="connsiteY2" fmla="*/ 241233 h 302245"/>
                    <a:gd name="connsiteX3" fmla="*/ 225317 w 278551"/>
                    <a:gd name="connsiteY3" fmla="*/ 230252 h 302245"/>
                    <a:gd name="connsiteX4" fmla="*/ 247440 w 278551"/>
                    <a:gd name="connsiteY4" fmla="*/ 199863 h 302245"/>
                    <a:gd name="connsiteX5" fmla="*/ 139274 w 278551"/>
                    <a:gd name="connsiteY5" fmla="*/ 84295 h 302245"/>
                    <a:gd name="connsiteX6" fmla="*/ 196885 w 278551"/>
                    <a:gd name="connsiteY6" fmla="*/ 113100 h 302245"/>
                    <a:gd name="connsiteX7" fmla="*/ 196884 w 278551"/>
                    <a:gd name="connsiteY7" fmla="*/ 114931 h 302245"/>
                    <a:gd name="connsiteX8" fmla="*/ 141702 w 278551"/>
                    <a:gd name="connsiteY8" fmla="*/ 86497 h 302245"/>
                    <a:gd name="connsiteX9" fmla="*/ 91232 w 278551"/>
                    <a:gd name="connsiteY9" fmla="*/ 110971 h 302245"/>
                    <a:gd name="connsiteX10" fmla="*/ 90180 w 278551"/>
                    <a:gd name="connsiteY10" fmla="*/ 108843 h 302245"/>
                    <a:gd name="connsiteX11" fmla="*/ 93907 w 278551"/>
                    <a:gd name="connsiteY11" fmla="*/ 56612 h 302245"/>
                    <a:gd name="connsiteX12" fmla="*/ 77529 w 278551"/>
                    <a:gd name="connsiteY12" fmla="*/ 83250 h 302245"/>
                    <a:gd name="connsiteX13" fmla="*/ 90180 w 278551"/>
                    <a:gd name="connsiteY13" fmla="*/ 108843 h 302245"/>
                    <a:gd name="connsiteX14" fmla="*/ 81665 w 278551"/>
                    <a:gd name="connsiteY14" fmla="*/ 113100 h 302245"/>
                    <a:gd name="connsiteX15" fmla="*/ 81665 w 278551"/>
                    <a:gd name="connsiteY15" fmla="*/ 189144 h 302245"/>
                    <a:gd name="connsiteX16" fmla="*/ 139274 w 278551"/>
                    <a:gd name="connsiteY16" fmla="*/ 217949 h 302245"/>
                    <a:gd name="connsiteX17" fmla="*/ 196884 w 278551"/>
                    <a:gd name="connsiteY17" fmla="*/ 189144 h 302245"/>
                    <a:gd name="connsiteX18" fmla="*/ 196884 w 278551"/>
                    <a:gd name="connsiteY18" fmla="*/ 114931 h 302245"/>
                    <a:gd name="connsiteX19" fmla="*/ 198958 w 278551"/>
                    <a:gd name="connsiteY19" fmla="*/ 115999 h 302245"/>
                    <a:gd name="connsiteX20" fmla="*/ 198034 w 278551"/>
                    <a:gd name="connsiteY20" fmla="*/ 192038 h 302245"/>
                    <a:gd name="connsiteX21" fmla="*/ 144208 w 278551"/>
                    <a:gd name="connsiteY21" fmla="*/ 218139 h 302245"/>
                    <a:gd name="connsiteX22" fmla="*/ 155568 w 278551"/>
                    <a:gd name="connsiteY22" fmla="*/ 241121 h 302245"/>
                    <a:gd name="connsiteX23" fmla="*/ 182697 w 278551"/>
                    <a:gd name="connsiteY23" fmla="*/ 246757 h 302245"/>
                    <a:gd name="connsiteX24" fmla="*/ 166987 w 278551"/>
                    <a:gd name="connsiteY24" fmla="*/ 255827 h 302245"/>
                    <a:gd name="connsiteX25" fmla="*/ 156075 w 278551"/>
                    <a:gd name="connsiteY25" fmla="*/ 302245 h 302245"/>
                    <a:gd name="connsiteX26" fmla="*/ 122476 w 278551"/>
                    <a:gd name="connsiteY26" fmla="*/ 302245 h 302245"/>
                    <a:gd name="connsiteX27" fmla="*/ 111565 w 278551"/>
                    <a:gd name="connsiteY27" fmla="*/ 255827 h 302245"/>
                    <a:gd name="connsiteX28" fmla="*/ 62455 w 278551"/>
                    <a:gd name="connsiteY28" fmla="*/ 227473 h 302245"/>
                    <a:gd name="connsiteX29" fmla="*/ 16799 w 278551"/>
                    <a:gd name="connsiteY29" fmla="*/ 241233 h 302245"/>
                    <a:gd name="connsiteX30" fmla="*/ 0 w 278551"/>
                    <a:gd name="connsiteY30" fmla="*/ 212135 h 302245"/>
                    <a:gd name="connsiteX31" fmla="*/ 34743 w 278551"/>
                    <a:gd name="connsiteY31" fmla="*/ 179476 h 302245"/>
                    <a:gd name="connsiteX32" fmla="*/ 34743 w 278551"/>
                    <a:gd name="connsiteY32" fmla="*/ 122768 h 302245"/>
                    <a:gd name="connsiteX33" fmla="*/ 0 w 278551"/>
                    <a:gd name="connsiteY33" fmla="*/ 90110 h 302245"/>
                    <a:gd name="connsiteX34" fmla="*/ 16799 w 278551"/>
                    <a:gd name="connsiteY34" fmla="*/ 61012 h 302245"/>
                    <a:gd name="connsiteX35" fmla="*/ 62454 w 278551"/>
                    <a:gd name="connsiteY35" fmla="*/ 74772 h 302245"/>
                    <a:gd name="connsiteX36" fmla="*/ 122476 w 278551"/>
                    <a:gd name="connsiteY36" fmla="*/ 0 h 302245"/>
                    <a:gd name="connsiteX37" fmla="*/ 156075 w 278551"/>
                    <a:gd name="connsiteY37" fmla="*/ 0 h 302245"/>
                    <a:gd name="connsiteX38" fmla="*/ 165987 w 278551"/>
                    <a:gd name="connsiteY38" fmla="*/ 42169 h 302245"/>
                    <a:gd name="connsiteX39" fmla="*/ 142303 w 278551"/>
                    <a:gd name="connsiteY39" fmla="*/ 37087 h 302245"/>
                    <a:gd name="connsiteX40" fmla="*/ 112428 w 278551"/>
                    <a:gd name="connsiteY40" fmla="*/ 42742 h 30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78551" h="302245">
                      <a:moveTo>
                        <a:pt x="250470" y="185740"/>
                      </a:moveTo>
                      <a:lnTo>
                        <a:pt x="278551" y="212135"/>
                      </a:lnTo>
                      <a:lnTo>
                        <a:pt x="261752" y="241233"/>
                      </a:lnTo>
                      <a:lnTo>
                        <a:pt x="225317" y="230252"/>
                      </a:lnTo>
                      <a:lnTo>
                        <a:pt x="247440" y="199863"/>
                      </a:lnTo>
                      <a:close/>
                      <a:moveTo>
                        <a:pt x="139274" y="84295"/>
                      </a:moveTo>
                      <a:lnTo>
                        <a:pt x="196885" y="113100"/>
                      </a:lnTo>
                      <a:lnTo>
                        <a:pt x="196884" y="114931"/>
                      </a:lnTo>
                      <a:lnTo>
                        <a:pt x="141702" y="86497"/>
                      </a:lnTo>
                      <a:lnTo>
                        <a:pt x="91232" y="110971"/>
                      </a:lnTo>
                      <a:lnTo>
                        <a:pt x="90180" y="108843"/>
                      </a:lnTo>
                      <a:close/>
                      <a:moveTo>
                        <a:pt x="93907" y="56612"/>
                      </a:moveTo>
                      <a:lnTo>
                        <a:pt x="77529" y="83250"/>
                      </a:lnTo>
                      <a:lnTo>
                        <a:pt x="90180" y="108843"/>
                      </a:lnTo>
                      <a:lnTo>
                        <a:pt x="81665" y="113100"/>
                      </a:lnTo>
                      <a:lnTo>
                        <a:pt x="81665" y="189144"/>
                      </a:lnTo>
                      <a:lnTo>
                        <a:pt x="139274" y="217949"/>
                      </a:lnTo>
                      <a:lnTo>
                        <a:pt x="196884" y="189144"/>
                      </a:lnTo>
                      <a:lnTo>
                        <a:pt x="196884" y="114931"/>
                      </a:lnTo>
                      <a:lnTo>
                        <a:pt x="198958" y="115999"/>
                      </a:lnTo>
                      <a:lnTo>
                        <a:pt x="198034" y="192038"/>
                      </a:lnTo>
                      <a:lnTo>
                        <a:pt x="144208" y="218139"/>
                      </a:lnTo>
                      <a:lnTo>
                        <a:pt x="155568" y="241121"/>
                      </a:lnTo>
                      <a:lnTo>
                        <a:pt x="182697" y="246757"/>
                      </a:lnTo>
                      <a:lnTo>
                        <a:pt x="166987" y="255827"/>
                      </a:lnTo>
                      <a:lnTo>
                        <a:pt x="156075" y="302245"/>
                      </a:lnTo>
                      <a:lnTo>
                        <a:pt x="122476" y="302245"/>
                      </a:lnTo>
                      <a:lnTo>
                        <a:pt x="111565" y="255827"/>
                      </a:lnTo>
                      <a:cubicBezTo>
                        <a:pt x="92967" y="250905"/>
                        <a:pt x="76016" y="241118"/>
                        <a:pt x="62455" y="227473"/>
                      </a:cubicBezTo>
                      <a:lnTo>
                        <a:pt x="16799" y="241233"/>
                      </a:lnTo>
                      <a:lnTo>
                        <a:pt x="0" y="212135"/>
                      </a:lnTo>
                      <a:lnTo>
                        <a:pt x="34743" y="179476"/>
                      </a:lnTo>
                      <a:cubicBezTo>
                        <a:pt x="29707" y="160909"/>
                        <a:pt x="29707" y="141335"/>
                        <a:pt x="34743" y="122768"/>
                      </a:cubicBezTo>
                      <a:lnTo>
                        <a:pt x="0" y="90110"/>
                      </a:lnTo>
                      <a:lnTo>
                        <a:pt x="16799" y="61012"/>
                      </a:lnTo>
                      <a:lnTo>
                        <a:pt x="62454" y="74772"/>
                      </a:lnTo>
                      <a:close/>
                      <a:moveTo>
                        <a:pt x="122476" y="0"/>
                      </a:moveTo>
                      <a:lnTo>
                        <a:pt x="156075" y="0"/>
                      </a:lnTo>
                      <a:lnTo>
                        <a:pt x="165987" y="42169"/>
                      </a:lnTo>
                      <a:lnTo>
                        <a:pt x="142303" y="37087"/>
                      </a:lnTo>
                      <a:lnTo>
                        <a:pt x="112428" y="42742"/>
                      </a:lnTo>
                      <a:close/>
                    </a:path>
                  </a:pathLst>
                </a:custGeom>
                <a:grpFill/>
                <a:ln w="19050">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67" name="Freeform 166"/>
                <p:cNvSpPr/>
                <p:nvPr/>
              </p:nvSpPr>
              <p:spPr>
                <a:xfrm rot="20021754">
                  <a:off x="761998" y="3260753"/>
                  <a:ext cx="881141" cy="399985"/>
                </a:xfrm>
                <a:custGeom>
                  <a:avLst/>
                  <a:gdLst>
                    <a:gd name="connsiteX0" fmla="*/ 816859 w 881141"/>
                    <a:gd name="connsiteY0" fmla="*/ 93843 h 399985"/>
                    <a:gd name="connsiteX1" fmla="*/ 881141 w 881141"/>
                    <a:gd name="connsiteY1" fmla="*/ 190824 h 399985"/>
                    <a:gd name="connsiteX2" fmla="*/ 775889 w 881141"/>
                    <a:gd name="connsiteY2" fmla="*/ 296076 h 399985"/>
                    <a:gd name="connsiteX3" fmla="*/ 227922 w 881141"/>
                    <a:gd name="connsiteY3" fmla="*/ 296076 h 399985"/>
                    <a:gd name="connsiteX4" fmla="*/ 178135 w 881141"/>
                    <a:gd name="connsiteY4" fmla="*/ 358860 h 399985"/>
                    <a:gd name="connsiteX5" fmla="*/ 99698 w 881141"/>
                    <a:gd name="connsiteY5" fmla="*/ 399937 h 399985"/>
                    <a:gd name="connsiteX6" fmla="*/ 98734 w 881141"/>
                    <a:gd name="connsiteY6" fmla="*/ 399985 h 399985"/>
                    <a:gd name="connsiteX7" fmla="*/ 41671 w 881141"/>
                    <a:gd name="connsiteY7" fmla="*/ 384868 h 399985"/>
                    <a:gd name="connsiteX8" fmla="*/ 0 w 881141"/>
                    <a:gd name="connsiteY8" fmla="*/ 352264 h 399985"/>
                    <a:gd name="connsiteX9" fmla="*/ 0 w 881141"/>
                    <a:gd name="connsiteY9" fmla="*/ 306889 h 399985"/>
                    <a:gd name="connsiteX10" fmla="*/ 105879 w 881141"/>
                    <a:gd name="connsiteY10" fmla="*/ 307693 h 399985"/>
                    <a:gd name="connsiteX11" fmla="*/ 166986 w 881141"/>
                    <a:gd name="connsiteY11" fmla="*/ 187765 h 399985"/>
                    <a:gd name="connsiteX12" fmla="*/ 165060 w 881141"/>
                    <a:gd name="connsiteY12" fmla="*/ 185156 h 399985"/>
                    <a:gd name="connsiteX13" fmla="*/ 167580 w 881141"/>
                    <a:gd name="connsiteY13" fmla="*/ 180056 h 399985"/>
                    <a:gd name="connsiteX14" fmla="*/ 96285 w 881141"/>
                    <a:gd name="connsiteY14" fmla="*/ 85892 h 399985"/>
                    <a:gd name="connsiteX15" fmla="*/ 0 w 881141"/>
                    <a:gd name="connsiteY15" fmla="*/ 86330 h 399985"/>
                    <a:gd name="connsiteX16" fmla="*/ 0 w 881141"/>
                    <a:gd name="connsiteY16" fmla="*/ 40559 h 399985"/>
                    <a:gd name="connsiteX17" fmla="*/ 61500 w 881141"/>
                    <a:gd name="connsiteY17" fmla="*/ 1965 h 399985"/>
                    <a:gd name="connsiteX18" fmla="*/ 74035 w 881141"/>
                    <a:gd name="connsiteY18" fmla="*/ 0 h 399985"/>
                    <a:gd name="connsiteX19" fmla="*/ 138985 w 881141"/>
                    <a:gd name="connsiteY19" fmla="*/ 18118 h 399985"/>
                    <a:gd name="connsiteX20" fmla="*/ 203002 w 881141"/>
                    <a:gd name="connsiteY20" fmla="*/ 68881 h 399985"/>
                    <a:gd name="connsiteX21" fmla="*/ 212257 w 881141"/>
                    <a:gd name="connsiteY21" fmla="*/ 85572 h 399985"/>
                    <a:gd name="connsiteX22" fmla="*/ 775889 w 881141"/>
                    <a:gd name="connsiteY22" fmla="*/ 85572 h 399985"/>
                    <a:gd name="connsiteX23" fmla="*/ 816859 w 881141"/>
                    <a:gd name="connsiteY23" fmla="*/ 93843 h 399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81141" h="399985">
                      <a:moveTo>
                        <a:pt x="816859" y="93843"/>
                      </a:moveTo>
                      <a:cubicBezTo>
                        <a:pt x="854635" y="109821"/>
                        <a:pt x="881141" y="147227"/>
                        <a:pt x="881141" y="190824"/>
                      </a:cubicBezTo>
                      <a:cubicBezTo>
                        <a:pt x="881141" y="248954"/>
                        <a:pt x="834019" y="296076"/>
                        <a:pt x="775889" y="296076"/>
                      </a:cubicBezTo>
                      <a:lnTo>
                        <a:pt x="227922" y="296076"/>
                      </a:lnTo>
                      <a:lnTo>
                        <a:pt x="178135" y="358860"/>
                      </a:lnTo>
                      <a:cubicBezTo>
                        <a:pt x="155127" y="378216"/>
                        <a:pt x="128278" y="392137"/>
                        <a:pt x="99698" y="399937"/>
                      </a:cubicBezTo>
                      <a:lnTo>
                        <a:pt x="98734" y="399985"/>
                      </a:lnTo>
                      <a:lnTo>
                        <a:pt x="41671" y="384868"/>
                      </a:lnTo>
                      <a:lnTo>
                        <a:pt x="0" y="352264"/>
                      </a:lnTo>
                      <a:lnTo>
                        <a:pt x="0" y="306889"/>
                      </a:lnTo>
                      <a:lnTo>
                        <a:pt x="105879" y="307693"/>
                      </a:lnTo>
                      <a:lnTo>
                        <a:pt x="166986" y="187765"/>
                      </a:lnTo>
                      <a:lnTo>
                        <a:pt x="165060" y="185156"/>
                      </a:lnTo>
                      <a:lnTo>
                        <a:pt x="167580" y="180056"/>
                      </a:lnTo>
                      <a:lnTo>
                        <a:pt x="96285" y="85892"/>
                      </a:lnTo>
                      <a:lnTo>
                        <a:pt x="0" y="86330"/>
                      </a:lnTo>
                      <a:lnTo>
                        <a:pt x="0" y="40559"/>
                      </a:lnTo>
                      <a:lnTo>
                        <a:pt x="61500" y="1965"/>
                      </a:lnTo>
                      <a:lnTo>
                        <a:pt x="74035" y="0"/>
                      </a:lnTo>
                      <a:lnTo>
                        <a:pt x="138985" y="18118"/>
                      </a:lnTo>
                      <a:cubicBezTo>
                        <a:pt x="164296" y="31014"/>
                        <a:pt x="185796" y="48429"/>
                        <a:pt x="203002" y="68881"/>
                      </a:cubicBezTo>
                      <a:lnTo>
                        <a:pt x="212257" y="85572"/>
                      </a:lnTo>
                      <a:lnTo>
                        <a:pt x="775889" y="85572"/>
                      </a:lnTo>
                      <a:cubicBezTo>
                        <a:pt x="790422" y="85572"/>
                        <a:pt x="804265" y="88517"/>
                        <a:pt x="816859" y="93843"/>
                      </a:cubicBezTo>
                      <a:close/>
                    </a:path>
                  </a:pathLst>
                </a:custGeom>
                <a:grp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68" name="Hexagon 167"/>
                <p:cNvSpPr/>
                <p:nvPr/>
              </p:nvSpPr>
              <p:spPr>
                <a:xfrm rot="16200000">
                  <a:off x="723704" y="3526929"/>
                  <a:ext cx="244092" cy="211283"/>
                </a:xfrm>
                <a:prstGeom prst="hexagon">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grpSp>
            <p:nvGrpSpPr>
              <p:cNvPr id="181" name="Group 180"/>
              <p:cNvGrpSpPr/>
              <p:nvPr/>
            </p:nvGrpSpPr>
            <p:grpSpPr>
              <a:xfrm>
                <a:off x="3996571" y="3924560"/>
                <a:ext cx="608714" cy="371937"/>
                <a:chOff x="3971551" y="600792"/>
                <a:chExt cx="608714" cy="371937"/>
              </a:xfrm>
            </p:grpSpPr>
            <p:sp>
              <p:nvSpPr>
                <p:cNvPr id="182" name="Freeform 181"/>
                <p:cNvSpPr/>
                <p:nvPr/>
              </p:nvSpPr>
              <p:spPr>
                <a:xfrm>
                  <a:off x="3971551" y="661491"/>
                  <a:ext cx="286839" cy="311238"/>
                </a:xfrm>
                <a:custGeom>
                  <a:avLst/>
                  <a:gdLst>
                    <a:gd name="connsiteX0" fmla="*/ 250470 w 278551"/>
                    <a:gd name="connsiteY0" fmla="*/ 185740 h 302245"/>
                    <a:gd name="connsiteX1" fmla="*/ 278551 w 278551"/>
                    <a:gd name="connsiteY1" fmla="*/ 212135 h 302245"/>
                    <a:gd name="connsiteX2" fmla="*/ 261752 w 278551"/>
                    <a:gd name="connsiteY2" fmla="*/ 241233 h 302245"/>
                    <a:gd name="connsiteX3" fmla="*/ 225317 w 278551"/>
                    <a:gd name="connsiteY3" fmla="*/ 230252 h 302245"/>
                    <a:gd name="connsiteX4" fmla="*/ 247440 w 278551"/>
                    <a:gd name="connsiteY4" fmla="*/ 199863 h 302245"/>
                    <a:gd name="connsiteX5" fmla="*/ 139274 w 278551"/>
                    <a:gd name="connsiteY5" fmla="*/ 84295 h 302245"/>
                    <a:gd name="connsiteX6" fmla="*/ 196885 w 278551"/>
                    <a:gd name="connsiteY6" fmla="*/ 113100 h 302245"/>
                    <a:gd name="connsiteX7" fmla="*/ 196884 w 278551"/>
                    <a:gd name="connsiteY7" fmla="*/ 114931 h 302245"/>
                    <a:gd name="connsiteX8" fmla="*/ 141702 w 278551"/>
                    <a:gd name="connsiteY8" fmla="*/ 86497 h 302245"/>
                    <a:gd name="connsiteX9" fmla="*/ 91232 w 278551"/>
                    <a:gd name="connsiteY9" fmla="*/ 110971 h 302245"/>
                    <a:gd name="connsiteX10" fmla="*/ 90180 w 278551"/>
                    <a:gd name="connsiteY10" fmla="*/ 108843 h 302245"/>
                    <a:gd name="connsiteX11" fmla="*/ 93907 w 278551"/>
                    <a:gd name="connsiteY11" fmla="*/ 56612 h 302245"/>
                    <a:gd name="connsiteX12" fmla="*/ 77529 w 278551"/>
                    <a:gd name="connsiteY12" fmla="*/ 83250 h 302245"/>
                    <a:gd name="connsiteX13" fmla="*/ 90180 w 278551"/>
                    <a:gd name="connsiteY13" fmla="*/ 108843 h 302245"/>
                    <a:gd name="connsiteX14" fmla="*/ 81665 w 278551"/>
                    <a:gd name="connsiteY14" fmla="*/ 113100 h 302245"/>
                    <a:gd name="connsiteX15" fmla="*/ 81665 w 278551"/>
                    <a:gd name="connsiteY15" fmla="*/ 189144 h 302245"/>
                    <a:gd name="connsiteX16" fmla="*/ 139274 w 278551"/>
                    <a:gd name="connsiteY16" fmla="*/ 217949 h 302245"/>
                    <a:gd name="connsiteX17" fmla="*/ 196884 w 278551"/>
                    <a:gd name="connsiteY17" fmla="*/ 189144 h 302245"/>
                    <a:gd name="connsiteX18" fmla="*/ 196884 w 278551"/>
                    <a:gd name="connsiteY18" fmla="*/ 114931 h 302245"/>
                    <a:gd name="connsiteX19" fmla="*/ 198958 w 278551"/>
                    <a:gd name="connsiteY19" fmla="*/ 115999 h 302245"/>
                    <a:gd name="connsiteX20" fmla="*/ 198034 w 278551"/>
                    <a:gd name="connsiteY20" fmla="*/ 192038 h 302245"/>
                    <a:gd name="connsiteX21" fmla="*/ 144208 w 278551"/>
                    <a:gd name="connsiteY21" fmla="*/ 218139 h 302245"/>
                    <a:gd name="connsiteX22" fmla="*/ 155568 w 278551"/>
                    <a:gd name="connsiteY22" fmla="*/ 241121 h 302245"/>
                    <a:gd name="connsiteX23" fmla="*/ 182697 w 278551"/>
                    <a:gd name="connsiteY23" fmla="*/ 246757 h 302245"/>
                    <a:gd name="connsiteX24" fmla="*/ 166987 w 278551"/>
                    <a:gd name="connsiteY24" fmla="*/ 255827 h 302245"/>
                    <a:gd name="connsiteX25" fmla="*/ 156075 w 278551"/>
                    <a:gd name="connsiteY25" fmla="*/ 302245 h 302245"/>
                    <a:gd name="connsiteX26" fmla="*/ 122476 w 278551"/>
                    <a:gd name="connsiteY26" fmla="*/ 302245 h 302245"/>
                    <a:gd name="connsiteX27" fmla="*/ 111565 w 278551"/>
                    <a:gd name="connsiteY27" fmla="*/ 255827 h 302245"/>
                    <a:gd name="connsiteX28" fmla="*/ 62455 w 278551"/>
                    <a:gd name="connsiteY28" fmla="*/ 227473 h 302245"/>
                    <a:gd name="connsiteX29" fmla="*/ 16799 w 278551"/>
                    <a:gd name="connsiteY29" fmla="*/ 241233 h 302245"/>
                    <a:gd name="connsiteX30" fmla="*/ 0 w 278551"/>
                    <a:gd name="connsiteY30" fmla="*/ 212135 h 302245"/>
                    <a:gd name="connsiteX31" fmla="*/ 34743 w 278551"/>
                    <a:gd name="connsiteY31" fmla="*/ 179476 h 302245"/>
                    <a:gd name="connsiteX32" fmla="*/ 34743 w 278551"/>
                    <a:gd name="connsiteY32" fmla="*/ 122768 h 302245"/>
                    <a:gd name="connsiteX33" fmla="*/ 0 w 278551"/>
                    <a:gd name="connsiteY33" fmla="*/ 90110 h 302245"/>
                    <a:gd name="connsiteX34" fmla="*/ 16799 w 278551"/>
                    <a:gd name="connsiteY34" fmla="*/ 61012 h 302245"/>
                    <a:gd name="connsiteX35" fmla="*/ 62454 w 278551"/>
                    <a:gd name="connsiteY35" fmla="*/ 74772 h 302245"/>
                    <a:gd name="connsiteX36" fmla="*/ 122476 w 278551"/>
                    <a:gd name="connsiteY36" fmla="*/ 0 h 302245"/>
                    <a:gd name="connsiteX37" fmla="*/ 156075 w 278551"/>
                    <a:gd name="connsiteY37" fmla="*/ 0 h 302245"/>
                    <a:gd name="connsiteX38" fmla="*/ 165987 w 278551"/>
                    <a:gd name="connsiteY38" fmla="*/ 42169 h 302245"/>
                    <a:gd name="connsiteX39" fmla="*/ 142303 w 278551"/>
                    <a:gd name="connsiteY39" fmla="*/ 37087 h 302245"/>
                    <a:gd name="connsiteX40" fmla="*/ 112428 w 278551"/>
                    <a:gd name="connsiteY40" fmla="*/ 42742 h 30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78551" h="302245">
                      <a:moveTo>
                        <a:pt x="250470" y="185740"/>
                      </a:moveTo>
                      <a:lnTo>
                        <a:pt x="278551" y="212135"/>
                      </a:lnTo>
                      <a:lnTo>
                        <a:pt x="261752" y="241233"/>
                      </a:lnTo>
                      <a:lnTo>
                        <a:pt x="225317" y="230252"/>
                      </a:lnTo>
                      <a:lnTo>
                        <a:pt x="247440" y="199863"/>
                      </a:lnTo>
                      <a:close/>
                      <a:moveTo>
                        <a:pt x="139274" y="84295"/>
                      </a:moveTo>
                      <a:lnTo>
                        <a:pt x="196885" y="113100"/>
                      </a:lnTo>
                      <a:lnTo>
                        <a:pt x="196884" y="114931"/>
                      </a:lnTo>
                      <a:lnTo>
                        <a:pt x="141702" y="86497"/>
                      </a:lnTo>
                      <a:lnTo>
                        <a:pt x="91232" y="110971"/>
                      </a:lnTo>
                      <a:lnTo>
                        <a:pt x="90180" y="108843"/>
                      </a:lnTo>
                      <a:close/>
                      <a:moveTo>
                        <a:pt x="93907" y="56612"/>
                      </a:moveTo>
                      <a:lnTo>
                        <a:pt x="77529" y="83250"/>
                      </a:lnTo>
                      <a:lnTo>
                        <a:pt x="90180" y="108843"/>
                      </a:lnTo>
                      <a:lnTo>
                        <a:pt x="81665" y="113100"/>
                      </a:lnTo>
                      <a:lnTo>
                        <a:pt x="81665" y="189144"/>
                      </a:lnTo>
                      <a:lnTo>
                        <a:pt x="139274" y="217949"/>
                      </a:lnTo>
                      <a:lnTo>
                        <a:pt x="196884" y="189144"/>
                      </a:lnTo>
                      <a:lnTo>
                        <a:pt x="196884" y="114931"/>
                      </a:lnTo>
                      <a:lnTo>
                        <a:pt x="198958" y="115999"/>
                      </a:lnTo>
                      <a:lnTo>
                        <a:pt x="198034" y="192038"/>
                      </a:lnTo>
                      <a:lnTo>
                        <a:pt x="144208" y="218139"/>
                      </a:lnTo>
                      <a:lnTo>
                        <a:pt x="155568" y="241121"/>
                      </a:lnTo>
                      <a:lnTo>
                        <a:pt x="182697" y="246757"/>
                      </a:lnTo>
                      <a:lnTo>
                        <a:pt x="166987" y="255827"/>
                      </a:lnTo>
                      <a:lnTo>
                        <a:pt x="156075" y="302245"/>
                      </a:lnTo>
                      <a:lnTo>
                        <a:pt x="122476" y="302245"/>
                      </a:lnTo>
                      <a:lnTo>
                        <a:pt x="111565" y="255827"/>
                      </a:lnTo>
                      <a:cubicBezTo>
                        <a:pt x="92967" y="250905"/>
                        <a:pt x="76016" y="241118"/>
                        <a:pt x="62455" y="227473"/>
                      </a:cubicBezTo>
                      <a:lnTo>
                        <a:pt x="16799" y="241233"/>
                      </a:lnTo>
                      <a:lnTo>
                        <a:pt x="0" y="212135"/>
                      </a:lnTo>
                      <a:lnTo>
                        <a:pt x="34743" y="179476"/>
                      </a:lnTo>
                      <a:cubicBezTo>
                        <a:pt x="29707" y="160909"/>
                        <a:pt x="29707" y="141335"/>
                        <a:pt x="34743" y="122768"/>
                      </a:cubicBezTo>
                      <a:lnTo>
                        <a:pt x="0" y="90110"/>
                      </a:lnTo>
                      <a:lnTo>
                        <a:pt x="16799" y="61012"/>
                      </a:lnTo>
                      <a:lnTo>
                        <a:pt x="62454" y="74772"/>
                      </a:lnTo>
                      <a:close/>
                      <a:moveTo>
                        <a:pt x="122476" y="0"/>
                      </a:moveTo>
                      <a:lnTo>
                        <a:pt x="156075" y="0"/>
                      </a:lnTo>
                      <a:lnTo>
                        <a:pt x="165987" y="42169"/>
                      </a:lnTo>
                      <a:lnTo>
                        <a:pt x="142303" y="37087"/>
                      </a:lnTo>
                      <a:lnTo>
                        <a:pt x="112428" y="42742"/>
                      </a:lnTo>
                      <a:close/>
                    </a:path>
                  </a:pathLst>
                </a:custGeom>
                <a:solidFill>
                  <a:schemeClr val="bg1"/>
                </a:solidFill>
                <a:ln w="19050">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83" name="Freeform 182"/>
                <p:cNvSpPr/>
                <p:nvPr/>
              </p:nvSpPr>
              <p:spPr>
                <a:xfrm rot="20021754">
                  <a:off x="4067629" y="600792"/>
                  <a:ext cx="512636" cy="232705"/>
                </a:xfrm>
                <a:custGeom>
                  <a:avLst/>
                  <a:gdLst>
                    <a:gd name="connsiteX0" fmla="*/ 816859 w 881141"/>
                    <a:gd name="connsiteY0" fmla="*/ 93843 h 399985"/>
                    <a:gd name="connsiteX1" fmla="*/ 881141 w 881141"/>
                    <a:gd name="connsiteY1" fmla="*/ 190824 h 399985"/>
                    <a:gd name="connsiteX2" fmla="*/ 775889 w 881141"/>
                    <a:gd name="connsiteY2" fmla="*/ 296076 h 399985"/>
                    <a:gd name="connsiteX3" fmla="*/ 227922 w 881141"/>
                    <a:gd name="connsiteY3" fmla="*/ 296076 h 399985"/>
                    <a:gd name="connsiteX4" fmla="*/ 178135 w 881141"/>
                    <a:gd name="connsiteY4" fmla="*/ 358860 h 399985"/>
                    <a:gd name="connsiteX5" fmla="*/ 99698 w 881141"/>
                    <a:gd name="connsiteY5" fmla="*/ 399937 h 399985"/>
                    <a:gd name="connsiteX6" fmla="*/ 98734 w 881141"/>
                    <a:gd name="connsiteY6" fmla="*/ 399985 h 399985"/>
                    <a:gd name="connsiteX7" fmla="*/ 41671 w 881141"/>
                    <a:gd name="connsiteY7" fmla="*/ 384868 h 399985"/>
                    <a:gd name="connsiteX8" fmla="*/ 0 w 881141"/>
                    <a:gd name="connsiteY8" fmla="*/ 352264 h 399985"/>
                    <a:gd name="connsiteX9" fmla="*/ 0 w 881141"/>
                    <a:gd name="connsiteY9" fmla="*/ 306889 h 399985"/>
                    <a:gd name="connsiteX10" fmla="*/ 105879 w 881141"/>
                    <a:gd name="connsiteY10" fmla="*/ 307693 h 399985"/>
                    <a:gd name="connsiteX11" fmla="*/ 166986 w 881141"/>
                    <a:gd name="connsiteY11" fmla="*/ 187765 h 399985"/>
                    <a:gd name="connsiteX12" fmla="*/ 165060 w 881141"/>
                    <a:gd name="connsiteY12" fmla="*/ 185156 h 399985"/>
                    <a:gd name="connsiteX13" fmla="*/ 167580 w 881141"/>
                    <a:gd name="connsiteY13" fmla="*/ 180056 h 399985"/>
                    <a:gd name="connsiteX14" fmla="*/ 96285 w 881141"/>
                    <a:gd name="connsiteY14" fmla="*/ 85892 h 399985"/>
                    <a:gd name="connsiteX15" fmla="*/ 0 w 881141"/>
                    <a:gd name="connsiteY15" fmla="*/ 86330 h 399985"/>
                    <a:gd name="connsiteX16" fmla="*/ 0 w 881141"/>
                    <a:gd name="connsiteY16" fmla="*/ 40559 h 399985"/>
                    <a:gd name="connsiteX17" fmla="*/ 61500 w 881141"/>
                    <a:gd name="connsiteY17" fmla="*/ 1965 h 399985"/>
                    <a:gd name="connsiteX18" fmla="*/ 74035 w 881141"/>
                    <a:gd name="connsiteY18" fmla="*/ 0 h 399985"/>
                    <a:gd name="connsiteX19" fmla="*/ 138985 w 881141"/>
                    <a:gd name="connsiteY19" fmla="*/ 18118 h 399985"/>
                    <a:gd name="connsiteX20" fmla="*/ 203002 w 881141"/>
                    <a:gd name="connsiteY20" fmla="*/ 68881 h 399985"/>
                    <a:gd name="connsiteX21" fmla="*/ 212257 w 881141"/>
                    <a:gd name="connsiteY21" fmla="*/ 85572 h 399985"/>
                    <a:gd name="connsiteX22" fmla="*/ 775889 w 881141"/>
                    <a:gd name="connsiteY22" fmla="*/ 85572 h 399985"/>
                    <a:gd name="connsiteX23" fmla="*/ 816859 w 881141"/>
                    <a:gd name="connsiteY23" fmla="*/ 93843 h 399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81141" h="399985">
                      <a:moveTo>
                        <a:pt x="816859" y="93843"/>
                      </a:moveTo>
                      <a:cubicBezTo>
                        <a:pt x="854635" y="109821"/>
                        <a:pt x="881141" y="147227"/>
                        <a:pt x="881141" y="190824"/>
                      </a:cubicBezTo>
                      <a:cubicBezTo>
                        <a:pt x="881141" y="248954"/>
                        <a:pt x="834019" y="296076"/>
                        <a:pt x="775889" y="296076"/>
                      </a:cubicBezTo>
                      <a:lnTo>
                        <a:pt x="227922" y="296076"/>
                      </a:lnTo>
                      <a:lnTo>
                        <a:pt x="178135" y="358860"/>
                      </a:lnTo>
                      <a:cubicBezTo>
                        <a:pt x="155127" y="378216"/>
                        <a:pt x="128278" y="392137"/>
                        <a:pt x="99698" y="399937"/>
                      </a:cubicBezTo>
                      <a:lnTo>
                        <a:pt x="98734" y="399985"/>
                      </a:lnTo>
                      <a:lnTo>
                        <a:pt x="41671" y="384868"/>
                      </a:lnTo>
                      <a:lnTo>
                        <a:pt x="0" y="352264"/>
                      </a:lnTo>
                      <a:lnTo>
                        <a:pt x="0" y="306889"/>
                      </a:lnTo>
                      <a:lnTo>
                        <a:pt x="105879" y="307693"/>
                      </a:lnTo>
                      <a:lnTo>
                        <a:pt x="166986" y="187765"/>
                      </a:lnTo>
                      <a:lnTo>
                        <a:pt x="165060" y="185156"/>
                      </a:lnTo>
                      <a:lnTo>
                        <a:pt x="167580" y="180056"/>
                      </a:lnTo>
                      <a:lnTo>
                        <a:pt x="96285" y="85892"/>
                      </a:lnTo>
                      <a:lnTo>
                        <a:pt x="0" y="86330"/>
                      </a:lnTo>
                      <a:lnTo>
                        <a:pt x="0" y="40559"/>
                      </a:lnTo>
                      <a:lnTo>
                        <a:pt x="61500" y="1965"/>
                      </a:lnTo>
                      <a:lnTo>
                        <a:pt x="74035" y="0"/>
                      </a:lnTo>
                      <a:lnTo>
                        <a:pt x="138985" y="18118"/>
                      </a:lnTo>
                      <a:cubicBezTo>
                        <a:pt x="164296" y="31014"/>
                        <a:pt x="185796" y="48429"/>
                        <a:pt x="203002" y="68881"/>
                      </a:cubicBezTo>
                      <a:lnTo>
                        <a:pt x="212257" y="85572"/>
                      </a:lnTo>
                      <a:lnTo>
                        <a:pt x="775889" y="85572"/>
                      </a:lnTo>
                      <a:cubicBezTo>
                        <a:pt x="790422" y="85572"/>
                        <a:pt x="804265" y="88517"/>
                        <a:pt x="816859" y="93843"/>
                      </a:cubicBezTo>
                      <a:close/>
                    </a:path>
                  </a:pathLst>
                </a:cu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84" name="Hexagon 183"/>
                <p:cNvSpPr/>
                <p:nvPr/>
              </p:nvSpPr>
              <p:spPr>
                <a:xfrm rot="16200000">
                  <a:off x="4045351" y="755649"/>
                  <a:ext cx="142009" cy="122921"/>
                </a:xfrm>
                <a:prstGeom prst="hexagon">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grpSp>
        <p:sp>
          <p:nvSpPr>
            <p:cNvPr id="187" name="Freeform 186"/>
            <p:cNvSpPr/>
            <p:nvPr/>
          </p:nvSpPr>
          <p:spPr>
            <a:xfrm>
              <a:off x="596654" y="5209385"/>
              <a:ext cx="323462" cy="37800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88" name="Freeform 187"/>
            <p:cNvSpPr/>
            <p:nvPr/>
          </p:nvSpPr>
          <p:spPr>
            <a:xfrm>
              <a:off x="1780673" y="4233068"/>
              <a:ext cx="3048000" cy="1638300"/>
            </a:xfrm>
            <a:custGeom>
              <a:avLst/>
              <a:gdLst>
                <a:gd name="connsiteX0" fmla="*/ 0 w 3048000"/>
                <a:gd name="connsiteY0" fmla="*/ 0 h 1638300"/>
                <a:gd name="connsiteX1" fmla="*/ 1325880 w 3048000"/>
                <a:gd name="connsiteY1" fmla="*/ 0 h 1638300"/>
                <a:gd name="connsiteX2" fmla="*/ 1699260 w 3048000"/>
                <a:gd name="connsiteY2" fmla="*/ 457200 h 1638300"/>
                <a:gd name="connsiteX3" fmla="*/ 2103120 w 3048000"/>
                <a:gd name="connsiteY3" fmla="*/ 457200 h 1638300"/>
                <a:gd name="connsiteX4" fmla="*/ 2255520 w 3048000"/>
                <a:gd name="connsiteY4" fmla="*/ 1264920 h 1638300"/>
                <a:gd name="connsiteX5" fmla="*/ 2689860 w 3048000"/>
                <a:gd name="connsiteY5" fmla="*/ 1264920 h 1638300"/>
                <a:gd name="connsiteX6" fmla="*/ 3048000 w 3048000"/>
                <a:gd name="connsiteY6" fmla="*/ 1638300 h 163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48000" h="1638300">
                  <a:moveTo>
                    <a:pt x="0" y="0"/>
                  </a:moveTo>
                  <a:lnTo>
                    <a:pt x="1325880" y="0"/>
                  </a:lnTo>
                  <a:lnTo>
                    <a:pt x="1699260" y="457200"/>
                  </a:lnTo>
                  <a:lnTo>
                    <a:pt x="2103120" y="457200"/>
                  </a:lnTo>
                  <a:lnTo>
                    <a:pt x="2255520" y="1264920"/>
                  </a:lnTo>
                  <a:lnTo>
                    <a:pt x="2689860" y="1264920"/>
                  </a:lnTo>
                  <a:lnTo>
                    <a:pt x="3048000" y="1638300"/>
                  </a:lnTo>
                </a:path>
              </a:pathLst>
            </a:custGeom>
            <a:noFill/>
            <a:ln w="50800">
              <a:solidFill>
                <a:schemeClr val="accent6"/>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89" name="Freeform 188"/>
            <p:cNvSpPr/>
            <p:nvPr/>
          </p:nvSpPr>
          <p:spPr>
            <a:xfrm flipH="1">
              <a:off x="1627850" y="3891591"/>
              <a:ext cx="305646" cy="250307"/>
            </a:xfrm>
            <a:custGeom>
              <a:avLst/>
              <a:gdLst>
                <a:gd name="connsiteX0" fmla="*/ 205184 w 1161142"/>
                <a:gd name="connsiteY0" fmla="*/ 225311 h 1009083"/>
                <a:gd name="connsiteX1" fmla="*/ 130631 w 1161142"/>
                <a:gd name="connsiteY1" fmla="*/ 225311 h 1009083"/>
                <a:gd name="connsiteX2" fmla="*/ 0 w 1161142"/>
                <a:gd name="connsiteY2" fmla="*/ 355942 h 1009083"/>
                <a:gd name="connsiteX3" fmla="*/ 0 w 1161142"/>
                <a:gd name="connsiteY3" fmla="*/ 878452 h 1009083"/>
                <a:gd name="connsiteX4" fmla="*/ 130631 w 1161142"/>
                <a:gd name="connsiteY4" fmla="*/ 1009083 h 1009083"/>
                <a:gd name="connsiteX5" fmla="*/ 205184 w 1161142"/>
                <a:gd name="connsiteY5" fmla="*/ 1009083 h 1009083"/>
                <a:gd name="connsiteX6" fmla="*/ 1030511 w 1161142"/>
                <a:gd name="connsiteY6" fmla="*/ 225311 h 1009083"/>
                <a:gd name="connsiteX7" fmla="*/ 955958 w 1161142"/>
                <a:gd name="connsiteY7" fmla="*/ 225311 h 1009083"/>
                <a:gd name="connsiteX8" fmla="*/ 955958 w 1161142"/>
                <a:gd name="connsiteY8" fmla="*/ 1009083 h 1009083"/>
                <a:gd name="connsiteX9" fmla="*/ 1030511 w 1161142"/>
                <a:gd name="connsiteY9" fmla="*/ 1009083 h 1009083"/>
                <a:gd name="connsiteX10" fmla="*/ 1161142 w 1161142"/>
                <a:gd name="connsiteY10" fmla="*/ 878452 h 1009083"/>
                <a:gd name="connsiteX11" fmla="*/ 1161142 w 1161142"/>
                <a:gd name="connsiteY11" fmla="*/ 355942 h 1009083"/>
                <a:gd name="connsiteX12" fmla="*/ 1030511 w 1161142"/>
                <a:gd name="connsiteY12" fmla="*/ 225311 h 1009083"/>
                <a:gd name="connsiteX13" fmla="*/ 580571 w 1161142"/>
                <a:gd name="connsiteY13" fmla="*/ 76200 h 1009083"/>
                <a:gd name="connsiteX14" fmla="*/ 729682 w 1161142"/>
                <a:gd name="connsiteY14" fmla="*/ 225311 h 1009083"/>
                <a:gd name="connsiteX15" fmla="*/ 431460 w 1161142"/>
                <a:gd name="connsiteY15" fmla="*/ 225311 h 1009083"/>
                <a:gd name="connsiteX16" fmla="*/ 580571 w 1161142"/>
                <a:gd name="connsiteY16" fmla="*/ 76200 h 1009083"/>
                <a:gd name="connsiteX17" fmla="*/ 580571 w 1161142"/>
                <a:gd name="connsiteY17" fmla="*/ 0 h 1009083"/>
                <a:gd name="connsiteX18" fmla="*/ 355260 w 1161142"/>
                <a:gd name="connsiteY18" fmla="*/ 225311 h 1009083"/>
                <a:gd name="connsiteX19" fmla="*/ 290704 w 1161142"/>
                <a:gd name="connsiteY19" fmla="*/ 225311 h 1009083"/>
                <a:gd name="connsiteX20" fmla="*/ 290704 w 1161142"/>
                <a:gd name="connsiteY20" fmla="*/ 1009083 h 1009083"/>
                <a:gd name="connsiteX21" fmla="*/ 870438 w 1161142"/>
                <a:gd name="connsiteY21" fmla="*/ 1009083 h 1009083"/>
                <a:gd name="connsiteX22" fmla="*/ 870438 w 1161142"/>
                <a:gd name="connsiteY22" fmla="*/ 225311 h 1009083"/>
                <a:gd name="connsiteX23" fmla="*/ 805882 w 1161142"/>
                <a:gd name="connsiteY23" fmla="*/ 225311 h 1009083"/>
                <a:gd name="connsiteX24" fmla="*/ 580571 w 1161142"/>
                <a:gd name="connsiteY24" fmla="*/ 0 h 100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61142" h="1009083">
                  <a:moveTo>
                    <a:pt x="205184" y="225311"/>
                  </a:moveTo>
                  <a:lnTo>
                    <a:pt x="130631" y="225311"/>
                  </a:lnTo>
                  <a:cubicBezTo>
                    <a:pt x="58485" y="225311"/>
                    <a:pt x="0" y="283796"/>
                    <a:pt x="0" y="355942"/>
                  </a:cubicBezTo>
                  <a:lnTo>
                    <a:pt x="0" y="878452"/>
                  </a:lnTo>
                  <a:cubicBezTo>
                    <a:pt x="0" y="950598"/>
                    <a:pt x="58485" y="1009083"/>
                    <a:pt x="130631" y="1009083"/>
                  </a:cubicBezTo>
                  <a:lnTo>
                    <a:pt x="205184" y="1009083"/>
                  </a:lnTo>
                  <a:close/>
                  <a:moveTo>
                    <a:pt x="1030511" y="225311"/>
                  </a:moveTo>
                  <a:lnTo>
                    <a:pt x="955958" y="225311"/>
                  </a:lnTo>
                  <a:lnTo>
                    <a:pt x="955958" y="1009083"/>
                  </a:lnTo>
                  <a:lnTo>
                    <a:pt x="1030511" y="1009083"/>
                  </a:lnTo>
                  <a:cubicBezTo>
                    <a:pt x="1102657" y="1009083"/>
                    <a:pt x="1161142" y="950598"/>
                    <a:pt x="1161142" y="878452"/>
                  </a:cubicBezTo>
                  <a:lnTo>
                    <a:pt x="1161142" y="355942"/>
                  </a:lnTo>
                  <a:cubicBezTo>
                    <a:pt x="1161142" y="283796"/>
                    <a:pt x="1102657" y="225311"/>
                    <a:pt x="1030511" y="225311"/>
                  </a:cubicBezTo>
                  <a:close/>
                  <a:moveTo>
                    <a:pt x="580571" y="76200"/>
                  </a:moveTo>
                  <a:cubicBezTo>
                    <a:pt x="662923" y="76200"/>
                    <a:pt x="729682" y="142959"/>
                    <a:pt x="729682" y="225311"/>
                  </a:cubicBezTo>
                  <a:lnTo>
                    <a:pt x="431460" y="225311"/>
                  </a:lnTo>
                  <a:cubicBezTo>
                    <a:pt x="431460" y="142959"/>
                    <a:pt x="498219" y="76200"/>
                    <a:pt x="580571" y="76200"/>
                  </a:cubicBezTo>
                  <a:close/>
                  <a:moveTo>
                    <a:pt x="580571" y="0"/>
                  </a:moveTo>
                  <a:cubicBezTo>
                    <a:pt x="456135" y="0"/>
                    <a:pt x="355260" y="100875"/>
                    <a:pt x="355260" y="225311"/>
                  </a:cubicBezTo>
                  <a:lnTo>
                    <a:pt x="290704" y="225311"/>
                  </a:lnTo>
                  <a:lnTo>
                    <a:pt x="290704" y="1009083"/>
                  </a:lnTo>
                  <a:lnTo>
                    <a:pt x="870438" y="1009083"/>
                  </a:lnTo>
                  <a:lnTo>
                    <a:pt x="870438" y="225311"/>
                  </a:lnTo>
                  <a:lnTo>
                    <a:pt x="805882" y="225311"/>
                  </a:lnTo>
                  <a:cubicBezTo>
                    <a:pt x="805882" y="100875"/>
                    <a:pt x="705007" y="0"/>
                    <a:pt x="580571" y="0"/>
                  </a:cubicBezTo>
                  <a:close/>
                </a:path>
              </a:pathLst>
            </a:custGeom>
            <a:solidFill>
              <a:srgbClr val="70AD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90" name="Freeform 189"/>
            <p:cNvSpPr/>
            <p:nvPr/>
          </p:nvSpPr>
          <p:spPr>
            <a:xfrm flipH="1">
              <a:off x="1012192" y="4476838"/>
              <a:ext cx="305646" cy="250307"/>
            </a:xfrm>
            <a:custGeom>
              <a:avLst/>
              <a:gdLst>
                <a:gd name="connsiteX0" fmla="*/ 205184 w 1161142"/>
                <a:gd name="connsiteY0" fmla="*/ 225311 h 1009083"/>
                <a:gd name="connsiteX1" fmla="*/ 130631 w 1161142"/>
                <a:gd name="connsiteY1" fmla="*/ 225311 h 1009083"/>
                <a:gd name="connsiteX2" fmla="*/ 0 w 1161142"/>
                <a:gd name="connsiteY2" fmla="*/ 355942 h 1009083"/>
                <a:gd name="connsiteX3" fmla="*/ 0 w 1161142"/>
                <a:gd name="connsiteY3" fmla="*/ 878452 h 1009083"/>
                <a:gd name="connsiteX4" fmla="*/ 130631 w 1161142"/>
                <a:gd name="connsiteY4" fmla="*/ 1009083 h 1009083"/>
                <a:gd name="connsiteX5" fmla="*/ 205184 w 1161142"/>
                <a:gd name="connsiteY5" fmla="*/ 1009083 h 1009083"/>
                <a:gd name="connsiteX6" fmla="*/ 1030511 w 1161142"/>
                <a:gd name="connsiteY6" fmla="*/ 225311 h 1009083"/>
                <a:gd name="connsiteX7" fmla="*/ 955958 w 1161142"/>
                <a:gd name="connsiteY7" fmla="*/ 225311 h 1009083"/>
                <a:gd name="connsiteX8" fmla="*/ 955958 w 1161142"/>
                <a:gd name="connsiteY8" fmla="*/ 1009083 h 1009083"/>
                <a:gd name="connsiteX9" fmla="*/ 1030511 w 1161142"/>
                <a:gd name="connsiteY9" fmla="*/ 1009083 h 1009083"/>
                <a:gd name="connsiteX10" fmla="*/ 1161142 w 1161142"/>
                <a:gd name="connsiteY10" fmla="*/ 878452 h 1009083"/>
                <a:gd name="connsiteX11" fmla="*/ 1161142 w 1161142"/>
                <a:gd name="connsiteY11" fmla="*/ 355942 h 1009083"/>
                <a:gd name="connsiteX12" fmla="*/ 1030511 w 1161142"/>
                <a:gd name="connsiteY12" fmla="*/ 225311 h 1009083"/>
                <a:gd name="connsiteX13" fmla="*/ 580571 w 1161142"/>
                <a:gd name="connsiteY13" fmla="*/ 76200 h 1009083"/>
                <a:gd name="connsiteX14" fmla="*/ 729682 w 1161142"/>
                <a:gd name="connsiteY14" fmla="*/ 225311 h 1009083"/>
                <a:gd name="connsiteX15" fmla="*/ 431460 w 1161142"/>
                <a:gd name="connsiteY15" fmla="*/ 225311 h 1009083"/>
                <a:gd name="connsiteX16" fmla="*/ 580571 w 1161142"/>
                <a:gd name="connsiteY16" fmla="*/ 76200 h 1009083"/>
                <a:gd name="connsiteX17" fmla="*/ 580571 w 1161142"/>
                <a:gd name="connsiteY17" fmla="*/ 0 h 1009083"/>
                <a:gd name="connsiteX18" fmla="*/ 355260 w 1161142"/>
                <a:gd name="connsiteY18" fmla="*/ 225311 h 1009083"/>
                <a:gd name="connsiteX19" fmla="*/ 290704 w 1161142"/>
                <a:gd name="connsiteY19" fmla="*/ 225311 h 1009083"/>
                <a:gd name="connsiteX20" fmla="*/ 290704 w 1161142"/>
                <a:gd name="connsiteY20" fmla="*/ 1009083 h 1009083"/>
                <a:gd name="connsiteX21" fmla="*/ 870438 w 1161142"/>
                <a:gd name="connsiteY21" fmla="*/ 1009083 h 1009083"/>
                <a:gd name="connsiteX22" fmla="*/ 870438 w 1161142"/>
                <a:gd name="connsiteY22" fmla="*/ 225311 h 1009083"/>
                <a:gd name="connsiteX23" fmla="*/ 805882 w 1161142"/>
                <a:gd name="connsiteY23" fmla="*/ 225311 h 1009083"/>
                <a:gd name="connsiteX24" fmla="*/ 580571 w 1161142"/>
                <a:gd name="connsiteY24" fmla="*/ 0 h 100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61142" h="1009083">
                  <a:moveTo>
                    <a:pt x="205184" y="225311"/>
                  </a:moveTo>
                  <a:lnTo>
                    <a:pt x="130631" y="225311"/>
                  </a:lnTo>
                  <a:cubicBezTo>
                    <a:pt x="58485" y="225311"/>
                    <a:pt x="0" y="283796"/>
                    <a:pt x="0" y="355942"/>
                  </a:cubicBezTo>
                  <a:lnTo>
                    <a:pt x="0" y="878452"/>
                  </a:lnTo>
                  <a:cubicBezTo>
                    <a:pt x="0" y="950598"/>
                    <a:pt x="58485" y="1009083"/>
                    <a:pt x="130631" y="1009083"/>
                  </a:cubicBezTo>
                  <a:lnTo>
                    <a:pt x="205184" y="1009083"/>
                  </a:lnTo>
                  <a:close/>
                  <a:moveTo>
                    <a:pt x="1030511" y="225311"/>
                  </a:moveTo>
                  <a:lnTo>
                    <a:pt x="955958" y="225311"/>
                  </a:lnTo>
                  <a:lnTo>
                    <a:pt x="955958" y="1009083"/>
                  </a:lnTo>
                  <a:lnTo>
                    <a:pt x="1030511" y="1009083"/>
                  </a:lnTo>
                  <a:cubicBezTo>
                    <a:pt x="1102657" y="1009083"/>
                    <a:pt x="1161142" y="950598"/>
                    <a:pt x="1161142" y="878452"/>
                  </a:cubicBezTo>
                  <a:lnTo>
                    <a:pt x="1161142" y="355942"/>
                  </a:lnTo>
                  <a:cubicBezTo>
                    <a:pt x="1161142" y="283796"/>
                    <a:pt x="1102657" y="225311"/>
                    <a:pt x="1030511" y="225311"/>
                  </a:cubicBezTo>
                  <a:close/>
                  <a:moveTo>
                    <a:pt x="580571" y="76200"/>
                  </a:moveTo>
                  <a:cubicBezTo>
                    <a:pt x="662923" y="76200"/>
                    <a:pt x="729682" y="142959"/>
                    <a:pt x="729682" y="225311"/>
                  </a:cubicBezTo>
                  <a:lnTo>
                    <a:pt x="431460" y="225311"/>
                  </a:lnTo>
                  <a:cubicBezTo>
                    <a:pt x="431460" y="142959"/>
                    <a:pt x="498219" y="76200"/>
                    <a:pt x="580571" y="76200"/>
                  </a:cubicBezTo>
                  <a:close/>
                  <a:moveTo>
                    <a:pt x="580571" y="0"/>
                  </a:moveTo>
                  <a:cubicBezTo>
                    <a:pt x="456135" y="0"/>
                    <a:pt x="355260" y="100875"/>
                    <a:pt x="355260" y="225311"/>
                  </a:cubicBezTo>
                  <a:lnTo>
                    <a:pt x="290704" y="225311"/>
                  </a:lnTo>
                  <a:lnTo>
                    <a:pt x="290704" y="1009083"/>
                  </a:lnTo>
                  <a:lnTo>
                    <a:pt x="870438" y="1009083"/>
                  </a:lnTo>
                  <a:lnTo>
                    <a:pt x="870438" y="225311"/>
                  </a:lnTo>
                  <a:lnTo>
                    <a:pt x="805882" y="225311"/>
                  </a:lnTo>
                  <a:cubicBezTo>
                    <a:pt x="805882" y="100875"/>
                    <a:pt x="705007" y="0"/>
                    <a:pt x="580571" y="0"/>
                  </a:cubicBezTo>
                  <a:close/>
                </a:path>
              </a:pathLst>
            </a:cu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91" name="Freeform 190"/>
            <p:cNvSpPr/>
            <p:nvPr/>
          </p:nvSpPr>
          <p:spPr>
            <a:xfrm flipH="1">
              <a:off x="990564" y="5455329"/>
              <a:ext cx="305646" cy="250307"/>
            </a:xfrm>
            <a:custGeom>
              <a:avLst/>
              <a:gdLst>
                <a:gd name="connsiteX0" fmla="*/ 205184 w 1161142"/>
                <a:gd name="connsiteY0" fmla="*/ 225311 h 1009083"/>
                <a:gd name="connsiteX1" fmla="*/ 130631 w 1161142"/>
                <a:gd name="connsiteY1" fmla="*/ 225311 h 1009083"/>
                <a:gd name="connsiteX2" fmla="*/ 0 w 1161142"/>
                <a:gd name="connsiteY2" fmla="*/ 355942 h 1009083"/>
                <a:gd name="connsiteX3" fmla="*/ 0 w 1161142"/>
                <a:gd name="connsiteY3" fmla="*/ 878452 h 1009083"/>
                <a:gd name="connsiteX4" fmla="*/ 130631 w 1161142"/>
                <a:gd name="connsiteY4" fmla="*/ 1009083 h 1009083"/>
                <a:gd name="connsiteX5" fmla="*/ 205184 w 1161142"/>
                <a:gd name="connsiteY5" fmla="*/ 1009083 h 1009083"/>
                <a:gd name="connsiteX6" fmla="*/ 1030511 w 1161142"/>
                <a:gd name="connsiteY6" fmla="*/ 225311 h 1009083"/>
                <a:gd name="connsiteX7" fmla="*/ 955958 w 1161142"/>
                <a:gd name="connsiteY7" fmla="*/ 225311 h 1009083"/>
                <a:gd name="connsiteX8" fmla="*/ 955958 w 1161142"/>
                <a:gd name="connsiteY8" fmla="*/ 1009083 h 1009083"/>
                <a:gd name="connsiteX9" fmla="*/ 1030511 w 1161142"/>
                <a:gd name="connsiteY9" fmla="*/ 1009083 h 1009083"/>
                <a:gd name="connsiteX10" fmla="*/ 1161142 w 1161142"/>
                <a:gd name="connsiteY10" fmla="*/ 878452 h 1009083"/>
                <a:gd name="connsiteX11" fmla="*/ 1161142 w 1161142"/>
                <a:gd name="connsiteY11" fmla="*/ 355942 h 1009083"/>
                <a:gd name="connsiteX12" fmla="*/ 1030511 w 1161142"/>
                <a:gd name="connsiteY12" fmla="*/ 225311 h 1009083"/>
                <a:gd name="connsiteX13" fmla="*/ 580571 w 1161142"/>
                <a:gd name="connsiteY13" fmla="*/ 76200 h 1009083"/>
                <a:gd name="connsiteX14" fmla="*/ 729682 w 1161142"/>
                <a:gd name="connsiteY14" fmla="*/ 225311 h 1009083"/>
                <a:gd name="connsiteX15" fmla="*/ 431460 w 1161142"/>
                <a:gd name="connsiteY15" fmla="*/ 225311 h 1009083"/>
                <a:gd name="connsiteX16" fmla="*/ 580571 w 1161142"/>
                <a:gd name="connsiteY16" fmla="*/ 76200 h 1009083"/>
                <a:gd name="connsiteX17" fmla="*/ 580571 w 1161142"/>
                <a:gd name="connsiteY17" fmla="*/ 0 h 1009083"/>
                <a:gd name="connsiteX18" fmla="*/ 355260 w 1161142"/>
                <a:gd name="connsiteY18" fmla="*/ 225311 h 1009083"/>
                <a:gd name="connsiteX19" fmla="*/ 290704 w 1161142"/>
                <a:gd name="connsiteY19" fmla="*/ 225311 h 1009083"/>
                <a:gd name="connsiteX20" fmla="*/ 290704 w 1161142"/>
                <a:gd name="connsiteY20" fmla="*/ 1009083 h 1009083"/>
                <a:gd name="connsiteX21" fmla="*/ 870438 w 1161142"/>
                <a:gd name="connsiteY21" fmla="*/ 1009083 h 1009083"/>
                <a:gd name="connsiteX22" fmla="*/ 870438 w 1161142"/>
                <a:gd name="connsiteY22" fmla="*/ 225311 h 1009083"/>
                <a:gd name="connsiteX23" fmla="*/ 805882 w 1161142"/>
                <a:gd name="connsiteY23" fmla="*/ 225311 h 1009083"/>
                <a:gd name="connsiteX24" fmla="*/ 580571 w 1161142"/>
                <a:gd name="connsiteY24" fmla="*/ 0 h 100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61142" h="1009083">
                  <a:moveTo>
                    <a:pt x="205184" y="225311"/>
                  </a:moveTo>
                  <a:lnTo>
                    <a:pt x="130631" y="225311"/>
                  </a:lnTo>
                  <a:cubicBezTo>
                    <a:pt x="58485" y="225311"/>
                    <a:pt x="0" y="283796"/>
                    <a:pt x="0" y="355942"/>
                  </a:cubicBezTo>
                  <a:lnTo>
                    <a:pt x="0" y="878452"/>
                  </a:lnTo>
                  <a:cubicBezTo>
                    <a:pt x="0" y="950598"/>
                    <a:pt x="58485" y="1009083"/>
                    <a:pt x="130631" y="1009083"/>
                  </a:cubicBezTo>
                  <a:lnTo>
                    <a:pt x="205184" y="1009083"/>
                  </a:lnTo>
                  <a:close/>
                  <a:moveTo>
                    <a:pt x="1030511" y="225311"/>
                  </a:moveTo>
                  <a:lnTo>
                    <a:pt x="955958" y="225311"/>
                  </a:lnTo>
                  <a:lnTo>
                    <a:pt x="955958" y="1009083"/>
                  </a:lnTo>
                  <a:lnTo>
                    <a:pt x="1030511" y="1009083"/>
                  </a:lnTo>
                  <a:cubicBezTo>
                    <a:pt x="1102657" y="1009083"/>
                    <a:pt x="1161142" y="950598"/>
                    <a:pt x="1161142" y="878452"/>
                  </a:cubicBezTo>
                  <a:lnTo>
                    <a:pt x="1161142" y="355942"/>
                  </a:lnTo>
                  <a:cubicBezTo>
                    <a:pt x="1161142" y="283796"/>
                    <a:pt x="1102657" y="225311"/>
                    <a:pt x="1030511" y="225311"/>
                  </a:cubicBezTo>
                  <a:close/>
                  <a:moveTo>
                    <a:pt x="580571" y="76200"/>
                  </a:moveTo>
                  <a:cubicBezTo>
                    <a:pt x="662923" y="76200"/>
                    <a:pt x="729682" y="142959"/>
                    <a:pt x="729682" y="225311"/>
                  </a:cubicBezTo>
                  <a:lnTo>
                    <a:pt x="431460" y="225311"/>
                  </a:lnTo>
                  <a:cubicBezTo>
                    <a:pt x="431460" y="142959"/>
                    <a:pt x="498219" y="76200"/>
                    <a:pt x="580571" y="76200"/>
                  </a:cubicBezTo>
                  <a:close/>
                  <a:moveTo>
                    <a:pt x="580571" y="0"/>
                  </a:moveTo>
                  <a:cubicBezTo>
                    <a:pt x="456135" y="0"/>
                    <a:pt x="355260" y="100875"/>
                    <a:pt x="355260" y="225311"/>
                  </a:cubicBezTo>
                  <a:lnTo>
                    <a:pt x="290704" y="225311"/>
                  </a:lnTo>
                  <a:lnTo>
                    <a:pt x="290704" y="1009083"/>
                  </a:lnTo>
                  <a:lnTo>
                    <a:pt x="870438" y="1009083"/>
                  </a:lnTo>
                  <a:lnTo>
                    <a:pt x="870438" y="225311"/>
                  </a:lnTo>
                  <a:lnTo>
                    <a:pt x="805882" y="225311"/>
                  </a:lnTo>
                  <a:cubicBezTo>
                    <a:pt x="805882" y="100875"/>
                    <a:pt x="705007" y="0"/>
                    <a:pt x="580571" y="0"/>
                  </a:cubicBezTo>
                  <a:close/>
                </a:path>
              </a:pathLst>
            </a:cu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cxnSp>
        <p:nvCxnSpPr>
          <p:cNvPr id="11" name="Straight Arrow Connector 10"/>
          <p:cNvCxnSpPr/>
          <p:nvPr/>
        </p:nvCxnSpPr>
        <p:spPr>
          <a:xfrm>
            <a:off x="4067629" y="2874936"/>
            <a:ext cx="0" cy="948088"/>
          </a:xfrm>
          <a:prstGeom prst="straightConnector1">
            <a:avLst/>
          </a:prstGeom>
          <a:ln w="1238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697333" y="5867992"/>
            <a:ext cx="2847831" cy="461665"/>
          </a:xfrm>
          <a:prstGeom prst="rect">
            <a:avLst/>
          </a:prstGeom>
          <a:noFill/>
        </p:spPr>
        <p:txBody>
          <a:bodyPr wrap="none" rtlCol="0">
            <a:spAutoFit/>
          </a:bodyPr>
          <a:lstStyle/>
          <a:p>
            <a:r>
              <a:rPr lang="en-US" sz="2400" dirty="0"/>
              <a:t>Pivot Tracing Enabled</a:t>
            </a:r>
          </a:p>
        </p:txBody>
      </p:sp>
      <p:grpSp>
        <p:nvGrpSpPr>
          <p:cNvPr id="16" name="Group 15"/>
          <p:cNvGrpSpPr/>
          <p:nvPr/>
        </p:nvGrpSpPr>
        <p:grpSpPr>
          <a:xfrm>
            <a:off x="4258519" y="2849643"/>
            <a:ext cx="1855801" cy="903886"/>
            <a:chOff x="4258520" y="2849643"/>
            <a:chExt cx="1855801" cy="903885"/>
          </a:xfrm>
        </p:grpSpPr>
        <p:sp>
          <p:nvSpPr>
            <p:cNvPr id="192" name="TextBox 191"/>
            <p:cNvSpPr txBox="1"/>
            <p:nvPr/>
          </p:nvSpPr>
          <p:spPr>
            <a:xfrm>
              <a:off x="4262116" y="2849643"/>
              <a:ext cx="338554" cy="461664"/>
            </a:xfrm>
            <a:prstGeom prst="rect">
              <a:avLst/>
            </a:prstGeom>
            <a:noFill/>
          </p:spPr>
          <p:txBody>
            <a:bodyPr wrap="none" rtlCol="0">
              <a:spAutoFit/>
            </a:bodyPr>
            <a:lstStyle/>
            <a:p>
              <a:r>
                <a:rPr lang="en-US" sz="2400" dirty="0"/>
                <a:t>+</a:t>
              </a:r>
            </a:p>
          </p:txBody>
        </p:sp>
        <p:grpSp>
          <p:nvGrpSpPr>
            <p:cNvPr id="193" name="Group 192"/>
            <p:cNvGrpSpPr/>
            <p:nvPr/>
          </p:nvGrpSpPr>
          <p:grpSpPr>
            <a:xfrm>
              <a:off x="4587263" y="2893823"/>
              <a:ext cx="1464241" cy="424732"/>
              <a:chOff x="1052505" y="3282486"/>
              <a:chExt cx="1464241" cy="424732"/>
            </a:xfrm>
          </p:grpSpPr>
          <p:sp>
            <p:nvSpPr>
              <p:cNvPr id="194" name="Freeform 193"/>
              <p:cNvSpPr/>
              <p:nvPr/>
            </p:nvSpPr>
            <p:spPr>
              <a:xfrm flipH="1">
                <a:off x="1052505" y="3308257"/>
                <a:ext cx="369895" cy="302924"/>
              </a:xfrm>
              <a:custGeom>
                <a:avLst/>
                <a:gdLst>
                  <a:gd name="connsiteX0" fmla="*/ 205184 w 1161142"/>
                  <a:gd name="connsiteY0" fmla="*/ 225311 h 1009083"/>
                  <a:gd name="connsiteX1" fmla="*/ 130631 w 1161142"/>
                  <a:gd name="connsiteY1" fmla="*/ 225311 h 1009083"/>
                  <a:gd name="connsiteX2" fmla="*/ 0 w 1161142"/>
                  <a:gd name="connsiteY2" fmla="*/ 355942 h 1009083"/>
                  <a:gd name="connsiteX3" fmla="*/ 0 w 1161142"/>
                  <a:gd name="connsiteY3" fmla="*/ 878452 h 1009083"/>
                  <a:gd name="connsiteX4" fmla="*/ 130631 w 1161142"/>
                  <a:gd name="connsiteY4" fmla="*/ 1009083 h 1009083"/>
                  <a:gd name="connsiteX5" fmla="*/ 205184 w 1161142"/>
                  <a:gd name="connsiteY5" fmla="*/ 1009083 h 1009083"/>
                  <a:gd name="connsiteX6" fmla="*/ 1030511 w 1161142"/>
                  <a:gd name="connsiteY6" fmla="*/ 225311 h 1009083"/>
                  <a:gd name="connsiteX7" fmla="*/ 955958 w 1161142"/>
                  <a:gd name="connsiteY7" fmla="*/ 225311 h 1009083"/>
                  <a:gd name="connsiteX8" fmla="*/ 955958 w 1161142"/>
                  <a:gd name="connsiteY8" fmla="*/ 1009083 h 1009083"/>
                  <a:gd name="connsiteX9" fmla="*/ 1030511 w 1161142"/>
                  <a:gd name="connsiteY9" fmla="*/ 1009083 h 1009083"/>
                  <a:gd name="connsiteX10" fmla="*/ 1161142 w 1161142"/>
                  <a:gd name="connsiteY10" fmla="*/ 878452 h 1009083"/>
                  <a:gd name="connsiteX11" fmla="*/ 1161142 w 1161142"/>
                  <a:gd name="connsiteY11" fmla="*/ 355942 h 1009083"/>
                  <a:gd name="connsiteX12" fmla="*/ 1030511 w 1161142"/>
                  <a:gd name="connsiteY12" fmla="*/ 225311 h 1009083"/>
                  <a:gd name="connsiteX13" fmla="*/ 580571 w 1161142"/>
                  <a:gd name="connsiteY13" fmla="*/ 76200 h 1009083"/>
                  <a:gd name="connsiteX14" fmla="*/ 729682 w 1161142"/>
                  <a:gd name="connsiteY14" fmla="*/ 225311 h 1009083"/>
                  <a:gd name="connsiteX15" fmla="*/ 431460 w 1161142"/>
                  <a:gd name="connsiteY15" fmla="*/ 225311 h 1009083"/>
                  <a:gd name="connsiteX16" fmla="*/ 580571 w 1161142"/>
                  <a:gd name="connsiteY16" fmla="*/ 76200 h 1009083"/>
                  <a:gd name="connsiteX17" fmla="*/ 580571 w 1161142"/>
                  <a:gd name="connsiteY17" fmla="*/ 0 h 1009083"/>
                  <a:gd name="connsiteX18" fmla="*/ 355260 w 1161142"/>
                  <a:gd name="connsiteY18" fmla="*/ 225311 h 1009083"/>
                  <a:gd name="connsiteX19" fmla="*/ 290704 w 1161142"/>
                  <a:gd name="connsiteY19" fmla="*/ 225311 h 1009083"/>
                  <a:gd name="connsiteX20" fmla="*/ 290704 w 1161142"/>
                  <a:gd name="connsiteY20" fmla="*/ 1009083 h 1009083"/>
                  <a:gd name="connsiteX21" fmla="*/ 870438 w 1161142"/>
                  <a:gd name="connsiteY21" fmla="*/ 1009083 h 1009083"/>
                  <a:gd name="connsiteX22" fmla="*/ 870438 w 1161142"/>
                  <a:gd name="connsiteY22" fmla="*/ 225311 h 1009083"/>
                  <a:gd name="connsiteX23" fmla="*/ 805882 w 1161142"/>
                  <a:gd name="connsiteY23" fmla="*/ 225311 h 1009083"/>
                  <a:gd name="connsiteX24" fmla="*/ 580571 w 1161142"/>
                  <a:gd name="connsiteY24" fmla="*/ 0 h 100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61142" h="1009083">
                    <a:moveTo>
                      <a:pt x="205184" y="225311"/>
                    </a:moveTo>
                    <a:lnTo>
                      <a:pt x="130631" y="225311"/>
                    </a:lnTo>
                    <a:cubicBezTo>
                      <a:pt x="58485" y="225311"/>
                      <a:pt x="0" y="283796"/>
                      <a:pt x="0" y="355942"/>
                    </a:cubicBezTo>
                    <a:lnTo>
                      <a:pt x="0" y="878452"/>
                    </a:lnTo>
                    <a:cubicBezTo>
                      <a:pt x="0" y="950598"/>
                      <a:pt x="58485" y="1009083"/>
                      <a:pt x="130631" y="1009083"/>
                    </a:cubicBezTo>
                    <a:lnTo>
                      <a:pt x="205184" y="1009083"/>
                    </a:lnTo>
                    <a:close/>
                    <a:moveTo>
                      <a:pt x="1030511" y="225311"/>
                    </a:moveTo>
                    <a:lnTo>
                      <a:pt x="955958" y="225311"/>
                    </a:lnTo>
                    <a:lnTo>
                      <a:pt x="955958" y="1009083"/>
                    </a:lnTo>
                    <a:lnTo>
                      <a:pt x="1030511" y="1009083"/>
                    </a:lnTo>
                    <a:cubicBezTo>
                      <a:pt x="1102657" y="1009083"/>
                      <a:pt x="1161142" y="950598"/>
                      <a:pt x="1161142" y="878452"/>
                    </a:cubicBezTo>
                    <a:lnTo>
                      <a:pt x="1161142" y="355942"/>
                    </a:lnTo>
                    <a:cubicBezTo>
                      <a:pt x="1161142" y="283796"/>
                      <a:pt x="1102657" y="225311"/>
                      <a:pt x="1030511" y="225311"/>
                    </a:cubicBezTo>
                    <a:close/>
                    <a:moveTo>
                      <a:pt x="580571" y="76200"/>
                    </a:moveTo>
                    <a:cubicBezTo>
                      <a:pt x="662923" y="76200"/>
                      <a:pt x="729682" y="142959"/>
                      <a:pt x="729682" y="225311"/>
                    </a:cubicBezTo>
                    <a:lnTo>
                      <a:pt x="431460" y="225311"/>
                    </a:lnTo>
                    <a:cubicBezTo>
                      <a:pt x="431460" y="142959"/>
                      <a:pt x="498219" y="76200"/>
                      <a:pt x="580571" y="76200"/>
                    </a:cubicBezTo>
                    <a:close/>
                    <a:moveTo>
                      <a:pt x="580571" y="0"/>
                    </a:moveTo>
                    <a:cubicBezTo>
                      <a:pt x="456135" y="0"/>
                      <a:pt x="355260" y="100875"/>
                      <a:pt x="355260" y="225311"/>
                    </a:cubicBezTo>
                    <a:lnTo>
                      <a:pt x="290704" y="225311"/>
                    </a:lnTo>
                    <a:lnTo>
                      <a:pt x="290704" y="1009083"/>
                    </a:lnTo>
                    <a:lnTo>
                      <a:pt x="870438" y="1009083"/>
                    </a:lnTo>
                    <a:lnTo>
                      <a:pt x="870438" y="225311"/>
                    </a:lnTo>
                    <a:lnTo>
                      <a:pt x="805882" y="225311"/>
                    </a:lnTo>
                    <a:cubicBezTo>
                      <a:pt x="805882" y="100875"/>
                      <a:pt x="705007" y="0"/>
                      <a:pt x="580571"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95" name="TextBox 194"/>
              <p:cNvSpPr txBox="1"/>
              <p:nvPr/>
            </p:nvSpPr>
            <p:spPr>
              <a:xfrm>
                <a:off x="1392784" y="3282486"/>
                <a:ext cx="1123962" cy="424732"/>
              </a:xfrm>
              <a:prstGeom prst="rect">
                <a:avLst/>
              </a:prstGeom>
              <a:noFill/>
            </p:spPr>
            <p:txBody>
              <a:bodyPr wrap="none" rtlCol="0">
                <a:spAutoFit/>
              </a:bodyPr>
              <a:lstStyle/>
              <a:p>
                <a:r>
                  <a:rPr lang="en-US" sz="2160" dirty="0"/>
                  <a:t>Baggage</a:t>
                </a:r>
              </a:p>
            </p:txBody>
          </p:sp>
        </p:grpSp>
        <p:grpSp>
          <p:nvGrpSpPr>
            <p:cNvPr id="196" name="Group 195"/>
            <p:cNvGrpSpPr/>
            <p:nvPr/>
          </p:nvGrpSpPr>
          <p:grpSpPr>
            <a:xfrm>
              <a:off x="4559479" y="3328796"/>
              <a:ext cx="1554842" cy="424732"/>
              <a:chOff x="7724396" y="2340375"/>
              <a:chExt cx="1554842" cy="424732"/>
            </a:xfrm>
          </p:grpSpPr>
          <p:grpSp>
            <p:nvGrpSpPr>
              <p:cNvPr id="197" name="Group 196"/>
              <p:cNvGrpSpPr/>
              <p:nvPr/>
            </p:nvGrpSpPr>
            <p:grpSpPr>
              <a:xfrm>
                <a:off x="7724396" y="2393886"/>
                <a:ext cx="442659" cy="262311"/>
                <a:chOff x="7760681" y="2447396"/>
                <a:chExt cx="442659" cy="262311"/>
              </a:xfrm>
            </p:grpSpPr>
            <p:sp>
              <p:nvSpPr>
                <p:cNvPr id="199" name="Freeform 198"/>
                <p:cNvSpPr/>
                <p:nvPr/>
              </p:nvSpPr>
              <p:spPr>
                <a:xfrm>
                  <a:off x="7760681" y="2484227"/>
                  <a:ext cx="207804" cy="225480"/>
                </a:xfrm>
                <a:custGeom>
                  <a:avLst/>
                  <a:gdLst>
                    <a:gd name="connsiteX0" fmla="*/ 250470 w 278551"/>
                    <a:gd name="connsiteY0" fmla="*/ 185740 h 302245"/>
                    <a:gd name="connsiteX1" fmla="*/ 278551 w 278551"/>
                    <a:gd name="connsiteY1" fmla="*/ 212135 h 302245"/>
                    <a:gd name="connsiteX2" fmla="*/ 261752 w 278551"/>
                    <a:gd name="connsiteY2" fmla="*/ 241233 h 302245"/>
                    <a:gd name="connsiteX3" fmla="*/ 225317 w 278551"/>
                    <a:gd name="connsiteY3" fmla="*/ 230252 h 302245"/>
                    <a:gd name="connsiteX4" fmla="*/ 247440 w 278551"/>
                    <a:gd name="connsiteY4" fmla="*/ 199863 h 302245"/>
                    <a:gd name="connsiteX5" fmla="*/ 139274 w 278551"/>
                    <a:gd name="connsiteY5" fmla="*/ 84295 h 302245"/>
                    <a:gd name="connsiteX6" fmla="*/ 196885 w 278551"/>
                    <a:gd name="connsiteY6" fmla="*/ 113100 h 302245"/>
                    <a:gd name="connsiteX7" fmla="*/ 196884 w 278551"/>
                    <a:gd name="connsiteY7" fmla="*/ 114931 h 302245"/>
                    <a:gd name="connsiteX8" fmla="*/ 141702 w 278551"/>
                    <a:gd name="connsiteY8" fmla="*/ 86497 h 302245"/>
                    <a:gd name="connsiteX9" fmla="*/ 91232 w 278551"/>
                    <a:gd name="connsiteY9" fmla="*/ 110971 h 302245"/>
                    <a:gd name="connsiteX10" fmla="*/ 90180 w 278551"/>
                    <a:gd name="connsiteY10" fmla="*/ 108843 h 302245"/>
                    <a:gd name="connsiteX11" fmla="*/ 93907 w 278551"/>
                    <a:gd name="connsiteY11" fmla="*/ 56612 h 302245"/>
                    <a:gd name="connsiteX12" fmla="*/ 77529 w 278551"/>
                    <a:gd name="connsiteY12" fmla="*/ 83250 h 302245"/>
                    <a:gd name="connsiteX13" fmla="*/ 90180 w 278551"/>
                    <a:gd name="connsiteY13" fmla="*/ 108843 h 302245"/>
                    <a:gd name="connsiteX14" fmla="*/ 81665 w 278551"/>
                    <a:gd name="connsiteY14" fmla="*/ 113100 h 302245"/>
                    <a:gd name="connsiteX15" fmla="*/ 81665 w 278551"/>
                    <a:gd name="connsiteY15" fmla="*/ 189144 h 302245"/>
                    <a:gd name="connsiteX16" fmla="*/ 139274 w 278551"/>
                    <a:gd name="connsiteY16" fmla="*/ 217949 h 302245"/>
                    <a:gd name="connsiteX17" fmla="*/ 196884 w 278551"/>
                    <a:gd name="connsiteY17" fmla="*/ 189144 h 302245"/>
                    <a:gd name="connsiteX18" fmla="*/ 196884 w 278551"/>
                    <a:gd name="connsiteY18" fmla="*/ 114931 h 302245"/>
                    <a:gd name="connsiteX19" fmla="*/ 198958 w 278551"/>
                    <a:gd name="connsiteY19" fmla="*/ 115999 h 302245"/>
                    <a:gd name="connsiteX20" fmla="*/ 198034 w 278551"/>
                    <a:gd name="connsiteY20" fmla="*/ 192038 h 302245"/>
                    <a:gd name="connsiteX21" fmla="*/ 144208 w 278551"/>
                    <a:gd name="connsiteY21" fmla="*/ 218139 h 302245"/>
                    <a:gd name="connsiteX22" fmla="*/ 155568 w 278551"/>
                    <a:gd name="connsiteY22" fmla="*/ 241121 h 302245"/>
                    <a:gd name="connsiteX23" fmla="*/ 182697 w 278551"/>
                    <a:gd name="connsiteY23" fmla="*/ 246757 h 302245"/>
                    <a:gd name="connsiteX24" fmla="*/ 166987 w 278551"/>
                    <a:gd name="connsiteY24" fmla="*/ 255827 h 302245"/>
                    <a:gd name="connsiteX25" fmla="*/ 156075 w 278551"/>
                    <a:gd name="connsiteY25" fmla="*/ 302245 h 302245"/>
                    <a:gd name="connsiteX26" fmla="*/ 122476 w 278551"/>
                    <a:gd name="connsiteY26" fmla="*/ 302245 h 302245"/>
                    <a:gd name="connsiteX27" fmla="*/ 111565 w 278551"/>
                    <a:gd name="connsiteY27" fmla="*/ 255827 h 302245"/>
                    <a:gd name="connsiteX28" fmla="*/ 62455 w 278551"/>
                    <a:gd name="connsiteY28" fmla="*/ 227473 h 302245"/>
                    <a:gd name="connsiteX29" fmla="*/ 16799 w 278551"/>
                    <a:gd name="connsiteY29" fmla="*/ 241233 h 302245"/>
                    <a:gd name="connsiteX30" fmla="*/ 0 w 278551"/>
                    <a:gd name="connsiteY30" fmla="*/ 212135 h 302245"/>
                    <a:gd name="connsiteX31" fmla="*/ 34743 w 278551"/>
                    <a:gd name="connsiteY31" fmla="*/ 179476 h 302245"/>
                    <a:gd name="connsiteX32" fmla="*/ 34743 w 278551"/>
                    <a:gd name="connsiteY32" fmla="*/ 122768 h 302245"/>
                    <a:gd name="connsiteX33" fmla="*/ 0 w 278551"/>
                    <a:gd name="connsiteY33" fmla="*/ 90110 h 302245"/>
                    <a:gd name="connsiteX34" fmla="*/ 16799 w 278551"/>
                    <a:gd name="connsiteY34" fmla="*/ 61012 h 302245"/>
                    <a:gd name="connsiteX35" fmla="*/ 62454 w 278551"/>
                    <a:gd name="connsiteY35" fmla="*/ 74772 h 302245"/>
                    <a:gd name="connsiteX36" fmla="*/ 122476 w 278551"/>
                    <a:gd name="connsiteY36" fmla="*/ 0 h 302245"/>
                    <a:gd name="connsiteX37" fmla="*/ 156075 w 278551"/>
                    <a:gd name="connsiteY37" fmla="*/ 0 h 302245"/>
                    <a:gd name="connsiteX38" fmla="*/ 165987 w 278551"/>
                    <a:gd name="connsiteY38" fmla="*/ 42169 h 302245"/>
                    <a:gd name="connsiteX39" fmla="*/ 142303 w 278551"/>
                    <a:gd name="connsiteY39" fmla="*/ 37087 h 302245"/>
                    <a:gd name="connsiteX40" fmla="*/ 112428 w 278551"/>
                    <a:gd name="connsiteY40" fmla="*/ 42742 h 30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78551" h="302245">
                      <a:moveTo>
                        <a:pt x="250470" y="185740"/>
                      </a:moveTo>
                      <a:lnTo>
                        <a:pt x="278551" y="212135"/>
                      </a:lnTo>
                      <a:lnTo>
                        <a:pt x="261752" y="241233"/>
                      </a:lnTo>
                      <a:lnTo>
                        <a:pt x="225317" y="230252"/>
                      </a:lnTo>
                      <a:lnTo>
                        <a:pt x="247440" y="199863"/>
                      </a:lnTo>
                      <a:close/>
                      <a:moveTo>
                        <a:pt x="139274" y="84295"/>
                      </a:moveTo>
                      <a:lnTo>
                        <a:pt x="196885" y="113100"/>
                      </a:lnTo>
                      <a:lnTo>
                        <a:pt x="196884" y="114931"/>
                      </a:lnTo>
                      <a:lnTo>
                        <a:pt x="141702" y="86497"/>
                      </a:lnTo>
                      <a:lnTo>
                        <a:pt x="91232" y="110971"/>
                      </a:lnTo>
                      <a:lnTo>
                        <a:pt x="90180" y="108843"/>
                      </a:lnTo>
                      <a:close/>
                      <a:moveTo>
                        <a:pt x="93907" y="56612"/>
                      </a:moveTo>
                      <a:lnTo>
                        <a:pt x="77529" y="83250"/>
                      </a:lnTo>
                      <a:lnTo>
                        <a:pt x="90180" y="108843"/>
                      </a:lnTo>
                      <a:lnTo>
                        <a:pt x="81665" y="113100"/>
                      </a:lnTo>
                      <a:lnTo>
                        <a:pt x="81665" y="189144"/>
                      </a:lnTo>
                      <a:lnTo>
                        <a:pt x="139274" y="217949"/>
                      </a:lnTo>
                      <a:lnTo>
                        <a:pt x="196884" y="189144"/>
                      </a:lnTo>
                      <a:lnTo>
                        <a:pt x="196884" y="114931"/>
                      </a:lnTo>
                      <a:lnTo>
                        <a:pt x="198958" y="115999"/>
                      </a:lnTo>
                      <a:lnTo>
                        <a:pt x="198034" y="192038"/>
                      </a:lnTo>
                      <a:lnTo>
                        <a:pt x="144208" y="218139"/>
                      </a:lnTo>
                      <a:lnTo>
                        <a:pt x="155568" y="241121"/>
                      </a:lnTo>
                      <a:lnTo>
                        <a:pt x="182697" y="246757"/>
                      </a:lnTo>
                      <a:lnTo>
                        <a:pt x="166987" y="255827"/>
                      </a:lnTo>
                      <a:lnTo>
                        <a:pt x="156075" y="302245"/>
                      </a:lnTo>
                      <a:lnTo>
                        <a:pt x="122476" y="302245"/>
                      </a:lnTo>
                      <a:lnTo>
                        <a:pt x="111565" y="255827"/>
                      </a:lnTo>
                      <a:cubicBezTo>
                        <a:pt x="92967" y="250905"/>
                        <a:pt x="76016" y="241118"/>
                        <a:pt x="62455" y="227473"/>
                      </a:cubicBezTo>
                      <a:lnTo>
                        <a:pt x="16799" y="241233"/>
                      </a:lnTo>
                      <a:lnTo>
                        <a:pt x="0" y="212135"/>
                      </a:lnTo>
                      <a:lnTo>
                        <a:pt x="34743" y="179476"/>
                      </a:lnTo>
                      <a:cubicBezTo>
                        <a:pt x="29707" y="160909"/>
                        <a:pt x="29707" y="141335"/>
                        <a:pt x="34743" y="122768"/>
                      </a:cubicBezTo>
                      <a:lnTo>
                        <a:pt x="0" y="90110"/>
                      </a:lnTo>
                      <a:lnTo>
                        <a:pt x="16799" y="61012"/>
                      </a:lnTo>
                      <a:lnTo>
                        <a:pt x="62454" y="74772"/>
                      </a:lnTo>
                      <a:close/>
                      <a:moveTo>
                        <a:pt x="122476" y="0"/>
                      </a:moveTo>
                      <a:lnTo>
                        <a:pt x="156075" y="0"/>
                      </a:lnTo>
                      <a:lnTo>
                        <a:pt x="165987" y="42169"/>
                      </a:lnTo>
                      <a:lnTo>
                        <a:pt x="142303" y="37087"/>
                      </a:lnTo>
                      <a:lnTo>
                        <a:pt x="112428" y="42742"/>
                      </a:lnTo>
                      <a:close/>
                    </a:path>
                  </a:pathLst>
                </a:custGeom>
                <a:solidFill>
                  <a:schemeClr val="bg1"/>
                </a:solidFill>
                <a:ln w="19050">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00" name="Freeform 199"/>
                <p:cNvSpPr/>
                <p:nvPr/>
              </p:nvSpPr>
              <p:spPr>
                <a:xfrm rot="20021754">
                  <a:off x="7799714" y="2447396"/>
                  <a:ext cx="403626" cy="168587"/>
                </a:xfrm>
                <a:custGeom>
                  <a:avLst/>
                  <a:gdLst>
                    <a:gd name="connsiteX0" fmla="*/ 99307 w 541041"/>
                    <a:gd name="connsiteY0" fmla="*/ 54263 h 225982"/>
                    <a:gd name="connsiteX1" fmla="*/ 136175 w 541041"/>
                    <a:gd name="connsiteY1" fmla="*/ 104206 h 225982"/>
                    <a:gd name="connsiteX2" fmla="*/ 103289 w 541041"/>
                    <a:gd name="connsiteY2" fmla="*/ 170735 h 225982"/>
                    <a:gd name="connsiteX3" fmla="*/ 38879 w 541041"/>
                    <a:gd name="connsiteY3" fmla="*/ 171028 h 225982"/>
                    <a:gd name="connsiteX4" fmla="*/ 0 w 541041"/>
                    <a:gd name="connsiteY4" fmla="*/ 119677 h 225982"/>
                    <a:gd name="connsiteX5" fmla="*/ 33698 w 541041"/>
                    <a:gd name="connsiteY5" fmla="*/ 51507 h 225982"/>
                    <a:gd name="connsiteX6" fmla="*/ 43218 w 541041"/>
                    <a:gd name="connsiteY6" fmla="*/ 51464 h 225982"/>
                    <a:gd name="connsiteX7" fmla="*/ 43218 w 541041"/>
                    <a:gd name="connsiteY7" fmla="*/ 53838 h 225982"/>
                    <a:gd name="connsiteX8" fmla="*/ 504723 w 541041"/>
                    <a:gd name="connsiteY8" fmla="*/ 53019 h 225982"/>
                    <a:gd name="connsiteX9" fmla="*/ 541041 w 541041"/>
                    <a:gd name="connsiteY9" fmla="*/ 107811 h 225982"/>
                    <a:gd name="connsiteX10" fmla="*/ 481576 w 541041"/>
                    <a:gd name="connsiteY10" fmla="*/ 167276 h 225982"/>
                    <a:gd name="connsiteX11" fmla="*/ 171988 w 541041"/>
                    <a:gd name="connsiteY11" fmla="*/ 167276 h 225982"/>
                    <a:gd name="connsiteX12" fmla="*/ 143860 w 541041"/>
                    <a:gd name="connsiteY12" fmla="*/ 202747 h 225982"/>
                    <a:gd name="connsiteX13" fmla="*/ 99545 w 541041"/>
                    <a:gd name="connsiteY13" fmla="*/ 225955 h 225982"/>
                    <a:gd name="connsiteX14" fmla="*/ 99000 w 541041"/>
                    <a:gd name="connsiteY14" fmla="*/ 225982 h 225982"/>
                    <a:gd name="connsiteX15" fmla="*/ 66761 w 541041"/>
                    <a:gd name="connsiteY15" fmla="*/ 217441 h 225982"/>
                    <a:gd name="connsiteX16" fmla="*/ 43218 w 541041"/>
                    <a:gd name="connsiteY16" fmla="*/ 199021 h 225982"/>
                    <a:gd name="connsiteX17" fmla="*/ 43218 w 541041"/>
                    <a:gd name="connsiteY17" fmla="*/ 173385 h 225982"/>
                    <a:gd name="connsiteX18" fmla="*/ 103037 w 541041"/>
                    <a:gd name="connsiteY18" fmla="*/ 173839 h 225982"/>
                    <a:gd name="connsiteX19" fmla="*/ 137561 w 541041"/>
                    <a:gd name="connsiteY19" fmla="*/ 106083 h 225982"/>
                    <a:gd name="connsiteX20" fmla="*/ 136175 w 541041"/>
                    <a:gd name="connsiteY20" fmla="*/ 104206 h 225982"/>
                    <a:gd name="connsiteX21" fmla="*/ 136987 w 541041"/>
                    <a:gd name="connsiteY21" fmla="*/ 102565 h 225982"/>
                    <a:gd name="connsiteX22" fmla="*/ 98106 w 541041"/>
                    <a:gd name="connsiteY22" fmla="*/ 51213 h 225982"/>
                    <a:gd name="connsiteX23" fmla="*/ 43218 w 541041"/>
                    <a:gd name="connsiteY23" fmla="*/ 51464 h 225982"/>
                    <a:gd name="connsiteX24" fmla="*/ 43218 w 541041"/>
                    <a:gd name="connsiteY24" fmla="*/ 22915 h 225982"/>
                    <a:gd name="connsiteX25" fmla="*/ 77964 w 541041"/>
                    <a:gd name="connsiteY25" fmla="*/ 1110 h 225982"/>
                    <a:gd name="connsiteX26" fmla="*/ 85046 w 541041"/>
                    <a:gd name="connsiteY26" fmla="*/ 0 h 225982"/>
                    <a:gd name="connsiteX27" fmla="*/ 121741 w 541041"/>
                    <a:gd name="connsiteY27" fmla="*/ 10236 h 225982"/>
                    <a:gd name="connsiteX28" fmla="*/ 157909 w 541041"/>
                    <a:gd name="connsiteY28" fmla="*/ 38916 h 225982"/>
                    <a:gd name="connsiteX29" fmla="*/ 163138 w 541041"/>
                    <a:gd name="connsiteY29" fmla="*/ 48346 h 225982"/>
                    <a:gd name="connsiteX30" fmla="*/ 481576 w 541041"/>
                    <a:gd name="connsiteY30" fmla="*/ 48346 h 225982"/>
                    <a:gd name="connsiteX31" fmla="*/ 504723 w 541041"/>
                    <a:gd name="connsiteY31" fmla="*/ 53019 h 22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41041" h="225982">
                      <a:moveTo>
                        <a:pt x="99307" y="54263"/>
                      </a:moveTo>
                      <a:lnTo>
                        <a:pt x="136175" y="104206"/>
                      </a:lnTo>
                      <a:lnTo>
                        <a:pt x="103289" y="170735"/>
                      </a:lnTo>
                      <a:lnTo>
                        <a:pt x="38879" y="171028"/>
                      </a:lnTo>
                      <a:lnTo>
                        <a:pt x="0" y="119677"/>
                      </a:lnTo>
                      <a:lnTo>
                        <a:pt x="33698" y="51507"/>
                      </a:lnTo>
                      <a:lnTo>
                        <a:pt x="43218" y="51464"/>
                      </a:lnTo>
                      <a:lnTo>
                        <a:pt x="43218" y="53838"/>
                      </a:lnTo>
                      <a:close/>
                      <a:moveTo>
                        <a:pt x="504723" y="53019"/>
                      </a:moveTo>
                      <a:cubicBezTo>
                        <a:pt x="526066" y="62046"/>
                        <a:pt x="541041" y="83180"/>
                        <a:pt x="541041" y="107811"/>
                      </a:cubicBezTo>
                      <a:cubicBezTo>
                        <a:pt x="541041" y="140653"/>
                        <a:pt x="514418" y="167276"/>
                        <a:pt x="481576" y="167276"/>
                      </a:cubicBezTo>
                      <a:lnTo>
                        <a:pt x="171988" y="167276"/>
                      </a:lnTo>
                      <a:lnTo>
                        <a:pt x="143860" y="202747"/>
                      </a:lnTo>
                      <a:cubicBezTo>
                        <a:pt x="130861" y="213683"/>
                        <a:pt x="115692" y="221548"/>
                        <a:pt x="99545" y="225955"/>
                      </a:cubicBezTo>
                      <a:lnTo>
                        <a:pt x="99000" y="225982"/>
                      </a:lnTo>
                      <a:lnTo>
                        <a:pt x="66761" y="217441"/>
                      </a:lnTo>
                      <a:lnTo>
                        <a:pt x="43218" y="199021"/>
                      </a:lnTo>
                      <a:lnTo>
                        <a:pt x="43218" y="173385"/>
                      </a:lnTo>
                      <a:lnTo>
                        <a:pt x="103037" y="173839"/>
                      </a:lnTo>
                      <a:lnTo>
                        <a:pt x="137561" y="106083"/>
                      </a:lnTo>
                      <a:lnTo>
                        <a:pt x="136175" y="104206"/>
                      </a:lnTo>
                      <a:lnTo>
                        <a:pt x="136987" y="102565"/>
                      </a:lnTo>
                      <a:lnTo>
                        <a:pt x="98106" y="51213"/>
                      </a:lnTo>
                      <a:lnTo>
                        <a:pt x="43218" y="51464"/>
                      </a:lnTo>
                      <a:lnTo>
                        <a:pt x="43218" y="22915"/>
                      </a:lnTo>
                      <a:lnTo>
                        <a:pt x="77964" y="1110"/>
                      </a:lnTo>
                      <a:lnTo>
                        <a:pt x="85046" y="0"/>
                      </a:lnTo>
                      <a:lnTo>
                        <a:pt x="121741" y="10236"/>
                      </a:lnTo>
                      <a:cubicBezTo>
                        <a:pt x="136041" y="17522"/>
                        <a:pt x="148188" y="27361"/>
                        <a:pt x="157909" y="38916"/>
                      </a:cubicBezTo>
                      <a:lnTo>
                        <a:pt x="163138" y="48346"/>
                      </a:lnTo>
                      <a:lnTo>
                        <a:pt x="481576" y="48346"/>
                      </a:lnTo>
                      <a:cubicBezTo>
                        <a:pt x="489787" y="48346"/>
                        <a:pt x="497608" y="50010"/>
                        <a:pt x="504723" y="53019"/>
                      </a:cubicBezTo>
                      <a:close/>
                    </a:path>
                  </a:pathLst>
                </a:cu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201" name="Hexagon 200"/>
                <p:cNvSpPr/>
                <p:nvPr/>
              </p:nvSpPr>
              <p:spPr>
                <a:xfrm rot="16200000">
                  <a:off x="7813142" y="2552652"/>
                  <a:ext cx="102880" cy="89052"/>
                </a:xfrm>
                <a:prstGeom prst="hexagon">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sp>
            <p:nvSpPr>
              <p:cNvPr id="198" name="TextBox 197"/>
              <p:cNvSpPr txBox="1"/>
              <p:nvPr/>
            </p:nvSpPr>
            <p:spPr>
              <a:xfrm>
                <a:off x="8093977" y="2340375"/>
                <a:ext cx="1185261" cy="424732"/>
              </a:xfrm>
              <a:prstGeom prst="rect">
                <a:avLst/>
              </a:prstGeom>
              <a:noFill/>
            </p:spPr>
            <p:txBody>
              <a:bodyPr wrap="none" rtlCol="0">
                <a:spAutoFit/>
              </a:bodyPr>
              <a:lstStyle/>
              <a:p>
                <a:r>
                  <a:rPr lang="en-US" sz="2160" dirty="0"/>
                  <a:t>PT Agent</a:t>
                </a:r>
              </a:p>
            </p:txBody>
          </p:sp>
        </p:grpSp>
        <p:sp>
          <p:nvSpPr>
            <p:cNvPr id="202" name="TextBox 201"/>
            <p:cNvSpPr txBox="1"/>
            <p:nvPr/>
          </p:nvSpPr>
          <p:spPr>
            <a:xfrm>
              <a:off x="4258520" y="3254235"/>
              <a:ext cx="338554" cy="461664"/>
            </a:xfrm>
            <a:prstGeom prst="rect">
              <a:avLst/>
            </a:prstGeom>
            <a:noFill/>
          </p:spPr>
          <p:txBody>
            <a:bodyPr wrap="none" rtlCol="0">
              <a:spAutoFit/>
            </a:bodyPr>
            <a:lstStyle/>
            <a:p>
              <a:r>
                <a:rPr lang="en-US" sz="2400" dirty="0"/>
                <a:t>+</a:t>
              </a:r>
            </a:p>
          </p:txBody>
        </p:sp>
      </p:grpSp>
      <p:grpSp>
        <p:nvGrpSpPr>
          <p:cNvPr id="124" name="Group 123"/>
          <p:cNvGrpSpPr/>
          <p:nvPr/>
        </p:nvGrpSpPr>
        <p:grpSpPr>
          <a:xfrm>
            <a:off x="7608280" y="98779"/>
            <a:ext cx="1374656" cy="424732"/>
            <a:chOff x="7760681" y="98778"/>
            <a:chExt cx="1374656" cy="424732"/>
          </a:xfrm>
        </p:grpSpPr>
        <p:sp>
          <p:nvSpPr>
            <p:cNvPr id="125" name="Rounded Rectangle 124"/>
            <p:cNvSpPr>
              <a:spLocks noChangeAspect="1"/>
            </p:cNvSpPr>
            <p:nvPr/>
          </p:nvSpPr>
          <p:spPr>
            <a:xfrm>
              <a:off x="7760681" y="167204"/>
              <a:ext cx="353775" cy="232481"/>
            </a:xfrm>
            <a:prstGeom prst="roundRect">
              <a:avLst/>
            </a:prstGeom>
            <a:solidFill>
              <a:schemeClr val="bg2">
                <a:lumMod val="9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26" name="TextBox 125"/>
            <p:cNvSpPr txBox="1"/>
            <p:nvPr/>
          </p:nvSpPr>
          <p:spPr>
            <a:xfrm>
              <a:off x="8097552" y="98778"/>
              <a:ext cx="1037785" cy="424732"/>
            </a:xfrm>
            <a:prstGeom prst="rect">
              <a:avLst/>
            </a:prstGeom>
            <a:noFill/>
          </p:spPr>
          <p:txBody>
            <a:bodyPr wrap="none" rtlCol="0">
              <a:spAutoFit/>
            </a:bodyPr>
            <a:lstStyle/>
            <a:p>
              <a:r>
                <a:rPr lang="en-US" sz="2160" dirty="0"/>
                <a:t>Process</a:t>
              </a:r>
            </a:p>
          </p:txBody>
        </p:sp>
      </p:grpSp>
      <p:grpSp>
        <p:nvGrpSpPr>
          <p:cNvPr id="127" name="Group 126"/>
          <p:cNvGrpSpPr/>
          <p:nvPr/>
        </p:nvGrpSpPr>
        <p:grpSpPr>
          <a:xfrm>
            <a:off x="7616735" y="534828"/>
            <a:ext cx="1276179" cy="436902"/>
            <a:chOff x="7769133" y="576298"/>
            <a:chExt cx="1276179" cy="436902"/>
          </a:xfrm>
        </p:grpSpPr>
        <p:sp>
          <p:nvSpPr>
            <p:cNvPr id="128" name="Freeform 127"/>
            <p:cNvSpPr/>
            <p:nvPr/>
          </p:nvSpPr>
          <p:spPr>
            <a:xfrm>
              <a:off x="7769133" y="576298"/>
              <a:ext cx="336871" cy="393673"/>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29" name="TextBox 128"/>
            <p:cNvSpPr txBox="1"/>
            <p:nvPr/>
          </p:nvSpPr>
          <p:spPr>
            <a:xfrm>
              <a:off x="8097552" y="588468"/>
              <a:ext cx="947760" cy="424732"/>
            </a:xfrm>
            <a:prstGeom prst="rect">
              <a:avLst/>
            </a:prstGeom>
            <a:noFill/>
          </p:spPr>
          <p:txBody>
            <a:bodyPr wrap="none" rtlCol="0">
              <a:spAutoFit/>
            </a:bodyPr>
            <a:lstStyle/>
            <a:p>
              <a:r>
                <a:rPr lang="en-US" sz="2160" dirty="0"/>
                <a:t>Tenant</a:t>
              </a:r>
            </a:p>
          </p:txBody>
        </p:sp>
      </p:grpSp>
      <p:grpSp>
        <p:nvGrpSpPr>
          <p:cNvPr id="130" name="Group 129"/>
          <p:cNvGrpSpPr/>
          <p:nvPr/>
        </p:nvGrpSpPr>
        <p:grpSpPr>
          <a:xfrm>
            <a:off x="7628169" y="995219"/>
            <a:ext cx="1594511" cy="424732"/>
            <a:chOff x="7780570" y="1040742"/>
            <a:chExt cx="1594511" cy="424732"/>
          </a:xfrm>
        </p:grpSpPr>
        <p:grpSp>
          <p:nvGrpSpPr>
            <p:cNvPr id="131" name="Group 130"/>
            <p:cNvGrpSpPr/>
            <p:nvPr/>
          </p:nvGrpSpPr>
          <p:grpSpPr>
            <a:xfrm>
              <a:off x="7780570" y="1151283"/>
              <a:ext cx="313996" cy="148250"/>
              <a:chOff x="614994" y="4474896"/>
              <a:chExt cx="659606" cy="148250"/>
            </a:xfrm>
          </p:grpSpPr>
          <p:sp>
            <p:nvSpPr>
              <p:cNvPr id="133" name="Freeform 132"/>
              <p:cNvSpPr/>
              <p:nvPr/>
            </p:nvSpPr>
            <p:spPr>
              <a:xfrm>
                <a:off x="614994" y="4474896"/>
                <a:ext cx="658368" cy="148250"/>
              </a:xfrm>
              <a:custGeom>
                <a:avLst/>
                <a:gdLst>
                  <a:gd name="connsiteX0" fmla="*/ 0 w 663547"/>
                  <a:gd name="connsiteY0" fmla="*/ 0 h 153748"/>
                  <a:gd name="connsiteX1" fmla="*/ 234669 w 663547"/>
                  <a:gd name="connsiteY1" fmla="*/ 0 h 153748"/>
                  <a:gd name="connsiteX2" fmla="*/ 291313 w 663547"/>
                  <a:gd name="connsiteY2" fmla="*/ 153748 h 153748"/>
                  <a:gd name="connsiteX3" fmla="*/ 663547 w 663547"/>
                  <a:gd name="connsiteY3" fmla="*/ 153748 h 153748"/>
                </a:gdLst>
                <a:ahLst/>
                <a:cxnLst>
                  <a:cxn ang="0">
                    <a:pos x="connsiteX0" y="connsiteY0"/>
                  </a:cxn>
                  <a:cxn ang="0">
                    <a:pos x="connsiteX1" y="connsiteY1"/>
                  </a:cxn>
                  <a:cxn ang="0">
                    <a:pos x="connsiteX2" y="connsiteY2"/>
                  </a:cxn>
                  <a:cxn ang="0">
                    <a:pos x="connsiteX3" y="connsiteY3"/>
                  </a:cxn>
                </a:cxnLst>
                <a:rect l="l" t="t" r="r" b="b"/>
                <a:pathLst>
                  <a:path w="663547" h="153748">
                    <a:moveTo>
                      <a:pt x="0" y="0"/>
                    </a:moveTo>
                    <a:lnTo>
                      <a:pt x="234669" y="0"/>
                    </a:lnTo>
                    <a:lnTo>
                      <a:pt x="291313" y="153748"/>
                    </a:lnTo>
                    <a:lnTo>
                      <a:pt x="663547" y="153748"/>
                    </a:lnTo>
                  </a:path>
                </a:pathLst>
              </a:custGeom>
              <a:noFill/>
              <a:ln w="38100">
                <a:solidFill>
                  <a:schemeClr val="tx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34" name="Freeform 133"/>
              <p:cNvSpPr/>
              <p:nvPr/>
            </p:nvSpPr>
            <p:spPr>
              <a:xfrm>
                <a:off x="614994" y="4474896"/>
                <a:ext cx="659606" cy="80756"/>
              </a:xfrm>
              <a:custGeom>
                <a:avLst/>
                <a:gdLst>
                  <a:gd name="connsiteX0" fmla="*/ 0 w 659606"/>
                  <a:gd name="connsiteY0" fmla="*/ 90488 h 90488"/>
                  <a:gd name="connsiteX1" fmla="*/ 366713 w 659606"/>
                  <a:gd name="connsiteY1" fmla="*/ 90488 h 90488"/>
                  <a:gd name="connsiteX2" fmla="*/ 421481 w 659606"/>
                  <a:gd name="connsiteY2" fmla="*/ 0 h 90488"/>
                  <a:gd name="connsiteX3" fmla="*/ 659606 w 659606"/>
                  <a:gd name="connsiteY3" fmla="*/ 0 h 90488"/>
                </a:gdLst>
                <a:ahLst/>
                <a:cxnLst>
                  <a:cxn ang="0">
                    <a:pos x="connsiteX0" y="connsiteY0"/>
                  </a:cxn>
                  <a:cxn ang="0">
                    <a:pos x="connsiteX1" y="connsiteY1"/>
                  </a:cxn>
                  <a:cxn ang="0">
                    <a:pos x="connsiteX2" y="connsiteY2"/>
                  </a:cxn>
                  <a:cxn ang="0">
                    <a:pos x="connsiteX3" y="connsiteY3"/>
                  </a:cxn>
                </a:cxnLst>
                <a:rect l="l" t="t" r="r" b="b"/>
                <a:pathLst>
                  <a:path w="659606" h="90488">
                    <a:moveTo>
                      <a:pt x="0" y="90488"/>
                    </a:moveTo>
                    <a:lnTo>
                      <a:pt x="366713" y="90488"/>
                    </a:lnTo>
                    <a:lnTo>
                      <a:pt x="421481" y="0"/>
                    </a:lnTo>
                    <a:lnTo>
                      <a:pt x="659606" y="0"/>
                    </a:lnTo>
                  </a:path>
                </a:pathLst>
              </a:custGeom>
              <a:noFill/>
              <a:ln w="38100">
                <a:solidFill>
                  <a:schemeClr val="tx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sp>
          <p:nvSpPr>
            <p:cNvPr id="132" name="TextBox 131"/>
            <p:cNvSpPr txBox="1"/>
            <p:nvPr/>
          </p:nvSpPr>
          <p:spPr>
            <a:xfrm>
              <a:off x="8097552" y="1040742"/>
              <a:ext cx="1277529" cy="424732"/>
            </a:xfrm>
            <a:prstGeom prst="rect">
              <a:avLst/>
            </a:prstGeom>
            <a:noFill/>
          </p:spPr>
          <p:txBody>
            <a:bodyPr wrap="none" rtlCol="0">
              <a:spAutoFit/>
            </a:bodyPr>
            <a:lstStyle/>
            <a:p>
              <a:r>
                <a:rPr lang="en-US" sz="2160" dirty="0"/>
                <a:t>Workload</a:t>
              </a:r>
            </a:p>
          </p:txBody>
        </p:sp>
      </p:grpSp>
      <p:grpSp>
        <p:nvGrpSpPr>
          <p:cNvPr id="135" name="Group 134"/>
          <p:cNvGrpSpPr/>
          <p:nvPr/>
        </p:nvGrpSpPr>
        <p:grpSpPr>
          <a:xfrm>
            <a:off x="7531089" y="1431269"/>
            <a:ext cx="1507265" cy="424732"/>
            <a:chOff x="7683487" y="1521761"/>
            <a:chExt cx="1507265" cy="424732"/>
          </a:xfrm>
        </p:grpSpPr>
        <p:sp>
          <p:nvSpPr>
            <p:cNvPr id="136" name="TextBox 135"/>
            <p:cNvSpPr txBox="1"/>
            <p:nvPr/>
          </p:nvSpPr>
          <p:spPr>
            <a:xfrm>
              <a:off x="8093977" y="1521761"/>
              <a:ext cx="1096775" cy="424732"/>
            </a:xfrm>
            <a:prstGeom prst="rect">
              <a:avLst/>
            </a:prstGeom>
            <a:noFill/>
          </p:spPr>
          <p:txBody>
            <a:bodyPr wrap="none" rtlCol="0">
              <a:spAutoFit/>
            </a:bodyPr>
            <a:lstStyle/>
            <a:p>
              <a:r>
                <a:rPr lang="en-US" sz="2160" dirty="0"/>
                <a:t>Request</a:t>
              </a:r>
            </a:p>
          </p:txBody>
        </p:sp>
        <p:grpSp>
          <p:nvGrpSpPr>
            <p:cNvPr id="137" name="Group 136"/>
            <p:cNvGrpSpPr/>
            <p:nvPr/>
          </p:nvGrpSpPr>
          <p:grpSpPr>
            <a:xfrm>
              <a:off x="7683487" y="1597704"/>
              <a:ext cx="507572" cy="217447"/>
              <a:chOff x="7707297" y="1536329"/>
              <a:chExt cx="507572" cy="217447"/>
            </a:xfrm>
          </p:grpSpPr>
          <p:grpSp>
            <p:nvGrpSpPr>
              <p:cNvPr id="138" name="Group 137"/>
              <p:cNvGrpSpPr/>
              <p:nvPr/>
            </p:nvGrpSpPr>
            <p:grpSpPr>
              <a:xfrm>
                <a:off x="7707297" y="1536329"/>
                <a:ext cx="507572" cy="217447"/>
                <a:chOff x="7741078" y="1532153"/>
                <a:chExt cx="507572" cy="217447"/>
              </a:xfrm>
              <a:gradFill flip="none" rotWithShape="1">
                <a:gsLst>
                  <a:gs pos="0">
                    <a:schemeClr val="tx1">
                      <a:alpha val="0"/>
                    </a:schemeClr>
                  </a:gs>
                  <a:gs pos="25000">
                    <a:schemeClr val="tx1"/>
                  </a:gs>
                  <a:gs pos="75000">
                    <a:schemeClr val="tx1"/>
                  </a:gs>
                  <a:gs pos="100000">
                    <a:schemeClr val="tx1">
                      <a:alpha val="0"/>
                    </a:schemeClr>
                  </a:gs>
                </a:gsLst>
                <a:lin ang="0" scaled="1"/>
                <a:tileRect/>
              </a:gradFill>
            </p:grpSpPr>
            <p:sp>
              <p:nvSpPr>
                <p:cNvPr id="141" name="Oval 140"/>
                <p:cNvSpPr/>
                <p:nvPr/>
              </p:nvSpPr>
              <p:spPr>
                <a:xfrm>
                  <a:off x="7886141" y="1532153"/>
                  <a:ext cx="217447" cy="21744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42" name="Rectangle 141"/>
                <p:cNvSpPr/>
                <p:nvPr/>
              </p:nvSpPr>
              <p:spPr>
                <a:xfrm>
                  <a:off x="7741078" y="1618017"/>
                  <a:ext cx="507572" cy="575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cxnSp>
            <p:nvCxnSpPr>
              <p:cNvPr id="139" name="Straight Connector 138"/>
              <p:cNvCxnSpPr/>
              <p:nvPr/>
            </p:nvCxnSpPr>
            <p:spPr>
              <a:xfrm>
                <a:off x="7808610" y="1566471"/>
                <a:ext cx="152473" cy="0"/>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a:xfrm>
                <a:off x="7808610" y="1723633"/>
                <a:ext cx="152473" cy="0"/>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sp>
        <p:nvSpPr>
          <p:cNvPr id="10" name="Slide Number Placeholder 9"/>
          <p:cNvSpPr>
            <a:spLocks noGrp="1"/>
          </p:cNvSpPr>
          <p:nvPr>
            <p:ph type="sldNum" sz="quarter" idx="12"/>
          </p:nvPr>
        </p:nvSpPr>
        <p:spPr/>
        <p:txBody>
          <a:bodyPr/>
          <a:lstStyle/>
          <a:p>
            <a:fld id="{D431E30F-8439-471B-9257-EDD8E85CDBC8}" type="slidenum">
              <a:rPr lang="en-US" smtClean="0"/>
              <a:t>22</a:t>
            </a:fld>
            <a:endParaRPr lang="en-US"/>
          </a:p>
        </p:txBody>
      </p:sp>
    </p:spTree>
    <p:extLst>
      <p:ext uri="{BB962C8B-B14F-4D97-AF65-F5344CB8AC3E}">
        <p14:creationId xmlns:p14="http://schemas.microsoft.com/office/powerpoint/2010/main" val="3245270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5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par>
                          <p:cTn id="11" fill="hold">
                            <p:stCondLst>
                              <p:cond delay="500"/>
                            </p:stCondLst>
                            <p:childTnLst>
                              <p:par>
                                <p:cTn id="12" presetID="47" presetClass="entr" presetSubtype="0" fill="hold" nodeType="after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 y="1810067"/>
            <a:ext cx="9144000" cy="1325563"/>
          </a:xfrm>
          <a:prstGeom prst="rect">
            <a:avLst/>
          </a:prstGeom>
        </p:spPr>
        <p:txBody>
          <a:bodyPr vert="horz" lIns="91440" tIns="45720" rIns="91440" bIns="45720" rtlCol="0" anchor="ctr">
            <a:normAutofit fontScale="92500" lnSpcReduction="10000"/>
          </a:bodyPr>
          <a:lstStyle>
            <a:lvl1pPr algn="l" defTabSz="914363"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5400" dirty="0" smtClean="0"/>
              <a:t>Design &amp; Implementation</a:t>
            </a:r>
          </a:p>
          <a:p>
            <a:pPr algn="ctr"/>
            <a:r>
              <a:rPr lang="en-US" sz="4800" dirty="0" smtClean="0"/>
              <a:t>Queries</a:t>
            </a:r>
            <a:endParaRPr lang="en-US" sz="4800" dirty="0"/>
          </a:p>
        </p:txBody>
      </p:sp>
      <p:sp>
        <p:nvSpPr>
          <p:cNvPr id="2" name="Slide Number Placeholder 1"/>
          <p:cNvSpPr>
            <a:spLocks noGrp="1"/>
          </p:cNvSpPr>
          <p:nvPr>
            <p:ph type="sldNum" sz="quarter" idx="12"/>
          </p:nvPr>
        </p:nvSpPr>
        <p:spPr/>
        <p:txBody>
          <a:bodyPr/>
          <a:lstStyle/>
          <a:p>
            <a:fld id="{D431E30F-8439-471B-9257-EDD8E85CDBC8}" type="slidenum">
              <a:rPr lang="en-US" smtClean="0"/>
              <a:t>23</a:t>
            </a:fld>
            <a:endParaRPr lang="en-US"/>
          </a:p>
        </p:txBody>
      </p:sp>
    </p:spTree>
    <p:extLst>
      <p:ext uri="{BB962C8B-B14F-4D97-AF65-F5344CB8AC3E}">
        <p14:creationId xmlns:p14="http://schemas.microsoft.com/office/powerpoint/2010/main" val="35088488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 name="Group 193"/>
          <p:cNvGrpSpPr/>
          <p:nvPr/>
        </p:nvGrpSpPr>
        <p:grpSpPr>
          <a:xfrm>
            <a:off x="2409805" y="476498"/>
            <a:ext cx="2440458" cy="1194898"/>
            <a:chOff x="2028805" y="476498"/>
            <a:chExt cx="2440458" cy="1194898"/>
          </a:xfrm>
        </p:grpSpPr>
        <p:sp>
          <p:nvSpPr>
            <p:cNvPr id="5" name="Process A"/>
            <p:cNvSpPr/>
            <p:nvPr/>
          </p:nvSpPr>
          <p:spPr>
            <a:xfrm>
              <a:off x="2028805" y="476498"/>
              <a:ext cx="2440458" cy="984940"/>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nvGrpSpPr>
            <p:cNvPr id="17" name="PT Agent A"/>
            <p:cNvGrpSpPr/>
            <p:nvPr/>
          </p:nvGrpSpPr>
          <p:grpSpPr>
            <a:xfrm>
              <a:off x="2110275" y="1202254"/>
              <a:ext cx="1074956" cy="469142"/>
              <a:chOff x="2626646" y="3779254"/>
              <a:chExt cx="1074956" cy="469142"/>
            </a:xfrm>
          </p:grpSpPr>
          <p:sp>
            <p:nvSpPr>
              <p:cNvPr id="18" name="Rectangle 17"/>
              <p:cNvSpPr/>
              <p:nvPr/>
            </p:nvSpPr>
            <p:spPr>
              <a:xfrm>
                <a:off x="2703536" y="3779254"/>
                <a:ext cx="998066" cy="331980"/>
              </a:xfrm>
              <a:prstGeom prst="rect">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91440" bIns="0" rtlCol="0" anchor="t" anchorCtr="0"/>
              <a:lstStyle/>
              <a:p>
                <a:pPr algn="r"/>
                <a:r>
                  <a:rPr lang="en-US" dirty="0" smtClean="0">
                    <a:solidFill>
                      <a:schemeClr val="tx1"/>
                    </a:solidFill>
                  </a:rPr>
                  <a:t>PT Agent</a:t>
                </a:r>
                <a:endParaRPr lang="en-US" dirty="0">
                  <a:solidFill>
                    <a:schemeClr val="tx1"/>
                  </a:solidFill>
                </a:endParaRPr>
              </a:p>
            </p:txBody>
          </p:sp>
          <p:grpSp>
            <p:nvGrpSpPr>
              <p:cNvPr id="19" name="Group 18"/>
              <p:cNvGrpSpPr/>
              <p:nvPr/>
            </p:nvGrpSpPr>
            <p:grpSpPr>
              <a:xfrm rot="878394">
                <a:off x="2626646" y="3986085"/>
                <a:ext cx="442659" cy="262311"/>
                <a:chOff x="2015326" y="3161328"/>
                <a:chExt cx="442659" cy="262311"/>
              </a:xfrm>
            </p:grpSpPr>
            <p:sp>
              <p:nvSpPr>
                <p:cNvPr id="20" name="Freeform 19"/>
                <p:cNvSpPr/>
                <p:nvPr/>
              </p:nvSpPr>
              <p:spPr>
                <a:xfrm>
                  <a:off x="2015326" y="3198159"/>
                  <a:ext cx="207804" cy="225480"/>
                </a:xfrm>
                <a:custGeom>
                  <a:avLst/>
                  <a:gdLst>
                    <a:gd name="connsiteX0" fmla="*/ 250470 w 278551"/>
                    <a:gd name="connsiteY0" fmla="*/ 185740 h 302245"/>
                    <a:gd name="connsiteX1" fmla="*/ 278551 w 278551"/>
                    <a:gd name="connsiteY1" fmla="*/ 212135 h 302245"/>
                    <a:gd name="connsiteX2" fmla="*/ 261752 w 278551"/>
                    <a:gd name="connsiteY2" fmla="*/ 241233 h 302245"/>
                    <a:gd name="connsiteX3" fmla="*/ 225317 w 278551"/>
                    <a:gd name="connsiteY3" fmla="*/ 230252 h 302245"/>
                    <a:gd name="connsiteX4" fmla="*/ 247440 w 278551"/>
                    <a:gd name="connsiteY4" fmla="*/ 199863 h 302245"/>
                    <a:gd name="connsiteX5" fmla="*/ 139274 w 278551"/>
                    <a:gd name="connsiteY5" fmla="*/ 84295 h 302245"/>
                    <a:gd name="connsiteX6" fmla="*/ 196885 w 278551"/>
                    <a:gd name="connsiteY6" fmla="*/ 113100 h 302245"/>
                    <a:gd name="connsiteX7" fmla="*/ 196884 w 278551"/>
                    <a:gd name="connsiteY7" fmla="*/ 114931 h 302245"/>
                    <a:gd name="connsiteX8" fmla="*/ 141702 w 278551"/>
                    <a:gd name="connsiteY8" fmla="*/ 86497 h 302245"/>
                    <a:gd name="connsiteX9" fmla="*/ 91232 w 278551"/>
                    <a:gd name="connsiteY9" fmla="*/ 110971 h 302245"/>
                    <a:gd name="connsiteX10" fmla="*/ 90180 w 278551"/>
                    <a:gd name="connsiteY10" fmla="*/ 108843 h 302245"/>
                    <a:gd name="connsiteX11" fmla="*/ 93907 w 278551"/>
                    <a:gd name="connsiteY11" fmla="*/ 56612 h 302245"/>
                    <a:gd name="connsiteX12" fmla="*/ 77529 w 278551"/>
                    <a:gd name="connsiteY12" fmla="*/ 83250 h 302245"/>
                    <a:gd name="connsiteX13" fmla="*/ 90180 w 278551"/>
                    <a:gd name="connsiteY13" fmla="*/ 108843 h 302245"/>
                    <a:gd name="connsiteX14" fmla="*/ 81665 w 278551"/>
                    <a:gd name="connsiteY14" fmla="*/ 113100 h 302245"/>
                    <a:gd name="connsiteX15" fmla="*/ 81665 w 278551"/>
                    <a:gd name="connsiteY15" fmla="*/ 189144 h 302245"/>
                    <a:gd name="connsiteX16" fmla="*/ 139274 w 278551"/>
                    <a:gd name="connsiteY16" fmla="*/ 217949 h 302245"/>
                    <a:gd name="connsiteX17" fmla="*/ 196884 w 278551"/>
                    <a:gd name="connsiteY17" fmla="*/ 189144 h 302245"/>
                    <a:gd name="connsiteX18" fmla="*/ 196884 w 278551"/>
                    <a:gd name="connsiteY18" fmla="*/ 114931 h 302245"/>
                    <a:gd name="connsiteX19" fmla="*/ 198958 w 278551"/>
                    <a:gd name="connsiteY19" fmla="*/ 115999 h 302245"/>
                    <a:gd name="connsiteX20" fmla="*/ 198034 w 278551"/>
                    <a:gd name="connsiteY20" fmla="*/ 192038 h 302245"/>
                    <a:gd name="connsiteX21" fmla="*/ 144208 w 278551"/>
                    <a:gd name="connsiteY21" fmla="*/ 218139 h 302245"/>
                    <a:gd name="connsiteX22" fmla="*/ 155568 w 278551"/>
                    <a:gd name="connsiteY22" fmla="*/ 241121 h 302245"/>
                    <a:gd name="connsiteX23" fmla="*/ 182697 w 278551"/>
                    <a:gd name="connsiteY23" fmla="*/ 246757 h 302245"/>
                    <a:gd name="connsiteX24" fmla="*/ 166987 w 278551"/>
                    <a:gd name="connsiteY24" fmla="*/ 255827 h 302245"/>
                    <a:gd name="connsiteX25" fmla="*/ 156075 w 278551"/>
                    <a:gd name="connsiteY25" fmla="*/ 302245 h 302245"/>
                    <a:gd name="connsiteX26" fmla="*/ 122476 w 278551"/>
                    <a:gd name="connsiteY26" fmla="*/ 302245 h 302245"/>
                    <a:gd name="connsiteX27" fmla="*/ 111565 w 278551"/>
                    <a:gd name="connsiteY27" fmla="*/ 255827 h 302245"/>
                    <a:gd name="connsiteX28" fmla="*/ 62455 w 278551"/>
                    <a:gd name="connsiteY28" fmla="*/ 227473 h 302245"/>
                    <a:gd name="connsiteX29" fmla="*/ 16799 w 278551"/>
                    <a:gd name="connsiteY29" fmla="*/ 241233 h 302245"/>
                    <a:gd name="connsiteX30" fmla="*/ 0 w 278551"/>
                    <a:gd name="connsiteY30" fmla="*/ 212135 h 302245"/>
                    <a:gd name="connsiteX31" fmla="*/ 34743 w 278551"/>
                    <a:gd name="connsiteY31" fmla="*/ 179476 h 302245"/>
                    <a:gd name="connsiteX32" fmla="*/ 34743 w 278551"/>
                    <a:gd name="connsiteY32" fmla="*/ 122768 h 302245"/>
                    <a:gd name="connsiteX33" fmla="*/ 0 w 278551"/>
                    <a:gd name="connsiteY33" fmla="*/ 90110 h 302245"/>
                    <a:gd name="connsiteX34" fmla="*/ 16799 w 278551"/>
                    <a:gd name="connsiteY34" fmla="*/ 61012 h 302245"/>
                    <a:gd name="connsiteX35" fmla="*/ 62454 w 278551"/>
                    <a:gd name="connsiteY35" fmla="*/ 74772 h 302245"/>
                    <a:gd name="connsiteX36" fmla="*/ 122476 w 278551"/>
                    <a:gd name="connsiteY36" fmla="*/ 0 h 302245"/>
                    <a:gd name="connsiteX37" fmla="*/ 156075 w 278551"/>
                    <a:gd name="connsiteY37" fmla="*/ 0 h 302245"/>
                    <a:gd name="connsiteX38" fmla="*/ 165987 w 278551"/>
                    <a:gd name="connsiteY38" fmla="*/ 42169 h 302245"/>
                    <a:gd name="connsiteX39" fmla="*/ 142303 w 278551"/>
                    <a:gd name="connsiteY39" fmla="*/ 37087 h 302245"/>
                    <a:gd name="connsiteX40" fmla="*/ 112428 w 278551"/>
                    <a:gd name="connsiteY40" fmla="*/ 42742 h 30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78551" h="302245">
                      <a:moveTo>
                        <a:pt x="250470" y="185740"/>
                      </a:moveTo>
                      <a:lnTo>
                        <a:pt x="278551" y="212135"/>
                      </a:lnTo>
                      <a:lnTo>
                        <a:pt x="261752" y="241233"/>
                      </a:lnTo>
                      <a:lnTo>
                        <a:pt x="225317" y="230252"/>
                      </a:lnTo>
                      <a:lnTo>
                        <a:pt x="247440" y="199863"/>
                      </a:lnTo>
                      <a:close/>
                      <a:moveTo>
                        <a:pt x="139274" y="84295"/>
                      </a:moveTo>
                      <a:lnTo>
                        <a:pt x="196885" y="113100"/>
                      </a:lnTo>
                      <a:lnTo>
                        <a:pt x="196884" y="114931"/>
                      </a:lnTo>
                      <a:lnTo>
                        <a:pt x="141702" y="86497"/>
                      </a:lnTo>
                      <a:lnTo>
                        <a:pt x="91232" y="110971"/>
                      </a:lnTo>
                      <a:lnTo>
                        <a:pt x="90180" y="108843"/>
                      </a:lnTo>
                      <a:close/>
                      <a:moveTo>
                        <a:pt x="93907" y="56612"/>
                      </a:moveTo>
                      <a:lnTo>
                        <a:pt x="77529" y="83250"/>
                      </a:lnTo>
                      <a:lnTo>
                        <a:pt x="90180" y="108843"/>
                      </a:lnTo>
                      <a:lnTo>
                        <a:pt x="81665" y="113100"/>
                      </a:lnTo>
                      <a:lnTo>
                        <a:pt x="81665" y="189144"/>
                      </a:lnTo>
                      <a:lnTo>
                        <a:pt x="139274" y="217949"/>
                      </a:lnTo>
                      <a:lnTo>
                        <a:pt x="196884" y="189144"/>
                      </a:lnTo>
                      <a:lnTo>
                        <a:pt x="196884" y="114931"/>
                      </a:lnTo>
                      <a:lnTo>
                        <a:pt x="198958" y="115999"/>
                      </a:lnTo>
                      <a:lnTo>
                        <a:pt x="198034" y="192038"/>
                      </a:lnTo>
                      <a:lnTo>
                        <a:pt x="144208" y="218139"/>
                      </a:lnTo>
                      <a:lnTo>
                        <a:pt x="155568" y="241121"/>
                      </a:lnTo>
                      <a:lnTo>
                        <a:pt x="182697" y="246757"/>
                      </a:lnTo>
                      <a:lnTo>
                        <a:pt x="166987" y="255827"/>
                      </a:lnTo>
                      <a:lnTo>
                        <a:pt x="156075" y="302245"/>
                      </a:lnTo>
                      <a:lnTo>
                        <a:pt x="122476" y="302245"/>
                      </a:lnTo>
                      <a:lnTo>
                        <a:pt x="111565" y="255827"/>
                      </a:lnTo>
                      <a:cubicBezTo>
                        <a:pt x="92967" y="250905"/>
                        <a:pt x="76016" y="241118"/>
                        <a:pt x="62455" y="227473"/>
                      </a:cubicBezTo>
                      <a:lnTo>
                        <a:pt x="16799" y="241233"/>
                      </a:lnTo>
                      <a:lnTo>
                        <a:pt x="0" y="212135"/>
                      </a:lnTo>
                      <a:lnTo>
                        <a:pt x="34743" y="179476"/>
                      </a:lnTo>
                      <a:cubicBezTo>
                        <a:pt x="29707" y="160909"/>
                        <a:pt x="29707" y="141335"/>
                        <a:pt x="34743" y="122768"/>
                      </a:cubicBezTo>
                      <a:lnTo>
                        <a:pt x="0" y="90110"/>
                      </a:lnTo>
                      <a:lnTo>
                        <a:pt x="16799" y="61012"/>
                      </a:lnTo>
                      <a:lnTo>
                        <a:pt x="62454" y="74772"/>
                      </a:lnTo>
                      <a:close/>
                      <a:moveTo>
                        <a:pt x="122476" y="0"/>
                      </a:moveTo>
                      <a:lnTo>
                        <a:pt x="156075" y="0"/>
                      </a:lnTo>
                      <a:lnTo>
                        <a:pt x="165987" y="42169"/>
                      </a:lnTo>
                      <a:lnTo>
                        <a:pt x="142303" y="37087"/>
                      </a:lnTo>
                      <a:lnTo>
                        <a:pt x="112428" y="42742"/>
                      </a:lnTo>
                      <a:close/>
                    </a:path>
                  </a:pathLst>
                </a:custGeom>
                <a:solidFill>
                  <a:schemeClr val="bg1"/>
                </a:solidFill>
                <a:ln w="19050">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1" name="Freeform 20"/>
                <p:cNvSpPr/>
                <p:nvPr/>
              </p:nvSpPr>
              <p:spPr>
                <a:xfrm rot="20021754">
                  <a:off x="2054359" y="3161328"/>
                  <a:ext cx="403626" cy="168587"/>
                </a:xfrm>
                <a:custGeom>
                  <a:avLst/>
                  <a:gdLst>
                    <a:gd name="connsiteX0" fmla="*/ 99307 w 541041"/>
                    <a:gd name="connsiteY0" fmla="*/ 54263 h 225982"/>
                    <a:gd name="connsiteX1" fmla="*/ 136175 w 541041"/>
                    <a:gd name="connsiteY1" fmla="*/ 104206 h 225982"/>
                    <a:gd name="connsiteX2" fmla="*/ 103289 w 541041"/>
                    <a:gd name="connsiteY2" fmla="*/ 170735 h 225982"/>
                    <a:gd name="connsiteX3" fmla="*/ 38879 w 541041"/>
                    <a:gd name="connsiteY3" fmla="*/ 171028 h 225982"/>
                    <a:gd name="connsiteX4" fmla="*/ 0 w 541041"/>
                    <a:gd name="connsiteY4" fmla="*/ 119677 h 225982"/>
                    <a:gd name="connsiteX5" fmla="*/ 33698 w 541041"/>
                    <a:gd name="connsiteY5" fmla="*/ 51507 h 225982"/>
                    <a:gd name="connsiteX6" fmla="*/ 43218 w 541041"/>
                    <a:gd name="connsiteY6" fmla="*/ 51464 h 225982"/>
                    <a:gd name="connsiteX7" fmla="*/ 43218 w 541041"/>
                    <a:gd name="connsiteY7" fmla="*/ 53838 h 225982"/>
                    <a:gd name="connsiteX8" fmla="*/ 504723 w 541041"/>
                    <a:gd name="connsiteY8" fmla="*/ 53019 h 225982"/>
                    <a:gd name="connsiteX9" fmla="*/ 541041 w 541041"/>
                    <a:gd name="connsiteY9" fmla="*/ 107811 h 225982"/>
                    <a:gd name="connsiteX10" fmla="*/ 481576 w 541041"/>
                    <a:gd name="connsiteY10" fmla="*/ 167276 h 225982"/>
                    <a:gd name="connsiteX11" fmla="*/ 171988 w 541041"/>
                    <a:gd name="connsiteY11" fmla="*/ 167276 h 225982"/>
                    <a:gd name="connsiteX12" fmla="*/ 143860 w 541041"/>
                    <a:gd name="connsiteY12" fmla="*/ 202747 h 225982"/>
                    <a:gd name="connsiteX13" fmla="*/ 99545 w 541041"/>
                    <a:gd name="connsiteY13" fmla="*/ 225955 h 225982"/>
                    <a:gd name="connsiteX14" fmla="*/ 99000 w 541041"/>
                    <a:gd name="connsiteY14" fmla="*/ 225982 h 225982"/>
                    <a:gd name="connsiteX15" fmla="*/ 66761 w 541041"/>
                    <a:gd name="connsiteY15" fmla="*/ 217441 h 225982"/>
                    <a:gd name="connsiteX16" fmla="*/ 43218 w 541041"/>
                    <a:gd name="connsiteY16" fmla="*/ 199021 h 225982"/>
                    <a:gd name="connsiteX17" fmla="*/ 43218 w 541041"/>
                    <a:gd name="connsiteY17" fmla="*/ 173385 h 225982"/>
                    <a:gd name="connsiteX18" fmla="*/ 103037 w 541041"/>
                    <a:gd name="connsiteY18" fmla="*/ 173839 h 225982"/>
                    <a:gd name="connsiteX19" fmla="*/ 137561 w 541041"/>
                    <a:gd name="connsiteY19" fmla="*/ 106083 h 225982"/>
                    <a:gd name="connsiteX20" fmla="*/ 136175 w 541041"/>
                    <a:gd name="connsiteY20" fmla="*/ 104206 h 225982"/>
                    <a:gd name="connsiteX21" fmla="*/ 136987 w 541041"/>
                    <a:gd name="connsiteY21" fmla="*/ 102565 h 225982"/>
                    <a:gd name="connsiteX22" fmla="*/ 98106 w 541041"/>
                    <a:gd name="connsiteY22" fmla="*/ 51213 h 225982"/>
                    <a:gd name="connsiteX23" fmla="*/ 43218 w 541041"/>
                    <a:gd name="connsiteY23" fmla="*/ 51464 h 225982"/>
                    <a:gd name="connsiteX24" fmla="*/ 43218 w 541041"/>
                    <a:gd name="connsiteY24" fmla="*/ 22915 h 225982"/>
                    <a:gd name="connsiteX25" fmla="*/ 77964 w 541041"/>
                    <a:gd name="connsiteY25" fmla="*/ 1110 h 225982"/>
                    <a:gd name="connsiteX26" fmla="*/ 85046 w 541041"/>
                    <a:gd name="connsiteY26" fmla="*/ 0 h 225982"/>
                    <a:gd name="connsiteX27" fmla="*/ 121741 w 541041"/>
                    <a:gd name="connsiteY27" fmla="*/ 10236 h 225982"/>
                    <a:gd name="connsiteX28" fmla="*/ 157909 w 541041"/>
                    <a:gd name="connsiteY28" fmla="*/ 38916 h 225982"/>
                    <a:gd name="connsiteX29" fmla="*/ 163138 w 541041"/>
                    <a:gd name="connsiteY29" fmla="*/ 48346 h 225982"/>
                    <a:gd name="connsiteX30" fmla="*/ 481576 w 541041"/>
                    <a:gd name="connsiteY30" fmla="*/ 48346 h 225982"/>
                    <a:gd name="connsiteX31" fmla="*/ 504723 w 541041"/>
                    <a:gd name="connsiteY31" fmla="*/ 53019 h 22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41041" h="225982">
                      <a:moveTo>
                        <a:pt x="99307" y="54263"/>
                      </a:moveTo>
                      <a:lnTo>
                        <a:pt x="136175" y="104206"/>
                      </a:lnTo>
                      <a:lnTo>
                        <a:pt x="103289" y="170735"/>
                      </a:lnTo>
                      <a:lnTo>
                        <a:pt x="38879" y="171028"/>
                      </a:lnTo>
                      <a:lnTo>
                        <a:pt x="0" y="119677"/>
                      </a:lnTo>
                      <a:lnTo>
                        <a:pt x="33698" y="51507"/>
                      </a:lnTo>
                      <a:lnTo>
                        <a:pt x="43218" y="51464"/>
                      </a:lnTo>
                      <a:lnTo>
                        <a:pt x="43218" y="53838"/>
                      </a:lnTo>
                      <a:close/>
                      <a:moveTo>
                        <a:pt x="504723" y="53019"/>
                      </a:moveTo>
                      <a:cubicBezTo>
                        <a:pt x="526066" y="62046"/>
                        <a:pt x="541041" y="83180"/>
                        <a:pt x="541041" y="107811"/>
                      </a:cubicBezTo>
                      <a:cubicBezTo>
                        <a:pt x="541041" y="140653"/>
                        <a:pt x="514418" y="167276"/>
                        <a:pt x="481576" y="167276"/>
                      </a:cubicBezTo>
                      <a:lnTo>
                        <a:pt x="171988" y="167276"/>
                      </a:lnTo>
                      <a:lnTo>
                        <a:pt x="143860" y="202747"/>
                      </a:lnTo>
                      <a:cubicBezTo>
                        <a:pt x="130861" y="213683"/>
                        <a:pt x="115692" y="221548"/>
                        <a:pt x="99545" y="225955"/>
                      </a:cubicBezTo>
                      <a:lnTo>
                        <a:pt x="99000" y="225982"/>
                      </a:lnTo>
                      <a:lnTo>
                        <a:pt x="66761" y="217441"/>
                      </a:lnTo>
                      <a:lnTo>
                        <a:pt x="43218" y="199021"/>
                      </a:lnTo>
                      <a:lnTo>
                        <a:pt x="43218" y="173385"/>
                      </a:lnTo>
                      <a:lnTo>
                        <a:pt x="103037" y="173839"/>
                      </a:lnTo>
                      <a:lnTo>
                        <a:pt x="137561" y="106083"/>
                      </a:lnTo>
                      <a:lnTo>
                        <a:pt x="136175" y="104206"/>
                      </a:lnTo>
                      <a:lnTo>
                        <a:pt x="136987" y="102565"/>
                      </a:lnTo>
                      <a:lnTo>
                        <a:pt x="98106" y="51213"/>
                      </a:lnTo>
                      <a:lnTo>
                        <a:pt x="43218" y="51464"/>
                      </a:lnTo>
                      <a:lnTo>
                        <a:pt x="43218" y="22915"/>
                      </a:lnTo>
                      <a:lnTo>
                        <a:pt x="77964" y="1110"/>
                      </a:lnTo>
                      <a:lnTo>
                        <a:pt x="85046" y="0"/>
                      </a:lnTo>
                      <a:lnTo>
                        <a:pt x="121741" y="10236"/>
                      </a:lnTo>
                      <a:cubicBezTo>
                        <a:pt x="136041" y="17522"/>
                        <a:pt x="148188" y="27361"/>
                        <a:pt x="157909" y="38916"/>
                      </a:cubicBezTo>
                      <a:lnTo>
                        <a:pt x="163138" y="48346"/>
                      </a:lnTo>
                      <a:lnTo>
                        <a:pt x="481576" y="48346"/>
                      </a:lnTo>
                      <a:cubicBezTo>
                        <a:pt x="489787" y="48346"/>
                        <a:pt x="497608" y="50010"/>
                        <a:pt x="504723" y="53019"/>
                      </a:cubicBezTo>
                      <a:close/>
                    </a:path>
                  </a:pathLst>
                </a:cu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22" name="Hexagon 21"/>
                <p:cNvSpPr/>
                <p:nvPr/>
              </p:nvSpPr>
              <p:spPr>
                <a:xfrm rot="16200000">
                  <a:off x="2067787" y="3266584"/>
                  <a:ext cx="102880" cy="89052"/>
                </a:xfrm>
                <a:prstGeom prst="hexagon">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grpSp>
      </p:grpSp>
      <p:grpSp>
        <p:nvGrpSpPr>
          <p:cNvPr id="195" name="Group 194"/>
          <p:cNvGrpSpPr/>
          <p:nvPr/>
        </p:nvGrpSpPr>
        <p:grpSpPr>
          <a:xfrm>
            <a:off x="5521305" y="516046"/>
            <a:ext cx="2745258" cy="1454951"/>
            <a:chOff x="5140305" y="516046"/>
            <a:chExt cx="2745258" cy="1454951"/>
          </a:xfrm>
        </p:grpSpPr>
        <p:grpSp>
          <p:nvGrpSpPr>
            <p:cNvPr id="41" name="Process B"/>
            <p:cNvGrpSpPr/>
            <p:nvPr/>
          </p:nvGrpSpPr>
          <p:grpSpPr>
            <a:xfrm flipH="1">
              <a:off x="5140305" y="516046"/>
              <a:ext cx="2745258" cy="1234786"/>
              <a:chOff x="5785070" y="298924"/>
              <a:chExt cx="2745258" cy="1700610"/>
            </a:xfrm>
          </p:grpSpPr>
          <p:sp>
            <p:nvSpPr>
              <p:cNvPr id="32" name="Process B3"/>
              <p:cNvSpPr/>
              <p:nvPr/>
            </p:nvSpPr>
            <p:spPr>
              <a:xfrm>
                <a:off x="5785070" y="298924"/>
                <a:ext cx="2440458" cy="1395810"/>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39" name="Process B2"/>
              <p:cNvSpPr/>
              <p:nvPr/>
            </p:nvSpPr>
            <p:spPr>
              <a:xfrm>
                <a:off x="5937470" y="451324"/>
                <a:ext cx="2440458" cy="1395810"/>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40" name="Process B1"/>
              <p:cNvSpPr/>
              <p:nvPr/>
            </p:nvSpPr>
            <p:spPr>
              <a:xfrm>
                <a:off x="6089870" y="603724"/>
                <a:ext cx="2440458" cy="1395810"/>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grpSp>
          <p:nvGrpSpPr>
            <p:cNvPr id="33" name="PT Agent B"/>
            <p:cNvGrpSpPr/>
            <p:nvPr/>
          </p:nvGrpSpPr>
          <p:grpSpPr>
            <a:xfrm>
              <a:off x="5247478" y="1501855"/>
              <a:ext cx="1074956" cy="469142"/>
              <a:chOff x="2626646" y="3779254"/>
              <a:chExt cx="1074956" cy="469142"/>
            </a:xfrm>
          </p:grpSpPr>
          <p:sp>
            <p:nvSpPr>
              <p:cNvPr id="34" name="Text"/>
              <p:cNvSpPr/>
              <p:nvPr/>
            </p:nvSpPr>
            <p:spPr>
              <a:xfrm>
                <a:off x="2703536" y="3779254"/>
                <a:ext cx="998066" cy="331980"/>
              </a:xfrm>
              <a:prstGeom prst="rect">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91440" bIns="0" rtlCol="0" anchor="t" anchorCtr="0"/>
              <a:lstStyle/>
              <a:p>
                <a:pPr algn="r"/>
                <a:r>
                  <a:rPr lang="en-US" dirty="0" smtClean="0">
                    <a:solidFill>
                      <a:schemeClr val="tx1"/>
                    </a:solidFill>
                  </a:rPr>
                  <a:t>PT Agent</a:t>
                </a:r>
                <a:endParaRPr lang="en-US" dirty="0">
                  <a:solidFill>
                    <a:schemeClr val="tx1"/>
                  </a:solidFill>
                </a:endParaRPr>
              </a:p>
            </p:txBody>
          </p:sp>
          <p:grpSp>
            <p:nvGrpSpPr>
              <p:cNvPr id="35" name="Group 34"/>
              <p:cNvGrpSpPr/>
              <p:nvPr/>
            </p:nvGrpSpPr>
            <p:grpSpPr>
              <a:xfrm rot="878394">
                <a:off x="2626646" y="3986085"/>
                <a:ext cx="442659" cy="262311"/>
                <a:chOff x="2015326" y="3161328"/>
                <a:chExt cx="442659" cy="262311"/>
              </a:xfrm>
            </p:grpSpPr>
            <p:sp>
              <p:nvSpPr>
                <p:cNvPr id="36" name="Freeform 35"/>
                <p:cNvSpPr/>
                <p:nvPr/>
              </p:nvSpPr>
              <p:spPr>
                <a:xfrm>
                  <a:off x="2015326" y="3198159"/>
                  <a:ext cx="207804" cy="225480"/>
                </a:xfrm>
                <a:custGeom>
                  <a:avLst/>
                  <a:gdLst>
                    <a:gd name="connsiteX0" fmla="*/ 250470 w 278551"/>
                    <a:gd name="connsiteY0" fmla="*/ 185740 h 302245"/>
                    <a:gd name="connsiteX1" fmla="*/ 278551 w 278551"/>
                    <a:gd name="connsiteY1" fmla="*/ 212135 h 302245"/>
                    <a:gd name="connsiteX2" fmla="*/ 261752 w 278551"/>
                    <a:gd name="connsiteY2" fmla="*/ 241233 h 302245"/>
                    <a:gd name="connsiteX3" fmla="*/ 225317 w 278551"/>
                    <a:gd name="connsiteY3" fmla="*/ 230252 h 302245"/>
                    <a:gd name="connsiteX4" fmla="*/ 247440 w 278551"/>
                    <a:gd name="connsiteY4" fmla="*/ 199863 h 302245"/>
                    <a:gd name="connsiteX5" fmla="*/ 139274 w 278551"/>
                    <a:gd name="connsiteY5" fmla="*/ 84295 h 302245"/>
                    <a:gd name="connsiteX6" fmla="*/ 196885 w 278551"/>
                    <a:gd name="connsiteY6" fmla="*/ 113100 h 302245"/>
                    <a:gd name="connsiteX7" fmla="*/ 196884 w 278551"/>
                    <a:gd name="connsiteY7" fmla="*/ 114931 h 302245"/>
                    <a:gd name="connsiteX8" fmla="*/ 141702 w 278551"/>
                    <a:gd name="connsiteY8" fmla="*/ 86497 h 302245"/>
                    <a:gd name="connsiteX9" fmla="*/ 91232 w 278551"/>
                    <a:gd name="connsiteY9" fmla="*/ 110971 h 302245"/>
                    <a:gd name="connsiteX10" fmla="*/ 90180 w 278551"/>
                    <a:gd name="connsiteY10" fmla="*/ 108843 h 302245"/>
                    <a:gd name="connsiteX11" fmla="*/ 93907 w 278551"/>
                    <a:gd name="connsiteY11" fmla="*/ 56612 h 302245"/>
                    <a:gd name="connsiteX12" fmla="*/ 77529 w 278551"/>
                    <a:gd name="connsiteY12" fmla="*/ 83250 h 302245"/>
                    <a:gd name="connsiteX13" fmla="*/ 90180 w 278551"/>
                    <a:gd name="connsiteY13" fmla="*/ 108843 h 302245"/>
                    <a:gd name="connsiteX14" fmla="*/ 81665 w 278551"/>
                    <a:gd name="connsiteY14" fmla="*/ 113100 h 302245"/>
                    <a:gd name="connsiteX15" fmla="*/ 81665 w 278551"/>
                    <a:gd name="connsiteY15" fmla="*/ 189144 h 302245"/>
                    <a:gd name="connsiteX16" fmla="*/ 139274 w 278551"/>
                    <a:gd name="connsiteY16" fmla="*/ 217949 h 302245"/>
                    <a:gd name="connsiteX17" fmla="*/ 196884 w 278551"/>
                    <a:gd name="connsiteY17" fmla="*/ 189144 h 302245"/>
                    <a:gd name="connsiteX18" fmla="*/ 196884 w 278551"/>
                    <a:gd name="connsiteY18" fmla="*/ 114931 h 302245"/>
                    <a:gd name="connsiteX19" fmla="*/ 198958 w 278551"/>
                    <a:gd name="connsiteY19" fmla="*/ 115999 h 302245"/>
                    <a:gd name="connsiteX20" fmla="*/ 198034 w 278551"/>
                    <a:gd name="connsiteY20" fmla="*/ 192038 h 302245"/>
                    <a:gd name="connsiteX21" fmla="*/ 144208 w 278551"/>
                    <a:gd name="connsiteY21" fmla="*/ 218139 h 302245"/>
                    <a:gd name="connsiteX22" fmla="*/ 155568 w 278551"/>
                    <a:gd name="connsiteY22" fmla="*/ 241121 h 302245"/>
                    <a:gd name="connsiteX23" fmla="*/ 182697 w 278551"/>
                    <a:gd name="connsiteY23" fmla="*/ 246757 h 302245"/>
                    <a:gd name="connsiteX24" fmla="*/ 166987 w 278551"/>
                    <a:gd name="connsiteY24" fmla="*/ 255827 h 302245"/>
                    <a:gd name="connsiteX25" fmla="*/ 156075 w 278551"/>
                    <a:gd name="connsiteY25" fmla="*/ 302245 h 302245"/>
                    <a:gd name="connsiteX26" fmla="*/ 122476 w 278551"/>
                    <a:gd name="connsiteY26" fmla="*/ 302245 h 302245"/>
                    <a:gd name="connsiteX27" fmla="*/ 111565 w 278551"/>
                    <a:gd name="connsiteY27" fmla="*/ 255827 h 302245"/>
                    <a:gd name="connsiteX28" fmla="*/ 62455 w 278551"/>
                    <a:gd name="connsiteY28" fmla="*/ 227473 h 302245"/>
                    <a:gd name="connsiteX29" fmla="*/ 16799 w 278551"/>
                    <a:gd name="connsiteY29" fmla="*/ 241233 h 302245"/>
                    <a:gd name="connsiteX30" fmla="*/ 0 w 278551"/>
                    <a:gd name="connsiteY30" fmla="*/ 212135 h 302245"/>
                    <a:gd name="connsiteX31" fmla="*/ 34743 w 278551"/>
                    <a:gd name="connsiteY31" fmla="*/ 179476 h 302245"/>
                    <a:gd name="connsiteX32" fmla="*/ 34743 w 278551"/>
                    <a:gd name="connsiteY32" fmla="*/ 122768 h 302245"/>
                    <a:gd name="connsiteX33" fmla="*/ 0 w 278551"/>
                    <a:gd name="connsiteY33" fmla="*/ 90110 h 302245"/>
                    <a:gd name="connsiteX34" fmla="*/ 16799 w 278551"/>
                    <a:gd name="connsiteY34" fmla="*/ 61012 h 302245"/>
                    <a:gd name="connsiteX35" fmla="*/ 62454 w 278551"/>
                    <a:gd name="connsiteY35" fmla="*/ 74772 h 302245"/>
                    <a:gd name="connsiteX36" fmla="*/ 122476 w 278551"/>
                    <a:gd name="connsiteY36" fmla="*/ 0 h 302245"/>
                    <a:gd name="connsiteX37" fmla="*/ 156075 w 278551"/>
                    <a:gd name="connsiteY37" fmla="*/ 0 h 302245"/>
                    <a:gd name="connsiteX38" fmla="*/ 165987 w 278551"/>
                    <a:gd name="connsiteY38" fmla="*/ 42169 h 302245"/>
                    <a:gd name="connsiteX39" fmla="*/ 142303 w 278551"/>
                    <a:gd name="connsiteY39" fmla="*/ 37087 h 302245"/>
                    <a:gd name="connsiteX40" fmla="*/ 112428 w 278551"/>
                    <a:gd name="connsiteY40" fmla="*/ 42742 h 30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78551" h="302245">
                      <a:moveTo>
                        <a:pt x="250470" y="185740"/>
                      </a:moveTo>
                      <a:lnTo>
                        <a:pt x="278551" y="212135"/>
                      </a:lnTo>
                      <a:lnTo>
                        <a:pt x="261752" y="241233"/>
                      </a:lnTo>
                      <a:lnTo>
                        <a:pt x="225317" y="230252"/>
                      </a:lnTo>
                      <a:lnTo>
                        <a:pt x="247440" y="199863"/>
                      </a:lnTo>
                      <a:close/>
                      <a:moveTo>
                        <a:pt x="139274" y="84295"/>
                      </a:moveTo>
                      <a:lnTo>
                        <a:pt x="196885" y="113100"/>
                      </a:lnTo>
                      <a:lnTo>
                        <a:pt x="196884" y="114931"/>
                      </a:lnTo>
                      <a:lnTo>
                        <a:pt x="141702" y="86497"/>
                      </a:lnTo>
                      <a:lnTo>
                        <a:pt x="91232" y="110971"/>
                      </a:lnTo>
                      <a:lnTo>
                        <a:pt x="90180" y="108843"/>
                      </a:lnTo>
                      <a:close/>
                      <a:moveTo>
                        <a:pt x="93907" y="56612"/>
                      </a:moveTo>
                      <a:lnTo>
                        <a:pt x="77529" y="83250"/>
                      </a:lnTo>
                      <a:lnTo>
                        <a:pt x="90180" y="108843"/>
                      </a:lnTo>
                      <a:lnTo>
                        <a:pt x="81665" y="113100"/>
                      </a:lnTo>
                      <a:lnTo>
                        <a:pt x="81665" y="189144"/>
                      </a:lnTo>
                      <a:lnTo>
                        <a:pt x="139274" y="217949"/>
                      </a:lnTo>
                      <a:lnTo>
                        <a:pt x="196884" y="189144"/>
                      </a:lnTo>
                      <a:lnTo>
                        <a:pt x="196884" y="114931"/>
                      </a:lnTo>
                      <a:lnTo>
                        <a:pt x="198958" y="115999"/>
                      </a:lnTo>
                      <a:lnTo>
                        <a:pt x="198034" y="192038"/>
                      </a:lnTo>
                      <a:lnTo>
                        <a:pt x="144208" y="218139"/>
                      </a:lnTo>
                      <a:lnTo>
                        <a:pt x="155568" y="241121"/>
                      </a:lnTo>
                      <a:lnTo>
                        <a:pt x="182697" y="246757"/>
                      </a:lnTo>
                      <a:lnTo>
                        <a:pt x="166987" y="255827"/>
                      </a:lnTo>
                      <a:lnTo>
                        <a:pt x="156075" y="302245"/>
                      </a:lnTo>
                      <a:lnTo>
                        <a:pt x="122476" y="302245"/>
                      </a:lnTo>
                      <a:lnTo>
                        <a:pt x="111565" y="255827"/>
                      </a:lnTo>
                      <a:cubicBezTo>
                        <a:pt x="92967" y="250905"/>
                        <a:pt x="76016" y="241118"/>
                        <a:pt x="62455" y="227473"/>
                      </a:cubicBezTo>
                      <a:lnTo>
                        <a:pt x="16799" y="241233"/>
                      </a:lnTo>
                      <a:lnTo>
                        <a:pt x="0" y="212135"/>
                      </a:lnTo>
                      <a:lnTo>
                        <a:pt x="34743" y="179476"/>
                      </a:lnTo>
                      <a:cubicBezTo>
                        <a:pt x="29707" y="160909"/>
                        <a:pt x="29707" y="141335"/>
                        <a:pt x="34743" y="122768"/>
                      </a:cubicBezTo>
                      <a:lnTo>
                        <a:pt x="0" y="90110"/>
                      </a:lnTo>
                      <a:lnTo>
                        <a:pt x="16799" y="61012"/>
                      </a:lnTo>
                      <a:lnTo>
                        <a:pt x="62454" y="74772"/>
                      </a:lnTo>
                      <a:close/>
                      <a:moveTo>
                        <a:pt x="122476" y="0"/>
                      </a:moveTo>
                      <a:lnTo>
                        <a:pt x="156075" y="0"/>
                      </a:lnTo>
                      <a:lnTo>
                        <a:pt x="165987" y="42169"/>
                      </a:lnTo>
                      <a:lnTo>
                        <a:pt x="142303" y="37087"/>
                      </a:lnTo>
                      <a:lnTo>
                        <a:pt x="112428" y="42742"/>
                      </a:lnTo>
                      <a:close/>
                    </a:path>
                  </a:pathLst>
                </a:custGeom>
                <a:solidFill>
                  <a:schemeClr val="bg1"/>
                </a:solidFill>
                <a:ln w="19050">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37" name="Freeform 36"/>
                <p:cNvSpPr/>
                <p:nvPr/>
              </p:nvSpPr>
              <p:spPr>
                <a:xfrm rot="20021754">
                  <a:off x="2054359" y="3161328"/>
                  <a:ext cx="403626" cy="168587"/>
                </a:xfrm>
                <a:custGeom>
                  <a:avLst/>
                  <a:gdLst>
                    <a:gd name="connsiteX0" fmla="*/ 99307 w 541041"/>
                    <a:gd name="connsiteY0" fmla="*/ 54263 h 225982"/>
                    <a:gd name="connsiteX1" fmla="*/ 136175 w 541041"/>
                    <a:gd name="connsiteY1" fmla="*/ 104206 h 225982"/>
                    <a:gd name="connsiteX2" fmla="*/ 103289 w 541041"/>
                    <a:gd name="connsiteY2" fmla="*/ 170735 h 225982"/>
                    <a:gd name="connsiteX3" fmla="*/ 38879 w 541041"/>
                    <a:gd name="connsiteY3" fmla="*/ 171028 h 225982"/>
                    <a:gd name="connsiteX4" fmla="*/ 0 w 541041"/>
                    <a:gd name="connsiteY4" fmla="*/ 119677 h 225982"/>
                    <a:gd name="connsiteX5" fmla="*/ 33698 w 541041"/>
                    <a:gd name="connsiteY5" fmla="*/ 51507 h 225982"/>
                    <a:gd name="connsiteX6" fmla="*/ 43218 w 541041"/>
                    <a:gd name="connsiteY6" fmla="*/ 51464 h 225982"/>
                    <a:gd name="connsiteX7" fmla="*/ 43218 w 541041"/>
                    <a:gd name="connsiteY7" fmla="*/ 53838 h 225982"/>
                    <a:gd name="connsiteX8" fmla="*/ 504723 w 541041"/>
                    <a:gd name="connsiteY8" fmla="*/ 53019 h 225982"/>
                    <a:gd name="connsiteX9" fmla="*/ 541041 w 541041"/>
                    <a:gd name="connsiteY9" fmla="*/ 107811 h 225982"/>
                    <a:gd name="connsiteX10" fmla="*/ 481576 w 541041"/>
                    <a:gd name="connsiteY10" fmla="*/ 167276 h 225982"/>
                    <a:gd name="connsiteX11" fmla="*/ 171988 w 541041"/>
                    <a:gd name="connsiteY11" fmla="*/ 167276 h 225982"/>
                    <a:gd name="connsiteX12" fmla="*/ 143860 w 541041"/>
                    <a:gd name="connsiteY12" fmla="*/ 202747 h 225982"/>
                    <a:gd name="connsiteX13" fmla="*/ 99545 w 541041"/>
                    <a:gd name="connsiteY13" fmla="*/ 225955 h 225982"/>
                    <a:gd name="connsiteX14" fmla="*/ 99000 w 541041"/>
                    <a:gd name="connsiteY14" fmla="*/ 225982 h 225982"/>
                    <a:gd name="connsiteX15" fmla="*/ 66761 w 541041"/>
                    <a:gd name="connsiteY15" fmla="*/ 217441 h 225982"/>
                    <a:gd name="connsiteX16" fmla="*/ 43218 w 541041"/>
                    <a:gd name="connsiteY16" fmla="*/ 199021 h 225982"/>
                    <a:gd name="connsiteX17" fmla="*/ 43218 w 541041"/>
                    <a:gd name="connsiteY17" fmla="*/ 173385 h 225982"/>
                    <a:gd name="connsiteX18" fmla="*/ 103037 w 541041"/>
                    <a:gd name="connsiteY18" fmla="*/ 173839 h 225982"/>
                    <a:gd name="connsiteX19" fmla="*/ 137561 w 541041"/>
                    <a:gd name="connsiteY19" fmla="*/ 106083 h 225982"/>
                    <a:gd name="connsiteX20" fmla="*/ 136175 w 541041"/>
                    <a:gd name="connsiteY20" fmla="*/ 104206 h 225982"/>
                    <a:gd name="connsiteX21" fmla="*/ 136987 w 541041"/>
                    <a:gd name="connsiteY21" fmla="*/ 102565 h 225982"/>
                    <a:gd name="connsiteX22" fmla="*/ 98106 w 541041"/>
                    <a:gd name="connsiteY22" fmla="*/ 51213 h 225982"/>
                    <a:gd name="connsiteX23" fmla="*/ 43218 w 541041"/>
                    <a:gd name="connsiteY23" fmla="*/ 51464 h 225982"/>
                    <a:gd name="connsiteX24" fmla="*/ 43218 w 541041"/>
                    <a:gd name="connsiteY24" fmla="*/ 22915 h 225982"/>
                    <a:gd name="connsiteX25" fmla="*/ 77964 w 541041"/>
                    <a:gd name="connsiteY25" fmla="*/ 1110 h 225982"/>
                    <a:gd name="connsiteX26" fmla="*/ 85046 w 541041"/>
                    <a:gd name="connsiteY26" fmla="*/ 0 h 225982"/>
                    <a:gd name="connsiteX27" fmla="*/ 121741 w 541041"/>
                    <a:gd name="connsiteY27" fmla="*/ 10236 h 225982"/>
                    <a:gd name="connsiteX28" fmla="*/ 157909 w 541041"/>
                    <a:gd name="connsiteY28" fmla="*/ 38916 h 225982"/>
                    <a:gd name="connsiteX29" fmla="*/ 163138 w 541041"/>
                    <a:gd name="connsiteY29" fmla="*/ 48346 h 225982"/>
                    <a:gd name="connsiteX30" fmla="*/ 481576 w 541041"/>
                    <a:gd name="connsiteY30" fmla="*/ 48346 h 225982"/>
                    <a:gd name="connsiteX31" fmla="*/ 504723 w 541041"/>
                    <a:gd name="connsiteY31" fmla="*/ 53019 h 22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41041" h="225982">
                      <a:moveTo>
                        <a:pt x="99307" y="54263"/>
                      </a:moveTo>
                      <a:lnTo>
                        <a:pt x="136175" y="104206"/>
                      </a:lnTo>
                      <a:lnTo>
                        <a:pt x="103289" y="170735"/>
                      </a:lnTo>
                      <a:lnTo>
                        <a:pt x="38879" y="171028"/>
                      </a:lnTo>
                      <a:lnTo>
                        <a:pt x="0" y="119677"/>
                      </a:lnTo>
                      <a:lnTo>
                        <a:pt x="33698" y="51507"/>
                      </a:lnTo>
                      <a:lnTo>
                        <a:pt x="43218" y="51464"/>
                      </a:lnTo>
                      <a:lnTo>
                        <a:pt x="43218" y="53838"/>
                      </a:lnTo>
                      <a:close/>
                      <a:moveTo>
                        <a:pt x="504723" y="53019"/>
                      </a:moveTo>
                      <a:cubicBezTo>
                        <a:pt x="526066" y="62046"/>
                        <a:pt x="541041" y="83180"/>
                        <a:pt x="541041" y="107811"/>
                      </a:cubicBezTo>
                      <a:cubicBezTo>
                        <a:pt x="541041" y="140653"/>
                        <a:pt x="514418" y="167276"/>
                        <a:pt x="481576" y="167276"/>
                      </a:cubicBezTo>
                      <a:lnTo>
                        <a:pt x="171988" y="167276"/>
                      </a:lnTo>
                      <a:lnTo>
                        <a:pt x="143860" y="202747"/>
                      </a:lnTo>
                      <a:cubicBezTo>
                        <a:pt x="130861" y="213683"/>
                        <a:pt x="115692" y="221548"/>
                        <a:pt x="99545" y="225955"/>
                      </a:cubicBezTo>
                      <a:lnTo>
                        <a:pt x="99000" y="225982"/>
                      </a:lnTo>
                      <a:lnTo>
                        <a:pt x="66761" y="217441"/>
                      </a:lnTo>
                      <a:lnTo>
                        <a:pt x="43218" y="199021"/>
                      </a:lnTo>
                      <a:lnTo>
                        <a:pt x="43218" y="173385"/>
                      </a:lnTo>
                      <a:lnTo>
                        <a:pt x="103037" y="173839"/>
                      </a:lnTo>
                      <a:lnTo>
                        <a:pt x="137561" y="106083"/>
                      </a:lnTo>
                      <a:lnTo>
                        <a:pt x="136175" y="104206"/>
                      </a:lnTo>
                      <a:lnTo>
                        <a:pt x="136987" y="102565"/>
                      </a:lnTo>
                      <a:lnTo>
                        <a:pt x="98106" y="51213"/>
                      </a:lnTo>
                      <a:lnTo>
                        <a:pt x="43218" y="51464"/>
                      </a:lnTo>
                      <a:lnTo>
                        <a:pt x="43218" y="22915"/>
                      </a:lnTo>
                      <a:lnTo>
                        <a:pt x="77964" y="1110"/>
                      </a:lnTo>
                      <a:lnTo>
                        <a:pt x="85046" y="0"/>
                      </a:lnTo>
                      <a:lnTo>
                        <a:pt x="121741" y="10236"/>
                      </a:lnTo>
                      <a:cubicBezTo>
                        <a:pt x="136041" y="17522"/>
                        <a:pt x="148188" y="27361"/>
                        <a:pt x="157909" y="38916"/>
                      </a:cubicBezTo>
                      <a:lnTo>
                        <a:pt x="163138" y="48346"/>
                      </a:lnTo>
                      <a:lnTo>
                        <a:pt x="481576" y="48346"/>
                      </a:lnTo>
                      <a:cubicBezTo>
                        <a:pt x="489787" y="48346"/>
                        <a:pt x="497608" y="50010"/>
                        <a:pt x="504723" y="53019"/>
                      </a:cubicBezTo>
                      <a:close/>
                    </a:path>
                  </a:pathLst>
                </a:cu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38" name="Hexagon 37"/>
                <p:cNvSpPr/>
                <p:nvPr/>
              </p:nvSpPr>
              <p:spPr>
                <a:xfrm rot="16200000">
                  <a:off x="2067787" y="3266584"/>
                  <a:ext cx="102880" cy="89052"/>
                </a:xfrm>
                <a:prstGeom prst="hexagon">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dirty="0"/>
                </a:p>
              </p:txBody>
            </p:sp>
          </p:grpSp>
        </p:grpSp>
      </p:grpSp>
      <p:sp>
        <p:nvSpPr>
          <p:cNvPr id="42" name="Green Workload"/>
          <p:cNvSpPr/>
          <p:nvPr/>
        </p:nvSpPr>
        <p:spPr>
          <a:xfrm>
            <a:off x="2047635" y="763222"/>
            <a:ext cx="6604000" cy="399484"/>
          </a:xfrm>
          <a:custGeom>
            <a:avLst/>
            <a:gdLst>
              <a:gd name="connsiteX0" fmla="*/ 0 w 6604000"/>
              <a:gd name="connsiteY0" fmla="*/ 0 h 673100"/>
              <a:gd name="connsiteX1" fmla="*/ 2514600 w 6604000"/>
              <a:gd name="connsiteY1" fmla="*/ 0 h 673100"/>
              <a:gd name="connsiteX2" fmla="*/ 3060700 w 6604000"/>
              <a:gd name="connsiteY2" fmla="*/ 673100 h 673100"/>
              <a:gd name="connsiteX3" fmla="*/ 6604000 w 6604000"/>
              <a:gd name="connsiteY3" fmla="*/ 673100 h 673100"/>
            </a:gdLst>
            <a:ahLst/>
            <a:cxnLst>
              <a:cxn ang="0">
                <a:pos x="connsiteX0" y="connsiteY0"/>
              </a:cxn>
              <a:cxn ang="0">
                <a:pos x="connsiteX1" y="connsiteY1"/>
              </a:cxn>
              <a:cxn ang="0">
                <a:pos x="connsiteX2" y="connsiteY2"/>
              </a:cxn>
              <a:cxn ang="0">
                <a:pos x="connsiteX3" y="connsiteY3"/>
              </a:cxn>
            </a:cxnLst>
            <a:rect l="l" t="t" r="r" b="b"/>
            <a:pathLst>
              <a:path w="6604000" h="673100">
                <a:moveTo>
                  <a:pt x="0" y="0"/>
                </a:moveTo>
                <a:lnTo>
                  <a:pt x="2514600" y="0"/>
                </a:lnTo>
                <a:lnTo>
                  <a:pt x="3060700" y="673100"/>
                </a:lnTo>
                <a:lnTo>
                  <a:pt x="6604000" y="673100"/>
                </a:lnTo>
              </a:path>
            </a:pathLst>
          </a:custGeom>
          <a:noFill/>
          <a:ln w="57150">
            <a:solidFill>
              <a:srgbClr val="70AD47"/>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Green Tenant"/>
          <p:cNvSpPr/>
          <p:nvPr/>
        </p:nvSpPr>
        <p:spPr>
          <a:xfrm>
            <a:off x="1295742" y="404444"/>
            <a:ext cx="475862" cy="556102"/>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rgbClr val="70AD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43" name="Yellow Tenant"/>
          <p:cNvSpPr/>
          <p:nvPr/>
        </p:nvSpPr>
        <p:spPr>
          <a:xfrm>
            <a:off x="1448142" y="556844"/>
            <a:ext cx="475862" cy="556102"/>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45" name="Yellow Workload"/>
          <p:cNvSpPr/>
          <p:nvPr/>
        </p:nvSpPr>
        <p:spPr>
          <a:xfrm>
            <a:off x="2200035" y="877522"/>
            <a:ext cx="6451600" cy="399484"/>
          </a:xfrm>
          <a:custGeom>
            <a:avLst/>
            <a:gdLst>
              <a:gd name="connsiteX0" fmla="*/ 0 w 6604000"/>
              <a:gd name="connsiteY0" fmla="*/ 0 h 673100"/>
              <a:gd name="connsiteX1" fmla="*/ 2514600 w 6604000"/>
              <a:gd name="connsiteY1" fmla="*/ 0 h 673100"/>
              <a:gd name="connsiteX2" fmla="*/ 3060700 w 6604000"/>
              <a:gd name="connsiteY2" fmla="*/ 673100 h 673100"/>
              <a:gd name="connsiteX3" fmla="*/ 6604000 w 6604000"/>
              <a:gd name="connsiteY3" fmla="*/ 673100 h 673100"/>
            </a:gdLst>
            <a:ahLst/>
            <a:cxnLst>
              <a:cxn ang="0">
                <a:pos x="connsiteX0" y="connsiteY0"/>
              </a:cxn>
              <a:cxn ang="0">
                <a:pos x="connsiteX1" y="connsiteY1"/>
              </a:cxn>
              <a:cxn ang="0">
                <a:pos x="connsiteX2" y="connsiteY2"/>
              </a:cxn>
              <a:cxn ang="0">
                <a:pos x="connsiteX3" y="connsiteY3"/>
              </a:cxn>
            </a:cxnLst>
            <a:rect l="l" t="t" r="r" b="b"/>
            <a:pathLst>
              <a:path w="6604000" h="673100">
                <a:moveTo>
                  <a:pt x="0" y="0"/>
                </a:moveTo>
                <a:lnTo>
                  <a:pt x="2514600" y="0"/>
                </a:lnTo>
                <a:lnTo>
                  <a:pt x="3060700" y="673100"/>
                </a:lnTo>
                <a:lnTo>
                  <a:pt x="6604000" y="673100"/>
                </a:lnTo>
              </a:path>
            </a:pathLst>
          </a:custGeom>
          <a:noFill/>
          <a:ln w="57150">
            <a:solidFill>
              <a:schemeClr val="accent4"/>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Blue Tenant"/>
          <p:cNvSpPr/>
          <p:nvPr/>
        </p:nvSpPr>
        <p:spPr>
          <a:xfrm>
            <a:off x="1600542" y="709244"/>
            <a:ext cx="475862" cy="556102"/>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46" name="Blue Workload"/>
          <p:cNvSpPr/>
          <p:nvPr/>
        </p:nvSpPr>
        <p:spPr>
          <a:xfrm>
            <a:off x="2352435" y="979122"/>
            <a:ext cx="6299200" cy="399484"/>
          </a:xfrm>
          <a:custGeom>
            <a:avLst/>
            <a:gdLst>
              <a:gd name="connsiteX0" fmla="*/ 0 w 6604000"/>
              <a:gd name="connsiteY0" fmla="*/ 0 h 673100"/>
              <a:gd name="connsiteX1" fmla="*/ 2514600 w 6604000"/>
              <a:gd name="connsiteY1" fmla="*/ 0 h 673100"/>
              <a:gd name="connsiteX2" fmla="*/ 3060700 w 6604000"/>
              <a:gd name="connsiteY2" fmla="*/ 673100 h 673100"/>
              <a:gd name="connsiteX3" fmla="*/ 6604000 w 6604000"/>
              <a:gd name="connsiteY3" fmla="*/ 673100 h 673100"/>
            </a:gdLst>
            <a:ahLst/>
            <a:cxnLst>
              <a:cxn ang="0">
                <a:pos x="connsiteX0" y="connsiteY0"/>
              </a:cxn>
              <a:cxn ang="0">
                <a:pos x="connsiteX1" y="connsiteY1"/>
              </a:cxn>
              <a:cxn ang="0">
                <a:pos x="connsiteX2" y="connsiteY2"/>
              </a:cxn>
              <a:cxn ang="0">
                <a:pos x="connsiteX3" y="connsiteY3"/>
              </a:cxn>
            </a:cxnLst>
            <a:rect l="l" t="t" r="r" b="b"/>
            <a:pathLst>
              <a:path w="6604000" h="673100">
                <a:moveTo>
                  <a:pt x="0" y="0"/>
                </a:moveTo>
                <a:lnTo>
                  <a:pt x="2514600" y="0"/>
                </a:lnTo>
                <a:lnTo>
                  <a:pt x="3060700" y="673100"/>
                </a:lnTo>
                <a:lnTo>
                  <a:pt x="6604000" y="673100"/>
                </a:lnTo>
              </a:path>
            </a:pathLst>
          </a:custGeom>
          <a:noFill/>
          <a:ln w="57150">
            <a:solidFill>
              <a:schemeClr val="accent5"/>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Workloads"/>
          <p:cNvSpPr/>
          <p:nvPr/>
        </p:nvSpPr>
        <p:spPr>
          <a:xfrm rot="2192325">
            <a:off x="771880" y="519055"/>
            <a:ext cx="1569892" cy="836855"/>
          </a:xfrm>
          <a:custGeom>
            <a:avLst/>
            <a:gdLst>
              <a:gd name="connsiteX0" fmla="*/ 0 w 4136325"/>
              <a:gd name="connsiteY0" fmla="*/ 0 h 923330"/>
              <a:gd name="connsiteX1" fmla="*/ 4136325 w 4136325"/>
              <a:gd name="connsiteY1" fmla="*/ 0 h 923330"/>
              <a:gd name="connsiteX2" fmla="*/ 4136325 w 4136325"/>
              <a:gd name="connsiteY2" fmla="*/ 923330 h 923330"/>
              <a:gd name="connsiteX3" fmla="*/ 0 w 4136325"/>
              <a:gd name="connsiteY3" fmla="*/ 923330 h 923330"/>
              <a:gd name="connsiteX4" fmla="*/ 0 w 4136325"/>
              <a:gd name="connsiteY4" fmla="*/ 0 h 923330"/>
              <a:gd name="connsiteX0" fmla="*/ 0 w 4136325"/>
              <a:gd name="connsiteY0" fmla="*/ 347976 h 1271306"/>
              <a:gd name="connsiteX1" fmla="*/ 3852075 w 4136325"/>
              <a:gd name="connsiteY1" fmla="*/ 0 h 1271306"/>
              <a:gd name="connsiteX2" fmla="*/ 4136325 w 4136325"/>
              <a:gd name="connsiteY2" fmla="*/ 1271306 h 1271306"/>
              <a:gd name="connsiteX3" fmla="*/ 0 w 4136325"/>
              <a:gd name="connsiteY3" fmla="*/ 1271306 h 1271306"/>
              <a:gd name="connsiteX4" fmla="*/ 0 w 4136325"/>
              <a:gd name="connsiteY4" fmla="*/ 347976 h 1271306"/>
              <a:gd name="connsiteX0" fmla="*/ 0 w 4136325"/>
              <a:gd name="connsiteY0" fmla="*/ 520695 h 1444025"/>
              <a:gd name="connsiteX1" fmla="*/ 3531683 w 4136325"/>
              <a:gd name="connsiteY1" fmla="*/ 0 h 1444025"/>
              <a:gd name="connsiteX2" fmla="*/ 4136325 w 4136325"/>
              <a:gd name="connsiteY2" fmla="*/ 1444025 h 1444025"/>
              <a:gd name="connsiteX3" fmla="*/ 0 w 4136325"/>
              <a:gd name="connsiteY3" fmla="*/ 1444025 h 1444025"/>
              <a:gd name="connsiteX4" fmla="*/ 0 w 4136325"/>
              <a:gd name="connsiteY4" fmla="*/ 520695 h 1444025"/>
              <a:gd name="connsiteX0" fmla="*/ 0 w 4136325"/>
              <a:gd name="connsiteY0" fmla="*/ 0 h 923330"/>
              <a:gd name="connsiteX1" fmla="*/ 2786017 w 4136325"/>
              <a:gd name="connsiteY1" fmla="*/ 49315 h 923330"/>
              <a:gd name="connsiteX2" fmla="*/ 4136325 w 4136325"/>
              <a:gd name="connsiteY2" fmla="*/ 923330 h 923330"/>
              <a:gd name="connsiteX3" fmla="*/ 0 w 4136325"/>
              <a:gd name="connsiteY3" fmla="*/ 923330 h 923330"/>
              <a:gd name="connsiteX4" fmla="*/ 0 w 4136325"/>
              <a:gd name="connsiteY4" fmla="*/ 0 h 923330"/>
              <a:gd name="connsiteX0" fmla="*/ 0 w 4136325"/>
              <a:gd name="connsiteY0" fmla="*/ 636172 h 1559502"/>
              <a:gd name="connsiteX1" fmla="*/ 3237910 w 4136325"/>
              <a:gd name="connsiteY1" fmla="*/ 0 h 1559502"/>
              <a:gd name="connsiteX2" fmla="*/ 4136325 w 4136325"/>
              <a:gd name="connsiteY2" fmla="*/ 1559502 h 1559502"/>
              <a:gd name="connsiteX3" fmla="*/ 0 w 4136325"/>
              <a:gd name="connsiteY3" fmla="*/ 1559502 h 1559502"/>
              <a:gd name="connsiteX4" fmla="*/ 0 w 4136325"/>
              <a:gd name="connsiteY4" fmla="*/ 636172 h 1559502"/>
              <a:gd name="connsiteX0" fmla="*/ 0 w 4136325"/>
              <a:gd name="connsiteY0" fmla="*/ 1332843 h 2256173"/>
              <a:gd name="connsiteX1" fmla="*/ 3237910 w 4136325"/>
              <a:gd name="connsiteY1" fmla="*/ 696671 h 2256173"/>
              <a:gd name="connsiteX2" fmla="*/ 4136325 w 4136325"/>
              <a:gd name="connsiteY2" fmla="*/ 2256173 h 2256173"/>
              <a:gd name="connsiteX3" fmla="*/ 0 w 4136325"/>
              <a:gd name="connsiteY3" fmla="*/ 2256173 h 2256173"/>
              <a:gd name="connsiteX4" fmla="*/ 0 w 4136325"/>
              <a:gd name="connsiteY4" fmla="*/ 1332843 h 2256173"/>
              <a:gd name="connsiteX0" fmla="*/ 0 w 4136325"/>
              <a:gd name="connsiteY0" fmla="*/ 1862158 h 2785488"/>
              <a:gd name="connsiteX1" fmla="*/ 3237910 w 4136325"/>
              <a:gd name="connsiteY1" fmla="*/ 1225986 h 2785488"/>
              <a:gd name="connsiteX2" fmla="*/ 4136325 w 4136325"/>
              <a:gd name="connsiteY2" fmla="*/ 2785488 h 2785488"/>
              <a:gd name="connsiteX3" fmla="*/ 0 w 4136325"/>
              <a:gd name="connsiteY3" fmla="*/ 2785488 h 2785488"/>
              <a:gd name="connsiteX4" fmla="*/ 0 w 4136325"/>
              <a:gd name="connsiteY4" fmla="*/ 1862158 h 2785488"/>
              <a:gd name="connsiteX0" fmla="*/ 0 w 4136325"/>
              <a:gd name="connsiteY0" fmla="*/ 5753169 h 6676499"/>
              <a:gd name="connsiteX1" fmla="*/ 2307839 w 4136325"/>
              <a:gd name="connsiteY1" fmla="*/ 389248 h 6676499"/>
              <a:gd name="connsiteX2" fmla="*/ 4136325 w 4136325"/>
              <a:gd name="connsiteY2" fmla="*/ 6676499 h 6676499"/>
              <a:gd name="connsiteX3" fmla="*/ 0 w 4136325"/>
              <a:gd name="connsiteY3" fmla="*/ 6676499 h 6676499"/>
              <a:gd name="connsiteX4" fmla="*/ 0 w 4136325"/>
              <a:gd name="connsiteY4" fmla="*/ 5753169 h 6676499"/>
              <a:gd name="connsiteX0" fmla="*/ 0 w 4136325"/>
              <a:gd name="connsiteY0" fmla="*/ 6332577 h 7255907"/>
              <a:gd name="connsiteX1" fmla="*/ 2307839 w 4136325"/>
              <a:gd name="connsiteY1" fmla="*/ 968656 h 7255907"/>
              <a:gd name="connsiteX2" fmla="*/ 4136325 w 4136325"/>
              <a:gd name="connsiteY2" fmla="*/ 7255907 h 7255907"/>
              <a:gd name="connsiteX3" fmla="*/ 0 w 4136325"/>
              <a:gd name="connsiteY3" fmla="*/ 7255907 h 7255907"/>
              <a:gd name="connsiteX4" fmla="*/ 0 w 4136325"/>
              <a:gd name="connsiteY4" fmla="*/ 6332577 h 7255907"/>
              <a:gd name="connsiteX0" fmla="*/ 0 w 4136325"/>
              <a:gd name="connsiteY0" fmla="*/ 8493468 h 9416798"/>
              <a:gd name="connsiteX1" fmla="*/ 2112251 w 4136325"/>
              <a:gd name="connsiteY1" fmla="*/ 795245 h 9416798"/>
              <a:gd name="connsiteX2" fmla="*/ 4136325 w 4136325"/>
              <a:gd name="connsiteY2" fmla="*/ 9416798 h 9416798"/>
              <a:gd name="connsiteX3" fmla="*/ 0 w 4136325"/>
              <a:gd name="connsiteY3" fmla="*/ 9416798 h 9416798"/>
              <a:gd name="connsiteX4" fmla="*/ 0 w 4136325"/>
              <a:gd name="connsiteY4" fmla="*/ 8493468 h 9416798"/>
              <a:gd name="connsiteX0" fmla="*/ 0 w 4441973"/>
              <a:gd name="connsiteY0" fmla="*/ 14348549 h 15271879"/>
              <a:gd name="connsiteX1" fmla="*/ 2112251 w 4441973"/>
              <a:gd name="connsiteY1" fmla="*/ 6650326 h 15271879"/>
              <a:gd name="connsiteX2" fmla="*/ 4086159 w 4441973"/>
              <a:gd name="connsiteY2" fmla="*/ 204397 h 15271879"/>
              <a:gd name="connsiteX3" fmla="*/ 4136325 w 4441973"/>
              <a:gd name="connsiteY3" fmla="*/ 15271879 h 15271879"/>
              <a:gd name="connsiteX4" fmla="*/ 0 w 4441973"/>
              <a:gd name="connsiteY4" fmla="*/ 15271879 h 15271879"/>
              <a:gd name="connsiteX5" fmla="*/ 0 w 4441973"/>
              <a:gd name="connsiteY5" fmla="*/ 14348549 h 15271879"/>
              <a:gd name="connsiteX0" fmla="*/ 0 w 4184088"/>
              <a:gd name="connsiteY0" fmla="*/ 7982667 h 8905997"/>
              <a:gd name="connsiteX1" fmla="*/ 2112251 w 4184088"/>
              <a:gd name="connsiteY1" fmla="*/ 284444 h 8905997"/>
              <a:gd name="connsiteX2" fmla="*/ 4136325 w 4184088"/>
              <a:gd name="connsiteY2" fmla="*/ 8905997 h 8905997"/>
              <a:gd name="connsiteX3" fmla="*/ 0 w 4184088"/>
              <a:gd name="connsiteY3" fmla="*/ 8905997 h 8905997"/>
              <a:gd name="connsiteX4" fmla="*/ 0 w 4184088"/>
              <a:gd name="connsiteY4" fmla="*/ 7982667 h 8905997"/>
              <a:gd name="connsiteX0" fmla="*/ 0 w 4184088"/>
              <a:gd name="connsiteY0" fmla="*/ 8621549 h 8621549"/>
              <a:gd name="connsiteX1" fmla="*/ 2112251 w 4184088"/>
              <a:gd name="connsiteY1" fmla="*/ -4 h 8621549"/>
              <a:gd name="connsiteX2" fmla="*/ 4136325 w 4184088"/>
              <a:gd name="connsiteY2" fmla="*/ 8621549 h 8621549"/>
              <a:gd name="connsiteX3" fmla="*/ 0 w 4184088"/>
              <a:gd name="connsiteY3" fmla="*/ 8621549 h 8621549"/>
              <a:gd name="connsiteX0" fmla="*/ 0 w 4182940"/>
              <a:gd name="connsiteY0" fmla="*/ 8621549 h 8621549"/>
              <a:gd name="connsiteX1" fmla="*/ 2112251 w 4182940"/>
              <a:gd name="connsiteY1" fmla="*/ -4 h 8621549"/>
              <a:gd name="connsiteX2" fmla="*/ 4136325 w 4182940"/>
              <a:gd name="connsiteY2" fmla="*/ 8621549 h 8621549"/>
              <a:gd name="connsiteX3" fmla="*/ 0 w 4182940"/>
              <a:gd name="connsiteY3" fmla="*/ 8621549 h 8621549"/>
            </a:gdLst>
            <a:ahLst/>
            <a:cxnLst>
              <a:cxn ang="0">
                <a:pos x="connsiteX0" y="connsiteY0"/>
              </a:cxn>
              <a:cxn ang="0">
                <a:pos x="connsiteX1" y="connsiteY1"/>
              </a:cxn>
              <a:cxn ang="0">
                <a:pos x="connsiteX2" y="connsiteY2"/>
              </a:cxn>
              <a:cxn ang="0">
                <a:pos x="connsiteX3" y="connsiteY3"/>
              </a:cxn>
            </a:cxnLst>
            <a:rect l="l" t="t" r="r" b="b"/>
            <a:pathLst>
              <a:path w="4182940" h="8621549">
                <a:moveTo>
                  <a:pt x="0" y="8621549"/>
                </a:moveTo>
                <a:lnTo>
                  <a:pt x="2112251" y="-4"/>
                </a:lnTo>
                <a:cubicBezTo>
                  <a:pt x="2751597" y="2701520"/>
                  <a:pt x="4488367" y="7184624"/>
                  <a:pt x="4136325" y="8621549"/>
                </a:cubicBezTo>
                <a:lnTo>
                  <a:pt x="0" y="8621549"/>
                </a:lnTo>
                <a:close/>
              </a:path>
            </a:pathLst>
          </a:custGeom>
          <a:noFill/>
        </p:spPr>
        <p:txBody>
          <a:bodyPr wrap="none" lIns="91440" tIns="45720" rIns="91440" bIns="45720">
            <a:prstTxWarp prst="textArchDown">
              <a:avLst>
                <a:gd name="adj" fmla="val 1667357"/>
              </a:avLst>
            </a:prstTxWarp>
            <a:spAutoFit/>
          </a:bodyPr>
          <a:lstStyle/>
          <a:p>
            <a:pPr algn="ctr"/>
            <a:r>
              <a:rPr lang="en-US" sz="2000" b="0" cap="none" spc="0" dirty="0" smtClean="0">
                <a:ln w="0"/>
                <a:solidFill>
                  <a:schemeClr val="tx1"/>
                </a:solidFill>
              </a:rPr>
              <a:t>Workloads</a:t>
            </a:r>
            <a:endParaRPr lang="en-US" sz="2000" b="0" cap="none" spc="0" dirty="0">
              <a:ln w="0"/>
              <a:solidFill>
                <a:schemeClr val="tx1"/>
              </a:solidFill>
            </a:endParaRPr>
          </a:p>
        </p:txBody>
      </p:sp>
      <p:grpSp>
        <p:nvGrpSpPr>
          <p:cNvPr id="186" name="Instrumented System"/>
          <p:cNvGrpSpPr/>
          <p:nvPr/>
        </p:nvGrpSpPr>
        <p:grpSpPr>
          <a:xfrm>
            <a:off x="2409805" y="-45532"/>
            <a:ext cx="6633414" cy="369332"/>
            <a:chOff x="2028805" y="-25868"/>
            <a:chExt cx="6633414" cy="369332"/>
          </a:xfrm>
        </p:grpSpPr>
        <p:cxnSp>
          <p:nvCxnSpPr>
            <p:cNvPr id="170" name="Straight Connector 169"/>
            <p:cNvCxnSpPr/>
            <p:nvPr/>
          </p:nvCxnSpPr>
          <p:spPr>
            <a:xfrm>
              <a:off x="2055612" y="294968"/>
              <a:ext cx="660660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71" name="TextBox 170"/>
            <p:cNvSpPr txBox="1"/>
            <p:nvPr/>
          </p:nvSpPr>
          <p:spPr>
            <a:xfrm>
              <a:off x="2028805" y="-25868"/>
              <a:ext cx="2180853" cy="369332"/>
            </a:xfrm>
            <a:prstGeom prst="rect">
              <a:avLst/>
            </a:prstGeom>
            <a:noFill/>
          </p:spPr>
          <p:txBody>
            <a:bodyPr wrap="none" rtlCol="0">
              <a:spAutoFit/>
            </a:bodyPr>
            <a:lstStyle/>
            <a:p>
              <a:r>
                <a:rPr lang="en-US" dirty="0" smtClean="0"/>
                <a:t>Instrumented System</a:t>
              </a:r>
              <a:endParaRPr lang="en-US" dirty="0"/>
            </a:p>
          </p:txBody>
        </p:sp>
        <p:sp>
          <p:nvSpPr>
            <p:cNvPr id="173" name="TextBox 172"/>
            <p:cNvSpPr txBox="1"/>
            <p:nvPr/>
          </p:nvSpPr>
          <p:spPr>
            <a:xfrm>
              <a:off x="4222190" y="-25868"/>
              <a:ext cx="370614" cy="369332"/>
            </a:xfrm>
            <a:prstGeom prst="rect">
              <a:avLst/>
            </a:prstGeom>
            <a:noFill/>
          </p:spPr>
          <p:txBody>
            <a:bodyPr wrap="none" rtlCol="0">
              <a:spAutoFit/>
            </a:bodyPr>
            <a:lstStyle/>
            <a:p>
              <a:r>
                <a:rPr lang="en-US" dirty="0" smtClean="0"/>
                <a:t>(+</a:t>
              </a:r>
              <a:endParaRPr lang="en-US" dirty="0"/>
            </a:p>
          </p:txBody>
        </p:sp>
        <p:sp>
          <p:nvSpPr>
            <p:cNvPr id="182" name="Freeform 181"/>
            <p:cNvSpPr/>
            <p:nvPr/>
          </p:nvSpPr>
          <p:spPr>
            <a:xfrm flipH="1">
              <a:off x="4521318" y="48908"/>
              <a:ext cx="268369" cy="219780"/>
            </a:xfrm>
            <a:custGeom>
              <a:avLst/>
              <a:gdLst>
                <a:gd name="connsiteX0" fmla="*/ 205184 w 1161142"/>
                <a:gd name="connsiteY0" fmla="*/ 225311 h 1009083"/>
                <a:gd name="connsiteX1" fmla="*/ 130631 w 1161142"/>
                <a:gd name="connsiteY1" fmla="*/ 225311 h 1009083"/>
                <a:gd name="connsiteX2" fmla="*/ 0 w 1161142"/>
                <a:gd name="connsiteY2" fmla="*/ 355942 h 1009083"/>
                <a:gd name="connsiteX3" fmla="*/ 0 w 1161142"/>
                <a:gd name="connsiteY3" fmla="*/ 878452 h 1009083"/>
                <a:gd name="connsiteX4" fmla="*/ 130631 w 1161142"/>
                <a:gd name="connsiteY4" fmla="*/ 1009083 h 1009083"/>
                <a:gd name="connsiteX5" fmla="*/ 205184 w 1161142"/>
                <a:gd name="connsiteY5" fmla="*/ 1009083 h 1009083"/>
                <a:gd name="connsiteX6" fmla="*/ 1030511 w 1161142"/>
                <a:gd name="connsiteY6" fmla="*/ 225311 h 1009083"/>
                <a:gd name="connsiteX7" fmla="*/ 955958 w 1161142"/>
                <a:gd name="connsiteY7" fmla="*/ 225311 h 1009083"/>
                <a:gd name="connsiteX8" fmla="*/ 955958 w 1161142"/>
                <a:gd name="connsiteY8" fmla="*/ 1009083 h 1009083"/>
                <a:gd name="connsiteX9" fmla="*/ 1030511 w 1161142"/>
                <a:gd name="connsiteY9" fmla="*/ 1009083 h 1009083"/>
                <a:gd name="connsiteX10" fmla="*/ 1161142 w 1161142"/>
                <a:gd name="connsiteY10" fmla="*/ 878452 h 1009083"/>
                <a:gd name="connsiteX11" fmla="*/ 1161142 w 1161142"/>
                <a:gd name="connsiteY11" fmla="*/ 355942 h 1009083"/>
                <a:gd name="connsiteX12" fmla="*/ 1030511 w 1161142"/>
                <a:gd name="connsiteY12" fmla="*/ 225311 h 1009083"/>
                <a:gd name="connsiteX13" fmla="*/ 580571 w 1161142"/>
                <a:gd name="connsiteY13" fmla="*/ 76200 h 1009083"/>
                <a:gd name="connsiteX14" fmla="*/ 729682 w 1161142"/>
                <a:gd name="connsiteY14" fmla="*/ 225311 h 1009083"/>
                <a:gd name="connsiteX15" fmla="*/ 431460 w 1161142"/>
                <a:gd name="connsiteY15" fmla="*/ 225311 h 1009083"/>
                <a:gd name="connsiteX16" fmla="*/ 580571 w 1161142"/>
                <a:gd name="connsiteY16" fmla="*/ 76200 h 1009083"/>
                <a:gd name="connsiteX17" fmla="*/ 580571 w 1161142"/>
                <a:gd name="connsiteY17" fmla="*/ 0 h 1009083"/>
                <a:gd name="connsiteX18" fmla="*/ 355260 w 1161142"/>
                <a:gd name="connsiteY18" fmla="*/ 225311 h 1009083"/>
                <a:gd name="connsiteX19" fmla="*/ 290704 w 1161142"/>
                <a:gd name="connsiteY19" fmla="*/ 225311 h 1009083"/>
                <a:gd name="connsiteX20" fmla="*/ 290704 w 1161142"/>
                <a:gd name="connsiteY20" fmla="*/ 1009083 h 1009083"/>
                <a:gd name="connsiteX21" fmla="*/ 870438 w 1161142"/>
                <a:gd name="connsiteY21" fmla="*/ 1009083 h 1009083"/>
                <a:gd name="connsiteX22" fmla="*/ 870438 w 1161142"/>
                <a:gd name="connsiteY22" fmla="*/ 225311 h 1009083"/>
                <a:gd name="connsiteX23" fmla="*/ 805882 w 1161142"/>
                <a:gd name="connsiteY23" fmla="*/ 225311 h 1009083"/>
                <a:gd name="connsiteX24" fmla="*/ 580571 w 1161142"/>
                <a:gd name="connsiteY24" fmla="*/ 0 h 100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61142" h="1009083">
                  <a:moveTo>
                    <a:pt x="205184" y="225311"/>
                  </a:moveTo>
                  <a:lnTo>
                    <a:pt x="130631" y="225311"/>
                  </a:lnTo>
                  <a:cubicBezTo>
                    <a:pt x="58485" y="225311"/>
                    <a:pt x="0" y="283796"/>
                    <a:pt x="0" y="355942"/>
                  </a:cubicBezTo>
                  <a:lnTo>
                    <a:pt x="0" y="878452"/>
                  </a:lnTo>
                  <a:cubicBezTo>
                    <a:pt x="0" y="950598"/>
                    <a:pt x="58485" y="1009083"/>
                    <a:pt x="130631" y="1009083"/>
                  </a:cubicBezTo>
                  <a:lnTo>
                    <a:pt x="205184" y="1009083"/>
                  </a:lnTo>
                  <a:close/>
                  <a:moveTo>
                    <a:pt x="1030511" y="225311"/>
                  </a:moveTo>
                  <a:lnTo>
                    <a:pt x="955958" y="225311"/>
                  </a:lnTo>
                  <a:lnTo>
                    <a:pt x="955958" y="1009083"/>
                  </a:lnTo>
                  <a:lnTo>
                    <a:pt x="1030511" y="1009083"/>
                  </a:lnTo>
                  <a:cubicBezTo>
                    <a:pt x="1102657" y="1009083"/>
                    <a:pt x="1161142" y="950598"/>
                    <a:pt x="1161142" y="878452"/>
                  </a:cubicBezTo>
                  <a:lnTo>
                    <a:pt x="1161142" y="355942"/>
                  </a:lnTo>
                  <a:cubicBezTo>
                    <a:pt x="1161142" y="283796"/>
                    <a:pt x="1102657" y="225311"/>
                    <a:pt x="1030511" y="225311"/>
                  </a:cubicBezTo>
                  <a:close/>
                  <a:moveTo>
                    <a:pt x="580571" y="76200"/>
                  </a:moveTo>
                  <a:cubicBezTo>
                    <a:pt x="662923" y="76200"/>
                    <a:pt x="729682" y="142959"/>
                    <a:pt x="729682" y="225311"/>
                  </a:cubicBezTo>
                  <a:lnTo>
                    <a:pt x="431460" y="225311"/>
                  </a:lnTo>
                  <a:cubicBezTo>
                    <a:pt x="431460" y="142959"/>
                    <a:pt x="498219" y="76200"/>
                    <a:pt x="580571" y="76200"/>
                  </a:cubicBezTo>
                  <a:close/>
                  <a:moveTo>
                    <a:pt x="580571" y="0"/>
                  </a:moveTo>
                  <a:cubicBezTo>
                    <a:pt x="456135" y="0"/>
                    <a:pt x="355260" y="100875"/>
                    <a:pt x="355260" y="225311"/>
                  </a:cubicBezTo>
                  <a:lnTo>
                    <a:pt x="290704" y="225311"/>
                  </a:lnTo>
                  <a:lnTo>
                    <a:pt x="290704" y="1009083"/>
                  </a:lnTo>
                  <a:lnTo>
                    <a:pt x="870438" y="1009083"/>
                  </a:lnTo>
                  <a:lnTo>
                    <a:pt x="870438" y="225311"/>
                  </a:lnTo>
                  <a:lnTo>
                    <a:pt x="805882" y="225311"/>
                  </a:lnTo>
                  <a:cubicBezTo>
                    <a:pt x="805882" y="100875"/>
                    <a:pt x="705007" y="0"/>
                    <a:pt x="580571"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83" name="TextBox 182"/>
            <p:cNvSpPr txBox="1"/>
            <p:nvPr/>
          </p:nvSpPr>
          <p:spPr>
            <a:xfrm>
              <a:off x="4706823" y="-25868"/>
              <a:ext cx="1132746" cy="369332"/>
            </a:xfrm>
            <a:prstGeom prst="rect">
              <a:avLst/>
            </a:prstGeom>
            <a:noFill/>
          </p:spPr>
          <p:txBody>
            <a:bodyPr wrap="none" rtlCol="0">
              <a:spAutoFit/>
            </a:bodyPr>
            <a:lstStyle/>
            <a:p>
              <a:r>
                <a:rPr lang="en-US" dirty="0" smtClean="0"/>
                <a:t> Baggage, </a:t>
              </a:r>
              <a:endParaRPr lang="en-US" dirty="0"/>
            </a:p>
          </p:txBody>
        </p:sp>
        <p:grpSp>
          <p:nvGrpSpPr>
            <p:cNvPr id="177" name="Group 176"/>
            <p:cNvGrpSpPr/>
            <p:nvPr/>
          </p:nvGrpSpPr>
          <p:grpSpPr>
            <a:xfrm>
              <a:off x="5905195" y="53952"/>
              <a:ext cx="351612" cy="209692"/>
              <a:chOff x="7760681" y="2437731"/>
              <a:chExt cx="456050" cy="271976"/>
            </a:xfrm>
          </p:grpSpPr>
          <p:sp>
            <p:nvSpPr>
              <p:cNvPr id="179" name="Freeform 178"/>
              <p:cNvSpPr/>
              <p:nvPr/>
            </p:nvSpPr>
            <p:spPr>
              <a:xfrm>
                <a:off x="7760681" y="2484227"/>
                <a:ext cx="207804" cy="225480"/>
              </a:xfrm>
              <a:custGeom>
                <a:avLst/>
                <a:gdLst>
                  <a:gd name="connsiteX0" fmla="*/ 250470 w 278551"/>
                  <a:gd name="connsiteY0" fmla="*/ 185740 h 302245"/>
                  <a:gd name="connsiteX1" fmla="*/ 278551 w 278551"/>
                  <a:gd name="connsiteY1" fmla="*/ 212135 h 302245"/>
                  <a:gd name="connsiteX2" fmla="*/ 261752 w 278551"/>
                  <a:gd name="connsiteY2" fmla="*/ 241233 h 302245"/>
                  <a:gd name="connsiteX3" fmla="*/ 225317 w 278551"/>
                  <a:gd name="connsiteY3" fmla="*/ 230252 h 302245"/>
                  <a:gd name="connsiteX4" fmla="*/ 247440 w 278551"/>
                  <a:gd name="connsiteY4" fmla="*/ 199863 h 302245"/>
                  <a:gd name="connsiteX5" fmla="*/ 139274 w 278551"/>
                  <a:gd name="connsiteY5" fmla="*/ 84295 h 302245"/>
                  <a:gd name="connsiteX6" fmla="*/ 196885 w 278551"/>
                  <a:gd name="connsiteY6" fmla="*/ 113100 h 302245"/>
                  <a:gd name="connsiteX7" fmla="*/ 196884 w 278551"/>
                  <a:gd name="connsiteY7" fmla="*/ 114931 h 302245"/>
                  <a:gd name="connsiteX8" fmla="*/ 141702 w 278551"/>
                  <a:gd name="connsiteY8" fmla="*/ 86497 h 302245"/>
                  <a:gd name="connsiteX9" fmla="*/ 91232 w 278551"/>
                  <a:gd name="connsiteY9" fmla="*/ 110971 h 302245"/>
                  <a:gd name="connsiteX10" fmla="*/ 90180 w 278551"/>
                  <a:gd name="connsiteY10" fmla="*/ 108843 h 302245"/>
                  <a:gd name="connsiteX11" fmla="*/ 93907 w 278551"/>
                  <a:gd name="connsiteY11" fmla="*/ 56612 h 302245"/>
                  <a:gd name="connsiteX12" fmla="*/ 77529 w 278551"/>
                  <a:gd name="connsiteY12" fmla="*/ 83250 h 302245"/>
                  <a:gd name="connsiteX13" fmla="*/ 90180 w 278551"/>
                  <a:gd name="connsiteY13" fmla="*/ 108843 h 302245"/>
                  <a:gd name="connsiteX14" fmla="*/ 81665 w 278551"/>
                  <a:gd name="connsiteY14" fmla="*/ 113100 h 302245"/>
                  <a:gd name="connsiteX15" fmla="*/ 81665 w 278551"/>
                  <a:gd name="connsiteY15" fmla="*/ 189144 h 302245"/>
                  <a:gd name="connsiteX16" fmla="*/ 139274 w 278551"/>
                  <a:gd name="connsiteY16" fmla="*/ 217949 h 302245"/>
                  <a:gd name="connsiteX17" fmla="*/ 196884 w 278551"/>
                  <a:gd name="connsiteY17" fmla="*/ 189144 h 302245"/>
                  <a:gd name="connsiteX18" fmla="*/ 196884 w 278551"/>
                  <a:gd name="connsiteY18" fmla="*/ 114931 h 302245"/>
                  <a:gd name="connsiteX19" fmla="*/ 198958 w 278551"/>
                  <a:gd name="connsiteY19" fmla="*/ 115999 h 302245"/>
                  <a:gd name="connsiteX20" fmla="*/ 198034 w 278551"/>
                  <a:gd name="connsiteY20" fmla="*/ 192038 h 302245"/>
                  <a:gd name="connsiteX21" fmla="*/ 144208 w 278551"/>
                  <a:gd name="connsiteY21" fmla="*/ 218139 h 302245"/>
                  <a:gd name="connsiteX22" fmla="*/ 155568 w 278551"/>
                  <a:gd name="connsiteY22" fmla="*/ 241121 h 302245"/>
                  <a:gd name="connsiteX23" fmla="*/ 182697 w 278551"/>
                  <a:gd name="connsiteY23" fmla="*/ 246757 h 302245"/>
                  <a:gd name="connsiteX24" fmla="*/ 166987 w 278551"/>
                  <a:gd name="connsiteY24" fmla="*/ 255827 h 302245"/>
                  <a:gd name="connsiteX25" fmla="*/ 156075 w 278551"/>
                  <a:gd name="connsiteY25" fmla="*/ 302245 h 302245"/>
                  <a:gd name="connsiteX26" fmla="*/ 122476 w 278551"/>
                  <a:gd name="connsiteY26" fmla="*/ 302245 h 302245"/>
                  <a:gd name="connsiteX27" fmla="*/ 111565 w 278551"/>
                  <a:gd name="connsiteY27" fmla="*/ 255827 h 302245"/>
                  <a:gd name="connsiteX28" fmla="*/ 62455 w 278551"/>
                  <a:gd name="connsiteY28" fmla="*/ 227473 h 302245"/>
                  <a:gd name="connsiteX29" fmla="*/ 16799 w 278551"/>
                  <a:gd name="connsiteY29" fmla="*/ 241233 h 302245"/>
                  <a:gd name="connsiteX30" fmla="*/ 0 w 278551"/>
                  <a:gd name="connsiteY30" fmla="*/ 212135 h 302245"/>
                  <a:gd name="connsiteX31" fmla="*/ 34743 w 278551"/>
                  <a:gd name="connsiteY31" fmla="*/ 179476 h 302245"/>
                  <a:gd name="connsiteX32" fmla="*/ 34743 w 278551"/>
                  <a:gd name="connsiteY32" fmla="*/ 122768 h 302245"/>
                  <a:gd name="connsiteX33" fmla="*/ 0 w 278551"/>
                  <a:gd name="connsiteY33" fmla="*/ 90110 h 302245"/>
                  <a:gd name="connsiteX34" fmla="*/ 16799 w 278551"/>
                  <a:gd name="connsiteY34" fmla="*/ 61012 h 302245"/>
                  <a:gd name="connsiteX35" fmla="*/ 62454 w 278551"/>
                  <a:gd name="connsiteY35" fmla="*/ 74772 h 302245"/>
                  <a:gd name="connsiteX36" fmla="*/ 122476 w 278551"/>
                  <a:gd name="connsiteY36" fmla="*/ 0 h 302245"/>
                  <a:gd name="connsiteX37" fmla="*/ 156075 w 278551"/>
                  <a:gd name="connsiteY37" fmla="*/ 0 h 302245"/>
                  <a:gd name="connsiteX38" fmla="*/ 165987 w 278551"/>
                  <a:gd name="connsiteY38" fmla="*/ 42169 h 302245"/>
                  <a:gd name="connsiteX39" fmla="*/ 142303 w 278551"/>
                  <a:gd name="connsiteY39" fmla="*/ 37087 h 302245"/>
                  <a:gd name="connsiteX40" fmla="*/ 112428 w 278551"/>
                  <a:gd name="connsiteY40" fmla="*/ 42742 h 30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78551" h="302245">
                    <a:moveTo>
                      <a:pt x="250470" y="185740"/>
                    </a:moveTo>
                    <a:lnTo>
                      <a:pt x="278551" y="212135"/>
                    </a:lnTo>
                    <a:lnTo>
                      <a:pt x="261752" y="241233"/>
                    </a:lnTo>
                    <a:lnTo>
                      <a:pt x="225317" y="230252"/>
                    </a:lnTo>
                    <a:lnTo>
                      <a:pt x="247440" y="199863"/>
                    </a:lnTo>
                    <a:close/>
                    <a:moveTo>
                      <a:pt x="139274" y="84295"/>
                    </a:moveTo>
                    <a:lnTo>
                      <a:pt x="196885" y="113100"/>
                    </a:lnTo>
                    <a:lnTo>
                      <a:pt x="196884" y="114931"/>
                    </a:lnTo>
                    <a:lnTo>
                      <a:pt x="141702" y="86497"/>
                    </a:lnTo>
                    <a:lnTo>
                      <a:pt x="91232" y="110971"/>
                    </a:lnTo>
                    <a:lnTo>
                      <a:pt x="90180" y="108843"/>
                    </a:lnTo>
                    <a:close/>
                    <a:moveTo>
                      <a:pt x="93907" y="56612"/>
                    </a:moveTo>
                    <a:lnTo>
                      <a:pt x="77529" y="83250"/>
                    </a:lnTo>
                    <a:lnTo>
                      <a:pt x="90180" y="108843"/>
                    </a:lnTo>
                    <a:lnTo>
                      <a:pt x="81665" y="113100"/>
                    </a:lnTo>
                    <a:lnTo>
                      <a:pt x="81665" y="189144"/>
                    </a:lnTo>
                    <a:lnTo>
                      <a:pt x="139274" y="217949"/>
                    </a:lnTo>
                    <a:lnTo>
                      <a:pt x="196884" y="189144"/>
                    </a:lnTo>
                    <a:lnTo>
                      <a:pt x="196884" y="114931"/>
                    </a:lnTo>
                    <a:lnTo>
                      <a:pt x="198958" y="115999"/>
                    </a:lnTo>
                    <a:lnTo>
                      <a:pt x="198034" y="192038"/>
                    </a:lnTo>
                    <a:lnTo>
                      <a:pt x="144208" y="218139"/>
                    </a:lnTo>
                    <a:lnTo>
                      <a:pt x="155568" y="241121"/>
                    </a:lnTo>
                    <a:lnTo>
                      <a:pt x="182697" y="246757"/>
                    </a:lnTo>
                    <a:lnTo>
                      <a:pt x="166987" y="255827"/>
                    </a:lnTo>
                    <a:lnTo>
                      <a:pt x="156075" y="302245"/>
                    </a:lnTo>
                    <a:lnTo>
                      <a:pt x="122476" y="302245"/>
                    </a:lnTo>
                    <a:lnTo>
                      <a:pt x="111565" y="255827"/>
                    </a:lnTo>
                    <a:cubicBezTo>
                      <a:pt x="92967" y="250905"/>
                      <a:pt x="76016" y="241118"/>
                      <a:pt x="62455" y="227473"/>
                    </a:cubicBezTo>
                    <a:lnTo>
                      <a:pt x="16799" y="241233"/>
                    </a:lnTo>
                    <a:lnTo>
                      <a:pt x="0" y="212135"/>
                    </a:lnTo>
                    <a:lnTo>
                      <a:pt x="34743" y="179476"/>
                    </a:lnTo>
                    <a:cubicBezTo>
                      <a:pt x="29707" y="160909"/>
                      <a:pt x="29707" y="141335"/>
                      <a:pt x="34743" y="122768"/>
                    </a:cubicBezTo>
                    <a:lnTo>
                      <a:pt x="0" y="90110"/>
                    </a:lnTo>
                    <a:lnTo>
                      <a:pt x="16799" y="61012"/>
                    </a:lnTo>
                    <a:lnTo>
                      <a:pt x="62454" y="74772"/>
                    </a:lnTo>
                    <a:close/>
                    <a:moveTo>
                      <a:pt x="122476" y="0"/>
                    </a:moveTo>
                    <a:lnTo>
                      <a:pt x="156075" y="0"/>
                    </a:lnTo>
                    <a:lnTo>
                      <a:pt x="165987" y="42169"/>
                    </a:lnTo>
                    <a:lnTo>
                      <a:pt x="142303" y="37087"/>
                    </a:lnTo>
                    <a:lnTo>
                      <a:pt x="112428" y="42742"/>
                    </a:lnTo>
                    <a:close/>
                  </a:path>
                </a:pathLst>
              </a:custGeom>
              <a:solidFill>
                <a:schemeClr val="bg1"/>
              </a:solidFill>
              <a:ln w="19050">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80" name="Freeform 179"/>
              <p:cNvSpPr/>
              <p:nvPr/>
            </p:nvSpPr>
            <p:spPr>
              <a:xfrm rot="20021754">
                <a:off x="7797455" y="2437731"/>
                <a:ext cx="419276" cy="175124"/>
              </a:xfrm>
              <a:custGeom>
                <a:avLst/>
                <a:gdLst>
                  <a:gd name="connsiteX0" fmla="*/ 99307 w 541041"/>
                  <a:gd name="connsiteY0" fmla="*/ 54263 h 225982"/>
                  <a:gd name="connsiteX1" fmla="*/ 136175 w 541041"/>
                  <a:gd name="connsiteY1" fmla="*/ 104206 h 225982"/>
                  <a:gd name="connsiteX2" fmla="*/ 103289 w 541041"/>
                  <a:gd name="connsiteY2" fmla="*/ 170735 h 225982"/>
                  <a:gd name="connsiteX3" fmla="*/ 38879 w 541041"/>
                  <a:gd name="connsiteY3" fmla="*/ 171028 h 225982"/>
                  <a:gd name="connsiteX4" fmla="*/ 0 w 541041"/>
                  <a:gd name="connsiteY4" fmla="*/ 119677 h 225982"/>
                  <a:gd name="connsiteX5" fmla="*/ 33698 w 541041"/>
                  <a:gd name="connsiteY5" fmla="*/ 51507 h 225982"/>
                  <a:gd name="connsiteX6" fmla="*/ 43218 w 541041"/>
                  <a:gd name="connsiteY6" fmla="*/ 51464 h 225982"/>
                  <a:gd name="connsiteX7" fmla="*/ 43218 w 541041"/>
                  <a:gd name="connsiteY7" fmla="*/ 53838 h 225982"/>
                  <a:gd name="connsiteX8" fmla="*/ 504723 w 541041"/>
                  <a:gd name="connsiteY8" fmla="*/ 53019 h 225982"/>
                  <a:gd name="connsiteX9" fmla="*/ 541041 w 541041"/>
                  <a:gd name="connsiteY9" fmla="*/ 107811 h 225982"/>
                  <a:gd name="connsiteX10" fmla="*/ 481576 w 541041"/>
                  <a:gd name="connsiteY10" fmla="*/ 167276 h 225982"/>
                  <a:gd name="connsiteX11" fmla="*/ 171988 w 541041"/>
                  <a:gd name="connsiteY11" fmla="*/ 167276 h 225982"/>
                  <a:gd name="connsiteX12" fmla="*/ 143860 w 541041"/>
                  <a:gd name="connsiteY12" fmla="*/ 202747 h 225982"/>
                  <a:gd name="connsiteX13" fmla="*/ 99545 w 541041"/>
                  <a:gd name="connsiteY13" fmla="*/ 225955 h 225982"/>
                  <a:gd name="connsiteX14" fmla="*/ 99000 w 541041"/>
                  <a:gd name="connsiteY14" fmla="*/ 225982 h 225982"/>
                  <a:gd name="connsiteX15" fmla="*/ 66761 w 541041"/>
                  <a:gd name="connsiteY15" fmla="*/ 217441 h 225982"/>
                  <a:gd name="connsiteX16" fmla="*/ 43218 w 541041"/>
                  <a:gd name="connsiteY16" fmla="*/ 199021 h 225982"/>
                  <a:gd name="connsiteX17" fmla="*/ 43218 w 541041"/>
                  <a:gd name="connsiteY17" fmla="*/ 173385 h 225982"/>
                  <a:gd name="connsiteX18" fmla="*/ 103037 w 541041"/>
                  <a:gd name="connsiteY18" fmla="*/ 173839 h 225982"/>
                  <a:gd name="connsiteX19" fmla="*/ 137561 w 541041"/>
                  <a:gd name="connsiteY19" fmla="*/ 106083 h 225982"/>
                  <a:gd name="connsiteX20" fmla="*/ 136175 w 541041"/>
                  <a:gd name="connsiteY20" fmla="*/ 104206 h 225982"/>
                  <a:gd name="connsiteX21" fmla="*/ 136987 w 541041"/>
                  <a:gd name="connsiteY21" fmla="*/ 102565 h 225982"/>
                  <a:gd name="connsiteX22" fmla="*/ 98106 w 541041"/>
                  <a:gd name="connsiteY22" fmla="*/ 51213 h 225982"/>
                  <a:gd name="connsiteX23" fmla="*/ 43218 w 541041"/>
                  <a:gd name="connsiteY23" fmla="*/ 51464 h 225982"/>
                  <a:gd name="connsiteX24" fmla="*/ 43218 w 541041"/>
                  <a:gd name="connsiteY24" fmla="*/ 22915 h 225982"/>
                  <a:gd name="connsiteX25" fmla="*/ 77964 w 541041"/>
                  <a:gd name="connsiteY25" fmla="*/ 1110 h 225982"/>
                  <a:gd name="connsiteX26" fmla="*/ 85046 w 541041"/>
                  <a:gd name="connsiteY26" fmla="*/ 0 h 225982"/>
                  <a:gd name="connsiteX27" fmla="*/ 121741 w 541041"/>
                  <a:gd name="connsiteY27" fmla="*/ 10236 h 225982"/>
                  <a:gd name="connsiteX28" fmla="*/ 157909 w 541041"/>
                  <a:gd name="connsiteY28" fmla="*/ 38916 h 225982"/>
                  <a:gd name="connsiteX29" fmla="*/ 163138 w 541041"/>
                  <a:gd name="connsiteY29" fmla="*/ 48346 h 225982"/>
                  <a:gd name="connsiteX30" fmla="*/ 481576 w 541041"/>
                  <a:gd name="connsiteY30" fmla="*/ 48346 h 225982"/>
                  <a:gd name="connsiteX31" fmla="*/ 504723 w 541041"/>
                  <a:gd name="connsiteY31" fmla="*/ 53019 h 22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41041" h="225982">
                    <a:moveTo>
                      <a:pt x="99307" y="54263"/>
                    </a:moveTo>
                    <a:lnTo>
                      <a:pt x="136175" y="104206"/>
                    </a:lnTo>
                    <a:lnTo>
                      <a:pt x="103289" y="170735"/>
                    </a:lnTo>
                    <a:lnTo>
                      <a:pt x="38879" y="171028"/>
                    </a:lnTo>
                    <a:lnTo>
                      <a:pt x="0" y="119677"/>
                    </a:lnTo>
                    <a:lnTo>
                      <a:pt x="33698" y="51507"/>
                    </a:lnTo>
                    <a:lnTo>
                      <a:pt x="43218" y="51464"/>
                    </a:lnTo>
                    <a:lnTo>
                      <a:pt x="43218" y="53838"/>
                    </a:lnTo>
                    <a:close/>
                    <a:moveTo>
                      <a:pt x="504723" y="53019"/>
                    </a:moveTo>
                    <a:cubicBezTo>
                      <a:pt x="526066" y="62046"/>
                      <a:pt x="541041" y="83180"/>
                      <a:pt x="541041" y="107811"/>
                    </a:cubicBezTo>
                    <a:cubicBezTo>
                      <a:pt x="541041" y="140653"/>
                      <a:pt x="514418" y="167276"/>
                      <a:pt x="481576" y="167276"/>
                    </a:cubicBezTo>
                    <a:lnTo>
                      <a:pt x="171988" y="167276"/>
                    </a:lnTo>
                    <a:lnTo>
                      <a:pt x="143860" y="202747"/>
                    </a:lnTo>
                    <a:cubicBezTo>
                      <a:pt x="130861" y="213683"/>
                      <a:pt x="115692" y="221548"/>
                      <a:pt x="99545" y="225955"/>
                    </a:cubicBezTo>
                    <a:lnTo>
                      <a:pt x="99000" y="225982"/>
                    </a:lnTo>
                    <a:lnTo>
                      <a:pt x="66761" y="217441"/>
                    </a:lnTo>
                    <a:lnTo>
                      <a:pt x="43218" y="199021"/>
                    </a:lnTo>
                    <a:lnTo>
                      <a:pt x="43218" y="173385"/>
                    </a:lnTo>
                    <a:lnTo>
                      <a:pt x="103037" y="173839"/>
                    </a:lnTo>
                    <a:lnTo>
                      <a:pt x="137561" y="106083"/>
                    </a:lnTo>
                    <a:lnTo>
                      <a:pt x="136175" y="104206"/>
                    </a:lnTo>
                    <a:lnTo>
                      <a:pt x="136987" y="102565"/>
                    </a:lnTo>
                    <a:lnTo>
                      <a:pt x="98106" y="51213"/>
                    </a:lnTo>
                    <a:lnTo>
                      <a:pt x="43218" y="51464"/>
                    </a:lnTo>
                    <a:lnTo>
                      <a:pt x="43218" y="22915"/>
                    </a:lnTo>
                    <a:lnTo>
                      <a:pt x="77964" y="1110"/>
                    </a:lnTo>
                    <a:lnTo>
                      <a:pt x="85046" y="0"/>
                    </a:lnTo>
                    <a:lnTo>
                      <a:pt x="121741" y="10236"/>
                    </a:lnTo>
                    <a:cubicBezTo>
                      <a:pt x="136041" y="17522"/>
                      <a:pt x="148188" y="27361"/>
                      <a:pt x="157909" y="38916"/>
                    </a:cubicBezTo>
                    <a:lnTo>
                      <a:pt x="163138" y="48346"/>
                    </a:lnTo>
                    <a:lnTo>
                      <a:pt x="481576" y="48346"/>
                    </a:lnTo>
                    <a:cubicBezTo>
                      <a:pt x="489787" y="48346"/>
                      <a:pt x="497608" y="50010"/>
                      <a:pt x="504723" y="53019"/>
                    </a:cubicBezTo>
                    <a:close/>
                  </a:path>
                </a:pathLst>
              </a:cu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81" name="Hexagon 180"/>
              <p:cNvSpPr/>
              <p:nvPr/>
            </p:nvSpPr>
            <p:spPr>
              <a:xfrm rot="16200000">
                <a:off x="7813142" y="2552652"/>
                <a:ext cx="102880" cy="89052"/>
              </a:xfrm>
              <a:prstGeom prst="hexagon">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sp>
          <p:nvSpPr>
            <p:cNvPr id="178" name="TextBox 177"/>
            <p:cNvSpPr txBox="1"/>
            <p:nvPr/>
          </p:nvSpPr>
          <p:spPr>
            <a:xfrm>
              <a:off x="6191989" y="-25868"/>
              <a:ext cx="1090107" cy="369332"/>
            </a:xfrm>
            <a:prstGeom prst="rect">
              <a:avLst/>
            </a:prstGeom>
            <a:noFill/>
          </p:spPr>
          <p:txBody>
            <a:bodyPr wrap="none" rtlCol="0">
              <a:spAutoFit/>
            </a:bodyPr>
            <a:lstStyle/>
            <a:p>
              <a:r>
                <a:rPr lang="en-US" dirty="0"/>
                <a:t>PT </a:t>
              </a:r>
              <a:r>
                <a:rPr lang="en-US" dirty="0" smtClean="0"/>
                <a:t>Agent)</a:t>
              </a:r>
              <a:endParaRPr lang="en-US" dirty="0"/>
            </a:p>
          </p:txBody>
        </p:sp>
        <p:sp>
          <p:nvSpPr>
            <p:cNvPr id="176" name="TextBox 175"/>
            <p:cNvSpPr txBox="1"/>
            <p:nvPr/>
          </p:nvSpPr>
          <p:spPr>
            <a:xfrm>
              <a:off x="5651894" y="-25868"/>
              <a:ext cx="300082" cy="369332"/>
            </a:xfrm>
            <a:prstGeom prst="rect">
              <a:avLst/>
            </a:prstGeom>
            <a:noFill/>
          </p:spPr>
          <p:txBody>
            <a:bodyPr wrap="none" rtlCol="0">
              <a:spAutoFit/>
            </a:bodyPr>
            <a:lstStyle/>
            <a:p>
              <a:r>
                <a:rPr lang="en-US" dirty="0"/>
                <a:t>+</a:t>
              </a:r>
            </a:p>
          </p:txBody>
        </p:sp>
      </p:grpSp>
      <p:sp>
        <p:nvSpPr>
          <p:cNvPr id="2" name="Slide Number Placeholder 1"/>
          <p:cNvSpPr>
            <a:spLocks noGrp="1"/>
          </p:cNvSpPr>
          <p:nvPr>
            <p:ph type="sldNum" sz="quarter" idx="12"/>
          </p:nvPr>
        </p:nvSpPr>
        <p:spPr/>
        <p:txBody>
          <a:bodyPr/>
          <a:lstStyle/>
          <a:p>
            <a:fld id="{D431E30F-8439-471B-9257-EDD8E85CDBC8}" type="slidenum">
              <a:rPr lang="en-US" smtClean="0"/>
              <a:t>24</a:t>
            </a:fld>
            <a:endParaRPr lang="en-US"/>
          </a:p>
        </p:txBody>
      </p:sp>
    </p:spTree>
    <p:extLst>
      <p:ext uri="{BB962C8B-B14F-4D97-AF65-F5344CB8AC3E}">
        <p14:creationId xmlns:p14="http://schemas.microsoft.com/office/powerpoint/2010/main" val="4226029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4"/>
                                        </p:tgtEl>
                                        <p:attrNameLst>
                                          <p:attrName>style.visibility</p:attrName>
                                        </p:attrNameLst>
                                      </p:cBhvr>
                                      <p:to>
                                        <p:strVal val="visible"/>
                                      </p:to>
                                    </p:set>
                                    <p:animEffect transition="in" filter="fade">
                                      <p:cBhvr>
                                        <p:cTn id="7" dur="500"/>
                                        <p:tgtEl>
                                          <p:spTgt spid="194"/>
                                        </p:tgtEl>
                                      </p:cBhvr>
                                    </p:animEffect>
                                  </p:childTnLst>
                                </p:cTn>
                              </p:par>
                              <p:par>
                                <p:cTn id="8" presetID="10" presetClass="entr" presetSubtype="0" fill="hold" nodeType="withEffect">
                                  <p:stCondLst>
                                    <p:cond delay="0"/>
                                  </p:stCondLst>
                                  <p:childTnLst>
                                    <p:set>
                                      <p:cBhvr>
                                        <p:cTn id="9" dur="1" fill="hold">
                                          <p:stCondLst>
                                            <p:cond delay="0"/>
                                          </p:stCondLst>
                                        </p:cTn>
                                        <p:tgtEl>
                                          <p:spTgt spid="195"/>
                                        </p:tgtEl>
                                        <p:attrNameLst>
                                          <p:attrName>style.visibility</p:attrName>
                                        </p:attrNameLst>
                                      </p:cBhvr>
                                      <p:to>
                                        <p:strVal val="visible"/>
                                      </p:to>
                                    </p:set>
                                    <p:animEffect transition="in" filter="fade">
                                      <p:cBhvr>
                                        <p:cTn id="10" dur="500"/>
                                        <p:tgtEl>
                                          <p:spTgt spid="195"/>
                                        </p:tgtEl>
                                      </p:cBhvr>
                                    </p:animEffect>
                                  </p:childTnLst>
                                </p:cTn>
                              </p:par>
                              <p:par>
                                <p:cTn id="11" presetID="10" presetClass="entr" presetSubtype="0" fill="hold" nodeType="withEffect">
                                  <p:stCondLst>
                                    <p:cond delay="0"/>
                                  </p:stCondLst>
                                  <p:childTnLst>
                                    <p:set>
                                      <p:cBhvr>
                                        <p:cTn id="12" dur="1" fill="hold">
                                          <p:stCondLst>
                                            <p:cond delay="0"/>
                                          </p:stCondLst>
                                        </p:cTn>
                                        <p:tgtEl>
                                          <p:spTgt spid="186"/>
                                        </p:tgtEl>
                                        <p:attrNameLst>
                                          <p:attrName>style.visibility</p:attrName>
                                        </p:attrNameLst>
                                      </p:cBhvr>
                                      <p:to>
                                        <p:strVal val="visible"/>
                                      </p:to>
                                    </p:set>
                                    <p:animEffect transition="in" filter="fade">
                                      <p:cBhvr>
                                        <p:cTn id="13" dur="500"/>
                                        <p:tgtEl>
                                          <p:spTgt spid="18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64"/>
                                        </p:tgtEl>
                                        <p:attrNameLst>
                                          <p:attrName>style.visibility</p:attrName>
                                        </p:attrNameLst>
                                      </p:cBhvr>
                                      <p:to>
                                        <p:strVal val="visible"/>
                                      </p:to>
                                    </p:set>
                                    <p:animEffect transition="in" filter="fade">
                                      <p:cBhvr>
                                        <p:cTn id="18" dur="500"/>
                                        <p:tgtEl>
                                          <p:spTgt spid="16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4"/>
                                        </p:tgtEl>
                                        <p:attrNameLst>
                                          <p:attrName>style.visibility</p:attrName>
                                        </p:attrNameLst>
                                      </p:cBhvr>
                                      <p:to>
                                        <p:strVal val="visible"/>
                                      </p:to>
                                    </p:set>
                                    <p:animEffect transition="in" filter="fade">
                                      <p:cBhvr>
                                        <p:cTn id="21" dur="500"/>
                                        <p:tgtEl>
                                          <p:spTgt spid="44"/>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46"/>
                                        </p:tgtEl>
                                        <p:attrNameLst>
                                          <p:attrName>style.visibility</p:attrName>
                                        </p:attrNameLst>
                                      </p:cBhvr>
                                      <p:to>
                                        <p:strVal val="visible"/>
                                      </p:to>
                                    </p:set>
                                    <p:animEffect transition="in" filter="wipe(left)">
                                      <p:cBhvr>
                                        <p:cTn id="24" dur="500"/>
                                        <p:tgtEl>
                                          <p:spTgt spid="46"/>
                                        </p:tgtEl>
                                      </p:cBhvr>
                                    </p:animEffect>
                                  </p:childTnLst>
                                </p:cTn>
                              </p:par>
                              <p:par>
                                <p:cTn id="25" presetID="10" presetClass="entr" presetSubtype="0" fill="hold" grpId="0" nodeType="withEffect">
                                  <p:stCondLst>
                                    <p:cond delay="250"/>
                                  </p:stCondLst>
                                  <p:childTnLst>
                                    <p:set>
                                      <p:cBhvr>
                                        <p:cTn id="26" dur="1" fill="hold">
                                          <p:stCondLst>
                                            <p:cond delay="0"/>
                                          </p:stCondLst>
                                        </p:cTn>
                                        <p:tgtEl>
                                          <p:spTgt spid="43"/>
                                        </p:tgtEl>
                                        <p:attrNameLst>
                                          <p:attrName>style.visibility</p:attrName>
                                        </p:attrNameLst>
                                      </p:cBhvr>
                                      <p:to>
                                        <p:strVal val="visible"/>
                                      </p:to>
                                    </p:set>
                                    <p:animEffect transition="in" filter="fade">
                                      <p:cBhvr>
                                        <p:cTn id="27" dur="500"/>
                                        <p:tgtEl>
                                          <p:spTgt spid="43"/>
                                        </p:tgtEl>
                                      </p:cBhvr>
                                    </p:animEffect>
                                  </p:childTnLst>
                                </p:cTn>
                              </p:par>
                              <p:par>
                                <p:cTn id="28" presetID="22" presetClass="entr" presetSubtype="8" fill="hold" grpId="0" nodeType="withEffect">
                                  <p:stCondLst>
                                    <p:cond delay="250"/>
                                  </p:stCondLst>
                                  <p:childTnLst>
                                    <p:set>
                                      <p:cBhvr>
                                        <p:cTn id="29" dur="1" fill="hold">
                                          <p:stCondLst>
                                            <p:cond delay="0"/>
                                          </p:stCondLst>
                                        </p:cTn>
                                        <p:tgtEl>
                                          <p:spTgt spid="45"/>
                                        </p:tgtEl>
                                        <p:attrNameLst>
                                          <p:attrName>style.visibility</p:attrName>
                                        </p:attrNameLst>
                                      </p:cBhvr>
                                      <p:to>
                                        <p:strVal val="visible"/>
                                      </p:to>
                                    </p:set>
                                    <p:animEffect transition="in" filter="wipe(left)">
                                      <p:cBhvr>
                                        <p:cTn id="30" dur="500"/>
                                        <p:tgtEl>
                                          <p:spTgt spid="45"/>
                                        </p:tgtEl>
                                      </p:cBhvr>
                                    </p:animEffect>
                                  </p:childTnLst>
                                </p:cTn>
                              </p:par>
                              <p:par>
                                <p:cTn id="31" presetID="10" presetClass="entr" presetSubtype="0" fill="hold" grpId="0" nodeType="withEffect">
                                  <p:stCondLst>
                                    <p:cond delay="500"/>
                                  </p:stCondLst>
                                  <p:childTnLst>
                                    <p:set>
                                      <p:cBhvr>
                                        <p:cTn id="32" dur="1" fill="hold">
                                          <p:stCondLst>
                                            <p:cond delay="0"/>
                                          </p:stCondLst>
                                        </p:cTn>
                                        <p:tgtEl>
                                          <p:spTgt spid="31"/>
                                        </p:tgtEl>
                                        <p:attrNameLst>
                                          <p:attrName>style.visibility</p:attrName>
                                        </p:attrNameLst>
                                      </p:cBhvr>
                                      <p:to>
                                        <p:strVal val="visible"/>
                                      </p:to>
                                    </p:set>
                                    <p:animEffect transition="in" filter="fade">
                                      <p:cBhvr>
                                        <p:cTn id="33" dur="500"/>
                                        <p:tgtEl>
                                          <p:spTgt spid="31"/>
                                        </p:tgtEl>
                                      </p:cBhvr>
                                    </p:animEffect>
                                  </p:childTnLst>
                                </p:cTn>
                              </p:par>
                              <p:par>
                                <p:cTn id="34" presetID="22" presetClass="entr" presetSubtype="8" fill="hold" grpId="0" nodeType="withEffect">
                                  <p:stCondLst>
                                    <p:cond delay="500"/>
                                  </p:stCondLst>
                                  <p:childTnLst>
                                    <p:set>
                                      <p:cBhvr>
                                        <p:cTn id="35" dur="1" fill="hold">
                                          <p:stCondLst>
                                            <p:cond delay="0"/>
                                          </p:stCondLst>
                                        </p:cTn>
                                        <p:tgtEl>
                                          <p:spTgt spid="42"/>
                                        </p:tgtEl>
                                        <p:attrNameLst>
                                          <p:attrName>style.visibility</p:attrName>
                                        </p:attrNameLst>
                                      </p:cBhvr>
                                      <p:to>
                                        <p:strVal val="visible"/>
                                      </p:to>
                                    </p:set>
                                    <p:animEffect transition="in" filter="wipe(left)">
                                      <p:cBhvr>
                                        <p:cTn id="36" dur="500"/>
                                        <p:tgtEl>
                                          <p:spTgt spid="42"/>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mph" presetSubtype="2" fill="hold" nodeType="clickEffect">
                                  <p:stCondLst>
                                    <p:cond delay="0"/>
                                  </p:stCondLst>
                                  <p:childTnLst>
                                    <p:animClr clrSpc="rgb" dir="cw">
                                      <p:cBhvr>
                                        <p:cTn id="40" dur="500" fill="hold"/>
                                        <p:tgtEl>
                                          <p:spTgt spid="44"/>
                                        </p:tgtEl>
                                        <p:attrNameLst>
                                          <p:attrName>fillcolor</p:attrName>
                                        </p:attrNameLst>
                                      </p:cBhvr>
                                      <p:to>
                                        <a:srgbClr val="E7E6E6"/>
                                      </p:to>
                                    </p:animClr>
                                    <p:set>
                                      <p:cBhvr>
                                        <p:cTn id="41" dur="500" fill="hold"/>
                                        <p:tgtEl>
                                          <p:spTgt spid="44"/>
                                        </p:tgtEl>
                                        <p:attrNameLst>
                                          <p:attrName>fill.type</p:attrName>
                                        </p:attrNameLst>
                                      </p:cBhvr>
                                      <p:to>
                                        <p:strVal val="solid"/>
                                      </p:to>
                                    </p:set>
                                    <p:set>
                                      <p:cBhvr>
                                        <p:cTn id="42" dur="500" fill="hold"/>
                                        <p:tgtEl>
                                          <p:spTgt spid="44"/>
                                        </p:tgtEl>
                                        <p:attrNameLst>
                                          <p:attrName>fill.on</p:attrName>
                                        </p:attrNameLst>
                                      </p:cBhvr>
                                      <p:to>
                                        <p:strVal val="true"/>
                                      </p:to>
                                    </p:set>
                                  </p:childTnLst>
                                </p:cTn>
                              </p:par>
                              <p:par>
                                <p:cTn id="43" presetID="1" presetClass="emph" presetSubtype="2" fill="hold" nodeType="withEffect">
                                  <p:stCondLst>
                                    <p:cond delay="0"/>
                                  </p:stCondLst>
                                  <p:childTnLst>
                                    <p:animClr clrSpc="rgb" dir="cw">
                                      <p:cBhvr>
                                        <p:cTn id="44" dur="500" fill="hold"/>
                                        <p:tgtEl>
                                          <p:spTgt spid="43"/>
                                        </p:tgtEl>
                                        <p:attrNameLst>
                                          <p:attrName>fillcolor</p:attrName>
                                        </p:attrNameLst>
                                      </p:cBhvr>
                                      <p:to>
                                        <a:srgbClr val="E7E6E6"/>
                                      </p:to>
                                    </p:animClr>
                                    <p:set>
                                      <p:cBhvr>
                                        <p:cTn id="45" dur="500" fill="hold"/>
                                        <p:tgtEl>
                                          <p:spTgt spid="43"/>
                                        </p:tgtEl>
                                        <p:attrNameLst>
                                          <p:attrName>fill.type</p:attrName>
                                        </p:attrNameLst>
                                      </p:cBhvr>
                                      <p:to>
                                        <p:strVal val="solid"/>
                                      </p:to>
                                    </p:set>
                                    <p:set>
                                      <p:cBhvr>
                                        <p:cTn id="46" dur="500" fill="hold"/>
                                        <p:tgtEl>
                                          <p:spTgt spid="43"/>
                                        </p:tgtEl>
                                        <p:attrNameLst>
                                          <p:attrName>fill.on</p:attrName>
                                        </p:attrNameLst>
                                      </p:cBhvr>
                                      <p:to>
                                        <p:strVal val="true"/>
                                      </p:to>
                                    </p:set>
                                  </p:childTnLst>
                                </p:cTn>
                              </p:par>
                              <p:par>
                                <p:cTn id="47" presetID="1" presetClass="emph" presetSubtype="2" fill="hold" nodeType="withEffect">
                                  <p:stCondLst>
                                    <p:cond delay="0"/>
                                  </p:stCondLst>
                                  <p:childTnLst>
                                    <p:animClr clrSpc="rgb" dir="cw">
                                      <p:cBhvr>
                                        <p:cTn id="48" dur="500" fill="hold"/>
                                        <p:tgtEl>
                                          <p:spTgt spid="31"/>
                                        </p:tgtEl>
                                        <p:attrNameLst>
                                          <p:attrName>fillcolor</p:attrName>
                                        </p:attrNameLst>
                                      </p:cBhvr>
                                      <p:to>
                                        <a:srgbClr val="E7E6E6"/>
                                      </p:to>
                                    </p:animClr>
                                    <p:set>
                                      <p:cBhvr>
                                        <p:cTn id="49" dur="500" fill="hold"/>
                                        <p:tgtEl>
                                          <p:spTgt spid="31"/>
                                        </p:tgtEl>
                                        <p:attrNameLst>
                                          <p:attrName>fill.type</p:attrName>
                                        </p:attrNameLst>
                                      </p:cBhvr>
                                      <p:to>
                                        <p:strVal val="solid"/>
                                      </p:to>
                                    </p:set>
                                    <p:set>
                                      <p:cBhvr>
                                        <p:cTn id="50" dur="500" fill="hold"/>
                                        <p:tgtEl>
                                          <p:spTgt spid="31"/>
                                        </p:tgtEl>
                                        <p:attrNameLst>
                                          <p:attrName>fill.on</p:attrName>
                                        </p:attrNameLst>
                                      </p:cBhvr>
                                      <p:to>
                                        <p:strVal val="true"/>
                                      </p:to>
                                    </p:set>
                                  </p:childTnLst>
                                </p:cTn>
                              </p:par>
                              <p:par>
                                <p:cTn id="51" presetID="7" presetClass="emph" presetSubtype="2" fill="hold" nodeType="withEffect">
                                  <p:stCondLst>
                                    <p:cond delay="0"/>
                                  </p:stCondLst>
                                  <p:childTnLst>
                                    <p:animClr clrSpc="rgb" dir="cw">
                                      <p:cBhvr>
                                        <p:cTn id="52" dur="500" fill="hold"/>
                                        <p:tgtEl>
                                          <p:spTgt spid="44"/>
                                        </p:tgtEl>
                                        <p:attrNameLst>
                                          <p:attrName>stroke.color</p:attrName>
                                        </p:attrNameLst>
                                      </p:cBhvr>
                                      <p:to>
                                        <a:srgbClr val="A5A5A5"/>
                                      </p:to>
                                    </p:animClr>
                                    <p:set>
                                      <p:cBhvr>
                                        <p:cTn id="53" dur="500" fill="hold"/>
                                        <p:tgtEl>
                                          <p:spTgt spid="44"/>
                                        </p:tgtEl>
                                        <p:attrNameLst>
                                          <p:attrName>stroke.on</p:attrName>
                                        </p:attrNameLst>
                                      </p:cBhvr>
                                      <p:to>
                                        <p:strVal val="true"/>
                                      </p:to>
                                    </p:set>
                                  </p:childTnLst>
                                </p:cTn>
                              </p:par>
                              <p:par>
                                <p:cTn id="54" presetID="7" presetClass="emph" presetSubtype="2" fill="hold" nodeType="withEffect">
                                  <p:stCondLst>
                                    <p:cond delay="0"/>
                                  </p:stCondLst>
                                  <p:childTnLst>
                                    <p:animClr clrSpc="rgb" dir="cw">
                                      <p:cBhvr>
                                        <p:cTn id="55" dur="500" fill="hold"/>
                                        <p:tgtEl>
                                          <p:spTgt spid="46"/>
                                        </p:tgtEl>
                                        <p:attrNameLst>
                                          <p:attrName>stroke.color</p:attrName>
                                        </p:attrNameLst>
                                      </p:cBhvr>
                                      <p:to>
                                        <a:srgbClr val="A5A5A5"/>
                                      </p:to>
                                    </p:animClr>
                                    <p:set>
                                      <p:cBhvr>
                                        <p:cTn id="56" dur="500" fill="hold"/>
                                        <p:tgtEl>
                                          <p:spTgt spid="46"/>
                                        </p:tgtEl>
                                        <p:attrNameLst>
                                          <p:attrName>stroke.on</p:attrName>
                                        </p:attrNameLst>
                                      </p:cBhvr>
                                      <p:to>
                                        <p:strVal val="true"/>
                                      </p:to>
                                    </p:set>
                                  </p:childTnLst>
                                </p:cTn>
                              </p:par>
                              <p:par>
                                <p:cTn id="57" presetID="7" presetClass="emph" presetSubtype="2" fill="hold" nodeType="withEffect">
                                  <p:stCondLst>
                                    <p:cond delay="0"/>
                                  </p:stCondLst>
                                  <p:childTnLst>
                                    <p:animClr clrSpc="rgb" dir="cw">
                                      <p:cBhvr>
                                        <p:cTn id="58" dur="500" fill="hold"/>
                                        <p:tgtEl>
                                          <p:spTgt spid="43"/>
                                        </p:tgtEl>
                                        <p:attrNameLst>
                                          <p:attrName>stroke.color</p:attrName>
                                        </p:attrNameLst>
                                      </p:cBhvr>
                                      <p:to>
                                        <a:srgbClr val="A5A5A5"/>
                                      </p:to>
                                    </p:animClr>
                                    <p:set>
                                      <p:cBhvr>
                                        <p:cTn id="59" dur="500" fill="hold"/>
                                        <p:tgtEl>
                                          <p:spTgt spid="43"/>
                                        </p:tgtEl>
                                        <p:attrNameLst>
                                          <p:attrName>stroke.on</p:attrName>
                                        </p:attrNameLst>
                                      </p:cBhvr>
                                      <p:to>
                                        <p:strVal val="true"/>
                                      </p:to>
                                    </p:set>
                                  </p:childTnLst>
                                </p:cTn>
                              </p:par>
                              <p:par>
                                <p:cTn id="60" presetID="7" presetClass="emph" presetSubtype="2" fill="hold" nodeType="withEffect">
                                  <p:stCondLst>
                                    <p:cond delay="0"/>
                                  </p:stCondLst>
                                  <p:childTnLst>
                                    <p:animClr clrSpc="rgb" dir="cw">
                                      <p:cBhvr>
                                        <p:cTn id="61" dur="500" fill="hold"/>
                                        <p:tgtEl>
                                          <p:spTgt spid="45"/>
                                        </p:tgtEl>
                                        <p:attrNameLst>
                                          <p:attrName>stroke.color</p:attrName>
                                        </p:attrNameLst>
                                      </p:cBhvr>
                                      <p:to>
                                        <a:srgbClr val="A5A5A5"/>
                                      </p:to>
                                    </p:animClr>
                                    <p:set>
                                      <p:cBhvr>
                                        <p:cTn id="62" dur="500" fill="hold"/>
                                        <p:tgtEl>
                                          <p:spTgt spid="45"/>
                                        </p:tgtEl>
                                        <p:attrNameLst>
                                          <p:attrName>stroke.on</p:attrName>
                                        </p:attrNameLst>
                                      </p:cBhvr>
                                      <p:to>
                                        <p:strVal val="true"/>
                                      </p:to>
                                    </p:set>
                                  </p:childTnLst>
                                </p:cTn>
                              </p:par>
                              <p:par>
                                <p:cTn id="63" presetID="7" presetClass="emph" presetSubtype="2" fill="hold" nodeType="withEffect">
                                  <p:stCondLst>
                                    <p:cond delay="0"/>
                                  </p:stCondLst>
                                  <p:childTnLst>
                                    <p:animClr clrSpc="rgb" dir="cw">
                                      <p:cBhvr>
                                        <p:cTn id="64" dur="500" fill="hold"/>
                                        <p:tgtEl>
                                          <p:spTgt spid="31"/>
                                        </p:tgtEl>
                                        <p:attrNameLst>
                                          <p:attrName>stroke.color</p:attrName>
                                        </p:attrNameLst>
                                      </p:cBhvr>
                                      <p:to>
                                        <a:srgbClr val="A5A5A5"/>
                                      </p:to>
                                    </p:animClr>
                                    <p:set>
                                      <p:cBhvr>
                                        <p:cTn id="65" dur="500" fill="hold"/>
                                        <p:tgtEl>
                                          <p:spTgt spid="31"/>
                                        </p:tgtEl>
                                        <p:attrNameLst>
                                          <p:attrName>stroke.on</p:attrName>
                                        </p:attrNameLst>
                                      </p:cBhvr>
                                      <p:to>
                                        <p:strVal val="true"/>
                                      </p:to>
                                    </p:set>
                                  </p:childTnLst>
                                </p:cTn>
                              </p:par>
                              <p:par>
                                <p:cTn id="66" presetID="7" presetClass="emph" presetSubtype="2" fill="hold" nodeType="withEffect">
                                  <p:stCondLst>
                                    <p:cond delay="0"/>
                                  </p:stCondLst>
                                  <p:childTnLst>
                                    <p:animClr clrSpc="rgb" dir="cw">
                                      <p:cBhvr>
                                        <p:cTn id="67" dur="500" fill="hold"/>
                                        <p:tgtEl>
                                          <p:spTgt spid="42"/>
                                        </p:tgtEl>
                                        <p:attrNameLst>
                                          <p:attrName>stroke.color</p:attrName>
                                        </p:attrNameLst>
                                      </p:cBhvr>
                                      <p:to>
                                        <a:srgbClr val="A5A5A5"/>
                                      </p:to>
                                    </p:animClr>
                                    <p:set>
                                      <p:cBhvr>
                                        <p:cTn id="68" dur="500" fill="hold"/>
                                        <p:tgtEl>
                                          <p:spTgt spid="42"/>
                                        </p:tgtEl>
                                        <p:attrNameLst>
                                          <p:attrName>stroke.on</p:attrName>
                                        </p:attrNameLst>
                                      </p:cBhvr>
                                      <p:to>
                                        <p:strVal val="true"/>
                                      </p:to>
                                    </p:set>
                                  </p:childTnLst>
                                </p:cTn>
                              </p:par>
                              <p:par>
                                <p:cTn id="69" presetID="10" presetClass="exit" presetSubtype="0" fill="hold" grpId="1" nodeType="withEffect">
                                  <p:stCondLst>
                                    <p:cond delay="0"/>
                                  </p:stCondLst>
                                  <p:childTnLst>
                                    <p:animEffect transition="out" filter="fade">
                                      <p:cBhvr>
                                        <p:cTn id="70" dur="500"/>
                                        <p:tgtEl>
                                          <p:spTgt spid="164"/>
                                        </p:tgtEl>
                                      </p:cBhvr>
                                    </p:animEffect>
                                    <p:set>
                                      <p:cBhvr>
                                        <p:cTn id="71" dur="1" fill="hold">
                                          <p:stCondLst>
                                            <p:cond delay="499"/>
                                          </p:stCondLst>
                                        </p:cTn>
                                        <p:tgtEl>
                                          <p:spTgt spid="16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31" grpId="0" animBg="1"/>
      <p:bldP spid="43" grpId="0" animBg="1"/>
      <p:bldP spid="45" grpId="0" animBg="1"/>
      <p:bldP spid="44" grpId="0" animBg="1"/>
      <p:bldP spid="46" grpId="0" animBg="1"/>
      <p:bldP spid="164" grpId="0"/>
      <p:bldP spid="164" grpId="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 name="Rectangle 238"/>
          <p:cNvSpPr/>
          <p:nvPr/>
        </p:nvSpPr>
        <p:spPr>
          <a:xfrm>
            <a:off x="753187" y="3231479"/>
            <a:ext cx="4630633" cy="2523768"/>
          </a:xfrm>
          <a:prstGeom prst="rect">
            <a:avLst/>
          </a:prstGeom>
        </p:spPr>
        <p:txBody>
          <a:bodyPr wrap="square">
            <a:spAutoFit/>
          </a:bodyPr>
          <a:lstStyle/>
          <a:p>
            <a:r>
              <a:rPr lang="en-US" sz="2000" dirty="0" smtClean="0"/>
              <a:t>Places where PT can add instrumentation</a:t>
            </a:r>
          </a:p>
          <a:p>
            <a:endParaRPr lang="en-US" sz="2000" dirty="0"/>
          </a:p>
          <a:p>
            <a:r>
              <a:rPr lang="en-US" sz="2000" dirty="0" smtClean="0"/>
              <a:t>Export </a:t>
            </a:r>
            <a:r>
              <a:rPr lang="en-US" sz="2000" dirty="0"/>
              <a:t>identifiers accessible to </a:t>
            </a:r>
            <a:r>
              <a:rPr lang="en-US" sz="2000" dirty="0" smtClean="0"/>
              <a:t>queries</a:t>
            </a:r>
          </a:p>
          <a:p>
            <a:r>
              <a:rPr lang="en-US" sz="2000" dirty="0" smtClean="0"/>
              <a:t>  </a:t>
            </a:r>
            <a:r>
              <a:rPr lang="en-US" dirty="0" smtClean="0"/>
              <a:t>Defaults: host</a:t>
            </a:r>
            <a:r>
              <a:rPr lang="en-US" dirty="0"/>
              <a:t>, timestamp, </a:t>
            </a:r>
            <a:r>
              <a:rPr lang="en-US" dirty="0" err="1"/>
              <a:t>pid</a:t>
            </a:r>
            <a:r>
              <a:rPr lang="en-US" dirty="0"/>
              <a:t>, </a:t>
            </a:r>
            <a:r>
              <a:rPr lang="en-US" dirty="0" err="1"/>
              <a:t>proc</a:t>
            </a:r>
            <a:r>
              <a:rPr lang="en-US" dirty="0"/>
              <a:t> name</a:t>
            </a:r>
          </a:p>
          <a:p>
            <a:endParaRPr lang="en-US" dirty="0"/>
          </a:p>
          <a:p>
            <a:r>
              <a:rPr lang="en-US" sz="2000" dirty="0"/>
              <a:t>Only references – not materialized until query is installed</a:t>
            </a:r>
          </a:p>
          <a:p>
            <a:endParaRPr lang="en-US" dirty="0"/>
          </a:p>
        </p:txBody>
      </p:sp>
      <p:grpSp>
        <p:nvGrpSpPr>
          <p:cNvPr id="194" name="Group 193"/>
          <p:cNvGrpSpPr/>
          <p:nvPr/>
        </p:nvGrpSpPr>
        <p:grpSpPr>
          <a:xfrm>
            <a:off x="2409805" y="476498"/>
            <a:ext cx="2440458" cy="1194898"/>
            <a:chOff x="2028805" y="476498"/>
            <a:chExt cx="2440458" cy="1194898"/>
          </a:xfrm>
        </p:grpSpPr>
        <p:sp>
          <p:nvSpPr>
            <p:cNvPr id="5" name="Process A"/>
            <p:cNvSpPr/>
            <p:nvPr/>
          </p:nvSpPr>
          <p:spPr>
            <a:xfrm>
              <a:off x="2028805" y="476498"/>
              <a:ext cx="2440458" cy="984940"/>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nvGrpSpPr>
            <p:cNvPr id="17" name="PT Agent A"/>
            <p:cNvGrpSpPr/>
            <p:nvPr/>
          </p:nvGrpSpPr>
          <p:grpSpPr>
            <a:xfrm>
              <a:off x="2110275" y="1202254"/>
              <a:ext cx="1074956" cy="469142"/>
              <a:chOff x="2626646" y="3779254"/>
              <a:chExt cx="1074956" cy="469142"/>
            </a:xfrm>
          </p:grpSpPr>
          <p:sp>
            <p:nvSpPr>
              <p:cNvPr id="18" name="Rectangle 17"/>
              <p:cNvSpPr/>
              <p:nvPr/>
            </p:nvSpPr>
            <p:spPr>
              <a:xfrm>
                <a:off x="2703536" y="3779254"/>
                <a:ext cx="998066" cy="331980"/>
              </a:xfrm>
              <a:prstGeom prst="rect">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91440" bIns="0" rtlCol="0" anchor="t" anchorCtr="0"/>
              <a:lstStyle/>
              <a:p>
                <a:pPr algn="r"/>
                <a:r>
                  <a:rPr lang="en-US" dirty="0" smtClean="0">
                    <a:solidFill>
                      <a:schemeClr val="tx1"/>
                    </a:solidFill>
                  </a:rPr>
                  <a:t>PT Agent</a:t>
                </a:r>
                <a:endParaRPr lang="en-US" dirty="0">
                  <a:solidFill>
                    <a:schemeClr val="tx1"/>
                  </a:solidFill>
                </a:endParaRPr>
              </a:p>
            </p:txBody>
          </p:sp>
          <p:grpSp>
            <p:nvGrpSpPr>
              <p:cNvPr id="19" name="Group 18"/>
              <p:cNvGrpSpPr/>
              <p:nvPr/>
            </p:nvGrpSpPr>
            <p:grpSpPr>
              <a:xfrm rot="878394">
                <a:off x="2626646" y="3986085"/>
                <a:ext cx="442659" cy="262311"/>
                <a:chOff x="2015326" y="3161328"/>
                <a:chExt cx="442659" cy="262311"/>
              </a:xfrm>
            </p:grpSpPr>
            <p:sp>
              <p:nvSpPr>
                <p:cNvPr id="20" name="Freeform 19"/>
                <p:cNvSpPr/>
                <p:nvPr/>
              </p:nvSpPr>
              <p:spPr>
                <a:xfrm>
                  <a:off x="2015326" y="3198159"/>
                  <a:ext cx="207804" cy="225480"/>
                </a:xfrm>
                <a:custGeom>
                  <a:avLst/>
                  <a:gdLst>
                    <a:gd name="connsiteX0" fmla="*/ 250470 w 278551"/>
                    <a:gd name="connsiteY0" fmla="*/ 185740 h 302245"/>
                    <a:gd name="connsiteX1" fmla="*/ 278551 w 278551"/>
                    <a:gd name="connsiteY1" fmla="*/ 212135 h 302245"/>
                    <a:gd name="connsiteX2" fmla="*/ 261752 w 278551"/>
                    <a:gd name="connsiteY2" fmla="*/ 241233 h 302245"/>
                    <a:gd name="connsiteX3" fmla="*/ 225317 w 278551"/>
                    <a:gd name="connsiteY3" fmla="*/ 230252 h 302245"/>
                    <a:gd name="connsiteX4" fmla="*/ 247440 w 278551"/>
                    <a:gd name="connsiteY4" fmla="*/ 199863 h 302245"/>
                    <a:gd name="connsiteX5" fmla="*/ 139274 w 278551"/>
                    <a:gd name="connsiteY5" fmla="*/ 84295 h 302245"/>
                    <a:gd name="connsiteX6" fmla="*/ 196885 w 278551"/>
                    <a:gd name="connsiteY6" fmla="*/ 113100 h 302245"/>
                    <a:gd name="connsiteX7" fmla="*/ 196884 w 278551"/>
                    <a:gd name="connsiteY7" fmla="*/ 114931 h 302245"/>
                    <a:gd name="connsiteX8" fmla="*/ 141702 w 278551"/>
                    <a:gd name="connsiteY8" fmla="*/ 86497 h 302245"/>
                    <a:gd name="connsiteX9" fmla="*/ 91232 w 278551"/>
                    <a:gd name="connsiteY9" fmla="*/ 110971 h 302245"/>
                    <a:gd name="connsiteX10" fmla="*/ 90180 w 278551"/>
                    <a:gd name="connsiteY10" fmla="*/ 108843 h 302245"/>
                    <a:gd name="connsiteX11" fmla="*/ 93907 w 278551"/>
                    <a:gd name="connsiteY11" fmla="*/ 56612 h 302245"/>
                    <a:gd name="connsiteX12" fmla="*/ 77529 w 278551"/>
                    <a:gd name="connsiteY12" fmla="*/ 83250 h 302245"/>
                    <a:gd name="connsiteX13" fmla="*/ 90180 w 278551"/>
                    <a:gd name="connsiteY13" fmla="*/ 108843 h 302245"/>
                    <a:gd name="connsiteX14" fmla="*/ 81665 w 278551"/>
                    <a:gd name="connsiteY14" fmla="*/ 113100 h 302245"/>
                    <a:gd name="connsiteX15" fmla="*/ 81665 w 278551"/>
                    <a:gd name="connsiteY15" fmla="*/ 189144 h 302245"/>
                    <a:gd name="connsiteX16" fmla="*/ 139274 w 278551"/>
                    <a:gd name="connsiteY16" fmla="*/ 217949 h 302245"/>
                    <a:gd name="connsiteX17" fmla="*/ 196884 w 278551"/>
                    <a:gd name="connsiteY17" fmla="*/ 189144 h 302245"/>
                    <a:gd name="connsiteX18" fmla="*/ 196884 w 278551"/>
                    <a:gd name="connsiteY18" fmla="*/ 114931 h 302245"/>
                    <a:gd name="connsiteX19" fmla="*/ 198958 w 278551"/>
                    <a:gd name="connsiteY19" fmla="*/ 115999 h 302245"/>
                    <a:gd name="connsiteX20" fmla="*/ 198034 w 278551"/>
                    <a:gd name="connsiteY20" fmla="*/ 192038 h 302245"/>
                    <a:gd name="connsiteX21" fmla="*/ 144208 w 278551"/>
                    <a:gd name="connsiteY21" fmla="*/ 218139 h 302245"/>
                    <a:gd name="connsiteX22" fmla="*/ 155568 w 278551"/>
                    <a:gd name="connsiteY22" fmla="*/ 241121 h 302245"/>
                    <a:gd name="connsiteX23" fmla="*/ 182697 w 278551"/>
                    <a:gd name="connsiteY23" fmla="*/ 246757 h 302245"/>
                    <a:gd name="connsiteX24" fmla="*/ 166987 w 278551"/>
                    <a:gd name="connsiteY24" fmla="*/ 255827 h 302245"/>
                    <a:gd name="connsiteX25" fmla="*/ 156075 w 278551"/>
                    <a:gd name="connsiteY25" fmla="*/ 302245 h 302245"/>
                    <a:gd name="connsiteX26" fmla="*/ 122476 w 278551"/>
                    <a:gd name="connsiteY26" fmla="*/ 302245 h 302245"/>
                    <a:gd name="connsiteX27" fmla="*/ 111565 w 278551"/>
                    <a:gd name="connsiteY27" fmla="*/ 255827 h 302245"/>
                    <a:gd name="connsiteX28" fmla="*/ 62455 w 278551"/>
                    <a:gd name="connsiteY28" fmla="*/ 227473 h 302245"/>
                    <a:gd name="connsiteX29" fmla="*/ 16799 w 278551"/>
                    <a:gd name="connsiteY29" fmla="*/ 241233 h 302245"/>
                    <a:gd name="connsiteX30" fmla="*/ 0 w 278551"/>
                    <a:gd name="connsiteY30" fmla="*/ 212135 h 302245"/>
                    <a:gd name="connsiteX31" fmla="*/ 34743 w 278551"/>
                    <a:gd name="connsiteY31" fmla="*/ 179476 h 302245"/>
                    <a:gd name="connsiteX32" fmla="*/ 34743 w 278551"/>
                    <a:gd name="connsiteY32" fmla="*/ 122768 h 302245"/>
                    <a:gd name="connsiteX33" fmla="*/ 0 w 278551"/>
                    <a:gd name="connsiteY33" fmla="*/ 90110 h 302245"/>
                    <a:gd name="connsiteX34" fmla="*/ 16799 w 278551"/>
                    <a:gd name="connsiteY34" fmla="*/ 61012 h 302245"/>
                    <a:gd name="connsiteX35" fmla="*/ 62454 w 278551"/>
                    <a:gd name="connsiteY35" fmla="*/ 74772 h 302245"/>
                    <a:gd name="connsiteX36" fmla="*/ 122476 w 278551"/>
                    <a:gd name="connsiteY36" fmla="*/ 0 h 302245"/>
                    <a:gd name="connsiteX37" fmla="*/ 156075 w 278551"/>
                    <a:gd name="connsiteY37" fmla="*/ 0 h 302245"/>
                    <a:gd name="connsiteX38" fmla="*/ 165987 w 278551"/>
                    <a:gd name="connsiteY38" fmla="*/ 42169 h 302245"/>
                    <a:gd name="connsiteX39" fmla="*/ 142303 w 278551"/>
                    <a:gd name="connsiteY39" fmla="*/ 37087 h 302245"/>
                    <a:gd name="connsiteX40" fmla="*/ 112428 w 278551"/>
                    <a:gd name="connsiteY40" fmla="*/ 42742 h 30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78551" h="302245">
                      <a:moveTo>
                        <a:pt x="250470" y="185740"/>
                      </a:moveTo>
                      <a:lnTo>
                        <a:pt x="278551" y="212135"/>
                      </a:lnTo>
                      <a:lnTo>
                        <a:pt x="261752" y="241233"/>
                      </a:lnTo>
                      <a:lnTo>
                        <a:pt x="225317" y="230252"/>
                      </a:lnTo>
                      <a:lnTo>
                        <a:pt x="247440" y="199863"/>
                      </a:lnTo>
                      <a:close/>
                      <a:moveTo>
                        <a:pt x="139274" y="84295"/>
                      </a:moveTo>
                      <a:lnTo>
                        <a:pt x="196885" y="113100"/>
                      </a:lnTo>
                      <a:lnTo>
                        <a:pt x="196884" y="114931"/>
                      </a:lnTo>
                      <a:lnTo>
                        <a:pt x="141702" y="86497"/>
                      </a:lnTo>
                      <a:lnTo>
                        <a:pt x="91232" y="110971"/>
                      </a:lnTo>
                      <a:lnTo>
                        <a:pt x="90180" y="108843"/>
                      </a:lnTo>
                      <a:close/>
                      <a:moveTo>
                        <a:pt x="93907" y="56612"/>
                      </a:moveTo>
                      <a:lnTo>
                        <a:pt x="77529" y="83250"/>
                      </a:lnTo>
                      <a:lnTo>
                        <a:pt x="90180" y="108843"/>
                      </a:lnTo>
                      <a:lnTo>
                        <a:pt x="81665" y="113100"/>
                      </a:lnTo>
                      <a:lnTo>
                        <a:pt x="81665" y="189144"/>
                      </a:lnTo>
                      <a:lnTo>
                        <a:pt x="139274" y="217949"/>
                      </a:lnTo>
                      <a:lnTo>
                        <a:pt x="196884" y="189144"/>
                      </a:lnTo>
                      <a:lnTo>
                        <a:pt x="196884" y="114931"/>
                      </a:lnTo>
                      <a:lnTo>
                        <a:pt x="198958" y="115999"/>
                      </a:lnTo>
                      <a:lnTo>
                        <a:pt x="198034" y="192038"/>
                      </a:lnTo>
                      <a:lnTo>
                        <a:pt x="144208" y="218139"/>
                      </a:lnTo>
                      <a:lnTo>
                        <a:pt x="155568" y="241121"/>
                      </a:lnTo>
                      <a:lnTo>
                        <a:pt x="182697" y="246757"/>
                      </a:lnTo>
                      <a:lnTo>
                        <a:pt x="166987" y="255827"/>
                      </a:lnTo>
                      <a:lnTo>
                        <a:pt x="156075" y="302245"/>
                      </a:lnTo>
                      <a:lnTo>
                        <a:pt x="122476" y="302245"/>
                      </a:lnTo>
                      <a:lnTo>
                        <a:pt x="111565" y="255827"/>
                      </a:lnTo>
                      <a:cubicBezTo>
                        <a:pt x="92967" y="250905"/>
                        <a:pt x="76016" y="241118"/>
                        <a:pt x="62455" y="227473"/>
                      </a:cubicBezTo>
                      <a:lnTo>
                        <a:pt x="16799" y="241233"/>
                      </a:lnTo>
                      <a:lnTo>
                        <a:pt x="0" y="212135"/>
                      </a:lnTo>
                      <a:lnTo>
                        <a:pt x="34743" y="179476"/>
                      </a:lnTo>
                      <a:cubicBezTo>
                        <a:pt x="29707" y="160909"/>
                        <a:pt x="29707" y="141335"/>
                        <a:pt x="34743" y="122768"/>
                      </a:cubicBezTo>
                      <a:lnTo>
                        <a:pt x="0" y="90110"/>
                      </a:lnTo>
                      <a:lnTo>
                        <a:pt x="16799" y="61012"/>
                      </a:lnTo>
                      <a:lnTo>
                        <a:pt x="62454" y="74772"/>
                      </a:lnTo>
                      <a:close/>
                      <a:moveTo>
                        <a:pt x="122476" y="0"/>
                      </a:moveTo>
                      <a:lnTo>
                        <a:pt x="156075" y="0"/>
                      </a:lnTo>
                      <a:lnTo>
                        <a:pt x="165987" y="42169"/>
                      </a:lnTo>
                      <a:lnTo>
                        <a:pt x="142303" y="37087"/>
                      </a:lnTo>
                      <a:lnTo>
                        <a:pt x="112428" y="42742"/>
                      </a:lnTo>
                      <a:close/>
                    </a:path>
                  </a:pathLst>
                </a:custGeom>
                <a:solidFill>
                  <a:schemeClr val="bg1"/>
                </a:solidFill>
                <a:ln w="19050">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1" name="Freeform 20"/>
                <p:cNvSpPr/>
                <p:nvPr/>
              </p:nvSpPr>
              <p:spPr>
                <a:xfrm rot="20021754">
                  <a:off x="2054359" y="3161328"/>
                  <a:ext cx="403626" cy="168587"/>
                </a:xfrm>
                <a:custGeom>
                  <a:avLst/>
                  <a:gdLst>
                    <a:gd name="connsiteX0" fmla="*/ 99307 w 541041"/>
                    <a:gd name="connsiteY0" fmla="*/ 54263 h 225982"/>
                    <a:gd name="connsiteX1" fmla="*/ 136175 w 541041"/>
                    <a:gd name="connsiteY1" fmla="*/ 104206 h 225982"/>
                    <a:gd name="connsiteX2" fmla="*/ 103289 w 541041"/>
                    <a:gd name="connsiteY2" fmla="*/ 170735 h 225982"/>
                    <a:gd name="connsiteX3" fmla="*/ 38879 w 541041"/>
                    <a:gd name="connsiteY3" fmla="*/ 171028 h 225982"/>
                    <a:gd name="connsiteX4" fmla="*/ 0 w 541041"/>
                    <a:gd name="connsiteY4" fmla="*/ 119677 h 225982"/>
                    <a:gd name="connsiteX5" fmla="*/ 33698 w 541041"/>
                    <a:gd name="connsiteY5" fmla="*/ 51507 h 225982"/>
                    <a:gd name="connsiteX6" fmla="*/ 43218 w 541041"/>
                    <a:gd name="connsiteY6" fmla="*/ 51464 h 225982"/>
                    <a:gd name="connsiteX7" fmla="*/ 43218 w 541041"/>
                    <a:gd name="connsiteY7" fmla="*/ 53838 h 225982"/>
                    <a:gd name="connsiteX8" fmla="*/ 504723 w 541041"/>
                    <a:gd name="connsiteY8" fmla="*/ 53019 h 225982"/>
                    <a:gd name="connsiteX9" fmla="*/ 541041 w 541041"/>
                    <a:gd name="connsiteY9" fmla="*/ 107811 h 225982"/>
                    <a:gd name="connsiteX10" fmla="*/ 481576 w 541041"/>
                    <a:gd name="connsiteY10" fmla="*/ 167276 h 225982"/>
                    <a:gd name="connsiteX11" fmla="*/ 171988 w 541041"/>
                    <a:gd name="connsiteY11" fmla="*/ 167276 h 225982"/>
                    <a:gd name="connsiteX12" fmla="*/ 143860 w 541041"/>
                    <a:gd name="connsiteY12" fmla="*/ 202747 h 225982"/>
                    <a:gd name="connsiteX13" fmla="*/ 99545 w 541041"/>
                    <a:gd name="connsiteY13" fmla="*/ 225955 h 225982"/>
                    <a:gd name="connsiteX14" fmla="*/ 99000 w 541041"/>
                    <a:gd name="connsiteY14" fmla="*/ 225982 h 225982"/>
                    <a:gd name="connsiteX15" fmla="*/ 66761 w 541041"/>
                    <a:gd name="connsiteY15" fmla="*/ 217441 h 225982"/>
                    <a:gd name="connsiteX16" fmla="*/ 43218 w 541041"/>
                    <a:gd name="connsiteY16" fmla="*/ 199021 h 225982"/>
                    <a:gd name="connsiteX17" fmla="*/ 43218 w 541041"/>
                    <a:gd name="connsiteY17" fmla="*/ 173385 h 225982"/>
                    <a:gd name="connsiteX18" fmla="*/ 103037 w 541041"/>
                    <a:gd name="connsiteY18" fmla="*/ 173839 h 225982"/>
                    <a:gd name="connsiteX19" fmla="*/ 137561 w 541041"/>
                    <a:gd name="connsiteY19" fmla="*/ 106083 h 225982"/>
                    <a:gd name="connsiteX20" fmla="*/ 136175 w 541041"/>
                    <a:gd name="connsiteY20" fmla="*/ 104206 h 225982"/>
                    <a:gd name="connsiteX21" fmla="*/ 136987 w 541041"/>
                    <a:gd name="connsiteY21" fmla="*/ 102565 h 225982"/>
                    <a:gd name="connsiteX22" fmla="*/ 98106 w 541041"/>
                    <a:gd name="connsiteY22" fmla="*/ 51213 h 225982"/>
                    <a:gd name="connsiteX23" fmla="*/ 43218 w 541041"/>
                    <a:gd name="connsiteY23" fmla="*/ 51464 h 225982"/>
                    <a:gd name="connsiteX24" fmla="*/ 43218 w 541041"/>
                    <a:gd name="connsiteY24" fmla="*/ 22915 h 225982"/>
                    <a:gd name="connsiteX25" fmla="*/ 77964 w 541041"/>
                    <a:gd name="connsiteY25" fmla="*/ 1110 h 225982"/>
                    <a:gd name="connsiteX26" fmla="*/ 85046 w 541041"/>
                    <a:gd name="connsiteY26" fmla="*/ 0 h 225982"/>
                    <a:gd name="connsiteX27" fmla="*/ 121741 w 541041"/>
                    <a:gd name="connsiteY27" fmla="*/ 10236 h 225982"/>
                    <a:gd name="connsiteX28" fmla="*/ 157909 w 541041"/>
                    <a:gd name="connsiteY28" fmla="*/ 38916 h 225982"/>
                    <a:gd name="connsiteX29" fmla="*/ 163138 w 541041"/>
                    <a:gd name="connsiteY29" fmla="*/ 48346 h 225982"/>
                    <a:gd name="connsiteX30" fmla="*/ 481576 w 541041"/>
                    <a:gd name="connsiteY30" fmla="*/ 48346 h 225982"/>
                    <a:gd name="connsiteX31" fmla="*/ 504723 w 541041"/>
                    <a:gd name="connsiteY31" fmla="*/ 53019 h 22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41041" h="225982">
                      <a:moveTo>
                        <a:pt x="99307" y="54263"/>
                      </a:moveTo>
                      <a:lnTo>
                        <a:pt x="136175" y="104206"/>
                      </a:lnTo>
                      <a:lnTo>
                        <a:pt x="103289" y="170735"/>
                      </a:lnTo>
                      <a:lnTo>
                        <a:pt x="38879" y="171028"/>
                      </a:lnTo>
                      <a:lnTo>
                        <a:pt x="0" y="119677"/>
                      </a:lnTo>
                      <a:lnTo>
                        <a:pt x="33698" y="51507"/>
                      </a:lnTo>
                      <a:lnTo>
                        <a:pt x="43218" y="51464"/>
                      </a:lnTo>
                      <a:lnTo>
                        <a:pt x="43218" y="53838"/>
                      </a:lnTo>
                      <a:close/>
                      <a:moveTo>
                        <a:pt x="504723" y="53019"/>
                      </a:moveTo>
                      <a:cubicBezTo>
                        <a:pt x="526066" y="62046"/>
                        <a:pt x="541041" y="83180"/>
                        <a:pt x="541041" y="107811"/>
                      </a:cubicBezTo>
                      <a:cubicBezTo>
                        <a:pt x="541041" y="140653"/>
                        <a:pt x="514418" y="167276"/>
                        <a:pt x="481576" y="167276"/>
                      </a:cubicBezTo>
                      <a:lnTo>
                        <a:pt x="171988" y="167276"/>
                      </a:lnTo>
                      <a:lnTo>
                        <a:pt x="143860" y="202747"/>
                      </a:lnTo>
                      <a:cubicBezTo>
                        <a:pt x="130861" y="213683"/>
                        <a:pt x="115692" y="221548"/>
                        <a:pt x="99545" y="225955"/>
                      </a:cubicBezTo>
                      <a:lnTo>
                        <a:pt x="99000" y="225982"/>
                      </a:lnTo>
                      <a:lnTo>
                        <a:pt x="66761" y="217441"/>
                      </a:lnTo>
                      <a:lnTo>
                        <a:pt x="43218" y="199021"/>
                      </a:lnTo>
                      <a:lnTo>
                        <a:pt x="43218" y="173385"/>
                      </a:lnTo>
                      <a:lnTo>
                        <a:pt x="103037" y="173839"/>
                      </a:lnTo>
                      <a:lnTo>
                        <a:pt x="137561" y="106083"/>
                      </a:lnTo>
                      <a:lnTo>
                        <a:pt x="136175" y="104206"/>
                      </a:lnTo>
                      <a:lnTo>
                        <a:pt x="136987" y="102565"/>
                      </a:lnTo>
                      <a:lnTo>
                        <a:pt x="98106" y="51213"/>
                      </a:lnTo>
                      <a:lnTo>
                        <a:pt x="43218" y="51464"/>
                      </a:lnTo>
                      <a:lnTo>
                        <a:pt x="43218" y="22915"/>
                      </a:lnTo>
                      <a:lnTo>
                        <a:pt x="77964" y="1110"/>
                      </a:lnTo>
                      <a:lnTo>
                        <a:pt x="85046" y="0"/>
                      </a:lnTo>
                      <a:lnTo>
                        <a:pt x="121741" y="10236"/>
                      </a:lnTo>
                      <a:cubicBezTo>
                        <a:pt x="136041" y="17522"/>
                        <a:pt x="148188" y="27361"/>
                        <a:pt x="157909" y="38916"/>
                      </a:cubicBezTo>
                      <a:lnTo>
                        <a:pt x="163138" y="48346"/>
                      </a:lnTo>
                      <a:lnTo>
                        <a:pt x="481576" y="48346"/>
                      </a:lnTo>
                      <a:cubicBezTo>
                        <a:pt x="489787" y="48346"/>
                        <a:pt x="497608" y="50010"/>
                        <a:pt x="504723" y="53019"/>
                      </a:cubicBezTo>
                      <a:close/>
                    </a:path>
                  </a:pathLst>
                </a:cu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22" name="Hexagon 21"/>
                <p:cNvSpPr/>
                <p:nvPr/>
              </p:nvSpPr>
              <p:spPr>
                <a:xfrm rot="16200000">
                  <a:off x="2067787" y="3266584"/>
                  <a:ext cx="102880" cy="89052"/>
                </a:xfrm>
                <a:prstGeom prst="hexagon">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grpSp>
      </p:grpSp>
      <p:grpSp>
        <p:nvGrpSpPr>
          <p:cNvPr id="195" name="Group 194"/>
          <p:cNvGrpSpPr/>
          <p:nvPr/>
        </p:nvGrpSpPr>
        <p:grpSpPr>
          <a:xfrm>
            <a:off x="5521305" y="516046"/>
            <a:ext cx="2745258" cy="1454951"/>
            <a:chOff x="5140305" y="516046"/>
            <a:chExt cx="2745258" cy="1454951"/>
          </a:xfrm>
        </p:grpSpPr>
        <p:grpSp>
          <p:nvGrpSpPr>
            <p:cNvPr id="41" name="Process B"/>
            <p:cNvGrpSpPr/>
            <p:nvPr/>
          </p:nvGrpSpPr>
          <p:grpSpPr>
            <a:xfrm flipH="1">
              <a:off x="5140305" y="516046"/>
              <a:ext cx="2745258" cy="1234786"/>
              <a:chOff x="5785070" y="298924"/>
              <a:chExt cx="2745258" cy="1700610"/>
            </a:xfrm>
          </p:grpSpPr>
          <p:sp>
            <p:nvSpPr>
              <p:cNvPr id="32" name="Process B3"/>
              <p:cNvSpPr/>
              <p:nvPr/>
            </p:nvSpPr>
            <p:spPr>
              <a:xfrm>
                <a:off x="5785070" y="298924"/>
                <a:ext cx="2440458" cy="1395810"/>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39" name="Process B2"/>
              <p:cNvSpPr/>
              <p:nvPr/>
            </p:nvSpPr>
            <p:spPr>
              <a:xfrm>
                <a:off x="5937470" y="451324"/>
                <a:ext cx="2440458" cy="1395810"/>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40" name="Process B1"/>
              <p:cNvSpPr/>
              <p:nvPr/>
            </p:nvSpPr>
            <p:spPr>
              <a:xfrm>
                <a:off x="6089870" y="603724"/>
                <a:ext cx="2440458" cy="1395810"/>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grpSp>
          <p:nvGrpSpPr>
            <p:cNvPr id="33" name="PT Agent B"/>
            <p:cNvGrpSpPr/>
            <p:nvPr/>
          </p:nvGrpSpPr>
          <p:grpSpPr>
            <a:xfrm>
              <a:off x="5247478" y="1501855"/>
              <a:ext cx="1074956" cy="469142"/>
              <a:chOff x="2626646" y="3779254"/>
              <a:chExt cx="1074956" cy="469142"/>
            </a:xfrm>
          </p:grpSpPr>
          <p:sp>
            <p:nvSpPr>
              <p:cNvPr id="34" name="Text"/>
              <p:cNvSpPr/>
              <p:nvPr/>
            </p:nvSpPr>
            <p:spPr>
              <a:xfrm>
                <a:off x="2703536" y="3779254"/>
                <a:ext cx="998066" cy="331980"/>
              </a:xfrm>
              <a:prstGeom prst="rect">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91440" bIns="0" rtlCol="0" anchor="t" anchorCtr="0"/>
              <a:lstStyle/>
              <a:p>
                <a:pPr algn="r"/>
                <a:r>
                  <a:rPr lang="en-US" dirty="0" smtClean="0">
                    <a:solidFill>
                      <a:schemeClr val="tx1"/>
                    </a:solidFill>
                  </a:rPr>
                  <a:t>PT Agent</a:t>
                </a:r>
                <a:endParaRPr lang="en-US" dirty="0">
                  <a:solidFill>
                    <a:schemeClr val="tx1"/>
                  </a:solidFill>
                </a:endParaRPr>
              </a:p>
            </p:txBody>
          </p:sp>
          <p:grpSp>
            <p:nvGrpSpPr>
              <p:cNvPr id="35" name="Group 34"/>
              <p:cNvGrpSpPr/>
              <p:nvPr/>
            </p:nvGrpSpPr>
            <p:grpSpPr>
              <a:xfrm rot="878394">
                <a:off x="2626646" y="3986085"/>
                <a:ext cx="442659" cy="262311"/>
                <a:chOff x="2015326" y="3161328"/>
                <a:chExt cx="442659" cy="262311"/>
              </a:xfrm>
            </p:grpSpPr>
            <p:sp>
              <p:nvSpPr>
                <p:cNvPr id="36" name="Freeform 35"/>
                <p:cNvSpPr/>
                <p:nvPr/>
              </p:nvSpPr>
              <p:spPr>
                <a:xfrm>
                  <a:off x="2015326" y="3198159"/>
                  <a:ext cx="207804" cy="225480"/>
                </a:xfrm>
                <a:custGeom>
                  <a:avLst/>
                  <a:gdLst>
                    <a:gd name="connsiteX0" fmla="*/ 250470 w 278551"/>
                    <a:gd name="connsiteY0" fmla="*/ 185740 h 302245"/>
                    <a:gd name="connsiteX1" fmla="*/ 278551 w 278551"/>
                    <a:gd name="connsiteY1" fmla="*/ 212135 h 302245"/>
                    <a:gd name="connsiteX2" fmla="*/ 261752 w 278551"/>
                    <a:gd name="connsiteY2" fmla="*/ 241233 h 302245"/>
                    <a:gd name="connsiteX3" fmla="*/ 225317 w 278551"/>
                    <a:gd name="connsiteY3" fmla="*/ 230252 h 302245"/>
                    <a:gd name="connsiteX4" fmla="*/ 247440 w 278551"/>
                    <a:gd name="connsiteY4" fmla="*/ 199863 h 302245"/>
                    <a:gd name="connsiteX5" fmla="*/ 139274 w 278551"/>
                    <a:gd name="connsiteY5" fmla="*/ 84295 h 302245"/>
                    <a:gd name="connsiteX6" fmla="*/ 196885 w 278551"/>
                    <a:gd name="connsiteY6" fmla="*/ 113100 h 302245"/>
                    <a:gd name="connsiteX7" fmla="*/ 196884 w 278551"/>
                    <a:gd name="connsiteY7" fmla="*/ 114931 h 302245"/>
                    <a:gd name="connsiteX8" fmla="*/ 141702 w 278551"/>
                    <a:gd name="connsiteY8" fmla="*/ 86497 h 302245"/>
                    <a:gd name="connsiteX9" fmla="*/ 91232 w 278551"/>
                    <a:gd name="connsiteY9" fmla="*/ 110971 h 302245"/>
                    <a:gd name="connsiteX10" fmla="*/ 90180 w 278551"/>
                    <a:gd name="connsiteY10" fmla="*/ 108843 h 302245"/>
                    <a:gd name="connsiteX11" fmla="*/ 93907 w 278551"/>
                    <a:gd name="connsiteY11" fmla="*/ 56612 h 302245"/>
                    <a:gd name="connsiteX12" fmla="*/ 77529 w 278551"/>
                    <a:gd name="connsiteY12" fmla="*/ 83250 h 302245"/>
                    <a:gd name="connsiteX13" fmla="*/ 90180 w 278551"/>
                    <a:gd name="connsiteY13" fmla="*/ 108843 h 302245"/>
                    <a:gd name="connsiteX14" fmla="*/ 81665 w 278551"/>
                    <a:gd name="connsiteY14" fmla="*/ 113100 h 302245"/>
                    <a:gd name="connsiteX15" fmla="*/ 81665 w 278551"/>
                    <a:gd name="connsiteY15" fmla="*/ 189144 h 302245"/>
                    <a:gd name="connsiteX16" fmla="*/ 139274 w 278551"/>
                    <a:gd name="connsiteY16" fmla="*/ 217949 h 302245"/>
                    <a:gd name="connsiteX17" fmla="*/ 196884 w 278551"/>
                    <a:gd name="connsiteY17" fmla="*/ 189144 h 302245"/>
                    <a:gd name="connsiteX18" fmla="*/ 196884 w 278551"/>
                    <a:gd name="connsiteY18" fmla="*/ 114931 h 302245"/>
                    <a:gd name="connsiteX19" fmla="*/ 198958 w 278551"/>
                    <a:gd name="connsiteY19" fmla="*/ 115999 h 302245"/>
                    <a:gd name="connsiteX20" fmla="*/ 198034 w 278551"/>
                    <a:gd name="connsiteY20" fmla="*/ 192038 h 302245"/>
                    <a:gd name="connsiteX21" fmla="*/ 144208 w 278551"/>
                    <a:gd name="connsiteY21" fmla="*/ 218139 h 302245"/>
                    <a:gd name="connsiteX22" fmla="*/ 155568 w 278551"/>
                    <a:gd name="connsiteY22" fmla="*/ 241121 h 302245"/>
                    <a:gd name="connsiteX23" fmla="*/ 182697 w 278551"/>
                    <a:gd name="connsiteY23" fmla="*/ 246757 h 302245"/>
                    <a:gd name="connsiteX24" fmla="*/ 166987 w 278551"/>
                    <a:gd name="connsiteY24" fmla="*/ 255827 h 302245"/>
                    <a:gd name="connsiteX25" fmla="*/ 156075 w 278551"/>
                    <a:gd name="connsiteY25" fmla="*/ 302245 h 302245"/>
                    <a:gd name="connsiteX26" fmla="*/ 122476 w 278551"/>
                    <a:gd name="connsiteY26" fmla="*/ 302245 h 302245"/>
                    <a:gd name="connsiteX27" fmla="*/ 111565 w 278551"/>
                    <a:gd name="connsiteY27" fmla="*/ 255827 h 302245"/>
                    <a:gd name="connsiteX28" fmla="*/ 62455 w 278551"/>
                    <a:gd name="connsiteY28" fmla="*/ 227473 h 302245"/>
                    <a:gd name="connsiteX29" fmla="*/ 16799 w 278551"/>
                    <a:gd name="connsiteY29" fmla="*/ 241233 h 302245"/>
                    <a:gd name="connsiteX30" fmla="*/ 0 w 278551"/>
                    <a:gd name="connsiteY30" fmla="*/ 212135 h 302245"/>
                    <a:gd name="connsiteX31" fmla="*/ 34743 w 278551"/>
                    <a:gd name="connsiteY31" fmla="*/ 179476 h 302245"/>
                    <a:gd name="connsiteX32" fmla="*/ 34743 w 278551"/>
                    <a:gd name="connsiteY32" fmla="*/ 122768 h 302245"/>
                    <a:gd name="connsiteX33" fmla="*/ 0 w 278551"/>
                    <a:gd name="connsiteY33" fmla="*/ 90110 h 302245"/>
                    <a:gd name="connsiteX34" fmla="*/ 16799 w 278551"/>
                    <a:gd name="connsiteY34" fmla="*/ 61012 h 302245"/>
                    <a:gd name="connsiteX35" fmla="*/ 62454 w 278551"/>
                    <a:gd name="connsiteY35" fmla="*/ 74772 h 302245"/>
                    <a:gd name="connsiteX36" fmla="*/ 122476 w 278551"/>
                    <a:gd name="connsiteY36" fmla="*/ 0 h 302245"/>
                    <a:gd name="connsiteX37" fmla="*/ 156075 w 278551"/>
                    <a:gd name="connsiteY37" fmla="*/ 0 h 302245"/>
                    <a:gd name="connsiteX38" fmla="*/ 165987 w 278551"/>
                    <a:gd name="connsiteY38" fmla="*/ 42169 h 302245"/>
                    <a:gd name="connsiteX39" fmla="*/ 142303 w 278551"/>
                    <a:gd name="connsiteY39" fmla="*/ 37087 h 302245"/>
                    <a:gd name="connsiteX40" fmla="*/ 112428 w 278551"/>
                    <a:gd name="connsiteY40" fmla="*/ 42742 h 30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78551" h="302245">
                      <a:moveTo>
                        <a:pt x="250470" y="185740"/>
                      </a:moveTo>
                      <a:lnTo>
                        <a:pt x="278551" y="212135"/>
                      </a:lnTo>
                      <a:lnTo>
                        <a:pt x="261752" y="241233"/>
                      </a:lnTo>
                      <a:lnTo>
                        <a:pt x="225317" y="230252"/>
                      </a:lnTo>
                      <a:lnTo>
                        <a:pt x="247440" y="199863"/>
                      </a:lnTo>
                      <a:close/>
                      <a:moveTo>
                        <a:pt x="139274" y="84295"/>
                      </a:moveTo>
                      <a:lnTo>
                        <a:pt x="196885" y="113100"/>
                      </a:lnTo>
                      <a:lnTo>
                        <a:pt x="196884" y="114931"/>
                      </a:lnTo>
                      <a:lnTo>
                        <a:pt x="141702" y="86497"/>
                      </a:lnTo>
                      <a:lnTo>
                        <a:pt x="91232" y="110971"/>
                      </a:lnTo>
                      <a:lnTo>
                        <a:pt x="90180" y="108843"/>
                      </a:lnTo>
                      <a:close/>
                      <a:moveTo>
                        <a:pt x="93907" y="56612"/>
                      </a:moveTo>
                      <a:lnTo>
                        <a:pt x="77529" y="83250"/>
                      </a:lnTo>
                      <a:lnTo>
                        <a:pt x="90180" y="108843"/>
                      </a:lnTo>
                      <a:lnTo>
                        <a:pt x="81665" y="113100"/>
                      </a:lnTo>
                      <a:lnTo>
                        <a:pt x="81665" y="189144"/>
                      </a:lnTo>
                      <a:lnTo>
                        <a:pt x="139274" y="217949"/>
                      </a:lnTo>
                      <a:lnTo>
                        <a:pt x="196884" y="189144"/>
                      </a:lnTo>
                      <a:lnTo>
                        <a:pt x="196884" y="114931"/>
                      </a:lnTo>
                      <a:lnTo>
                        <a:pt x="198958" y="115999"/>
                      </a:lnTo>
                      <a:lnTo>
                        <a:pt x="198034" y="192038"/>
                      </a:lnTo>
                      <a:lnTo>
                        <a:pt x="144208" y="218139"/>
                      </a:lnTo>
                      <a:lnTo>
                        <a:pt x="155568" y="241121"/>
                      </a:lnTo>
                      <a:lnTo>
                        <a:pt x="182697" y="246757"/>
                      </a:lnTo>
                      <a:lnTo>
                        <a:pt x="166987" y="255827"/>
                      </a:lnTo>
                      <a:lnTo>
                        <a:pt x="156075" y="302245"/>
                      </a:lnTo>
                      <a:lnTo>
                        <a:pt x="122476" y="302245"/>
                      </a:lnTo>
                      <a:lnTo>
                        <a:pt x="111565" y="255827"/>
                      </a:lnTo>
                      <a:cubicBezTo>
                        <a:pt x="92967" y="250905"/>
                        <a:pt x="76016" y="241118"/>
                        <a:pt x="62455" y="227473"/>
                      </a:cubicBezTo>
                      <a:lnTo>
                        <a:pt x="16799" y="241233"/>
                      </a:lnTo>
                      <a:lnTo>
                        <a:pt x="0" y="212135"/>
                      </a:lnTo>
                      <a:lnTo>
                        <a:pt x="34743" y="179476"/>
                      </a:lnTo>
                      <a:cubicBezTo>
                        <a:pt x="29707" y="160909"/>
                        <a:pt x="29707" y="141335"/>
                        <a:pt x="34743" y="122768"/>
                      </a:cubicBezTo>
                      <a:lnTo>
                        <a:pt x="0" y="90110"/>
                      </a:lnTo>
                      <a:lnTo>
                        <a:pt x="16799" y="61012"/>
                      </a:lnTo>
                      <a:lnTo>
                        <a:pt x="62454" y="74772"/>
                      </a:lnTo>
                      <a:close/>
                      <a:moveTo>
                        <a:pt x="122476" y="0"/>
                      </a:moveTo>
                      <a:lnTo>
                        <a:pt x="156075" y="0"/>
                      </a:lnTo>
                      <a:lnTo>
                        <a:pt x="165987" y="42169"/>
                      </a:lnTo>
                      <a:lnTo>
                        <a:pt x="142303" y="37087"/>
                      </a:lnTo>
                      <a:lnTo>
                        <a:pt x="112428" y="42742"/>
                      </a:lnTo>
                      <a:close/>
                    </a:path>
                  </a:pathLst>
                </a:custGeom>
                <a:solidFill>
                  <a:schemeClr val="bg1"/>
                </a:solidFill>
                <a:ln w="19050">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37" name="Freeform 36"/>
                <p:cNvSpPr/>
                <p:nvPr/>
              </p:nvSpPr>
              <p:spPr>
                <a:xfrm rot="20021754">
                  <a:off x="2054359" y="3161328"/>
                  <a:ext cx="403626" cy="168587"/>
                </a:xfrm>
                <a:custGeom>
                  <a:avLst/>
                  <a:gdLst>
                    <a:gd name="connsiteX0" fmla="*/ 99307 w 541041"/>
                    <a:gd name="connsiteY0" fmla="*/ 54263 h 225982"/>
                    <a:gd name="connsiteX1" fmla="*/ 136175 w 541041"/>
                    <a:gd name="connsiteY1" fmla="*/ 104206 h 225982"/>
                    <a:gd name="connsiteX2" fmla="*/ 103289 w 541041"/>
                    <a:gd name="connsiteY2" fmla="*/ 170735 h 225982"/>
                    <a:gd name="connsiteX3" fmla="*/ 38879 w 541041"/>
                    <a:gd name="connsiteY3" fmla="*/ 171028 h 225982"/>
                    <a:gd name="connsiteX4" fmla="*/ 0 w 541041"/>
                    <a:gd name="connsiteY4" fmla="*/ 119677 h 225982"/>
                    <a:gd name="connsiteX5" fmla="*/ 33698 w 541041"/>
                    <a:gd name="connsiteY5" fmla="*/ 51507 h 225982"/>
                    <a:gd name="connsiteX6" fmla="*/ 43218 w 541041"/>
                    <a:gd name="connsiteY6" fmla="*/ 51464 h 225982"/>
                    <a:gd name="connsiteX7" fmla="*/ 43218 w 541041"/>
                    <a:gd name="connsiteY7" fmla="*/ 53838 h 225982"/>
                    <a:gd name="connsiteX8" fmla="*/ 504723 w 541041"/>
                    <a:gd name="connsiteY8" fmla="*/ 53019 h 225982"/>
                    <a:gd name="connsiteX9" fmla="*/ 541041 w 541041"/>
                    <a:gd name="connsiteY9" fmla="*/ 107811 h 225982"/>
                    <a:gd name="connsiteX10" fmla="*/ 481576 w 541041"/>
                    <a:gd name="connsiteY10" fmla="*/ 167276 h 225982"/>
                    <a:gd name="connsiteX11" fmla="*/ 171988 w 541041"/>
                    <a:gd name="connsiteY11" fmla="*/ 167276 h 225982"/>
                    <a:gd name="connsiteX12" fmla="*/ 143860 w 541041"/>
                    <a:gd name="connsiteY12" fmla="*/ 202747 h 225982"/>
                    <a:gd name="connsiteX13" fmla="*/ 99545 w 541041"/>
                    <a:gd name="connsiteY13" fmla="*/ 225955 h 225982"/>
                    <a:gd name="connsiteX14" fmla="*/ 99000 w 541041"/>
                    <a:gd name="connsiteY14" fmla="*/ 225982 h 225982"/>
                    <a:gd name="connsiteX15" fmla="*/ 66761 w 541041"/>
                    <a:gd name="connsiteY15" fmla="*/ 217441 h 225982"/>
                    <a:gd name="connsiteX16" fmla="*/ 43218 w 541041"/>
                    <a:gd name="connsiteY16" fmla="*/ 199021 h 225982"/>
                    <a:gd name="connsiteX17" fmla="*/ 43218 w 541041"/>
                    <a:gd name="connsiteY17" fmla="*/ 173385 h 225982"/>
                    <a:gd name="connsiteX18" fmla="*/ 103037 w 541041"/>
                    <a:gd name="connsiteY18" fmla="*/ 173839 h 225982"/>
                    <a:gd name="connsiteX19" fmla="*/ 137561 w 541041"/>
                    <a:gd name="connsiteY19" fmla="*/ 106083 h 225982"/>
                    <a:gd name="connsiteX20" fmla="*/ 136175 w 541041"/>
                    <a:gd name="connsiteY20" fmla="*/ 104206 h 225982"/>
                    <a:gd name="connsiteX21" fmla="*/ 136987 w 541041"/>
                    <a:gd name="connsiteY21" fmla="*/ 102565 h 225982"/>
                    <a:gd name="connsiteX22" fmla="*/ 98106 w 541041"/>
                    <a:gd name="connsiteY22" fmla="*/ 51213 h 225982"/>
                    <a:gd name="connsiteX23" fmla="*/ 43218 w 541041"/>
                    <a:gd name="connsiteY23" fmla="*/ 51464 h 225982"/>
                    <a:gd name="connsiteX24" fmla="*/ 43218 w 541041"/>
                    <a:gd name="connsiteY24" fmla="*/ 22915 h 225982"/>
                    <a:gd name="connsiteX25" fmla="*/ 77964 w 541041"/>
                    <a:gd name="connsiteY25" fmla="*/ 1110 h 225982"/>
                    <a:gd name="connsiteX26" fmla="*/ 85046 w 541041"/>
                    <a:gd name="connsiteY26" fmla="*/ 0 h 225982"/>
                    <a:gd name="connsiteX27" fmla="*/ 121741 w 541041"/>
                    <a:gd name="connsiteY27" fmla="*/ 10236 h 225982"/>
                    <a:gd name="connsiteX28" fmla="*/ 157909 w 541041"/>
                    <a:gd name="connsiteY28" fmla="*/ 38916 h 225982"/>
                    <a:gd name="connsiteX29" fmla="*/ 163138 w 541041"/>
                    <a:gd name="connsiteY29" fmla="*/ 48346 h 225982"/>
                    <a:gd name="connsiteX30" fmla="*/ 481576 w 541041"/>
                    <a:gd name="connsiteY30" fmla="*/ 48346 h 225982"/>
                    <a:gd name="connsiteX31" fmla="*/ 504723 w 541041"/>
                    <a:gd name="connsiteY31" fmla="*/ 53019 h 22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41041" h="225982">
                      <a:moveTo>
                        <a:pt x="99307" y="54263"/>
                      </a:moveTo>
                      <a:lnTo>
                        <a:pt x="136175" y="104206"/>
                      </a:lnTo>
                      <a:lnTo>
                        <a:pt x="103289" y="170735"/>
                      </a:lnTo>
                      <a:lnTo>
                        <a:pt x="38879" y="171028"/>
                      </a:lnTo>
                      <a:lnTo>
                        <a:pt x="0" y="119677"/>
                      </a:lnTo>
                      <a:lnTo>
                        <a:pt x="33698" y="51507"/>
                      </a:lnTo>
                      <a:lnTo>
                        <a:pt x="43218" y="51464"/>
                      </a:lnTo>
                      <a:lnTo>
                        <a:pt x="43218" y="53838"/>
                      </a:lnTo>
                      <a:close/>
                      <a:moveTo>
                        <a:pt x="504723" y="53019"/>
                      </a:moveTo>
                      <a:cubicBezTo>
                        <a:pt x="526066" y="62046"/>
                        <a:pt x="541041" y="83180"/>
                        <a:pt x="541041" y="107811"/>
                      </a:cubicBezTo>
                      <a:cubicBezTo>
                        <a:pt x="541041" y="140653"/>
                        <a:pt x="514418" y="167276"/>
                        <a:pt x="481576" y="167276"/>
                      </a:cubicBezTo>
                      <a:lnTo>
                        <a:pt x="171988" y="167276"/>
                      </a:lnTo>
                      <a:lnTo>
                        <a:pt x="143860" y="202747"/>
                      </a:lnTo>
                      <a:cubicBezTo>
                        <a:pt x="130861" y="213683"/>
                        <a:pt x="115692" y="221548"/>
                        <a:pt x="99545" y="225955"/>
                      </a:cubicBezTo>
                      <a:lnTo>
                        <a:pt x="99000" y="225982"/>
                      </a:lnTo>
                      <a:lnTo>
                        <a:pt x="66761" y="217441"/>
                      </a:lnTo>
                      <a:lnTo>
                        <a:pt x="43218" y="199021"/>
                      </a:lnTo>
                      <a:lnTo>
                        <a:pt x="43218" y="173385"/>
                      </a:lnTo>
                      <a:lnTo>
                        <a:pt x="103037" y="173839"/>
                      </a:lnTo>
                      <a:lnTo>
                        <a:pt x="137561" y="106083"/>
                      </a:lnTo>
                      <a:lnTo>
                        <a:pt x="136175" y="104206"/>
                      </a:lnTo>
                      <a:lnTo>
                        <a:pt x="136987" y="102565"/>
                      </a:lnTo>
                      <a:lnTo>
                        <a:pt x="98106" y="51213"/>
                      </a:lnTo>
                      <a:lnTo>
                        <a:pt x="43218" y="51464"/>
                      </a:lnTo>
                      <a:lnTo>
                        <a:pt x="43218" y="22915"/>
                      </a:lnTo>
                      <a:lnTo>
                        <a:pt x="77964" y="1110"/>
                      </a:lnTo>
                      <a:lnTo>
                        <a:pt x="85046" y="0"/>
                      </a:lnTo>
                      <a:lnTo>
                        <a:pt x="121741" y="10236"/>
                      </a:lnTo>
                      <a:cubicBezTo>
                        <a:pt x="136041" y="17522"/>
                        <a:pt x="148188" y="27361"/>
                        <a:pt x="157909" y="38916"/>
                      </a:cubicBezTo>
                      <a:lnTo>
                        <a:pt x="163138" y="48346"/>
                      </a:lnTo>
                      <a:lnTo>
                        <a:pt x="481576" y="48346"/>
                      </a:lnTo>
                      <a:cubicBezTo>
                        <a:pt x="489787" y="48346"/>
                        <a:pt x="497608" y="50010"/>
                        <a:pt x="504723" y="53019"/>
                      </a:cubicBezTo>
                      <a:close/>
                    </a:path>
                  </a:pathLst>
                </a:cu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38" name="Hexagon 37"/>
                <p:cNvSpPr/>
                <p:nvPr/>
              </p:nvSpPr>
              <p:spPr>
                <a:xfrm rot="16200000">
                  <a:off x="2067787" y="3266584"/>
                  <a:ext cx="102880" cy="89052"/>
                </a:xfrm>
                <a:prstGeom prst="hexagon">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dirty="0"/>
                </a:p>
              </p:txBody>
            </p:sp>
          </p:grpSp>
        </p:grpSp>
      </p:grpSp>
      <p:sp>
        <p:nvSpPr>
          <p:cNvPr id="42" name="Green Workload"/>
          <p:cNvSpPr/>
          <p:nvPr/>
        </p:nvSpPr>
        <p:spPr>
          <a:xfrm>
            <a:off x="2047635" y="763222"/>
            <a:ext cx="6604000" cy="399484"/>
          </a:xfrm>
          <a:custGeom>
            <a:avLst/>
            <a:gdLst>
              <a:gd name="connsiteX0" fmla="*/ 0 w 6604000"/>
              <a:gd name="connsiteY0" fmla="*/ 0 h 673100"/>
              <a:gd name="connsiteX1" fmla="*/ 2514600 w 6604000"/>
              <a:gd name="connsiteY1" fmla="*/ 0 h 673100"/>
              <a:gd name="connsiteX2" fmla="*/ 3060700 w 6604000"/>
              <a:gd name="connsiteY2" fmla="*/ 673100 h 673100"/>
              <a:gd name="connsiteX3" fmla="*/ 6604000 w 6604000"/>
              <a:gd name="connsiteY3" fmla="*/ 673100 h 673100"/>
            </a:gdLst>
            <a:ahLst/>
            <a:cxnLst>
              <a:cxn ang="0">
                <a:pos x="connsiteX0" y="connsiteY0"/>
              </a:cxn>
              <a:cxn ang="0">
                <a:pos x="connsiteX1" y="connsiteY1"/>
              </a:cxn>
              <a:cxn ang="0">
                <a:pos x="connsiteX2" y="connsiteY2"/>
              </a:cxn>
              <a:cxn ang="0">
                <a:pos x="connsiteX3" y="connsiteY3"/>
              </a:cxn>
            </a:cxnLst>
            <a:rect l="l" t="t" r="r" b="b"/>
            <a:pathLst>
              <a:path w="6604000" h="673100">
                <a:moveTo>
                  <a:pt x="0" y="0"/>
                </a:moveTo>
                <a:lnTo>
                  <a:pt x="2514600" y="0"/>
                </a:lnTo>
                <a:lnTo>
                  <a:pt x="3060700" y="673100"/>
                </a:lnTo>
                <a:lnTo>
                  <a:pt x="6604000" y="673100"/>
                </a:lnTo>
              </a:path>
            </a:pathLst>
          </a:custGeom>
          <a:noFill/>
          <a:ln w="57150">
            <a:solidFill>
              <a:schemeClr val="accent3"/>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Green Tenant"/>
          <p:cNvSpPr/>
          <p:nvPr/>
        </p:nvSpPr>
        <p:spPr>
          <a:xfrm>
            <a:off x="1295742" y="404444"/>
            <a:ext cx="475862" cy="556102"/>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bg2"/>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43" name="Yellow Tenant"/>
          <p:cNvSpPr/>
          <p:nvPr/>
        </p:nvSpPr>
        <p:spPr>
          <a:xfrm>
            <a:off x="1448142" y="556844"/>
            <a:ext cx="475862" cy="556102"/>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bg2"/>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45" name="Yellow Workload"/>
          <p:cNvSpPr/>
          <p:nvPr/>
        </p:nvSpPr>
        <p:spPr>
          <a:xfrm>
            <a:off x="2200035" y="877522"/>
            <a:ext cx="6451600" cy="399484"/>
          </a:xfrm>
          <a:custGeom>
            <a:avLst/>
            <a:gdLst>
              <a:gd name="connsiteX0" fmla="*/ 0 w 6604000"/>
              <a:gd name="connsiteY0" fmla="*/ 0 h 673100"/>
              <a:gd name="connsiteX1" fmla="*/ 2514600 w 6604000"/>
              <a:gd name="connsiteY1" fmla="*/ 0 h 673100"/>
              <a:gd name="connsiteX2" fmla="*/ 3060700 w 6604000"/>
              <a:gd name="connsiteY2" fmla="*/ 673100 h 673100"/>
              <a:gd name="connsiteX3" fmla="*/ 6604000 w 6604000"/>
              <a:gd name="connsiteY3" fmla="*/ 673100 h 673100"/>
            </a:gdLst>
            <a:ahLst/>
            <a:cxnLst>
              <a:cxn ang="0">
                <a:pos x="connsiteX0" y="connsiteY0"/>
              </a:cxn>
              <a:cxn ang="0">
                <a:pos x="connsiteX1" y="connsiteY1"/>
              </a:cxn>
              <a:cxn ang="0">
                <a:pos x="connsiteX2" y="connsiteY2"/>
              </a:cxn>
              <a:cxn ang="0">
                <a:pos x="connsiteX3" y="connsiteY3"/>
              </a:cxn>
            </a:cxnLst>
            <a:rect l="l" t="t" r="r" b="b"/>
            <a:pathLst>
              <a:path w="6604000" h="673100">
                <a:moveTo>
                  <a:pt x="0" y="0"/>
                </a:moveTo>
                <a:lnTo>
                  <a:pt x="2514600" y="0"/>
                </a:lnTo>
                <a:lnTo>
                  <a:pt x="3060700" y="673100"/>
                </a:lnTo>
                <a:lnTo>
                  <a:pt x="6604000" y="673100"/>
                </a:lnTo>
              </a:path>
            </a:pathLst>
          </a:custGeom>
          <a:noFill/>
          <a:ln w="57150">
            <a:solidFill>
              <a:schemeClr val="accent3"/>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Blue Tenant"/>
          <p:cNvSpPr/>
          <p:nvPr/>
        </p:nvSpPr>
        <p:spPr>
          <a:xfrm>
            <a:off x="1600542" y="709244"/>
            <a:ext cx="475862" cy="556102"/>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bg2"/>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46" name="Blue Workload"/>
          <p:cNvSpPr/>
          <p:nvPr/>
        </p:nvSpPr>
        <p:spPr>
          <a:xfrm>
            <a:off x="2352435" y="979122"/>
            <a:ext cx="6299200" cy="399484"/>
          </a:xfrm>
          <a:custGeom>
            <a:avLst/>
            <a:gdLst>
              <a:gd name="connsiteX0" fmla="*/ 0 w 6604000"/>
              <a:gd name="connsiteY0" fmla="*/ 0 h 673100"/>
              <a:gd name="connsiteX1" fmla="*/ 2514600 w 6604000"/>
              <a:gd name="connsiteY1" fmla="*/ 0 h 673100"/>
              <a:gd name="connsiteX2" fmla="*/ 3060700 w 6604000"/>
              <a:gd name="connsiteY2" fmla="*/ 673100 h 673100"/>
              <a:gd name="connsiteX3" fmla="*/ 6604000 w 6604000"/>
              <a:gd name="connsiteY3" fmla="*/ 673100 h 673100"/>
            </a:gdLst>
            <a:ahLst/>
            <a:cxnLst>
              <a:cxn ang="0">
                <a:pos x="connsiteX0" y="connsiteY0"/>
              </a:cxn>
              <a:cxn ang="0">
                <a:pos x="connsiteX1" y="connsiteY1"/>
              </a:cxn>
              <a:cxn ang="0">
                <a:pos x="connsiteX2" y="connsiteY2"/>
              </a:cxn>
              <a:cxn ang="0">
                <a:pos x="connsiteX3" y="connsiteY3"/>
              </a:cxn>
            </a:cxnLst>
            <a:rect l="l" t="t" r="r" b="b"/>
            <a:pathLst>
              <a:path w="6604000" h="673100">
                <a:moveTo>
                  <a:pt x="0" y="0"/>
                </a:moveTo>
                <a:lnTo>
                  <a:pt x="2514600" y="0"/>
                </a:lnTo>
                <a:lnTo>
                  <a:pt x="3060700" y="673100"/>
                </a:lnTo>
                <a:lnTo>
                  <a:pt x="6604000" y="673100"/>
                </a:lnTo>
              </a:path>
            </a:pathLst>
          </a:custGeom>
          <a:noFill/>
          <a:ln w="57150">
            <a:solidFill>
              <a:schemeClr val="accent3"/>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6" name="Instrumented System"/>
          <p:cNvGrpSpPr/>
          <p:nvPr/>
        </p:nvGrpSpPr>
        <p:grpSpPr>
          <a:xfrm>
            <a:off x="2409805" y="-45532"/>
            <a:ext cx="6633414" cy="369332"/>
            <a:chOff x="2028805" y="-25868"/>
            <a:chExt cx="6633414" cy="369332"/>
          </a:xfrm>
        </p:grpSpPr>
        <p:cxnSp>
          <p:nvCxnSpPr>
            <p:cNvPr id="170" name="Straight Connector 169"/>
            <p:cNvCxnSpPr/>
            <p:nvPr/>
          </p:nvCxnSpPr>
          <p:spPr>
            <a:xfrm>
              <a:off x="2055612" y="294968"/>
              <a:ext cx="660660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71" name="TextBox 170"/>
            <p:cNvSpPr txBox="1"/>
            <p:nvPr/>
          </p:nvSpPr>
          <p:spPr>
            <a:xfrm>
              <a:off x="2028805" y="-25868"/>
              <a:ext cx="2180853" cy="369332"/>
            </a:xfrm>
            <a:prstGeom prst="rect">
              <a:avLst/>
            </a:prstGeom>
            <a:noFill/>
          </p:spPr>
          <p:txBody>
            <a:bodyPr wrap="none" rtlCol="0">
              <a:spAutoFit/>
            </a:bodyPr>
            <a:lstStyle/>
            <a:p>
              <a:r>
                <a:rPr lang="en-US" dirty="0" smtClean="0"/>
                <a:t>Instrumented System</a:t>
              </a:r>
              <a:endParaRPr lang="en-US" dirty="0"/>
            </a:p>
          </p:txBody>
        </p:sp>
        <p:sp>
          <p:nvSpPr>
            <p:cNvPr id="173" name="TextBox 172"/>
            <p:cNvSpPr txBox="1"/>
            <p:nvPr/>
          </p:nvSpPr>
          <p:spPr>
            <a:xfrm>
              <a:off x="4222190" y="-25868"/>
              <a:ext cx="370614" cy="369332"/>
            </a:xfrm>
            <a:prstGeom prst="rect">
              <a:avLst/>
            </a:prstGeom>
            <a:noFill/>
          </p:spPr>
          <p:txBody>
            <a:bodyPr wrap="none" rtlCol="0">
              <a:spAutoFit/>
            </a:bodyPr>
            <a:lstStyle/>
            <a:p>
              <a:r>
                <a:rPr lang="en-US" dirty="0" smtClean="0"/>
                <a:t>(+</a:t>
              </a:r>
              <a:endParaRPr lang="en-US" dirty="0"/>
            </a:p>
          </p:txBody>
        </p:sp>
        <p:sp>
          <p:nvSpPr>
            <p:cNvPr id="182" name="Freeform 181"/>
            <p:cNvSpPr/>
            <p:nvPr/>
          </p:nvSpPr>
          <p:spPr>
            <a:xfrm flipH="1">
              <a:off x="4521318" y="48908"/>
              <a:ext cx="268369" cy="219780"/>
            </a:xfrm>
            <a:custGeom>
              <a:avLst/>
              <a:gdLst>
                <a:gd name="connsiteX0" fmla="*/ 205184 w 1161142"/>
                <a:gd name="connsiteY0" fmla="*/ 225311 h 1009083"/>
                <a:gd name="connsiteX1" fmla="*/ 130631 w 1161142"/>
                <a:gd name="connsiteY1" fmla="*/ 225311 h 1009083"/>
                <a:gd name="connsiteX2" fmla="*/ 0 w 1161142"/>
                <a:gd name="connsiteY2" fmla="*/ 355942 h 1009083"/>
                <a:gd name="connsiteX3" fmla="*/ 0 w 1161142"/>
                <a:gd name="connsiteY3" fmla="*/ 878452 h 1009083"/>
                <a:gd name="connsiteX4" fmla="*/ 130631 w 1161142"/>
                <a:gd name="connsiteY4" fmla="*/ 1009083 h 1009083"/>
                <a:gd name="connsiteX5" fmla="*/ 205184 w 1161142"/>
                <a:gd name="connsiteY5" fmla="*/ 1009083 h 1009083"/>
                <a:gd name="connsiteX6" fmla="*/ 1030511 w 1161142"/>
                <a:gd name="connsiteY6" fmla="*/ 225311 h 1009083"/>
                <a:gd name="connsiteX7" fmla="*/ 955958 w 1161142"/>
                <a:gd name="connsiteY7" fmla="*/ 225311 h 1009083"/>
                <a:gd name="connsiteX8" fmla="*/ 955958 w 1161142"/>
                <a:gd name="connsiteY8" fmla="*/ 1009083 h 1009083"/>
                <a:gd name="connsiteX9" fmla="*/ 1030511 w 1161142"/>
                <a:gd name="connsiteY9" fmla="*/ 1009083 h 1009083"/>
                <a:gd name="connsiteX10" fmla="*/ 1161142 w 1161142"/>
                <a:gd name="connsiteY10" fmla="*/ 878452 h 1009083"/>
                <a:gd name="connsiteX11" fmla="*/ 1161142 w 1161142"/>
                <a:gd name="connsiteY11" fmla="*/ 355942 h 1009083"/>
                <a:gd name="connsiteX12" fmla="*/ 1030511 w 1161142"/>
                <a:gd name="connsiteY12" fmla="*/ 225311 h 1009083"/>
                <a:gd name="connsiteX13" fmla="*/ 580571 w 1161142"/>
                <a:gd name="connsiteY13" fmla="*/ 76200 h 1009083"/>
                <a:gd name="connsiteX14" fmla="*/ 729682 w 1161142"/>
                <a:gd name="connsiteY14" fmla="*/ 225311 h 1009083"/>
                <a:gd name="connsiteX15" fmla="*/ 431460 w 1161142"/>
                <a:gd name="connsiteY15" fmla="*/ 225311 h 1009083"/>
                <a:gd name="connsiteX16" fmla="*/ 580571 w 1161142"/>
                <a:gd name="connsiteY16" fmla="*/ 76200 h 1009083"/>
                <a:gd name="connsiteX17" fmla="*/ 580571 w 1161142"/>
                <a:gd name="connsiteY17" fmla="*/ 0 h 1009083"/>
                <a:gd name="connsiteX18" fmla="*/ 355260 w 1161142"/>
                <a:gd name="connsiteY18" fmla="*/ 225311 h 1009083"/>
                <a:gd name="connsiteX19" fmla="*/ 290704 w 1161142"/>
                <a:gd name="connsiteY19" fmla="*/ 225311 h 1009083"/>
                <a:gd name="connsiteX20" fmla="*/ 290704 w 1161142"/>
                <a:gd name="connsiteY20" fmla="*/ 1009083 h 1009083"/>
                <a:gd name="connsiteX21" fmla="*/ 870438 w 1161142"/>
                <a:gd name="connsiteY21" fmla="*/ 1009083 h 1009083"/>
                <a:gd name="connsiteX22" fmla="*/ 870438 w 1161142"/>
                <a:gd name="connsiteY22" fmla="*/ 225311 h 1009083"/>
                <a:gd name="connsiteX23" fmla="*/ 805882 w 1161142"/>
                <a:gd name="connsiteY23" fmla="*/ 225311 h 1009083"/>
                <a:gd name="connsiteX24" fmla="*/ 580571 w 1161142"/>
                <a:gd name="connsiteY24" fmla="*/ 0 h 100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61142" h="1009083">
                  <a:moveTo>
                    <a:pt x="205184" y="225311"/>
                  </a:moveTo>
                  <a:lnTo>
                    <a:pt x="130631" y="225311"/>
                  </a:lnTo>
                  <a:cubicBezTo>
                    <a:pt x="58485" y="225311"/>
                    <a:pt x="0" y="283796"/>
                    <a:pt x="0" y="355942"/>
                  </a:cubicBezTo>
                  <a:lnTo>
                    <a:pt x="0" y="878452"/>
                  </a:lnTo>
                  <a:cubicBezTo>
                    <a:pt x="0" y="950598"/>
                    <a:pt x="58485" y="1009083"/>
                    <a:pt x="130631" y="1009083"/>
                  </a:cubicBezTo>
                  <a:lnTo>
                    <a:pt x="205184" y="1009083"/>
                  </a:lnTo>
                  <a:close/>
                  <a:moveTo>
                    <a:pt x="1030511" y="225311"/>
                  </a:moveTo>
                  <a:lnTo>
                    <a:pt x="955958" y="225311"/>
                  </a:lnTo>
                  <a:lnTo>
                    <a:pt x="955958" y="1009083"/>
                  </a:lnTo>
                  <a:lnTo>
                    <a:pt x="1030511" y="1009083"/>
                  </a:lnTo>
                  <a:cubicBezTo>
                    <a:pt x="1102657" y="1009083"/>
                    <a:pt x="1161142" y="950598"/>
                    <a:pt x="1161142" y="878452"/>
                  </a:cubicBezTo>
                  <a:lnTo>
                    <a:pt x="1161142" y="355942"/>
                  </a:lnTo>
                  <a:cubicBezTo>
                    <a:pt x="1161142" y="283796"/>
                    <a:pt x="1102657" y="225311"/>
                    <a:pt x="1030511" y="225311"/>
                  </a:cubicBezTo>
                  <a:close/>
                  <a:moveTo>
                    <a:pt x="580571" y="76200"/>
                  </a:moveTo>
                  <a:cubicBezTo>
                    <a:pt x="662923" y="76200"/>
                    <a:pt x="729682" y="142959"/>
                    <a:pt x="729682" y="225311"/>
                  </a:cubicBezTo>
                  <a:lnTo>
                    <a:pt x="431460" y="225311"/>
                  </a:lnTo>
                  <a:cubicBezTo>
                    <a:pt x="431460" y="142959"/>
                    <a:pt x="498219" y="76200"/>
                    <a:pt x="580571" y="76200"/>
                  </a:cubicBezTo>
                  <a:close/>
                  <a:moveTo>
                    <a:pt x="580571" y="0"/>
                  </a:moveTo>
                  <a:cubicBezTo>
                    <a:pt x="456135" y="0"/>
                    <a:pt x="355260" y="100875"/>
                    <a:pt x="355260" y="225311"/>
                  </a:cubicBezTo>
                  <a:lnTo>
                    <a:pt x="290704" y="225311"/>
                  </a:lnTo>
                  <a:lnTo>
                    <a:pt x="290704" y="1009083"/>
                  </a:lnTo>
                  <a:lnTo>
                    <a:pt x="870438" y="1009083"/>
                  </a:lnTo>
                  <a:lnTo>
                    <a:pt x="870438" y="225311"/>
                  </a:lnTo>
                  <a:lnTo>
                    <a:pt x="805882" y="225311"/>
                  </a:lnTo>
                  <a:cubicBezTo>
                    <a:pt x="805882" y="100875"/>
                    <a:pt x="705007" y="0"/>
                    <a:pt x="580571"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83" name="TextBox 182"/>
            <p:cNvSpPr txBox="1"/>
            <p:nvPr/>
          </p:nvSpPr>
          <p:spPr>
            <a:xfrm>
              <a:off x="4706823" y="-25868"/>
              <a:ext cx="1132746" cy="369332"/>
            </a:xfrm>
            <a:prstGeom prst="rect">
              <a:avLst/>
            </a:prstGeom>
            <a:noFill/>
          </p:spPr>
          <p:txBody>
            <a:bodyPr wrap="none" rtlCol="0">
              <a:spAutoFit/>
            </a:bodyPr>
            <a:lstStyle/>
            <a:p>
              <a:r>
                <a:rPr lang="en-US" dirty="0" smtClean="0"/>
                <a:t> Baggage, </a:t>
              </a:r>
              <a:endParaRPr lang="en-US" dirty="0"/>
            </a:p>
          </p:txBody>
        </p:sp>
        <p:grpSp>
          <p:nvGrpSpPr>
            <p:cNvPr id="177" name="Group 176"/>
            <p:cNvGrpSpPr/>
            <p:nvPr/>
          </p:nvGrpSpPr>
          <p:grpSpPr>
            <a:xfrm>
              <a:off x="5905195" y="53952"/>
              <a:ext cx="351612" cy="209692"/>
              <a:chOff x="7760681" y="2437731"/>
              <a:chExt cx="456050" cy="271976"/>
            </a:xfrm>
          </p:grpSpPr>
          <p:sp>
            <p:nvSpPr>
              <p:cNvPr id="179" name="Freeform 178"/>
              <p:cNvSpPr/>
              <p:nvPr/>
            </p:nvSpPr>
            <p:spPr>
              <a:xfrm>
                <a:off x="7760681" y="2484227"/>
                <a:ext cx="207804" cy="225480"/>
              </a:xfrm>
              <a:custGeom>
                <a:avLst/>
                <a:gdLst>
                  <a:gd name="connsiteX0" fmla="*/ 250470 w 278551"/>
                  <a:gd name="connsiteY0" fmla="*/ 185740 h 302245"/>
                  <a:gd name="connsiteX1" fmla="*/ 278551 w 278551"/>
                  <a:gd name="connsiteY1" fmla="*/ 212135 h 302245"/>
                  <a:gd name="connsiteX2" fmla="*/ 261752 w 278551"/>
                  <a:gd name="connsiteY2" fmla="*/ 241233 h 302245"/>
                  <a:gd name="connsiteX3" fmla="*/ 225317 w 278551"/>
                  <a:gd name="connsiteY3" fmla="*/ 230252 h 302245"/>
                  <a:gd name="connsiteX4" fmla="*/ 247440 w 278551"/>
                  <a:gd name="connsiteY4" fmla="*/ 199863 h 302245"/>
                  <a:gd name="connsiteX5" fmla="*/ 139274 w 278551"/>
                  <a:gd name="connsiteY5" fmla="*/ 84295 h 302245"/>
                  <a:gd name="connsiteX6" fmla="*/ 196885 w 278551"/>
                  <a:gd name="connsiteY6" fmla="*/ 113100 h 302245"/>
                  <a:gd name="connsiteX7" fmla="*/ 196884 w 278551"/>
                  <a:gd name="connsiteY7" fmla="*/ 114931 h 302245"/>
                  <a:gd name="connsiteX8" fmla="*/ 141702 w 278551"/>
                  <a:gd name="connsiteY8" fmla="*/ 86497 h 302245"/>
                  <a:gd name="connsiteX9" fmla="*/ 91232 w 278551"/>
                  <a:gd name="connsiteY9" fmla="*/ 110971 h 302245"/>
                  <a:gd name="connsiteX10" fmla="*/ 90180 w 278551"/>
                  <a:gd name="connsiteY10" fmla="*/ 108843 h 302245"/>
                  <a:gd name="connsiteX11" fmla="*/ 93907 w 278551"/>
                  <a:gd name="connsiteY11" fmla="*/ 56612 h 302245"/>
                  <a:gd name="connsiteX12" fmla="*/ 77529 w 278551"/>
                  <a:gd name="connsiteY12" fmla="*/ 83250 h 302245"/>
                  <a:gd name="connsiteX13" fmla="*/ 90180 w 278551"/>
                  <a:gd name="connsiteY13" fmla="*/ 108843 h 302245"/>
                  <a:gd name="connsiteX14" fmla="*/ 81665 w 278551"/>
                  <a:gd name="connsiteY14" fmla="*/ 113100 h 302245"/>
                  <a:gd name="connsiteX15" fmla="*/ 81665 w 278551"/>
                  <a:gd name="connsiteY15" fmla="*/ 189144 h 302245"/>
                  <a:gd name="connsiteX16" fmla="*/ 139274 w 278551"/>
                  <a:gd name="connsiteY16" fmla="*/ 217949 h 302245"/>
                  <a:gd name="connsiteX17" fmla="*/ 196884 w 278551"/>
                  <a:gd name="connsiteY17" fmla="*/ 189144 h 302245"/>
                  <a:gd name="connsiteX18" fmla="*/ 196884 w 278551"/>
                  <a:gd name="connsiteY18" fmla="*/ 114931 h 302245"/>
                  <a:gd name="connsiteX19" fmla="*/ 198958 w 278551"/>
                  <a:gd name="connsiteY19" fmla="*/ 115999 h 302245"/>
                  <a:gd name="connsiteX20" fmla="*/ 198034 w 278551"/>
                  <a:gd name="connsiteY20" fmla="*/ 192038 h 302245"/>
                  <a:gd name="connsiteX21" fmla="*/ 144208 w 278551"/>
                  <a:gd name="connsiteY21" fmla="*/ 218139 h 302245"/>
                  <a:gd name="connsiteX22" fmla="*/ 155568 w 278551"/>
                  <a:gd name="connsiteY22" fmla="*/ 241121 h 302245"/>
                  <a:gd name="connsiteX23" fmla="*/ 182697 w 278551"/>
                  <a:gd name="connsiteY23" fmla="*/ 246757 h 302245"/>
                  <a:gd name="connsiteX24" fmla="*/ 166987 w 278551"/>
                  <a:gd name="connsiteY24" fmla="*/ 255827 h 302245"/>
                  <a:gd name="connsiteX25" fmla="*/ 156075 w 278551"/>
                  <a:gd name="connsiteY25" fmla="*/ 302245 h 302245"/>
                  <a:gd name="connsiteX26" fmla="*/ 122476 w 278551"/>
                  <a:gd name="connsiteY26" fmla="*/ 302245 h 302245"/>
                  <a:gd name="connsiteX27" fmla="*/ 111565 w 278551"/>
                  <a:gd name="connsiteY27" fmla="*/ 255827 h 302245"/>
                  <a:gd name="connsiteX28" fmla="*/ 62455 w 278551"/>
                  <a:gd name="connsiteY28" fmla="*/ 227473 h 302245"/>
                  <a:gd name="connsiteX29" fmla="*/ 16799 w 278551"/>
                  <a:gd name="connsiteY29" fmla="*/ 241233 h 302245"/>
                  <a:gd name="connsiteX30" fmla="*/ 0 w 278551"/>
                  <a:gd name="connsiteY30" fmla="*/ 212135 h 302245"/>
                  <a:gd name="connsiteX31" fmla="*/ 34743 w 278551"/>
                  <a:gd name="connsiteY31" fmla="*/ 179476 h 302245"/>
                  <a:gd name="connsiteX32" fmla="*/ 34743 w 278551"/>
                  <a:gd name="connsiteY32" fmla="*/ 122768 h 302245"/>
                  <a:gd name="connsiteX33" fmla="*/ 0 w 278551"/>
                  <a:gd name="connsiteY33" fmla="*/ 90110 h 302245"/>
                  <a:gd name="connsiteX34" fmla="*/ 16799 w 278551"/>
                  <a:gd name="connsiteY34" fmla="*/ 61012 h 302245"/>
                  <a:gd name="connsiteX35" fmla="*/ 62454 w 278551"/>
                  <a:gd name="connsiteY35" fmla="*/ 74772 h 302245"/>
                  <a:gd name="connsiteX36" fmla="*/ 122476 w 278551"/>
                  <a:gd name="connsiteY36" fmla="*/ 0 h 302245"/>
                  <a:gd name="connsiteX37" fmla="*/ 156075 w 278551"/>
                  <a:gd name="connsiteY37" fmla="*/ 0 h 302245"/>
                  <a:gd name="connsiteX38" fmla="*/ 165987 w 278551"/>
                  <a:gd name="connsiteY38" fmla="*/ 42169 h 302245"/>
                  <a:gd name="connsiteX39" fmla="*/ 142303 w 278551"/>
                  <a:gd name="connsiteY39" fmla="*/ 37087 h 302245"/>
                  <a:gd name="connsiteX40" fmla="*/ 112428 w 278551"/>
                  <a:gd name="connsiteY40" fmla="*/ 42742 h 30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78551" h="302245">
                    <a:moveTo>
                      <a:pt x="250470" y="185740"/>
                    </a:moveTo>
                    <a:lnTo>
                      <a:pt x="278551" y="212135"/>
                    </a:lnTo>
                    <a:lnTo>
                      <a:pt x="261752" y="241233"/>
                    </a:lnTo>
                    <a:lnTo>
                      <a:pt x="225317" y="230252"/>
                    </a:lnTo>
                    <a:lnTo>
                      <a:pt x="247440" y="199863"/>
                    </a:lnTo>
                    <a:close/>
                    <a:moveTo>
                      <a:pt x="139274" y="84295"/>
                    </a:moveTo>
                    <a:lnTo>
                      <a:pt x="196885" y="113100"/>
                    </a:lnTo>
                    <a:lnTo>
                      <a:pt x="196884" y="114931"/>
                    </a:lnTo>
                    <a:lnTo>
                      <a:pt x="141702" y="86497"/>
                    </a:lnTo>
                    <a:lnTo>
                      <a:pt x="91232" y="110971"/>
                    </a:lnTo>
                    <a:lnTo>
                      <a:pt x="90180" y="108843"/>
                    </a:lnTo>
                    <a:close/>
                    <a:moveTo>
                      <a:pt x="93907" y="56612"/>
                    </a:moveTo>
                    <a:lnTo>
                      <a:pt x="77529" y="83250"/>
                    </a:lnTo>
                    <a:lnTo>
                      <a:pt x="90180" y="108843"/>
                    </a:lnTo>
                    <a:lnTo>
                      <a:pt x="81665" y="113100"/>
                    </a:lnTo>
                    <a:lnTo>
                      <a:pt x="81665" y="189144"/>
                    </a:lnTo>
                    <a:lnTo>
                      <a:pt x="139274" y="217949"/>
                    </a:lnTo>
                    <a:lnTo>
                      <a:pt x="196884" y="189144"/>
                    </a:lnTo>
                    <a:lnTo>
                      <a:pt x="196884" y="114931"/>
                    </a:lnTo>
                    <a:lnTo>
                      <a:pt x="198958" y="115999"/>
                    </a:lnTo>
                    <a:lnTo>
                      <a:pt x="198034" y="192038"/>
                    </a:lnTo>
                    <a:lnTo>
                      <a:pt x="144208" y="218139"/>
                    </a:lnTo>
                    <a:lnTo>
                      <a:pt x="155568" y="241121"/>
                    </a:lnTo>
                    <a:lnTo>
                      <a:pt x="182697" y="246757"/>
                    </a:lnTo>
                    <a:lnTo>
                      <a:pt x="166987" y="255827"/>
                    </a:lnTo>
                    <a:lnTo>
                      <a:pt x="156075" y="302245"/>
                    </a:lnTo>
                    <a:lnTo>
                      <a:pt x="122476" y="302245"/>
                    </a:lnTo>
                    <a:lnTo>
                      <a:pt x="111565" y="255827"/>
                    </a:lnTo>
                    <a:cubicBezTo>
                      <a:pt x="92967" y="250905"/>
                      <a:pt x="76016" y="241118"/>
                      <a:pt x="62455" y="227473"/>
                    </a:cubicBezTo>
                    <a:lnTo>
                      <a:pt x="16799" y="241233"/>
                    </a:lnTo>
                    <a:lnTo>
                      <a:pt x="0" y="212135"/>
                    </a:lnTo>
                    <a:lnTo>
                      <a:pt x="34743" y="179476"/>
                    </a:lnTo>
                    <a:cubicBezTo>
                      <a:pt x="29707" y="160909"/>
                      <a:pt x="29707" y="141335"/>
                      <a:pt x="34743" y="122768"/>
                    </a:cubicBezTo>
                    <a:lnTo>
                      <a:pt x="0" y="90110"/>
                    </a:lnTo>
                    <a:lnTo>
                      <a:pt x="16799" y="61012"/>
                    </a:lnTo>
                    <a:lnTo>
                      <a:pt x="62454" y="74772"/>
                    </a:lnTo>
                    <a:close/>
                    <a:moveTo>
                      <a:pt x="122476" y="0"/>
                    </a:moveTo>
                    <a:lnTo>
                      <a:pt x="156075" y="0"/>
                    </a:lnTo>
                    <a:lnTo>
                      <a:pt x="165987" y="42169"/>
                    </a:lnTo>
                    <a:lnTo>
                      <a:pt x="142303" y="37087"/>
                    </a:lnTo>
                    <a:lnTo>
                      <a:pt x="112428" y="42742"/>
                    </a:lnTo>
                    <a:close/>
                  </a:path>
                </a:pathLst>
              </a:custGeom>
              <a:solidFill>
                <a:schemeClr val="bg1"/>
              </a:solidFill>
              <a:ln w="19050">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80" name="Freeform 179"/>
              <p:cNvSpPr/>
              <p:nvPr/>
            </p:nvSpPr>
            <p:spPr>
              <a:xfrm rot="20021754">
                <a:off x="7797455" y="2437731"/>
                <a:ext cx="419276" cy="175124"/>
              </a:xfrm>
              <a:custGeom>
                <a:avLst/>
                <a:gdLst>
                  <a:gd name="connsiteX0" fmla="*/ 99307 w 541041"/>
                  <a:gd name="connsiteY0" fmla="*/ 54263 h 225982"/>
                  <a:gd name="connsiteX1" fmla="*/ 136175 w 541041"/>
                  <a:gd name="connsiteY1" fmla="*/ 104206 h 225982"/>
                  <a:gd name="connsiteX2" fmla="*/ 103289 w 541041"/>
                  <a:gd name="connsiteY2" fmla="*/ 170735 h 225982"/>
                  <a:gd name="connsiteX3" fmla="*/ 38879 w 541041"/>
                  <a:gd name="connsiteY3" fmla="*/ 171028 h 225982"/>
                  <a:gd name="connsiteX4" fmla="*/ 0 w 541041"/>
                  <a:gd name="connsiteY4" fmla="*/ 119677 h 225982"/>
                  <a:gd name="connsiteX5" fmla="*/ 33698 w 541041"/>
                  <a:gd name="connsiteY5" fmla="*/ 51507 h 225982"/>
                  <a:gd name="connsiteX6" fmla="*/ 43218 w 541041"/>
                  <a:gd name="connsiteY6" fmla="*/ 51464 h 225982"/>
                  <a:gd name="connsiteX7" fmla="*/ 43218 w 541041"/>
                  <a:gd name="connsiteY7" fmla="*/ 53838 h 225982"/>
                  <a:gd name="connsiteX8" fmla="*/ 504723 w 541041"/>
                  <a:gd name="connsiteY8" fmla="*/ 53019 h 225982"/>
                  <a:gd name="connsiteX9" fmla="*/ 541041 w 541041"/>
                  <a:gd name="connsiteY9" fmla="*/ 107811 h 225982"/>
                  <a:gd name="connsiteX10" fmla="*/ 481576 w 541041"/>
                  <a:gd name="connsiteY10" fmla="*/ 167276 h 225982"/>
                  <a:gd name="connsiteX11" fmla="*/ 171988 w 541041"/>
                  <a:gd name="connsiteY11" fmla="*/ 167276 h 225982"/>
                  <a:gd name="connsiteX12" fmla="*/ 143860 w 541041"/>
                  <a:gd name="connsiteY12" fmla="*/ 202747 h 225982"/>
                  <a:gd name="connsiteX13" fmla="*/ 99545 w 541041"/>
                  <a:gd name="connsiteY13" fmla="*/ 225955 h 225982"/>
                  <a:gd name="connsiteX14" fmla="*/ 99000 w 541041"/>
                  <a:gd name="connsiteY14" fmla="*/ 225982 h 225982"/>
                  <a:gd name="connsiteX15" fmla="*/ 66761 w 541041"/>
                  <a:gd name="connsiteY15" fmla="*/ 217441 h 225982"/>
                  <a:gd name="connsiteX16" fmla="*/ 43218 w 541041"/>
                  <a:gd name="connsiteY16" fmla="*/ 199021 h 225982"/>
                  <a:gd name="connsiteX17" fmla="*/ 43218 w 541041"/>
                  <a:gd name="connsiteY17" fmla="*/ 173385 h 225982"/>
                  <a:gd name="connsiteX18" fmla="*/ 103037 w 541041"/>
                  <a:gd name="connsiteY18" fmla="*/ 173839 h 225982"/>
                  <a:gd name="connsiteX19" fmla="*/ 137561 w 541041"/>
                  <a:gd name="connsiteY19" fmla="*/ 106083 h 225982"/>
                  <a:gd name="connsiteX20" fmla="*/ 136175 w 541041"/>
                  <a:gd name="connsiteY20" fmla="*/ 104206 h 225982"/>
                  <a:gd name="connsiteX21" fmla="*/ 136987 w 541041"/>
                  <a:gd name="connsiteY21" fmla="*/ 102565 h 225982"/>
                  <a:gd name="connsiteX22" fmla="*/ 98106 w 541041"/>
                  <a:gd name="connsiteY22" fmla="*/ 51213 h 225982"/>
                  <a:gd name="connsiteX23" fmla="*/ 43218 w 541041"/>
                  <a:gd name="connsiteY23" fmla="*/ 51464 h 225982"/>
                  <a:gd name="connsiteX24" fmla="*/ 43218 w 541041"/>
                  <a:gd name="connsiteY24" fmla="*/ 22915 h 225982"/>
                  <a:gd name="connsiteX25" fmla="*/ 77964 w 541041"/>
                  <a:gd name="connsiteY25" fmla="*/ 1110 h 225982"/>
                  <a:gd name="connsiteX26" fmla="*/ 85046 w 541041"/>
                  <a:gd name="connsiteY26" fmla="*/ 0 h 225982"/>
                  <a:gd name="connsiteX27" fmla="*/ 121741 w 541041"/>
                  <a:gd name="connsiteY27" fmla="*/ 10236 h 225982"/>
                  <a:gd name="connsiteX28" fmla="*/ 157909 w 541041"/>
                  <a:gd name="connsiteY28" fmla="*/ 38916 h 225982"/>
                  <a:gd name="connsiteX29" fmla="*/ 163138 w 541041"/>
                  <a:gd name="connsiteY29" fmla="*/ 48346 h 225982"/>
                  <a:gd name="connsiteX30" fmla="*/ 481576 w 541041"/>
                  <a:gd name="connsiteY30" fmla="*/ 48346 h 225982"/>
                  <a:gd name="connsiteX31" fmla="*/ 504723 w 541041"/>
                  <a:gd name="connsiteY31" fmla="*/ 53019 h 22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41041" h="225982">
                    <a:moveTo>
                      <a:pt x="99307" y="54263"/>
                    </a:moveTo>
                    <a:lnTo>
                      <a:pt x="136175" y="104206"/>
                    </a:lnTo>
                    <a:lnTo>
                      <a:pt x="103289" y="170735"/>
                    </a:lnTo>
                    <a:lnTo>
                      <a:pt x="38879" y="171028"/>
                    </a:lnTo>
                    <a:lnTo>
                      <a:pt x="0" y="119677"/>
                    </a:lnTo>
                    <a:lnTo>
                      <a:pt x="33698" y="51507"/>
                    </a:lnTo>
                    <a:lnTo>
                      <a:pt x="43218" y="51464"/>
                    </a:lnTo>
                    <a:lnTo>
                      <a:pt x="43218" y="53838"/>
                    </a:lnTo>
                    <a:close/>
                    <a:moveTo>
                      <a:pt x="504723" y="53019"/>
                    </a:moveTo>
                    <a:cubicBezTo>
                      <a:pt x="526066" y="62046"/>
                      <a:pt x="541041" y="83180"/>
                      <a:pt x="541041" y="107811"/>
                    </a:cubicBezTo>
                    <a:cubicBezTo>
                      <a:pt x="541041" y="140653"/>
                      <a:pt x="514418" y="167276"/>
                      <a:pt x="481576" y="167276"/>
                    </a:cubicBezTo>
                    <a:lnTo>
                      <a:pt x="171988" y="167276"/>
                    </a:lnTo>
                    <a:lnTo>
                      <a:pt x="143860" y="202747"/>
                    </a:lnTo>
                    <a:cubicBezTo>
                      <a:pt x="130861" y="213683"/>
                      <a:pt x="115692" y="221548"/>
                      <a:pt x="99545" y="225955"/>
                    </a:cubicBezTo>
                    <a:lnTo>
                      <a:pt x="99000" y="225982"/>
                    </a:lnTo>
                    <a:lnTo>
                      <a:pt x="66761" y="217441"/>
                    </a:lnTo>
                    <a:lnTo>
                      <a:pt x="43218" y="199021"/>
                    </a:lnTo>
                    <a:lnTo>
                      <a:pt x="43218" y="173385"/>
                    </a:lnTo>
                    <a:lnTo>
                      <a:pt x="103037" y="173839"/>
                    </a:lnTo>
                    <a:lnTo>
                      <a:pt x="137561" y="106083"/>
                    </a:lnTo>
                    <a:lnTo>
                      <a:pt x="136175" y="104206"/>
                    </a:lnTo>
                    <a:lnTo>
                      <a:pt x="136987" y="102565"/>
                    </a:lnTo>
                    <a:lnTo>
                      <a:pt x="98106" y="51213"/>
                    </a:lnTo>
                    <a:lnTo>
                      <a:pt x="43218" y="51464"/>
                    </a:lnTo>
                    <a:lnTo>
                      <a:pt x="43218" y="22915"/>
                    </a:lnTo>
                    <a:lnTo>
                      <a:pt x="77964" y="1110"/>
                    </a:lnTo>
                    <a:lnTo>
                      <a:pt x="85046" y="0"/>
                    </a:lnTo>
                    <a:lnTo>
                      <a:pt x="121741" y="10236"/>
                    </a:lnTo>
                    <a:cubicBezTo>
                      <a:pt x="136041" y="17522"/>
                      <a:pt x="148188" y="27361"/>
                      <a:pt x="157909" y="38916"/>
                    </a:cubicBezTo>
                    <a:lnTo>
                      <a:pt x="163138" y="48346"/>
                    </a:lnTo>
                    <a:lnTo>
                      <a:pt x="481576" y="48346"/>
                    </a:lnTo>
                    <a:cubicBezTo>
                      <a:pt x="489787" y="48346"/>
                      <a:pt x="497608" y="50010"/>
                      <a:pt x="504723" y="53019"/>
                    </a:cubicBezTo>
                    <a:close/>
                  </a:path>
                </a:pathLst>
              </a:cu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81" name="Hexagon 180"/>
              <p:cNvSpPr/>
              <p:nvPr/>
            </p:nvSpPr>
            <p:spPr>
              <a:xfrm rot="16200000">
                <a:off x="7813142" y="2552652"/>
                <a:ext cx="102880" cy="89052"/>
              </a:xfrm>
              <a:prstGeom prst="hexagon">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sp>
          <p:nvSpPr>
            <p:cNvPr id="178" name="TextBox 177"/>
            <p:cNvSpPr txBox="1"/>
            <p:nvPr/>
          </p:nvSpPr>
          <p:spPr>
            <a:xfrm>
              <a:off x="6191989" y="-25868"/>
              <a:ext cx="1090107" cy="369332"/>
            </a:xfrm>
            <a:prstGeom prst="rect">
              <a:avLst/>
            </a:prstGeom>
            <a:noFill/>
          </p:spPr>
          <p:txBody>
            <a:bodyPr wrap="none" rtlCol="0">
              <a:spAutoFit/>
            </a:bodyPr>
            <a:lstStyle/>
            <a:p>
              <a:r>
                <a:rPr lang="en-US" dirty="0"/>
                <a:t>PT </a:t>
              </a:r>
              <a:r>
                <a:rPr lang="en-US" dirty="0" smtClean="0"/>
                <a:t>Agent)</a:t>
              </a:r>
              <a:endParaRPr lang="en-US" dirty="0"/>
            </a:p>
          </p:txBody>
        </p:sp>
        <p:sp>
          <p:nvSpPr>
            <p:cNvPr id="176" name="TextBox 175"/>
            <p:cNvSpPr txBox="1"/>
            <p:nvPr/>
          </p:nvSpPr>
          <p:spPr>
            <a:xfrm>
              <a:off x="5651894" y="-25868"/>
              <a:ext cx="300082" cy="369332"/>
            </a:xfrm>
            <a:prstGeom prst="rect">
              <a:avLst/>
            </a:prstGeom>
            <a:noFill/>
          </p:spPr>
          <p:txBody>
            <a:bodyPr wrap="none" rtlCol="0">
              <a:spAutoFit/>
            </a:bodyPr>
            <a:lstStyle/>
            <a:p>
              <a:r>
                <a:rPr lang="en-US" dirty="0"/>
                <a:t>+</a:t>
              </a:r>
            </a:p>
          </p:txBody>
        </p:sp>
      </p:grpSp>
      <p:grpSp>
        <p:nvGrpSpPr>
          <p:cNvPr id="201" name="Tracepoints B"/>
          <p:cNvGrpSpPr/>
          <p:nvPr/>
        </p:nvGrpSpPr>
        <p:grpSpPr>
          <a:xfrm>
            <a:off x="7204732" y="810021"/>
            <a:ext cx="644287" cy="871905"/>
            <a:chOff x="7468497" y="465899"/>
            <a:chExt cx="644287" cy="871905"/>
          </a:xfrm>
        </p:grpSpPr>
        <p:sp>
          <p:nvSpPr>
            <p:cNvPr id="202" name="Tracepoint 4"/>
            <p:cNvSpPr/>
            <p:nvPr/>
          </p:nvSpPr>
          <p:spPr>
            <a:xfrm>
              <a:off x="7468497" y="465899"/>
              <a:ext cx="304800" cy="304800"/>
            </a:xfrm>
            <a:prstGeom prst="ellipse">
              <a:avLst/>
            </a:prstGeom>
            <a:solidFill>
              <a:srgbClr val="FFE1E1"/>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Tracepoint 3"/>
            <p:cNvSpPr/>
            <p:nvPr/>
          </p:nvSpPr>
          <p:spPr>
            <a:xfrm>
              <a:off x="7804342" y="678380"/>
              <a:ext cx="304800" cy="304800"/>
            </a:xfrm>
            <a:prstGeom prst="ellipse">
              <a:avLst/>
            </a:prstGeom>
            <a:solidFill>
              <a:srgbClr val="FFE1E1"/>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Tracepoint 2"/>
            <p:cNvSpPr/>
            <p:nvPr/>
          </p:nvSpPr>
          <p:spPr>
            <a:xfrm>
              <a:off x="7807984" y="1033004"/>
              <a:ext cx="304800" cy="304800"/>
            </a:xfrm>
            <a:prstGeom prst="ellipse">
              <a:avLst/>
            </a:prstGeom>
            <a:solidFill>
              <a:srgbClr val="FFE1E1"/>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Tracepoint 1"/>
            <p:cNvSpPr/>
            <p:nvPr/>
          </p:nvSpPr>
          <p:spPr>
            <a:xfrm>
              <a:off x="7472139" y="820523"/>
              <a:ext cx="304800" cy="304800"/>
            </a:xfrm>
            <a:prstGeom prst="ellipse">
              <a:avLst/>
            </a:prstGeom>
            <a:solidFill>
              <a:srgbClr val="FFE1E1"/>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6" name="Tracepoints A"/>
          <p:cNvGrpSpPr/>
          <p:nvPr/>
        </p:nvGrpSpPr>
        <p:grpSpPr>
          <a:xfrm>
            <a:off x="3265757" y="589866"/>
            <a:ext cx="1285766" cy="657211"/>
            <a:chOff x="3529522" y="245744"/>
            <a:chExt cx="1285766" cy="657211"/>
          </a:xfrm>
        </p:grpSpPr>
        <p:sp>
          <p:nvSpPr>
            <p:cNvPr id="207" name="Tracepoint 5"/>
            <p:cNvSpPr/>
            <p:nvPr/>
          </p:nvSpPr>
          <p:spPr>
            <a:xfrm>
              <a:off x="4022099" y="246462"/>
              <a:ext cx="304800" cy="304800"/>
            </a:xfrm>
            <a:prstGeom prst="ellipse">
              <a:avLst/>
            </a:prstGeom>
            <a:solidFill>
              <a:srgbClr val="FFE1E1"/>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Tracepoint 4"/>
            <p:cNvSpPr/>
            <p:nvPr/>
          </p:nvSpPr>
          <p:spPr>
            <a:xfrm>
              <a:off x="4510488" y="245744"/>
              <a:ext cx="304800" cy="304800"/>
            </a:xfrm>
            <a:prstGeom prst="ellipse">
              <a:avLst/>
            </a:prstGeom>
            <a:solidFill>
              <a:srgbClr val="FFE1E1"/>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Tracepoint 3"/>
            <p:cNvSpPr/>
            <p:nvPr/>
          </p:nvSpPr>
          <p:spPr>
            <a:xfrm>
              <a:off x="4018457" y="598155"/>
              <a:ext cx="304800" cy="304800"/>
            </a:xfrm>
            <a:prstGeom prst="ellipse">
              <a:avLst/>
            </a:prstGeom>
            <a:solidFill>
              <a:srgbClr val="FFE1E1"/>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Tracepoint 2"/>
            <p:cNvSpPr/>
            <p:nvPr/>
          </p:nvSpPr>
          <p:spPr>
            <a:xfrm>
              <a:off x="4510488" y="598155"/>
              <a:ext cx="304800" cy="304800"/>
            </a:xfrm>
            <a:prstGeom prst="ellipse">
              <a:avLst/>
            </a:prstGeom>
            <a:solidFill>
              <a:srgbClr val="FFE1E1"/>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Tracepoint 1"/>
            <p:cNvSpPr/>
            <p:nvPr/>
          </p:nvSpPr>
          <p:spPr>
            <a:xfrm>
              <a:off x="3529522" y="246462"/>
              <a:ext cx="304800" cy="304800"/>
            </a:xfrm>
            <a:prstGeom prst="ellipse">
              <a:avLst/>
            </a:prstGeom>
            <a:solidFill>
              <a:srgbClr val="FFE1E1"/>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7" name="Group 236"/>
          <p:cNvGrpSpPr/>
          <p:nvPr/>
        </p:nvGrpSpPr>
        <p:grpSpPr>
          <a:xfrm>
            <a:off x="3255152" y="550041"/>
            <a:ext cx="4273876" cy="943684"/>
            <a:chOff x="2874152" y="550041"/>
            <a:chExt cx="4273876" cy="943684"/>
          </a:xfrm>
        </p:grpSpPr>
        <p:sp>
          <p:nvSpPr>
            <p:cNvPr id="235" name="TextBox 234"/>
            <p:cNvSpPr txBox="1"/>
            <p:nvPr/>
          </p:nvSpPr>
          <p:spPr>
            <a:xfrm>
              <a:off x="2874152" y="550041"/>
              <a:ext cx="324128" cy="369332"/>
            </a:xfrm>
            <a:prstGeom prst="rect">
              <a:avLst/>
            </a:prstGeom>
            <a:noFill/>
          </p:spPr>
          <p:txBody>
            <a:bodyPr wrap="none" rtlCol="0">
              <a:spAutoFit/>
            </a:bodyPr>
            <a:lstStyle/>
            <a:p>
              <a:r>
                <a:rPr lang="en-US" b="1" dirty="0" smtClean="0"/>
                <a:t>A</a:t>
              </a:r>
              <a:endParaRPr lang="en-US" b="1" dirty="0"/>
            </a:p>
          </p:txBody>
        </p:sp>
        <p:sp>
          <p:nvSpPr>
            <p:cNvPr id="236" name="TextBox 235"/>
            <p:cNvSpPr txBox="1"/>
            <p:nvPr/>
          </p:nvSpPr>
          <p:spPr>
            <a:xfrm>
              <a:off x="6823900" y="1124393"/>
              <a:ext cx="324128" cy="369332"/>
            </a:xfrm>
            <a:prstGeom prst="rect">
              <a:avLst/>
            </a:prstGeom>
            <a:noFill/>
          </p:spPr>
          <p:txBody>
            <a:bodyPr wrap="none" rtlCol="0">
              <a:spAutoFit/>
            </a:bodyPr>
            <a:lstStyle/>
            <a:p>
              <a:r>
                <a:rPr lang="en-US" b="1" dirty="0" smtClean="0"/>
                <a:t>B</a:t>
              </a:r>
              <a:endParaRPr lang="en-US" b="1" dirty="0"/>
            </a:p>
          </p:txBody>
        </p:sp>
      </p:grpSp>
      <p:grpSp>
        <p:nvGrpSpPr>
          <p:cNvPr id="2" name="Group 1"/>
          <p:cNvGrpSpPr/>
          <p:nvPr/>
        </p:nvGrpSpPr>
        <p:grpSpPr>
          <a:xfrm>
            <a:off x="753187" y="2354603"/>
            <a:ext cx="4220617" cy="906691"/>
            <a:chOff x="2395940" y="2175304"/>
            <a:chExt cx="4220617" cy="906691"/>
          </a:xfrm>
        </p:grpSpPr>
        <p:grpSp>
          <p:nvGrpSpPr>
            <p:cNvPr id="67" name="Group 66"/>
            <p:cNvGrpSpPr/>
            <p:nvPr/>
          </p:nvGrpSpPr>
          <p:grpSpPr>
            <a:xfrm>
              <a:off x="2395940" y="2274848"/>
              <a:ext cx="780802" cy="707602"/>
              <a:chOff x="2155295" y="2681527"/>
              <a:chExt cx="609600" cy="552450"/>
            </a:xfrm>
          </p:grpSpPr>
          <p:sp>
            <p:nvSpPr>
              <p:cNvPr id="69" name="Tracepoint 3"/>
              <p:cNvSpPr/>
              <p:nvPr/>
            </p:nvSpPr>
            <p:spPr>
              <a:xfrm>
                <a:off x="2155295" y="2776777"/>
                <a:ext cx="304800" cy="304800"/>
              </a:xfrm>
              <a:prstGeom prst="ellipse">
                <a:avLst/>
              </a:prstGeom>
              <a:solidFill>
                <a:srgbClr val="FFE1E1"/>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Tracepoint 3"/>
              <p:cNvSpPr/>
              <p:nvPr/>
            </p:nvSpPr>
            <p:spPr>
              <a:xfrm>
                <a:off x="2307695" y="2929177"/>
                <a:ext cx="304800" cy="304800"/>
              </a:xfrm>
              <a:prstGeom prst="ellipse">
                <a:avLst/>
              </a:prstGeom>
              <a:solidFill>
                <a:srgbClr val="FFE1E1"/>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Tracepoint 3"/>
              <p:cNvSpPr/>
              <p:nvPr/>
            </p:nvSpPr>
            <p:spPr>
              <a:xfrm>
                <a:off x="2460095" y="2814877"/>
                <a:ext cx="304800" cy="304800"/>
              </a:xfrm>
              <a:prstGeom prst="ellipse">
                <a:avLst/>
              </a:prstGeom>
              <a:solidFill>
                <a:srgbClr val="FFE1E1"/>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racepoint 3"/>
              <p:cNvSpPr/>
              <p:nvPr/>
            </p:nvSpPr>
            <p:spPr>
              <a:xfrm>
                <a:off x="2302917" y="2681527"/>
                <a:ext cx="304800" cy="304800"/>
              </a:xfrm>
              <a:prstGeom prst="ellipse">
                <a:avLst/>
              </a:prstGeom>
              <a:solidFill>
                <a:srgbClr val="FFE1E1"/>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8" name="TextBox 67"/>
            <p:cNvSpPr txBox="1"/>
            <p:nvPr/>
          </p:nvSpPr>
          <p:spPr>
            <a:xfrm>
              <a:off x="3309186" y="2175304"/>
              <a:ext cx="3307371" cy="906691"/>
            </a:xfrm>
            <a:prstGeom prst="rect">
              <a:avLst/>
            </a:prstGeom>
            <a:noFill/>
          </p:spPr>
          <p:txBody>
            <a:bodyPr wrap="none" rtlCol="0">
              <a:spAutoFit/>
            </a:bodyPr>
            <a:lstStyle/>
            <a:p>
              <a:r>
                <a:rPr lang="en-US" sz="4000" dirty="0" err="1" smtClean="0"/>
                <a:t>Tracepoints</a:t>
              </a:r>
              <a:endParaRPr lang="en-US" sz="4000" dirty="0" smtClean="0"/>
            </a:p>
          </p:txBody>
        </p:sp>
      </p:grpSp>
      <p:grpSp>
        <p:nvGrpSpPr>
          <p:cNvPr id="73" name="Group 72"/>
          <p:cNvGrpSpPr/>
          <p:nvPr/>
        </p:nvGrpSpPr>
        <p:grpSpPr>
          <a:xfrm>
            <a:off x="5705368" y="4199719"/>
            <a:ext cx="2885325" cy="1850093"/>
            <a:chOff x="80120" y="4954350"/>
            <a:chExt cx="2885325" cy="1850093"/>
          </a:xfrm>
        </p:grpSpPr>
        <p:sp>
          <p:nvSpPr>
            <p:cNvPr id="77" name="Rounded Rectangle 76"/>
            <p:cNvSpPr/>
            <p:nvPr/>
          </p:nvSpPr>
          <p:spPr>
            <a:xfrm>
              <a:off x="80120" y="4954350"/>
              <a:ext cx="2667000" cy="809942"/>
            </a:xfrm>
            <a:prstGeom prst="roundRect">
              <a:avLst>
                <a:gd name="adj" fmla="val 18490"/>
              </a:avLst>
            </a:prstGeom>
            <a:solidFill>
              <a:srgbClr val="FFE1E1"/>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r>
                <a:rPr lang="en-US" sz="1600" b="1" dirty="0" err="1" smtClean="0">
                  <a:solidFill>
                    <a:schemeClr val="tx1"/>
                  </a:solidFill>
                </a:rPr>
                <a:t>Tracepoint</a:t>
              </a:r>
              <a:r>
                <a:rPr lang="en-US" sz="1600" b="1" dirty="0" smtClean="0">
                  <a:solidFill>
                    <a:schemeClr val="tx1"/>
                  </a:solidFill>
                </a:rPr>
                <a:t> A</a:t>
              </a:r>
            </a:p>
            <a:p>
              <a:r>
                <a:rPr lang="en-US" sz="1600" b="1" dirty="0" smtClean="0">
                  <a:solidFill>
                    <a:schemeClr val="tx1"/>
                  </a:solidFill>
                </a:rPr>
                <a:t>  Class: </a:t>
              </a:r>
              <a:r>
                <a:rPr lang="en-US" sz="1600" dirty="0" smtClean="0">
                  <a:solidFill>
                    <a:schemeClr val="tx1"/>
                  </a:solidFill>
                </a:rPr>
                <a:t>A</a:t>
              </a:r>
            </a:p>
            <a:p>
              <a:r>
                <a:rPr lang="en-US" sz="1600" dirty="0">
                  <a:solidFill>
                    <a:schemeClr val="tx1"/>
                  </a:solidFill>
                  <a:latin typeface="Consolas" panose="020B0609020204030204" pitchFamily="49" charset="0"/>
                  <a:cs typeface="Consolas" panose="020B0609020204030204" pitchFamily="49" charset="0"/>
                </a:rPr>
                <a:t> </a:t>
              </a:r>
              <a:r>
                <a:rPr lang="en-US" sz="1600" b="1" dirty="0" smtClean="0">
                  <a:solidFill>
                    <a:schemeClr val="tx1"/>
                  </a:solidFill>
                  <a:cs typeface="Consolas" panose="020B0609020204030204" pitchFamily="49" charset="0"/>
                </a:rPr>
                <a:t>Method</a:t>
              </a:r>
              <a:r>
                <a:rPr lang="en-US" sz="1600" dirty="0" smtClean="0">
                  <a:solidFill>
                    <a:schemeClr val="tx1"/>
                  </a:solidFill>
                  <a:latin typeface="Consolas" panose="020B0609020204030204" pitchFamily="49" charset="0"/>
                  <a:cs typeface="Consolas" panose="020B0609020204030204" pitchFamily="49" charset="0"/>
                </a:rPr>
                <a:t>: A1()</a:t>
              </a:r>
            </a:p>
          </p:txBody>
        </p:sp>
        <p:sp>
          <p:nvSpPr>
            <p:cNvPr id="78" name="Rounded Rectangle 77"/>
            <p:cNvSpPr/>
            <p:nvPr/>
          </p:nvSpPr>
          <p:spPr>
            <a:xfrm>
              <a:off x="298445" y="5722543"/>
              <a:ext cx="2667000" cy="1081900"/>
            </a:xfrm>
            <a:prstGeom prst="roundRect">
              <a:avLst>
                <a:gd name="adj" fmla="val 18490"/>
              </a:avLst>
            </a:prstGeom>
            <a:solidFill>
              <a:srgbClr val="FFE1E1"/>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r>
                <a:rPr lang="en-US" sz="1600" b="1" dirty="0" err="1" smtClean="0">
                  <a:solidFill>
                    <a:schemeClr val="tx1"/>
                  </a:solidFill>
                </a:rPr>
                <a:t>Tracepoint</a:t>
              </a:r>
              <a:r>
                <a:rPr lang="en-US" sz="1600" b="1" dirty="0" smtClean="0">
                  <a:solidFill>
                    <a:schemeClr val="tx1"/>
                  </a:solidFill>
                </a:rPr>
                <a:t> B</a:t>
              </a:r>
            </a:p>
            <a:p>
              <a:r>
                <a:rPr lang="en-US" sz="1600" b="1" dirty="0" smtClean="0">
                  <a:solidFill>
                    <a:schemeClr val="tx1"/>
                  </a:solidFill>
                </a:rPr>
                <a:t>  Class: </a:t>
              </a:r>
              <a:r>
                <a:rPr lang="en-US" sz="1600" dirty="0" smtClean="0">
                  <a:solidFill>
                    <a:schemeClr val="tx1"/>
                  </a:solidFill>
                </a:rPr>
                <a:t>B</a:t>
              </a:r>
            </a:p>
            <a:p>
              <a:r>
                <a:rPr lang="en-US" sz="1600" dirty="0">
                  <a:solidFill>
                    <a:schemeClr val="tx1"/>
                  </a:solidFill>
                </a:rPr>
                <a:t> </a:t>
              </a:r>
              <a:r>
                <a:rPr lang="en-US" sz="1600" dirty="0" smtClean="0">
                  <a:solidFill>
                    <a:schemeClr val="tx1"/>
                  </a:solidFill>
                </a:rPr>
                <a:t> </a:t>
              </a:r>
              <a:r>
                <a:rPr lang="en-US" sz="1600" b="1" dirty="0" smtClean="0">
                  <a:solidFill>
                    <a:schemeClr val="tx1"/>
                  </a:solidFill>
                </a:rPr>
                <a:t>Method</a:t>
              </a:r>
              <a:r>
                <a:rPr lang="en-US" sz="1600" dirty="0" smtClean="0">
                  <a:solidFill>
                    <a:schemeClr val="tx1"/>
                  </a:solidFill>
                </a:rPr>
                <a:t>: </a:t>
              </a:r>
              <a:r>
                <a:rPr lang="en-US" sz="1600" dirty="0" smtClean="0">
                  <a:solidFill>
                    <a:schemeClr val="tx1"/>
                  </a:solidFill>
                  <a:latin typeface="Consolas" panose="020B0609020204030204" pitchFamily="49" charset="0"/>
                  <a:cs typeface="Consolas" panose="020B0609020204030204" pitchFamily="49" charset="0"/>
                </a:rPr>
                <a:t>B1()</a:t>
              </a:r>
            </a:p>
            <a:p>
              <a:r>
                <a:rPr lang="en-US" sz="1600" b="1" dirty="0">
                  <a:solidFill>
                    <a:schemeClr val="tx1"/>
                  </a:solidFill>
                </a:rPr>
                <a:t> </a:t>
              </a:r>
              <a:r>
                <a:rPr lang="en-US" sz="1600" b="1" dirty="0" smtClean="0">
                  <a:solidFill>
                    <a:schemeClr val="tx1"/>
                  </a:solidFill>
                </a:rPr>
                <a:t> Exports: </a:t>
              </a:r>
              <a:r>
                <a:rPr lang="en-US" sz="1600" dirty="0" smtClean="0">
                  <a:solidFill>
                    <a:schemeClr val="tx1"/>
                  </a:solidFill>
                  <a:latin typeface="+mj-lt"/>
                  <a:cs typeface="Consolas" panose="020B0609020204030204" pitchFamily="49" charset="0"/>
                </a:rPr>
                <a:t>“delta”=</a:t>
              </a:r>
              <a:r>
                <a:rPr lang="en-US" sz="1600" dirty="0" smtClean="0">
                  <a:solidFill>
                    <a:schemeClr val="tx1"/>
                  </a:solidFill>
                  <a:latin typeface="Consolas" panose="020B0609020204030204" pitchFamily="49" charset="0"/>
                  <a:cs typeface="Consolas" panose="020B0609020204030204" pitchFamily="49" charset="0"/>
                </a:rPr>
                <a:t>delta</a:t>
              </a:r>
            </a:p>
          </p:txBody>
        </p:sp>
      </p:grpSp>
      <p:sp>
        <p:nvSpPr>
          <p:cNvPr id="3" name="Slide Number Placeholder 2"/>
          <p:cNvSpPr>
            <a:spLocks noGrp="1"/>
          </p:cNvSpPr>
          <p:nvPr>
            <p:ph type="sldNum" sz="quarter" idx="12"/>
          </p:nvPr>
        </p:nvSpPr>
        <p:spPr/>
        <p:txBody>
          <a:bodyPr/>
          <a:lstStyle/>
          <a:p>
            <a:fld id="{D431E30F-8439-471B-9257-EDD8E85CDBC8}" type="slidenum">
              <a:rPr lang="en-US" smtClean="0"/>
              <a:t>25</a:t>
            </a:fld>
            <a:endParaRPr lang="en-US"/>
          </a:p>
        </p:txBody>
      </p:sp>
    </p:spTree>
    <p:extLst>
      <p:ext uri="{BB962C8B-B14F-4D97-AF65-F5344CB8AC3E}">
        <p14:creationId xmlns:p14="http://schemas.microsoft.com/office/powerpoint/2010/main" val="349311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239">
                                            <p:txEl>
                                              <p:pRg st="0" end="0"/>
                                            </p:txEl>
                                          </p:spTgt>
                                        </p:tgtEl>
                                        <p:attrNameLst>
                                          <p:attrName>style.visibility</p:attrName>
                                        </p:attrNameLst>
                                      </p:cBhvr>
                                      <p:to>
                                        <p:strVal val="visible"/>
                                      </p:to>
                                    </p:set>
                                    <p:animEffect transition="in" filter="fade">
                                      <p:cBhvr>
                                        <p:cTn id="10" dur="500"/>
                                        <p:tgtEl>
                                          <p:spTgt spid="239">
                                            <p:txEl>
                                              <p:pRg st="0" end="0"/>
                                            </p:txEl>
                                          </p:spTgt>
                                        </p:tgtEl>
                                      </p:cBhvr>
                                    </p:animEffect>
                                  </p:childTnLst>
                                </p:cTn>
                              </p:par>
                            </p:childTnLst>
                          </p:cTn>
                        </p:par>
                        <p:par>
                          <p:cTn id="11" fill="hold">
                            <p:stCondLst>
                              <p:cond delay="500"/>
                            </p:stCondLst>
                            <p:childTnLst>
                              <p:par>
                                <p:cTn id="12" presetID="22" presetClass="entr" presetSubtype="8" fill="hold" nodeType="afterEffect">
                                  <p:stCondLst>
                                    <p:cond delay="0"/>
                                  </p:stCondLst>
                                  <p:childTnLst>
                                    <p:set>
                                      <p:cBhvr>
                                        <p:cTn id="13" dur="1" fill="hold">
                                          <p:stCondLst>
                                            <p:cond delay="0"/>
                                          </p:stCondLst>
                                        </p:cTn>
                                        <p:tgtEl>
                                          <p:spTgt spid="206"/>
                                        </p:tgtEl>
                                        <p:attrNameLst>
                                          <p:attrName>style.visibility</p:attrName>
                                        </p:attrNameLst>
                                      </p:cBhvr>
                                      <p:to>
                                        <p:strVal val="visible"/>
                                      </p:to>
                                    </p:set>
                                    <p:animEffect transition="in" filter="wipe(left)">
                                      <p:cBhvr>
                                        <p:cTn id="14" dur="500"/>
                                        <p:tgtEl>
                                          <p:spTgt spid="206"/>
                                        </p:tgtEl>
                                      </p:cBhvr>
                                    </p:animEffect>
                                  </p:childTnLst>
                                </p:cTn>
                              </p:par>
                            </p:childTnLst>
                          </p:cTn>
                        </p:par>
                        <p:par>
                          <p:cTn id="15" fill="hold">
                            <p:stCondLst>
                              <p:cond delay="1000"/>
                            </p:stCondLst>
                            <p:childTnLst>
                              <p:par>
                                <p:cTn id="16" presetID="22" presetClass="entr" presetSubtype="8" fill="hold" nodeType="afterEffect">
                                  <p:stCondLst>
                                    <p:cond delay="0"/>
                                  </p:stCondLst>
                                  <p:childTnLst>
                                    <p:set>
                                      <p:cBhvr>
                                        <p:cTn id="17" dur="1" fill="hold">
                                          <p:stCondLst>
                                            <p:cond delay="0"/>
                                          </p:stCondLst>
                                        </p:cTn>
                                        <p:tgtEl>
                                          <p:spTgt spid="201"/>
                                        </p:tgtEl>
                                        <p:attrNameLst>
                                          <p:attrName>style.visibility</p:attrName>
                                        </p:attrNameLst>
                                      </p:cBhvr>
                                      <p:to>
                                        <p:strVal val="visible"/>
                                      </p:to>
                                    </p:set>
                                    <p:animEffect transition="in" filter="wipe(left)">
                                      <p:cBhvr>
                                        <p:cTn id="18" dur="500"/>
                                        <p:tgtEl>
                                          <p:spTgt spid="20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73"/>
                                        </p:tgtEl>
                                        <p:attrNameLst>
                                          <p:attrName>style.visibility</p:attrName>
                                        </p:attrNameLst>
                                      </p:cBhvr>
                                      <p:to>
                                        <p:strVal val="visible"/>
                                      </p:to>
                                    </p:set>
                                    <p:animEffect transition="in" filter="fade">
                                      <p:cBhvr>
                                        <p:cTn id="23" dur="500"/>
                                        <p:tgtEl>
                                          <p:spTgt spid="73"/>
                                        </p:tgtEl>
                                      </p:cBhvr>
                                    </p:animEffect>
                                  </p:childTnLst>
                                </p:cTn>
                              </p:par>
                              <p:par>
                                <p:cTn id="24" presetID="10" presetClass="entr" presetSubtype="0" fill="hold" nodeType="withEffect">
                                  <p:stCondLst>
                                    <p:cond delay="0"/>
                                  </p:stCondLst>
                                  <p:childTnLst>
                                    <p:set>
                                      <p:cBhvr>
                                        <p:cTn id="25" dur="1" fill="hold">
                                          <p:stCondLst>
                                            <p:cond delay="0"/>
                                          </p:stCondLst>
                                        </p:cTn>
                                        <p:tgtEl>
                                          <p:spTgt spid="237"/>
                                        </p:tgtEl>
                                        <p:attrNameLst>
                                          <p:attrName>style.visibility</p:attrName>
                                        </p:attrNameLst>
                                      </p:cBhvr>
                                      <p:to>
                                        <p:strVal val="visible"/>
                                      </p:to>
                                    </p:set>
                                    <p:animEffect transition="in" filter="fade">
                                      <p:cBhvr>
                                        <p:cTn id="26" dur="500"/>
                                        <p:tgtEl>
                                          <p:spTgt spid="23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39">
                                            <p:txEl>
                                              <p:pRg st="2" end="2"/>
                                            </p:txEl>
                                          </p:spTgt>
                                        </p:tgtEl>
                                        <p:attrNameLst>
                                          <p:attrName>style.visibility</p:attrName>
                                        </p:attrNameLst>
                                      </p:cBhvr>
                                      <p:to>
                                        <p:strVal val="visible"/>
                                      </p:to>
                                    </p:set>
                                    <p:animEffect transition="in" filter="fade">
                                      <p:cBhvr>
                                        <p:cTn id="31" dur="500"/>
                                        <p:tgtEl>
                                          <p:spTgt spid="239">
                                            <p:txEl>
                                              <p:pRg st="2" end="2"/>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239">
                                            <p:txEl>
                                              <p:pRg st="3" end="3"/>
                                            </p:txEl>
                                          </p:spTgt>
                                        </p:tgtEl>
                                        <p:attrNameLst>
                                          <p:attrName>style.visibility</p:attrName>
                                        </p:attrNameLst>
                                      </p:cBhvr>
                                      <p:to>
                                        <p:strVal val="visible"/>
                                      </p:to>
                                    </p:set>
                                    <p:animEffect transition="in" filter="fade">
                                      <p:cBhvr>
                                        <p:cTn id="34" dur="500"/>
                                        <p:tgtEl>
                                          <p:spTgt spid="239">
                                            <p:txEl>
                                              <p:pRg st="3" end="3"/>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39">
                                            <p:txEl>
                                              <p:pRg st="5" end="5"/>
                                            </p:txEl>
                                          </p:spTgt>
                                        </p:tgtEl>
                                        <p:attrNameLst>
                                          <p:attrName>style.visibility</p:attrName>
                                        </p:attrNameLst>
                                      </p:cBhvr>
                                      <p:to>
                                        <p:strVal val="visible"/>
                                      </p:to>
                                    </p:set>
                                    <p:animEffect transition="in" filter="fade">
                                      <p:cBhvr>
                                        <p:cTn id="39" dur="500"/>
                                        <p:tgtEl>
                                          <p:spTgt spid="239">
                                            <p:txEl>
                                              <p:pRg st="5" end="5"/>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xit" presetSubtype="0" fill="hold" nodeType="clickEffect">
                                  <p:stCondLst>
                                    <p:cond delay="0"/>
                                  </p:stCondLst>
                                  <p:childTnLst>
                                    <p:animEffect transition="out" filter="fade">
                                      <p:cBhvr>
                                        <p:cTn id="43" dur="500"/>
                                        <p:tgtEl>
                                          <p:spTgt spid="2"/>
                                        </p:tgtEl>
                                      </p:cBhvr>
                                    </p:animEffect>
                                    <p:set>
                                      <p:cBhvr>
                                        <p:cTn id="44" dur="1" fill="hold">
                                          <p:stCondLst>
                                            <p:cond delay="499"/>
                                          </p:stCondLst>
                                        </p:cTn>
                                        <p:tgtEl>
                                          <p:spTgt spid="2"/>
                                        </p:tgtEl>
                                        <p:attrNameLst>
                                          <p:attrName>style.visibility</p:attrName>
                                        </p:attrNameLst>
                                      </p:cBhvr>
                                      <p:to>
                                        <p:strVal val="hidden"/>
                                      </p:to>
                                    </p:set>
                                  </p:childTnLst>
                                </p:cTn>
                              </p:par>
                              <p:par>
                                <p:cTn id="45" presetID="10" presetClass="exit" presetSubtype="0" fill="hold" grpId="0" nodeType="withEffect">
                                  <p:stCondLst>
                                    <p:cond delay="0"/>
                                  </p:stCondLst>
                                  <p:childTnLst>
                                    <p:animEffect transition="out" filter="fade">
                                      <p:cBhvr>
                                        <p:cTn id="46" dur="500"/>
                                        <p:tgtEl>
                                          <p:spTgt spid="239">
                                            <p:txEl>
                                              <p:pRg st="0" end="0"/>
                                            </p:txEl>
                                          </p:spTgt>
                                        </p:tgtEl>
                                      </p:cBhvr>
                                    </p:animEffect>
                                    <p:set>
                                      <p:cBhvr>
                                        <p:cTn id="47" dur="1" fill="hold">
                                          <p:stCondLst>
                                            <p:cond delay="499"/>
                                          </p:stCondLst>
                                        </p:cTn>
                                        <p:tgtEl>
                                          <p:spTgt spid="239">
                                            <p:txEl>
                                              <p:pRg st="0" end="0"/>
                                            </p:txEl>
                                          </p:spTgt>
                                        </p:tgtEl>
                                        <p:attrNameLst>
                                          <p:attrName>style.visibility</p:attrName>
                                        </p:attrNameLst>
                                      </p:cBhvr>
                                      <p:to>
                                        <p:strVal val="hidden"/>
                                      </p:to>
                                    </p:set>
                                  </p:childTnLst>
                                </p:cTn>
                              </p:par>
                              <p:par>
                                <p:cTn id="48" presetID="10" presetClass="exit" presetSubtype="0" fill="hold" grpId="0" nodeType="withEffect">
                                  <p:stCondLst>
                                    <p:cond delay="0"/>
                                  </p:stCondLst>
                                  <p:childTnLst>
                                    <p:animEffect transition="out" filter="fade">
                                      <p:cBhvr>
                                        <p:cTn id="49" dur="500"/>
                                        <p:tgtEl>
                                          <p:spTgt spid="239">
                                            <p:txEl>
                                              <p:pRg st="2" end="2"/>
                                            </p:txEl>
                                          </p:spTgt>
                                        </p:tgtEl>
                                      </p:cBhvr>
                                    </p:animEffect>
                                    <p:set>
                                      <p:cBhvr>
                                        <p:cTn id="50" dur="1" fill="hold">
                                          <p:stCondLst>
                                            <p:cond delay="499"/>
                                          </p:stCondLst>
                                        </p:cTn>
                                        <p:tgtEl>
                                          <p:spTgt spid="239">
                                            <p:txEl>
                                              <p:pRg st="2" end="2"/>
                                            </p:txEl>
                                          </p:spTgt>
                                        </p:tgtEl>
                                        <p:attrNameLst>
                                          <p:attrName>style.visibility</p:attrName>
                                        </p:attrNameLst>
                                      </p:cBhvr>
                                      <p:to>
                                        <p:strVal val="hidden"/>
                                      </p:to>
                                    </p:set>
                                  </p:childTnLst>
                                </p:cTn>
                              </p:par>
                              <p:par>
                                <p:cTn id="51" presetID="10" presetClass="exit" presetSubtype="0" fill="hold" grpId="0" nodeType="withEffect">
                                  <p:stCondLst>
                                    <p:cond delay="0"/>
                                  </p:stCondLst>
                                  <p:childTnLst>
                                    <p:animEffect transition="out" filter="fade">
                                      <p:cBhvr>
                                        <p:cTn id="52" dur="500"/>
                                        <p:tgtEl>
                                          <p:spTgt spid="239">
                                            <p:txEl>
                                              <p:pRg st="3" end="3"/>
                                            </p:txEl>
                                          </p:spTgt>
                                        </p:tgtEl>
                                      </p:cBhvr>
                                    </p:animEffect>
                                    <p:set>
                                      <p:cBhvr>
                                        <p:cTn id="53" dur="1" fill="hold">
                                          <p:stCondLst>
                                            <p:cond delay="499"/>
                                          </p:stCondLst>
                                        </p:cTn>
                                        <p:tgtEl>
                                          <p:spTgt spid="239">
                                            <p:txEl>
                                              <p:pRg st="3" end="3"/>
                                            </p:txEl>
                                          </p:spTgt>
                                        </p:tgtEl>
                                        <p:attrNameLst>
                                          <p:attrName>style.visibility</p:attrName>
                                        </p:attrNameLst>
                                      </p:cBhvr>
                                      <p:to>
                                        <p:strVal val="hidden"/>
                                      </p:to>
                                    </p:set>
                                  </p:childTnLst>
                                </p:cTn>
                              </p:par>
                              <p:par>
                                <p:cTn id="54" presetID="10" presetClass="exit" presetSubtype="0" fill="hold" grpId="0" nodeType="withEffect">
                                  <p:stCondLst>
                                    <p:cond delay="0"/>
                                  </p:stCondLst>
                                  <p:childTnLst>
                                    <p:animEffect transition="out" filter="fade">
                                      <p:cBhvr>
                                        <p:cTn id="55" dur="500"/>
                                        <p:tgtEl>
                                          <p:spTgt spid="239">
                                            <p:txEl>
                                              <p:pRg st="5" end="5"/>
                                            </p:txEl>
                                          </p:spTgt>
                                        </p:tgtEl>
                                      </p:cBhvr>
                                    </p:animEffect>
                                    <p:set>
                                      <p:cBhvr>
                                        <p:cTn id="56" dur="1" fill="hold">
                                          <p:stCondLst>
                                            <p:cond delay="499"/>
                                          </p:stCondLst>
                                        </p:cTn>
                                        <p:tgtEl>
                                          <p:spTgt spid="239">
                                            <p:txEl>
                                              <p:pRg st="5" end="5"/>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9" grpId="0" uiExpand="1" build="allAtOnce"/>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 name="Group 193"/>
          <p:cNvGrpSpPr/>
          <p:nvPr/>
        </p:nvGrpSpPr>
        <p:grpSpPr>
          <a:xfrm>
            <a:off x="2409805" y="476498"/>
            <a:ext cx="2440458" cy="1194898"/>
            <a:chOff x="2028805" y="476498"/>
            <a:chExt cx="2440458" cy="1194898"/>
          </a:xfrm>
        </p:grpSpPr>
        <p:sp>
          <p:nvSpPr>
            <p:cNvPr id="5" name="Process A"/>
            <p:cNvSpPr/>
            <p:nvPr/>
          </p:nvSpPr>
          <p:spPr>
            <a:xfrm>
              <a:off x="2028805" y="476498"/>
              <a:ext cx="2440458" cy="984940"/>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nvGrpSpPr>
            <p:cNvPr id="17" name="PT Agent A"/>
            <p:cNvGrpSpPr/>
            <p:nvPr/>
          </p:nvGrpSpPr>
          <p:grpSpPr>
            <a:xfrm>
              <a:off x="2110275" y="1202254"/>
              <a:ext cx="1074956" cy="469142"/>
              <a:chOff x="2626646" y="3779254"/>
              <a:chExt cx="1074956" cy="469142"/>
            </a:xfrm>
          </p:grpSpPr>
          <p:sp>
            <p:nvSpPr>
              <p:cNvPr id="18" name="Rectangle 17"/>
              <p:cNvSpPr/>
              <p:nvPr/>
            </p:nvSpPr>
            <p:spPr>
              <a:xfrm>
                <a:off x="2703536" y="3779254"/>
                <a:ext cx="998066" cy="331980"/>
              </a:xfrm>
              <a:prstGeom prst="rect">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91440" bIns="0" rtlCol="0" anchor="t" anchorCtr="0"/>
              <a:lstStyle/>
              <a:p>
                <a:pPr algn="r"/>
                <a:r>
                  <a:rPr lang="en-US" dirty="0" smtClean="0">
                    <a:solidFill>
                      <a:schemeClr val="tx1"/>
                    </a:solidFill>
                  </a:rPr>
                  <a:t>PT Agent</a:t>
                </a:r>
                <a:endParaRPr lang="en-US" dirty="0">
                  <a:solidFill>
                    <a:schemeClr val="tx1"/>
                  </a:solidFill>
                </a:endParaRPr>
              </a:p>
            </p:txBody>
          </p:sp>
          <p:grpSp>
            <p:nvGrpSpPr>
              <p:cNvPr id="19" name="Group 18"/>
              <p:cNvGrpSpPr/>
              <p:nvPr/>
            </p:nvGrpSpPr>
            <p:grpSpPr>
              <a:xfrm rot="878394">
                <a:off x="2626646" y="3986085"/>
                <a:ext cx="442659" cy="262311"/>
                <a:chOff x="2015326" y="3161328"/>
                <a:chExt cx="442659" cy="262311"/>
              </a:xfrm>
            </p:grpSpPr>
            <p:sp>
              <p:nvSpPr>
                <p:cNvPr id="20" name="Freeform 19"/>
                <p:cNvSpPr/>
                <p:nvPr/>
              </p:nvSpPr>
              <p:spPr>
                <a:xfrm>
                  <a:off x="2015326" y="3198159"/>
                  <a:ext cx="207804" cy="225480"/>
                </a:xfrm>
                <a:custGeom>
                  <a:avLst/>
                  <a:gdLst>
                    <a:gd name="connsiteX0" fmla="*/ 250470 w 278551"/>
                    <a:gd name="connsiteY0" fmla="*/ 185740 h 302245"/>
                    <a:gd name="connsiteX1" fmla="*/ 278551 w 278551"/>
                    <a:gd name="connsiteY1" fmla="*/ 212135 h 302245"/>
                    <a:gd name="connsiteX2" fmla="*/ 261752 w 278551"/>
                    <a:gd name="connsiteY2" fmla="*/ 241233 h 302245"/>
                    <a:gd name="connsiteX3" fmla="*/ 225317 w 278551"/>
                    <a:gd name="connsiteY3" fmla="*/ 230252 h 302245"/>
                    <a:gd name="connsiteX4" fmla="*/ 247440 w 278551"/>
                    <a:gd name="connsiteY4" fmla="*/ 199863 h 302245"/>
                    <a:gd name="connsiteX5" fmla="*/ 139274 w 278551"/>
                    <a:gd name="connsiteY5" fmla="*/ 84295 h 302245"/>
                    <a:gd name="connsiteX6" fmla="*/ 196885 w 278551"/>
                    <a:gd name="connsiteY6" fmla="*/ 113100 h 302245"/>
                    <a:gd name="connsiteX7" fmla="*/ 196884 w 278551"/>
                    <a:gd name="connsiteY7" fmla="*/ 114931 h 302245"/>
                    <a:gd name="connsiteX8" fmla="*/ 141702 w 278551"/>
                    <a:gd name="connsiteY8" fmla="*/ 86497 h 302245"/>
                    <a:gd name="connsiteX9" fmla="*/ 91232 w 278551"/>
                    <a:gd name="connsiteY9" fmla="*/ 110971 h 302245"/>
                    <a:gd name="connsiteX10" fmla="*/ 90180 w 278551"/>
                    <a:gd name="connsiteY10" fmla="*/ 108843 h 302245"/>
                    <a:gd name="connsiteX11" fmla="*/ 93907 w 278551"/>
                    <a:gd name="connsiteY11" fmla="*/ 56612 h 302245"/>
                    <a:gd name="connsiteX12" fmla="*/ 77529 w 278551"/>
                    <a:gd name="connsiteY12" fmla="*/ 83250 h 302245"/>
                    <a:gd name="connsiteX13" fmla="*/ 90180 w 278551"/>
                    <a:gd name="connsiteY13" fmla="*/ 108843 h 302245"/>
                    <a:gd name="connsiteX14" fmla="*/ 81665 w 278551"/>
                    <a:gd name="connsiteY14" fmla="*/ 113100 h 302245"/>
                    <a:gd name="connsiteX15" fmla="*/ 81665 w 278551"/>
                    <a:gd name="connsiteY15" fmla="*/ 189144 h 302245"/>
                    <a:gd name="connsiteX16" fmla="*/ 139274 w 278551"/>
                    <a:gd name="connsiteY16" fmla="*/ 217949 h 302245"/>
                    <a:gd name="connsiteX17" fmla="*/ 196884 w 278551"/>
                    <a:gd name="connsiteY17" fmla="*/ 189144 h 302245"/>
                    <a:gd name="connsiteX18" fmla="*/ 196884 w 278551"/>
                    <a:gd name="connsiteY18" fmla="*/ 114931 h 302245"/>
                    <a:gd name="connsiteX19" fmla="*/ 198958 w 278551"/>
                    <a:gd name="connsiteY19" fmla="*/ 115999 h 302245"/>
                    <a:gd name="connsiteX20" fmla="*/ 198034 w 278551"/>
                    <a:gd name="connsiteY20" fmla="*/ 192038 h 302245"/>
                    <a:gd name="connsiteX21" fmla="*/ 144208 w 278551"/>
                    <a:gd name="connsiteY21" fmla="*/ 218139 h 302245"/>
                    <a:gd name="connsiteX22" fmla="*/ 155568 w 278551"/>
                    <a:gd name="connsiteY22" fmla="*/ 241121 h 302245"/>
                    <a:gd name="connsiteX23" fmla="*/ 182697 w 278551"/>
                    <a:gd name="connsiteY23" fmla="*/ 246757 h 302245"/>
                    <a:gd name="connsiteX24" fmla="*/ 166987 w 278551"/>
                    <a:gd name="connsiteY24" fmla="*/ 255827 h 302245"/>
                    <a:gd name="connsiteX25" fmla="*/ 156075 w 278551"/>
                    <a:gd name="connsiteY25" fmla="*/ 302245 h 302245"/>
                    <a:gd name="connsiteX26" fmla="*/ 122476 w 278551"/>
                    <a:gd name="connsiteY26" fmla="*/ 302245 h 302245"/>
                    <a:gd name="connsiteX27" fmla="*/ 111565 w 278551"/>
                    <a:gd name="connsiteY27" fmla="*/ 255827 h 302245"/>
                    <a:gd name="connsiteX28" fmla="*/ 62455 w 278551"/>
                    <a:gd name="connsiteY28" fmla="*/ 227473 h 302245"/>
                    <a:gd name="connsiteX29" fmla="*/ 16799 w 278551"/>
                    <a:gd name="connsiteY29" fmla="*/ 241233 h 302245"/>
                    <a:gd name="connsiteX30" fmla="*/ 0 w 278551"/>
                    <a:gd name="connsiteY30" fmla="*/ 212135 h 302245"/>
                    <a:gd name="connsiteX31" fmla="*/ 34743 w 278551"/>
                    <a:gd name="connsiteY31" fmla="*/ 179476 h 302245"/>
                    <a:gd name="connsiteX32" fmla="*/ 34743 w 278551"/>
                    <a:gd name="connsiteY32" fmla="*/ 122768 h 302245"/>
                    <a:gd name="connsiteX33" fmla="*/ 0 w 278551"/>
                    <a:gd name="connsiteY33" fmla="*/ 90110 h 302245"/>
                    <a:gd name="connsiteX34" fmla="*/ 16799 w 278551"/>
                    <a:gd name="connsiteY34" fmla="*/ 61012 h 302245"/>
                    <a:gd name="connsiteX35" fmla="*/ 62454 w 278551"/>
                    <a:gd name="connsiteY35" fmla="*/ 74772 h 302245"/>
                    <a:gd name="connsiteX36" fmla="*/ 122476 w 278551"/>
                    <a:gd name="connsiteY36" fmla="*/ 0 h 302245"/>
                    <a:gd name="connsiteX37" fmla="*/ 156075 w 278551"/>
                    <a:gd name="connsiteY37" fmla="*/ 0 h 302245"/>
                    <a:gd name="connsiteX38" fmla="*/ 165987 w 278551"/>
                    <a:gd name="connsiteY38" fmla="*/ 42169 h 302245"/>
                    <a:gd name="connsiteX39" fmla="*/ 142303 w 278551"/>
                    <a:gd name="connsiteY39" fmla="*/ 37087 h 302245"/>
                    <a:gd name="connsiteX40" fmla="*/ 112428 w 278551"/>
                    <a:gd name="connsiteY40" fmla="*/ 42742 h 30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78551" h="302245">
                      <a:moveTo>
                        <a:pt x="250470" y="185740"/>
                      </a:moveTo>
                      <a:lnTo>
                        <a:pt x="278551" y="212135"/>
                      </a:lnTo>
                      <a:lnTo>
                        <a:pt x="261752" y="241233"/>
                      </a:lnTo>
                      <a:lnTo>
                        <a:pt x="225317" y="230252"/>
                      </a:lnTo>
                      <a:lnTo>
                        <a:pt x="247440" y="199863"/>
                      </a:lnTo>
                      <a:close/>
                      <a:moveTo>
                        <a:pt x="139274" y="84295"/>
                      </a:moveTo>
                      <a:lnTo>
                        <a:pt x="196885" y="113100"/>
                      </a:lnTo>
                      <a:lnTo>
                        <a:pt x="196884" y="114931"/>
                      </a:lnTo>
                      <a:lnTo>
                        <a:pt x="141702" y="86497"/>
                      </a:lnTo>
                      <a:lnTo>
                        <a:pt x="91232" y="110971"/>
                      </a:lnTo>
                      <a:lnTo>
                        <a:pt x="90180" y="108843"/>
                      </a:lnTo>
                      <a:close/>
                      <a:moveTo>
                        <a:pt x="93907" y="56612"/>
                      </a:moveTo>
                      <a:lnTo>
                        <a:pt x="77529" y="83250"/>
                      </a:lnTo>
                      <a:lnTo>
                        <a:pt x="90180" y="108843"/>
                      </a:lnTo>
                      <a:lnTo>
                        <a:pt x="81665" y="113100"/>
                      </a:lnTo>
                      <a:lnTo>
                        <a:pt x="81665" y="189144"/>
                      </a:lnTo>
                      <a:lnTo>
                        <a:pt x="139274" y="217949"/>
                      </a:lnTo>
                      <a:lnTo>
                        <a:pt x="196884" y="189144"/>
                      </a:lnTo>
                      <a:lnTo>
                        <a:pt x="196884" y="114931"/>
                      </a:lnTo>
                      <a:lnTo>
                        <a:pt x="198958" y="115999"/>
                      </a:lnTo>
                      <a:lnTo>
                        <a:pt x="198034" y="192038"/>
                      </a:lnTo>
                      <a:lnTo>
                        <a:pt x="144208" y="218139"/>
                      </a:lnTo>
                      <a:lnTo>
                        <a:pt x="155568" y="241121"/>
                      </a:lnTo>
                      <a:lnTo>
                        <a:pt x="182697" y="246757"/>
                      </a:lnTo>
                      <a:lnTo>
                        <a:pt x="166987" y="255827"/>
                      </a:lnTo>
                      <a:lnTo>
                        <a:pt x="156075" y="302245"/>
                      </a:lnTo>
                      <a:lnTo>
                        <a:pt x="122476" y="302245"/>
                      </a:lnTo>
                      <a:lnTo>
                        <a:pt x="111565" y="255827"/>
                      </a:lnTo>
                      <a:cubicBezTo>
                        <a:pt x="92967" y="250905"/>
                        <a:pt x="76016" y="241118"/>
                        <a:pt x="62455" y="227473"/>
                      </a:cubicBezTo>
                      <a:lnTo>
                        <a:pt x="16799" y="241233"/>
                      </a:lnTo>
                      <a:lnTo>
                        <a:pt x="0" y="212135"/>
                      </a:lnTo>
                      <a:lnTo>
                        <a:pt x="34743" y="179476"/>
                      </a:lnTo>
                      <a:cubicBezTo>
                        <a:pt x="29707" y="160909"/>
                        <a:pt x="29707" y="141335"/>
                        <a:pt x="34743" y="122768"/>
                      </a:cubicBezTo>
                      <a:lnTo>
                        <a:pt x="0" y="90110"/>
                      </a:lnTo>
                      <a:lnTo>
                        <a:pt x="16799" y="61012"/>
                      </a:lnTo>
                      <a:lnTo>
                        <a:pt x="62454" y="74772"/>
                      </a:lnTo>
                      <a:close/>
                      <a:moveTo>
                        <a:pt x="122476" y="0"/>
                      </a:moveTo>
                      <a:lnTo>
                        <a:pt x="156075" y="0"/>
                      </a:lnTo>
                      <a:lnTo>
                        <a:pt x="165987" y="42169"/>
                      </a:lnTo>
                      <a:lnTo>
                        <a:pt x="142303" y="37087"/>
                      </a:lnTo>
                      <a:lnTo>
                        <a:pt x="112428" y="42742"/>
                      </a:lnTo>
                      <a:close/>
                    </a:path>
                  </a:pathLst>
                </a:custGeom>
                <a:solidFill>
                  <a:schemeClr val="bg1"/>
                </a:solidFill>
                <a:ln w="19050">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1" name="Freeform 20"/>
                <p:cNvSpPr/>
                <p:nvPr/>
              </p:nvSpPr>
              <p:spPr>
                <a:xfrm rot="20021754">
                  <a:off x="2054359" y="3161328"/>
                  <a:ext cx="403626" cy="168587"/>
                </a:xfrm>
                <a:custGeom>
                  <a:avLst/>
                  <a:gdLst>
                    <a:gd name="connsiteX0" fmla="*/ 99307 w 541041"/>
                    <a:gd name="connsiteY0" fmla="*/ 54263 h 225982"/>
                    <a:gd name="connsiteX1" fmla="*/ 136175 w 541041"/>
                    <a:gd name="connsiteY1" fmla="*/ 104206 h 225982"/>
                    <a:gd name="connsiteX2" fmla="*/ 103289 w 541041"/>
                    <a:gd name="connsiteY2" fmla="*/ 170735 h 225982"/>
                    <a:gd name="connsiteX3" fmla="*/ 38879 w 541041"/>
                    <a:gd name="connsiteY3" fmla="*/ 171028 h 225982"/>
                    <a:gd name="connsiteX4" fmla="*/ 0 w 541041"/>
                    <a:gd name="connsiteY4" fmla="*/ 119677 h 225982"/>
                    <a:gd name="connsiteX5" fmla="*/ 33698 w 541041"/>
                    <a:gd name="connsiteY5" fmla="*/ 51507 h 225982"/>
                    <a:gd name="connsiteX6" fmla="*/ 43218 w 541041"/>
                    <a:gd name="connsiteY6" fmla="*/ 51464 h 225982"/>
                    <a:gd name="connsiteX7" fmla="*/ 43218 w 541041"/>
                    <a:gd name="connsiteY7" fmla="*/ 53838 h 225982"/>
                    <a:gd name="connsiteX8" fmla="*/ 504723 w 541041"/>
                    <a:gd name="connsiteY8" fmla="*/ 53019 h 225982"/>
                    <a:gd name="connsiteX9" fmla="*/ 541041 w 541041"/>
                    <a:gd name="connsiteY9" fmla="*/ 107811 h 225982"/>
                    <a:gd name="connsiteX10" fmla="*/ 481576 w 541041"/>
                    <a:gd name="connsiteY10" fmla="*/ 167276 h 225982"/>
                    <a:gd name="connsiteX11" fmla="*/ 171988 w 541041"/>
                    <a:gd name="connsiteY11" fmla="*/ 167276 h 225982"/>
                    <a:gd name="connsiteX12" fmla="*/ 143860 w 541041"/>
                    <a:gd name="connsiteY12" fmla="*/ 202747 h 225982"/>
                    <a:gd name="connsiteX13" fmla="*/ 99545 w 541041"/>
                    <a:gd name="connsiteY13" fmla="*/ 225955 h 225982"/>
                    <a:gd name="connsiteX14" fmla="*/ 99000 w 541041"/>
                    <a:gd name="connsiteY14" fmla="*/ 225982 h 225982"/>
                    <a:gd name="connsiteX15" fmla="*/ 66761 w 541041"/>
                    <a:gd name="connsiteY15" fmla="*/ 217441 h 225982"/>
                    <a:gd name="connsiteX16" fmla="*/ 43218 w 541041"/>
                    <a:gd name="connsiteY16" fmla="*/ 199021 h 225982"/>
                    <a:gd name="connsiteX17" fmla="*/ 43218 w 541041"/>
                    <a:gd name="connsiteY17" fmla="*/ 173385 h 225982"/>
                    <a:gd name="connsiteX18" fmla="*/ 103037 w 541041"/>
                    <a:gd name="connsiteY18" fmla="*/ 173839 h 225982"/>
                    <a:gd name="connsiteX19" fmla="*/ 137561 w 541041"/>
                    <a:gd name="connsiteY19" fmla="*/ 106083 h 225982"/>
                    <a:gd name="connsiteX20" fmla="*/ 136175 w 541041"/>
                    <a:gd name="connsiteY20" fmla="*/ 104206 h 225982"/>
                    <a:gd name="connsiteX21" fmla="*/ 136987 w 541041"/>
                    <a:gd name="connsiteY21" fmla="*/ 102565 h 225982"/>
                    <a:gd name="connsiteX22" fmla="*/ 98106 w 541041"/>
                    <a:gd name="connsiteY22" fmla="*/ 51213 h 225982"/>
                    <a:gd name="connsiteX23" fmla="*/ 43218 w 541041"/>
                    <a:gd name="connsiteY23" fmla="*/ 51464 h 225982"/>
                    <a:gd name="connsiteX24" fmla="*/ 43218 w 541041"/>
                    <a:gd name="connsiteY24" fmla="*/ 22915 h 225982"/>
                    <a:gd name="connsiteX25" fmla="*/ 77964 w 541041"/>
                    <a:gd name="connsiteY25" fmla="*/ 1110 h 225982"/>
                    <a:gd name="connsiteX26" fmla="*/ 85046 w 541041"/>
                    <a:gd name="connsiteY26" fmla="*/ 0 h 225982"/>
                    <a:gd name="connsiteX27" fmla="*/ 121741 w 541041"/>
                    <a:gd name="connsiteY27" fmla="*/ 10236 h 225982"/>
                    <a:gd name="connsiteX28" fmla="*/ 157909 w 541041"/>
                    <a:gd name="connsiteY28" fmla="*/ 38916 h 225982"/>
                    <a:gd name="connsiteX29" fmla="*/ 163138 w 541041"/>
                    <a:gd name="connsiteY29" fmla="*/ 48346 h 225982"/>
                    <a:gd name="connsiteX30" fmla="*/ 481576 w 541041"/>
                    <a:gd name="connsiteY30" fmla="*/ 48346 h 225982"/>
                    <a:gd name="connsiteX31" fmla="*/ 504723 w 541041"/>
                    <a:gd name="connsiteY31" fmla="*/ 53019 h 22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41041" h="225982">
                      <a:moveTo>
                        <a:pt x="99307" y="54263"/>
                      </a:moveTo>
                      <a:lnTo>
                        <a:pt x="136175" y="104206"/>
                      </a:lnTo>
                      <a:lnTo>
                        <a:pt x="103289" y="170735"/>
                      </a:lnTo>
                      <a:lnTo>
                        <a:pt x="38879" y="171028"/>
                      </a:lnTo>
                      <a:lnTo>
                        <a:pt x="0" y="119677"/>
                      </a:lnTo>
                      <a:lnTo>
                        <a:pt x="33698" y="51507"/>
                      </a:lnTo>
                      <a:lnTo>
                        <a:pt x="43218" y="51464"/>
                      </a:lnTo>
                      <a:lnTo>
                        <a:pt x="43218" y="53838"/>
                      </a:lnTo>
                      <a:close/>
                      <a:moveTo>
                        <a:pt x="504723" y="53019"/>
                      </a:moveTo>
                      <a:cubicBezTo>
                        <a:pt x="526066" y="62046"/>
                        <a:pt x="541041" y="83180"/>
                        <a:pt x="541041" y="107811"/>
                      </a:cubicBezTo>
                      <a:cubicBezTo>
                        <a:pt x="541041" y="140653"/>
                        <a:pt x="514418" y="167276"/>
                        <a:pt x="481576" y="167276"/>
                      </a:cubicBezTo>
                      <a:lnTo>
                        <a:pt x="171988" y="167276"/>
                      </a:lnTo>
                      <a:lnTo>
                        <a:pt x="143860" y="202747"/>
                      </a:lnTo>
                      <a:cubicBezTo>
                        <a:pt x="130861" y="213683"/>
                        <a:pt x="115692" y="221548"/>
                        <a:pt x="99545" y="225955"/>
                      </a:cubicBezTo>
                      <a:lnTo>
                        <a:pt x="99000" y="225982"/>
                      </a:lnTo>
                      <a:lnTo>
                        <a:pt x="66761" y="217441"/>
                      </a:lnTo>
                      <a:lnTo>
                        <a:pt x="43218" y="199021"/>
                      </a:lnTo>
                      <a:lnTo>
                        <a:pt x="43218" y="173385"/>
                      </a:lnTo>
                      <a:lnTo>
                        <a:pt x="103037" y="173839"/>
                      </a:lnTo>
                      <a:lnTo>
                        <a:pt x="137561" y="106083"/>
                      </a:lnTo>
                      <a:lnTo>
                        <a:pt x="136175" y="104206"/>
                      </a:lnTo>
                      <a:lnTo>
                        <a:pt x="136987" y="102565"/>
                      </a:lnTo>
                      <a:lnTo>
                        <a:pt x="98106" y="51213"/>
                      </a:lnTo>
                      <a:lnTo>
                        <a:pt x="43218" y="51464"/>
                      </a:lnTo>
                      <a:lnTo>
                        <a:pt x="43218" y="22915"/>
                      </a:lnTo>
                      <a:lnTo>
                        <a:pt x="77964" y="1110"/>
                      </a:lnTo>
                      <a:lnTo>
                        <a:pt x="85046" y="0"/>
                      </a:lnTo>
                      <a:lnTo>
                        <a:pt x="121741" y="10236"/>
                      </a:lnTo>
                      <a:cubicBezTo>
                        <a:pt x="136041" y="17522"/>
                        <a:pt x="148188" y="27361"/>
                        <a:pt x="157909" y="38916"/>
                      </a:cubicBezTo>
                      <a:lnTo>
                        <a:pt x="163138" y="48346"/>
                      </a:lnTo>
                      <a:lnTo>
                        <a:pt x="481576" y="48346"/>
                      </a:lnTo>
                      <a:cubicBezTo>
                        <a:pt x="489787" y="48346"/>
                        <a:pt x="497608" y="50010"/>
                        <a:pt x="504723" y="53019"/>
                      </a:cubicBezTo>
                      <a:close/>
                    </a:path>
                  </a:pathLst>
                </a:cu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22" name="Hexagon 21"/>
                <p:cNvSpPr/>
                <p:nvPr/>
              </p:nvSpPr>
              <p:spPr>
                <a:xfrm rot="16200000">
                  <a:off x="2067787" y="3266584"/>
                  <a:ext cx="102880" cy="89052"/>
                </a:xfrm>
                <a:prstGeom prst="hexagon">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grpSp>
      </p:grpSp>
      <p:grpSp>
        <p:nvGrpSpPr>
          <p:cNvPr id="195" name="Group 194"/>
          <p:cNvGrpSpPr/>
          <p:nvPr/>
        </p:nvGrpSpPr>
        <p:grpSpPr>
          <a:xfrm>
            <a:off x="5521305" y="516046"/>
            <a:ext cx="2745258" cy="1454951"/>
            <a:chOff x="5140305" y="516046"/>
            <a:chExt cx="2745258" cy="1454951"/>
          </a:xfrm>
        </p:grpSpPr>
        <p:grpSp>
          <p:nvGrpSpPr>
            <p:cNvPr id="41" name="Process B"/>
            <p:cNvGrpSpPr/>
            <p:nvPr/>
          </p:nvGrpSpPr>
          <p:grpSpPr>
            <a:xfrm flipH="1">
              <a:off x="5140305" y="516046"/>
              <a:ext cx="2745258" cy="1234786"/>
              <a:chOff x="5785070" y="298924"/>
              <a:chExt cx="2745258" cy="1700610"/>
            </a:xfrm>
          </p:grpSpPr>
          <p:sp>
            <p:nvSpPr>
              <p:cNvPr id="32" name="Process B3"/>
              <p:cNvSpPr/>
              <p:nvPr/>
            </p:nvSpPr>
            <p:spPr>
              <a:xfrm>
                <a:off x="5785070" y="298924"/>
                <a:ext cx="2440458" cy="1395810"/>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39" name="Process B2"/>
              <p:cNvSpPr/>
              <p:nvPr/>
            </p:nvSpPr>
            <p:spPr>
              <a:xfrm>
                <a:off x="5937470" y="451324"/>
                <a:ext cx="2440458" cy="1395810"/>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40" name="Process B1"/>
              <p:cNvSpPr/>
              <p:nvPr/>
            </p:nvSpPr>
            <p:spPr>
              <a:xfrm>
                <a:off x="6089870" y="603724"/>
                <a:ext cx="2440458" cy="1395810"/>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grpSp>
          <p:nvGrpSpPr>
            <p:cNvPr id="33" name="PT Agent B"/>
            <p:cNvGrpSpPr/>
            <p:nvPr/>
          </p:nvGrpSpPr>
          <p:grpSpPr>
            <a:xfrm>
              <a:off x="5247478" y="1501855"/>
              <a:ext cx="1074956" cy="469142"/>
              <a:chOff x="2626646" y="3779254"/>
              <a:chExt cx="1074956" cy="469142"/>
            </a:xfrm>
          </p:grpSpPr>
          <p:sp>
            <p:nvSpPr>
              <p:cNvPr id="34" name="Text"/>
              <p:cNvSpPr/>
              <p:nvPr/>
            </p:nvSpPr>
            <p:spPr>
              <a:xfrm>
                <a:off x="2703536" y="3779254"/>
                <a:ext cx="998066" cy="331980"/>
              </a:xfrm>
              <a:prstGeom prst="rect">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91440" bIns="0" rtlCol="0" anchor="t" anchorCtr="0"/>
              <a:lstStyle/>
              <a:p>
                <a:pPr algn="r"/>
                <a:r>
                  <a:rPr lang="en-US" dirty="0" smtClean="0">
                    <a:solidFill>
                      <a:schemeClr val="tx1"/>
                    </a:solidFill>
                  </a:rPr>
                  <a:t>PT Agent</a:t>
                </a:r>
                <a:endParaRPr lang="en-US" dirty="0">
                  <a:solidFill>
                    <a:schemeClr val="tx1"/>
                  </a:solidFill>
                </a:endParaRPr>
              </a:p>
            </p:txBody>
          </p:sp>
          <p:grpSp>
            <p:nvGrpSpPr>
              <p:cNvPr id="35" name="Group 34"/>
              <p:cNvGrpSpPr/>
              <p:nvPr/>
            </p:nvGrpSpPr>
            <p:grpSpPr>
              <a:xfrm rot="878394">
                <a:off x="2626646" y="3986085"/>
                <a:ext cx="442659" cy="262311"/>
                <a:chOff x="2015326" y="3161328"/>
                <a:chExt cx="442659" cy="262311"/>
              </a:xfrm>
            </p:grpSpPr>
            <p:sp>
              <p:nvSpPr>
                <p:cNvPr id="36" name="Freeform 35"/>
                <p:cNvSpPr/>
                <p:nvPr/>
              </p:nvSpPr>
              <p:spPr>
                <a:xfrm>
                  <a:off x="2015326" y="3198159"/>
                  <a:ext cx="207804" cy="225480"/>
                </a:xfrm>
                <a:custGeom>
                  <a:avLst/>
                  <a:gdLst>
                    <a:gd name="connsiteX0" fmla="*/ 250470 w 278551"/>
                    <a:gd name="connsiteY0" fmla="*/ 185740 h 302245"/>
                    <a:gd name="connsiteX1" fmla="*/ 278551 w 278551"/>
                    <a:gd name="connsiteY1" fmla="*/ 212135 h 302245"/>
                    <a:gd name="connsiteX2" fmla="*/ 261752 w 278551"/>
                    <a:gd name="connsiteY2" fmla="*/ 241233 h 302245"/>
                    <a:gd name="connsiteX3" fmla="*/ 225317 w 278551"/>
                    <a:gd name="connsiteY3" fmla="*/ 230252 h 302245"/>
                    <a:gd name="connsiteX4" fmla="*/ 247440 w 278551"/>
                    <a:gd name="connsiteY4" fmla="*/ 199863 h 302245"/>
                    <a:gd name="connsiteX5" fmla="*/ 139274 w 278551"/>
                    <a:gd name="connsiteY5" fmla="*/ 84295 h 302245"/>
                    <a:gd name="connsiteX6" fmla="*/ 196885 w 278551"/>
                    <a:gd name="connsiteY6" fmla="*/ 113100 h 302245"/>
                    <a:gd name="connsiteX7" fmla="*/ 196884 w 278551"/>
                    <a:gd name="connsiteY7" fmla="*/ 114931 h 302245"/>
                    <a:gd name="connsiteX8" fmla="*/ 141702 w 278551"/>
                    <a:gd name="connsiteY8" fmla="*/ 86497 h 302245"/>
                    <a:gd name="connsiteX9" fmla="*/ 91232 w 278551"/>
                    <a:gd name="connsiteY9" fmla="*/ 110971 h 302245"/>
                    <a:gd name="connsiteX10" fmla="*/ 90180 w 278551"/>
                    <a:gd name="connsiteY10" fmla="*/ 108843 h 302245"/>
                    <a:gd name="connsiteX11" fmla="*/ 93907 w 278551"/>
                    <a:gd name="connsiteY11" fmla="*/ 56612 h 302245"/>
                    <a:gd name="connsiteX12" fmla="*/ 77529 w 278551"/>
                    <a:gd name="connsiteY12" fmla="*/ 83250 h 302245"/>
                    <a:gd name="connsiteX13" fmla="*/ 90180 w 278551"/>
                    <a:gd name="connsiteY13" fmla="*/ 108843 h 302245"/>
                    <a:gd name="connsiteX14" fmla="*/ 81665 w 278551"/>
                    <a:gd name="connsiteY14" fmla="*/ 113100 h 302245"/>
                    <a:gd name="connsiteX15" fmla="*/ 81665 w 278551"/>
                    <a:gd name="connsiteY15" fmla="*/ 189144 h 302245"/>
                    <a:gd name="connsiteX16" fmla="*/ 139274 w 278551"/>
                    <a:gd name="connsiteY16" fmla="*/ 217949 h 302245"/>
                    <a:gd name="connsiteX17" fmla="*/ 196884 w 278551"/>
                    <a:gd name="connsiteY17" fmla="*/ 189144 h 302245"/>
                    <a:gd name="connsiteX18" fmla="*/ 196884 w 278551"/>
                    <a:gd name="connsiteY18" fmla="*/ 114931 h 302245"/>
                    <a:gd name="connsiteX19" fmla="*/ 198958 w 278551"/>
                    <a:gd name="connsiteY19" fmla="*/ 115999 h 302245"/>
                    <a:gd name="connsiteX20" fmla="*/ 198034 w 278551"/>
                    <a:gd name="connsiteY20" fmla="*/ 192038 h 302245"/>
                    <a:gd name="connsiteX21" fmla="*/ 144208 w 278551"/>
                    <a:gd name="connsiteY21" fmla="*/ 218139 h 302245"/>
                    <a:gd name="connsiteX22" fmla="*/ 155568 w 278551"/>
                    <a:gd name="connsiteY22" fmla="*/ 241121 h 302245"/>
                    <a:gd name="connsiteX23" fmla="*/ 182697 w 278551"/>
                    <a:gd name="connsiteY23" fmla="*/ 246757 h 302245"/>
                    <a:gd name="connsiteX24" fmla="*/ 166987 w 278551"/>
                    <a:gd name="connsiteY24" fmla="*/ 255827 h 302245"/>
                    <a:gd name="connsiteX25" fmla="*/ 156075 w 278551"/>
                    <a:gd name="connsiteY25" fmla="*/ 302245 h 302245"/>
                    <a:gd name="connsiteX26" fmla="*/ 122476 w 278551"/>
                    <a:gd name="connsiteY26" fmla="*/ 302245 h 302245"/>
                    <a:gd name="connsiteX27" fmla="*/ 111565 w 278551"/>
                    <a:gd name="connsiteY27" fmla="*/ 255827 h 302245"/>
                    <a:gd name="connsiteX28" fmla="*/ 62455 w 278551"/>
                    <a:gd name="connsiteY28" fmla="*/ 227473 h 302245"/>
                    <a:gd name="connsiteX29" fmla="*/ 16799 w 278551"/>
                    <a:gd name="connsiteY29" fmla="*/ 241233 h 302245"/>
                    <a:gd name="connsiteX30" fmla="*/ 0 w 278551"/>
                    <a:gd name="connsiteY30" fmla="*/ 212135 h 302245"/>
                    <a:gd name="connsiteX31" fmla="*/ 34743 w 278551"/>
                    <a:gd name="connsiteY31" fmla="*/ 179476 h 302245"/>
                    <a:gd name="connsiteX32" fmla="*/ 34743 w 278551"/>
                    <a:gd name="connsiteY32" fmla="*/ 122768 h 302245"/>
                    <a:gd name="connsiteX33" fmla="*/ 0 w 278551"/>
                    <a:gd name="connsiteY33" fmla="*/ 90110 h 302245"/>
                    <a:gd name="connsiteX34" fmla="*/ 16799 w 278551"/>
                    <a:gd name="connsiteY34" fmla="*/ 61012 h 302245"/>
                    <a:gd name="connsiteX35" fmla="*/ 62454 w 278551"/>
                    <a:gd name="connsiteY35" fmla="*/ 74772 h 302245"/>
                    <a:gd name="connsiteX36" fmla="*/ 122476 w 278551"/>
                    <a:gd name="connsiteY36" fmla="*/ 0 h 302245"/>
                    <a:gd name="connsiteX37" fmla="*/ 156075 w 278551"/>
                    <a:gd name="connsiteY37" fmla="*/ 0 h 302245"/>
                    <a:gd name="connsiteX38" fmla="*/ 165987 w 278551"/>
                    <a:gd name="connsiteY38" fmla="*/ 42169 h 302245"/>
                    <a:gd name="connsiteX39" fmla="*/ 142303 w 278551"/>
                    <a:gd name="connsiteY39" fmla="*/ 37087 h 302245"/>
                    <a:gd name="connsiteX40" fmla="*/ 112428 w 278551"/>
                    <a:gd name="connsiteY40" fmla="*/ 42742 h 30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78551" h="302245">
                      <a:moveTo>
                        <a:pt x="250470" y="185740"/>
                      </a:moveTo>
                      <a:lnTo>
                        <a:pt x="278551" y="212135"/>
                      </a:lnTo>
                      <a:lnTo>
                        <a:pt x="261752" y="241233"/>
                      </a:lnTo>
                      <a:lnTo>
                        <a:pt x="225317" y="230252"/>
                      </a:lnTo>
                      <a:lnTo>
                        <a:pt x="247440" y="199863"/>
                      </a:lnTo>
                      <a:close/>
                      <a:moveTo>
                        <a:pt x="139274" y="84295"/>
                      </a:moveTo>
                      <a:lnTo>
                        <a:pt x="196885" y="113100"/>
                      </a:lnTo>
                      <a:lnTo>
                        <a:pt x="196884" y="114931"/>
                      </a:lnTo>
                      <a:lnTo>
                        <a:pt x="141702" y="86497"/>
                      </a:lnTo>
                      <a:lnTo>
                        <a:pt x="91232" y="110971"/>
                      </a:lnTo>
                      <a:lnTo>
                        <a:pt x="90180" y="108843"/>
                      </a:lnTo>
                      <a:close/>
                      <a:moveTo>
                        <a:pt x="93907" y="56612"/>
                      </a:moveTo>
                      <a:lnTo>
                        <a:pt x="77529" y="83250"/>
                      </a:lnTo>
                      <a:lnTo>
                        <a:pt x="90180" y="108843"/>
                      </a:lnTo>
                      <a:lnTo>
                        <a:pt x="81665" y="113100"/>
                      </a:lnTo>
                      <a:lnTo>
                        <a:pt x="81665" y="189144"/>
                      </a:lnTo>
                      <a:lnTo>
                        <a:pt x="139274" y="217949"/>
                      </a:lnTo>
                      <a:lnTo>
                        <a:pt x="196884" y="189144"/>
                      </a:lnTo>
                      <a:lnTo>
                        <a:pt x="196884" y="114931"/>
                      </a:lnTo>
                      <a:lnTo>
                        <a:pt x="198958" y="115999"/>
                      </a:lnTo>
                      <a:lnTo>
                        <a:pt x="198034" y="192038"/>
                      </a:lnTo>
                      <a:lnTo>
                        <a:pt x="144208" y="218139"/>
                      </a:lnTo>
                      <a:lnTo>
                        <a:pt x="155568" y="241121"/>
                      </a:lnTo>
                      <a:lnTo>
                        <a:pt x="182697" y="246757"/>
                      </a:lnTo>
                      <a:lnTo>
                        <a:pt x="166987" y="255827"/>
                      </a:lnTo>
                      <a:lnTo>
                        <a:pt x="156075" y="302245"/>
                      </a:lnTo>
                      <a:lnTo>
                        <a:pt x="122476" y="302245"/>
                      </a:lnTo>
                      <a:lnTo>
                        <a:pt x="111565" y="255827"/>
                      </a:lnTo>
                      <a:cubicBezTo>
                        <a:pt x="92967" y="250905"/>
                        <a:pt x="76016" y="241118"/>
                        <a:pt x="62455" y="227473"/>
                      </a:cubicBezTo>
                      <a:lnTo>
                        <a:pt x="16799" y="241233"/>
                      </a:lnTo>
                      <a:lnTo>
                        <a:pt x="0" y="212135"/>
                      </a:lnTo>
                      <a:lnTo>
                        <a:pt x="34743" y="179476"/>
                      </a:lnTo>
                      <a:cubicBezTo>
                        <a:pt x="29707" y="160909"/>
                        <a:pt x="29707" y="141335"/>
                        <a:pt x="34743" y="122768"/>
                      </a:cubicBezTo>
                      <a:lnTo>
                        <a:pt x="0" y="90110"/>
                      </a:lnTo>
                      <a:lnTo>
                        <a:pt x="16799" y="61012"/>
                      </a:lnTo>
                      <a:lnTo>
                        <a:pt x="62454" y="74772"/>
                      </a:lnTo>
                      <a:close/>
                      <a:moveTo>
                        <a:pt x="122476" y="0"/>
                      </a:moveTo>
                      <a:lnTo>
                        <a:pt x="156075" y="0"/>
                      </a:lnTo>
                      <a:lnTo>
                        <a:pt x="165987" y="42169"/>
                      </a:lnTo>
                      <a:lnTo>
                        <a:pt x="142303" y="37087"/>
                      </a:lnTo>
                      <a:lnTo>
                        <a:pt x="112428" y="42742"/>
                      </a:lnTo>
                      <a:close/>
                    </a:path>
                  </a:pathLst>
                </a:custGeom>
                <a:solidFill>
                  <a:schemeClr val="bg1"/>
                </a:solidFill>
                <a:ln w="19050">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37" name="Freeform 36"/>
                <p:cNvSpPr/>
                <p:nvPr/>
              </p:nvSpPr>
              <p:spPr>
                <a:xfrm rot="20021754">
                  <a:off x="2054359" y="3161328"/>
                  <a:ext cx="403626" cy="168587"/>
                </a:xfrm>
                <a:custGeom>
                  <a:avLst/>
                  <a:gdLst>
                    <a:gd name="connsiteX0" fmla="*/ 99307 w 541041"/>
                    <a:gd name="connsiteY0" fmla="*/ 54263 h 225982"/>
                    <a:gd name="connsiteX1" fmla="*/ 136175 w 541041"/>
                    <a:gd name="connsiteY1" fmla="*/ 104206 h 225982"/>
                    <a:gd name="connsiteX2" fmla="*/ 103289 w 541041"/>
                    <a:gd name="connsiteY2" fmla="*/ 170735 h 225982"/>
                    <a:gd name="connsiteX3" fmla="*/ 38879 w 541041"/>
                    <a:gd name="connsiteY3" fmla="*/ 171028 h 225982"/>
                    <a:gd name="connsiteX4" fmla="*/ 0 w 541041"/>
                    <a:gd name="connsiteY4" fmla="*/ 119677 h 225982"/>
                    <a:gd name="connsiteX5" fmla="*/ 33698 w 541041"/>
                    <a:gd name="connsiteY5" fmla="*/ 51507 h 225982"/>
                    <a:gd name="connsiteX6" fmla="*/ 43218 w 541041"/>
                    <a:gd name="connsiteY6" fmla="*/ 51464 h 225982"/>
                    <a:gd name="connsiteX7" fmla="*/ 43218 w 541041"/>
                    <a:gd name="connsiteY7" fmla="*/ 53838 h 225982"/>
                    <a:gd name="connsiteX8" fmla="*/ 504723 w 541041"/>
                    <a:gd name="connsiteY8" fmla="*/ 53019 h 225982"/>
                    <a:gd name="connsiteX9" fmla="*/ 541041 w 541041"/>
                    <a:gd name="connsiteY9" fmla="*/ 107811 h 225982"/>
                    <a:gd name="connsiteX10" fmla="*/ 481576 w 541041"/>
                    <a:gd name="connsiteY10" fmla="*/ 167276 h 225982"/>
                    <a:gd name="connsiteX11" fmla="*/ 171988 w 541041"/>
                    <a:gd name="connsiteY11" fmla="*/ 167276 h 225982"/>
                    <a:gd name="connsiteX12" fmla="*/ 143860 w 541041"/>
                    <a:gd name="connsiteY12" fmla="*/ 202747 h 225982"/>
                    <a:gd name="connsiteX13" fmla="*/ 99545 w 541041"/>
                    <a:gd name="connsiteY13" fmla="*/ 225955 h 225982"/>
                    <a:gd name="connsiteX14" fmla="*/ 99000 w 541041"/>
                    <a:gd name="connsiteY14" fmla="*/ 225982 h 225982"/>
                    <a:gd name="connsiteX15" fmla="*/ 66761 w 541041"/>
                    <a:gd name="connsiteY15" fmla="*/ 217441 h 225982"/>
                    <a:gd name="connsiteX16" fmla="*/ 43218 w 541041"/>
                    <a:gd name="connsiteY16" fmla="*/ 199021 h 225982"/>
                    <a:gd name="connsiteX17" fmla="*/ 43218 w 541041"/>
                    <a:gd name="connsiteY17" fmla="*/ 173385 h 225982"/>
                    <a:gd name="connsiteX18" fmla="*/ 103037 w 541041"/>
                    <a:gd name="connsiteY18" fmla="*/ 173839 h 225982"/>
                    <a:gd name="connsiteX19" fmla="*/ 137561 w 541041"/>
                    <a:gd name="connsiteY19" fmla="*/ 106083 h 225982"/>
                    <a:gd name="connsiteX20" fmla="*/ 136175 w 541041"/>
                    <a:gd name="connsiteY20" fmla="*/ 104206 h 225982"/>
                    <a:gd name="connsiteX21" fmla="*/ 136987 w 541041"/>
                    <a:gd name="connsiteY21" fmla="*/ 102565 h 225982"/>
                    <a:gd name="connsiteX22" fmla="*/ 98106 w 541041"/>
                    <a:gd name="connsiteY22" fmla="*/ 51213 h 225982"/>
                    <a:gd name="connsiteX23" fmla="*/ 43218 w 541041"/>
                    <a:gd name="connsiteY23" fmla="*/ 51464 h 225982"/>
                    <a:gd name="connsiteX24" fmla="*/ 43218 w 541041"/>
                    <a:gd name="connsiteY24" fmla="*/ 22915 h 225982"/>
                    <a:gd name="connsiteX25" fmla="*/ 77964 w 541041"/>
                    <a:gd name="connsiteY25" fmla="*/ 1110 h 225982"/>
                    <a:gd name="connsiteX26" fmla="*/ 85046 w 541041"/>
                    <a:gd name="connsiteY26" fmla="*/ 0 h 225982"/>
                    <a:gd name="connsiteX27" fmla="*/ 121741 w 541041"/>
                    <a:gd name="connsiteY27" fmla="*/ 10236 h 225982"/>
                    <a:gd name="connsiteX28" fmla="*/ 157909 w 541041"/>
                    <a:gd name="connsiteY28" fmla="*/ 38916 h 225982"/>
                    <a:gd name="connsiteX29" fmla="*/ 163138 w 541041"/>
                    <a:gd name="connsiteY29" fmla="*/ 48346 h 225982"/>
                    <a:gd name="connsiteX30" fmla="*/ 481576 w 541041"/>
                    <a:gd name="connsiteY30" fmla="*/ 48346 h 225982"/>
                    <a:gd name="connsiteX31" fmla="*/ 504723 w 541041"/>
                    <a:gd name="connsiteY31" fmla="*/ 53019 h 22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41041" h="225982">
                      <a:moveTo>
                        <a:pt x="99307" y="54263"/>
                      </a:moveTo>
                      <a:lnTo>
                        <a:pt x="136175" y="104206"/>
                      </a:lnTo>
                      <a:lnTo>
                        <a:pt x="103289" y="170735"/>
                      </a:lnTo>
                      <a:lnTo>
                        <a:pt x="38879" y="171028"/>
                      </a:lnTo>
                      <a:lnTo>
                        <a:pt x="0" y="119677"/>
                      </a:lnTo>
                      <a:lnTo>
                        <a:pt x="33698" y="51507"/>
                      </a:lnTo>
                      <a:lnTo>
                        <a:pt x="43218" y="51464"/>
                      </a:lnTo>
                      <a:lnTo>
                        <a:pt x="43218" y="53838"/>
                      </a:lnTo>
                      <a:close/>
                      <a:moveTo>
                        <a:pt x="504723" y="53019"/>
                      </a:moveTo>
                      <a:cubicBezTo>
                        <a:pt x="526066" y="62046"/>
                        <a:pt x="541041" y="83180"/>
                        <a:pt x="541041" y="107811"/>
                      </a:cubicBezTo>
                      <a:cubicBezTo>
                        <a:pt x="541041" y="140653"/>
                        <a:pt x="514418" y="167276"/>
                        <a:pt x="481576" y="167276"/>
                      </a:cubicBezTo>
                      <a:lnTo>
                        <a:pt x="171988" y="167276"/>
                      </a:lnTo>
                      <a:lnTo>
                        <a:pt x="143860" y="202747"/>
                      </a:lnTo>
                      <a:cubicBezTo>
                        <a:pt x="130861" y="213683"/>
                        <a:pt x="115692" y="221548"/>
                        <a:pt x="99545" y="225955"/>
                      </a:cubicBezTo>
                      <a:lnTo>
                        <a:pt x="99000" y="225982"/>
                      </a:lnTo>
                      <a:lnTo>
                        <a:pt x="66761" y="217441"/>
                      </a:lnTo>
                      <a:lnTo>
                        <a:pt x="43218" y="199021"/>
                      </a:lnTo>
                      <a:lnTo>
                        <a:pt x="43218" y="173385"/>
                      </a:lnTo>
                      <a:lnTo>
                        <a:pt x="103037" y="173839"/>
                      </a:lnTo>
                      <a:lnTo>
                        <a:pt x="137561" y="106083"/>
                      </a:lnTo>
                      <a:lnTo>
                        <a:pt x="136175" y="104206"/>
                      </a:lnTo>
                      <a:lnTo>
                        <a:pt x="136987" y="102565"/>
                      </a:lnTo>
                      <a:lnTo>
                        <a:pt x="98106" y="51213"/>
                      </a:lnTo>
                      <a:lnTo>
                        <a:pt x="43218" y="51464"/>
                      </a:lnTo>
                      <a:lnTo>
                        <a:pt x="43218" y="22915"/>
                      </a:lnTo>
                      <a:lnTo>
                        <a:pt x="77964" y="1110"/>
                      </a:lnTo>
                      <a:lnTo>
                        <a:pt x="85046" y="0"/>
                      </a:lnTo>
                      <a:lnTo>
                        <a:pt x="121741" y="10236"/>
                      </a:lnTo>
                      <a:cubicBezTo>
                        <a:pt x="136041" y="17522"/>
                        <a:pt x="148188" y="27361"/>
                        <a:pt x="157909" y="38916"/>
                      </a:cubicBezTo>
                      <a:lnTo>
                        <a:pt x="163138" y="48346"/>
                      </a:lnTo>
                      <a:lnTo>
                        <a:pt x="481576" y="48346"/>
                      </a:lnTo>
                      <a:cubicBezTo>
                        <a:pt x="489787" y="48346"/>
                        <a:pt x="497608" y="50010"/>
                        <a:pt x="504723" y="53019"/>
                      </a:cubicBezTo>
                      <a:close/>
                    </a:path>
                  </a:pathLst>
                </a:cu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38" name="Hexagon 37"/>
                <p:cNvSpPr/>
                <p:nvPr/>
              </p:nvSpPr>
              <p:spPr>
                <a:xfrm rot="16200000">
                  <a:off x="2067787" y="3266584"/>
                  <a:ext cx="102880" cy="89052"/>
                </a:xfrm>
                <a:prstGeom prst="hexagon">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dirty="0"/>
                </a:p>
              </p:txBody>
            </p:sp>
          </p:grpSp>
        </p:grpSp>
      </p:grpSp>
      <p:sp>
        <p:nvSpPr>
          <p:cNvPr id="42" name="Green Workload"/>
          <p:cNvSpPr/>
          <p:nvPr/>
        </p:nvSpPr>
        <p:spPr>
          <a:xfrm>
            <a:off x="2047635" y="763222"/>
            <a:ext cx="6604000" cy="399484"/>
          </a:xfrm>
          <a:custGeom>
            <a:avLst/>
            <a:gdLst>
              <a:gd name="connsiteX0" fmla="*/ 0 w 6604000"/>
              <a:gd name="connsiteY0" fmla="*/ 0 h 673100"/>
              <a:gd name="connsiteX1" fmla="*/ 2514600 w 6604000"/>
              <a:gd name="connsiteY1" fmla="*/ 0 h 673100"/>
              <a:gd name="connsiteX2" fmla="*/ 3060700 w 6604000"/>
              <a:gd name="connsiteY2" fmla="*/ 673100 h 673100"/>
              <a:gd name="connsiteX3" fmla="*/ 6604000 w 6604000"/>
              <a:gd name="connsiteY3" fmla="*/ 673100 h 673100"/>
            </a:gdLst>
            <a:ahLst/>
            <a:cxnLst>
              <a:cxn ang="0">
                <a:pos x="connsiteX0" y="connsiteY0"/>
              </a:cxn>
              <a:cxn ang="0">
                <a:pos x="connsiteX1" y="connsiteY1"/>
              </a:cxn>
              <a:cxn ang="0">
                <a:pos x="connsiteX2" y="connsiteY2"/>
              </a:cxn>
              <a:cxn ang="0">
                <a:pos x="connsiteX3" y="connsiteY3"/>
              </a:cxn>
            </a:cxnLst>
            <a:rect l="l" t="t" r="r" b="b"/>
            <a:pathLst>
              <a:path w="6604000" h="673100">
                <a:moveTo>
                  <a:pt x="0" y="0"/>
                </a:moveTo>
                <a:lnTo>
                  <a:pt x="2514600" y="0"/>
                </a:lnTo>
                <a:lnTo>
                  <a:pt x="3060700" y="673100"/>
                </a:lnTo>
                <a:lnTo>
                  <a:pt x="6604000" y="673100"/>
                </a:lnTo>
              </a:path>
            </a:pathLst>
          </a:custGeom>
          <a:noFill/>
          <a:ln w="57150">
            <a:solidFill>
              <a:schemeClr val="accent3"/>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Green Tenant"/>
          <p:cNvSpPr/>
          <p:nvPr/>
        </p:nvSpPr>
        <p:spPr>
          <a:xfrm>
            <a:off x="1295742" y="404444"/>
            <a:ext cx="475862" cy="556102"/>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bg2"/>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43" name="Yellow Tenant"/>
          <p:cNvSpPr/>
          <p:nvPr/>
        </p:nvSpPr>
        <p:spPr>
          <a:xfrm>
            <a:off x="1448142" y="556844"/>
            <a:ext cx="475862" cy="556102"/>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bg2"/>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45" name="Yellow Workload"/>
          <p:cNvSpPr/>
          <p:nvPr/>
        </p:nvSpPr>
        <p:spPr>
          <a:xfrm>
            <a:off x="2200035" y="877522"/>
            <a:ext cx="6451600" cy="399484"/>
          </a:xfrm>
          <a:custGeom>
            <a:avLst/>
            <a:gdLst>
              <a:gd name="connsiteX0" fmla="*/ 0 w 6604000"/>
              <a:gd name="connsiteY0" fmla="*/ 0 h 673100"/>
              <a:gd name="connsiteX1" fmla="*/ 2514600 w 6604000"/>
              <a:gd name="connsiteY1" fmla="*/ 0 h 673100"/>
              <a:gd name="connsiteX2" fmla="*/ 3060700 w 6604000"/>
              <a:gd name="connsiteY2" fmla="*/ 673100 h 673100"/>
              <a:gd name="connsiteX3" fmla="*/ 6604000 w 6604000"/>
              <a:gd name="connsiteY3" fmla="*/ 673100 h 673100"/>
            </a:gdLst>
            <a:ahLst/>
            <a:cxnLst>
              <a:cxn ang="0">
                <a:pos x="connsiteX0" y="connsiteY0"/>
              </a:cxn>
              <a:cxn ang="0">
                <a:pos x="connsiteX1" y="connsiteY1"/>
              </a:cxn>
              <a:cxn ang="0">
                <a:pos x="connsiteX2" y="connsiteY2"/>
              </a:cxn>
              <a:cxn ang="0">
                <a:pos x="connsiteX3" y="connsiteY3"/>
              </a:cxn>
            </a:cxnLst>
            <a:rect l="l" t="t" r="r" b="b"/>
            <a:pathLst>
              <a:path w="6604000" h="673100">
                <a:moveTo>
                  <a:pt x="0" y="0"/>
                </a:moveTo>
                <a:lnTo>
                  <a:pt x="2514600" y="0"/>
                </a:lnTo>
                <a:lnTo>
                  <a:pt x="3060700" y="673100"/>
                </a:lnTo>
                <a:lnTo>
                  <a:pt x="6604000" y="673100"/>
                </a:lnTo>
              </a:path>
            </a:pathLst>
          </a:custGeom>
          <a:noFill/>
          <a:ln w="57150">
            <a:solidFill>
              <a:schemeClr val="accent3"/>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Blue Tenant"/>
          <p:cNvSpPr/>
          <p:nvPr/>
        </p:nvSpPr>
        <p:spPr>
          <a:xfrm>
            <a:off x="1600542" y="709244"/>
            <a:ext cx="475862" cy="556102"/>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bg2"/>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46" name="Blue Workload"/>
          <p:cNvSpPr/>
          <p:nvPr/>
        </p:nvSpPr>
        <p:spPr>
          <a:xfrm>
            <a:off x="2352435" y="979122"/>
            <a:ext cx="6299200" cy="399484"/>
          </a:xfrm>
          <a:custGeom>
            <a:avLst/>
            <a:gdLst>
              <a:gd name="connsiteX0" fmla="*/ 0 w 6604000"/>
              <a:gd name="connsiteY0" fmla="*/ 0 h 673100"/>
              <a:gd name="connsiteX1" fmla="*/ 2514600 w 6604000"/>
              <a:gd name="connsiteY1" fmla="*/ 0 h 673100"/>
              <a:gd name="connsiteX2" fmla="*/ 3060700 w 6604000"/>
              <a:gd name="connsiteY2" fmla="*/ 673100 h 673100"/>
              <a:gd name="connsiteX3" fmla="*/ 6604000 w 6604000"/>
              <a:gd name="connsiteY3" fmla="*/ 673100 h 673100"/>
            </a:gdLst>
            <a:ahLst/>
            <a:cxnLst>
              <a:cxn ang="0">
                <a:pos x="connsiteX0" y="connsiteY0"/>
              </a:cxn>
              <a:cxn ang="0">
                <a:pos x="connsiteX1" y="connsiteY1"/>
              </a:cxn>
              <a:cxn ang="0">
                <a:pos x="connsiteX2" y="connsiteY2"/>
              </a:cxn>
              <a:cxn ang="0">
                <a:pos x="connsiteX3" y="connsiteY3"/>
              </a:cxn>
            </a:cxnLst>
            <a:rect l="l" t="t" r="r" b="b"/>
            <a:pathLst>
              <a:path w="6604000" h="673100">
                <a:moveTo>
                  <a:pt x="0" y="0"/>
                </a:moveTo>
                <a:lnTo>
                  <a:pt x="2514600" y="0"/>
                </a:lnTo>
                <a:lnTo>
                  <a:pt x="3060700" y="673100"/>
                </a:lnTo>
                <a:lnTo>
                  <a:pt x="6604000" y="673100"/>
                </a:lnTo>
              </a:path>
            </a:pathLst>
          </a:custGeom>
          <a:noFill/>
          <a:ln w="57150">
            <a:solidFill>
              <a:schemeClr val="accent3"/>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6" name="Instrumented System"/>
          <p:cNvGrpSpPr/>
          <p:nvPr/>
        </p:nvGrpSpPr>
        <p:grpSpPr>
          <a:xfrm>
            <a:off x="2409805" y="-45532"/>
            <a:ext cx="6633414" cy="369332"/>
            <a:chOff x="2028805" y="-25868"/>
            <a:chExt cx="6633414" cy="369332"/>
          </a:xfrm>
        </p:grpSpPr>
        <p:cxnSp>
          <p:nvCxnSpPr>
            <p:cNvPr id="170" name="Straight Connector 169"/>
            <p:cNvCxnSpPr/>
            <p:nvPr/>
          </p:nvCxnSpPr>
          <p:spPr>
            <a:xfrm>
              <a:off x="2055612" y="294968"/>
              <a:ext cx="660660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71" name="TextBox 170"/>
            <p:cNvSpPr txBox="1"/>
            <p:nvPr/>
          </p:nvSpPr>
          <p:spPr>
            <a:xfrm>
              <a:off x="2028805" y="-25868"/>
              <a:ext cx="2180853" cy="369332"/>
            </a:xfrm>
            <a:prstGeom prst="rect">
              <a:avLst/>
            </a:prstGeom>
            <a:noFill/>
          </p:spPr>
          <p:txBody>
            <a:bodyPr wrap="none" rtlCol="0">
              <a:spAutoFit/>
            </a:bodyPr>
            <a:lstStyle/>
            <a:p>
              <a:r>
                <a:rPr lang="en-US" dirty="0" smtClean="0"/>
                <a:t>Instrumented System</a:t>
              </a:r>
              <a:endParaRPr lang="en-US" dirty="0"/>
            </a:p>
          </p:txBody>
        </p:sp>
        <p:sp>
          <p:nvSpPr>
            <p:cNvPr id="173" name="TextBox 172"/>
            <p:cNvSpPr txBox="1"/>
            <p:nvPr/>
          </p:nvSpPr>
          <p:spPr>
            <a:xfrm>
              <a:off x="4222190" y="-25868"/>
              <a:ext cx="370614" cy="369332"/>
            </a:xfrm>
            <a:prstGeom prst="rect">
              <a:avLst/>
            </a:prstGeom>
            <a:noFill/>
          </p:spPr>
          <p:txBody>
            <a:bodyPr wrap="none" rtlCol="0">
              <a:spAutoFit/>
            </a:bodyPr>
            <a:lstStyle/>
            <a:p>
              <a:r>
                <a:rPr lang="en-US" dirty="0" smtClean="0"/>
                <a:t>(+</a:t>
              </a:r>
              <a:endParaRPr lang="en-US" dirty="0"/>
            </a:p>
          </p:txBody>
        </p:sp>
        <p:sp>
          <p:nvSpPr>
            <p:cNvPr id="182" name="Freeform 181"/>
            <p:cNvSpPr/>
            <p:nvPr/>
          </p:nvSpPr>
          <p:spPr>
            <a:xfrm flipH="1">
              <a:off x="4521318" y="48908"/>
              <a:ext cx="268369" cy="219780"/>
            </a:xfrm>
            <a:custGeom>
              <a:avLst/>
              <a:gdLst>
                <a:gd name="connsiteX0" fmla="*/ 205184 w 1161142"/>
                <a:gd name="connsiteY0" fmla="*/ 225311 h 1009083"/>
                <a:gd name="connsiteX1" fmla="*/ 130631 w 1161142"/>
                <a:gd name="connsiteY1" fmla="*/ 225311 h 1009083"/>
                <a:gd name="connsiteX2" fmla="*/ 0 w 1161142"/>
                <a:gd name="connsiteY2" fmla="*/ 355942 h 1009083"/>
                <a:gd name="connsiteX3" fmla="*/ 0 w 1161142"/>
                <a:gd name="connsiteY3" fmla="*/ 878452 h 1009083"/>
                <a:gd name="connsiteX4" fmla="*/ 130631 w 1161142"/>
                <a:gd name="connsiteY4" fmla="*/ 1009083 h 1009083"/>
                <a:gd name="connsiteX5" fmla="*/ 205184 w 1161142"/>
                <a:gd name="connsiteY5" fmla="*/ 1009083 h 1009083"/>
                <a:gd name="connsiteX6" fmla="*/ 1030511 w 1161142"/>
                <a:gd name="connsiteY6" fmla="*/ 225311 h 1009083"/>
                <a:gd name="connsiteX7" fmla="*/ 955958 w 1161142"/>
                <a:gd name="connsiteY7" fmla="*/ 225311 h 1009083"/>
                <a:gd name="connsiteX8" fmla="*/ 955958 w 1161142"/>
                <a:gd name="connsiteY8" fmla="*/ 1009083 h 1009083"/>
                <a:gd name="connsiteX9" fmla="*/ 1030511 w 1161142"/>
                <a:gd name="connsiteY9" fmla="*/ 1009083 h 1009083"/>
                <a:gd name="connsiteX10" fmla="*/ 1161142 w 1161142"/>
                <a:gd name="connsiteY10" fmla="*/ 878452 h 1009083"/>
                <a:gd name="connsiteX11" fmla="*/ 1161142 w 1161142"/>
                <a:gd name="connsiteY11" fmla="*/ 355942 h 1009083"/>
                <a:gd name="connsiteX12" fmla="*/ 1030511 w 1161142"/>
                <a:gd name="connsiteY12" fmla="*/ 225311 h 1009083"/>
                <a:gd name="connsiteX13" fmla="*/ 580571 w 1161142"/>
                <a:gd name="connsiteY13" fmla="*/ 76200 h 1009083"/>
                <a:gd name="connsiteX14" fmla="*/ 729682 w 1161142"/>
                <a:gd name="connsiteY14" fmla="*/ 225311 h 1009083"/>
                <a:gd name="connsiteX15" fmla="*/ 431460 w 1161142"/>
                <a:gd name="connsiteY15" fmla="*/ 225311 h 1009083"/>
                <a:gd name="connsiteX16" fmla="*/ 580571 w 1161142"/>
                <a:gd name="connsiteY16" fmla="*/ 76200 h 1009083"/>
                <a:gd name="connsiteX17" fmla="*/ 580571 w 1161142"/>
                <a:gd name="connsiteY17" fmla="*/ 0 h 1009083"/>
                <a:gd name="connsiteX18" fmla="*/ 355260 w 1161142"/>
                <a:gd name="connsiteY18" fmla="*/ 225311 h 1009083"/>
                <a:gd name="connsiteX19" fmla="*/ 290704 w 1161142"/>
                <a:gd name="connsiteY19" fmla="*/ 225311 h 1009083"/>
                <a:gd name="connsiteX20" fmla="*/ 290704 w 1161142"/>
                <a:gd name="connsiteY20" fmla="*/ 1009083 h 1009083"/>
                <a:gd name="connsiteX21" fmla="*/ 870438 w 1161142"/>
                <a:gd name="connsiteY21" fmla="*/ 1009083 h 1009083"/>
                <a:gd name="connsiteX22" fmla="*/ 870438 w 1161142"/>
                <a:gd name="connsiteY22" fmla="*/ 225311 h 1009083"/>
                <a:gd name="connsiteX23" fmla="*/ 805882 w 1161142"/>
                <a:gd name="connsiteY23" fmla="*/ 225311 h 1009083"/>
                <a:gd name="connsiteX24" fmla="*/ 580571 w 1161142"/>
                <a:gd name="connsiteY24" fmla="*/ 0 h 100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61142" h="1009083">
                  <a:moveTo>
                    <a:pt x="205184" y="225311"/>
                  </a:moveTo>
                  <a:lnTo>
                    <a:pt x="130631" y="225311"/>
                  </a:lnTo>
                  <a:cubicBezTo>
                    <a:pt x="58485" y="225311"/>
                    <a:pt x="0" y="283796"/>
                    <a:pt x="0" y="355942"/>
                  </a:cubicBezTo>
                  <a:lnTo>
                    <a:pt x="0" y="878452"/>
                  </a:lnTo>
                  <a:cubicBezTo>
                    <a:pt x="0" y="950598"/>
                    <a:pt x="58485" y="1009083"/>
                    <a:pt x="130631" y="1009083"/>
                  </a:cubicBezTo>
                  <a:lnTo>
                    <a:pt x="205184" y="1009083"/>
                  </a:lnTo>
                  <a:close/>
                  <a:moveTo>
                    <a:pt x="1030511" y="225311"/>
                  </a:moveTo>
                  <a:lnTo>
                    <a:pt x="955958" y="225311"/>
                  </a:lnTo>
                  <a:lnTo>
                    <a:pt x="955958" y="1009083"/>
                  </a:lnTo>
                  <a:lnTo>
                    <a:pt x="1030511" y="1009083"/>
                  </a:lnTo>
                  <a:cubicBezTo>
                    <a:pt x="1102657" y="1009083"/>
                    <a:pt x="1161142" y="950598"/>
                    <a:pt x="1161142" y="878452"/>
                  </a:cubicBezTo>
                  <a:lnTo>
                    <a:pt x="1161142" y="355942"/>
                  </a:lnTo>
                  <a:cubicBezTo>
                    <a:pt x="1161142" y="283796"/>
                    <a:pt x="1102657" y="225311"/>
                    <a:pt x="1030511" y="225311"/>
                  </a:cubicBezTo>
                  <a:close/>
                  <a:moveTo>
                    <a:pt x="580571" y="76200"/>
                  </a:moveTo>
                  <a:cubicBezTo>
                    <a:pt x="662923" y="76200"/>
                    <a:pt x="729682" y="142959"/>
                    <a:pt x="729682" y="225311"/>
                  </a:cubicBezTo>
                  <a:lnTo>
                    <a:pt x="431460" y="225311"/>
                  </a:lnTo>
                  <a:cubicBezTo>
                    <a:pt x="431460" y="142959"/>
                    <a:pt x="498219" y="76200"/>
                    <a:pt x="580571" y="76200"/>
                  </a:cubicBezTo>
                  <a:close/>
                  <a:moveTo>
                    <a:pt x="580571" y="0"/>
                  </a:moveTo>
                  <a:cubicBezTo>
                    <a:pt x="456135" y="0"/>
                    <a:pt x="355260" y="100875"/>
                    <a:pt x="355260" y="225311"/>
                  </a:cubicBezTo>
                  <a:lnTo>
                    <a:pt x="290704" y="225311"/>
                  </a:lnTo>
                  <a:lnTo>
                    <a:pt x="290704" y="1009083"/>
                  </a:lnTo>
                  <a:lnTo>
                    <a:pt x="870438" y="1009083"/>
                  </a:lnTo>
                  <a:lnTo>
                    <a:pt x="870438" y="225311"/>
                  </a:lnTo>
                  <a:lnTo>
                    <a:pt x="805882" y="225311"/>
                  </a:lnTo>
                  <a:cubicBezTo>
                    <a:pt x="805882" y="100875"/>
                    <a:pt x="705007" y="0"/>
                    <a:pt x="580571"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83" name="TextBox 182"/>
            <p:cNvSpPr txBox="1"/>
            <p:nvPr/>
          </p:nvSpPr>
          <p:spPr>
            <a:xfrm>
              <a:off x="4706823" y="-25868"/>
              <a:ext cx="1132746" cy="369332"/>
            </a:xfrm>
            <a:prstGeom prst="rect">
              <a:avLst/>
            </a:prstGeom>
            <a:noFill/>
          </p:spPr>
          <p:txBody>
            <a:bodyPr wrap="none" rtlCol="0">
              <a:spAutoFit/>
            </a:bodyPr>
            <a:lstStyle/>
            <a:p>
              <a:r>
                <a:rPr lang="en-US" dirty="0" smtClean="0"/>
                <a:t> Baggage, </a:t>
              </a:r>
              <a:endParaRPr lang="en-US" dirty="0"/>
            </a:p>
          </p:txBody>
        </p:sp>
        <p:grpSp>
          <p:nvGrpSpPr>
            <p:cNvPr id="177" name="Group 176"/>
            <p:cNvGrpSpPr/>
            <p:nvPr/>
          </p:nvGrpSpPr>
          <p:grpSpPr>
            <a:xfrm>
              <a:off x="5905195" y="53952"/>
              <a:ext cx="351612" cy="209692"/>
              <a:chOff x="7760681" y="2437731"/>
              <a:chExt cx="456050" cy="271976"/>
            </a:xfrm>
          </p:grpSpPr>
          <p:sp>
            <p:nvSpPr>
              <p:cNvPr id="179" name="Freeform 178"/>
              <p:cNvSpPr/>
              <p:nvPr/>
            </p:nvSpPr>
            <p:spPr>
              <a:xfrm>
                <a:off x="7760681" y="2484227"/>
                <a:ext cx="207804" cy="225480"/>
              </a:xfrm>
              <a:custGeom>
                <a:avLst/>
                <a:gdLst>
                  <a:gd name="connsiteX0" fmla="*/ 250470 w 278551"/>
                  <a:gd name="connsiteY0" fmla="*/ 185740 h 302245"/>
                  <a:gd name="connsiteX1" fmla="*/ 278551 w 278551"/>
                  <a:gd name="connsiteY1" fmla="*/ 212135 h 302245"/>
                  <a:gd name="connsiteX2" fmla="*/ 261752 w 278551"/>
                  <a:gd name="connsiteY2" fmla="*/ 241233 h 302245"/>
                  <a:gd name="connsiteX3" fmla="*/ 225317 w 278551"/>
                  <a:gd name="connsiteY3" fmla="*/ 230252 h 302245"/>
                  <a:gd name="connsiteX4" fmla="*/ 247440 w 278551"/>
                  <a:gd name="connsiteY4" fmla="*/ 199863 h 302245"/>
                  <a:gd name="connsiteX5" fmla="*/ 139274 w 278551"/>
                  <a:gd name="connsiteY5" fmla="*/ 84295 h 302245"/>
                  <a:gd name="connsiteX6" fmla="*/ 196885 w 278551"/>
                  <a:gd name="connsiteY6" fmla="*/ 113100 h 302245"/>
                  <a:gd name="connsiteX7" fmla="*/ 196884 w 278551"/>
                  <a:gd name="connsiteY7" fmla="*/ 114931 h 302245"/>
                  <a:gd name="connsiteX8" fmla="*/ 141702 w 278551"/>
                  <a:gd name="connsiteY8" fmla="*/ 86497 h 302245"/>
                  <a:gd name="connsiteX9" fmla="*/ 91232 w 278551"/>
                  <a:gd name="connsiteY9" fmla="*/ 110971 h 302245"/>
                  <a:gd name="connsiteX10" fmla="*/ 90180 w 278551"/>
                  <a:gd name="connsiteY10" fmla="*/ 108843 h 302245"/>
                  <a:gd name="connsiteX11" fmla="*/ 93907 w 278551"/>
                  <a:gd name="connsiteY11" fmla="*/ 56612 h 302245"/>
                  <a:gd name="connsiteX12" fmla="*/ 77529 w 278551"/>
                  <a:gd name="connsiteY12" fmla="*/ 83250 h 302245"/>
                  <a:gd name="connsiteX13" fmla="*/ 90180 w 278551"/>
                  <a:gd name="connsiteY13" fmla="*/ 108843 h 302245"/>
                  <a:gd name="connsiteX14" fmla="*/ 81665 w 278551"/>
                  <a:gd name="connsiteY14" fmla="*/ 113100 h 302245"/>
                  <a:gd name="connsiteX15" fmla="*/ 81665 w 278551"/>
                  <a:gd name="connsiteY15" fmla="*/ 189144 h 302245"/>
                  <a:gd name="connsiteX16" fmla="*/ 139274 w 278551"/>
                  <a:gd name="connsiteY16" fmla="*/ 217949 h 302245"/>
                  <a:gd name="connsiteX17" fmla="*/ 196884 w 278551"/>
                  <a:gd name="connsiteY17" fmla="*/ 189144 h 302245"/>
                  <a:gd name="connsiteX18" fmla="*/ 196884 w 278551"/>
                  <a:gd name="connsiteY18" fmla="*/ 114931 h 302245"/>
                  <a:gd name="connsiteX19" fmla="*/ 198958 w 278551"/>
                  <a:gd name="connsiteY19" fmla="*/ 115999 h 302245"/>
                  <a:gd name="connsiteX20" fmla="*/ 198034 w 278551"/>
                  <a:gd name="connsiteY20" fmla="*/ 192038 h 302245"/>
                  <a:gd name="connsiteX21" fmla="*/ 144208 w 278551"/>
                  <a:gd name="connsiteY21" fmla="*/ 218139 h 302245"/>
                  <a:gd name="connsiteX22" fmla="*/ 155568 w 278551"/>
                  <a:gd name="connsiteY22" fmla="*/ 241121 h 302245"/>
                  <a:gd name="connsiteX23" fmla="*/ 182697 w 278551"/>
                  <a:gd name="connsiteY23" fmla="*/ 246757 h 302245"/>
                  <a:gd name="connsiteX24" fmla="*/ 166987 w 278551"/>
                  <a:gd name="connsiteY24" fmla="*/ 255827 h 302245"/>
                  <a:gd name="connsiteX25" fmla="*/ 156075 w 278551"/>
                  <a:gd name="connsiteY25" fmla="*/ 302245 h 302245"/>
                  <a:gd name="connsiteX26" fmla="*/ 122476 w 278551"/>
                  <a:gd name="connsiteY26" fmla="*/ 302245 h 302245"/>
                  <a:gd name="connsiteX27" fmla="*/ 111565 w 278551"/>
                  <a:gd name="connsiteY27" fmla="*/ 255827 h 302245"/>
                  <a:gd name="connsiteX28" fmla="*/ 62455 w 278551"/>
                  <a:gd name="connsiteY28" fmla="*/ 227473 h 302245"/>
                  <a:gd name="connsiteX29" fmla="*/ 16799 w 278551"/>
                  <a:gd name="connsiteY29" fmla="*/ 241233 h 302245"/>
                  <a:gd name="connsiteX30" fmla="*/ 0 w 278551"/>
                  <a:gd name="connsiteY30" fmla="*/ 212135 h 302245"/>
                  <a:gd name="connsiteX31" fmla="*/ 34743 w 278551"/>
                  <a:gd name="connsiteY31" fmla="*/ 179476 h 302245"/>
                  <a:gd name="connsiteX32" fmla="*/ 34743 w 278551"/>
                  <a:gd name="connsiteY32" fmla="*/ 122768 h 302245"/>
                  <a:gd name="connsiteX33" fmla="*/ 0 w 278551"/>
                  <a:gd name="connsiteY33" fmla="*/ 90110 h 302245"/>
                  <a:gd name="connsiteX34" fmla="*/ 16799 w 278551"/>
                  <a:gd name="connsiteY34" fmla="*/ 61012 h 302245"/>
                  <a:gd name="connsiteX35" fmla="*/ 62454 w 278551"/>
                  <a:gd name="connsiteY35" fmla="*/ 74772 h 302245"/>
                  <a:gd name="connsiteX36" fmla="*/ 122476 w 278551"/>
                  <a:gd name="connsiteY36" fmla="*/ 0 h 302245"/>
                  <a:gd name="connsiteX37" fmla="*/ 156075 w 278551"/>
                  <a:gd name="connsiteY37" fmla="*/ 0 h 302245"/>
                  <a:gd name="connsiteX38" fmla="*/ 165987 w 278551"/>
                  <a:gd name="connsiteY38" fmla="*/ 42169 h 302245"/>
                  <a:gd name="connsiteX39" fmla="*/ 142303 w 278551"/>
                  <a:gd name="connsiteY39" fmla="*/ 37087 h 302245"/>
                  <a:gd name="connsiteX40" fmla="*/ 112428 w 278551"/>
                  <a:gd name="connsiteY40" fmla="*/ 42742 h 30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78551" h="302245">
                    <a:moveTo>
                      <a:pt x="250470" y="185740"/>
                    </a:moveTo>
                    <a:lnTo>
                      <a:pt x="278551" y="212135"/>
                    </a:lnTo>
                    <a:lnTo>
                      <a:pt x="261752" y="241233"/>
                    </a:lnTo>
                    <a:lnTo>
                      <a:pt x="225317" y="230252"/>
                    </a:lnTo>
                    <a:lnTo>
                      <a:pt x="247440" y="199863"/>
                    </a:lnTo>
                    <a:close/>
                    <a:moveTo>
                      <a:pt x="139274" y="84295"/>
                    </a:moveTo>
                    <a:lnTo>
                      <a:pt x="196885" y="113100"/>
                    </a:lnTo>
                    <a:lnTo>
                      <a:pt x="196884" y="114931"/>
                    </a:lnTo>
                    <a:lnTo>
                      <a:pt x="141702" y="86497"/>
                    </a:lnTo>
                    <a:lnTo>
                      <a:pt x="91232" y="110971"/>
                    </a:lnTo>
                    <a:lnTo>
                      <a:pt x="90180" y="108843"/>
                    </a:lnTo>
                    <a:close/>
                    <a:moveTo>
                      <a:pt x="93907" y="56612"/>
                    </a:moveTo>
                    <a:lnTo>
                      <a:pt x="77529" y="83250"/>
                    </a:lnTo>
                    <a:lnTo>
                      <a:pt x="90180" y="108843"/>
                    </a:lnTo>
                    <a:lnTo>
                      <a:pt x="81665" y="113100"/>
                    </a:lnTo>
                    <a:lnTo>
                      <a:pt x="81665" y="189144"/>
                    </a:lnTo>
                    <a:lnTo>
                      <a:pt x="139274" y="217949"/>
                    </a:lnTo>
                    <a:lnTo>
                      <a:pt x="196884" y="189144"/>
                    </a:lnTo>
                    <a:lnTo>
                      <a:pt x="196884" y="114931"/>
                    </a:lnTo>
                    <a:lnTo>
                      <a:pt x="198958" y="115999"/>
                    </a:lnTo>
                    <a:lnTo>
                      <a:pt x="198034" y="192038"/>
                    </a:lnTo>
                    <a:lnTo>
                      <a:pt x="144208" y="218139"/>
                    </a:lnTo>
                    <a:lnTo>
                      <a:pt x="155568" y="241121"/>
                    </a:lnTo>
                    <a:lnTo>
                      <a:pt x="182697" y="246757"/>
                    </a:lnTo>
                    <a:lnTo>
                      <a:pt x="166987" y="255827"/>
                    </a:lnTo>
                    <a:lnTo>
                      <a:pt x="156075" y="302245"/>
                    </a:lnTo>
                    <a:lnTo>
                      <a:pt x="122476" y="302245"/>
                    </a:lnTo>
                    <a:lnTo>
                      <a:pt x="111565" y="255827"/>
                    </a:lnTo>
                    <a:cubicBezTo>
                      <a:pt x="92967" y="250905"/>
                      <a:pt x="76016" y="241118"/>
                      <a:pt x="62455" y="227473"/>
                    </a:cubicBezTo>
                    <a:lnTo>
                      <a:pt x="16799" y="241233"/>
                    </a:lnTo>
                    <a:lnTo>
                      <a:pt x="0" y="212135"/>
                    </a:lnTo>
                    <a:lnTo>
                      <a:pt x="34743" y="179476"/>
                    </a:lnTo>
                    <a:cubicBezTo>
                      <a:pt x="29707" y="160909"/>
                      <a:pt x="29707" y="141335"/>
                      <a:pt x="34743" y="122768"/>
                    </a:cubicBezTo>
                    <a:lnTo>
                      <a:pt x="0" y="90110"/>
                    </a:lnTo>
                    <a:lnTo>
                      <a:pt x="16799" y="61012"/>
                    </a:lnTo>
                    <a:lnTo>
                      <a:pt x="62454" y="74772"/>
                    </a:lnTo>
                    <a:close/>
                    <a:moveTo>
                      <a:pt x="122476" y="0"/>
                    </a:moveTo>
                    <a:lnTo>
                      <a:pt x="156075" y="0"/>
                    </a:lnTo>
                    <a:lnTo>
                      <a:pt x="165987" y="42169"/>
                    </a:lnTo>
                    <a:lnTo>
                      <a:pt x="142303" y="37087"/>
                    </a:lnTo>
                    <a:lnTo>
                      <a:pt x="112428" y="42742"/>
                    </a:lnTo>
                    <a:close/>
                  </a:path>
                </a:pathLst>
              </a:custGeom>
              <a:solidFill>
                <a:schemeClr val="bg1"/>
              </a:solidFill>
              <a:ln w="19050">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80" name="Freeform 179"/>
              <p:cNvSpPr/>
              <p:nvPr/>
            </p:nvSpPr>
            <p:spPr>
              <a:xfrm rot="20021754">
                <a:off x="7797455" y="2437731"/>
                <a:ext cx="419276" cy="175124"/>
              </a:xfrm>
              <a:custGeom>
                <a:avLst/>
                <a:gdLst>
                  <a:gd name="connsiteX0" fmla="*/ 99307 w 541041"/>
                  <a:gd name="connsiteY0" fmla="*/ 54263 h 225982"/>
                  <a:gd name="connsiteX1" fmla="*/ 136175 w 541041"/>
                  <a:gd name="connsiteY1" fmla="*/ 104206 h 225982"/>
                  <a:gd name="connsiteX2" fmla="*/ 103289 w 541041"/>
                  <a:gd name="connsiteY2" fmla="*/ 170735 h 225982"/>
                  <a:gd name="connsiteX3" fmla="*/ 38879 w 541041"/>
                  <a:gd name="connsiteY3" fmla="*/ 171028 h 225982"/>
                  <a:gd name="connsiteX4" fmla="*/ 0 w 541041"/>
                  <a:gd name="connsiteY4" fmla="*/ 119677 h 225982"/>
                  <a:gd name="connsiteX5" fmla="*/ 33698 w 541041"/>
                  <a:gd name="connsiteY5" fmla="*/ 51507 h 225982"/>
                  <a:gd name="connsiteX6" fmla="*/ 43218 w 541041"/>
                  <a:gd name="connsiteY6" fmla="*/ 51464 h 225982"/>
                  <a:gd name="connsiteX7" fmla="*/ 43218 w 541041"/>
                  <a:gd name="connsiteY7" fmla="*/ 53838 h 225982"/>
                  <a:gd name="connsiteX8" fmla="*/ 504723 w 541041"/>
                  <a:gd name="connsiteY8" fmla="*/ 53019 h 225982"/>
                  <a:gd name="connsiteX9" fmla="*/ 541041 w 541041"/>
                  <a:gd name="connsiteY9" fmla="*/ 107811 h 225982"/>
                  <a:gd name="connsiteX10" fmla="*/ 481576 w 541041"/>
                  <a:gd name="connsiteY10" fmla="*/ 167276 h 225982"/>
                  <a:gd name="connsiteX11" fmla="*/ 171988 w 541041"/>
                  <a:gd name="connsiteY11" fmla="*/ 167276 h 225982"/>
                  <a:gd name="connsiteX12" fmla="*/ 143860 w 541041"/>
                  <a:gd name="connsiteY12" fmla="*/ 202747 h 225982"/>
                  <a:gd name="connsiteX13" fmla="*/ 99545 w 541041"/>
                  <a:gd name="connsiteY13" fmla="*/ 225955 h 225982"/>
                  <a:gd name="connsiteX14" fmla="*/ 99000 w 541041"/>
                  <a:gd name="connsiteY14" fmla="*/ 225982 h 225982"/>
                  <a:gd name="connsiteX15" fmla="*/ 66761 w 541041"/>
                  <a:gd name="connsiteY15" fmla="*/ 217441 h 225982"/>
                  <a:gd name="connsiteX16" fmla="*/ 43218 w 541041"/>
                  <a:gd name="connsiteY16" fmla="*/ 199021 h 225982"/>
                  <a:gd name="connsiteX17" fmla="*/ 43218 w 541041"/>
                  <a:gd name="connsiteY17" fmla="*/ 173385 h 225982"/>
                  <a:gd name="connsiteX18" fmla="*/ 103037 w 541041"/>
                  <a:gd name="connsiteY18" fmla="*/ 173839 h 225982"/>
                  <a:gd name="connsiteX19" fmla="*/ 137561 w 541041"/>
                  <a:gd name="connsiteY19" fmla="*/ 106083 h 225982"/>
                  <a:gd name="connsiteX20" fmla="*/ 136175 w 541041"/>
                  <a:gd name="connsiteY20" fmla="*/ 104206 h 225982"/>
                  <a:gd name="connsiteX21" fmla="*/ 136987 w 541041"/>
                  <a:gd name="connsiteY21" fmla="*/ 102565 h 225982"/>
                  <a:gd name="connsiteX22" fmla="*/ 98106 w 541041"/>
                  <a:gd name="connsiteY22" fmla="*/ 51213 h 225982"/>
                  <a:gd name="connsiteX23" fmla="*/ 43218 w 541041"/>
                  <a:gd name="connsiteY23" fmla="*/ 51464 h 225982"/>
                  <a:gd name="connsiteX24" fmla="*/ 43218 w 541041"/>
                  <a:gd name="connsiteY24" fmla="*/ 22915 h 225982"/>
                  <a:gd name="connsiteX25" fmla="*/ 77964 w 541041"/>
                  <a:gd name="connsiteY25" fmla="*/ 1110 h 225982"/>
                  <a:gd name="connsiteX26" fmla="*/ 85046 w 541041"/>
                  <a:gd name="connsiteY26" fmla="*/ 0 h 225982"/>
                  <a:gd name="connsiteX27" fmla="*/ 121741 w 541041"/>
                  <a:gd name="connsiteY27" fmla="*/ 10236 h 225982"/>
                  <a:gd name="connsiteX28" fmla="*/ 157909 w 541041"/>
                  <a:gd name="connsiteY28" fmla="*/ 38916 h 225982"/>
                  <a:gd name="connsiteX29" fmla="*/ 163138 w 541041"/>
                  <a:gd name="connsiteY29" fmla="*/ 48346 h 225982"/>
                  <a:gd name="connsiteX30" fmla="*/ 481576 w 541041"/>
                  <a:gd name="connsiteY30" fmla="*/ 48346 h 225982"/>
                  <a:gd name="connsiteX31" fmla="*/ 504723 w 541041"/>
                  <a:gd name="connsiteY31" fmla="*/ 53019 h 22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41041" h="225982">
                    <a:moveTo>
                      <a:pt x="99307" y="54263"/>
                    </a:moveTo>
                    <a:lnTo>
                      <a:pt x="136175" y="104206"/>
                    </a:lnTo>
                    <a:lnTo>
                      <a:pt x="103289" y="170735"/>
                    </a:lnTo>
                    <a:lnTo>
                      <a:pt x="38879" y="171028"/>
                    </a:lnTo>
                    <a:lnTo>
                      <a:pt x="0" y="119677"/>
                    </a:lnTo>
                    <a:lnTo>
                      <a:pt x="33698" y="51507"/>
                    </a:lnTo>
                    <a:lnTo>
                      <a:pt x="43218" y="51464"/>
                    </a:lnTo>
                    <a:lnTo>
                      <a:pt x="43218" y="53838"/>
                    </a:lnTo>
                    <a:close/>
                    <a:moveTo>
                      <a:pt x="504723" y="53019"/>
                    </a:moveTo>
                    <a:cubicBezTo>
                      <a:pt x="526066" y="62046"/>
                      <a:pt x="541041" y="83180"/>
                      <a:pt x="541041" y="107811"/>
                    </a:cubicBezTo>
                    <a:cubicBezTo>
                      <a:pt x="541041" y="140653"/>
                      <a:pt x="514418" y="167276"/>
                      <a:pt x="481576" y="167276"/>
                    </a:cubicBezTo>
                    <a:lnTo>
                      <a:pt x="171988" y="167276"/>
                    </a:lnTo>
                    <a:lnTo>
                      <a:pt x="143860" y="202747"/>
                    </a:lnTo>
                    <a:cubicBezTo>
                      <a:pt x="130861" y="213683"/>
                      <a:pt x="115692" y="221548"/>
                      <a:pt x="99545" y="225955"/>
                    </a:cubicBezTo>
                    <a:lnTo>
                      <a:pt x="99000" y="225982"/>
                    </a:lnTo>
                    <a:lnTo>
                      <a:pt x="66761" y="217441"/>
                    </a:lnTo>
                    <a:lnTo>
                      <a:pt x="43218" y="199021"/>
                    </a:lnTo>
                    <a:lnTo>
                      <a:pt x="43218" y="173385"/>
                    </a:lnTo>
                    <a:lnTo>
                      <a:pt x="103037" y="173839"/>
                    </a:lnTo>
                    <a:lnTo>
                      <a:pt x="137561" y="106083"/>
                    </a:lnTo>
                    <a:lnTo>
                      <a:pt x="136175" y="104206"/>
                    </a:lnTo>
                    <a:lnTo>
                      <a:pt x="136987" y="102565"/>
                    </a:lnTo>
                    <a:lnTo>
                      <a:pt x="98106" y="51213"/>
                    </a:lnTo>
                    <a:lnTo>
                      <a:pt x="43218" y="51464"/>
                    </a:lnTo>
                    <a:lnTo>
                      <a:pt x="43218" y="22915"/>
                    </a:lnTo>
                    <a:lnTo>
                      <a:pt x="77964" y="1110"/>
                    </a:lnTo>
                    <a:lnTo>
                      <a:pt x="85046" y="0"/>
                    </a:lnTo>
                    <a:lnTo>
                      <a:pt x="121741" y="10236"/>
                    </a:lnTo>
                    <a:cubicBezTo>
                      <a:pt x="136041" y="17522"/>
                      <a:pt x="148188" y="27361"/>
                      <a:pt x="157909" y="38916"/>
                    </a:cubicBezTo>
                    <a:lnTo>
                      <a:pt x="163138" y="48346"/>
                    </a:lnTo>
                    <a:lnTo>
                      <a:pt x="481576" y="48346"/>
                    </a:lnTo>
                    <a:cubicBezTo>
                      <a:pt x="489787" y="48346"/>
                      <a:pt x="497608" y="50010"/>
                      <a:pt x="504723" y="53019"/>
                    </a:cubicBezTo>
                    <a:close/>
                  </a:path>
                </a:pathLst>
              </a:cu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81" name="Hexagon 180"/>
              <p:cNvSpPr/>
              <p:nvPr/>
            </p:nvSpPr>
            <p:spPr>
              <a:xfrm rot="16200000">
                <a:off x="7813142" y="2552652"/>
                <a:ext cx="102880" cy="89052"/>
              </a:xfrm>
              <a:prstGeom prst="hexagon">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sp>
          <p:nvSpPr>
            <p:cNvPr id="178" name="TextBox 177"/>
            <p:cNvSpPr txBox="1"/>
            <p:nvPr/>
          </p:nvSpPr>
          <p:spPr>
            <a:xfrm>
              <a:off x="6191989" y="-25868"/>
              <a:ext cx="1090107" cy="369332"/>
            </a:xfrm>
            <a:prstGeom prst="rect">
              <a:avLst/>
            </a:prstGeom>
            <a:noFill/>
          </p:spPr>
          <p:txBody>
            <a:bodyPr wrap="none" rtlCol="0">
              <a:spAutoFit/>
            </a:bodyPr>
            <a:lstStyle/>
            <a:p>
              <a:r>
                <a:rPr lang="en-US" dirty="0"/>
                <a:t>PT </a:t>
              </a:r>
              <a:r>
                <a:rPr lang="en-US" dirty="0" smtClean="0"/>
                <a:t>Agent)</a:t>
              </a:r>
              <a:endParaRPr lang="en-US" dirty="0"/>
            </a:p>
          </p:txBody>
        </p:sp>
        <p:sp>
          <p:nvSpPr>
            <p:cNvPr id="176" name="TextBox 175"/>
            <p:cNvSpPr txBox="1"/>
            <p:nvPr/>
          </p:nvSpPr>
          <p:spPr>
            <a:xfrm>
              <a:off x="5651894" y="-25868"/>
              <a:ext cx="300082" cy="369332"/>
            </a:xfrm>
            <a:prstGeom prst="rect">
              <a:avLst/>
            </a:prstGeom>
            <a:noFill/>
          </p:spPr>
          <p:txBody>
            <a:bodyPr wrap="none" rtlCol="0">
              <a:spAutoFit/>
            </a:bodyPr>
            <a:lstStyle/>
            <a:p>
              <a:r>
                <a:rPr lang="en-US" dirty="0"/>
                <a:t>+</a:t>
              </a:r>
            </a:p>
          </p:txBody>
        </p:sp>
      </p:grpSp>
      <p:sp>
        <p:nvSpPr>
          <p:cNvPr id="202" name="Tracepoint 4"/>
          <p:cNvSpPr/>
          <p:nvPr/>
        </p:nvSpPr>
        <p:spPr>
          <a:xfrm>
            <a:off x="7204732" y="810021"/>
            <a:ext cx="304800" cy="304800"/>
          </a:xfrm>
          <a:prstGeom prst="ellipse">
            <a:avLst/>
          </a:prstGeom>
          <a:solidFill>
            <a:srgbClr val="FFE1E1"/>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Tracepoint 3"/>
          <p:cNvSpPr/>
          <p:nvPr/>
        </p:nvSpPr>
        <p:spPr>
          <a:xfrm>
            <a:off x="7540577" y="1022502"/>
            <a:ext cx="304800" cy="304800"/>
          </a:xfrm>
          <a:prstGeom prst="ellipse">
            <a:avLst/>
          </a:prstGeom>
          <a:solidFill>
            <a:srgbClr val="FFE1E1"/>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Tracepoint 2"/>
          <p:cNvSpPr/>
          <p:nvPr/>
        </p:nvSpPr>
        <p:spPr>
          <a:xfrm>
            <a:off x="7544219" y="1377126"/>
            <a:ext cx="304800" cy="304800"/>
          </a:xfrm>
          <a:prstGeom prst="ellipse">
            <a:avLst/>
          </a:prstGeom>
          <a:solidFill>
            <a:srgbClr val="FFE1E1"/>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Tracepoint 1"/>
          <p:cNvSpPr/>
          <p:nvPr/>
        </p:nvSpPr>
        <p:spPr>
          <a:xfrm>
            <a:off x="7208374" y="1164645"/>
            <a:ext cx="304800" cy="304800"/>
          </a:xfrm>
          <a:prstGeom prst="ellipse">
            <a:avLst/>
          </a:prstGeom>
          <a:solidFill>
            <a:srgbClr val="FFE1E1"/>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Tracepoint 5"/>
          <p:cNvSpPr/>
          <p:nvPr/>
        </p:nvSpPr>
        <p:spPr>
          <a:xfrm>
            <a:off x="3758334" y="590584"/>
            <a:ext cx="304800" cy="304800"/>
          </a:xfrm>
          <a:prstGeom prst="ellipse">
            <a:avLst/>
          </a:prstGeom>
          <a:solidFill>
            <a:srgbClr val="FFE1E1"/>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Tracepoint 4"/>
          <p:cNvSpPr/>
          <p:nvPr/>
        </p:nvSpPr>
        <p:spPr>
          <a:xfrm>
            <a:off x="4246723" y="589866"/>
            <a:ext cx="304800" cy="304800"/>
          </a:xfrm>
          <a:prstGeom prst="ellipse">
            <a:avLst/>
          </a:prstGeom>
          <a:solidFill>
            <a:srgbClr val="FFE1E1"/>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Tracepoint 3"/>
          <p:cNvSpPr/>
          <p:nvPr/>
        </p:nvSpPr>
        <p:spPr>
          <a:xfrm>
            <a:off x="3754692" y="942277"/>
            <a:ext cx="304800" cy="304800"/>
          </a:xfrm>
          <a:prstGeom prst="ellipse">
            <a:avLst/>
          </a:prstGeom>
          <a:solidFill>
            <a:srgbClr val="FFE1E1"/>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Tracepoint 2"/>
          <p:cNvSpPr/>
          <p:nvPr/>
        </p:nvSpPr>
        <p:spPr>
          <a:xfrm>
            <a:off x="4246723" y="942277"/>
            <a:ext cx="304800" cy="304800"/>
          </a:xfrm>
          <a:prstGeom prst="ellipse">
            <a:avLst/>
          </a:prstGeom>
          <a:solidFill>
            <a:srgbClr val="FFE1E1"/>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Tracepoint 1"/>
          <p:cNvSpPr/>
          <p:nvPr/>
        </p:nvSpPr>
        <p:spPr>
          <a:xfrm>
            <a:off x="3265757" y="590584"/>
            <a:ext cx="304800" cy="304800"/>
          </a:xfrm>
          <a:prstGeom prst="ellipse">
            <a:avLst/>
          </a:prstGeom>
          <a:solidFill>
            <a:srgbClr val="FFE1E1"/>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7" name="Group 236"/>
          <p:cNvGrpSpPr/>
          <p:nvPr/>
        </p:nvGrpSpPr>
        <p:grpSpPr>
          <a:xfrm>
            <a:off x="3255152" y="550041"/>
            <a:ext cx="4273876" cy="943684"/>
            <a:chOff x="2874152" y="550041"/>
            <a:chExt cx="4273876" cy="943684"/>
          </a:xfrm>
        </p:grpSpPr>
        <p:sp>
          <p:nvSpPr>
            <p:cNvPr id="235" name="TextBox 234"/>
            <p:cNvSpPr txBox="1"/>
            <p:nvPr/>
          </p:nvSpPr>
          <p:spPr>
            <a:xfrm>
              <a:off x="2874152" y="550041"/>
              <a:ext cx="324128" cy="369332"/>
            </a:xfrm>
            <a:prstGeom prst="rect">
              <a:avLst/>
            </a:prstGeom>
            <a:noFill/>
          </p:spPr>
          <p:txBody>
            <a:bodyPr wrap="none" rtlCol="0">
              <a:spAutoFit/>
            </a:bodyPr>
            <a:lstStyle/>
            <a:p>
              <a:r>
                <a:rPr lang="en-US" b="1" dirty="0" smtClean="0"/>
                <a:t>A</a:t>
              </a:r>
              <a:endParaRPr lang="en-US" b="1" dirty="0"/>
            </a:p>
          </p:txBody>
        </p:sp>
        <p:sp>
          <p:nvSpPr>
            <p:cNvPr id="236" name="TextBox 235"/>
            <p:cNvSpPr txBox="1"/>
            <p:nvPr/>
          </p:nvSpPr>
          <p:spPr>
            <a:xfrm>
              <a:off x="6823900" y="1124393"/>
              <a:ext cx="324128" cy="369332"/>
            </a:xfrm>
            <a:prstGeom prst="rect">
              <a:avLst/>
            </a:prstGeom>
            <a:noFill/>
          </p:spPr>
          <p:txBody>
            <a:bodyPr wrap="none" rtlCol="0">
              <a:spAutoFit/>
            </a:bodyPr>
            <a:lstStyle/>
            <a:p>
              <a:r>
                <a:rPr lang="en-US" b="1" dirty="0" smtClean="0"/>
                <a:t>B</a:t>
              </a:r>
              <a:endParaRPr lang="en-US" b="1" dirty="0"/>
            </a:p>
          </p:txBody>
        </p:sp>
      </p:grpSp>
      <p:sp>
        <p:nvSpPr>
          <p:cNvPr id="78" name="PT User"/>
          <p:cNvSpPr/>
          <p:nvPr/>
        </p:nvSpPr>
        <p:spPr>
          <a:xfrm>
            <a:off x="4523021" y="2823248"/>
            <a:ext cx="475862" cy="556102"/>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r>
              <a:rPr lang="en-US" sz="2000" b="1" dirty="0" smtClean="0"/>
              <a:t>PT</a:t>
            </a:r>
            <a:endParaRPr lang="en-US" sz="2000" b="1" dirty="0"/>
          </a:p>
        </p:txBody>
      </p:sp>
      <p:sp>
        <p:nvSpPr>
          <p:cNvPr id="79" name="Content Placeholder 2"/>
          <p:cNvSpPr>
            <a:spLocks noGrp="1"/>
          </p:cNvSpPr>
          <p:nvPr>
            <p:ph idx="1"/>
          </p:nvPr>
        </p:nvSpPr>
        <p:spPr>
          <a:xfrm>
            <a:off x="309408" y="2992096"/>
            <a:ext cx="4119040" cy="3211419"/>
          </a:xfrm>
        </p:spPr>
        <p:txBody>
          <a:bodyPr anchor="t">
            <a:normAutofit fontScale="77500" lnSpcReduction="20000"/>
          </a:bodyPr>
          <a:lstStyle/>
          <a:p>
            <a:pPr marL="0" indent="0">
              <a:buNone/>
            </a:pPr>
            <a:r>
              <a:rPr lang="en-US" dirty="0" smtClean="0"/>
              <a:t>Relational query language, similar to SQL, LINQ</a:t>
            </a:r>
          </a:p>
          <a:p>
            <a:pPr marL="0" indent="0">
              <a:buNone/>
            </a:pPr>
            <a:endParaRPr lang="en-US" dirty="0" smtClean="0"/>
          </a:p>
          <a:p>
            <a:pPr marL="0" indent="0">
              <a:buNone/>
            </a:pPr>
            <a:endParaRPr lang="en-US" dirty="0"/>
          </a:p>
          <a:p>
            <a:pPr marL="0" indent="0">
              <a:buNone/>
            </a:pPr>
            <a:endParaRPr lang="en-US" dirty="0" smtClean="0"/>
          </a:p>
          <a:p>
            <a:pPr marL="0" indent="0">
              <a:buNone/>
            </a:pPr>
            <a:r>
              <a:rPr lang="en-US" dirty="0" smtClean="0"/>
              <a:t>Refers to </a:t>
            </a:r>
            <a:r>
              <a:rPr lang="en-US" dirty="0" err="1" smtClean="0"/>
              <a:t>tracepoint</a:t>
            </a:r>
            <a:r>
              <a:rPr lang="en-US" dirty="0" smtClean="0"/>
              <a:t>-exported identifiers</a:t>
            </a:r>
          </a:p>
          <a:p>
            <a:pPr marL="0" indent="0">
              <a:buNone/>
            </a:pPr>
            <a:endParaRPr lang="en-US" dirty="0" smtClean="0"/>
          </a:p>
          <a:p>
            <a:pPr marL="0" indent="0">
              <a:buNone/>
            </a:pPr>
            <a:r>
              <a:rPr lang="en-US" dirty="0" smtClean="0"/>
              <a:t>Output: stream of tuples</a:t>
            </a:r>
          </a:p>
          <a:p>
            <a:pPr marL="457182" lvl="1" indent="0">
              <a:buNone/>
            </a:pPr>
            <a:r>
              <a:rPr lang="en-US" sz="2000" dirty="0" smtClean="0"/>
              <a:t>e.g., (</a:t>
            </a:r>
            <a:r>
              <a:rPr lang="en-US" sz="2000" dirty="0" err="1" smtClean="0"/>
              <a:t>procName</a:t>
            </a:r>
            <a:r>
              <a:rPr lang="en-US" sz="2000" dirty="0" smtClean="0"/>
              <a:t>, delta)</a:t>
            </a:r>
            <a:endParaRPr lang="en-US" sz="2000" dirty="0"/>
          </a:p>
          <a:p>
            <a:endParaRPr lang="en-US" dirty="0" smtClean="0"/>
          </a:p>
          <a:p>
            <a:endParaRPr lang="en-US" dirty="0"/>
          </a:p>
          <a:p>
            <a:endParaRPr lang="en-US" dirty="0" smtClean="0"/>
          </a:p>
          <a:p>
            <a:endParaRPr lang="en-US" dirty="0"/>
          </a:p>
        </p:txBody>
      </p:sp>
      <p:sp>
        <p:nvSpPr>
          <p:cNvPr id="80" name="TextBox 79"/>
          <p:cNvSpPr txBox="1"/>
          <p:nvPr/>
        </p:nvSpPr>
        <p:spPr>
          <a:xfrm>
            <a:off x="37201" y="2235466"/>
            <a:ext cx="3563668" cy="707886"/>
          </a:xfrm>
          <a:prstGeom prst="rect">
            <a:avLst/>
          </a:prstGeom>
          <a:noFill/>
        </p:spPr>
        <p:txBody>
          <a:bodyPr wrap="none" rtlCol="0">
            <a:spAutoFit/>
          </a:bodyPr>
          <a:lstStyle/>
          <a:p>
            <a:r>
              <a:rPr lang="en-US" sz="4000" dirty="0" smtClean="0"/>
              <a:t>Query Language</a:t>
            </a:r>
          </a:p>
        </p:txBody>
      </p:sp>
      <p:grpSp>
        <p:nvGrpSpPr>
          <p:cNvPr id="6" name="Group 5"/>
          <p:cNvGrpSpPr/>
          <p:nvPr/>
        </p:nvGrpSpPr>
        <p:grpSpPr>
          <a:xfrm>
            <a:off x="429014" y="3604068"/>
            <a:ext cx="4094152" cy="860154"/>
            <a:chOff x="734151" y="5339087"/>
            <a:chExt cx="4094152" cy="860154"/>
          </a:xfrm>
        </p:grpSpPr>
        <p:sp>
          <p:nvSpPr>
            <p:cNvPr id="3" name="Rectangle 2"/>
            <p:cNvSpPr/>
            <p:nvPr/>
          </p:nvSpPr>
          <p:spPr>
            <a:xfrm>
              <a:off x="734151" y="5339087"/>
              <a:ext cx="1321461" cy="860154"/>
            </a:xfrm>
            <a:prstGeom prst="rect">
              <a:avLst/>
            </a:prstGeom>
          </p:spPr>
          <p:txBody>
            <a:bodyPr wrap="square" lIns="0" tIns="0" rIns="0" bIns="0" numCol="1">
              <a:spAutoFit/>
            </a:bodyPr>
            <a:lstStyle/>
            <a:p>
              <a:pPr marL="285750" indent="-285750">
                <a:buFont typeface="Arial" panose="020B0604020202020204" pitchFamily="34" charset="0"/>
                <a:buChar char="•"/>
              </a:pPr>
              <a:r>
                <a:rPr lang="en-US" dirty="0" smtClean="0"/>
                <a:t>Selection</a:t>
              </a:r>
            </a:p>
            <a:p>
              <a:pPr marL="285750" indent="-285750">
                <a:buFont typeface="Arial" panose="020B0604020202020204" pitchFamily="34" charset="0"/>
                <a:buChar char="•"/>
              </a:pPr>
              <a:r>
                <a:rPr lang="en-US" dirty="0" smtClean="0"/>
                <a:t>Projection</a:t>
              </a:r>
            </a:p>
            <a:p>
              <a:pPr marL="285750" indent="-285750">
                <a:buFont typeface="Arial" panose="020B0604020202020204" pitchFamily="34" charset="0"/>
                <a:buChar char="•"/>
              </a:pPr>
              <a:r>
                <a:rPr lang="en-US" dirty="0" smtClean="0"/>
                <a:t>Filter</a:t>
              </a:r>
            </a:p>
          </p:txBody>
        </p:sp>
        <p:sp>
          <p:nvSpPr>
            <p:cNvPr id="4" name="Rectangle 3"/>
            <p:cNvSpPr/>
            <p:nvPr/>
          </p:nvSpPr>
          <p:spPr>
            <a:xfrm>
              <a:off x="2276592" y="5339087"/>
              <a:ext cx="2551711" cy="830997"/>
            </a:xfrm>
            <a:prstGeom prst="rect">
              <a:avLst/>
            </a:prstGeom>
          </p:spPr>
          <p:txBody>
            <a:bodyPr wrap="square" lIns="0" tIns="0" rIns="0" bIns="0">
              <a:spAutoFit/>
            </a:bodyPr>
            <a:lstStyle/>
            <a:p>
              <a:pPr marL="285750" indent="-285750">
                <a:buFont typeface="Arial" panose="020B0604020202020204" pitchFamily="34" charset="0"/>
                <a:buChar char="•"/>
              </a:pPr>
              <a:r>
                <a:rPr lang="en-US" dirty="0" err="1"/>
                <a:t>GroupBy</a:t>
              </a:r>
              <a:endParaRPr lang="en-US" dirty="0"/>
            </a:p>
            <a:p>
              <a:pPr marL="285750" indent="-285750">
                <a:buFont typeface="Arial" panose="020B0604020202020204" pitchFamily="34" charset="0"/>
                <a:buChar char="•"/>
              </a:pPr>
              <a:r>
                <a:rPr lang="en-US" dirty="0"/>
                <a:t>Aggregation</a:t>
              </a:r>
            </a:p>
            <a:p>
              <a:pPr marL="285750" indent="-285750">
                <a:buFont typeface="Arial" panose="020B0604020202020204" pitchFamily="34" charset="0"/>
                <a:buChar char="•"/>
              </a:pPr>
              <a:r>
                <a:rPr lang="en-US" dirty="0"/>
                <a:t>Happened-Before Join</a:t>
              </a:r>
            </a:p>
          </p:txBody>
        </p:sp>
      </p:grpSp>
      <p:grpSp>
        <p:nvGrpSpPr>
          <p:cNvPr id="61" name="Group 60"/>
          <p:cNvGrpSpPr/>
          <p:nvPr/>
        </p:nvGrpSpPr>
        <p:grpSpPr>
          <a:xfrm>
            <a:off x="5705368" y="4199719"/>
            <a:ext cx="2885325" cy="1850093"/>
            <a:chOff x="80120" y="4954350"/>
            <a:chExt cx="2885325" cy="1850093"/>
          </a:xfrm>
        </p:grpSpPr>
        <p:sp>
          <p:nvSpPr>
            <p:cNvPr id="62" name="Rounded Rectangle 61"/>
            <p:cNvSpPr/>
            <p:nvPr/>
          </p:nvSpPr>
          <p:spPr>
            <a:xfrm>
              <a:off x="80120" y="4954350"/>
              <a:ext cx="2667000" cy="809942"/>
            </a:xfrm>
            <a:prstGeom prst="roundRect">
              <a:avLst>
                <a:gd name="adj" fmla="val 18490"/>
              </a:avLst>
            </a:prstGeom>
            <a:solidFill>
              <a:srgbClr val="FFE1E1"/>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r>
                <a:rPr lang="en-US" sz="1600" b="1" dirty="0" err="1" smtClean="0">
                  <a:solidFill>
                    <a:schemeClr val="tx1"/>
                  </a:solidFill>
                </a:rPr>
                <a:t>Tracepoint</a:t>
              </a:r>
              <a:r>
                <a:rPr lang="en-US" sz="1600" b="1" dirty="0" smtClean="0">
                  <a:solidFill>
                    <a:schemeClr val="tx1"/>
                  </a:solidFill>
                </a:rPr>
                <a:t> A</a:t>
              </a:r>
            </a:p>
            <a:p>
              <a:r>
                <a:rPr lang="en-US" sz="1600" b="1" dirty="0" smtClean="0">
                  <a:solidFill>
                    <a:schemeClr val="tx1"/>
                  </a:solidFill>
                </a:rPr>
                <a:t>  Class: </a:t>
              </a:r>
              <a:r>
                <a:rPr lang="en-US" sz="1600" dirty="0" smtClean="0">
                  <a:solidFill>
                    <a:schemeClr val="tx1"/>
                  </a:solidFill>
                </a:rPr>
                <a:t>A</a:t>
              </a:r>
            </a:p>
            <a:p>
              <a:r>
                <a:rPr lang="en-US" sz="1600" dirty="0">
                  <a:solidFill>
                    <a:schemeClr val="tx1"/>
                  </a:solidFill>
                  <a:latin typeface="Consolas" panose="020B0609020204030204" pitchFamily="49" charset="0"/>
                  <a:cs typeface="Consolas" panose="020B0609020204030204" pitchFamily="49" charset="0"/>
                </a:rPr>
                <a:t> </a:t>
              </a:r>
              <a:r>
                <a:rPr lang="en-US" sz="1600" b="1" dirty="0" smtClean="0">
                  <a:solidFill>
                    <a:schemeClr val="tx1"/>
                  </a:solidFill>
                  <a:cs typeface="Consolas" panose="020B0609020204030204" pitchFamily="49" charset="0"/>
                </a:rPr>
                <a:t>Method</a:t>
              </a:r>
              <a:r>
                <a:rPr lang="en-US" sz="1600" dirty="0" smtClean="0">
                  <a:solidFill>
                    <a:schemeClr val="tx1"/>
                  </a:solidFill>
                  <a:latin typeface="Consolas" panose="020B0609020204030204" pitchFamily="49" charset="0"/>
                  <a:cs typeface="Consolas" panose="020B0609020204030204" pitchFamily="49" charset="0"/>
                </a:rPr>
                <a:t>: A1()</a:t>
              </a:r>
            </a:p>
          </p:txBody>
        </p:sp>
        <p:sp>
          <p:nvSpPr>
            <p:cNvPr id="63" name="Rounded Rectangle 62"/>
            <p:cNvSpPr/>
            <p:nvPr/>
          </p:nvSpPr>
          <p:spPr>
            <a:xfrm>
              <a:off x="298445" y="5722543"/>
              <a:ext cx="2667000" cy="1081900"/>
            </a:xfrm>
            <a:prstGeom prst="roundRect">
              <a:avLst>
                <a:gd name="adj" fmla="val 18490"/>
              </a:avLst>
            </a:prstGeom>
            <a:solidFill>
              <a:srgbClr val="FFE1E1"/>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r>
                <a:rPr lang="en-US" sz="1600" b="1" dirty="0" err="1" smtClean="0">
                  <a:solidFill>
                    <a:schemeClr val="tx1"/>
                  </a:solidFill>
                </a:rPr>
                <a:t>Tracepoint</a:t>
              </a:r>
              <a:r>
                <a:rPr lang="en-US" sz="1600" b="1" dirty="0" smtClean="0">
                  <a:solidFill>
                    <a:schemeClr val="tx1"/>
                  </a:solidFill>
                </a:rPr>
                <a:t> B</a:t>
              </a:r>
            </a:p>
            <a:p>
              <a:r>
                <a:rPr lang="en-US" sz="1600" b="1" dirty="0" smtClean="0">
                  <a:solidFill>
                    <a:schemeClr val="tx1"/>
                  </a:solidFill>
                </a:rPr>
                <a:t>  Class: </a:t>
              </a:r>
              <a:r>
                <a:rPr lang="en-US" sz="1600" dirty="0" smtClean="0">
                  <a:solidFill>
                    <a:schemeClr val="tx1"/>
                  </a:solidFill>
                </a:rPr>
                <a:t>B</a:t>
              </a:r>
            </a:p>
            <a:p>
              <a:r>
                <a:rPr lang="en-US" sz="1600" dirty="0">
                  <a:solidFill>
                    <a:schemeClr val="tx1"/>
                  </a:solidFill>
                </a:rPr>
                <a:t> </a:t>
              </a:r>
              <a:r>
                <a:rPr lang="en-US" sz="1600" dirty="0" smtClean="0">
                  <a:solidFill>
                    <a:schemeClr val="tx1"/>
                  </a:solidFill>
                </a:rPr>
                <a:t> </a:t>
              </a:r>
              <a:r>
                <a:rPr lang="en-US" sz="1600" b="1" dirty="0" smtClean="0">
                  <a:solidFill>
                    <a:schemeClr val="tx1"/>
                  </a:solidFill>
                </a:rPr>
                <a:t>Method</a:t>
              </a:r>
              <a:r>
                <a:rPr lang="en-US" sz="1600" dirty="0" smtClean="0">
                  <a:solidFill>
                    <a:schemeClr val="tx1"/>
                  </a:solidFill>
                </a:rPr>
                <a:t>: </a:t>
              </a:r>
              <a:r>
                <a:rPr lang="en-US" sz="1600" dirty="0" smtClean="0">
                  <a:solidFill>
                    <a:schemeClr val="tx1"/>
                  </a:solidFill>
                  <a:latin typeface="Consolas" panose="020B0609020204030204" pitchFamily="49" charset="0"/>
                  <a:cs typeface="Consolas" panose="020B0609020204030204" pitchFamily="49" charset="0"/>
                </a:rPr>
                <a:t>B1()</a:t>
              </a:r>
            </a:p>
            <a:p>
              <a:r>
                <a:rPr lang="en-US" sz="1600" b="1" dirty="0">
                  <a:solidFill>
                    <a:schemeClr val="tx1"/>
                  </a:solidFill>
                </a:rPr>
                <a:t> </a:t>
              </a:r>
              <a:r>
                <a:rPr lang="en-US" sz="1600" b="1" dirty="0" smtClean="0">
                  <a:solidFill>
                    <a:schemeClr val="tx1"/>
                  </a:solidFill>
                </a:rPr>
                <a:t> Exports: </a:t>
              </a:r>
              <a:r>
                <a:rPr lang="en-US" sz="1600" dirty="0" smtClean="0">
                  <a:solidFill>
                    <a:schemeClr val="tx1"/>
                  </a:solidFill>
                  <a:latin typeface="+mj-lt"/>
                  <a:cs typeface="Consolas" panose="020B0609020204030204" pitchFamily="49" charset="0"/>
                </a:rPr>
                <a:t>“delta”=</a:t>
              </a:r>
              <a:r>
                <a:rPr lang="en-US" sz="1600" dirty="0" smtClean="0">
                  <a:solidFill>
                    <a:schemeClr val="tx1"/>
                  </a:solidFill>
                  <a:latin typeface="Consolas" panose="020B0609020204030204" pitchFamily="49" charset="0"/>
                  <a:cs typeface="Consolas" panose="020B0609020204030204" pitchFamily="49" charset="0"/>
                </a:rPr>
                <a:t>delta</a:t>
              </a:r>
            </a:p>
          </p:txBody>
        </p:sp>
      </p:grpSp>
      <p:sp>
        <p:nvSpPr>
          <p:cNvPr id="67" name="Rounded Rectangular Callout 233"/>
          <p:cNvSpPr/>
          <p:nvPr/>
        </p:nvSpPr>
        <p:spPr>
          <a:xfrm flipH="1">
            <a:off x="5048250" y="2930097"/>
            <a:ext cx="4095750" cy="1174562"/>
          </a:xfrm>
          <a:custGeom>
            <a:avLst/>
            <a:gdLst>
              <a:gd name="connsiteX0" fmla="*/ 0 w 3939907"/>
              <a:gd name="connsiteY0" fmla="*/ 195764 h 1174562"/>
              <a:gd name="connsiteX1" fmla="*/ 195764 w 3939907"/>
              <a:gd name="connsiteY1" fmla="*/ 0 h 1174562"/>
              <a:gd name="connsiteX2" fmla="*/ 2298279 w 3939907"/>
              <a:gd name="connsiteY2" fmla="*/ 0 h 1174562"/>
              <a:gd name="connsiteX3" fmla="*/ 3351718 w 3939907"/>
              <a:gd name="connsiteY3" fmla="*/ -297517 h 1174562"/>
              <a:gd name="connsiteX4" fmla="*/ 3283256 w 3939907"/>
              <a:gd name="connsiteY4" fmla="*/ 0 h 1174562"/>
              <a:gd name="connsiteX5" fmla="*/ 3744143 w 3939907"/>
              <a:gd name="connsiteY5" fmla="*/ 0 h 1174562"/>
              <a:gd name="connsiteX6" fmla="*/ 3939907 w 3939907"/>
              <a:gd name="connsiteY6" fmla="*/ 195764 h 1174562"/>
              <a:gd name="connsiteX7" fmla="*/ 3939907 w 3939907"/>
              <a:gd name="connsiteY7" fmla="*/ 195760 h 1174562"/>
              <a:gd name="connsiteX8" fmla="*/ 3939907 w 3939907"/>
              <a:gd name="connsiteY8" fmla="*/ 195760 h 1174562"/>
              <a:gd name="connsiteX9" fmla="*/ 3939907 w 3939907"/>
              <a:gd name="connsiteY9" fmla="*/ 489401 h 1174562"/>
              <a:gd name="connsiteX10" fmla="*/ 3939907 w 3939907"/>
              <a:gd name="connsiteY10" fmla="*/ 978798 h 1174562"/>
              <a:gd name="connsiteX11" fmla="*/ 3744143 w 3939907"/>
              <a:gd name="connsiteY11" fmla="*/ 1174562 h 1174562"/>
              <a:gd name="connsiteX12" fmla="*/ 3283256 w 3939907"/>
              <a:gd name="connsiteY12" fmla="*/ 1174562 h 1174562"/>
              <a:gd name="connsiteX13" fmla="*/ 2298279 w 3939907"/>
              <a:gd name="connsiteY13" fmla="*/ 1174562 h 1174562"/>
              <a:gd name="connsiteX14" fmla="*/ 2298279 w 3939907"/>
              <a:gd name="connsiteY14" fmla="*/ 1174562 h 1174562"/>
              <a:gd name="connsiteX15" fmla="*/ 195764 w 3939907"/>
              <a:gd name="connsiteY15" fmla="*/ 1174562 h 1174562"/>
              <a:gd name="connsiteX16" fmla="*/ 0 w 3939907"/>
              <a:gd name="connsiteY16" fmla="*/ 978798 h 1174562"/>
              <a:gd name="connsiteX17" fmla="*/ 0 w 3939907"/>
              <a:gd name="connsiteY17" fmla="*/ 489401 h 1174562"/>
              <a:gd name="connsiteX18" fmla="*/ 0 w 3939907"/>
              <a:gd name="connsiteY18" fmla="*/ 195760 h 1174562"/>
              <a:gd name="connsiteX19" fmla="*/ 0 w 3939907"/>
              <a:gd name="connsiteY19" fmla="*/ 195760 h 1174562"/>
              <a:gd name="connsiteX20" fmla="*/ 0 w 3939907"/>
              <a:gd name="connsiteY20" fmla="*/ 195764 h 1174562"/>
              <a:gd name="connsiteX0" fmla="*/ 0 w 3939907"/>
              <a:gd name="connsiteY0" fmla="*/ 493281 h 1472079"/>
              <a:gd name="connsiteX1" fmla="*/ 195764 w 3939907"/>
              <a:gd name="connsiteY1" fmla="*/ 297517 h 1472079"/>
              <a:gd name="connsiteX2" fmla="*/ 2298279 w 3939907"/>
              <a:gd name="connsiteY2" fmla="*/ 297517 h 1472079"/>
              <a:gd name="connsiteX3" fmla="*/ 3351718 w 3939907"/>
              <a:gd name="connsiteY3" fmla="*/ 0 h 1472079"/>
              <a:gd name="connsiteX4" fmla="*/ 3519231 w 3939907"/>
              <a:gd name="connsiteY4" fmla="*/ 297517 h 1472079"/>
              <a:gd name="connsiteX5" fmla="*/ 3744143 w 3939907"/>
              <a:gd name="connsiteY5" fmla="*/ 297517 h 1472079"/>
              <a:gd name="connsiteX6" fmla="*/ 3939907 w 3939907"/>
              <a:gd name="connsiteY6" fmla="*/ 493281 h 1472079"/>
              <a:gd name="connsiteX7" fmla="*/ 3939907 w 3939907"/>
              <a:gd name="connsiteY7" fmla="*/ 493277 h 1472079"/>
              <a:gd name="connsiteX8" fmla="*/ 3939907 w 3939907"/>
              <a:gd name="connsiteY8" fmla="*/ 493277 h 1472079"/>
              <a:gd name="connsiteX9" fmla="*/ 3939907 w 3939907"/>
              <a:gd name="connsiteY9" fmla="*/ 786918 h 1472079"/>
              <a:gd name="connsiteX10" fmla="*/ 3939907 w 3939907"/>
              <a:gd name="connsiteY10" fmla="*/ 1276315 h 1472079"/>
              <a:gd name="connsiteX11" fmla="*/ 3744143 w 3939907"/>
              <a:gd name="connsiteY11" fmla="*/ 1472079 h 1472079"/>
              <a:gd name="connsiteX12" fmla="*/ 3283256 w 3939907"/>
              <a:gd name="connsiteY12" fmla="*/ 1472079 h 1472079"/>
              <a:gd name="connsiteX13" fmla="*/ 2298279 w 3939907"/>
              <a:gd name="connsiteY13" fmla="*/ 1472079 h 1472079"/>
              <a:gd name="connsiteX14" fmla="*/ 2298279 w 3939907"/>
              <a:gd name="connsiteY14" fmla="*/ 1472079 h 1472079"/>
              <a:gd name="connsiteX15" fmla="*/ 195764 w 3939907"/>
              <a:gd name="connsiteY15" fmla="*/ 1472079 h 1472079"/>
              <a:gd name="connsiteX16" fmla="*/ 0 w 3939907"/>
              <a:gd name="connsiteY16" fmla="*/ 1276315 h 1472079"/>
              <a:gd name="connsiteX17" fmla="*/ 0 w 3939907"/>
              <a:gd name="connsiteY17" fmla="*/ 786918 h 1472079"/>
              <a:gd name="connsiteX18" fmla="*/ 0 w 3939907"/>
              <a:gd name="connsiteY18" fmla="*/ 493277 h 1472079"/>
              <a:gd name="connsiteX19" fmla="*/ 0 w 3939907"/>
              <a:gd name="connsiteY19" fmla="*/ 493277 h 1472079"/>
              <a:gd name="connsiteX20" fmla="*/ 0 w 3939907"/>
              <a:gd name="connsiteY20" fmla="*/ 493281 h 1472079"/>
              <a:gd name="connsiteX0" fmla="*/ 0 w 3939907"/>
              <a:gd name="connsiteY0" fmla="*/ 493281 h 1472079"/>
              <a:gd name="connsiteX1" fmla="*/ 195764 w 3939907"/>
              <a:gd name="connsiteY1" fmla="*/ 297517 h 1472079"/>
              <a:gd name="connsiteX2" fmla="*/ 3232343 w 3939907"/>
              <a:gd name="connsiteY2" fmla="*/ 287685 h 1472079"/>
              <a:gd name="connsiteX3" fmla="*/ 3351718 w 3939907"/>
              <a:gd name="connsiteY3" fmla="*/ 0 h 1472079"/>
              <a:gd name="connsiteX4" fmla="*/ 3519231 w 3939907"/>
              <a:gd name="connsiteY4" fmla="*/ 297517 h 1472079"/>
              <a:gd name="connsiteX5" fmla="*/ 3744143 w 3939907"/>
              <a:gd name="connsiteY5" fmla="*/ 297517 h 1472079"/>
              <a:gd name="connsiteX6" fmla="*/ 3939907 w 3939907"/>
              <a:gd name="connsiteY6" fmla="*/ 493281 h 1472079"/>
              <a:gd name="connsiteX7" fmla="*/ 3939907 w 3939907"/>
              <a:gd name="connsiteY7" fmla="*/ 493277 h 1472079"/>
              <a:gd name="connsiteX8" fmla="*/ 3939907 w 3939907"/>
              <a:gd name="connsiteY8" fmla="*/ 493277 h 1472079"/>
              <a:gd name="connsiteX9" fmla="*/ 3939907 w 3939907"/>
              <a:gd name="connsiteY9" fmla="*/ 786918 h 1472079"/>
              <a:gd name="connsiteX10" fmla="*/ 3939907 w 3939907"/>
              <a:gd name="connsiteY10" fmla="*/ 1276315 h 1472079"/>
              <a:gd name="connsiteX11" fmla="*/ 3744143 w 3939907"/>
              <a:gd name="connsiteY11" fmla="*/ 1472079 h 1472079"/>
              <a:gd name="connsiteX12" fmla="*/ 3283256 w 3939907"/>
              <a:gd name="connsiteY12" fmla="*/ 1472079 h 1472079"/>
              <a:gd name="connsiteX13" fmla="*/ 2298279 w 3939907"/>
              <a:gd name="connsiteY13" fmla="*/ 1472079 h 1472079"/>
              <a:gd name="connsiteX14" fmla="*/ 2298279 w 3939907"/>
              <a:gd name="connsiteY14" fmla="*/ 1472079 h 1472079"/>
              <a:gd name="connsiteX15" fmla="*/ 195764 w 3939907"/>
              <a:gd name="connsiteY15" fmla="*/ 1472079 h 1472079"/>
              <a:gd name="connsiteX16" fmla="*/ 0 w 3939907"/>
              <a:gd name="connsiteY16" fmla="*/ 1276315 h 1472079"/>
              <a:gd name="connsiteX17" fmla="*/ 0 w 3939907"/>
              <a:gd name="connsiteY17" fmla="*/ 786918 h 1472079"/>
              <a:gd name="connsiteX18" fmla="*/ 0 w 3939907"/>
              <a:gd name="connsiteY18" fmla="*/ 493277 h 1472079"/>
              <a:gd name="connsiteX19" fmla="*/ 0 w 3939907"/>
              <a:gd name="connsiteY19" fmla="*/ 493277 h 1472079"/>
              <a:gd name="connsiteX20" fmla="*/ 0 w 3939907"/>
              <a:gd name="connsiteY20" fmla="*/ 493281 h 1472079"/>
              <a:gd name="connsiteX0" fmla="*/ 0 w 3939907"/>
              <a:gd name="connsiteY0" fmla="*/ 493281 h 1472079"/>
              <a:gd name="connsiteX1" fmla="*/ 195764 w 3939907"/>
              <a:gd name="connsiteY1" fmla="*/ 297517 h 1472079"/>
              <a:gd name="connsiteX2" fmla="*/ 3232343 w 3939907"/>
              <a:gd name="connsiteY2" fmla="*/ 287685 h 1472079"/>
              <a:gd name="connsiteX3" fmla="*/ 3351718 w 3939907"/>
              <a:gd name="connsiteY3" fmla="*/ 0 h 1472079"/>
              <a:gd name="connsiteX4" fmla="*/ 3519231 w 3939907"/>
              <a:gd name="connsiteY4" fmla="*/ 297517 h 1472079"/>
              <a:gd name="connsiteX5" fmla="*/ 3744143 w 3939907"/>
              <a:gd name="connsiteY5" fmla="*/ 297517 h 1472079"/>
              <a:gd name="connsiteX6" fmla="*/ 3939907 w 3939907"/>
              <a:gd name="connsiteY6" fmla="*/ 493281 h 1472079"/>
              <a:gd name="connsiteX7" fmla="*/ 3939907 w 3939907"/>
              <a:gd name="connsiteY7" fmla="*/ 493277 h 1472079"/>
              <a:gd name="connsiteX8" fmla="*/ 3939907 w 3939907"/>
              <a:gd name="connsiteY8" fmla="*/ 493277 h 1472079"/>
              <a:gd name="connsiteX9" fmla="*/ 3939907 w 3939907"/>
              <a:gd name="connsiteY9" fmla="*/ 786918 h 1472079"/>
              <a:gd name="connsiteX10" fmla="*/ 3939907 w 3939907"/>
              <a:gd name="connsiteY10" fmla="*/ 1276315 h 1472079"/>
              <a:gd name="connsiteX11" fmla="*/ 3744143 w 3939907"/>
              <a:gd name="connsiteY11" fmla="*/ 1472079 h 1472079"/>
              <a:gd name="connsiteX12" fmla="*/ 3283256 w 3939907"/>
              <a:gd name="connsiteY12" fmla="*/ 1472079 h 1472079"/>
              <a:gd name="connsiteX13" fmla="*/ 2298279 w 3939907"/>
              <a:gd name="connsiteY13" fmla="*/ 1472079 h 1472079"/>
              <a:gd name="connsiteX14" fmla="*/ 2298279 w 3939907"/>
              <a:gd name="connsiteY14" fmla="*/ 1472079 h 1472079"/>
              <a:gd name="connsiteX15" fmla="*/ 195764 w 3939907"/>
              <a:gd name="connsiteY15" fmla="*/ 1472079 h 1472079"/>
              <a:gd name="connsiteX16" fmla="*/ 0 w 3939907"/>
              <a:gd name="connsiteY16" fmla="*/ 1276315 h 1472079"/>
              <a:gd name="connsiteX17" fmla="*/ 0 w 3939907"/>
              <a:gd name="connsiteY17" fmla="*/ 786918 h 1472079"/>
              <a:gd name="connsiteX18" fmla="*/ 0 w 3939907"/>
              <a:gd name="connsiteY18" fmla="*/ 493277 h 1472079"/>
              <a:gd name="connsiteX19" fmla="*/ 0 w 3939907"/>
              <a:gd name="connsiteY19" fmla="*/ 493277 h 1472079"/>
              <a:gd name="connsiteX20" fmla="*/ 0 w 3939907"/>
              <a:gd name="connsiteY20" fmla="*/ 493281 h 1472079"/>
              <a:gd name="connsiteX0" fmla="*/ 0 w 3939907"/>
              <a:gd name="connsiteY0" fmla="*/ 493281 h 1472079"/>
              <a:gd name="connsiteX1" fmla="*/ 195764 w 3939907"/>
              <a:gd name="connsiteY1" fmla="*/ 297517 h 1472079"/>
              <a:gd name="connsiteX2" fmla="*/ 3232343 w 3939907"/>
              <a:gd name="connsiteY2" fmla="*/ 287685 h 1472079"/>
              <a:gd name="connsiteX3" fmla="*/ 3351718 w 3939907"/>
              <a:gd name="connsiteY3" fmla="*/ 0 h 1472079"/>
              <a:gd name="connsiteX4" fmla="*/ 3519231 w 3939907"/>
              <a:gd name="connsiteY4" fmla="*/ 297517 h 1472079"/>
              <a:gd name="connsiteX5" fmla="*/ 3744143 w 3939907"/>
              <a:gd name="connsiteY5" fmla="*/ 297517 h 1472079"/>
              <a:gd name="connsiteX6" fmla="*/ 3939907 w 3939907"/>
              <a:gd name="connsiteY6" fmla="*/ 493281 h 1472079"/>
              <a:gd name="connsiteX7" fmla="*/ 3939907 w 3939907"/>
              <a:gd name="connsiteY7" fmla="*/ 493277 h 1472079"/>
              <a:gd name="connsiteX8" fmla="*/ 3939907 w 3939907"/>
              <a:gd name="connsiteY8" fmla="*/ 493277 h 1472079"/>
              <a:gd name="connsiteX9" fmla="*/ 3939907 w 3939907"/>
              <a:gd name="connsiteY9" fmla="*/ 786918 h 1472079"/>
              <a:gd name="connsiteX10" fmla="*/ 3939907 w 3939907"/>
              <a:gd name="connsiteY10" fmla="*/ 1276315 h 1472079"/>
              <a:gd name="connsiteX11" fmla="*/ 3744143 w 3939907"/>
              <a:gd name="connsiteY11" fmla="*/ 1472079 h 1472079"/>
              <a:gd name="connsiteX12" fmla="*/ 3283256 w 3939907"/>
              <a:gd name="connsiteY12" fmla="*/ 1472079 h 1472079"/>
              <a:gd name="connsiteX13" fmla="*/ 2298279 w 3939907"/>
              <a:gd name="connsiteY13" fmla="*/ 1472079 h 1472079"/>
              <a:gd name="connsiteX14" fmla="*/ 2298279 w 3939907"/>
              <a:gd name="connsiteY14" fmla="*/ 1472079 h 1472079"/>
              <a:gd name="connsiteX15" fmla="*/ 195764 w 3939907"/>
              <a:gd name="connsiteY15" fmla="*/ 1472079 h 1472079"/>
              <a:gd name="connsiteX16" fmla="*/ 0 w 3939907"/>
              <a:gd name="connsiteY16" fmla="*/ 1276315 h 1472079"/>
              <a:gd name="connsiteX17" fmla="*/ 0 w 3939907"/>
              <a:gd name="connsiteY17" fmla="*/ 786918 h 1472079"/>
              <a:gd name="connsiteX18" fmla="*/ 0 w 3939907"/>
              <a:gd name="connsiteY18" fmla="*/ 493277 h 1472079"/>
              <a:gd name="connsiteX19" fmla="*/ 0 w 3939907"/>
              <a:gd name="connsiteY19" fmla="*/ 493277 h 1472079"/>
              <a:gd name="connsiteX20" fmla="*/ 0 w 3939907"/>
              <a:gd name="connsiteY20" fmla="*/ 493281 h 1472079"/>
              <a:gd name="connsiteX0" fmla="*/ 0 w 3939907"/>
              <a:gd name="connsiteY0" fmla="*/ 493281 h 1472079"/>
              <a:gd name="connsiteX1" fmla="*/ 195764 w 3939907"/>
              <a:gd name="connsiteY1" fmla="*/ 297517 h 1472079"/>
              <a:gd name="connsiteX2" fmla="*/ 3232343 w 3939907"/>
              <a:gd name="connsiteY2" fmla="*/ 287685 h 1472079"/>
              <a:gd name="connsiteX3" fmla="*/ 3351718 w 3939907"/>
              <a:gd name="connsiteY3" fmla="*/ 0 h 1472079"/>
              <a:gd name="connsiteX4" fmla="*/ 3519231 w 3939907"/>
              <a:gd name="connsiteY4" fmla="*/ 297517 h 1472079"/>
              <a:gd name="connsiteX5" fmla="*/ 3744143 w 3939907"/>
              <a:gd name="connsiteY5" fmla="*/ 297517 h 1472079"/>
              <a:gd name="connsiteX6" fmla="*/ 3939907 w 3939907"/>
              <a:gd name="connsiteY6" fmla="*/ 493281 h 1472079"/>
              <a:gd name="connsiteX7" fmla="*/ 3939907 w 3939907"/>
              <a:gd name="connsiteY7" fmla="*/ 493277 h 1472079"/>
              <a:gd name="connsiteX8" fmla="*/ 3939907 w 3939907"/>
              <a:gd name="connsiteY8" fmla="*/ 493277 h 1472079"/>
              <a:gd name="connsiteX9" fmla="*/ 3939907 w 3939907"/>
              <a:gd name="connsiteY9" fmla="*/ 786918 h 1472079"/>
              <a:gd name="connsiteX10" fmla="*/ 3939907 w 3939907"/>
              <a:gd name="connsiteY10" fmla="*/ 1276315 h 1472079"/>
              <a:gd name="connsiteX11" fmla="*/ 3744143 w 3939907"/>
              <a:gd name="connsiteY11" fmla="*/ 1472079 h 1472079"/>
              <a:gd name="connsiteX12" fmla="*/ 3283256 w 3939907"/>
              <a:gd name="connsiteY12" fmla="*/ 1472079 h 1472079"/>
              <a:gd name="connsiteX13" fmla="*/ 2298279 w 3939907"/>
              <a:gd name="connsiteY13" fmla="*/ 1472079 h 1472079"/>
              <a:gd name="connsiteX14" fmla="*/ 2298279 w 3939907"/>
              <a:gd name="connsiteY14" fmla="*/ 1472079 h 1472079"/>
              <a:gd name="connsiteX15" fmla="*/ 195764 w 3939907"/>
              <a:gd name="connsiteY15" fmla="*/ 1472079 h 1472079"/>
              <a:gd name="connsiteX16" fmla="*/ 0 w 3939907"/>
              <a:gd name="connsiteY16" fmla="*/ 1276315 h 1472079"/>
              <a:gd name="connsiteX17" fmla="*/ 0 w 3939907"/>
              <a:gd name="connsiteY17" fmla="*/ 786918 h 1472079"/>
              <a:gd name="connsiteX18" fmla="*/ 0 w 3939907"/>
              <a:gd name="connsiteY18" fmla="*/ 493277 h 1472079"/>
              <a:gd name="connsiteX19" fmla="*/ 0 w 3939907"/>
              <a:gd name="connsiteY19" fmla="*/ 493277 h 1472079"/>
              <a:gd name="connsiteX20" fmla="*/ 0 w 3939907"/>
              <a:gd name="connsiteY20" fmla="*/ 493281 h 1472079"/>
              <a:gd name="connsiteX0" fmla="*/ 0 w 3939907"/>
              <a:gd name="connsiteY0" fmla="*/ 493281 h 1472079"/>
              <a:gd name="connsiteX1" fmla="*/ 195764 w 3939907"/>
              <a:gd name="connsiteY1" fmla="*/ 297517 h 1472079"/>
              <a:gd name="connsiteX2" fmla="*/ 3232343 w 3939907"/>
              <a:gd name="connsiteY2" fmla="*/ 287685 h 1472079"/>
              <a:gd name="connsiteX3" fmla="*/ 3351718 w 3939907"/>
              <a:gd name="connsiteY3" fmla="*/ 0 h 1472079"/>
              <a:gd name="connsiteX4" fmla="*/ 3519231 w 3939907"/>
              <a:gd name="connsiteY4" fmla="*/ 297517 h 1472079"/>
              <a:gd name="connsiteX5" fmla="*/ 3744143 w 3939907"/>
              <a:gd name="connsiteY5" fmla="*/ 297517 h 1472079"/>
              <a:gd name="connsiteX6" fmla="*/ 3939907 w 3939907"/>
              <a:gd name="connsiteY6" fmla="*/ 493281 h 1472079"/>
              <a:gd name="connsiteX7" fmla="*/ 3939907 w 3939907"/>
              <a:gd name="connsiteY7" fmla="*/ 493277 h 1472079"/>
              <a:gd name="connsiteX8" fmla="*/ 3939907 w 3939907"/>
              <a:gd name="connsiteY8" fmla="*/ 493277 h 1472079"/>
              <a:gd name="connsiteX9" fmla="*/ 3939907 w 3939907"/>
              <a:gd name="connsiteY9" fmla="*/ 786918 h 1472079"/>
              <a:gd name="connsiteX10" fmla="*/ 3939907 w 3939907"/>
              <a:gd name="connsiteY10" fmla="*/ 1276315 h 1472079"/>
              <a:gd name="connsiteX11" fmla="*/ 3744143 w 3939907"/>
              <a:gd name="connsiteY11" fmla="*/ 1472079 h 1472079"/>
              <a:gd name="connsiteX12" fmla="*/ 3283256 w 3939907"/>
              <a:gd name="connsiteY12" fmla="*/ 1472079 h 1472079"/>
              <a:gd name="connsiteX13" fmla="*/ 2298279 w 3939907"/>
              <a:gd name="connsiteY13" fmla="*/ 1472079 h 1472079"/>
              <a:gd name="connsiteX14" fmla="*/ 2298279 w 3939907"/>
              <a:gd name="connsiteY14" fmla="*/ 1472079 h 1472079"/>
              <a:gd name="connsiteX15" fmla="*/ 195764 w 3939907"/>
              <a:gd name="connsiteY15" fmla="*/ 1472079 h 1472079"/>
              <a:gd name="connsiteX16" fmla="*/ 0 w 3939907"/>
              <a:gd name="connsiteY16" fmla="*/ 1276315 h 1472079"/>
              <a:gd name="connsiteX17" fmla="*/ 0 w 3939907"/>
              <a:gd name="connsiteY17" fmla="*/ 786918 h 1472079"/>
              <a:gd name="connsiteX18" fmla="*/ 0 w 3939907"/>
              <a:gd name="connsiteY18" fmla="*/ 493277 h 1472079"/>
              <a:gd name="connsiteX19" fmla="*/ 0 w 3939907"/>
              <a:gd name="connsiteY19" fmla="*/ 493277 h 1472079"/>
              <a:gd name="connsiteX20" fmla="*/ 0 w 3939907"/>
              <a:gd name="connsiteY20" fmla="*/ 493281 h 1472079"/>
              <a:gd name="connsiteX0" fmla="*/ 0 w 3939907"/>
              <a:gd name="connsiteY0" fmla="*/ 493281 h 1472079"/>
              <a:gd name="connsiteX1" fmla="*/ 195764 w 3939907"/>
              <a:gd name="connsiteY1" fmla="*/ 297517 h 1472079"/>
              <a:gd name="connsiteX2" fmla="*/ 3232343 w 3939907"/>
              <a:gd name="connsiteY2" fmla="*/ 287685 h 1472079"/>
              <a:gd name="connsiteX3" fmla="*/ 3351718 w 3939907"/>
              <a:gd name="connsiteY3" fmla="*/ 0 h 1472079"/>
              <a:gd name="connsiteX4" fmla="*/ 3519231 w 3939907"/>
              <a:gd name="connsiteY4" fmla="*/ 297517 h 1472079"/>
              <a:gd name="connsiteX5" fmla="*/ 3744143 w 3939907"/>
              <a:gd name="connsiteY5" fmla="*/ 297517 h 1472079"/>
              <a:gd name="connsiteX6" fmla="*/ 3939907 w 3939907"/>
              <a:gd name="connsiteY6" fmla="*/ 493281 h 1472079"/>
              <a:gd name="connsiteX7" fmla="*/ 3939907 w 3939907"/>
              <a:gd name="connsiteY7" fmla="*/ 493277 h 1472079"/>
              <a:gd name="connsiteX8" fmla="*/ 3939907 w 3939907"/>
              <a:gd name="connsiteY8" fmla="*/ 493277 h 1472079"/>
              <a:gd name="connsiteX9" fmla="*/ 3939907 w 3939907"/>
              <a:gd name="connsiteY9" fmla="*/ 786918 h 1472079"/>
              <a:gd name="connsiteX10" fmla="*/ 3939907 w 3939907"/>
              <a:gd name="connsiteY10" fmla="*/ 1276315 h 1472079"/>
              <a:gd name="connsiteX11" fmla="*/ 3744143 w 3939907"/>
              <a:gd name="connsiteY11" fmla="*/ 1472079 h 1472079"/>
              <a:gd name="connsiteX12" fmla="*/ 3283256 w 3939907"/>
              <a:gd name="connsiteY12" fmla="*/ 1472079 h 1472079"/>
              <a:gd name="connsiteX13" fmla="*/ 2298279 w 3939907"/>
              <a:gd name="connsiteY13" fmla="*/ 1472079 h 1472079"/>
              <a:gd name="connsiteX14" fmla="*/ 2298279 w 3939907"/>
              <a:gd name="connsiteY14" fmla="*/ 1472079 h 1472079"/>
              <a:gd name="connsiteX15" fmla="*/ 195764 w 3939907"/>
              <a:gd name="connsiteY15" fmla="*/ 1472079 h 1472079"/>
              <a:gd name="connsiteX16" fmla="*/ 0 w 3939907"/>
              <a:gd name="connsiteY16" fmla="*/ 1276315 h 1472079"/>
              <a:gd name="connsiteX17" fmla="*/ 0 w 3939907"/>
              <a:gd name="connsiteY17" fmla="*/ 786918 h 1472079"/>
              <a:gd name="connsiteX18" fmla="*/ 0 w 3939907"/>
              <a:gd name="connsiteY18" fmla="*/ 493277 h 1472079"/>
              <a:gd name="connsiteX19" fmla="*/ 0 w 3939907"/>
              <a:gd name="connsiteY19" fmla="*/ 493277 h 1472079"/>
              <a:gd name="connsiteX20" fmla="*/ 0 w 3939907"/>
              <a:gd name="connsiteY20" fmla="*/ 493281 h 1472079"/>
              <a:gd name="connsiteX0" fmla="*/ 0 w 3939907"/>
              <a:gd name="connsiteY0" fmla="*/ 493281 h 1472079"/>
              <a:gd name="connsiteX1" fmla="*/ 195764 w 3939907"/>
              <a:gd name="connsiteY1" fmla="*/ 297517 h 1472079"/>
              <a:gd name="connsiteX2" fmla="*/ 3232343 w 3939907"/>
              <a:gd name="connsiteY2" fmla="*/ 287685 h 1472079"/>
              <a:gd name="connsiteX3" fmla="*/ 3351718 w 3939907"/>
              <a:gd name="connsiteY3" fmla="*/ 0 h 1472079"/>
              <a:gd name="connsiteX4" fmla="*/ 3519231 w 3939907"/>
              <a:gd name="connsiteY4" fmla="*/ 297517 h 1472079"/>
              <a:gd name="connsiteX5" fmla="*/ 3744143 w 3939907"/>
              <a:gd name="connsiteY5" fmla="*/ 297517 h 1472079"/>
              <a:gd name="connsiteX6" fmla="*/ 3939907 w 3939907"/>
              <a:gd name="connsiteY6" fmla="*/ 493281 h 1472079"/>
              <a:gd name="connsiteX7" fmla="*/ 3939907 w 3939907"/>
              <a:gd name="connsiteY7" fmla="*/ 493277 h 1472079"/>
              <a:gd name="connsiteX8" fmla="*/ 3939907 w 3939907"/>
              <a:gd name="connsiteY8" fmla="*/ 493277 h 1472079"/>
              <a:gd name="connsiteX9" fmla="*/ 3939907 w 3939907"/>
              <a:gd name="connsiteY9" fmla="*/ 786918 h 1472079"/>
              <a:gd name="connsiteX10" fmla="*/ 3939907 w 3939907"/>
              <a:gd name="connsiteY10" fmla="*/ 1276315 h 1472079"/>
              <a:gd name="connsiteX11" fmla="*/ 3744143 w 3939907"/>
              <a:gd name="connsiteY11" fmla="*/ 1472079 h 1472079"/>
              <a:gd name="connsiteX12" fmla="*/ 3283256 w 3939907"/>
              <a:gd name="connsiteY12" fmla="*/ 1472079 h 1472079"/>
              <a:gd name="connsiteX13" fmla="*/ 2298279 w 3939907"/>
              <a:gd name="connsiteY13" fmla="*/ 1472079 h 1472079"/>
              <a:gd name="connsiteX14" fmla="*/ 2298279 w 3939907"/>
              <a:gd name="connsiteY14" fmla="*/ 1472079 h 1472079"/>
              <a:gd name="connsiteX15" fmla="*/ 195764 w 3939907"/>
              <a:gd name="connsiteY15" fmla="*/ 1472079 h 1472079"/>
              <a:gd name="connsiteX16" fmla="*/ 0 w 3939907"/>
              <a:gd name="connsiteY16" fmla="*/ 1276315 h 1472079"/>
              <a:gd name="connsiteX17" fmla="*/ 0 w 3939907"/>
              <a:gd name="connsiteY17" fmla="*/ 786918 h 1472079"/>
              <a:gd name="connsiteX18" fmla="*/ 0 w 3939907"/>
              <a:gd name="connsiteY18" fmla="*/ 493277 h 1472079"/>
              <a:gd name="connsiteX19" fmla="*/ 0 w 3939907"/>
              <a:gd name="connsiteY19" fmla="*/ 493277 h 1472079"/>
              <a:gd name="connsiteX20" fmla="*/ 0 w 3939907"/>
              <a:gd name="connsiteY20" fmla="*/ 493281 h 1472079"/>
              <a:gd name="connsiteX0" fmla="*/ 0 w 3939907"/>
              <a:gd name="connsiteY0" fmla="*/ 493281 h 1472079"/>
              <a:gd name="connsiteX1" fmla="*/ 195764 w 3939907"/>
              <a:gd name="connsiteY1" fmla="*/ 297517 h 1472079"/>
              <a:gd name="connsiteX2" fmla="*/ 3232343 w 3939907"/>
              <a:gd name="connsiteY2" fmla="*/ 287685 h 1472079"/>
              <a:gd name="connsiteX3" fmla="*/ 3351718 w 3939907"/>
              <a:gd name="connsiteY3" fmla="*/ 0 h 1472079"/>
              <a:gd name="connsiteX4" fmla="*/ 3519231 w 3939907"/>
              <a:gd name="connsiteY4" fmla="*/ 297517 h 1472079"/>
              <a:gd name="connsiteX5" fmla="*/ 3744143 w 3939907"/>
              <a:gd name="connsiteY5" fmla="*/ 297517 h 1472079"/>
              <a:gd name="connsiteX6" fmla="*/ 3939907 w 3939907"/>
              <a:gd name="connsiteY6" fmla="*/ 493281 h 1472079"/>
              <a:gd name="connsiteX7" fmla="*/ 3939907 w 3939907"/>
              <a:gd name="connsiteY7" fmla="*/ 493277 h 1472079"/>
              <a:gd name="connsiteX8" fmla="*/ 3939907 w 3939907"/>
              <a:gd name="connsiteY8" fmla="*/ 493277 h 1472079"/>
              <a:gd name="connsiteX9" fmla="*/ 3939907 w 3939907"/>
              <a:gd name="connsiteY9" fmla="*/ 786918 h 1472079"/>
              <a:gd name="connsiteX10" fmla="*/ 3939907 w 3939907"/>
              <a:gd name="connsiteY10" fmla="*/ 1276315 h 1472079"/>
              <a:gd name="connsiteX11" fmla="*/ 3744143 w 3939907"/>
              <a:gd name="connsiteY11" fmla="*/ 1472079 h 1472079"/>
              <a:gd name="connsiteX12" fmla="*/ 3283256 w 3939907"/>
              <a:gd name="connsiteY12" fmla="*/ 1472079 h 1472079"/>
              <a:gd name="connsiteX13" fmla="*/ 2298279 w 3939907"/>
              <a:gd name="connsiteY13" fmla="*/ 1472079 h 1472079"/>
              <a:gd name="connsiteX14" fmla="*/ 2298279 w 3939907"/>
              <a:gd name="connsiteY14" fmla="*/ 1472079 h 1472079"/>
              <a:gd name="connsiteX15" fmla="*/ 195764 w 3939907"/>
              <a:gd name="connsiteY15" fmla="*/ 1472079 h 1472079"/>
              <a:gd name="connsiteX16" fmla="*/ 0 w 3939907"/>
              <a:gd name="connsiteY16" fmla="*/ 1276315 h 1472079"/>
              <a:gd name="connsiteX17" fmla="*/ 0 w 3939907"/>
              <a:gd name="connsiteY17" fmla="*/ 786918 h 1472079"/>
              <a:gd name="connsiteX18" fmla="*/ 0 w 3939907"/>
              <a:gd name="connsiteY18" fmla="*/ 493277 h 1472079"/>
              <a:gd name="connsiteX19" fmla="*/ 0 w 3939907"/>
              <a:gd name="connsiteY19" fmla="*/ 493277 h 1472079"/>
              <a:gd name="connsiteX20" fmla="*/ 0 w 3939907"/>
              <a:gd name="connsiteY20" fmla="*/ 493281 h 1472079"/>
              <a:gd name="connsiteX0" fmla="*/ 0 w 3939907"/>
              <a:gd name="connsiteY0" fmla="*/ 569481 h 1548279"/>
              <a:gd name="connsiteX1" fmla="*/ 195764 w 3939907"/>
              <a:gd name="connsiteY1" fmla="*/ 373717 h 1548279"/>
              <a:gd name="connsiteX2" fmla="*/ 3232343 w 3939907"/>
              <a:gd name="connsiteY2" fmla="*/ 363885 h 1548279"/>
              <a:gd name="connsiteX3" fmla="*/ 3637468 w 3939907"/>
              <a:gd name="connsiteY3" fmla="*/ 0 h 1548279"/>
              <a:gd name="connsiteX4" fmla="*/ 3519231 w 3939907"/>
              <a:gd name="connsiteY4" fmla="*/ 373717 h 1548279"/>
              <a:gd name="connsiteX5" fmla="*/ 3744143 w 3939907"/>
              <a:gd name="connsiteY5" fmla="*/ 373717 h 1548279"/>
              <a:gd name="connsiteX6" fmla="*/ 3939907 w 3939907"/>
              <a:gd name="connsiteY6" fmla="*/ 569481 h 1548279"/>
              <a:gd name="connsiteX7" fmla="*/ 3939907 w 3939907"/>
              <a:gd name="connsiteY7" fmla="*/ 569477 h 1548279"/>
              <a:gd name="connsiteX8" fmla="*/ 3939907 w 3939907"/>
              <a:gd name="connsiteY8" fmla="*/ 569477 h 1548279"/>
              <a:gd name="connsiteX9" fmla="*/ 3939907 w 3939907"/>
              <a:gd name="connsiteY9" fmla="*/ 863118 h 1548279"/>
              <a:gd name="connsiteX10" fmla="*/ 3939907 w 3939907"/>
              <a:gd name="connsiteY10" fmla="*/ 1352515 h 1548279"/>
              <a:gd name="connsiteX11" fmla="*/ 3744143 w 3939907"/>
              <a:gd name="connsiteY11" fmla="*/ 1548279 h 1548279"/>
              <a:gd name="connsiteX12" fmla="*/ 3283256 w 3939907"/>
              <a:gd name="connsiteY12" fmla="*/ 1548279 h 1548279"/>
              <a:gd name="connsiteX13" fmla="*/ 2298279 w 3939907"/>
              <a:gd name="connsiteY13" fmla="*/ 1548279 h 1548279"/>
              <a:gd name="connsiteX14" fmla="*/ 2298279 w 3939907"/>
              <a:gd name="connsiteY14" fmla="*/ 1548279 h 1548279"/>
              <a:gd name="connsiteX15" fmla="*/ 195764 w 3939907"/>
              <a:gd name="connsiteY15" fmla="*/ 1548279 h 1548279"/>
              <a:gd name="connsiteX16" fmla="*/ 0 w 3939907"/>
              <a:gd name="connsiteY16" fmla="*/ 1352515 h 1548279"/>
              <a:gd name="connsiteX17" fmla="*/ 0 w 3939907"/>
              <a:gd name="connsiteY17" fmla="*/ 863118 h 1548279"/>
              <a:gd name="connsiteX18" fmla="*/ 0 w 3939907"/>
              <a:gd name="connsiteY18" fmla="*/ 569477 h 1548279"/>
              <a:gd name="connsiteX19" fmla="*/ 0 w 3939907"/>
              <a:gd name="connsiteY19" fmla="*/ 569477 h 1548279"/>
              <a:gd name="connsiteX20" fmla="*/ 0 w 3939907"/>
              <a:gd name="connsiteY20" fmla="*/ 569481 h 1548279"/>
              <a:gd name="connsiteX0" fmla="*/ 0 w 3939907"/>
              <a:gd name="connsiteY0" fmla="*/ 569481 h 1548279"/>
              <a:gd name="connsiteX1" fmla="*/ 195764 w 3939907"/>
              <a:gd name="connsiteY1" fmla="*/ 373717 h 1548279"/>
              <a:gd name="connsiteX2" fmla="*/ 3232343 w 3939907"/>
              <a:gd name="connsiteY2" fmla="*/ 363885 h 1548279"/>
              <a:gd name="connsiteX3" fmla="*/ 3637468 w 3939907"/>
              <a:gd name="connsiteY3" fmla="*/ 0 h 1548279"/>
              <a:gd name="connsiteX4" fmla="*/ 3519231 w 3939907"/>
              <a:gd name="connsiteY4" fmla="*/ 373717 h 1548279"/>
              <a:gd name="connsiteX5" fmla="*/ 3744143 w 3939907"/>
              <a:gd name="connsiteY5" fmla="*/ 373717 h 1548279"/>
              <a:gd name="connsiteX6" fmla="*/ 3939907 w 3939907"/>
              <a:gd name="connsiteY6" fmla="*/ 569481 h 1548279"/>
              <a:gd name="connsiteX7" fmla="*/ 3939907 w 3939907"/>
              <a:gd name="connsiteY7" fmla="*/ 569477 h 1548279"/>
              <a:gd name="connsiteX8" fmla="*/ 3939907 w 3939907"/>
              <a:gd name="connsiteY8" fmla="*/ 569477 h 1548279"/>
              <a:gd name="connsiteX9" fmla="*/ 3939907 w 3939907"/>
              <a:gd name="connsiteY9" fmla="*/ 863118 h 1548279"/>
              <a:gd name="connsiteX10" fmla="*/ 3939907 w 3939907"/>
              <a:gd name="connsiteY10" fmla="*/ 1352515 h 1548279"/>
              <a:gd name="connsiteX11" fmla="*/ 3744143 w 3939907"/>
              <a:gd name="connsiteY11" fmla="*/ 1548279 h 1548279"/>
              <a:gd name="connsiteX12" fmla="*/ 3283256 w 3939907"/>
              <a:gd name="connsiteY12" fmla="*/ 1548279 h 1548279"/>
              <a:gd name="connsiteX13" fmla="*/ 2298279 w 3939907"/>
              <a:gd name="connsiteY13" fmla="*/ 1548279 h 1548279"/>
              <a:gd name="connsiteX14" fmla="*/ 2298279 w 3939907"/>
              <a:gd name="connsiteY14" fmla="*/ 1548279 h 1548279"/>
              <a:gd name="connsiteX15" fmla="*/ 195764 w 3939907"/>
              <a:gd name="connsiteY15" fmla="*/ 1548279 h 1548279"/>
              <a:gd name="connsiteX16" fmla="*/ 0 w 3939907"/>
              <a:gd name="connsiteY16" fmla="*/ 1352515 h 1548279"/>
              <a:gd name="connsiteX17" fmla="*/ 0 w 3939907"/>
              <a:gd name="connsiteY17" fmla="*/ 863118 h 1548279"/>
              <a:gd name="connsiteX18" fmla="*/ 0 w 3939907"/>
              <a:gd name="connsiteY18" fmla="*/ 569477 h 1548279"/>
              <a:gd name="connsiteX19" fmla="*/ 0 w 3939907"/>
              <a:gd name="connsiteY19" fmla="*/ 569477 h 1548279"/>
              <a:gd name="connsiteX20" fmla="*/ 0 w 3939907"/>
              <a:gd name="connsiteY20" fmla="*/ 569481 h 1548279"/>
              <a:gd name="connsiteX0" fmla="*/ 0 w 3939907"/>
              <a:gd name="connsiteY0" fmla="*/ 569481 h 1548279"/>
              <a:gd name="connsiteX1" fmla="*/ 195764 w 3939907"/>
              <a:gd name="connsiteY1" fmla="*/ 373717 h 1548279"/>
              <a:gd name="connsiteX2" fmla="*/ 3232343 w 3939907"/>
              <a:gd name="connsiteY2" fmla="*/ 363885 h 1548279"/>
              <a:gd name="connsiteX3" fmla="*/ 3637468 w 3939907"/>
              <a:gd name="connsiteY3" fmla="*/ 0 h 1548279"/>
              <a:gd name="connsiteX4" fmla="*/ 3519231 w 3939907"/>
              <a:gd name="connsiteY4" fmla="*/ 373717 h 1548279"/>
              <a:gd name="connsiteX5" fmla="*/ 3744143 w 3939907"/>
              <a:gd name="connsiteY5" fmla="*/ 373717 h 1548279"/>
              <a:gd name="connsiteX6" fmla="*/ 3939907 w 3939907"/>
              <a:gd name="connsiteY6" fmla="*/ 569481 h 1548279"/>
              <a:gd name="connsiteX7" fmla="*/ 3939907 w 3939907"/>
              <a:gd name="connsiteY7" fmla="*/ 569477 h 1548279"/>
              <a:gd name="connsiteX8" fmla="*/ 3939907 w 3939907"/>
              <a:gd name="connsiteY8" fmla="*/ 569477 h 1548279"/>
              <a:gd name="connsiteX9" fmla="*/ 3939907 w 3939907"/>
              <a:gd name="connsiteY9" fmla="*/ 863118 h 1548279"/>
              <a:gd name="connsiteX10" fmla="*/ 3939907 w 3939907"/>
              <a:gd name="connsiteY10" fmla="*/ 1352515 h 1548279"/>
              <a:gd name="connsiteX11" fmla="*/ 3744143 w 3939907"/>
              <a:gd name="connsiteY11" fmla="*/ 1548279 h 1548279"/>
              <a:gd name="connsiteX12" fmla="*/ 3283256 w 3939907"/>
              <a:gd name="connsiteY12" fmla="*/ 1548279 h 1548279"/>
              <a:gd name="connsiteX13" fmla="*/ 2298279 w 3939907"/>
              <a:gd name="connsiteY13" fmla="*/ 1548279 h 1548279"/>
              <a:gd name="connsiteX14" fmla="*/ 2298279 w 3939907"/>
              <a:gd name="connsiteY14" fmla="*/ 1548279 h 1548279"/>
              <a:gd name="connsiteX15" fmla="*/ 195764 w 3939907"/>
              <a:gd name="connsiteY15" fmla="*/ 1548279 h 1548279"/>
              <a:gd name="connsiteX16" fmla="*/ 0 w 3939907"/>
              <a:gd name="connsiteY16" fmla="*/ 1352515 h 1548279"/>
              <a:gd name="connsiteX17" fmla="*/ 0 w 3939907"/>
              <a:gd name="connsiteY17" fmla="*/ 863118 h 1548279"/>
              <a:gd name="connsiteX18" fmla="*/ 0 w 3939907"/>
              <a:gd name="connsiteY18" fmla="*/ 569477 h 1548279"/>
              <a:gd name="connsiteX19" fmla="*/ 0 w 3939907"/>
              <a:gd name="connsiteY19" fmla="*/ 569477 h 1548279"/>
              <a:gd name="connsiteX20" fmla="*/ 0 w 3939907"/>
              <a:gd name="connsiteY20" fmla="*/ 569481 h 1548279"/>
              <a:gd name="connsiteX0" fmla="*/ 0 w 3939907"/>
              <a:gd name="connsiteY0" fmla="*/ 569481 h 1548279"/>
              <a:gd name="connsiteX1" fmla="*/ 195764 w 3939907"/>
              <a:gd name="connsiteY1" fmla="*/ 373717 h 1548279"/>
              <a:gd name="connsiteX2" fmla="*/ 3232343 w 3939907"/>
              <a:gd name="connsiteY2" fmla="*/ 363885 h 1548279"/>
              <a:gd name="connsiteX3" fmla="*/ 3637468 w 3939907"/>
              <a:gd name="connsiteY3" fmla="*/ 0 h 1548279"/>
              <a:gd name="connsiteX4" fmla="*/ 3519231 w 3939907"/>
              <a:gd name="connsiteY4" fmla="*/ 373717 h 1548279"/>
              <a:gd name="connsiteX5" fmla="*/ 3744143 w 3939907"/>
              <a:gd name="connsiteY5" fmla="*/ 373717 h 1548279"/>
              <a:gd name="connsiteX6" fmla="*/ 3939907 w 3939907"/>
              <a:gd name="connsiteY6" fmla="*/ 569481 h 1548279"/>
              <a:gd name="connsiteX7" fmla="*/ 3939907 w 3939907"/>
              <a:gd name="connsiteY7" fmla="*/ 569477 h 1548279"/>
              <a:gd name="connsiteX8" fmla="*/ 3939907 w 3939907"/>
              <a:gd name="connsiteY8" fmla="*/ 569477 h 1548279"/>
              <a:gd name="connsiteX9" fmla="*/ 3939907 w 3939907"/>
              <a:gd name="connsiteY9" fmla="*/ 863118 h 1548279"/>
              <a:gd name="connsiteX10" fmla="*/ 3939907 w 3939907"/>
              <a:gd name="connsiteY10" fmla="*/ 1352515 h 1548279"/>
              <a:gd name="connsiteX11" fmla="*/ 3744143 w 3939907"/>
              <a:gd name="connsiteY11" fmla="*/ 1548279 h 1548279"/>
              <a:gd name="connsiteX12" fmla="*/ 3283256 w 3939907"/>
              <a:gd name="connsiteY12" fmla="*/ 1548279 h 1548279"/>
              <a:gd name="connsiteX13" fmla="*/ 2298279 w 3939907"/>
              <a:gd name="connsiteY13" fmla="*/ 1548279 h 1548279"/>
              <a:gd name="connsiteX14" fmla="*/ 2298279 w 3939907"/>
              <a:gd name="connsiteY14" fmla="*/ 1548279 h 1548279"/>
              <a:gd name="connsiteX15" fmla="*/ 195764 w 3939907"/>
              <a:gd name="connsiteY15" fmla="*/ 1548279 h 1548279"/>
              <a:gd name="connsiteX16" fmla="*/ 0 w 3939907"/>
              <a:gd name="connsiteY16" fmla="*/ 1352515 h 1548279"/>
              <a:gd name="connsiteX17" fmla="*/ 0 w 3939907"/>
              <a:gd name="connsiteY17" fmla="*/ 863118 h 1548279"/>
              <a:gd name="connsiteX18" fmla="*/ 0 w 3939907"/>
              <a:gd name="connsiteY18" fmla="*/ 569477 h 1548279"/>
              <a:gd name="connsiteX19" fmla="*/ 0 w 3939907"/>
              <a:gd name="connsiteY19" fmla="*/ 569477 h 1548279"/>
              <a:gd name="connsiteX20" fmla="*/ 0 w 3939907"/>
              <a:gd name="connsiteY20" fmla="*/ 569481 h 1548279"/>
              <a:gd name="connsiteX0" fmla="*/ 0 w 3939907"/>
              <a:gd name="connsiteY0" fmla="*/ 569481 h 1548279"/>
              <a:gd name="connsiteX1" fmla="*/ 195764 w 3939907"/>
              <a:gd name="connsiteY1" fmla="*/ 373717 h 1548279"/>
              <a:gd name="connsiteX2" fmla="*/ 3232343 w 3939907"/>
              <a:gd name="connsiteY2" fmla="*/ 363885 h 1548279"/>
              <a:gd name="connsiteX3" fmla="*/ 3637468 w 3939907"/>
              <a:gd name="connsiteY3" fmla="*/ 0 h 1548279"/>
              <a:gd name="connsiteX4" fmla="*/ 3519231 w 3939907"/>
              <a:gd name="connsiteY4" fmla="*/ 373717 h 1548279"/>
              <a:gd name="connsiteX5" fmla="*/ 3744143 w 3939907"/>
              <a:gd name="connsiteY5" fmla="*/ 373717 h 1548279"/>
              <a:gd name="connsiteX6" fmla="*/ 3939907 w 3939907"/>
              <a:gd name="connsiteY6" fmla="*/ 569481 h 1548279"/>
              <a:gd name="connsiteX7" fmla="*/ 3939907 w 3939907"/>
              <a:gd name="connsiteY7" fmla="*/ 569477 h 1548279"/>
              <a:gd name="connsiteX8" fmla="*/ 3939907 w 3939907"/>
              <a:gd name="connsiteY8" fmla="*/ 569477 h 1548279"/>
              <a:gd name="connsiteX9" fmla="*/ 3939907 w 3939907"/>
              <a:gd name="connsiteY9" fmla="*/ 863118 h 1548279"/>
              <a:gd name="connsiteX10" fmla="*/ 3939907 w 3939907"/>
              <a:gd name="connsiteY10" fmla="*/ 1352515 h 1548279"/>
              <a:gd name="connsiteX11" fmla="*/ 3744143 w 3939907"/>
              <a:gd name="connsiteY11" fmla="*/ 1548279 h 1548279"/>
              <a:gd name="connsiteX12" fmla="*/ 3283256 w 3939907"/>
              <a:gd name="connsiteY12" fmla="*/ 1548279 h 1548279"/>
              <a:gd name="connsiteX13" fmla="*/ 2298279 w 3939907"/>
              <a:gd name="connsiteY13" fmla="*/ 1548279 h 1548279"/>
              <a:gd name="connsiteX14" fmla="*/ 2298279 w 3939907"/>
              <a:gd name="connsiteY14" fmla="*/ 1548279 h 1548279"/>
              <a:gd name="connsiteX15" fmla="*/ 195764 w 3939907"/>
              <a:gd name="connsiteY15" fmla="*/ 1548279 h 1548279"/>
              <a:gd name="connsiteX16" fmla="*/ 0 w 3939907"/>
              <a:gd name="connsiteY16" fmla="*/ 1352515 h 1548279"/>
              <a:gd name="connsiteX17" fmla="*/ 0 w 3939907"/>
              <a:gd name="connsiteY17" fmla="*/ 863118 h 1548279"/>
              <a:gd name="connsiteX18" fmla="*/ 0 w 3939907"/>
              <a:gd name="connsiteY18" fmla="*/ 569477 h 1548279"/>
              <a:gd name="connsiteX19" fmla="*/ 0 w 3939907"/>
              <a:gd name="connsiteY19" fmla="*/ 569477 h 1548279"/>
              <a:gd name="connsiteX20" fmla="*/ 0 w 3939907"/>
              <a:gd name="connsiteY20" fmla="*/ 569481 h 1548279"/>
              <a:gd name="connsiteX0" fmla="*/ 0 w 3939907"/>
              <a:gd name="connsiteY0" fmla="*/ 569481 h 1548279"/>
              <a:gd name="connsiteX1" fmla="*/ 195764 w 3939907"/>
              <a:gd name="connsiteY1" fmla="*/ 373717 h 1548279"/>
              <a:gd name="connsiteX2" fmla="*/ 3232343 w 3939907"/>
              <a:gd name="connsiteY2" fmla="*/ 363885 h 1548279"/>
              <a:gd name="connsiteX3" fmla="*/ 3637468 w 3939907"/>
              <a:gd name="connsiteY3" fmla="*/ 0 h 1548279"/>
              <a:gd name="connsiteX4" fmla="*/ 3519231 w 3939907"/>
              <a:gd name="connsiteY4" fmla="*/ 373717 h 1548279"/>
              <a:gd name="connsiteX5" fmla="*/ 3744143 w 3939907"/>
              <a:gd name="connsiteY5" fmla="*/ 373717 h 1548279"/>
              <a:gd name="connsiteX6" fmla="*/ 3939907 w 3939907"/>
              <a:gd name="connsiteY6" fmla="*/ 569481 h 1548279"/>
              <a:gd name="connsiteX7" fmla="*/ 3939907 w 3939907"/>
              <a:gd name="connsiteY7" fmla="*/ 569477 h 1548279"/>
              <a:gd name="connsiteX8" fmla="*/ 3939907 w 3939907"/>
              <a:gd name="connsiteY8" fmla="*/ 569477 h 1548279"/>
              <a:gd name="connsiteX9" fmla="*/ 3939907 w 3939907"/>
              <a:gd name="connsiteY9" fmla="*/ 863118 h 1548279"/>
              <a:gd name="connsiteX10" fmla="*/ 3939907 w 3939907"/>
              <a:gd name="connsiteY10" fmla="*/ 1352515 h 1548279"/>
              <a:gd name="connsiteX11" fmla="*/ 3744143 w 3939907"/>
              <a:gd name="connsiteY11" fmla="*/ 1548279 h 1548279"/>
              <a:gd name="connsiteX12" fmla="*/ 3283256 w 3939907"/>
              <a:gd name="connsiteY12" fmla="*/ 1548279 h 1548279"/>
              <a:gd name="connsiteX13" fmla="*/ 2298279 w 3939907"/>
              <a:gd name="connsiteY13" fmla="*/ 1548279 h 1548279"/>
              <a:gd name="connsiteX14" fmla="*/ 2298279 w 3939907"/>
              <a:gd name="connsiteY14" fmla="*/ 1548279 h 1548279"/>
              <a:gd name="connsiteX15" fmla="*/ 195764 w 3939907"/>
              <a:gd name="connsiteY15" fmla="*/ 1548279 h 1548279"/>
              <a:gd name="connsiteX16" fmla="*/ 0 w 3939907"/>
              <a:gd name="connsiteY16" fmla="*/ 1352515 h 1548279"/>
              <a:gd name="connsiteX17" fmla="*/ 0 w 3939907"/>
              <a:gd name="connsiteY17" fmla="*/ 863118 h 1548279"/>
              <a:gd name="connsiteX18" fmla="*/ 0 w 3939907"/>
              <a:gd name="connsiteY18" fmla="*/ 569477 h 1548279"/>
              <a:gd name="connsiteX19" fmla="*/ 0 w 3939907"/>
              <a:gd name="connsiteY19" fmla="*/ 569477 h 1548279"/>
              <a:gd name="connsiteX20" fmla="*/ 0 w 3939907"/>
              <a:gd name="connsiteY20" fmla="*/ 569481 h 1548279"/>
              <a:gd name="connsiteX0" fmla="*/ 0 w 3939907"/>
              <a:gd name="connsiteY0" fmla="*/ 569481 h 1548279"/>
              <a:gd name="connsiteX1" fmla="*/ 195764 w 3939907"/>
              <a:gd name="connsiteY1" fmla="*/ 373717 h 1548279"/>
              <a:gd name="connsiteX2" fmla="*/ 3232343 w 3939907"/>
              <a:gd name="connsiteY2" fmla="*/ 363885 h 1548279"/>
              <a:gd name="connsiteX3" fmla="*/ 3637468 w 3939907"/>
              <a:gd name="connsiteY3" fmla="*/ 0 h 1548279"/>
              <a:gd name="connsiteX4" fmla="*/ 3519231 w 3939907"/>
              <a:gd name="connsiteY4" fmla="*/ 373717 h 1548279"/>
              <a:gd name="connsiteX5" fmla="*/ 3744143 w 3939907"/>
              <a:gd name="connsiteY5" fmla="*/ 373717 h 1548279"/>
              <a:gd name="connsiteX6" fmla="*/ 3939907 w 3939907"/>
              <a:gd name="connsiteY6" fmla="*/ 569481 h 1548279"/>
              <a:gd name="connsiteX7" fmla="*/ 3939907 w 3939907"/>
              <a:gd name="connsiteY7" fmla="*/ 569477 h 1548279"/>
              <a:gd name="connsiteX8" fmla="*/ 3939907 w 3939907"/>
              <a:gd name="connsiteY8" fmla="*/ 569477 h 1548279"/>
              <a:gd name="connsiteX9" fmla="*/ 3939907 w 3939907"/>
              <a:gd name="connsiteY9" fmla="*/ 863118 h 1548279"/>
              <a:gd name="connsiteX10" fmla="*/ 3939907 w 3939907"/>
              <a:gd name="connsiteY10" fmla="*/ 1352515 h 1548279"/>
              <a:gd name="connsiteX11" fmla="*/ 3744143 w 3939907"/>
              <a:gd name="connsiteY11" fmla="*/ 1548279 h 1548279"/>
              <a:gd name="connsiteX12" fmla="*/ 3283256 w 3939907"/>
              <a:gd name="connsiteY12" fmla="*/ 1548279 h 1548279"/>
              <a:gd name="connsiteX13" fmla="*/ 2298279 w 3939907"/>
              <a:gd name="connsiteY13" fmla="*/ 1548279 h 1548279"/>
              <a:gd name="connsiteX14" fmla="*/ 2298279 w 3939907"/>
              <a:gd name="connsiteY14" fmla="*/ 1548279 h 1548279"/>
              <a:gd name="connsiteX15" fmla="*/ 195764 w 3939907"/>
              <a:gd name="connsiteY15" fmla="*/ 1548279 h 1548279"/>
              <a:gd name="connsiteX16" fmla="*/ 0 w 3939907"/>
              <a:gd name="connsiteY16" fmla="*/ 1352515 h 1548279"/>
              <a:gd name="connsiteX17" fmla="*/ 0 w 3939907"/>
              <a:gd name="connsiteY17" fmla="*/ 863118 h 1548279"/>
              <a:gd name="connsiteX18" fmla="*/ 0 w 3939907"/>
              <a:gd name="connsiteY18" fmla="*/ 569477 h 1548279"/>
              <a:gd name="connsiteX19" fmla="*/ 0 w 3939907"/>
              <a:gd name="connsiteY19" fmla="*/ 569477 h 1548279"/>
              <a:gd name="connsiteX20" fmla="*/ 0 w 3939907"/>
              <a:gd name="connsiteY20" fmla="*/ 569481 h 1548279"/>
              <a:gd name="connsiteX0" fmla="*/ 0 w 3939907"/>
              <a:gd name="connsiteY0" fmla="*/ 569481 h 1548279"/>
              <a:gd name="connsiteX1" fmla="*/ 195764 w 3939907"/>
              <a:gd name="connsiteY1" fmla="*/ 373717 h 1548279"/>
              <a:gd name="connsiteX2" fmla="*/ 3232343 w 3939907"/>
              <a:gd name="connsiteY2" fmla="*/ 363885 h 1548279"/>
              <a:gd name="connsiteX3" fmla="*/ 3637468 w 3939907"/>
              <a:gd name="connsiteY3" fmla="*/ 0 h 1548279"/>
              <a:gd name="connsiteX4" fmla="*/ 3519231 w 3939907"/>
              <a:gd name="connsiteY4" fmla="*/ 373717 h 1548279"/>
              <a:gd name="connsiteX5" fmla="*/ 3744143 w 3939907"/>
              <a:gd name="connsiteY5" fmla="*/ 373717 h 1548279"/>
              <a:gd name="connsiteX6" fmla="*/ 3939907 w 3939907"/>
              <a:gd name="connsiteY6" fmla="*/ 569481 h 1548279"/>
              <a:gd name="connsiteX7" fmla="*/ 3939907 w 3939907"/>
              <a:gd name="connsiteY7" fmla="*/ 569477 h 1548279"/>
              <a:gd name="connsiteX8" fmla="*/ 3939907 w 3939907"/>
              <a:gd name="connsiteY8" fmla="*/ 569477 h 1548279"/>
              <a:gd name="connsiteX9" fmla="*/ 3939907 w 3939907"/>
              <a:gd name="connsiteY9" fmla="*/ 863118 h 1548279"/>
              <a:gd name="connsiteX10" fmla="*/ 3939907 w 3939907"/>
              <a:gd name="connsiteY10" fmla="*/ 1352515 h 1548279"/>
              <a:gd name="connsiteX11" fmla="*/ 3744143 w 3939907"/>
              <a:gd name="connsiteY11" fmla="*/ 1548279 h 1548279"/>
              <a:gd name="connsiteX12" fmla="*/ 3283256 w 3939907"/>
              <a:gd name="connsiteY12" fmla="*/ 1548279 h 1548279"/>
              <a:gd name="connsiteX13" fmla="*/ 2298279 w 3939907"/>
              <a:gd name="connsiteY13" fmla="*/ 1548279 h 1548279"/>
              <a:gd name="connsiteX14" fmla="*/ 2298279 w 3939907"/>
              <a:gd name="connsiteY14" fmla="*/ 1548279 h 1548279"/>
              <a:gd name="connsiteX15" fmla="*/ 195764 w 3939907"/>
              <a:gd name="connsiteY15" fmla="*/ 1548279 h 1548279"/>
              <a:gd name="connsiteX16" fmla="*/ 0 w 3939907"/>
              <a:gd name="connsiteY16" fmla="*/ 1352515 h 1548279"/>
              <a:gd name="connsiteX17" fmla="*/ 0 w 3939907"/>
              <a:gd name="connsiteY17" fmla="*/ 863118 h 1548279"/>
              <a:gd name="connsiteX18" fmla="*/ 0 w 3939907"/>
              <a:gd name="connsiteY18" fmla="*/ 569477 h 1548279"/>
              <a:gd name="connsiteX19" fmla="*/ 0 w 3939907"/>
              <a:gd name="connsiteY19" fmla="*/ 569477 h 1548279"/>
              <a:gd name="connsiteX20" fmla="*/ 0 w 3939907"/>
              <a:gd name="connsiteY20" fmla="*/ 569481 h 1548279"/>
              <a:gd name="connsiteX0" fmla="*/ 0 w 3939907"/>
              <a:gd name="connsiteY0" fmla="*/ 750456 h 1729254"/>
              <a:gd name="connsiteX1" fmla="*/ 195764 w 3939907"/>
              <a:gd name="connsiteY1" fmla="*/ 554692 h 1729254"/>
              <a:gd name="connsiteX2" fmla="*/ 3232343 w 3939907"/>
              <a:gd name="connsiteY2" fmla="*/ 544860 h 1729254"/>
              <a:gd name="connsiteX3" fmla="*/ 3799393 w 3939907"/>
              <a:gd name="connsiteY3" fmla="*/ 0 h 1729254"/>
              <a:gd name="connsiteX4" fmla="*/ 3519231 w 3939907"/>
              <a:gd name="connsiteY4" fmla="*/ 554692 h 1729254"/>
              <a:gd name="connsiteX5" fmla="*/ 3744143 w 3939907"/>
              <a:gd name="connsiteY5" fmla="*/ 554692 h 1729254"/>
              <a:gd name="connsiteX6" fmla="*/ 3939907 w 3939907"/>
              <a:gd name="connsiteY6" fmla="*/ 750456 h 1729254"/>
              <a:gd name="connsiteX7" fmla="*/ 3939907 w 3939907"/>
              <a:gd name="connsiteY7" fmla="*/ 750452 h 1729254"/>
              <a:gd name="connsiteX8" fmla="*/ 3939907 w 3939907"/>
              <a:gd name="connsiteY8" fmla="*/ 750452 h 1729254"/>
              <a:gd name="connsiteX9" fmla="*/ 3939907 w 3939907"/>
              <a:gd name="connsiteY9" fmla="*/ 1044093 h 1729254"/>
              <a:gd name="connsiteX10" fmla="*/ 3939907 w 3939907"/>
              <a:gd name="connsiteY10" fmla="*/ 1533490 h 1729254"/>
              <a:gd name="connsiteX11" fmla="*/ 3744143 w 3939907"/>
              <a:gd name="connsiteY11" fmla="*/ 1729254 h 1729254"/>
              <a:gd name="connsiteX12" fmla="*/ 3283256 w 3939907"/>
              <a:gd name="connsiteY12" fmla="*/ 1729254 h 1729254"/>
              <a:gd name="connsiteX13" fmla="*/ 2298279 w 3939907"/>
              <a:gd name="connsiteY13" fmla="*/ 1729254 h 1729254"/>
              <a:gd name="connsiteX14" fmla="*/ 2298279 w 3939907"/>
              <a:gd name="connsiteY14" fmla="*/ 1729254 h 1729254"/>
              <a:gd name="connsiteX15" fmla="*/ 195764 w 3939907"/>
              <a:gd name="connsiteY15" fmla="*/ 1729254 h 1729254"/>
              <a:gd name="connsiteX16" fmla="*/ 0 w 3939907"/>
              <a:gd name="connsiteY16" fmla="*/ 1533490 h 1729254"/>
              <a:gd name="connsiteX17" fmla="*/ 0 w 3939907"/>
              <a:gd name="connsiteY17" fmla="*/ 1044093 h 1729254"/>
              <a:gd name="connsiteX18" fmla="*/ 0 w 3939907"/>
              <a:gd name="connsiteY18" fmla="*/ 750452 h 1729254"/>
              <a:gd name="connsiteX19" fmla="*/ 0 w 3939907"/>
              <a:gd name="connsiteY19" fmla="*/ 750452 h 1729254"/>
              <a:gd name="connsiteX20" fmla="*/ 0 w 3939907"/>
              <a:gd name="connsiteY20" fmla="*/ 750456 h 1729254"/>
              <a:gd name="connsiteX0" fmla="*/ 0 w 3939907"/>
              <a:gd name="connsiteY0" fmla="*/ 750456 h 1729254"/>
              <a:gd name="connsiteX1" fmla="*/ 195764 w 3939907"/>
              <a:gd name="connsiteY1" fmla="*/ 554692 h 1729254"/>
              <a:gd name="connsiteX2" fmla="*/ 3232343 w 3939907"/>
              <a:gd name="connsiteY2" fmla="*/ 544860 h 1729254"/>
              <a:gd name="connsiteX3" fmla="*/ 3799393 w 3939907"/>
              <a:gd name="connsiteY3" fmla="*/ 0 h 1729254"/>
              <a:gd name="connsiteX4" fmla="*/ 3519231 w 3939907"/>
              <a:gd name="connsiteY4" fmla="*/ 554692 h 1729254"/>
              <a:gd name="connsiteX5" fmla="*/ 3744143 w 3939907"/>
              <a:gd name="connsiteY5" fmla="*/ 554692 h 1729254"/>
              <a:gd name="connsiteX6" fmla="*/ 3939907 w 3939907"/>
              <a:gd name="connsiteY6" fmla="*/ 750456 h 1729254"/>
              <a:gd name="connsiteX7" fmla="*/ 3939907 w 3939907"/>
              <a:gd name="connsiteY7" fmla="*/ 750452 h 1729254"/>
              <a:gd name="connsiteX8" fmla="*/ 3939907 w 3939907"/>
              <a:gd name="connsiteY8" fmla="*/ 750452 h 1729254"/>
              <a:gd name="connsiteX9" fmla="*/ 3939907 w 3939907"/>
              <a:gd name="connsiteY9" fmla="*/ 1044093 h 1729254"/>
              <a:gd name="connsiteX10" fmla="*/ 3939907 w 3939907"/>
              <a:gd name="connsiteY10" fmla="*/ 1533490 h 1729254"/>
              <a:gd name="connsiteX11" fmla="*/ 3744143 w 3939907"/>
              <a:gd name="connsiteY11" fmla="*/ 1729254 h 1729254"/>
              <a:gd name="connsiteX12" fmla="*/ 3283256 w 3939907"/>
              <a:gd name="connsiteY12" fmla="*/ 1729254 h 1729254"/>
              <a:gd name="connsiteX13" fmla="*/ 2298279 w 3939907"/>
              <a:gd name="connsiteY13" fmla="*/ 1729254 h 1729254"/>
              <a:gd name="connsiteX14" fmla="*/ 2298279 w 3939907"/>
              <a:gd name="connsiteY14" fmla="*/ 1729254 h 1729254"/>
              <a:gd name="connsiteX15" fmla="*/ 195764 w 3939907"/>
              <a:gd name="connsiteY15" fmla="*/ 1729254 h 1729254"/>
              <a:gd name="connsiteX16" fmla="*/ 0 w 3939907"/>
              <a:gd name="connsiteY16" fmla="*/ 1533490 h 1729254"/>
              <a:gd name="connsiteX17" fmla="*/ 0 w 3939907"/>
              <a:gd name="connsiteY17" fmla="*/ 1044093 h 1729254"/>
              <a:gd name="connsiteX18" fmla="*/ 0 w 3939907"/>
              <a:gd name="connsiteY18" fmla="*/ 750452 h 1729254"/>
              <a:gd name="connsiteX19" fmla="*/ 0 w 3939907"/>
              <a:gd name="connsiteY19" fmla="*/ 750452 h 1729254"/>
              <a:gd name="connsiteX20" fmla="*/ 0 w 3939907"/>
              <a:gd name="connsiteY20" fmla="*/ 750456 h 1729254"/>
              <a:gd name="connsiteX0" fmla="*/ 0 w 3939907"/>
              <a:gd name="connsiteY0" fmla="*/ 750456 h 1729254"/>
              <a:gd name="connsiteX1" fmla="*/ 195764 w 3939907"/>
              <a:gd name="connsiteY1" fmla="*/ 554692 h 1729254"/>
              <a:gd name="connsiteX2" fmla="*/ 3232343 w 3939907"/>
              <a:gd name="connsiteY2" fmla="*/ 544860 h 1729254"/>
              <a:gd name="connsiteX3" fmla="*/ 3799393 w 3939907"/>
              <a:gd name="connsiteY3" fmla="*/ 0 h 1729254"/>
              <a:gd name="connsiteX4" fmla="*/ 3519231 w 3939907"/>
              <a:gd name="connsiteY4" fmla="*/ 554692 h 1729254"/>
              <a:gd name="connsiteX5" fmla="*/ 3744143 w 3939907"/>
              <a:gd name="connsiteY5" fmla="*/ 554692 h 1729254"/>
              <a:gd name="connsiteX6" fmla="*/ 3939907 w 3939907"/>
              <a:gd name="connsiteY6" fmla="*/ 750456 h 1729254"/>
              <a:gd name="connsiteX7" fmla="*/ 3939907 w 3939907"/>
              <a:gd name="connsiteY7" fmla="*/ 750452 h 1729254"/>
              <a:gd name="connsiteX8" fmla="*/ 3939907 w 3939907"/>
              <a:gd name="connsiteY8" fmla="*/ 750452 h 1729254"/>
              <a:gd name="connsiteX9" fmla="*/ 3939907 w 3939907"/>
              <a:gd name="connsiteY9" fmla="*/ 1044093 h 1729254"/>
              <a:gd name="connsiteX10" fmla="*/ 3939907 w 3939907"/>
              <a:gd name="connsiteY10" fmla="*/ 1533490 h 1729254"/>
              <a:gd name="connsiteX11" fmla="*/ 3744143 w 3939907"/>
              <a:gd name="connsiteY11" fmla="*/ 1729254 h 1729254"/>
              <a:gd name="connsiteX12" fmla="*/ 3283256 w 3939907"/>
              <a:gd name="connsiteY12" fmla="*/ 1729254 h 1729254"/>
              <a:gd name="connsiteX13" fmla="*/ 2298279 w 3939907"/>
              <a:gd name="connsiteY13" fmla="*/ 1729254 h 1729254"/>
              <a:gd name="connsiteX14" fmla="*/ 2298279 w 3939907"/>
              <a:gd name="connsiteY14" fmla="*/ 1729254 h 1729254"/>
              <a:gd name="connsiteX15" fmla="*/ 195764 w 3939907"/>
              <a:gd name="connsiteY15" fmla="*/ 1729254 h 1729254"/>
              <a:gd name="connsiteX16" fmla="*/ 0 w 3939907"/>
              <a:gd name="connsiteY16" fmla="*/ 1533490 h 1729254"/>
              <a:gd name="connsiteX17" fmla="*/ 0 w 3939907"/>
              <a:gd name="connsiteY17" fmla="*/ 1044093 h 1729254"/>
              <a:gd name="connsiteX18" fmla="*/ 0 w 3939907"/>
              <a:gd name="connsiteY18" fmla="*/ 750452 h 1729254"/>
              <a:gd name="connsiteX19" fmla="*/ 0 w 3939907"/>
              <a:gd name="connsiteY19" fmla="*/ 750452 h 1729254"/>
              <a:gd name="connsiteX20" fmla="*/ 0 w 3939907"/>
              <a:gd name="connsiteY20" fmla="*/ 750456 h 1729254"/>
              <a:gd name="connsiteX0" fmla="*/ 0 w 3939907"/>
              <a:gd name="connsiteY0" fmla="*/ 750456 h 1729254"/>
              <a:gd name="connsiteX1" fmla="*/ 195764 w 3939907"/>
              <a:gd name="connsiteY1" fmla="*/ 554692 h 1729254"/>
              <a:gd name="connsiteX2" fmla="*/ 3232343 w 3939907"/>
              <a:gd name="connsiteY2" fmla="*/ 544860 h 1729254"/>
              <a:gd name="connsiteX3" fmla="*/ 3799393 w 3939907"/>
              <a:gd name="connsiteY3" fmla="*/ 0 h 1729254"/>
              <a:gd name="connsiteX4" fmla="*/ 3519231 w 3939907"/>
              <a:gd name="connsiteY4" fmla="*/ 554692 h 1729254"/>
              <a:gd name="connsiteX5" fmla="*/ 3744143 w 3939907"/>
              <a:gd name="connsiteY5" fmla="*/ 554692 h 1729254"/>
              <a:gd name="connsiteX6" fmla="*/ 3939907 w 3939907"/>
              <a:gd name="connsiteY6" fmla="*/ 750456 h 1729254"/>
              <a:gd name="connsiteX7" fmla="*/ 3939907 w 3939907"/>
              <a:gd name="connsiteY7" fmla="*/ 750452 h 1729254"/>
              <a:gd name="connsiteX8" fmla="*/ 3939907 w 3939907"/>
              <a:gd name="connsiteY8" fmla="*/ 750452 h 1729254"/>
              <a:gd name="connsiteX9" fmla="*/ 3939907 w 3939907"/>
              <a:gd name="connsiteY9" fmla="*/ 1044093 h 1729254"/>
              <a:gd name="connsiteX10" fmla="*/ 3939907 w 3939907"/>
              <a:gd name="connsiteY10" fmla="*/ 1533490 h 1729254"/>
              <a:gd name="connsiteX11" fmla="*/ 3744143 w 3939907"/>
              <a:gd name="connsiteY11" fmla="*/ 1729254 h 1729254"/>
              <a:gd name="connsiteX12" fmla="*/ 3283256 w 3939907"/>
              <a:gd name="connsiteY12" fmla="*/ 1729254 h 1729254"/>
              <a:gd name="connsiteX13" fmla="*/ 2298279 w 3939907"/>
              <a:gd name="connsiteY13" fmla="*/ 1729254 h 1729254"/>
              <a:gd name="connsiteX14" fmla="*/ 2298279 w 3939907"/>
              <a:gd name="connsiteY14" fmla="*/ 1729254 h 1729254"/>
              <a:gd name="connsiteX15" fmla="*/ 195764 w 3939907"/>
              <a:gd name="connsiteY15" fmla="*/ 1729254 h 1729254"/>
              <a:gd name="connsiteX16" fmla="*/ 0 w 3939907"/>
              <a:gd name="connsiteY16" fmla="*/ 1533490 h 1729254"/>
              <a:gd name="connsiteX17" fmla="*/ 0 w 3939907"/>
              <a:gd name="connsiteY17" fmla="*/ 1044093 h 1729254"/>
              <a:gd name="connsiteX18" fmla="*/ 0 w 3939907"/>
              <a:gd name="connsiteY18" fmla="*/ 750452 h 1729254"/>
              <a:gd name="connsiteX19" fmla="*/ 0 w 3939907"/>
              <a:gd name="connsiteY19" fmla="*/ 750452 h 1729254"/>
              <a:gd name="connsiteX20" fmla="*/ 0 w 3939907"/>
              <a:gd name="connsiteY20" fmla="*/ 750456 h 1729254"/>
              <a:gd name="connsiteX0" fmla="*/ 0 w 3939907"/>
              <a:gd name="connsiteY0" fmla="*/ 636156 h 1614954"/>
              <a:gd name="connsiteX1" fmla="*/ 195764 w 3939907"/>
              <a:gd name="connsiteY1" fmla="*/ 440392 h 1614954"/>
              <a:gd name="connsiteX2" fmla="*/ 3232343 w 3939907"/>
              <a:gd name="connsiteY2" fmla="*/ 430560 h 1614954"/>
              <a:gd name="connsiteX3" fmla="*/ 3704143 w 3939907"/>
              <a:gd name="connsiteY3" fmla="*/ 0 h 1614954"/>
              <a:gd name="connsiteX4" fmla="*/ 3519231 w 3939907"/>
              <a:gd name="connsiteY4" fmla="*/ 440392 h 1614954"/>
              <a:gd name="connsiteX5" fmla="*/ 3744143 w 3939907"/>
              <a:gd name="connsiteY5" fmla="*/ 440392 h 1614954"/>
              <a:gd name="connsiteX6" fmla="*/ 3939907 w 3939907"/>
              <a:gd name="connsiteY6" fmla="*/ 636156 h 1614954"/>
              <a:gd name="connsiteX7" fmla="*/ 3939907 w 3939907"/>
              <a:gd name="connsiteY7" fmla="*/ 636152 h 1614954"/>
              <a:gd name="connsiteX8" fmla="*/ 3939907 w 3939907"/>
              <a:gd name="connsiteY8" fmla="*/ 636152 h 1614954"/>
              <a:gd name="connsiteX9" fmla="*/ 3939907 w 3939907"/>
              <a:gd name="connsiteY9" fmla="*/ 929793 h 1614954"/>
              <a:gd name="connsiteX10" fmla="*/ 3939907 w 3939907"/>
              <a:gd name="connsiteY10" fmla="*/ 1419190 h 1614954"/>
              <a:gd name="connsiteX11" fmla="*/ 3744143 w 3939907"/>
              <a:gd name="connsiteY11" fmla="*/ 1614954 h 1614954"/>
              <a:gd name="connsiteX12" fmla="*/ 3283256 w 3939907"/>
              <a:gd name="connsiteY12" fmla="*/ 1614954 h 1614954"/>
              <a:gd name="connsiteX13" fmla="*/ 2298279 w 3939907"/>
              <a:gd name="connsiteY13" fmla="*/ 1614954 h 1614954"/>
              <a:gd name="connsiteX14" fmla="*/ 2298279 w 3939907"/>
              <a:gd name="connsiteY14" fmla="*/ 1614954 h 1614954"/>
              <a:gd name="connsiteX15" fmla="*/ 195764 w 3939907"/>
              <a:gd name="connsiteY15" fmla="*/ 1614954 h 1614954"/>
              <a:gd name="connsiteX16" fmla="*/ 0 w 3939907"/>
              <a:gd name="connsiteY16" fmla="*/ 1419190 h 1614954"/>
              <a:gd name="connsiteX17" fmla="*/ 0 w 3939907"/>
              <a:gd name="connsiteY17" fmla="*/ 929793 h 1614954"/>
              <a:gd name="connsiteX18" fmla="*/ 0 w 3939907"/>
              <a:gd name="connsiteY18" fmla="*/ 636152 h 1614954"/>
              <a:gd name="connsiteX19" fmla="*/ 0 w 3939907"/>
              <a:gd name="connsiteY19" fmla="*/ 636152 h 1614954"/>
              <a:gd name="connsiteX20" fmla="*/ 0 w 3939907"/>
              <a:gd name="connsiteY20" fmla="*/ 636156 h 1614954"/>
              <a:gd name="connsiteX0" fmla="*/ 0 w 3952875"/>
              <a:gd name="connsiteY0" fmla="*/ 636156 h 1614954"/>
              <a:gd name="connsiteX1" fmla="*/ 195764 w 3952875"/>
              <a:gd name="connsiteY1" fmla="*/ 440392 h 1614954"/>
              <a:gd name="connsiteX2" fmla="*/ 3232343 w 3952875"/>
              <a:gd name="connsiteY2" fmla="*/ 430560 h 1614954"/>
              <a:gd name="connsiteX3" fmla="*/ 3704143 w 3952875"/>
              <a:gd name="connsiteY3" fmla="*/ 0 h 1614954"/>
              <a:gd name="connsiteX4" fmla="*/ 3519231 w 3952875"/>
              <a:gd name="connsiteY4" fmla="*/ 440392 h 1614954"/>
              <a:gd name="connsiteX5" fmla="*/ 3744143 w 3952875"/>
              <a:gd name="connsiteY5" fmla="*/ 440392 h 1614954"/>
              <a:gd name="connsiteX6" fmla="*/ 3939907 w 3952875"/>
              <a:gd name="connsiteY6" fmla="*/ 636156 h 1614954"/>
              <a:gd name="connsiteX7" fmla="*/ 3939907 w 3952875"/>
              <a:gd name="connsiteY7" fmla="*/ 636152 h 1614954"/>
              <a:gd name="connsiteX8" fmla="*/ 3939907 w 3952875"/>
              <a:gd name="connsiteY8" fmla="*/ 636152 h 1614954"/>
              <a:gd name="connsiteX9" fmla="*/ 3952875 w 3952875"/>
              <a:gd name="connsiteY9" fmla="*/ 767845 h 1614954"/>
              <a:gd name="connsiteX10" fmla="*/ 3939907 w 3952875"/>
              <a:gd name="connsiteY10" fmla="*/ 929793 h 1614954"/>
              <a:gd name="connsiteX11" fmla="*/ 3939907 w 3952875"/>
              <a:gd name="connsiteY11" fmla="*/ 1419190 h 1614954"/>
              <a:gd name="connsiteX12" fmla="*/ 3744143 w 3952875"/>
              <a:gd name="connsiteY12" fmla="*/ 1614954 h 1614954"/>
              <a:gd name="connsiteX13" fmla="*/ 3283256 w 3952875"/>
              <a:gd name="connsiteY13" fmla="*/ 1614954 h 1614954"/>
              <a:gd name="connsiteX14" fmla="*/ 2298279 w 3952875"/>
              <a:gd name="connsiteY14" fmla="*/ 1614954 h 1614954"/>
              <a:gd name="connsiteX15" fmla="*/ 2298279 w 3952875"/>
              <a:gd name="connsiteY15" fmla="*/ 1614954 h 1614954"/>
              <a:gd name="connsiteX16" fmla="*/ 195764 w 3952875"/>
              <a:gd name="connsiteY16" fmla="*/ 1614954 h 1614954"/>
              <a:gd name="connsiteX17" fmla="*/ 0 w 3952875"/>
              <a:gd name="connsiteY17" fmla="*/ 1419190 h 1614954"/>
              <a:gd name="connsiteX18" fmla="*/ 0 w 3952875"/>
              <a:gd name="connsiteY18" fmla="*/ 929793 h 1614954"/>
              <a:gd name="connsiteX19" fmla="*/ 0 w 3952875"/>
              <a:gd name="connsiteY19" fmla="*/ 636152 h 1614954"/>
              <a:gd name="connsiteX20" fmla="*/ 0 w 3952875"/>
              <a:gd name="connsiteY20" fmla="*/ 636152 h 1614954"/>
              <a:gd name="connsiteX21" fmla="*/ 0 w 3952875"/>
              <a:gd name="connsiteY21" fmla="*/ 636156 h 1614954"/>
              <a:gd name="connsiteX0" fmla="*/ 0 w 4086225"/>
              <a:gd name="connsiteY0" fmla="*/ 636156 h 1614954"/>
              <a:gd name="connsiteX1" fmla="*/ 195764 w 4086225"/>
              <a:gd name="connsiteY1" fmla="*/ 440392 h 1614954"/>
              <a:gd name="connsiteX2" fmla="*/ 3232343 w 4086225"/>
              <a:gd name="connsiteY2" fmla="*/ 430560 h 1614954"/>
              <a:gd name="connsiteX3" fmla="*/ 3704143 w 4086225"/>
              <a:gd name="connsiteY3" fmla="*/ 0 h 1614954"/>
              <a:gd name="connsiteX4" fmla="*/ 3519231 w 4086225"/>
              <a:gd name="connsiteY4" fmla="*/ 440392 h 1614954"/>
              <a:gd name="connsiteX5" fmla="*/ 3744143 w 4086225"/>
              <a:gd name="connsiteY5" fmla="*/ 440392 h 1614954"/>
              <a:gd name="connsiteX6" fmla="*/ 3939907 w 4086225"/>
              <a:gd name="connsiteY6" fmla="*/ 636156 h 1614954"/>
              <a:gd name="connsiteX7" fmla="*/ 3939907 w 4086225"/>
              <a:gd name="connsiteY7" fmla="*/ 636152 h 1614954"/>
              <a:gd name="connsiteX8" fmla="*/ 3939907 w 4086225"/>
              <a:gd name="connsiteY8" fmla="*/ 636152 h 1614954"/>
              <a:gd name="connsiteX9" fmla="*/ 4086225 w 4086225"/>
              <a:gd name="connsiteY9" fmla="*/ 777370 h 1614954"/>
              <a:gd name="connsiteX10" fmla="*/ 3939907 w 4086225"/>
              <a:gd name="connsiteY10" fmla="*/ 929793 h 1614954"/>
              <a:gd name="connsiteX11" fmla="*/ 3939907 w 4086225"/>
              <a:gd name="connsiteY11" fmla="*/ 1419190 h 1614954"/>
              <a:gd name="connsiteX12" fmla="*/ 3744143 w 4086225"/>
              <a:gd name="connsiteY12" fmla="*/ 1614954 h 1614954"/>
              <a:gd name="connsiteX13" fmla="*/ 3283256 w 4086225"/>
              <a:gd name="connsiteY13" fmla="*/ 1614954 h 1614954"/>
              <a:gd name="connsiteX14" fmla="*/ 2298279 w 4086225"/>
              <a:gd name="connsiteY14" fmla="*/ 1614954 h 1614954"/>
              <a:gd name="connsiteX15" fmla="*/ 2298279 w 4086225"/>
              <a:gd name="connsiteY15" fmla="*/ 1614954 h 1614954"/>
              <a:gd name="connsiteX16" fmla="*/ 195764 w 4086225"/>
              <a:gd name="connsiteY16" fmla="*/ 1614954 h 1614954"/>
              <a:gd name="connsiteX17" fmla="*/ 0 w 4086225"/>
              <a:gd name="connsiteY17" fmla="*/ 1419190 h 1614954"/>
              <a:gd name="connsiteX18" fmla="*/ 0 w 4086225"/>
              <a:gd name="connsiteY18" fmla="*/ 929793 h 1614954"/>
              <a:gd name="connsiteX19" fmla="*/ 0 w 4086225"/>
              <a:gd name="connsiteY19" fmla="*/ 636152 h 1614954"/>
              <a:gd name="connsiteX20" fmla="*/ 0 w 4086225"/>
              <a:gd name="connsiteY20" fmla="*/ 636152 h 1614954"/>
              <a:gd name="connsiteX21" fmla="*/ 0 w 4086225"/>
              <a:gd name="connsiteY21" fmla="*/ 636156 h 1614954"/>
              <a:gd name="connsiteX0" fmla="*/ 0 w 4086225"/>
              <a:gd name="connsiteY0" fmla="*/ 636156 h 1614954"/>
              <a:gd name="connsiteX1" fmla="*/ 195764 w 4086225"/>
              <a:gd name="connsiteY1" fmla="*/ 440392 h 1614954"/>
              <a:gd name="connsiteX2" fmla="*/ 3232343 w 4086225"/>
              <a:gd name="connsiteY2" fmla="*/ 430560 h 1614954"/>
              <a:gd name="connsiteX3" fmla="*/ 3704143 w 4086225"/>
              <a:gd name="connsiteY3" fmla="*/ 0 h 1614954"/>
              <a:gd name="connsiteX4" fmla="*/ 3519231 w 4086225"/>
              <a:gd name="connsiteY4" fmla="*/ 440392 h 1614954"/>
              <a:gd name="connsiteX5" fmla="*/ 3744143 w 4086225"/>
              <a:gd name="connsiteY5" fmla="*/ 440392 h 1614954"/>
              <a:gd name="connsiteX6" fmla="*/ 3939907 w 4086225"/>
              <a:gd name="connsiteY6" fmla="*/ 636156 h 1614954"/>
              <a:gd name="connsiteX7" fmla="*/ 3939907 w 4086225"/>
              <a:gd name="connsiteY7" fmla="*/ 636152 h 1614954"/>
              <a:gd name="connsiteX8" fmla="*/ 3939907 w 4086225"/>
              <a:gd name="connsiteY8" fmla="*/ 636152 h 1614954"/>
              <a:gd name="connsiteX9" fmla="*/ 4086225 w 4086225"/>
              <a:gd name="connsiteY9" fmla="*/ 777370 h 1614954"/>
              <a:gd name="connsiteX10" fmla="*/ 3939907 w 4086225"/>
              <a:gd name="connsiteY10" fmla="*/ 929793 h 1614954"/>
              <a:gd name="connsiteX11" fmla="*/ 3939907 w 4086225"/>
              <a:gd name="connsiteY11" fmla="*/ 1419190 h 1614954"/>
              <a:gd name="connsiteX12" fmla="*/ 3744143 w 4086225"/>
              <a:gd name="connsiteY12" fmla="*/ 1614954 h 1614954"/>
              <a:gd name="connsiteX13" fmla="*/ 3283256 w 4086225"/>
              <a:gd name="connsiteY13" fmla="*/ 1614954 h 1614954"/>
              <a:gd name="connsiteX14" fmla="*/ 2298279 w 4086225"/>
              <a:gd name="connsiteY14" fmla="*/ 1614954 h 1614954"/>
              <a:gd name="connsiteX15" fmla="*/ 2298279 w 4086225"/>
              <a:gd name="connsiteY15" fmla="*/ 1614954 h 1614954"/>
              <a:gd name="connsiteX16" fmla="*/ 195764 w 4086225"/>
              <a:gd name="connsiteY16" fmla="*/ 1614954 h 1614954"/>
              <a:gd name="connsiteX17" fmla="*/ 0 w 4086225"/>
              <a:gd name="connsiteY17" fmla="*/ 1419190 h 1614954"/>
              <a:gd name="connsiteX18" fmla="*/ 0 w 4086225"/>
              <a:gd name="connsiteY18" fmla="*/ 929793 h 1614954"/>
              <a:gd name="connsiteX19" fmla="*/ 0 w 4086225"/>
              <a:gd name="connsiteY19" fmla="*/ 636152 h 1614954"/>
              <a:gd name="connsiteX20" fmla="*/ 0 w 4086225"/>
              <a:gd name="connsiteY20" fmla="*/ 636152 h 1614954"/>
              <a:gd name="connsiteX21" fmla="*/ 0 w 4086225"/>
              <a:gd name="connsiteY21" fmla="*/ 636156 h 1614954"/>
              <a:gd name="connsiteX0" fmla="*/ 0 w 4086225"/>
              <a:gd name="connsiteY0" fmla="*/ 636156 h 1614954"/>
              <a:gd name="connsiteX1" fmla="*/ 195764 w 4086225"/>
              <a:gd name="connsiteY1" fmla="*/ 440392 h 1614954"/>
              <a:gd name="connsiteX2" fmla="*/ 3232343 w 4086225"/>
              <a:gd name="connsiteY2" fmla="*/ 430560 h 1614954"/>
              <a:gd name="connsiteX3" fmla="*/ 3704143 w 4086225"/>
              <a:gd name="connsiteY3" fmla="*/ 0 h 1614954"/>
              <a:gd name="connsiteX4" fmla="*/ 3519231 w 4086225"/>
              <a:gd name="connsiteY4" fmla="*/ 440392 h 1614954"/>
              <a:gd name="connsiteX5" fmla="*/ 3744143 w 4086225"/>
              <a:gd name="connsiteY5" fmla="*/ 440392 h 1614954"/>
              <a:gd name="connsiteX6" fmla="*/ 3939907 w 4086225"/>
              <a:gd name="connsiteY6" fmla="*/ 636156 h 1614954"/>
              <a:gd name="connsiteX7" fmla="*/ 3939907 w 4086225"/>
              <a:gd name="connsiteY7" fmla="*/ 636152 h 1614954"/>
              <a:gd name="connsiteX8" fmla="*/ 3939907 w 4086225"/>
              <a:gd name="connsiteY8" fmla="*/ 636152 h 1614954"/>
              <a:gd name="connsiteX9" fmla="*/ 4086225 w 4086225"/>
              <a:gd name="connsiteY9" fmla="*/ 777370 h 1614954"/>
              <a:gd name="connsiteX10" fmla="*/ 3939907 w 4086225"/>
              <a:gd name="connsiteY10" fmla="*/ 929793 h 1614954"/>
              <a:gd name="connsiteX11" fmla="*/ 3939907 w 4086225"/>
              <a:gd name="connsiteY11" fmla="*/ 1419190 h 1614954"/>
              <a:gd name="connsiteX12" fmla="*/ 3744143 w 4086225"/>
              <a:gd name="connsiteY12" fmla="*/ 1614954 h 1614954"/>
              <a:gd name="connsiteX13" fmla="*/ 3283256 w 4086225"/>
              <a:gd name="connsiteY13" fmla="*/ 1614954 h 1614954"/>
              <a:gd name="connsiteX14" fmla="*/ 2298279 w 4086225"/>
              <a:gd name="connsiteY14" fmla="*/ 1614954 h 1614954"/>
              <a:gd name="connsiteX15" fmla="*/ 2298279 w 4086225"/>
              <a:gd name="connsiteY15" fmla="*/ 1614954 h 1614954"/>
              <a:gd name="connsiteX16" fmla="*/ 195764 w 4086225"/>
              <a:gd name="connsiteY16" fmla="*/ 1614954 h 1614954"/>
              <a:gd name="connsiteX17" fmla="*/ 0 w 4086225"/>
              <a:gd name="connsiteY17" fmla="*/ 1419190 h 1614954"/>
              <a:gd name="connsiteX18" fmla="*/ 0 w 4086225"/>
              <a:gd name="connsiteY18" fmla="*/ 929793 h 1614954"/>
              <a:gd name="connsiteX19" fmla="*/ 0 w 4086225"/>
              <a:gd name="connsiteY19" fmla="*/ 636152 h 1614954"/>
              <a:gd name="connsiteX20" fmla="*/ 0 w 4086225"/>
              <a:gd name="connsiteY20" fmla="*/ 636152 h 1614954"/>
              <a:gd name="connsiteX21" fmla="*/ 0 w 4086225"/>
              <a:gd name="connsiteY21" fmla="*/ 636156 h 1614954"/>
              <a:gd name="connsiteX0" fmla="*/ 0 w 4086225"/>
              <a:gd name="connsiteY0" fmla="*/ 205596 h 1184394"/>
              <a:gd name="connsiteX1" fmla="*/ 195764 w 4086225"/>
              <a:gd name="connsiteY1" fmla="*/ 9832 h 1184394"/>
              <a:gd name="connsiteX2" fmla="*/ 3232343 w 4086225"/>
              <a:gd name="connsiteY2" fmla="*/ 0 h 1184394"/>
              <a:gd name="connsiteX3" fmla="*/ 3519231 w 4086225"/>
              <a:gd name="connsiteY3" fmla="*/ 9832 h 1184394"/>
              <a:gd name="connsiteX4" fmla="*/ 3744143 w 4086225"/>
              <a:gd name="connsiteY4" fmla="*/ 9832 h 1184394"/>
              <a:gd name="connsiteX5" fmla="*/ 3939907 w 4086225"/>
              <a:gd name="connsiteY5" fmla="*/ 205596 h 1184394"/>
              <a:gd name="connsiteX6" fmla="*/ 3939907 w 4086225"/>
              <a:gd name="connsiteY6" fmla="*/ 205592 h 1184394"/>
              <a:gd name="connsiteX7" fmla="*/ 3939907 w 4086225"/>
              <a:gd name="connsiteY7" fmla="*/ 205592 h 1184394"/>
              <a:gd name="connsiteX8" fmla="*/ 4086225 w 4086225"/>
              <a:gd name="connsiteY8" fmla="*/ 346810 h 1184394"/>
              <a:gd name="connsiteX9" fmla="*/ 3939907 w 4086225"/>
              <a:gd name="connsiteY9" fmla="*/ 499233 h 1184394"/>
              <a:gd name="connsiteX10" fmla="*/ 3939907 w 4086225"/>
              <a:gd name="connsiteY10" fmla="*/ 988630 h 1184394"/>
              <a:gd name="connsiteX11" fmla="*/ 3744143 w 4086225"/>
              <a:gd name="connsiteY11" fmla="*/ 1184394 h 1184394"/>
              <a:gd name="connsiteX12" fmla="*/ 3283256 w 4086225"/>
              <a:gd name="connsiteY12" fmla="*/ 1184394 h 1184394"/>
              <a:gd name="connsiteX13" fmla="*/ 2298279 w 4086225"/>
              <a:gd name="connsiteY13" fmla="*/ 1184394 h 1184394"/>
              <a:gd name="connsiteX14" fmla="*/ 2298279 w 4086225"/>
              <a:gd name="connsiteY14" fmla="*/ 1184394 h 1184394"/>
              <a:gd name="connsiteX15" fmla="*/ 195764 w 4086225"/>
              <a:gd name="connsiteY15" fmla="*/ 1184394 h 1184394"/>
              <a:gd name="connsiteX16" fmla="*/ 0 w 4086225"/>
              <a:gd name="connsiteY16" fmla="*/ 988630 h 1184394"/>
              <a:gd name="connsiteX17" fmla="*/ 0 w 4086225"/>
              <a:gd name="connsiteY17" fmla="*/ 499233 h 1184394"/>
              <a:gd name="connsiteX18" fmla="*/ 0 w 4086225"/>
              <a:gd name="connsiteY18" fmla="*/ 205592 h 1184394"/>
              <a:gd name="connsiteX19" fmla="*/ 0 w 4086225"/>
              <a:gd name="connsiteY19" fmla="*/ 205592 h 1184394"/>
              <a:gd name="connsiteX20" fmla="*/ 0 w 4086225"/>
              <a:gd name="connsiteY20" fmla="*/ 205596 h 1184394"/>
              <a:gd name="connsiteX0" fmla="*/ 0 w 4086225"/>
              <a:gd name="connsiteY0" fmla="*/ 214038 h 1192836"/>
              <a:gd name="connsiteX1" fmla="*/ 195764 w 4086225"/>
              <a:gd name="connsiteY1" fmla="*/ 18274 h 1192836"/>
              <a:gd name="connsiteX2" fmla="*/ 3232343 w 4086225"/>
              <a:gd name="connsiteY2" fmla="*/ 8442 h 1192836"/>
              <a:gd name="connsiteX3" fmla="*/ 3744143 w 4086225"/>
              <a:gd name="connsiteY3" fmla="*/ 18274 h 1192836"/>
              <a:gd name="connsiteX4" fmla="*/ 3939907 w 4086225"/>
              <a:gd name="connsiteY4" fmla="*/ 214038 h 1192836"/>
              <a:gd name="connsiteX5" fmla="*/ 3939907 w 4086225"/>
              <a:gd name="connsiteY5" fmla="*/ 214034 h 1192836"/>
              <a:gd name="connsiteX6" fmla="*/ 3939907 w 4086225"/>
              <a:gd name="connsiteY6" fmla="*/ 214034 h 1192836"/>
              <a:gd name="connsiteX7" fmla="*/ 4086225 w 4086225"/>
              <a:gd name="connsiteY7" fmla="*/ 355252 h 1192836"/>
              <a:gd name="connsiteX8" fmla="*/ 3939907 w 4086225"/>
              <a:gd name="connsiteY8" fmla="*/ 507675 h 1192836"/>
              <a:gd name="connsiteX9" fmla="*/ 3939907 w 4086225"/>
              <a:gd name="connsiteY9" fmla="*/ 997072 h 1192836"/>
              <a:gd name="connsiteX10" fmla="*/ 3744143 w 4086225"/>
              <a:gd name="connsiteY10" fmla="*/ 1192836 h 1192836"/>
              <a:gd name="connsiteX11" fmla="*/ 3283256 w 4086225"/>
              <a:gd name="connsiteY11" fmla="*/ 1192836 h 1192836"/>
              <a:gd name="connsiteX12" fmla="*/ 2298279 w 4086225"/>
              <a:gd name="connsiteY12" fmla="*/ 1192836 h 1192836"/>
              <a:gd name="connsiteX13" fmla="*/ 2298279 w 4086225"/>
              <a:gd name="connsiteY13" fmla="*/ 1192836 h 1192836"/>
              <a:gd name="connsiteX14" fmla="*/ 195764 w 4086225"/>
              <a:gd name="connsiteY14" fmla="*/ 1192836 h 1192836"/>
              <a:gd name="connsiteX15" fmla="*/ 0 w 4086225"/>
              <a:gd name="connsiteY15" fmla="*/ 997072 h 1192836"/>
              <a:gd name="connsiteX16" fmla="*/ 0 w 4086225"/>
              <a:gd name="connsiteY16" fmla="*/ 507675 h 1192836"/>
              <a:gd name="connsiteX17" fmla="*/ 0 w 4086225"/>
              <a:gd name="connsiteY17" fmla="*/ 214034 h 1192836"/>
              <a:gd name="connsiteX18" fmla="*/ 0 w 4086225"/>
              <a:gd name="connsiteY18" fmla="*/ 214034 h 1192836"/>
              <a:gd name="connsiteX19" fmla="*/ 0 w 4086225"/>
              <a:gd name="connsiteY19" fmla="*/ 214038 h 1192836"/>
              <a:gd name="connsiteX0" fmla="*/ 0 w 4086225"/>
              <a:gd name="connsiteY0" fmla="*/ 195764 h 1174562"/>
              <a:gd name="connsiteX1" fmla="*/ 195764 w 4086225"/>
              <a:gd name="connsiteY1" fmla="*/ 0 h 1174562"/>
              <a:gd name="connsiteX2" fmla="*/ 3744143 w 4086225"/>
              <a:gd name="connsiteY2" fmla="*/ 0 h 1174562"/>
              <a:gd name="connsiteX3" fmla="*/ 3939907 w 4086225"/>
              <a:gd name="connsiteY3" fmla="*/ 195764 h 1174562"/>
              <a:gd name="connsiteX4" fmla="*/ 3939907 w 4086225"/>
              <a:gd name="connsiteY4" fmla="*/ 195760 h 1174562"/>
              <a:gd name="connsiteX5" fmla="*/ 3939907 w 4086225"/>
              <a:gd name="connsiteY5" fmla="*/ 195760 h 1174562"/>
              <a:gd name="connsiteX6" fmla="*/ 4086225 w 4086225"/>
              <a:gd name="connsiteY6" fmla="*/ 336978 h 1174562"/>
              <a:gd name="connsiteX7" fmla="*/ 3939907 w 4086225"/>
              <a:gd name="connsiteY7" fmla="*/ 489401 h 1174562"/>
              <a:gd name="connsiteX8" fmla="*/ 3939907 w 4086225"/>
              <a:gd name="connsiteY8" fmla="*/ 978798 h 1174562"/>
              <a:gd name="connsiteX9" fmla="*/ 3744143 w 4086225"/>
              <a:gd name="connsiteY9" fmla="*/ 1174562 h 1174562"/>
              <a:gd name="connsiteX10" fmla="*/ 3283256 w 4086225"/>
              <a:gd name="connsiteY10" fmla="*/ 1174562 h 1174562"/>
              <a:gd name="connsiteX11" fmla="*/ 2298279 w 4086225"/>
              <a:gd name="connsiteY11" fmla="*/ 1174562 h 1174562"/>
              <a:gd name="connsiteX12" fmla="*/ 2298279 w 4086225"/>
              <a:gd name="connsiteY12" fmla="*/ 1174562 h 1174562"/>
              <a:gd name="connsiteX13" fmla="*/ 195764 w 4086225"/>
              <a:gd name="connsiteY13" fmla="*/ 1174562 h 1174562"/>
              <a:gd name="connsiteX14" fmla="*/ 0 w 4086225"/>
              <a:gd name="connsiteY14" fmla="*/ 978798 h 1174562"/>
              <a:gd name="connsiteX15" fmla="*/ 0 w 4086225"/>
              <a:gd name="connsiteY15" fmla="*/ 489401 h 1174562"/>
              <a:gd name="connsiteX16" fmla="*/ 0 w 4086225"/>
              <a:gd name="connsiteY16" fmla="*/ 195760 h 1174562"/>
              <a:gd name="connsiteX17" fmla="*/ 0 w 4086225"/>
              <a:gd name="connsiteY17" fmla="*/ 195760 h 1174562"/>
              <a:gd name="connsiteX18" fmla="*/ 0 w 4086225"/>
              <a:gd name="connsiteY18" fmla="*/ 195764 h 1174562"/>
              <a:gd name="connsiteX0" fmla="*/ 0 w 4171950"/>
              <a:gd name="connsiteY0" fmla="*/ 195764 h 1174562"/>
              <a:gd name="connsiteX1" fmla="*/ 195764 w 4171950"/>
              <a:gd name="connsiteY1" fmla="*/ 0 h 1174562"/>
              <a:gd name="connsiteX2" fmla="*/ 3744143 w 4171950"/>
              <a:gd name="connsiteY2" fmla="*/ 0 h 1174562"/>
              <a:gd name="connsiteX3" fmla="*/ 3939907 w 4171950"/>
              <a:gd name="connsiteY3" fmla="*/ 195764 h 1174562"/>
              <a:gd name="connsiteX4" fmla="*/ 3939907 w 4171950"/>
              <a:gd name="connsiteY4" fmla="*/ 195760 h 1174562"/>
              <a:gd name="connsiteX5" fmla="*/ 3939907 w 4171950"/>
              <a:gd name="connsiteY5" fmla="*/ 195760 h 1174562"/>
              <a:gd name="connsiteX6" fmla="*/ 4171950 w 4171950"/>
              <a:gd name="connsiteY6" fmla="*/ 127428 h 1174562"/>
              <a:gd name="connsiteX7" fmla="*/ 3939907 w 4171950"/>
              <a:gd name="connsiteY7" fmla="*/ 489401 h 1174562"/>
              <a:gd name="connsiteX8" fmla="*/ 3939907 w 4171950"/>
              <a:gd name="connsiteY8" fmla="*/ 978798 h 1174562"/>
              <a:gd name="connsiteX9" fmla="*/ 3744143 w 4171950"/>
              <a:gd name="connsiteY9" fmla="*/ 1174562 h 1174562"/>
              <a:gd name="connsiteX10" fmla="*/ 3283256 w 4171950"/>
              <a:gd name="connsiteY10" fmla="*/ 1174562 h 1174562"/>
              <a:gd name="connsiteX11" fmla="*/ 2298279 w 4171950"/>
              <a:gd name="connsiteY11" fmla="*/ 1174562 h 1174562"/>
              <a:gd name="connsiteX12" fmla="*/ 2298279 w 4171950"/>
              <a:gd name="connsiteY12" fmla="*/ 1174562 h 1174562"/>
              <a:gd name="connsiteX13" fmla="*/ 195764 w 4171950"/>
              <a:gd name="connsiteY13" fmla="*/ 1174562 h 1174562"/>
              <a:gd name="connsiteX14" fmla="*/ 0 w 4171950"/>
              <a:gd name="connsiteY14" fmla="*/ 978798 h 1174562"/>
              <a:gd name="connsiteX15" fmla="*/ 0 w 4171950"/>
              <a:gd name="connsiteY15" fmla="*/ 489401 h 1174562"/>
              <a:gd name="connsiteX16" fmla="*/ 0 w 4171950"/>
              <a:gd name="connsiteY16" fmla="*/ 195760 h 1174562"/>
              <a:gd name="connsiteX17" fmla="*/ 0 w 4171950"/>
              <a:gd name="connsiteY17" fmla="*/ 195760 h 1174562"/>
              <a:gd name="connsiteX18" fmla="*/ 0 w 4171950"/>
              <a:gd name="connsiteY18" fmla="*/ 195764 h 1174562"/>
              <a:gd name="connsiteX0" fmla="*/ 0 w 4171950"/>
              <a:gd name="connsiteY0" fmla="*/ 195764 h 1174562"/>
              <a:gd name="connsiteX1" fmla="*/ 195764 w 4171950"/>
              <a:gd name="connsiteY1" fmla="*/ 0 h 1174562"/>
              <a:gd name="connsiteX2" fmla="*/ 3744143 w 4171950"/>
              <a:gd name="connsiteY2" fmla="*/ 0 h 1174562"/>
              <a:gd name="connsiteX3" fmla="*/ 3939907 w 4171950"/>
              <a:gd name="connsiteY3" fmla="*/ 195764 h 1174562"/>
              <a:gd name="connsiteX4" fmla="*/ 3939907 w 4171950"/>
              <a:gd name="connsiteY4" fmla="*/ 195760 h 1174562"/>
              <a:gd name="connsiteX5" fmla="*/ 3939907 w 4171950"/>
              <a:gd name="connsiteY5" fmla="*/ 195760 h 1174562"/>
              <a:gd name="connsiteX6" fmla="*/ 4171950 w 4171950"/>
              <a:gd name="connsiteY6" fmla="*/ 127428 h 1174562"/>
              <a:gd name="connsiteX7" fmla="*/ 3939907 w 4171950"/>
              <a:gd name="connsiteY7" fmla="*/ 489401 h 1174562"/>
              <a:gd name="connsiteX8" fmla="*/ 3939907 w 4171950"/>
              <a:gd name="connsiteY8" fmla="*/ 978798 h 1174562"/>
              <a:gd name="connsiteX9" fmla="*/ 3744143 w 4171950"/>
              <a:gd name="connsiteY9" fmla="*/ 1174562 h 1174562"/>
              <a:gd name="connsiteX10" fmla="*/ 3283256 w 4171950"/>
              <a:gd name="connsiteY10" fmla="*/ 1174562 h 1174562"/>
              <a:gd name="connsiteX11" fmla="*/ 2298279 w 4171950"/>
              <a:gd name="connsiteY11" fmla="*/ 1174562 h 1174562"/>
              <a:gd name="connsiteX12" fmla="*/ 2298279 w 4171950"/>
              <a:gd name="connsiteY12" fmla="*/ 1174562 h 1174562"/>
              <a:gd name="connsiteX13" fmla="*/ 195764 w 4171950"/>
              <a:gd name="connsiteY13" fmla="*/ 1174562 h 1174562"/>
              <a:gd name="connsiteX14" fmla="*/ 0 w 4171950"/>
              <a:gd name="connsiteY14" fmla="*/ 978798 h 1174562"/>
              <a:gd name="connsiteX15" fmla="*/ 0 w 4171950"/>
              <a:gd name="connsiteY15" fmla="*/ 489401 h 1174562"/>
              <a:gd name="connsiteX16" fmla="*/ 0 w 4171950"/>
              <a:gd name="connsiteY16" fmla="*/ 195760 h 1174562"/>
              <a:gd name="connsiteX17" fmla="*/ 0 w 4171950"/>
              <a:gd name="connsiteY17" fmla="*/ 195760 h 1174562"/>
              <a:gd name="connsiteX18" fmla="*/ 0 w 4171950"/>
              <a:gd name="connsiteY18" fmla="*/ 195764 h 1174562"/>
              <a:gd name="connsiteX0" fmla="*/ 0 w 4171950"/>
              <a:gd name="connsiteY0" fmla="*/ 195764 h 1174562"/>
              <a:gd name="connsiteX1" fmla="*/ 195764 w 4171950"/>
              <a:gd name="connsiteY1" fmla="*/ 0 h 1174562"/>
              <a:gd name="connsiteX2" fmla="*/ 3744143 w 4171950"/>
              <a:gd name="connsiteY2" fmla="*/ 0 h 1174562"/>
              <a:gd name="connsiteX3" fmla="*/ 3939907 w 4171950"/>
              <a:gd name="connsiteY3" fmla="*/ 195764 h 1174562"/>
              <a:gd name="connsiteX4" fmla="*/ 3939907 w 4171950"/>
              <a:gd name="connsiteY4" fmla="*/ 195760 h 1174562"/>
              <a:gd name="connsiteX5" fmla="*/ 3939907 w 4171950"/>
              <a:gd name="connsiteY5" fmla="*/ 195760 h 1174562"/>
              <a:gd name="connsiteX6" fmla="*/ 4171950 w 4171950"/>
              <a:gd name="connsiteY6" fmla="*/ 127428 h 1174562"/>
              <a:gd name="connsiteX7" fmla="*/ 3939907 w 4171950"/>
              <a:gd name="connsiteY7" fmla="*/ 489401 h 1174562"/>
              <a:gd name="connsiteX8" fmla="*/ 3939907 w 4171950"/>
              <a:gd name="connsiteY8" fmla="*/ 978798 h 1174562"/>
              <a:gd name="connsiteX9" fmla="*/ 3744143 w 4171950"/>
              <a:gd name="connsiteY9" fmla="*/ 1174562 h 1174562"/>
              <a:gd name="connsiteX10" fmla="*/ 3283256 w 4171950"/>
              <a:gd name="connsiteY10" fmla="*/ 1174562 h 1174562"/>
              <a:gd name="connsiteX11" fmla="*/ 2298279 w 4171950"/>
              <a:gd name="connsiteY11" fmla="*/ 1174562 h 1174562"/>
              <a:gd name="connsiteX12" fmla="*/ 2298279 w 4171950"/>
              <a:gd name="connsiteY12" fmla="*/ 1174562 h 1174562"/>
              <a:gd name="connsiteX13" fmla="*/ 195764 w 4171950"/>
              <a:gd name="connsiteY13" fmla="*/ 1174562 h 1174562"/>
              <a:gd name="connsiteX14" fmla="*/ 0 w 4171950"/>
              <a:gd name="connsiteY14" fmla="*/ 978798 h 1174562"/>
              <a:gd name="connsiteX15" fmla="*/ 0 w 4171950"/>
              <a:gd name="connsiteY15" fmla="*/ 489401 h 1174562"/>
              <a:gd name="connsiteX16" fmla="*/ 0 w 4171950"/>
              <a:gd name="connsiteY16" fmla="*/ 195760 h 1174562"/>
              <a:gd name="connsiteX17" fmla="*/ 0 w 4171950"/>
              <a:gd name="connsiteY17" fmla="*/ 195760 h 1174562"/>
              <a:gd name="connsiteX18" fmla="*/ 0 w 4171950"/>
              <a:gd name="connsiteY18" fmla="*/ 195764 h 1174562"/>
              <a:gd name="connsiteX0" fmla="*/ 0 w 4171950"/>
              <a:gd name="connsiteY0" fmla="*/ 195764 h 1174562"/>
              <a:gd name="connsiteX1" fmla="*/ 195764 w 4171950"/>
              <a:gd name="connsiteY1" fmla="*/ 0 h 1174562"/>
              <a:gd name="connsiteX2" fmla="*/ 3744143 w 4171950"/>
              <a:gd name="connsiteY2" fmla="*/ 0 h 1174562"/>
              <a:gd name="connsiteX3" fmla="*/ 3939907 w 4171950"/>
              <a:gd name="connsiteY3" fmla="*/ 195764 h 1174562"/>
              <a:gd name="connsiteX4" fmla="*/ 3939907 w 4171950"/>
              <a:gd name="connsiteY4" fmla="*/ 195760 h 1174562"/>
              <a:gd name="connsiteX5" fmla="*/ 3939907 w 4171950"/>
              <a:gd name="connsiteY5" fmla="*/ 195760 h 1174562"/>
              <a:gd name="connsiteX6" fmla="*/ 4171950 w 4171950"/>
              <a:gd name="connsiteY6" fmla="*/ 127428 h 1174562"/>
              <a:gd name="connsiteX7" fmla="*/ 3939907 w 4171950"/>
              <a:gd name="connsiteY7" fmla="*/ 489401 h 1174562"/>
              <a:gd name="connsiteX8" fmla="*/ 3939907 w 4171950"/>
              <a:gd name="connsiteY8" fmla="*/ 978798 h 1174562"/>
              <a:gd name="connsiteX9" fmla="*/ 3744143 w 4171950"/>
              <a:gd name="connsiteY9" fmla="*/ 1174562 h 1174562"/>
              <a:gd name="connsiteX10" fmla="*/ 3283256 w 4171950"/>
              <a:gd name="connsiteY10" fmla="*/ 1174562 h 1174562"/>
              <a:gd name="connsiteX11" fmla="*/ 2298279 w 4171950"/>
              <a:gd name="connsiteY11" fmla="*/ 1174562 h 1174562"/>
              <a:gd name="connsiteX12" fmla="*/ 2298279 w 4171950"/>
              <a:gd name="connsiteY12" fmla="*/ 1174562 h 1174562"/>
              <a:gd name="connsiteX13" fmla="*/ 195764 w 4171950"/>
              <a:gd name="connsiteY13" fmla="*/ 1174562 h 1174562"/>
              <a:gd name="connsiteX14" fmla="*/ 0 w 4171950"/>
              <a:gd name="connsiteY14" fmla="*/ 978798 h 1174562"/>
              <a:gd name="connsiteX15" fmla="*/ 0 w 4171950"/>
              <a:gd name="connsiteY15" fmla="*/ 489401 h 1174562"/>
              <a:gd name="connsiteX16" fmla="*/ 0 w 4171950"/>
              <a:gd name="connsiteY16" fmla="*/ 195760 h 1174562"/>
              <a:gd name="connsiteX17" fmla="*/ 0 w 4171950"/>
              <a:gd name="connsiteY17" fmla="*/ 195760 h 1174562"/>
              <a:gd name="connsiteX18" fmla="*/ 0 w 4171950"/>
              <a:gd name="connsiteY18" fmla="*/ 195764 h 1174562"/>
              <a:gd name="connsiteX0" fmla="*/ 0 w 4095750"/>
              <a:gd name="connsiteY0" fmla="*/ 195764 h 1174562"/>
              <a:gd name="connsiteX1" fmla="*/ 195764 w 4095750"/>
              <a:gd name="connsiteY1" fmla="*/ 0 h 1174562"/>
              <a:gd name="connsiteX2" fmla="*/ 3744143 w 4095750"/>
              <a:gd name="connsiteY2" fmla="*/ 0 h 1174562"/>
              <a:gd name="connsiteX3" fmla="*/ 3939907 w 4095750"/>
              <a:gd name="connsiteY3" fmla="*/ 195764 h 1174562"/>
              <a:gd name="connsiteX4" fmla="*/ 3939907 w 4095750"/>
              <a:gd name="connsiteY4" fmla="*/ 195760 h 1174562"/>
              <a:gd name="connsiteX5" fmla="*/ 3939907 w 4095750"/>
              <a:gd name="connsiteY5" fmla="*/ 195760 h 1174562"/>
              <a:gd name="connsiteX6" fmla="*/ 4095750 w 4095750"/>
              <a:gd name="connsiteY6" fmla="*/ 222678 h 1174562"/>
              <a:gd name="connsiteX7" fmla="*/ 3939907 w 4095750"/>
              <a:gd name="connsiteY7" fmla="*/ 489401 h 1174562"/>
              <a:gd name="connsiteX8" fmla="*/ 3939907 w 4095750"/>
              <a:gd name="connsiteY8" fmla="*/ 978798 h 1174562"/>
              <a:gd name="connsiteX9" fmla="*/ 3744143 w 4095750"/>
              <a:gd name="connsiteY9" fmla="*/ 1174562 h 1174562"/>
              <a:gd name="connsiteX10" fmla="*/ 3283256 w 4095750"/>
              <a:gd name="connsiteY10" fmla="*/ 1174562 h 1174562"/>
              <a:gd name="connsiteX11" fmla="*/ 2298279 w 4095750"/>
              <a:gd name="connsiteY11" fmla="*/ 1174562 h 1174562"/>
              <a:gd name="connsiteX12" fmla="*/ 2298279 w 4095750"/>
              <a:gd name="connsiteY12" fmla="*/ 1174562 h 1174562"/>
              <a:gd name="connsiteX13" fmla="*/ 195764 w 4095750"/>
              <a:gd name="connsiteY13" fmla="*/ 1174562 h 1174562"/>
              <a:gd name="connsiteX14" fmla="*/ 0 w 4095750"/>
              <a:gd name="connsiteY14" fmla="*/ 978798 h 1174562"/>
              <a:gd name="connsiteX15" fmla="*/ 0 w 4095750"/>
              <a:gd name="connsiteY15" fmla="*/ 489401 h 1174562"/>
              <a:gd name="connsiteX16" fmla="*/ 0 w 4095750"/>
              <a:gd name="connsiteY16" fmla="*/ 195760 h 1174562"/>
              <a:gd name="connsiteX17" fmla="*/ 0 w 4095750"/>
              <a:gd name="connsiteY17" fmla="*/ 195760 h 1174562"/>
              <a:gd name="connsiteX18" fmla="*/ 0 w 4095750"/>
              <a:gd name="connsiteY18" fmla="*/ 195764 h 1174562"/>
              <a:gd name="connsiteX0" fmla="*/ 0 w 4095750"/>
              <a:gd name="connsiteY0" fmla="*/ 195764 h 1174562"/>
              <a:gd name="connsiteX1" fmla="*/ 195764 w 4095750"/>
              <a:gd name="connsiteY1" fmla="*/ 0 h 1174562"/>
              <a:gd name="connsiteX2" fmla="*/ 3744143 w 4095750"/>
              <a:gd name="connsiteY2" fmla="*/ 0 h 1174562"/>
              <a:gd name="connsiteX3" fmla="*/ 3939907 w 4095750"/>
              <a:gd name="connsiteY3" fmla="*/ 195764 h 1174562"/>
              <a:gd name="connsiteX4" fmla="*/ 3939907 w 4095750"/>
              <a:gd name="connsiteY4" fmla="*/ 195760 h 1174562"/>
              <a:gd name="connsiteX5" fmla="*/ 3939907 w 4095750"/>
              <a:gd name="connsiteY5" fmla="*/ 195760 h 1174562"/>
              <a:gd name="connsiteX6" fmla="*/ 4095750 w 4095750"/>
              <a:gd name="connsiteY6" fmla="*/ 222678 h 1174562"/>
              <a:gd name="connsiteX7" fmla="*/ 3939907 w 4095750"/>
              <a:gd name="connsiteY7" fmla="*/ 489401 h 1174562"/>
              <a:gd name="connsiteX8" fmla="*/ 3939907 w 4095750"/>
              <a:gd name="connsiteY8" fmla="*/ 978798 h 1174562"/>
              <a:gd name="connsiteX9" fmla="*/ 3744143 w 4095750"/>
              <a:gd name="connsiteY9" fmla="*/ 1174562 h 1174562"/>
              <a:gd name="connsiteX10" fmla="*/ 3283256 w 4095750"/>
              <a:gd name="connsiteY10" fmla="*/ 1174562 h 1174562"/>
              <a:gd name="connsiteX11" fmla="*/ 2298279 w 4095750"/>
              <a:gd name="connsiteY11" fmla="*/ 1174562 h 1174562"/>
              <a:gd name="connsiteX12" fmla="*/ 2298279 w 4095750"/>
              <a:gd name="connsiteY12" fmla="*/ 1174562 h 1174562"/>
              <a:gd name="connsiteX13" fmla="*/ 195764 w 4095750"/>
              <a:gd name="connsiteY13" fmla="*/ 1174562 h 1174562"/>
              <a:gd name="connsiteX14" fmla="*/ 0 w 4095750"/>
              <a:gd name="connsiteY14" fmla="*/ 978798 h 1174562"/>
              <a:gd name="connsiteX15" fmla="*/ 0 w 4095750"/>
              <a:gd name="connsiteY15" fmla="*/ 489401 h 1174562"/>
              <a:gd name="connsiteX16" fmla="*/ 0 w 4095750"/>
              <a:gd name="connsiteY16" fmla="*/ 195760 h 1174562"/>
              <a:gd name="connsiteX17" fmla="*/ 0 w 4095750"/>
              <a:gd name="connsiteY17" fmla="*/ 195760 h 1174562"/>
              <a:gd name="connsiteX18" fmla="*/ 0 w 4095750"/>
              <a:gd name="connsiteY18" fmla="*/ 195764 h 1174562"/>
              <a:gd name="connsiteX0" fmla="*/ 0 w 4095750"/>
              <a:gd name="connsiteY0" fmla="*/ 195764 h 1174562"/>
              <a:gd name="connsiteX1" fmla="*/ 195764 w 4095750"/>
              <a:gd name="connsiteY1" fmla="*/ 0 h 1174562"/>
              <a:gd name="connsiteX2" fmla="*/ 3744143 w 4095750"/>
              <a:gd name="connsiteY2" fmla="*/ 0 h 1174562"/>
              <a:gd name="connsiteX3" fmla="*/ 3939907 w 4095750"/>
              <a:gd name="connsiteY3" fmla="*/ 195764 h 1174562"/>
              <a:gd name="connsiteX4" fmla="*/ 3939907 w 4095750"/>
              <a:gd name="connsiteY4" fmla="*/ 195760 h 1174562"/>
              <a:gd name="connsiteX5" fmla="*/ 3939907 w 4095750"/>
              <a:gd name="connsiteY5" fmla="*/ 195760 h 1174562"/>
              <a:gd name="connsiteX6" fmla="*/ 4095750 w 4095750"/>
              <a:gd name="connsiteY6" fmla="*/ 222678 h 1174562"/>
              <a:gd name="connsiteX7" fmla="*/ 3939907 w 4095750"/>
              <a:gd name="connsiteY7" fmla="*/ 489401 h 1174562"/>
              <a:gd name="connsiteX8" fmla="*/ 3939907 w 4095750"/>
              <a:gd name="connsiteY8" fmla="*/ 978798 h 1174562"/>
              <a:gd name="connsiteX9" fmla="*/ 3744143 w 4095750"/>
              <a:gd name="connsiteY9" fmla="*/ 1174562 h 1174562"/>
              <a:gd name="connsiteX10" fmla="*/ 3283256 w 4095750"/>
              <a:gd name="connsiteY10" fmla="*/ 1174562 h 1174562"/>
              <a:gd name="connsiteX11" fmla="*/ 2298279 w 4095750"/>
              <a:gd name="connsiteY11" fmla="*/ 1174562 h 1174562"/>
              <a:gd name="connsiteX12" fmla="*/ 2298279 w 4095750"/>
              <a:gd name="connsiteY12" fmla="*/ 1174562 h 1174562"/>
              <a:gd name="connsiteX13" fmla="*/ 195764 w 4095750"/>
              <a:gd name="connsiteY13" fmla="*/ 1174562 h 1174562"/>
              <a:gd name="connsiteX14" fmla="*/ 0 w 4095750"/>
              <a:gd name="connsiteY14" fmla="*/ 978798 h 1174562"/>
              <a:gd name="connsiteX15" fmla="*/ 0 w 4095750"/>
              <a:gd name="connsiteY15" fmla="*/ 489401 h 1174562"/>
              <a:gd name="connsiteX16" fmla="*/ 0 w 4095750"/>
              <a:gd name="connsiteY16" fmla="*/ 195760 h 1174562"/>
              <a:gd name="connsiteX17" fmla="*/ 0 w 4095750"/>
              <a:gd name="connsiteY17" fmla="*/ 195760 h 1174562"/>
              <a:gd name="connsiteX18" fmla="*/ 0 w 4095750"/>
              <a:gd name="connsiteY18" fmla="*/ 195764 h 117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095750" h="1174562">
                <a:moveTo>
                  <a:pt x="0" y="195764"/>
                </a:moveTo>
                <a:cubicBezTo>
                  <a:pt x="0" y="87647"/>
                  <a:pt x="87647" y="0"/>
                  <a:pt x="195764" y="0"/>
                </a:cubicBezTo>
                <a:lnTo>
                  <a:pt x="3744143" y="0"/>
                </a:lnTo>
                <a:cubicBezTo>
                  <a:pt x="3852260" y="0"/>
                  <a:pt x="3939907" y="87647"/>
                  <a:pt x="3939907" y="195764"/>
                </a:cubicBezTo>
                <a:lnTo>
                  <a:pt x="3939907" y="195760"/>
                </a:lnTo>
                <a:lnTo>
                  <a:pt x="3939907" y="195760"/>
                </a:lnTo>
                <a:cubicBezTo>
                  <a:pt x="3988680" y="242833"/>
                  <a:pt x="3989827" y="261330"/>
                  <a:pt x="4095750" y="222678"/>
                </a:cubicBezTo>
                <a:cubicBezTo>
                  <a:pt x="3970777" y="340161"/>
                  <a:pt x="3988680" y="438593"/>
                  <a:pt x="3939907" y="489401"/>
                </a:cubicBezTo>
                <a:lnTo>
                  <a:pt x="3939907" y="978798"/>
                </a:lnTo>
                <a:cubicBezTo>
                  <a:pt x="3939907" y="1086915"/>
                  <a:pt x="3852260" y="1174562"/>
                  <a:pt x="3744143" y="1174562"/>
                </a:cubicBezTo>
                <a:lnTo>
                  <a:pt x="3283256" y="1174562"/>
                </a:lnTo>
                <a:lnTo>
                  <a:pt x="2298279" y="1174562"/>
                </a:lnTo>
                <a:lnTo>
                  <a:pt x="2298279" y="1174562"/>
                </a:lnTo>
                <a:lnTo>
                  <a:pt x="195764" y="1174562"/>
                </a:lnTo>
                <a:cubicBezTo>
                  <a:pt x="87647" y="1174562"/>
                  <a:pt x="0" y="1086915"/>
                  <a:pt x="0" y="978798"/>
                </a:cubicBezTo>
                <a:lnTo>
                  <a:pt x="0" y="489401"/>
                </a:lnTo>
                <a:lnTo>
                  <a:pt x="0" y="195760"/>
                </a:lnTo>
                <a:lnTo>
                  <a:pt x="0" y="195760"/>
                </a:lnTo>
                <a:lnTo>
                  <a:pt x="0" y="195764"/>
                </a:lnTo>
                <a:close/>
              </a:path>
            </a:pathLst>
          </a:cu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Query"/>
          <p:cNvSpPr txBox="1"/>
          <p:nvPr/>
        </p:nvSpPr>
        <p:spPr>
          <a:xfrm>
            <a:off x="5327402" y="3030206"/>
            <a:ext cx="3755836" cy="941796"/>
          </a:xfrm>
          <a:prstGeom prst="rect">
            <a:avLst/>
          </a:prstGeom>
          <a:noFill/>
        </p:spPr>
        <p:txBody>
          <a:bodyPr wrap="none" lIns="0" tIns="0" rIns="0" bIns="0" rtlCol="0" anchor="t" anchorCtr="0">
            <a:spAutoFit/>
          </a:bodyPr>
          <a:lstStyle/>
          <a:p>
            <a:pPr>
              <a:lnSpc>
                <a:spcPct val="90000"/>
              </a:lnSpc>
            </a:pPr>
            <a:r>
              <a:rPr lang="en-US" sz="1700" b="1" spc="-50" dirty="0" smtClean="0">
                <a:latin typeface="Consolas" panose="020B0609020204030204" pitchFamily="49" charset="0"/>
                <a:cs typeface="Consolas" panose="020B0609020204030204" pitchFamily="49" charset="0"/>
              </a:rPr>
              <a:t>From</a:t>
            </a:r>
            <a:r>
              <a:rPr lang="en-US" sz="1700" spc="-50" dirty="0" smtClean="0">
                <a:latin typeface="Consolas" panose="020B0609020204030204" pitchFamily="49" charset="0"/>
                <a:cs typeface="Consolas" panose="020B0609020204030204" pitchFamily="49" charset="0"/>
              </a:rPr>
              <a:t> </a:t>
            </a:r>
            <a:r>
              <a:rPr lang="en-US" sz="1700" spc="-50" dirty="0" smtClean="0">
                <a:solidFill>
                  <a:srgbClr val="2F2364"/>
                </a:solidFill>
                <a:latin typeface="Consolas" panose="020B0609020204030204" pitchFamily="49" charset="0"/>
                <a:cs typeface="Consolas" panose="020B0609020204030204" pitchFamily="49" charset="0"/>
              </a:rPr>
              <a:t>a</a:t>
            </a:r>
            <a:r>
              <a:rPr lang="en-US" sz="1700" spc="-50" dirty="0" smtClean="0">
                <a:latin typeface="Consolas" panose="020B0609020204030204" pitchFamily="49" charset="0"/>
                <a:cs typeface="Consolas" panose="020B0609020204030204" pitchFamily="49" charset="0"/>
              </a:rPr>
              <a:t> </a:t>
            </a:r>
            <a:r>
              <a:rPr lang="en-US" sz="1700" b="1" spc="-50" dirty="0" smtClean="0">
                <a:latin typeface="Consolas" panose="020B0609020204030204" pitchFamily="49" charset="0"/>
                <a:cs typeface="Consolas" panose="020B0609020204030204" pitchFamily="49" charset="0"/>
              </a:rPr>
              <a:t>In</a:t>
            </a:r>
            <a:r>
              <a:rPr lang="en-US" sz="1700" spc="-50" dirty="0" smtClean="0">
                <a:latin typeface="Consolas" panose="020B0609020204030204" pitchFamily="49" charset="0"/>
                <a:cs typeface="Consolas" panose="020B0609020204030204" pitchFamily="49" charset="0"/>
              </a:rPr>
              <a:t> </a:t>
            </a:r>
            <a:r>
              <a:rPr lang="en-US" sz="1700" spc="-50" dirty="0" smtClean="0">
                <a:solidFill>
                  <a:srgbClr val="2F2364"/>
                </a:solidFill>
                <a:latin typeface="Consolas" panose="020B0609020204030204" pitchFamily="49" charset="0"/>
                <a:cs typeface="Consolas" panose="020B0609020204030204" pitchFamily="49" charset="0"/>
              </a:rPr>
              <a:t>A</a:t>
            </a:r>
          </a:p>
          <a:p>
            <a:pPr>
              <a:lnSpc>
                <a:spcPct val="90000"/>
              </a:lnSpc>
            </a:pPr>
            <a:r>
              <a:rPr lang="en-US" sz="1700" spc="-50" dirty="0">
                <a:latin typeface="Consolas" panose="020B0609020204030204" pitchFamily="49" charset="0"/>
                <a:cs typeface="Consolas" panose="020B0609020204030204" pitchFamily="49" charset="0"/>
              </a:rPr>
              <a:t> </a:t>
            </a:r>
            <a:r>
              <a:rPr lang="en-US" sz="1700" spc="-50" dirty="0" smtClean="0">
                <a:latin typeface="Consolas" panose="020B0609020204030204" pitchFamily="49" charset="0"/>
                <a:cs typeface="Consolas" panose="020B0609020204030204" pitchFamily="49" charset="0"/>
              </a:rPr>
              <a:t> </a:t>
            </a:r>
            <a:r>
              <a:rPr lang="en-US" sz="1700" b="1" spc="-50" dirty="0" smtClean="0">
                <a:latin typeface="Consolas" panose="020B0609020204030204" pitchFamily="49" charset="0"/>
                <a:cs typeface="Consolas" panose="020B0609020204030204" pitchFamily="49" charset="0"/>
              </a:rPr>
              <a:t>Join</a:t>
            </a:r>
            <a:r>
              <a:rPr lang="en-US" sz="1700" spc="-50" dirty="0" smtClean="0">
                <a:latin typeface="Consolas" panose="020B0609020204030204" pitchFamily="49" charset="0"/>
                <a:cs typeface="Consolas" panose="020B0609020204030204" pitchFamily="49" charset="0"/>
              </a:rPr>
              <a:t> </a:t>
            </a:r>
            <a:r>
              <a:rPr lang="en-US" sz="1700" spc="-50" dirty="0" smtClean="0">
                <a:solidFill>
                  <a:srgbClr val="23642F"/>
                </a:solidFill>
                <a:latin typeface="Consolas" panose="020B0609020204030204" pitchFamily="49" charset="0"/>
                <a:cs typeface="Consolas" panose="020B0609020204030204" pitchFamily="49" charset="0"/>
              </a:rPr>
              <a:t>b</a:t>
            </a:r>
            <a:r>
              <a:rPr lang="en-US" sz="1700" spc="-50" dirty="0" smtClean="0">
                <a:latin typeface="Consolas" panose="020B0609020204030204" pitchFamily="49" charset="0"/>
                <a:cs typeface="Consolas" panose="020B0609020204030204" pitchFamily="49" charset="0"/>
              </a:rPr>
              <a:t> </a:t>
            </a:r>
            <a:r>
              <a:rPr lang="en-US" sz="1700" b="1" spc="-50" dirty="0" smtClean="0">
                <a:latin typeface="Consolas" panose="020B0609020204030204" pitchFamily="49" charset="0"/>
                <a:cs typeface="Consolas" panose="020B0609020204030204" pitchFamily="49" charset="0"/>
              </a:rPr>
              <a:t>In</a:t>
            </a:r>
            <a:r>
              <a:rPr lang="en-US" sz="1700" spc="-50" dirty="0" smtClean="0">
                <a:latin typeface="Consolas" panose="020B0609020204030204" pitchFamily="49" charset="0"/>
                <a:cs typeface="Consolas" panose="020B0609020204030204" pitchFamily="49" charset="0"/>
              </a:rPr>
              <a:t> </a:t>
            </a:r>
            <a:r>
              <a:rPr lang="en-US" sz="1700" spc="-50" dirty="0" smtClean="0">
                <a:solidFill>
                  <a:srgbClr val="23642F"/>
                </a:solidFill>
                <a:latin typeface="Consolas" panose="020B0609020204030204" pitchFamily="49" charset="0"/>
                <a:cs typeface="Consolas" panose="020B0609020204030204" pitchFamily="49" charset="0"/>
              </a:rPr>
              <a:t>B</a:t>
            </a:r>
            <a:r>
              <a:rPr lang="en-US" sz="1700" spc="-50" dirty="0" smtClean="0">
                <a:latin typeface="Consolas" panose="020B0609020204030204" pitchFamily="49" charset="0"/>
                <a:cs typeface="Consolas" panose="020B0609020204030204" pitchFamily="49" charset="0"/>
              </a:rPr>
              <a:t> </a:t>
            </a:r>
            <a:r>
              <a:rPr lang="en-US" sz="1700" b="1" spc="-50" dirty="0" smtClean="0">
                <a:latin typeface="Consolas" panose="020B0609020204030204" pitchFamily="49" charset="0"/>
                <a:cs typeface="Consolas" panose="020B0609020204030204" pitchFamily="49" charset="0"/>
              </a:rPr>
              <a:t>On</a:t>
            </a:r>
            <a:r>
              <a:rPr lang="en-US" sz="1700" spc="-50" dirty="0" smtClean="0">
                <a:latin typeface="Consolas" panose="020B0609020204030204" pitchFamily="49" charset="0"/>
                <a:cs typeface="Consolas" panose="020B0609020204030204" pitchFamily="49" charset="0"/>
              </a:rPr>
              <a:t> </a:t>
            </a:r>
            <a:r>
              <a:rPr lang="en-US" sz="1700" spc="-50" dirty="0" smtClean="0">
                <a:solidFill>
                  <a:srgbClr val="2F2364"/>
                </a:solidFill>
                <a:latin typeface="Consolas" panose="020B0609020204030204" pitchFamily="49" charset="0"/>
                <a:cs typeface="Consolas" panose="020B0609020204030204" pitchFamily="49" charset="0"/>
              </a:rPr>
              <a:t>a</a:t>
            </a:r>
            <a:r>
              <a:rPr lang="en-US" sz="1700" spc="-50" dirty="0" smtClean="0">
                <a:latin typeface="Consolas" panose="020B0609020204030204" pitchFamily="49" charset="0"/>
                <a:cs typeface="Consolas" panose="020B0609020204030204" pitchFamily="49" charset="0"/>
              </a:rPr>
              <a:t> </a:t>
            </a:r>
            <a:r>
              <a:rPr lang="en-US" sz="1700" b="1" spc="-50" dirty="0" smtClean="0">
                <a:latin typeface="Consolas" panose="020B0609020204030204" pitchFamily="49" charset="0"/>
                <a:cs typeface="Consolas" panose="020B0609020204030204" pitchFamily="49" charset="0"/>
              </a:rPr>
              <a:t>-&gt;</a:t>
            </a:r>
            <a:r>
              <a:rPr lang="en-US" sz="1700" spc="-50" dirty="0" smtClean="0">
                <a:latin typeface="Consolas" panose="020B0609020204030204" pitchFamily="49" charset="0"/>
                <a:cs typeface="Consolas" panose="020B0609020204030204" pitchFamily="49" charset="0"/>
              </a:rPr>
              <a:t> </a:t>
            </a:r>
            <a:r>
              <a:rPr lang="en-US" sz="1700" spc="-50" dirty="0" smtClean="0">
                <a:solidFill>
                  <a:srgbClr val="23642F"/>
                </a:solidFill>
                <a:latin typeface="Consolas" panose="020B0609020204030204" pitchFamily="49" charset="0"/>
                <a:cs typeface="Consolas" panose="020B0609020204030204" pitchFamily="49" charset="0"/>
              </a:rPr>
              <a:t>b</a:t>
            </a:r>
          </a:p>
          <a:p>
            <a:pPr>
              <a:lnSpc>
                <a:spcPct val="90000"/>
              </a:lnSpc>
            </a:pPr>
            <a:r>
              <a:rPr lang="en-US" sz="1700" spc="-50" dirty="0" smtClean="0">
                <a:latin typeface="Consolas" panose="020B0609020204030204" pitchFamily="49" charset="0"/>
                <a:cs typeface="Consolas" panose="020B0609020204030204" pitchFamily="49" charset="0"/>
              </a:rPr>
              <a:t>  </a:t>
            </a:r>
            <a:r>
              <a:rPr lang="en-US" sz="1700" b="1" spc="-50" dirty="0" err="1" smtClean="0">
                <a:latin typeface="Consolas" panose="020B0609020204030204" pitchFamily="49" charset="0"/>
                <a:cs typeface="Consolas" panose="020B0609020204030204" pitchFamily="49" charset="0"/>
              </a:rPr>
              <a:t>GroupBy</a:t>
            </a:r>
            <a:r>
              <a:rPr lang="en-US" sz="1700" spc="-50" dirty="0" smtClean="0">
                <a:latin typeface="Consolas" panose="020B0609020204030204" pitchFamily="49" charset="0"/>
                <a:cs typeface="Consolas" panose="020B0609020204030204" pitchFamily="49" charset="0"/>
              </a:rPr>
              <a:t> </a:t>
            </a:r>
            <a:r>
              <a:rPr lang="en-US" sz="1700" spc="-50" dirty="0" err="1" smtClean="0">
                <a:solidFill>
                  <a:srgbClr val="2F2364"/>
                </a:solidFill>
                <a:latin typeface="Consolas" panose="020B0609020204030204" pitchFamily="49" charset="0"/>
                <a:cs typeface="Consolas" panose="020B0609020204030204" pitchFamily="49" charset="0"/>
              </a:rPr>
              <a:t>a.procName</a:t>
            </a:r>
            <a:endParaRPr lang="en-US" sz="1700" spc="-50" dirty="0" smtClean="0">
              <a:solidFill>
                <a:srgbClr val="2F2364"/>
              </a:solidFill>
              <a:latin typeface="Consolas" panose="020B0609020204030204" pitchFamily="49" charset="0"/>
              <a:cs typeface="Consolas" panose="020B0609020204030204" pitchFamily="49" charset="0"/>
            </a:endParaRPr>
          </a:p>
          <a:p>
            <a:pPr>
              <a:lnSpc>
                <a:spcPct val="90000"/>
              </a:lnSpc>
            </a:pPr>
            <a:r>
              <a:rPr lang="en-US" sz="1700" spc="-50" dirty="0" smtClean="0">
                <a:solidFill>
                  <a:srgbClr val="23642F"/>
                </a:solidFill>
                <a:latin typeface="Consolas" panose="020B0609020204030204" pitchFamily="49" charset="0"/>
                <a:cs typeface="Consolas" panose="020B0609020204030204" pitchFamily="49" charset="0"/>
              </a:rPr>
              <a:t>  </a:t>
            </a:r>
            <a:r>
              <a:rPr lang="en-US" sz="1700" b="1" spc="-50" dirty="0" smtClean="0">
                <a:latin typeface="Consolas" panose="020B0609020204030204" pitchFamily="49" charset="0"/>
                <a:cs typeface="Consolas" panose="020B0609020204030204" pitchFamily="49" charset="0"/>
              </a:rPr>
              <a:t>Select</a:t>
            </a:r>
            <a:r>
              <a:rPr lang="en-US" sz="1700" spc="-50" dirty="0" smtClean="0">
                <a:latin typeface="Consolas" panose="020B0609020204030204" pitchFamily="49" charset="0"/>
                <a:cs typeface="Consolas" panose="020B0609020204030204" pitchFamily="49" charset="0"/>
              </a:rPr>
              <a:t> </a:t>
            </a:r>
            <a:r>
              <a:rPr lang="en-US" sz="1700" spc="-50" dirty="0" err="1" smtClean="0">
                <a:solidFill>
                  <a:srgbClr val="2F2364"/>
                </a:solidFill>
                <a:latin typeface="Consolas" panose="020B0609020204030204" pitchFamily="49" charset="0"/>
                <a:cs typeface="Consolas" panose="020B0609020204030204" pitchFamily="49" charset="0"/>
              </a:rPr>
              <a:t>a.procName</a:t>
            </a:r>
            <a:r>
              <a:rPr lang="en-US" sz="1700" spc="-50" dirty="0" smtClean="0">
                <a:latin typeface="Consolas" panose="020B0609020204030204" pitchFamily="49" charset="0"/>
                <a:cs typeface="Consolas" panose="020B0609020204030204" pitchFamily="49" charset="0"/>
              </a:rPr>
              <a:t>,</a:t>
            </a:r>
            <a:r>
              <a:rPr lang="en-US" sz="1700" spc="-50" dirty="0" smtClean="0">
                <a:solidFill>
                  <a:srgbClr val="23642F"/>
                </a:solidFill>
                <a:latin typeface="Consolas" panose="020B0609020204030204" pitchFamily="49" charset="0"/>
                <a:cs typeface="Consolas" panose="020B0609020204030204" pitchFamily="49" charset="0"/>
              </a:rPr>
              <a:t> </a:t>
            </a:r>
            <a:r>
              <a:rPr lang="en-US" sz="1700" b="1" spc="-50" dirty="0" smtClean="0">
                <a:latin typeface="Consolas" panose="020B0609020204030204" pitchFamily="49" charset="0"/>
                <a:cs typeface="Consolas" panose="020B0609020204030204" pitchFamily="49" charset="0"/>
              </a:rPr>
              <a:t>SUM(</a:t>
            </a:r>
            <a:r>
              <a:rPr lang="en-US" sz="1700" spc="-50" dirty="0" err="1" smtClean="0">
                <a:solidFill>
                  <a:srgbClr val="23642F"/>
                </a:solidFill>
                <a:latin typeface="Consolas" panose="020B0609020204030204" pitchFamily="49" charset="0"/>
                <a:cs typeface="Consolas" panose="020B0609020204030204" pitchFamily="49" charset="0"/>
              </a:rPr>
              <a:t>b.delta</a:t>
            </a:r>
            <a:r>
              <a:rPr lang="en-US" sz="1700" b="1" spc="-50" dirty="0" smtClean="0">
                <a:latin typeface="Consolas" panose="020B0609020204030204" pitchFamily="49" charset="0"/>
                <a:cs typeface="Consolas" panose="020B0609020204030204" pitchFamily="49" charset="0"/>
              </a:rPr>
              <a:t>)</a:t>
            </a:r>
          </a:p>
        </p:txBody>
      </p:sp>
      <p:sp>
        <p:nvSpPr>
          <p:cNvPr id="2" name="Slide Number Placeholder 1"/>
          <p:cNvSpPr>
            <a:spLocks noGrp="1"/>
          </p:cNvSpPr>
          <p:nvPr>
            <p:ph type="sldNum" sz="quarter" idx="12"/>
          </p:nvPr>
        </p:nvSpPr>
        <p:spPr/>
        <p:txBody>
          <a:bodyPr/>
          <a:lstStyle/>
          <a:p>
            <a:fld id="{D431E30F-8439-471B-9257-EDD8E85CDBC8}" type="slidenum">
              <a:rPr lang="en-US" smtClean="0"/>
              <a:t>26</a:t>
            </a:fld>
            <a:endParaRPr lang="en-US"/>
          </a:p>
        </p:txBody>
      </p:sp>
    </p:spTree>
    <p:extLst>
      <p:ext uri="{BB962C8B-B14F-4D97-AF65-F5344CB8AC3E}">
        <p14:creationId xmlns:p14="http://schemas.microsoft.com/office/powerpoint/2010/main" val="1095111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0"/>
                                        </p:tgtEl>
                                        <p:attrNameLst>
                                          <p:attrName>style.visibility</p:attrName>
                                        </p:attrNameLst>
                                      </p:cBhvr>
                                      <p:to>
                                        <p:strVal val="visible"/>
                                      </p:to>
                                    </p:set>
                                    <p:animEffect transition="in" filter="fade">
                                      <p:cBhvr>
                                        <p:cTn id="7" dur="500"/>
                                        <p:tgtEl>
                                          <p:spTgt spid="80"/>
                                        </p:tgtEl>
                                      </p:cBhvr>
                                    </p:animEffect>
                                  </p:childTnLst>
                                </p:cTn>
                              </p:par>
                              <p:par>
                                <p:cTn id="8" presetID="10" presetClass="entr" presetSubtype="0" fill="hold" nodeType="withEffect">
                                  <p:stCondLst>
                                    <p:cond delay="0"/>
                                  </p:stCondLst>
                                  <p:childTnLst>
                                    <p:set>
                                      <p:cBhvr>
                                        <p:cTn id="9" dur="1" fill="hold">
                                          <p:stCondLst>
                                            <p:cond delay="0"/>
                                          </p:stCondLst>
                                        </p:cTn>
                                        <p:tgtEl>
                                          <p:spTgt spid="79">
                                            <p:txEl>
                                              <p:pRg st="0" end="0"/>
                                            </p:txEl>
                                          </p:spTgt>
                                        </p:tgtEl>
                                        <p:attrNameLst>
                                          <p:attrName>style.visibility</p:attrName>
                                        </p:attrNameLst>
                                      </p:cBhvr>
                                      <p:to>
                                        <p:strVal val="visible"/>
                                      </p:to>
                                    </p:set>
                                    <p:animEffect transition="in" filter="fade">
                                      <p:cBhvr>
                                        <p:cTn id="10" dur="500"/>
                                        <p:tgtEl>
                                          <p:spTgt spid="79">
                                            <p:txEl>
                                              <p:pRg st="0" end="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79">
                                            <p:txEl>
                                              <p:pRg st="4" end="4"/>
                                            </p:txEl>
                                          </p:spTgt>
                                        </p:tgtEl>
                                        <p:attrNameLst>
                                          <p:attrName>style.visibility</p:attrName>
                                        </p:attrNameLst>
                                      </p:cBhvr>
                                      <p:to>
                                        <p:strVal val="visible"/>
                                      </p:to>
                                    </p:set>
                                    <p:animEffect transition="in" filter="fade">
                                      <p:cBhvr>
                                        <p:cTn id="16" dur="500"/>
                                        <p:tgtEl>
                                          <p:spTgt spid="79">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8"/>
                                        </p:tgtEl>
                                        <p:attrNameLst>
                                          <p:attrName>style.visibility</p:attrName>
                                        </p:attrNameLst>
                                      </p:cBhvr>
                                      <p:to>
                                        <p:strVal val="visible"/>
                                      </p:to>
                                    </p:set>
                                    <p:animEffect transition="in" filter="fade">
                                      <p:cBhvr>
                                        <p:cTn id="21" dur="500"/>
                                        <p:tgtEl>
                                          <p:spTgt spid="78"/>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67"/>
                                        </p:tgtEl>
                                        <p:attrNameLst>
                                          <p:attrName>style.visibility</p:attrName>
                                        </p:attrNameLst>
                                      </p:cBhvr>
                                      <p:to>
                                        <p:strVal val="visible"/>
                                      </p:to>
                                    </p:set>
                                    <p:animEffect transition="in" filter="wipe(left)">
                                      <p:cBhvr>
                                        <p:cTn id="25" dur="500"/>
                                        <p:tgtEl>
                                          <p:spTgt spid="67"/>
                                        </p:tgtEl>
                                      </p:cBhvr>
                                    </p:animEffect>
                                  </p:childTnLst>
                                </p:cTn>
                              </p:par>
                            </p:childTnLst>
                          </p:cTn>
                        </p:par>
                        <p:par>
                          <p:cTn id="26" fill="hold">
                            <p:stCondLst>
                              <p:cond delay="1000"/>
                            </p:stCondLst>
                            <p:childTnLst>
                              <p:par>
                                <p:cTn id="27" presetID="22" presetClass="entr" presetSubtype="8" fill="hold" grpId="0" nodeType="afterEffect">
                                  <p:stCondLst>
                                    <p:cond delay="0"/>
                                  </p:stCondLst>
                                  <p:childTnLst>
                                    <p:set>
                                      <p:cBhvr>
                                        <p:cTn id="28" dur="1" fill="hold">
                                          <p:stCondLst>
                                            <p:cond delay="0"/>
                                          </p:stCondLst>
                                        </p:cTn>
                                        <p:tgtEl>
                                          <p:spTgt spid="68"/>
                                        </p:tgtEl>
                                        <p:attrNameLst>
                                          <p:attrName>style.visibility</p:attrName>
                                        </p:attrNameLst>
                                      </p:cBhvr>
                                      <p:to>
                                        <p:strVal val="visible"/>
                                      </p:to>
                                    </p:set>
                                    <p:animEffect transition="in" filter="wipe(left)">
                                      <p:cBhvr>
                                        <p:cTn id="29" dur="500"/>
                                        <p:tgtEl>
                                          <p:spTgt spid="68"/>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79">
                                            <p:txEl>
                                              <p:pRg st="6" end="6"/>
                                            </p:txEl>
                                          </p:spTgt>
                                        </p:tgtEl>
                                        <p:attrNameLst>
                                          <p:attrName>style.visibility</p:attrName>
                                        </p:attrNameLst>
                                      </p:cBhvr>
                                      <p:to>
                                        <p:strVal val="visible"/>
                                      </p:to>
                                    </p:set>
                                    <p:animEffect transition="in" filter="fade">
                                      <p:cBhvr>
                                        <p:cTn id="34" dur="500"/>
                                        <p:tgtEl>
                                          <p:spTgt spid="79">
                                            <p:txEl>
                                              <p:pRg st="6" end="6"/>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79">
                                            <p:txEl>
                                              <p:pRg st="7" end="7"/>
                                            </p:txEl>
                                          </p:spTgt>
                                        </p:tgtEl>
                                        <p:attrNameLst>
                                          <p:attrName>style.visibility</p:attrName>
                                        </p:attrNameLst>
                                      </p:cBhvr>
                                      <p:to>
                                        <p:strVal val="visible"/>
                                      </p:to>
                                    </p:set>
                                    <p:animEffect transition="in" filter="fade">
                                      <p:cBhvr>
                                        <p:cTn id="37" dur="500"/>
                                        <p:tgtEl>
                                          <p:spTgt spid="79">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grpId="1" nodeType="clickEffect">
                                  <p:stCondLst>
                                    <p:cond delay="0"/>
                                  </p:stCondLst>
                                  <p:childTnLst>
                                    <p:animEffect transition="out" filter="fade">
                                      <p:cBhvr>
                                        <p:cTn id="41" dur="500"/>
                                        <p:tgtEl>
                                          <p:spTgt spid="80"/>
                                        </p:tgtEl>
                                      </p:cBhvr>
                                    </p:animEffect>
                                    <p:set>
                                      <p:cBhvr>
                                        <p:cTn id="42" dur="1" fill="hold">
                                          <p:stCondLst>
                                            <p:cond delay="499"/>
                                          </p:stCondLst>
                                        </p:cTn>
                                        <p:tgtEl>
                                          <p:spTgt spid="80"/>
                                        </p:tgtEl>
                                        <p:attrNameLst>
                                          <p:attrName>style.visibility</p:attrName>
                                        </p:attrNameLst>
                                      </p:cBhvr>
                                      <p:to>
                                        <p:strVal val="hidden"/>
                                      </p:to>
                                    </p:set>
                                  </p:childTnLst>
                                </p:cTn>
                              </p:par>
                              <p:par>
                                <p:cTn id="43" presetID="10" presetClass="exit" presetSubtype="0" fill="hold" grpId="0" nodeType="withEffect">
                                  <p:stCondLst>
                                    <p:cond delay="0"/>
                                  </p:stCondLst>
                                  <p:childTnLst>
                                    <p:animEffect transition="out" filter="fade">
                                      <p:cBhvr>
                                        <p:cTn id="44" dur="500"/>
                                        <p:tgtEl>
                                          <p:spTgt spid="79">
                                            <p:txEl>
                                              <p:pRg st="0" end="0"/>
                                            </p:txEl>
                                          </p:spTgt>
                                        </p:tgtEl>
                                      </p:cBhvr>
                                    </p:animEffect>
                                    <p:set>
                                      <p:cBhvr>
                                        <p:cTn id="45" dur="1" fill="hold">
                                          <p:stCondLst>
                                            <p:cond delay="499"/>
                                          </p:stCondLst>
                                        </p:cTn>
                                        <p:tgtEl>
                                          <p:spTgt spid="79">
                                            <p:txEl>
                                              <p:pRg st="0" end="0"/>
                                            </p:txEl>
                                          </p:spTgt>
                                        </p:tgtEl>
                                        <p:attrNameLst>
                                          <p:attrName>style.visibility</p:attrName>
                                        </p:attrNameLst>
                                      </p:cBhvr>
                                      <p:to>
                                        <p:strVal val="hidden"/>
                                      </p:to>
                                    </p:set>
                                  </p:childTnLst>
                                </p:cTn>
                              </p:par>
                              <p:par>
                                <p:cTn id="46" presetID="10" presetClass="exit" presetSubtype="0" fill="hold" grpId="0" nodeType="withEffect">
                                  <p:stCondLst>
                                    <p:cond delay="0"/>
                                  </p:stCondLst>
                                  <p:childTnLst>
                                    <p:animEffect transition="out" filter="fade">
                                      <p:cBhvr>
                                        <p:cTn id="47" dur="500"/>
                                        <p:tgtEl>
                                          <p:spTgt spid="79">
                                            <p:txEl>
                                              <p:pRg st="4" end="4"/>
                                            </p:txEl>
                                          </p:spTgt>
                                        </p:tgtEl>
                                      </p:cBhvr>
                                    </p:animEffect>
                                    <p:set>
                                      <p:cBhvr>
                                        <p:cTn id="48" dur="1" fill="hold">
                                          <p:stCondLst>
                                            <p:cond delay="499"/>
                                          </p:stCondLst>
                                        </p:cTn>
                                        <p:tgtEl>
                                          <p:spTgt spid="79">
                                            <p:txEl>
                                              <p:pRg st="4" end="4"/>
                                            </p:txEl>
                                          </p:spTgt>
                                        </p:tgtEl>
                                        <p:attrNameLst>
                                          <p:attrName>style.visibility</p:attrName>
                                        </p:attrNameLst>
                                      </p:cBhvr>
                                      <p:to>
                                        <p:strVal val="hidden"/>
                                      </p:to>
                                    </p:set>
                                  </p:childTnLst>
                                </p:cTn>
                              </p:par>
                              <p:par>
                                <p:cTn id="49" presetID="10" presetClass="exit" presetSubtype="0" fill="hold" grpId="0" nodeType="withEffect">
                                  <p:stCondLst>
                                    <p:cond delay="0"/>
                                  </p:stCondLst>
                                  <p:childTnLst>
                                    <p:animEffect transition="out" filter="fade">
                                      <p:cBhvr>
                                        <p:cTn id="50" dur="500"/>
                                        <p:tgtEl>
                                          <p:spTgt spid="79">
                                            <p:txEl>
                                              <p:pRg st="6" end="6"/>
                                            </p:txEl>
                                          </p:spTgt>
                                        </p:tgtEl>
                                      </p:cBhvr>
                                    </p:animEffect>
                                    <p:set>
                                      <p:cBhvr>
                                        <p:cTn id="51" dur="1" fill="hold">
                                          <p:stCondLst>
                                            <p:cond delay="499"/>
                                          </p:stCondLst>
                                        </p:cTn>
                                        <p:tgtEl>
                                          <p:spTgt spid="79">
                                            <p:txEl>
                                              <p:pRg st="6" end="6"/>
                                            </p:txEl>
                                          </p:spTgt>
                                        </p:tgtEl>
                                        <p:attrNameLst>
                                          <p:attrName>style.visibility</p:attrName>
                                        </p:attrNameLst>
                                      </p:cBhvr>
                                      <p:to>
                                        <p:strVal val="hidden"/>
                                      </p:to>
                                    </p:set>
                                  </p:childTnLst>
                                </p:cTn>
                              </p:par>
                              <p:par>
                                <p:cTn id="52" presetID="10" presetClass="exit" presetSubtype="0" fill="hold" grpId="0" nodeType="withEffect">
                                  <p:stCondLst>
                                    <p:cond delay="0"/>
                                  </p:stCondLst>
                                  <p:childTnLst>
                                    <p:animEffect transition="out" filter="fade">
                                      <p:cBhvr>
                                        <p:cTn id="53" dur="500"/>
                                        <p:tgtEl>
                                          <p:spTgt spid="79">
                                            <p:txEl>
                                              <p:pRg st="7" end="7"/>
                                            </p:txEl>
                                          </p:spTgt>
                                        </p:tgtEl>
                                      </p:cBhvr>
                                    </p:animEffect>
                                    <p:set>
                                      <p:cBhvr>
                                        <p:cTn id="54" dur="1" fill="hold">
                                          <p:stCondLst>
                                            <p:cond delay="499"/>
                                          </p:stCondLst>
                                        </p:cTn>
                                        <p:tgtEl>
                                          <p:spTgt spid="79">
                                            <p:txEl>
                                              <p:pRg st="7" end="7"/>
                                            </p:txEl>
                                          </p:spTgt>
                                        </p:tgtEl>
                                        <p:attrNameLst>
                                          <p:attrName>style.visibility</p:attrName>
                                        </p:attrNameLst>
                                      </p:cBhvr>
                                      <p:to>
                                        <p:strVal val="hidden"/>
                                      </p:to>
                                    </p:set>
                                  </p:childTnLst>
                                </p:cTn>
                              </p:par>
                              <p:par>
                                <p:cTn id="55" presetID="10" presetClass="exit" presetSubtype="0" fill="hold" nodeType="withEffect">
                                  <p:stCondLst>
                                    <p:cond delay="0"/>
                                  </p:stCondLst>
                                  <p:childTnLst>
                                    <p:animEffect transition="out" filter="fade">
                                      <p:cBhvr>
                                        <p:cTn id="56" dur="500"/>
                                        <p:tgtEl>
                                          <p:spTgt spid="6"/>
                                        </p:tgtEl>
                                      </p:cBhvr>
                                    </p:animEffect>
                                    <p:set>
                                      <p:cBhvr>
                                        <p:cTn id="57" dur="1" fill="hold">
                                          <p:stCondLst>
                                            <p:cond delay="499"/>
                                          </p:stCondLst>
                                        </p:cTn>
                                        <p:tgtEl>
                                          <p:spTgt spid="6"/>
                                        </p:tgtEl>
                                        <p:attrNameLst>
                                          <p:attrName>style.visibility</p:attrName>
                                        </p:attrNameLst>
                                      </p:cBhvr>
                                      <p:to>
                                        <p:strVal val="hidden"/>
                                      </p:to>
                                    </p:set>
                                  </p:childTnLst>
                                </p:cTn>
                              </p:par>
                              <p:par>
                                <p:cTn id="58" presetID="10" presetClass="exit" presetSubtype="0" fill="hold" nodeType="withEffect">
                                  <p:stCondLst>
                                    <p:cond delay="0"/>
                                  </p:stCondLst>
                                  <p:childTnLst>
                                    <p:animEffect transition="out" filter="fade">
                                      <p:cBhvr>
                                        <p:cTn id="59" dur="500"/>
                                        <p:tgtEl>
                                          <p:spTgt spid="61"/>
                                        </p:tgtEl>
                                      </p:cBhvr>
                                    </p:animEffect>
                                    <p:set>
                                      <p:cBhvr>
                                        <p:cTn id="60" dur="1" fill="hold">
                                          <p:stCondLst>
                                            <p:cond delay="499"/>
                                          </p:stCondLst>
                                        </p:cTn>
                                        <p:tgtEl>
                                          <p:spTgt spid="61"/>
                                        </p:tgtEl>
                                        <p:attrNameLst>
                                          <p:attrName>style.visibility</p:attrName>
                                        </p:attrNameLst>
                                      </p:cBhvr>
                                      <p:to>
                                        <p:strVal val="hidden"/>
                                      </p:to>
                                    </p:set>
                                  </p:childTnLst>
                                </p:cTn>
                              </p:par>
                              <p:par>
                                <p:cTn id="61" presetID="1" presetClass="emph" presetSubtype="2" fill="hold" nodeType="withEffect">
                                  <p:stCondLst>
                                    <p:cond delay="250"/>
                                  </p:stCondLst>
                                  <p:childTnLst>
                                    <p:animClr clrSpc="rgb" dir="cw">
                                      <p:cBhvr>
                                        <p:cTn id="62" dur="500" fill="hold"/>
                                        <p:tgtEl>
                                          <p:spTgt spid="202"/>
                                        </p:tgtEl>
                                        <p:attrNameLst>
                                          <p:attrName>fillcolor</p:attrName>
                                        </p:attrNameLst>
                                      </p:cBhvr>
                                      <p:to>
                                        <a:srgbClr val="D0CECE"/>
                                      </p:to>
                                    </p:animClr>
                                    <p:set>
                                      <p:cBhvr>
                                        <p:cTn id="63" dur="500" fill="hold"/>
                                        <p:tgtEl>
                                          <p:spTgt spid="202"/>
                                        </p:tgtEl>
                                        <p:attrNameLst>
                                          <p:attrName>fill.type</p:attrName>
                                        </p:attrNameLst>
                                      </p:cBhvr>
                                      <p:to>
                                        <p:strVal val="solid"/>
                                      </p:to>
                                    </p:set>
                                    <p:set>
                                      <p:cBhvr>
                                        <p:cTn id="64" dur="500" fill="hold"/>
                                        <p:tgtEl>
                                          <p:spTgt spid="202"/>
                                        </p:tgtEl>
                                        <p:attrNameLst>
                                          <p:attrName>fill.on</p:attrName>
                                        </p:attrNameLst>
                                      </p:cBhvr>
                                      <p:to>
                                        <p:strVal val="true"/>
                                      </p:to>
                                    </p:set>
                                  </p:childTnLst>
                                </p:cTn>
                              </p:par>
                              <p:par>
                                <p:cTn id="65" presetID="1" presetClass="emph" presetSubtype="2" fill="hold" nodeType="withEffect">
                                  <p:stCondLst>
                                    <p:cond delay="250"/>
                                  </p:stCondLst>
                                  <p:childTnLst>
                                    <p:animClr clrSpc="rgb" dir="cw">
                                      <p:cBhvr>
                                        <p:cTn id="66" dur="500" fill="hold"/>
                                        <p:tgtEl>
                                          <p:spTgt spid="203"/>
                                        </p:tgtEl>
                                        <p:attrNameLst>
                                          <p:attrName>fillcolor</p:attrName>
                                        </p:attrNameLst>
                                      </p:cBhvr>
                                      <p:to>
                                        <a:srgbClr val="D0CECE"/>
                                      </p:to>
                                    </p:animClr>
                                    <p:set>
                                      <p:cBhvr>
                                        <p:cTn id="67" dur="500" fill="hold"/>
                                        <p:tgtEl>
                                          <p:spTgt spid="203"/>
                                        </p:tgtEl>
                                        <p:attrNameLst>
                                          <p:attrName>fill.type</p:attrName>
                                        </p:attrNameLst>
                                      </p:cBhvr>
                                      <p:to>
                                        <p:strVal val="solid"/>
                                      </p:to>
                                    </p:set>
                                    <p:set>
                                      <p:cBhvr>
                                        <p:cTn id="68" dur="500" fill="hold"/>
                                        <p:tgtEl>
                                          <p:spTgt spid="203"/>
                                        </p:tgtEl>
                                        <p:attrNameLst>
                                          <p:attrName>fill.on</p:attrName>
                                        </p:attrNameLst>
                                      </p:cBhvr>
                                      <p:to>
                                        <p:strVal val="true"/>
                                      </p:to>
                                    </p:set>
                                  </p:childTnLst>
                                </p:cTn>
                              </p:par>
                              <p:par>
                                <p:cTn id="69" presetID="1" presetClass="emph" presetSubtype="2" fill="hold" nodeType="withEffect">
                                  <p:stCondLst>
                                    <p:cond delay="250"/>
                                  </p:stCondLst>
                                  <p:childTnLst>
                                    <p:animClr clrSpc="rgb" dir="cw">
                                      <p:cBhvr>
                                        <p:cTn id="70" dur="500" fill="hold"/>
                                        <p:tgtEl>
                                          <p:spTgt spid="204"/>
                                        </p:tgtEl>
                                        <p:attrNameLst>
                                          <p:attrName>fillcolor</p:attrName>
                                        </p:attrNameLst>
                                      </p:cBhvr>
                                      <p:to>
                                        <a:srgbClr val="D0CECE"/>
                                      </p:to>
                                    </p:animClr>
                                    <p:set>
                                      <p:cBhvr>
                                        <p:cTn id="71" dur="500" fill="hold"/>
                                        <p:tgtEl>
                                          <p:spTgt spid="204"/>
                                        </p:tgtEl>
                                        <p:attrNameLst>
                                          <p:attrName>fill.type</p:attrName>
                                        </p:attrNameLst>
                                      </p:cBhvr>
                                      <p:to>
                                        <p:strVal val="solid"/>
                                      </p:to>
                                    </p:set>
                                    <p:set>
                                      <p:cBhvr>
                                        <p:cTn id="72" dur="500" fill="hold"/>
                                        <p:tgtEl>
                                          <p:spTgt spid="204"/>
                                        </p:tgtEl>
                                        <p:attrNameLst>
                                          <p:attrName>fill.on</p:attrName>
                                        </p:attrNameLst>
                                      </p:cBhvr>
                                      <p:to>
                                        <p:strVal val="true"/>
                                      </p:to>
                                    </p:set>
                                  </p:childTnLst>
                                </p:cTn>
                              </p:par>
                              <p:par>
                                <p:cTn id="73" presetID="1" presetClass="emph" presetSubtype="2" fill="hold" nodeType="withEffect">
                                  <p:stCondLst>
                                    <p:cond delay="250"/>
                                  </p:stCondLst>
                                  <p:childTnLst>
                                    <p:animClr clrSpc="rgb" dir="cw">
                                      <p:cBhvr>
                                        <p:cTn id="74" dur="500" fill="hold"/>
                                        <p:tgtEl>
                                          <p:spTgt spid="207"/>
                                        </p:tgtEl>
                                        <p:attrNameLst>
                                          <p:attrName>fillcolor</p:attrName>
                                        </p:attrNameLst>
                                      </p:cBhvr>
                                      <p:to>
                                        <a:srgbClr val="D0CECE"/>
                                      </p:to>
                                    </p:animClr>
                                    <p:set>
                                      <p:cBhvr>
                                        <p:cTn id="75" dur="500" fill="hold"/>
                                        <p:tgtEl>
                                          <p:spTgt spid="207"/>
                                        </p:tgtEl>
                                        <p:attrNameLst>
                                          <p:attrName>fill.type</p:attrName>
                                        </p:attrNameLst>
                                      </p:cBhvr>
                                      <p:to>
                                        <p:strVal val="solid"/>
                                      </p:to>
                                    </p:set>
                                    <p:set>
                                      <p:cBhvr>
                                        <p:cTn id="76" dur="500" fill="hold"/>
                                        <p:tgtEl>
                                          <p:spTgt spid="207"/>
                                        </p:tgtEl>
                                        <p:attrNameLst>
                                          <p:attrName>fill.on</p:attrName>
                                        </p:attrNameLst>
                                      </p:cBhvr>
                                      <p:to>
                                        <p:strVal val="true"/>
                                      </p:to>
                                    </p:set>
                                  </p:childTnLst>
                                </p:cTn>
                              </p:par>
                              <p:par>
                                <p:cTn id="77" presetID="1" presetClass="emph" presetSubtype="2" fill="hold" nodeType="withEffect">
                                  <p:stCondLst>
                                    <p:cond delay="250"/>
                                  </p:stCondLst>
                                  <p:childTnLst>
                                    <p:animClr clrSpc="rgb" dir="cw">
                                      <p:cBhvr>
                                        <p:cTn id="78" dur="500" fill="hold"/>
                                        <p:tgtEl>
                                          <p:spTgt spid="208"/>
                                        </p:tgtEl>
                                        <p:attrNameLst>
                                          <p:attrName>fillcolor</p:attrName>
                                        </p:attrNameLst>
                                      </p:cBhvr>
                                      <p:to>
                                        <a:srgbClr val="D0CECE"/>
                                      </p:to>
                                    </p:animClr>
                                    <p:set>
                                      <p:cBhvr>
                                        <p:cTn id="79" dur="500" fill="hold"/>
                                        <p:tgtEl>
                                          <p:spTgt spid="208"/>
                                        </p:tgtEl>
                                        <p:attrNameLst>
                                          <p:attrName>fill.type</p:attrName>
                                        </p:attrNameLst>
                                      </p:cBhvr>
                                      <p:to>
                                        <p:strVal val="solid"/>
                                      </p:to>
                                    </p:set>
                                    <p:set>
                                      <p:cBhvr>
                                        <p:cTn id="80" dur="500" fill="hold"/>
                                        <p:tgtEl>
                                          <p:spTgt spid="208"/>
                                        </p:tgtEl>
                                        <p:attrNameLst>
                                          <p:attrName>fill.on</p:attrName>
                                        </p:attrNameLst>
                                      </p:cBhvr>
                                      <p:to>
                                        <p:strVal val="true"/>
                                      </p:to>
                                    </p:set>
                                  </p:childTnLst>
                                </p:cTn>
                              </p:par>
                              <p:par>
                                <p:cTn id="81" presetID="1" presetClass="emph" presetSubtype="2" fill="hold" nodeType="withEffect">
                                  <p:stCondLst>
                                    <p:cond delay="250"/>
                                  </p:stCondLst>
                                  <p:childTnLst>
                                    <p:animClr clrSpc="rgb" dir="cw">
                                      <p:cBhvr>
                                        <p:cTn id="82" dur="500" fill="hold"/>
                                        <p:tgtEl>
                                          <p:spTgt spid="209"/>
                                        </p:tgtEl>
                                        <p:attrNameLst>
                                          <p:attrName>fillcolor</p:attrName>
                                        </p:attrNameLst>
                                      </p:cBhvr>
                                      <p:to>
                                        <a:srgbClr val="D0CECE"/>
                                      </p:to>
                                    </p:animClr>
                                    <p:set>
                                      <p:cBhvr>
                                        <p:cTn id="83" dur="500" fill="hold"/>
                                        <p:tgtEl>
                                          <p:spTgt spid="209"/>
                                        </p:tgtEl>
                                        <p:attrNameLst>
                                          <p:attrName>fill.type</p:attrName>
                                        </p:attrNameLst>
                                      </p:cBhvr>
                                      <p:to>
                                        <p:strVal val="solid"/>
                                      </p:to>
                                    </p:set>
                                    <p:set>
                                      <p:cBhvr>
                                        <p:cTn id="84" dur="500" fill="hold"/>
                                        <p:tgtEl>
                                          <p:spTgt spid="209"/>
                                        </p:tgtEl>
                                        <p:attrNameLst>
                                          <p:attrName>fill.on</p:attrName>
                                        </p:attrNameLst>
                                      </p:cBhvr>
                                      <p:to>
                                        <p:strVal val="true"/>
                                      </p:to>
                                    </p:set>
                                  </p:childTnLst>
                                </p:cTn>
                              </p:par>
                              <p:par>
                                <p:cTn id="85" presetID="1" presetClass="emph" presetSubtype="2" fill="hold" nodeType="withEffect">
                                  <p:stCondLst>
                                    <p:cond delay="250"/>
                                  </p:stCondLst>
                                  <p:childTnLst>
                                    <p:animClr clrSpc="rgb" dir="cw">
                                      <p:cBhvr>
                                        <p:cTn id="86" dur="500" fill="hold"/>
                                        <p:tgtEl>
                                          <p:spTgt spid="210"/>
                                        </p:tgtEl>
                                        <p:attrNameLst>
                                          <p:attrName>fillcolor</p:attrName>
                                        </p:attrNameLst>
                                      </p:cBhvr>
                                      <p:to>
                                        <a:srgbClr val="D0CECE"/>
                                      </p:to>
                                    </p:animClr>
                                    <p:set>
                                      <p:cBhvr>
                                        <p:cTn id="87" dur="500" fill="hold"/>
                                        <p:tgtEl>
                                          <p:spTgt spid="210"/>
                                        </p:tgtEl>
                                        <p:attrNameLst>
                                          <p:attrName>fill.type</p:attrName>
                                        </p:attrNameLst>
                                      </p:cBhvr>
                                      <p:to>
                                        <p:strVal val="solid"/>
                                      </p:to>
                                    </p:set>
                                    <p:set>
                                      <p:cBhvr>
                                        <p:cTn id="88" dur="500" fill="hold"/>
                                        <p:tgtEl>
                                          <p:spTgt spid="210"/>
                                        </p:tgtEl>
                                        <p:attrNameLst>
                                          <p:attrName>fill.on</p:attrName>
                                        </p:attrNameLst>
                                      </p:cBhvr>
                                      <p:to>
                                        <p:strVal val="true"/>
                                      </p:to>
                                    </p:set>
                                  </p:childTnLst>
                                </p:cTn>
                              </p:par>
                              <p:par>
                                <p:cTn id="89" presetID="7" presetClass="emph" presetSubtype="2" fill="hold" nodeType="withEffect">
                                  <p:stCondLst>
                                    <p:cond delay="250"/>
                                  </p:stCondLst>
                                  <p:childTnLst>
                                    <p:animClr clrSpc="rgb" dir="cw">
                                      <p:cBhvr>
                                        <p:cTn id="90" dur="500" fill="hold"/>
                                        <p:tgtEl>
                                          <p:spTgt spid="202"/>
                                        </p:tgtEl>
                                        <p:attrNameLst>
                                          <p:attrName>stroke.color</p:attrName>
                                        </p:attrNameLst>
                                      </p:cBhvr>
                                      <p:to>
                                        <a:srgbClr val="AEABAB"/>
                                      </p:to>
                                    </p:animClr>
                                    <p:set>
                                      <p:cBhvr>
                                        <p:cTn id="91" dur="500" fill="hold"/>
                                        <p:tgtEl>
                                          <p:spTgt spid="202"/>
                                        </p:tgtEl>
                                        <p:attrNameLst>
                                          <p:attrName>stroke.on</p:attrName>
                                        </p:attrNameLst>
                                      </p:cBhvr>
                                      <p:to>
                                        <p:strVal val="true"/>
                                      </p:to>
                                    </p:set>
                                  </p:childTnLst>
                                </p:cTn>
                              </p:par>
                              <p:par>
                                <p:cTn id="92" presetID="7" presetClass="emph" presetSubtype="2" fill="hold" nodeType="withEffect">
                                  <p:stCondLst>
                                    <p:cond delay="250"/>
                                  </p:stCondLst>
                                  <p:childTnLst>
                                    <p:animClr clrSpc="rgb" dir="cw">
                                      <p:cBhvr>
                                        <p:cTn id="93" dur="500" fill="hold"/>
                                        <p:tgtEl>
                                          <p:spTgt spid="203"/>
                                        </p:tgtEl>
                                        <p:attrNameLst>
                                          <p:attrName>stroke.color</p:attrName>
                                        </p:attrNameLst>
                                      </p:cBhvr>
                                      <p:to>
                                        <a:srgbClr val="AEABAB"/>
                                      </p:to>
                                    </p:animClr>
                                    <p:set>
                                      <p:cBhvr>
                                        <p:cTn id="94" dur="500" fill="hold"/>
                                        <p:tgtEl>
                                          <p:spTgt spid="203"/>
                                        </p:tgtEl>
                                        <p:attrNameLst>
                                          <p:attrName>stroke.on</p:attrName>
                                        </p:attrNameLst>
                                      </p:cBhvr>
                                      <p:to>
                                        <p:strVal val="true"/>
                                      </p:to>
                                    </p:set>
                                  </p:childTnLst>
                                </p:cTn>
                              </p:par>
                              <p:par>
                                <p:cTn id="95" presetID="7" presetClass="emph" presetSubtype="2" fill="hold" nodeType="withEffect">
                                  <p:stCondLst>
                                    <p:cond delay="250"/>
                                  </p:stCondLst>
                                  <p:childTnLst>
                                    <p:animClr clrSpc="rgb" dir="cw">
                                      <p:cBhvr>
                                        <p:cTn id="96" dur="500" fill="hold"/>
                                        <p:tgtEl>
                                          <p:spTgt spid="204"/>
                                        </p:tgtEl>
                                        <p:attrNameLst>
                                          <p:attrName>stroke.color</p:attrName>
                                        </p:attrNameLst>
                                      </p:cBhvr>
                                      <p:to>
                                        <a:srgbClr val="AEABAB"/>
                                      </p:to>
                                    </p:animClr>
                                    <p:set>
                                      <p:cBhvr>
                                        <p:cTn id="97" dur="500" fill="hold"/>
                                        <p:tgtEl>
                                          <p:spTgt spid="204"/>
                                        </p:tgtEl>
                                        <p:attrNameLst>
                                          <p:attrName>stroke.on</p:attrName>
                                        </p:attrNameLst>
                                      </p:cBhvr>
                                      <p:to>
                                        <p:strVal val="true"/>
                                      </p:to>
                                    </p:set>
                                  </p:childTnLst>
                                </p:cTn>
                              </p:par>
                              <p:par>
                                <p:cTn id="98" presetID="7" presetClass="emph" presetSubtype="2" fill="hold" nodeType="withEffect">
                                  <p:stCondLst>
                                    <p:cond delay="250"/>
                                  </p:stCondLst>
                                  <p:childTnLst>
                                    <p:animClr clrSpc="rgb" dir="cw">
                                      <p:cBhvr>
                                        <p:cTn id="99" dur="500" fill="hold"/>
                                        <p:tgtEl>
                                          <p:spTgt spid="207"/>
                                        </p:tgtEl>
                                        <p:attrNameLst>
                                          <p:attrName>stroke.color</p:attrName>
                                        </p:attrNameLst>
                                      </p:cBhvr>
                                      <p:to>
                                        <a:srgbClr val="AEABAB"/>
                                      </p:to>
                                    </p:animClr>
                                    <p:set>
                                      <p:cBhvr>
                                        <p:cTn id="100" dur="500" fill="hold"/>
                                        <p:tgtEl>
                                          <p:spTgt spid="207"/>
                                        </p:tgtEl>
                                        <p:attrNameLst>
                                          <p:attrName>stroke.on</p:attrName>
                                        </p:attrNameLst>
                                      </p:cBhvr>
                                      <p:to>
                                        <p:strVal val="true"/>
                                      </p:to>
                                    </p:set>
                                  </p:childTnLst>
                                </p:cTn>
                              </p:par>
                              <p:par>
                                <p:cTn id="101" presetID="7" presetClass="emph" presetSubtype="2" fill="hold" nodeType="withEffect">
                                  <p:stCondLst>
                                    <p:cond delay="250"/>
                                  </p:stCondLst>
                                  <p:childTnLst>
                                    <p:animClr clrSpc="rgb" dir="cw">
                                      <p:cBhvr>
                                        <p:cTn id="102" dur="500" fill="hold"/>
                                        <p:tgtEl>
                                          <p:spTgt spid="208"/>
                                        </p:tgtEl>
                                        <p:attrNameLst>
                                          <p:attrName>stroke.color</p:attrName>
                                        </p:attrNameLst>
                                      </p:cBhvr>
                                      <p:to>
                                        <a:srgbClr val="AEABAB"/>
                                      </p:to>
                                    </p:animClr>
                                    <p:set>
                                      <p:cBhvr>
                                        <p:cTn id="103" dur="500" fill="hold"/>
                                        <p:tgtEl>
                                          <p:spTgt spid="208"/>
                                        </p:tgtEl>
                                        <p:attrNameLst>
                                          <p:attrName>stroke.on</p:attrName>
                                        </p:attrNameLst>
                                      </p:cBhvr>
                                      <p:to>
                                        <p:strVal val="true"/>
                                      </p:to>
                                    </p:set>
                                  </p:childTnLst>
                                </p:cTn>
                              </p:par>
                              <p:par>
                                <p:cTn id="104" presetID="7" presetClass="emph" presetSubtype="2" fill="hold" nodeType="withEffect">
                                  <p:stCondLst>
                                    <p:cond delay="250"/>
                                  </p:stCondLst>
                                  <p:childTnLst>
                                    <p:animClr clrSpc="rgb" dir="cw">
                                      <p:cBhvr>
                                        <p:cTn id="105" dur="500" fill="hold"/>
                                        <p:tgtEl>
                                          <p:spTgt spid="209"/>
                                        </p:tgtEl>
                                        <p:attrNameLst>
                                          <p:attrName>stroke.color</p:attrName>
                                        </p:attrNameLst>
                                      </p:cBhvr>
                                      <p:to>
                                        <a:srgbClr val="AEABAB"/>
                                      </p:to>
                                    </p:animClr>
                                    <p:set>
                                      <p:cBhvr>
                                        <p:cTn id="106" dur="500" fill="hold"/>
                                        <p:tgtEl>
                                          <p:spTgt spid="209"/>
                                        </p:tgtEl>
                                        <p:attrNameLst>
                                          <p:attrName>stroke.on</p:attrName>
                                        </p:attrNameLst>
                                      </p:cBhvr>
                                      <p:to>
                                        <p:strVal val="true"/>
                                      </p:to>
                                    </p:set>
                                  </p:childTnLst>
                                </p:cTn>
                              </p:par>
                              <p:par>
                                <p:cTn id="107" presetID="7" presetClass="emph" presetSubtype="2" fill="hold" nodeType="withEffect">
                                  <p:stCondLst>
                                    <p:cond delay="250"/>
                                  </p:stCondLst>
                                  <p:childTnLst>
                                    <p:animClr clrSpc="rgb" dir="cw">
                                      <p:cBhvr>
                                        <p:cTn id="108" dur="500" fill="hold"/>
                                        <p:tgtEl>
                                          <p:spTgt spid="210"/>
                                        </p:tgtEl>
                                        <p:attrNameLst>
                                          <p:attrName>stroke.color</p:attrName>
                                        </p:attrNameLst>
                                      </p:cBhvr>
                                      <p:to>
                                        <a:srgbClr val="AEABAB"/>
                                      </p:to>
                                    </p:animClr>
                                    <p:set>
                                      <p:cBhvr>
                                        <p:cTn id="109" dur="500" fill="hold"/>
                                        <p:tgtEl>
                                          <p:spTgt spid="210"/>
                                        </p:tgtEl>
                                        <p:attrNameLst>
                                          <p:attrName>stroke.on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animBg="1"/>
      <p:bldP spid="79" grpId="0" build="p"/>
      <p:bldP spid="80" grpId="0"/>
      <p:bldP spid="80" grpId="1"/>
      <p:bldP spid="67" grpId="0" animBg="1"/>
      <p:bldP spid="6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5048250" y="2930097"/>
            <a:ext cx="4095750" cy="1174562"/>
            <a:chOff x="5048250" y="2834847"/>
            <a:chExt cx="4095750" cy="1174562"/>
          </a:xfrm>
        </p:grpSpPr>
        <p:sp>
          <p:nvSpPr>
            <p:cNvPr id="106" name="Rounded Rectangular Callout 233"/>
            <p:cNvSpPr/>
            <p:nvPr/>
          </p:nvSpPr>
          <p:spPr>
            <a:xfrm flipH="1">
              <a:off x="5048250" y="2834847"/>
              <a:ext cx="4095750" cy="1174562"/>
            </a:xfrm>
            <a:custGeom>
              <a:avLst/>
              <a:gdLst>
                <a:gd name="connsiteX0" fmla="*/ 0 w 3939907"/>
                <a:gd name="connsiteY0" fmla="*/ 195764 h 1174562"/>
                <a:gd name="connsiteX1" fmla="*/ 195764 w 3939907"/>
                <a:gd name="connsiteY1" fmla="*/ 0 h 1174562"/>
                <a:gd name="connsiteX2" fmla="*/ 2298279 w 3939907"/>
                <a:gd name="connsiteY2" fmla="*/ 0 h 1174562"/>
                <a:gd name="connsiteX3" fmla="*/ 3351718 w 3939907"/>
                <a:gd name="connsiteY3" fmla="*/ -297517 h 1174562"/>
                <a:gd name="connsiteX4" fmla="*/ 3283256 w 3939907"/>
                <a:gd name="connsiteY4" fmla="*/ 0 h 1174562"/>
                <a:gd name="connsiteX5" fmla="*/ 3744143 w 3939907"/>
                <a:gd name="connsiteY5" fmla="*/ 0 h 1174562"/>
                <a:gd name="connsiteX6" fmla="*/ 3939907 w 3939907"/>
                <a:gd name="connsiteY6" fmla="*/ 195764 h 1174562"/>
                <a:gd name="connsiteX7" fmla="*/ 3939907 w 3939907"/>
                <a:gd name="connsiteY7" fmla="*/ 195760 h 1174562"/>
                <a:gd name="connsiteX8" fmla="*/ 3939907 w 3939907"/>
                <a:gd name="connsiteY8" fmla="*/ 195760 h 1174562"/>
                <a:gd name="connsiteX9" fmla="*/ 3939907 w 3939907"/>
                <a:gd name="connsiteY9" fmla="*/ 489401 h 1174562"/>
                <a:gd name="connsiteX10" fmla="*/ 3939907 w 3939907"/>
                <a:gd name="connsiteY10" fmla="*/ 978798 h 1174562"/>
                <a:gd name="connsiteX11" fmla="*/ 3744143 w 3939907"/>
                <a:gd name="connsiteY11" fmla="*/ 1174562 h 1174562"/>
                <a:gd name="connsiteX12" fmla="*/ 3283256 w 3939907"/>
                <a:gd name="connsiteY12" fmla="*/ 1174562 h 1174562"/>
                <a:gd name="connsiteX13" fmla="*/ 2298279 w 3939907"/>
                <a:gd name="connsiteY13" fmla="*/ 1174562 h 1174562"/>
                <a:gd name="connsiteX14" fmla="*/ 2298279 w 3939907"/>
                <a:gd name="connsiteY14" fmla="*/ 1174562 h 1174562"/>
                <a:gd name="connsiteX15" fmla="*/ 195764 w 3939907"/>
                <a:gd name="connsiteY15" fmla="*/ 1174562 h 1174562"/>
                <a:gd name="connsiteX16" fmla="*/ 0 w 3939907"/>
                <a:gd name="connsiteY16" fmla="*/ 978798 h 1174562"/>
                <a:gd name="connsiteX17" fmla="*/ 0 w 3939907"/>
                <a:gd name="connsiteY17" fmla="*/ 489401 h 1174562"/>
                <a:gd name="connsiteX18" fmla="*/ 0 w 3939907"/>
                <a:gd name="connsiteY18" fmla="*/ 195760 h 1174562"/>
                <a:gd name="connsiteX19" fmla="*/ 0 w 3939907"/>
                <a:gd name="connsiteY19" fmla="*/ 195760 h 1174562"/>
                <a:gd name="connsiteX20" fmla="*/ 0 w 3939907"/>
                <a:gd name="connsiteY20" fmla="*/ 195764 h 1174562"/>
                <a:gd name="connsiteX0" fmla="*/ 0 w 3939907"/>
                <a:gd name="connsiteY0" fmla="*/ 493281 h 1472079"/>
                <a:gd name="connsiteX1" fmla="*/ 195764 w 3939907"/>
                <a:gd name="connsiteY1" fmla="*/ 297517 h 1472079"/>
                <a:gd name="connsiteX2" fmla="*/ 2298279 w 3939907"/>
                <a:gd name="connsiteY2" fmla="*/ 297517 h 1472079"/>
                <a:gd name="connsiteX3" fmla="*/ 3351718 w 3939907"/>
                <a:gd name="connsiteY3" fmla="*/ 0 h 1472079"/>
                <a:gd name="connsiteX4" fmla="*/ 3519231 w 3939907"/>
                <a:gd name="connsiteY4" fmla="*/ 297517 h 1472079"/>
                <a:gd name="connsiteX5" fmla="*/ 3744143 w 3939907"/>
                <a:gd name="connsiteY5" fmla="*/ 297517 h 1472079"/>
                <a:gd name="connsiteX6" fmla="*/ 3939907 w 3939907"/>
                <a:gd name="connsiteY6" fmla="*/ 493281 h 1472079"/>
                <a:gd name="connsiteX7" fmla="*/ 3939907 w 3939907"/>
                <a:gd name="connsiteY7" fmla="*/ 493277 h 1472079"/>
                <a:gd name="connsiteX8" fmla="*/ 3939907 w 3939907"/>
                <a:gd name="connsiteY8" fmla="*/ 493277 h 1472079"/>
                <a:gd name="connsiteX9" fmla="*/ 3939907 w 3939907"/>
                <a:gd name="connsiteY9" fmla="*/ 786918 h 1472079"/>
                <a:gd name="connsiteX10" fmla="*/ 3939907 w 3939907"/>
                <a:gd name="connsiteY10" fmla="*/ 1276315 h 1472079"/>
                <a:gd name="connsiteX11" fmla="*/ 3744143 w 3939907"/>
                <a:gd name="connsiteY11" fmla="*/ 1472079 h 1472079"/>
                <a:gd name="connsiteX12" fmla="*/ 3283256 w 3939907"/>
                <a:gd name="connsiteY12" fmla="*/ 1472079 h 1472079"/>
                <a:gd name="connsiteX13" fmla="*/ 2298279 w 3939907"/>
                <a:gd name="connsiteY13" fmla="*/ 1472079 h 1472079"/>
                <a:gd name="connsiteX14" fmla="*/ 2298279 w 3939907"/>
                <a:gd name="connsiteY14" fmla="*/ 1472079 h 1472079"/>
                <a:gd name="connsiteX15" fmla="*/ 195764 w 3939907"/>
                <a:gd name="connsiteY15" fmla="*/ 1472079 h 1472079"/>
                <a:gd name="connsiteX16" fmla="*/ 0 w 3939907"/>
                <a:gd name="connsiteY16" fmla="*/ 1276315 h 1472079"/>
                <a:gd name="connsiteX17" fmla="*/ 0 w 3939907"/>
                <a:gd name="connsiteY17" fmla="*/ 786918 h 1472079"/>
                <a:gd name="connsiteX18" fmla="*/ 0 w 3939907"/>
                <a:gd name="connsiteY18" fmla="*/ 493277 h 1472079"/>
                <a:gd name="connsiteX19" fmla="*/ 0 w 3939907"/>
                <a:gd name="connsiteY19" fmla="*/ 493277 h 1472079"/>
                <a:gd name="connsiteX20" fmla="*/ 0 w 3939907"/>
                <a:gd name="connsiteY20" fmla="*/ 493281 h 1472079"/>
                <a:gd name="connsiteX0" fmla="*/ 0 w 3939907"/>
                <a:gd name="connsiteY0" fmla="*/ 493281 h 1472079"/>
                <a:gd name="connsiteX1" fmla="*/ 195764 w 3939907"/>
                <a:gd name="connsiteY1" fmla="*/ 297517 h 1472079"/>
                <a:gd name="connsiteX2" fmla="*/ 3232343 w 3939907"/>
                <a:gd name="connsiteY2" fmla="*/ 287685 h 1472079"/>
                <a:gd name="connsiteX3" fmla="*/ 3351718 w 3939907"/>
                <a:gd name="connsiteY3" fmla="*/ 0 h 1472079"/>
                <a:gd name="connsiteX4" fmla="*/ 3519231 w 3939907"/>
                <a:gd name="connsiteY4" fmla="*/ 297517 h 1472079"/>
                <a:gd name="connsiteX5" fmla="*/ 3744143 w 3939907"/>
                <a:gd name="connsiteY5" fmla="*/ 297517 h 1472079"/>
                <a:gd name="connsiteX6" fmla="*/ 3939907 w 3939907"/>
                <a:gd name="connsiteY6" fmla="*/ 493281 h 1472079"/>
                <a:gd name="connsiteX7" fmla="*/ 3939907 w 3939907"/>
                <a:gd name="connsiteY7" fmla="*/ 493277 h 1472079"/>
                <a:gd name="connsiteX8" fmla="*/ 3939907 w 3939907"/>
                <a:gd name="connsiteY8" fmla="*/ 493277 h 1472079"/>
                <a:gd name="connsiteX9" fmla="*/ 3939907 w 3939907"/>
                <a:gd name="connsiteY9" fmla="*/ 786918 h 1472079"/>
                <a:gd name="connsiteX10" fmla="*/ 3939907 w 3939907"/>
                <a:gd name="connsiteY10" fmla="*/ 1276315 h 1472079"/>
                <a:gd name="connsiteX11" fmla="*/ 3744143 w 3939907"/>
                <a:gd name="connsiteY11" fmla="*/ 1472079 h 1472079"/>
                <a:gd name="connsiteX12" fmla="*/ 3283256 w 3939907"/>
                <a:gd name="connsiteY12" fmla="*/ 1472079 h 1472079"/>
                <a:gd name="connsiteX13" fmla="*/ 2298279 w 3939907"/>
                <a:gd name="connsiteY13" fmla="*/ 1472079 h 1472079"/>
                <a:gd name="connsiteX14" fmla="*/ 2298279 w 3939907"/>
                <a:gd name="connsiteY14" fmla="*/ 1472079 h 1472079"/>
                <a:gd name="connsiteX15" fmla="*/ 195764 w 3939907"/>
                <a:gd name="connsiteY15" fmla="*/ 1472079 h 1472079"/>
                <a:gd name="connsiteX16" fmla="*/ 0 w 3939907"/>
                <a:gd name="connsiteY16" fmla="*/ 1276315 h 1472079"/>
                <a:gd name="connsiteX17" fmla="*/ 0 w 3939907"/>
                <a:gd name="connsiteY17" fmla="*/ 786918 h 1472079"/>
                <a:gd name="connsiteX18" fmla="*/ 0 w 3939907"/>
                <a:gd name="connsiteY18" fmla="*/ 493277 h 1472079"/>
                <a:gd name="connsiteX19" fmla="*/ 0 w 3939907"/>
                <a:gd name="connsiteY19" fmla="*/ 493277 h 1472079"/>
                <a:gd name="connsiteX20" fmla="*/ 0 w 3939907"/>
                <a:gd name="connsiteY20" fmla="*/ 493281 h 1472079"/>
                <a:gd name="connsiteX0" fmla="*/ 0 w 3939907"/>
                <a:gd name="connsiteY0" fmla="*/ 493281 h 1472079"/>
                <a:gd name="connsiteX1" fmla="*/ 195764 w 3939907"/>
                <a:gd name="connsiteY1" fmla="*/ 297517 h 1472079"/>
                <a:gd name="connsiteX2" fmla="*/ 3232343 w 3939907"/>
                <a:gd name="connsiteY2" fmla="*/ 287685 h 1472079"/>
                <a:gd name="connsiteX3" fmla="*/ 3351718 w 3939907"/>
                <a:gd name="connsiteY3" fmla="*/ 0 h 1472079"/>
                <a:gd name="connsiteX4" fmla="*/ 3519231 w 3939907"/>
                <a:gd name="connsiteY4" fmla="*/ 297517 h 1472079"/>
                <a:gd name="connsiteX5" fmla="*/ 3744143 w 3939907"/>
                <a:gd name="connsiteY5" fmla="*/ 297517 h 1472079"/>
                <a:gd name="connsiteX6" fmla="*/ 3939907 w 3939907"/>
                <a:gd name="connsiteY6" fmla="*/ 493281 h 1472079"/>
                <a:gd name="connsiteX7" fmla="*/ 3939907 w 3939907"/>
                <a:gd name="connsiteY7" fmla="*/ 493277 h 1472079"/>
                <a:gd name="connsiteX8" fmla="*/ 3939907 w 3939907"/>
                <a:gd name="connsiteY8" fmla="*/ 493277 h 1472079"/>
                <a:gd name="connsiteX9" fmla="*/ 3939907 w 3939907"/>
                <a:gd name="connsiteY9" fmla="*/ 786918 h 1472079"/>
                <a:gd name="connsiteX10" fmla="*/ 3939907 w 3939907"/>
                <a:gd name="connsiteY10" fmla="*/ 1276315 h 1472079"/>
                <a:gd name="connsiteX11" fmla="*/ 3744143 w 3939907"/>
                <a:gd name="connsiteY11" fmla="*/ 1472079 h 1472079"/>
                <a:gd name="connsiteX12" fmla="*/ 3283256 w 3939907"/>
                <a:gd name="connsiteY12" fmla="*/ 1472079 h 1472079"/>
                <a:gd name="connsiteX13" fmla="*/ 2298279 w 3939907"/>
                <a:gd name="connsiteY13" fmla="*/ 1472079 h 1472079"/>
                <a:gd name="connsiteX14" fmla="*/ 2298279 w 3939907"/>
                <a:gd name="connsiteY14" fmla="*/ 1472079 h 1472079"/>
                <a:gd name="connsiteX15" fmla="*/ 195764 w 3939907"/>
                <a:gd name="connsiteY15" fmla="*/ 1472079 h 1472079"/>
                <a:gd name="connsiteX16" fmla="*/ 0 w 3939907"/>
                <a:gd name="connsiteY16" fmla="*/ 1276315 h 1472079"/>
                <a:gd name="connsiteX17" fmla="*/ 0 w 3939907"/>
                <a:gd name="connsiteY17" fmla="*/ 786918 h 1472079"/>
                <a:gd name="connsiteX18" fmla="*/ 0 w 3939907"/>
                <a:gd name="connsiteY18" fmla="*/ 493277 h 1472079"/>
                <a:gd name="connsiteX19" fmla="*/ 0 w 3939907"/>
                <a:gd name="connsiteY19" fmla="*/ 493277 h 1472079"/>
                <a:gd name="connsiteX20" fmla="*/ 0 w 3939907"/>
                <a:gd name="connsiteY20" fmla="*/ 493281 h 1472079"/>
                <a:gd name="connsiteX0" fmla="*/ 0 w 3939907"/>
                <a:gd name="connsiteY0" fmla="*/ 493281 h 1472079"/>
                <a:gd name="connsiteX1" fmla="*/ 195764 w 3939907"/>
                <a:gd name="connsiteY1" fmla="*/ 297517 h 1472079"/>
                <a:gd name="connsiteX2" fmla="*/ 3232343 w 3939907"/>
                <a:gd name="connsiteY2" fmla="*/ 287685 h 1472079"/>
                <a:gd name="connsiteX3" fmla="*/ 3351718 w 3939907"/>
                <a:gd name="connsiteY3" fmla="*/ 0 h 1472079"/>
                <a:gd name="connsiteX4" fmla="*/ 3519231 w 3939907"/>
                <a:gd name="connsiteY4" fmla="*/ 297517 h 1472079"/>
                <a:gd name="connsiteX5" fmla="*/ 3744143 w 3939907"/>
                <a:gd name="connsiteY5" fmla="*/ 297517 h 1472079"/>
                <a:gd name="connsiteX6" fmla="*/ 3939907 w 3939907"/>
                <a:gd name="connsiteY6" fmla="*/ 493281 h 1472079"/>
                <a:gd name="connsiteX7" fmla="*/ 3939907 w 3939907"/>
                <a:gd name="connsiteY7" fmla="*/ 493277 h 1472079"/>
                <a:gd name="connsiteX8" fmla="*/ 3939907 w 3939907"/>
                <a:gd name="connsiteY8" fmla="*/ 493277 h 1472079"/>
                <a:gd name="connsiteX9" fmla="*/ 3939907 w 3939907"/>
                <a:gd name="connsiteY9" fmla="*/ 786918 h 1472079"/>
                <a:gd name="connsiteX10" fmla="*/ 3939907 w 3939907"/>
                <a:gd name="connsiteY10" fmla="*/ 1276315 h 1472079"/>
                <a:gd name="connsiteX11" fmla="*/ 3744143 w 3939907"/>
                <a:gd name="connsiteY11" fmla="*/ 1472079 h 1472079"/>
                <a:gd name="connsiteX12" fmla="*/ 3283256 w 3939907"/>
                <a:gd name="connsiteY12" fmla="*/ 1472079 h 1472079"/>
                <a:gd name="connsiteX13" fmla="*/ 2298279 w 3939907"/>
                <a:gd name="connsiteY13" fmla="*/ 1472079 h 1472079"/>
                <a:gd name="connsiteX14" fmla="*/ 2298279 w 3939907"/>
                <a:gd name="connsiteY14" fmla="*/ 1472079 h 1472079"/>
                <a:gd name="connsiteX15" fmla="*/ 195764 w 3939907"/>
                <a:gd name="connsiteY15" fmla="*/ 1472079 h 1472079"/>
                <a:gd name="connsiteX16" fmla="*/ 0 w 3939907"/>
                <a:gd name="connsiteY16" fmla="*/ 1276315 h 1472079"/>
                <a:gd name="connsiteX17" fmla="*/ 0 w 3939907"/>
                <a:gd name="connsiteY17" fmla="*/ 786918 h 1472079"/>
                <a:gd name="connsiteX18" fmla="*/ 0 w 3939907"/>
                <a:gd name="connsiteY18" fmla="*/ 493277 h 1472079"/>
                <a:gd name="connsiteX19" fmla="*/ 0 w 3939907"/>
                <a:gd name="connsiteY19" fmla="*/ 493277 h 1472079"/>
                <a:gd name="connsiteX20" fmla="*/ 0 w 3939907"/>
                <a:gd name="connsiteY20" fmla="*/ 493281 h 1472079"/>
                <a:gd name="connsiteX0" fmla="*/ 0 w 3939907"/>
                <a:gd name="connsiteY0" fmla="*/ 493281 h 1472079"/>
                <a:gd name="connsiteX1" fmla="*/ 195764 w 3939907"/>
                <a:gd name="connsiteY1" fmla="*/ 297517 h 1472079"/>
                <a:gd name="connsiteX2" fmla="*/ 3232343 w 3939907"/>
                <a:gd name="connsiteY2" fmla="*/ 287685 h 1472079"/>
                <a:gd name="connsiteX3" fmla="*/ 3351718 w 3939907"/>
                <a:gd name="connsiteY3" fmla="*/ 0 h 1472079"/>
                <a:gd name="connsiteX4" fmla="*/ 3519231 w 3939907"/>
                <a:gd name="connsiteY4" fmla="*/ 297517 h 1472079"/>
                <a:gd name="connsiteX5" fmla="*/ 3744143 w 3939907"/>
                <a:gd name="connsiteY5" fmla="*/ 297517 h 1472079"/>
                <a:gd name="connsiteX6" fmla="*/ 3939907 w 3939907"/>
                <a:gd name="connsiteY6" fmla="*/ 493281 h 1472079"/>
                <a:gd name="connsiteX7" fmla="*/ 3939907 w 3939907"/>
                <a:gd name="connsiteY7" fmla="*/ 493277 h 1472079"/>
                <a:gd name="connsiteX8" fmla="*/ 3939907 w 3939907"/>
                <a:gd name="connsiteY8" fmla="*/ 493277 h 1472079"/>
                <a:gd name="connsiteX9" fmla="*/ 3939907 w 3939907"/>
                <a:gd name="connsiteY9" fmla="*/ 786918 h 1472079"/>
                <a:gd name="connsiteX10" fmla="*/ 3939907 w 3939907"/>
                <a:gd name="connsiteY10" fmla="*/ 1276315 h 1472079"/>
                <a:gd name="connsiteX11" fmla="*/ 3744143 w 3939907"/>
                <a:gd name="connsiteY11" fmla="*/ 1472079 h 1472079"/>
                <a:gd name="connsiteX12" fmla="*/ 3283256 w 3939907"/>
                <a:gd name="connsiteY12" fmla="*/ 1472079 h 1472079"/>
                <a:gd name="connsiteX13" fmla="*/ 2298279 w 3939907"/>
                <a:gd name="connsiteY13" fmla="*/ 1472079 h 1472079"/>
                <a:gd name="connsiteX14" fmla="*/ 2298279 w 3939907"/>
                <a:gd name="connsiteY14" fmla="*/ 1472079 h 1472079"/>
                <a:gd name="connsiteX15" fmla="*/ 195764 w 3939907"/>
                <a:gd name="connsiteY15" fmla="*/ 1472079 h 1472079"/>
                <a:gd name="connsiteX16" fmla="*/ 0 w 3939907"/>
                <a:gd name="connsiteY16" fmla="*/ 1276315 h 1472079"/>
                <a:gd name="connsiteX17" fmla="*/ 0 w 3939907"/>
                <a:gd name="connsiteY17" fmla="*/ 786918 h 1472079"/>
                <a:gd name="connsiteX18" fmla="*/ 0 w 3939907"/>
                <a:gd name="connsiteY18" fmla="*/ 493277 h 1472079"/>
                <a:gd name="connsiteX19" fmla="*/ 0 w 3939907"/>
                <a:gd name="connsiteY19" fmla="*/ 493277 h 1472079"/>
                <a:gd name="connsiteX20" fmla="*/ 0 w 3939907"/>
                <a:gd name="connsiteY20" fmla="*/ 493281 h 1472079"/>
                <a:gd name="connsiteX0" fmla="*/ 0 w 3939907"/>
                <a:gd name="connsiteY0" fmla="*/ 493281 h 1472079"/>
                <a:gd name="connsiteX1" fmla="*/ 195764 w 3939907"/>
                <a:gd name="connsiteY1" fmla="*/ 297517 h 1472079"/>
                <a:gd name="connsiteX2" fmla="*/ 3232343 w 3939907"/>
                <a:gd name="connsiteY2" fmla="*/ 287685 h 1472079"/>
                <a:gd name="connsiteX3" fmla="*/ 3351718 w 3939907"/>
                <a:gd name="connsiteY3" fmla="*/ 0 h 1472079"/>
                <a:gd name="connsiteX4" fmla="*/ 3519231 w 3939907"/>
                <a:gd name="connsiteY4" fmla="*/ 297517 h 1472079"/>
                <a:gd name="connsiteX5" fmla="*/ 3744143 w 3939907"/>
                <a:gd name="connsiteY5" fmla="*/ 297517 h 1472079"/>
                <a:gd name="connsiteX6" fmla="*/ 3939907 w 3939907"/>
                <a:gd name="connsiteY6" fmla="*/ 493281 h 1472079"/>
                <a:gd name="connsiteX7" fmla="*/ 3939907 w 3939907"/>
                <a:gd name="connsiteY7" fmla="*/ 493277 h 1472079"/>
                <a:gd name="connsiteX8" fmla="*/ 3939907 w 3939907"/>
                <a:gd name="connsiteY8" fmla="*/ 493277 h 1472079"/>
                <a:gd name="connsiteX9" fmla="*/ 3939907 w 3939907"/>
                <a:gd name="connsiteY9" fmla="*/ 786918 h 1472079"/>
                <a:gd name="connsiteX10" fmla="*/ 3939907 w 3939907"/>
                <a:gd name="connsiteY10" fmla="*/ 1276315 h 1472079"/>
                <a:gd name="connsiteX11" fmla="*/ 3744143 w 3939907"/>
                <a:gd name="connsiteY11" fmla="*/ 1472079 h 1472079"/>
                <a:gd name="connsiteX12" fmla="*/ 3283256 w 3939907"/>
                <a:gd name="connsiteY12" fmla="*/ 1472079 h 1472079"/>
                <a:gd name="connsiteX13" fmla="*/ 2298279 w 3939907"/>
                <a:gd name="connsiteY13" fmla="*/ 1472079 h 1472079"/>
                <a:gd name="connsiteX14" fmla="*/ 2298279 w 3939907"/>
                <a:gd name="connsiteY14" fmla="*/ 1472079 h 1472079"/>
                <a:gd name="connsiteX15" fmla="*/ 195764 w 3939907"/>
                <a:gd name="connsiteY15" fmla="*/ 1472079 h 1472079"/>
                <a:gd name="connsiteX16" fmla="*/ 0 w 3939907"/>
                <a:gd name="connsiteY16" fmla="*/ 1276315 h 1472079"/>
                <a:gd name="connsiteX17" fmla="*/ 0 w 3939907"/>
                <a:gd name="connsiteY17" fmla="*/ 786918 h 1472079"/>
                <a:gd name="connsiteX18" fmla="*/ 0 w 3939907"/>
                <a:gd name="connsiteY18" fmla="*/ 493277 h 1472079"/>
                <a:gd name="connsiteX19" fmla="*/ 0 w 3939907"/>
                <a:gd name="connsiteY19" fmla="*/ 493277 h 1472079"/>
                <a:gd name="connsiteX20" fmla="*/ 0 w 3939907"/>
                <a:gd name="connsiteY20" fmla="*/ 493281 h 1472079"/>
                <a:gd name="connsiteX0" fmla="*/ 0 w 3939907"/>
                <a:gd name="connsiteY0" fmla="*/ 493281 h 1472079"/>
                <a:gd name="connsiteX1" fmla="*/ 195764 w 3939907"/>
                <a:gd name="connsiteY1" fmla="*/ 297517 h 1472079"/>
                <a:gd name="connsiteX2" fmla="*/ 3232343 w 3939907"/>
                <a:gd name="connsiteY2" fmla="*/ 287685 h 1472079"/>
                <a:gd name="connsiteX3" fmla="*/ 3351718 w 3939907"/>
                <a:gd name="connsiteY3" fmla="*/ 0 h 1472079"/>
                <a:gd name="connsiteX4" fmla="*/ 3519231 w 3939907"/>
                <a:gd name="connsiteY4" fmla="*/ 297517 h 1472079"/>
                <a:gd name="connsiteX5" fmla="*/ 3744143 w 3939907"/>
                <a:gd name="connsiteY5" fmla="*/ 297517 h 1472079"/>
                <a:gd name="connsiteX6" fmla="*/ 3939907 w 3939907"/>
                <a:gd name="connsiteY6" fmla="*/ 493281 h 1472079"/>
                <a:gd name="connsiteX7" fmla="*/ 3939907 w 3939907"/>
                <a:gd name="connsiteY7" fmla="*/ 493277 h 1472079"/>
                <a:gd name="connsiteX8" fmla="*/ 3939907 w 3939907"/>
                <a:gd name="connsiteY8" fmla="*/ 493277 h 1472079"/>
                <a:gd name="connsiteX9" fmla="*/ 3939907 w 3939907"/>
                <a:gd name="connsiteY9" fmla="*/ 786918 h 1472079"/>
                <a:gd name="connsiteX10" fmla="*/ 3939907 w 3939907"/>
                <a:gd name="connsiteY10" fmla="*/ 1276315 h 1472079"/>
                <a:gd name="connsiteX11" fmla="*/ 3744143 w 3939907"/>
                <a:gd name="connsiteY11" fmla="*/ 1472079 h 1472079"/>
                <a:gd name="connsiteX12" fmla="*/ 3283256 w 3939907"/>
                <a:gd name="connsiteY12" fmla="*/ 1472079 h 1472079"/>
                <a:gd name="connsiteX13" fmla="*/ 2298279 w 3939907"/>
                <a:gd name="connsiteY13" fmla="*/ 1472079 h 1472079"/>
                <a:gd name="connsiteX14" fmla="*/ 2298279 w 3939907"/>
                <a:gd name="connsiteY14" fmla="*/ 1472079 h 1472079"/>
                <a:gd name="connsiteX15" fmla="*/ 195764 w 3939907"/>
                <a:gd name="connsiteY15" fmla="*/ 1472079 h 1472079"/>
                <a:gd name="connsiteX16" fmla="*/ 0 w 3939907"/>
                <a:gd name="connsiteY16" fmla="*/ 1276315 h 1472079"/>
                <a:gd name="connsiteX17" fmla="*/ 0 w 3939907"/>
                <a:gd name="connsiteY17" fmla="*/ 786918 h 1472079"/>
                <a:gd name="connsiteX18" fmla="*/ 0 w 3939907"/>
                <a:gd name="connsiteY18" fmla="*/ 493277 h 1472079"/>
                <a:gd name="connsiteX19" fmla="*/ 0 w 3939907"/>
                <a:gd name="connsiteY19" fmla="*/ 493277 h 1472079"/>
                <a:gd name="connsiteX20" fmla="*/ 0 w 3939907"/>
                <a:gd name="connsiteY20" fmla="*/ 493281 h 1472079"/>
                <a:gd name="connsiteX0" fmla="*/ 0 w 3939907"/>
                <a:gd name="connsiteY0" fmla="*/ 493281 h 1472079"/>
                <a:gd name="connsiteX1" fmla="*/ 195764 w 3939907"/>
                <a:gd name="connsiteY1" fmla="*/ 297517 h 1472079"/>
                <a:gd name="connsiteX2" fmla="*/ 3232343 w 3939907"/>
                <a:gd name="connsiteY2" fmla="*/ 287685 h 1472079"/>
                <a:gd name="connsiteX3" fmla="*/ 3351718 w 3939907"/>
                <a:gd name="connsiteY3" fmla="*/ 0 h 1472079"/>
                <a:gd name="connsiteX4" fmla="*/ 3519231 w 3939907"/>
                <a:gd name="connsiteY4" fmla="*/ 297517 h 1472079"/>
                <a:gd name="connsiteX5" fmla="*/ 3744143 w 3939907"/>
                <a:gd name="connsiteY5" fmla="*/ 297517 h 1472079"/>
                <a:gd name="connsiteX6" fmla="*/ 3939907 w 3939907"/>
                <a:gd name="connsiteY6" fmla="*/ 493281 h 1472079"/>
                <a:gd name="connsiteX7" fmla="*/ 3939907 w 3939907"/>
                <a:gd name="connsiteY7" fmla="*/ 493277 h 1472079"/>
                <a:gd name="connsiteX8" fmla="*/ 3939907 w 3939907"/>
                <a:gd name="connsiteY8" fmla="*/ 493277 h 1472079"/>
                <a:gd name="connsiteX9" fmla="*/ 3939907 w 3939907"/>
                <a:gd name="connsiteY9" fmla="*/ 786918 h 1472079"/>
                <a:gd name="connsiteX10" fmla="*/ 3939907 w 3939907"/>
                <a:gd name="connsiteY10" fmla="*/ 1276315 h 1472079"/>
                <a:gd name="connsiteX11" fmla="*/ 3744143 w 3939907"/>
                <a:gd name="connsiteY11" fmla="*/ 1472079 h 1472079"/>
                <a:gd name="connsiteX12" fmla="*/ 3283256 w 3939907"/>
                <a:gd name="connsiteY12" fmla="*/ 1472079 h 1472079"/>
                <a:gd name="connsiteX13" fmla="*/ 2298279 w 3939907"/>
                <a:gd name="connsiteY13" fmla="*/ 1472079 h 1472079"/>
                <a:gd name="connsiteX14" fmla="*/ 2298279 w 3939907"/>
                <a:gd name="connsiteY14" fmla="*/ 1472079 h 1472079"/>
                <a:gd name="connsiteX15" fmla="*/ 195764 w 3939907"/>
                <a:gd name="connsiteY15" fmla="*/ 1472079 h 1472079"/>
                <a:gd name="connsiteX16" fmla="*/ 0 w 3939907"/>
                <a:gd name="connsiteY16" fmla="*/ 1276315 h 1472079"/>
                <a:gd name="connsiteX17" fmla="*/ 0 w 3939907"/>
                <a:gd name="connsiteY17" fmla="*/ 786918 h 1472079"/>
                <a:gd name="connsiteX18" fmla="*/ 0 w 3939907"/>
                <a:gd name="connsiteY18" fmla="*/ 493277 h 1472079"/>
                <a:gd name="connsiteX19" fmla="*/ 0 w 3939907"/>
                <a:gd name="connsiteY19" fmla="*/ 493277 h 1472079"/>
                <a:gd name="connsiteX20" fmla="*/ 0 w 3939907"/>
                <a:gd name="connsiteY20" fmla="*/ 493281 h 1472079"/>
                <a:gd name="connsiteX0" fmla="*/ 0 w 3939907"/>
                <a:gd name="connsiteY0" fmla="*/ 493281 h 1472079"/>
                <a:gd name="connsiteX1" fmla="*/ 195764 w 3939907"/>
                <a:gd name="connsiteY1" fmla="*/ 297517 h 1472079"/>
                <a:gd name="connsiteX2" fmla="*/ 3232343 w 3939907"/>
                <a:gd name="connsiteY2" fmla="*/ 287685 h 1472079"/>
                <a:gd name="connsiteX3" fmla="*/ 3351718 w 3939907"/>
                <a:gd name="connsiteY3" fmla="*/ 0 h 1472079"/>
                <a:gd name="connsiteX4" fmla="*/ 3519231 w 3939907"/>
                <a:gd name="connsiteY4" fmla="*/ 297517 h 1472079"/>
                <a:gd name="connsiteX5" fmla="*/ 3744143 w 3939907"/>
                <a:gd name="connsiteY5" fmla="*/ 297517 h 1472079"/>
                <a:gd name="connsiteX6" fmla="*/ 3939907 w 3939907"/>
                <a:gd name="connsiteY6" fmla="*/ 493281 h 1472079"/>
                <a:gd name="connsiteX7" fmla="*/ 3939907 w 3939907"/>
                <a:gd name="connsiteY7" fmla="*/ 493277 h 1472079"/>
                <a:gd name="connsiteX8" fmla="*/ 3939907 w 3939907"/>
                <a:gd name="connsiteY8" fmla="*/ 493277 h 1472079"/>
                <a:gd name="connsiteX9" fmla="*/ 3939907 w 3939907"/>
                <a:gd name="connsiteY9" fmla="*/ 786918 h 1472079"/>
                <a:gd name="connsiteX10" fmla="*/ 3939907 w 3939907"/>
                <a:gd name="connsiteY10" fmla="*/ 1276315 h 1472079"/>
                <a:gd name="connsiteX11" fmla="*/ 3744143 w 3939907"/>
                <a:gd name="connsiteY11" fmla="*/ 1472079 h 1472079"/>
                <a:gd name="connsiteX12" fmla="*/ 3283256 w 3939907"/>
                <a:gd name="connsiteY12" fmla="*/ 1472079 h 1472079"/>
                <a:gd name="connsiteX13" fmla="*/ 2298279 w 3939907"/>
                <a:gd name="connsiteY13" fmla="*/ 1472079 h 1472079"/>
                <a:gd name="connsiteX14" fmla="*/ 2298279 w 3939907"/>
                <a:gd name="connsiteY14" fmla="*/ 1472079 h 1472079"/>
                <a:gd name="connsiteX15" fmla="*/ 195764 w 3939907"/>
                <a:gd name="connsiteY15" fmla="*/ 1472079 h 1472079"/>
                <a:gd name="connsiteX16" fmla="*/ 0 w 3939907"/>
                <a:gd name="connsiteY16" fmla="*/ 1276315 h 1472079"/>
                <a:gd name="connsiteX17" fmla="*/ 0 w 3939907"/>
                <a:gd name="connsiteY17" fmla="*/ 786918 h 1472079"/>
                <a:gd name="connsiteX18" fmla="*/ 0 w 3939907"/>
                <a:gd name="connsiteY18" fmla="*/ 493277 h 1472079"/>
                <a:gd name="connsiteX19" fmla="*/ 0 w 3939907"/>
                <a:gd name="connsiteY19" fmla="*/ 493277 h 1472079"/>
                <a:gd name="connsiteX20" fmla="*/ 0 w 3939907"/>
                <a:gd name="connsiteY20" fmla="*/ 493281 h 1472079"/>
                <a:gd name="connsiteX0" fmla="*/ 0 w 3939907"/>
                <a:gd name="connsiteY0" fmla="*/ 569481 h 1548279"/>
                <a:gd name="connsiteX1" fmla="*/ 195764 w 3939907"/>
                <a:gd name="connsiteY1" fmla="*/ 373717 h 1548279"/>
                <a:gd name="connsiteX2" fmla="*/ 3232343 w 3939907"/>
                <a:gd name="connsiteY2" fmla="*/ 363885 h 1548279"/>
                <a:gd name="connsiteX3" fmla="*/ 3637468 w 3939907"/>
                <a:gd name="connsiteY3" fmla="*/ 0 h 1548279"/>
                <a:gd name="connsiteX4" fmla="*/ 3519231 w 3939907"/>
                <a:gd name="connsiteY4" fmla="*/ 373717 h 1548279"/>
                <a:gd name="connsiteX5" fmla="*/ 3744143 w 3939907"/>
                <a:gd name="connsiteY5" fmla="*/ 373717 h 1548279"/>
                <a:gd name="connsiteX6" fmla="*/ 3939907 w 3939907"/>
                <a:gd name="connsiteY6" fmla="*/ 569481 h 1548279"/>
                <a:gd name="connsiteX7" fmla="*/ 3939907 w 3939907"/>
                <a:gd name="connsiteY7" fmla="*/ 569477 h 1548279"/>
                <a:gd name="connsiteX8" fmla="*/ 3939907 w 3939907"/>
                <a:gd name="connsiteY8" fmla="*/ 569477 h 1548279"/>
                <a:gd name="connsiteX9" fmla="*/ 3939907 w 3939907"/>
                <a:gd name="connsiteY9" fmla="*/ 863118 h 1548279"/>
                <a:gd name="connsiteX10" fmla="*/ 3939907 w 3939907"/>
                <a:gd name="connsiteY10" fmla="*/ 1352515 h 1548279"/>
                <a:gd name="connsiteX11" fmla="*/ 3744143 w 3939907"/>
                <a:gd name="connsiteY11" fmla="*/ 1548279 h 1548279"/>
                <a:gd name="connsiteX12" fmla="*/ 3283256 w 3939907"/>
                <a:gd name="connsiteY12" fmla="*/ 1548279 h 1548279"/>
                <a:gd name="connsiteX13" fmla="*/ 2298279 w 3939907"/>
                <a:gd name="connsiteY13" fmla="*/ 1548279 h 1548279"/>
                <a:gd name="connsiteX14" fmla="*/ 2298279 w 3939907"/>
                <a:gd name="connsiteY14" fmla="*/ 1548279 h 1548279"/>
                <a:gd name="connsiteX15" fmla="*/ 195764 w 3939907"/>
                <a:gd name="connsiteY15" fmla="*/ 1548279 h 1548279"/>
                <a:gd name="connsiteX16" fmla="*/ 0 w 3939907"/>
                <a:gd name="connsiteY16" fmla="*/ 1352515 h 1548279"/>
                <a:gd name="connsiteX17" fmla="*/ 0 w 3939907"/>
                <a:gd name="connsiteY17" fmla="*/ 863118 h 1548279"/>
                <a:gd name="connsiteX18" fmla="*/ 0 w 3939907"/>
                <a:gd name="connsiteY18" fmla="*/ 569477 h 1548279"/>
                <a:gd name="connsiteX19" fmla="*/ 0 w 3939907"/>
                <a:gd name="connsiteY19" fmla="*/ 569477 h 1548279"/>
                <a:gd name="connsiteX20" fmla="*/ 0 w 3939907"/>
                <a:gd name="connsiteY20" fmla="*/ 569481 h 1548279"/>
                <a:gd name="connsiteX0" fmla="*/ 0 w 3939907"/>
                <a:gd name="connsiteY0" fmla="*/ 569481 h 1548279"/>
                <a:gd name="connsiteX1" fmla="*/ 195764 w 3939907"/>
                <a:gd name="connsiteY1" fmla="*/ 373717 h 1548279"/>
                <a:gd name="connsiteX2" fmla="*/ 3232343 w 3939907"/>
                <a:gd name="connsiteY2" fmla="*/ 363885 h 1548279"/>
                <a:gd name="connsiteX3" fmla="*/ 3637468 w 3939907"/>
                <a:gd name="connsiteY3" fmla="*/ 0 h 1548279"/>
                <a:gd name="connsiteX4" fmla="*/ 3519231 w 3939907"/>
                <a:gd name="connsiteY4" fmla="*/ 373717 h 1548279"/>
                <a:gd name="connsiteX5" fmla="*/ 3744143 w 3939907"/>
                <a:gd name="connsiteY5" fmla="*/ 373717 h 1548279"/>
                <a:gd name="connsiteX6" fmla="*/ 3939907 w 3939907"/>
                <a:gd name="connsiteY6" fmla="*/ 569481 h 1548279"/>
                <a:gd name="connsiteX7" fmla="*/ 3939907 w 3939907"/>
                <a:gd name="connsiteY7" fmla="*/ 569477 h 1548279"/>
                <a:gd name="connsiteX8" fmla="*/ 3939907 w 3939907"/>
                <a:gd name="connsiteY8" fmla="*/ 569477 h 1548279"/>
                <a:gd name="connsiteX9" fmla="*/ 3939907 w 3939907"/>
                <a:gd name="connsiteY9" fmla="*/ 863118 h 1548279"/>
                <a:gd name="connsiteX10" fmla="*/ 3939907 w 3939907"/>
                <a:gd name="connsiteY10" fmla="*/ 1352515 h 1548279"/>
                <a:gd name="connsiteX11" fmla="*/ 3744143 w 3939907"/>
                <a:gd name="connsiteY11" fmla="*/ 1548279 h 1548279"/>
                <a:gd name="connsiteX12" fmla="*/ 3283256 w 3939907"/>
                <a:gd name="connsiteY12" fmla="*/ 1548279 h 1548279"/>
                <a:gd name="connsiteX13" fmla="*/ 2298279 w 3939907"/>
                <a:gd name="connsiteY13" fmla="*/ 1548279 h 1548279"/>
                <a:gd name="connsiteX14" fmla="*/ 2298279 w 3939907"/>
                <a:gd name="connsiteY14" fmla="*/ 1548279 h 1548279"/>
                <a:gd name="connsiteX15" fmla="*/ 195764 w 3939907"/>
                <a:gd name="connsiteY15" fmla="*/ 1548279 h 1548279"/>
                <a:gd name="connsiteX16" fmla="*/ 0 w 3939907"/>
                <a:gd name="connsiteY16" fmla="*/ 1352515 h 1548279"/>
                <a:gd name="connsiteX17" fmla="*/ 0 w 3939907"/>
                <a:gd name="connsiteY17" fmla="*/ 863118 h 1548279"/>
                <a:gd name="connsiteX18" fmla="*/ 0 w 3939907"/>
                <a:gd name="connsiteY18" fmla="*/ 569477 h 1548279"/>
                <a:gd name="connsiteX19" fmla="*/ 0 w 3939907"/>
                <a:gd name="connsiteY19" fmla="*/ 569477 h 1548279"/>
                <a:gd name="connsiteX20" fmla="*/ 0 w 3939907"/>
                <a:gd name="connsiteY20" fmla="*/ 569481 h 1548279"/>
                <a:gd name="connsiteX0" fmla="*/ 0 w 3939907"/>
                <a:gd name="connsiteY0" fmla="*/ 569481 h 1548279"/>
                <a:gd name="connsiteX1" fmla="*/ 195764 w 3939907"/>
                <a:gd name="connsiteY1" fmla="*/ 373717 h 1548279"/>
                <a:gd name="connsiteX2" fmla="*/ 3232343 w 3939907"/>
                <a:gd name="connsiteY2" fmla="*/ 363885 h 1548279"/>
                <a:gd name="connsiteX3" fmla="*/ 3637468 w 3939907"/>
                <a:gd name="connsiteY3" fmla="*/ 0 h 1548279"/>
                <a:gd name="connsiteX4" fmla="*/ 3519231 w 3939907"/>
                <a:gd name="connsiteY4" fmla="*/ 373717 h 1548279"/>
                <a:gd name="connsiteX5" fmla="*/ 3744143 w 3939907"/>
                <a:gd name="connsiteY5" fmla="*/ 373717 h 1548279"/>
                <a:gd name="connsiteX6" fmla="*/ 3939907 w 3939907"/>
                <a:gd name="connsiteY6" fmla="*/ 569481 h 1548279"/>
                <a:gd name="connsiteX7" fmla="*/ 3939907 w 3939907"/>
                <a:gd name="connsiteY7" fmla="*/ 569477 h 1548279"/>
                <a:gd name="connsiteX8" fmla="*/ 3939907 w 3939907"/>
                <a:gd name="connsiteY8" fmla="*/ 569477 h 1548279"/>
                <a:gd name="connsiteX9" fmla="*/ 3939907 w 3939907"/>
                <a:gd name="connsiteY9" fmla="*/ 863118 h 1548279"/>
                <a:gd name="connsiteX10" fmla="*/ 3939907 w 3939907"/>
                <a:gd name="connsiteY10" fmla="*/ 1352515 h 1548279"/>
                <a:gd name="connsiteX11" fmla="*/ 3744143 w 3939907"/>
                <a:gd name="connsiteY11" fmla="*/ 1548279 h 1548279"/>
                <a:gd name="connsiteX12" fmla="*/ 3283256 w 3939907"/>
                <a:gd name="connsiteY12" fmla="*/ 1548279 h 1548279"/>
                <a:gd name="connsiteX13" fmla="*/ 2298279 w 3939907"/>
                <a:gd name="connsiteY13" fmla="*/ 1548279 h 1548279"/>
                <a:gd name="connsiteX14" fmla="*/ 2298279 w 3939907"/>
                <a:gd name="connsiteY14" fmla="*/ 1548279 h 1548279"/>
                <a:gd name="connsiteX15" fmla="*/ 195764 w 3939907"/>
                <a:gd name="connsiteY15" fmla="*/ 1548279 h 1548279"/>
                <a:gd name="connsiteX16" fmla="*/ 0 w 3939907"/>
                <a:gd name="connsiteY16" fmla="*/ 1352515 h 1548279"/>
                <a:gd name="connsiteX17" fmla="*/ 0 w 3939907"/>
                <a:gd name="connsiteY17" fmla="*/ 863118 h 1548279"/>
                <a:gd name="connsiteX18" fmla="*/ 0 w 3939907"/>
                <a:gd name="connsiteY18" fmla="*/ 569477 h 1548279"/>
                <a:gd name="connsiteX19" fmla="*/ 0 w 3939907"/>
                <a:gd name="connsiteY19" fmla="*/ 569477 h 1548279"/>
                <a:gd name="connsiteX20" fmla="*/ 0 w 3939907"/>
                <a:gd name="connsiteY20" fmla="*/ 569481 h 1548279"/>
                <a:gd name="connsiteX0" fmla="*/ 0 w 3939907"/>
                <a:gd name="connsiteY0" fmla="*/ 569481 h 1548279"/>
                <a:gd name="connsiteX1" fmla="*/ 195764 w 3939907"/>
                <a:gd name="connsiteY1" fmla="*/ 373717 h 1548279"/>
                <a:gd name="connsiteX2" fmla="*/ 3232343 w 3939907"/>
                <a:gd name="connsiteY2" fmla="*/ 363885 h 1548279"/>
                <a:gd name="connsiteX3" fmla="*/ 3637468 w 3939907"/>
                <a:gd name="connsiteY3" fmla="*/ 0 h 1548279"/>
                <a:gd name="connsiteX4" fmla="*/ 3519231 w 3939907"/>
                <a:gd name="connsiteY4" fmla="*/ 373717 h 1548279"/>
                <a:gd name="connsiteX5" fmla="*/ 3744143 w 3939907"/>
                <a:gd name="connsiteY5" fmla="*/ 373717 h 1548279"/>
                <a:gd name="connsiteX6" fmla="*/ 3939907 w 3939907"/>
                <a:gd name="connsiteY6" fmla="*/ 569481 h 1548279"/>
                <a:gd name="connsiteX7" fmla="*/ 3939907 w 3939907"/>
                <a:gd name="connsiteY7" fmla="*/ 569477 h 1548279"/>
                <a:gd name="connsiteX8" fmla="*/ 3939907 w 3939907"/>
                <a:gd name="connsiteY8" fmla="*/ 569477 h 1548279"/>
                <a:gd name="connsiteX9" fmla="*/ 3939907 w 3939907"/>
                <a:gd name="connsiteY9" fmla="*/ 863118 h 1548279"/>
                <a:gd name="connsiteX10" fmla="*/ 3939907 w 3939907"/>
                <a:gd name="connsiteY10" fmla="*/ 1352515 h 1548279"/>
                <a:gd name="connsiteX11" fmla="*/ 3744143 w 3939907"/>
                <a:gd name="connsiteY11" fmla="*/ 1548279 h 1548279"/>
                <a:gd name="connsiteX12" fmla="*/ 3283256 w 3939907"/>
                <a:gd name="connsiteY12" fmla="*/ 1548279 h 1548279"/>
                <a:gd name="connsiteX13" fmla="*/ 2298279 w 3939907"/>
                <a:gd name="connsiteY13" fmla="*/ 1548279 h 1548279"/>
                <a:gd name="connsiteX14" fmla="*/ 2298279 w 3939907"/>
                <a:gd name="connsiteY14" fmla="*/ 1548279 h 1548279"/>
                <a:gd name="connsiteX15" fmla="*/ 195764 w 3939907"/>
                <a:gd name="connsiteY15" fmla="*/ 1548279 h 1548279"/>
                <a:gd name="connsiteX16" fmla="*/ 0 w 3939907"/>
                <a:gd name="connsiteY16" fmla="*/ 1352515 h 1548279"/>
                <a:gd name="connsiteX17" fmla="*/ 0 w 3939907"/>
                <a:gd name="connsiteY17" fmla="*/ 863118 h 1548279"/>
                <a:gd name="connsiteX18" fmla="*/ 0 w 3939907"/>
                <a:gd name="connsiteY18" fmla="*/ 569477 h 1548279"/>
                <a:gd name="connsiteX19" fmla="*/ 0 w 3939907"/>
                <a:gd name="connsiteY19" fmla="*/ 569477 h 1548279"/>
                <a:gd name="connsiteX20" fmla="*/ 0 w 3939907"/>
                <a:gd name="connsiteY20" fmla="*/ 569481 h 1548279"/>
                <a:gd name="connsiteX0" fmla="*/ 0 w 3939907"/>
                <a:gd name="connsiteY0" fmla="*/ 569481 h 1548279"/>
                <a:gd name="connsiteX1" fmla="*/ 195764 w 3939907"/>
                <a:gd name="connsiteY1" fmla="*/ 373717 h 1548279"/>
                <a:gd name="connsiteX2" fmla="*/ 3232343 w 3939907"/>
                <a:gd name="connsiteY2" fmla="*/ 363885 h 1548279"/>
                <a:gd name="connsiteX3" fmla="*/ 3637468 w 3939907"/>
                <a:gd name="connsiteY3" fmla="*/ 0 h 1548279"/>
                <a:gd name="connsiteX4" fmla="*/ 3519231 w 3939907"/>
                <a:gd name="connsiteY4" fmla="*/ 373717 h 1548279"/>
                <a:gd name="connsiteX5" fmla="*/ 3744143 w 3939907"/>
                <a:gd name="connsiteY5" fmla="*/ 373717 h 1548279"/>
                <a:gd name="connsiteX6" fmla="*/ 3939907 w 3939907"/>
                <a:gd name="connsiteY6" fmla="*/ 569481 h 1548279"/>
                <a:gd name="connsiteX7" fmla="*/ 3939907 w 3939907"/>
                <a:gd name="connsiteY7" fmla="*/ 569477 h 1548279"/>
                <a:gd name="connsiteX8" fmla="*/ 3939907 w 3939907"/>
                <a:gd name="connsiteY8" fmla="*/ 569477 h 1548279"/>
                <a:gd name="connsiteX9" fmla="*/ 3939907 w 3939907"/>
                <a:gd name="connsiteY9" fmla="*/ 863118 h 1548279"/>
                <a:gd name="connsiteX10" fmla="*/ 3939907 w 3939907"/>
                <a:gd name="connsiteY10" fmla="*/ 1352515 h 1548279"/>
                <a:gd name="connsiteX11" fmla="*/ 3744143 w 3939907"/>
                <a:gd name="connsiteY11" fmla="*/ 1548279 h 1548279"/>
                <a:gd name="connsiteX12" fmla="*/ 3283256 w 3939907"/>
                <a:gd name="connsiteY12" fmla="*/ 1548279 h 1548279"/>
                <a:gd name="connsiteX13" fmla="*/ 2298279 w 3939907"/>
                <a:gd name="connsiteY13" fmla="*/ 1548279 h 1548279"/>
                <a:gd name="connsiteX14" fmla="*/ 2298279 w 3939907"/>
                <a:gd name="connsiteY14" fmla="*/ 1548279 h 1548279"/>
                <a:gd name="connsiteX15" fmla="*/ 195764 w 3939907"/>
                <a:gd name="connsiteY15" fmla="*/ 1548279 h 1548279"/>
                <a:gd name="connsiteX16" fmla="*/ 0 w 3939907"/>
                <a:gd name="connsiteY16" fmla="*/ 1352515 h 1548279"/>
                <a:gd name="connsiteX17" fmla="*/ 0 w 3939907"/>
                <a:gd name="connsiteY17" fmla="*/ 863118 h 1548279"/>
                <a:gd name="connsiteX18" fmla="*/ 0 w 3939907"/>
                <a:gd name="connsiteY18" fmla="*/ 569477 h 1548279"/>
                <a:gd name="connsiteX19" fmla="*/ 0 w 3939907"/>
                <a:gd name="connsiteY19" fmla="*/ 569477 h 1548279"/>
                <a:gd name="connsiteX20" fmla="*/ 0 w 3939907"/>
                <a:gd name="connsiteY20" fmla="*/ 569481 h 1548279"/>
                <a:gd name="connsiteX0" fmla="*/ 0 w 3939907"/>
                <a:gd name="connsiteY0" fmla="*/ 569481 h 1548279"/>
                <a:gd name="connsiteX1" fmla="*/ 195764 w 3939907"/>
                <a:gd name="connsiteY1" fmla="*/ 373717 h 1548279"/>
                <a:gd name="connsiteX2" fmla="*/ 3232343 w 3939907"/>
                <a:gd name="connsiteY2" fmla="*/ 363885 h 1548279"/>
                <a:gd name="connsiteX3" fmla="*/ 3637468 w 3939907"/>
                <a:gd name="connsiteY3" fmla="*/ 0 h 1548279"/>
                <a:gd name="connsiteX4" fmla="*/ 3519231 w 3939907"/>
                <a:gd name="connsiteY4" fmla="*/ 373717 h 1548279"/>
                <a:gd name="connsiteX5" fmla="*/ 3744143 w 3939907"/>
                <a:gd name="connsiteY5" fmla="*/ 373717 h 1548279"/>
                <a:gd name="connsiteX6" fmla="*/ 3939907 w 3939907"/>
                <a:gd name="connsiteY6" fmla="*/ 569481 h 1548279"/>
                <a:gd name="connsiteX7" fmla="*/ 3939907 w 3939907"/>
                <a:gd name="connsiteY7" fmla="*/ 569477 h 1548279"/>
                <a:gd name="connsiteX8" fmla="*/ 3939907 w 3939907"/>
                <a:gd name="connsiteY8" fmla="*/ 569477 h 1548279"/>
                <a:gd name="connsiteX9" fmla="*/ 3939907 w 3939907"/>
                <a:gd name="connsiteY9" fmla="*/ 863118 h 1548279"/>
                <a:gd name="connsiteX10" fmla="*/ 3939907 w 3939907"/>
                <a:gd name="connsiteY10" fmla="*/ 1352515 h 1548279"/>
                <a:gd name="connsiteX11" fmla="*/ 3744143 w 3939907"/>
                <a:gd name="connsiteY11" fmla="*/ 1548279 h 1548279"/>
                <a:gd name="connsiteX12" fmla="*/ 3283256 w 3939907"/>
                <a:gd name="connsiteY12" fmla="*/ 1548279 h 1548279"/>
                <a:gd name="connsiteX13" fmla="*/ 2298279 w 3939907"/>
                <a:gd name="connsiteY13" fmla="*/ 1548279 h 1548279"/>
                <a:gd name="connsiteX14" fmla="*/ 2298279 w 3939907"/>
                <a:gd name="connsiteY14" fmla="*/ 1548279 h 1548279"/>
                <a:gd name="connsiteX15" fmla="*/ 195764 w 3939907"/>
                <a:gd name="connsiteY15" fmla="*/ 1548279 h 1548279"/>
                <a:gd name="connsiteX16" fmla="*/ 0 w 3939907"/>
                <a:gd name="connsiteY16" fmla="*/ 1352515 h 1548279"/>
                <a:gd name="connsiteX17" fmla="*/ 0 w 3939907"/>
                <a:gd name="connsiteY17" fmla="*/ 863118 h 1548279"/>
                <a:gd name="connsiteX18" fmla="*/ 0 w 3939907"/>
                <a:gd name="connsiteY18" fmla="*/ 569477 h 1548279"/>
                <a:gd name="connsiteX19" fmla="*/ 0 w 3939907"/>
                <a:gd name="connsiteY19" fmla="*/ 569477 h 1548279"/>
                <a:gd name="connsiteX20" fmla="*/ 0 w 3939907"/>
                <a:gd name="connsiteY20" fmla="*/ 569481 h 1548279"/>
                <a:gd name="connsiteX0" fmla="*/ 0 w 3939907"/>
                <a:gd name="connsiteY0" fmla="*/ 569481 h 1548279"/>
                <a:gd name="connsiteX1" fmla="*/ 195764 w 3939907"/>
                <a:gd name="connsiteY1" fmla="*/ 373717 h 1548279"/>
                <a:gd name="connsiteX2" fmla="*/ 3232343 w 3939907"/>
                <a:gd name="connsiteY2" fmla="*/ 363885 h 1548279"/>
                <a:gd name="connsiteX3" fmla="*/ 3637468 w 3939907"/>
                <a:gd name="connsiteY3" fmla="*/ 0 h 1548279"/>
                <a:gd name="connsiteX4" fmla="*/ 3519231 w 3939907"/>
                <a:gd name="connsiteY4" fmla="*/ 373717 h 1548279"/>
                <a:gd name="connsiteX5" fmla="*/ 3744143 w 3939907"/>
                <a:gd name="connsiteY5" fmla="*/ 373717 h 1548279"/>
                <a:gd name="connsiteX6" fmla="*/ 3939907 w 3939907"/>
                <a:gd name="connsiteY6" fmla="*/ 569481 h 1548279"/>
                <a:gd name="connsiteX7" fmla="*/ 3939907 w 3939907"/>
                <a:gd name="connsiteY7" fmla="*/ 569477 h 1548279"/>
                <a:gd name="connsiteX8" fmla="*/ 3939907 w 3939907"/>
                <a:gd name="connsiteY8" fmla="*/ 569477 h 1548279"/>
                <a:gd name="connsiteX9" fmla="*/ 3939907 w 3939907"/>
                <a:gd name="connsiteY9" fmla="*/ 863118 h 1548279"/>
                <a:gd name="connsiteX10" fmla="*/ 3939907 w 3939907"/>
                <a:gd name="connsiteY10" fmla="*/ 1352515 h 1548279"/>
                <a:gd name="connsiteX11" fmla="*/ 3744143 w 3939907"/>
                <a:gd name="connsiteY11" fmla="*/ 1548279 h 1548279"/>
                <a:gd name="connsiteX12" fmla="*/ 3283256 w 3939907"/>
                <a:gd name="connsiteY12" fmla="*/ 1548279 h 1548279"/>
                <a:gd name="connsiteX13" fmla="*/ 2298279 w 3939907"/>
                <a:gd name="connsiteY13" fmla="*/ 1548279 h 1548279"/>
                <a:gd name="connsiteX14" fmla="*/ 2298279 w 3939907"/>
                <a:gd name="connsiteY14" fmla="*/ 1548279 h 1548279"/>
                <a:gd name="connsiteX15" fmla="*/ 195764 w 3939907"/>
                <a:gd name="connsiteY15" fmla="*/ 1548279 h 1548279"/>
                <a:gd name="connsiteX16" fmla="*/ 0 w 3939907"/>
                <a:gd name="connsiteY16" fmla="*/ 1352515 h 1548279"/>
                <a:gd name="connsiteX17" fmla="*/ 0 w 3939907"/>
                <a:gd name="connsiteY17" fmla="*/ 863118 h 1548279"/>
                <a:gd name="connsiteX18" fmla="*/ 0 w 3939907"/>
                <a:gd name="connsiteY18" fmla="*/ 569477 h 1548279"/>
                <a:gd name="connsiteX19" fmla="*/ 0 w 3939907"/>
                <a:gd name="connsiteY19" fmla="*/ 569477 h 1548279"/>
                <a:gd name="connsiteX20" fmla="*/ 0 w 3939907"/>
                <a:gd name="connsiteY20" fmla="*/ 569481 h 1548279"/>
                <a:gd name="connsiteX0" fmla="*/ 0 w 3939907"/>
                <a:gd name="connsiteY0" fmla="*/ 569481 h 1548279"/>
                <a:gd name="connsiteX1" fmla="*/ 195764 w 3939907"/>
                <a:gd name="connsiteY1" fmla="*/ 373717 h 1548279"/>
                <a:gd name="connsiteX2" fmla="*/ 3232343 w 3939907"/>
                <a:gd name="connsiteY2" fmla="*/ 363885 h 1548279"/>
                <a:gd name="connsiteX3" fmla="*/ 3637468 w 3939907"/>
                <a:gd name="connsiteY3" fmla="*/ 0 h 1548279"/>
                <a:gd name="connsiteX4" fmla="*/ 3519231 w 3939907"/>
                <a:gd name="connsiteY4" fmla="*/ 373717 h 1548279"/>
                <a:gd name="connsiteX5" fmla="*/ 3744143 w 3939907"/>
                <a:gd name="connsiteY5" fmla="*/ 373717 h 1548279"/>
                <a:gd name="connsiteX6" fmla="*/ 3939907 w 3939907"/>
                <a:gd name="connsiteY6" fmla="*/ 569481 h 1548279"/>
                <a:gd name="connsiteX7" fmla="*/ 3939907 w 3939907"/>
                <a:gd name="connsiteY7" fmla="*/ 569477 h 1548279"/>
                <a:gd name="connsiteX8" fmla="*/ 3939907 w 3939907"/>
                <a:gd name="connsiteY8" fmla="*/ 569477 h 1548279"/>
                <a:gd name="connsiteX9" fmla="*/ 3939907 w 3939907"/>
                <a:gd name="connsiteY9" fmla="*/ 863118 h 1548279"/>
                <a:gd name="connsiteX10" fmla="*/ 3939907 w 3939907"/>
                <a:gd name="connsiteY10" fmla="*/ 1352515 h 1548279"/>
                <a:gd name="connsiteX11" fmla="*/ 3744143 w 3939907"/>
                <a:gd name="connsiteY11" fmla="*/ 1548279 h 1548279"/>
                <a:gd name="connsiteX12" fmla="*/ 3283256 w 3939907"/>
                <a:gd name="connsiteY12" fmla="*/ 1548279 h 1548279"/>
                <a:gd name="connsiteX13" fmla="*/ 2298279 w 3939907"/>
                <a:gd name="connsiteY13" fmla="*/ 1548279 h 1548279"/>
                <a:gd name="connsiteX14" fmla="*/ 2298279 w 3939907"/>
                <a:gd name="connsiteY14" fmla="*/ 1548279 h 1548279"/>
                <a:gd name="connsiteX15" fmla="*/ 195764 w 3939907"/>
                <a:gd name="connsiteY15" fmla="*/ 1548279 h 1548279"/>
                <a:gd name="connsiteX16" fmla="*/ 0 w 3939907"/>
                <a:gd name="connsiteY16" fmla="*/ 1352515 h 1548279"/>
                <a:gd name="connsiteX17" fmla="*/ 0 w 3939907"/>
                <a:gd name="connsiteY17" fmla="*/ 863118 h 1548279"/>
                <a:gd name="connsiteX18" fmla="*/ 0 w 3939907"/>
                <a:gd name="connsiteY18" fmla="*/ 569477 h 1548279"/>
                <a:gd name="connsiteX19" fmla="*/ 0 w 3939907"/>
                <a:gd name="connsiteY19" fmla="*/ 569477 h 1548279"/>
                <a:gd name="connsiteX20" fmla="*/ 0 w 3939907"/>
                <a:gd name="connsiteY20" fmla="*/ 569481 h 1548279"/>
                <a:gd name="connsiteX0" fmla="*/ 0 w 3939907"/>
                <a:gd name="connsiteY0" fmla="*/ 750456 h 1729254"/>
                <a:gd name="connsiteX1" fmla="*/ 195764 w 3939907"/>
                <a:gd name="connsiteY1" fmla="*/ 554692 h 1729254"/>
                <a:gd name="connsiteX2" fmla="*/ 3232343 w 3939907"/>
                <a:gd name="connsiteY2" fmla="*/ 544860 h 1729254"/>
                <a:gd name="connsiteX3" fmla="*/ 3799393 w 3939907"/>
                <a:gd name="connsiteY3" fmla="*/ 0 h 1729254"/>
                <a:gd name="connsiteX4" fmla="*/ 3519231 w 3939907"/>
                <a:gd name="connsiteY4" fmla="*/ 554692 h 1729254"/>
                <a:gd name="connsiteX5" fmla="*/ 3744143 w 3939907"/>
                <a:gd name="connsiteY5" fmla="*/ 554692 h 1729254"/>
                <a:gd name="connsiteX6" fmla="*/ 3939907 w 3939907"/>
                <a:gd name="connsiteY6" fmla="*/ 750456 h 1729254"/>
                <a:gd name="connsiteX7" fmla="*/ 3939907 w 3939907"/>
                <a:gd name="connsiteY7" fmla="*/ 750452 h 1729254"/>
                <a:gd name="connsiteX8" fmla="*/ 3939907 w 3939907"/>
                <a:gd name="connsiteY8" fmla="*/ 750452 h 1729254"/>
                <a:gd name="connsiteX9" fmla="*/ 3939907 w 3939907"/>
                <a:gd name="connsiteY9" fmla="*/ 1044093 h 1729254"/>
                <a:gd name="connsiteX10" fmla="*/ 3939907 w 3939907"/>
                <a:gd name="connsiteY10" fmla="*/ 1533490 h 1729254"/>
                <a:gd name="connsiteX11" fmla="*/ 3744143 w 3939907"/>
                <a:gd name="connsiteY11" fmla="*/ 1729254 h 1729254"/>
                <a:gd name="connsiteX12" fmla="*/ 3283256 w 3939907"/>
                <a:gd name="connsiteY12" fmla="*/ 1729254 h 1729254"/>
                <a:gd name="connsiteX13" fmla="*/ 2298279 w 3939907"/>
                <a:gd name="connsiteY13" fmla="*/ 1729254 h 1729254"/>
                <a:gd name="connsiteX14" fmla="*/ 2298279 w 3939907"/>
                <a:gd name="connsiteY14" fmla="*/ 1729254 h 1729254"/>
                <a:gd name="connsiteX15" fmla="*/ 195764 w 3939907"/>
                <a:gd name="connsiteY15" fmla="*/ 1729254 h 1729254"/>
                <a:gd name="connsiteX16" fmla="*/ 0 w 3939907"/>
                <a:gd name="connsiteY16" fmla="*/ 1533490 h 1729254"/>
                <a:gd name="connsiteX17" fmla="*/ 0 w 3939907"/>
                <a:gd name="connsiteY17" fmla="*/ 1044093 h 1729254"/>
                <a:gd name="connsiteX18" fmla="*/ 0 w 3939907"/>
                <a:gd name="connsiteY18" fmla="*/ 750452 h 1729254"/>
                <a:gd name="connsiteX19" fmla="*/ 0 w 3939907"/>
                <a:gd name="connsiteY19" fmla="*/ 750452 h 1729254"/>
                <a:gd name="connsiteX20" fmla="*/ 0 w 3939907"/>
                <a:gd name="connsiteY20" fmla="*/ 750456 h 1729254"/>
                <a:gd name="connsiteX0" fmla="*/ 0 w 3939907"/>
                <a:gd name="connsiteY0" fmla="*/ 750456 h 1729254"/>
                <a:gd name="connsiteX1" fmla="*/ 195764 w 3939907"/>
                <a:gd name="connsiteY1" fmla="*/ 554692 h 1729254"/>
                <a:gd name="connsiteX2" fmla="*/ 3232343 w 3939907"/>
                <a:gd name="connsiteY2" fmla="*/ 544860 h 1729254"/>
                <a:gd name="connsiteX3" fmla="*/ 3799393 w 3939907"/>
                <a:gd name="connsiteY3" fmla="*/ 0 h 1729254"/>
                <a:gd name="connsiteX4" fmla="*/ 3519231 w 3939907"/>
                <a:gd name="connsiteY4" fmla="*/ 554692 h 1729254"/>
                <a:gd name="connsiteX5" fmla="*/ 3744143 w 3939907"/>
                <a:gd name="connsiteY5" fmla="*/ 554692 h 1729254"/>
                <a:gd name="connsiteX6" fmla="*/ 3939907 w 3939907"/>
                <a:gd name="connsiteY6" fmla="*/ 750456 h 1729254"/>
                <a:gd name="connsiteX7" fmla="*/ 3939907 w 3939907"/>
                <a:gd name="connsiteY7" fmla="*/ 750452 h 1729254"/>
                <a:gd name="connsiteX8" fmla="*/ 3939907 w 3939907"/>
                <a:gd name="connsiteY8" fmla="*/ 750452 h 1729254"/>
                <a:gd name="connsiteX9" fmla="*/ 3939907 w 3939907"/>
                <a:gd name="connsiteY9" fmla="*/ 1044093 h 1729254"/>
                <a:gd name="connsiteX10" fmla="*/ 3939907 w 3939907"/>
                <a:gd name="connsiteY10" fmla="*/ 1533490 h 1729254"/>
                <a:gd name="connsiteX11" fmla="*/ 3744143 w 3939907"/>
                <a:gd name="connsiteY11" fmla="*/ 1729254 h 1729254"/>
                <a:gd name="connsiteX12" fmla="*/ 3283256 w 3939907"/>
                <a:gd name="connsiteY12" fmla="*/ 1729254 h 1729254"/>
                <a:gd name="connsiteX13" fmla="*/ 2298279 w 3939907"/>
                <a:gd name="connsiteY13" fmla="*/ 1729254 h 1729254"/>
                <a:gd name="connsiteX14" fmla="*/ 2298279 w 3939907"/>
                <a:gd name="connsiteY14" fmla="*/ 1729254 h 1729254"/>
                <a:gd name="connsiteX15" fmla="*/ 195764 w 3939907"/>
                <a:gd name="connsiteY15" fmla="*/ 1729254 h 1729254"/>
                <a:gd name="connsiteX16" fmla="*/ 0 w 3939907"/>
                <a:gd name="connsiteY16" fmla="*/ 1533490 h 1729254"/>
                <a:gd name="connsiteX17" fmla="*/ 0 w 3939907"/>
                <a:gd name="connsiteY17" fmla="*/ 1044093 h 1729254"/>
                <a:gd name="connsiteX18" fmla="*/ 0 w 3939907"/>
                <a:gd name="connsiteY18" fmla="*/ 750452 h 1729254"/>
                <a:gd name="connsiteX19" fmla="*/ 0 w 3939907"/>
                <a:gd name="connsiteY19" fmla="*/ 750452 h 1729254"/>
                <a:gd name="connsiteX20" fmla="*/ 0 w 3939907"/>
                <a:gd name="connsiteY20" fmla="*/ 750456 h 1729254"/>
                <a:gd name="connsiteX0" fmla="*/ 0 w 3939907"/>
                <a:gd name="connsiteY0" fmla="*/ 750456 h 1729254"/>
                <a:gd name="connsiteX1" fmla="*/ 195764 w 3939907"/>
                <a:gd name="connsiteY1" fmla="*/ 554692 h 1729254"/>
                <a:gd name="connsiteX2" fmla="*/ 3232343 w 3939907"/>
                <a:gd name="connsiteY2" fmla="*/ 544860 h 1729254"/>
                <a:gd name="connsiteX3" fmla="*/ 3799393 w 3939907"/>
                <a:gd name="connsiteY3" fmla="*/ 0 h 1729254"/>
                <a:gd name="connsiteX4" fmla="*/ 3519231 w 3939907"/>
                <a:gd name="connsiteY4" fmla="*/ 554692 h 1729254"/>
                <a:gd name="connsiteX5" fmla="*/ 3744143 w 3939907"/>
                <a:gd name="connsiteY5" fmla="*/ 554692 h 1729254"/>
                <a:gd name="connsiteX6" fmla="*/ 3939907 w 3939907"/>
                <a:gd name="connsiteY6" fmla="*/ 750456 h 1729254"/>
                <a:gd name="connsiteX7" fmla="*/ 3939907 w 3939907"/>
                <a:gd name="connsiteY7" fmla="*/ 750452 h 1729254"/>
                <a:gd name="connsiteX8" fmla="*/ 3939907 w 3939907"/>
                <a:gd name="connsiteY8" fmla="*/ 750452 h 1729254"/>
                <a:gd name="connsiteX9" fmla="*/ 3939907 w 3939907"/>
                <a:gd name="connsiteY9" fmla="*/ 1044093 h 1729254"/>
                <a:gd name="connsiteX10" fmla="*/ 3939907 w 3939907"/>
                <a:gd name="connsiteY10" fmla="*/ 1533490 h 1729254"/>
                <a:gd name="connsiteX11" fmla="*/ 3744143 w 3939907"/>
                <a:gd name="connsiteY11" fmla="*/ 1729254 h 1729254"/>
                <a:gd name="connsiteX12" fmla="*/ 3283256 w 3939907"/>
                <a:gd name="connsiteY12" fmla="*/ 1729254 h 1729254"/>
                <a:gd name="connsiteX13" fmla="*/ 2298279 w 3939907"/>
                <a:gd name="connsiteY13" fmla="*/ 1729254 h 1729254"/>
                <a:gd name="connsiteX14" fmla="*/ 2298279 w 3939907"/>
                <a:gd name="connsiteY14" fmla="*/ 1729254 h 1729254"/>
                <a:gd name="connsiteX15" fmla="*/ 195764 w 3939907"/>
                <a:gd name="connsiteY15" fmla="*/ 1729254 h 1729254"/>
                <a:gd name="connsiteX16" fmla="*/ 0 w 3939907"/>
                <a:gd name="connsiteY16" fmla="*/ 1533490 h 1729254"/>
                <a:gd name="connsiteX17" fmla="*/ 0 w 3939907"/>
                <a:gd name="connsiteY17" fmla="*/ 1044093 h 1729254"/>
                <a:gd name="connsiteX18" fmla="*/ 0 w 3939907"/>
                <a:gd name="connsiteY18" fmla="*/ 750452 h 1729254"/>
                <a:gd name="connsiteX19" fmla="*/ 0 w 3939907"/>
                <a:gd name="connsiteY19" fmla="*/ 750452 h 1729254"/>
                <a:gd name="connsiteX20" fmla="*/ 0 w 3939907"/>
                <a:gd name="connsiteY20" fmla="*/ 750456 h 1729254"/>
                <a:gd name="connsiteX0" fmla="*/ 0 w 3939907"/>
                <a:gd name="connsiteY0" fmla="*/ 750456 h 1729254"/>
                <a:gd name="connsiteX1" fmla="*/ 195764 w 3939907"/>
                <a:gd name="connsiteY1" fmla="*/ 554692 h 1729254"/>
                <a:gd name="connsiteX2" fmla="*/ 3232343 w 3939907"/>
                <a:gd name="connsiteY2" fmla="*/ 544860 h 1729254"/>
                <a:gd name="connsiteX3" fmla="*/ 3799393 w 3939907"/>
                <a:gd name="connsiteY3" fmla="*/ 0 h 1729254"/>
                <a:gd name="connsiteX4" fmla="*/ 3519231 w 3939907"/>
                <a:gd name="connsiteY4" fmla="*/ 554692 h 1729254"/>
                <a:gd name="connsiteX5" fmla="*/ 3744143 w 3939907"/>
                <a:gd name="connsiteY5" fmla="*/ 554692 h 1729254"/>
                <a:gd name="connsiteX6" fmla="*/ 3939907 w 3939907"/>
                <a:gd name="connsiteY6" fmla="*/ 750456 h 1729254"/>
                <a:gd name="connsiteX7" fmla="*/ 3939907 w 3939907"/>
                <a:gd name="connsiteY7" fmla="*/ 750452 h 1729254"/>
                <a:gd name="connsiteX8" fmla="*/ 3939907 w 3939907"/>
                <a:gd name="connsiteY8" fmla="*/ 750452 h 1729254"/>
                <a:gd name="connsiteX9" fmla="*/ 3939907 w 3939907"/>
                <a:gd name="connsiteY9" fmla="*/ 1044093 h 1729254"/>
                <a:gd name="connsiteX10" fmla="*/ 3939907 w 3939907"/>
                <a:gd name="connsiteY10" fmla="*/ 1533490 h 1729254"/>
                <a:gd name="connsiteX11" fmla="*/ 3744143 w 3939907"/>
                <a:gd name="connsiteY11" fmla="*/ 1729254 h 1729254"/>
                <a:gd name="connsiteX12" fmla="*/ 3283256 w 3939907"/>
                <a:gd name="connsiteY12" fmla="*/ 1729254 h 1729254"/>
                <a:gd name="connsiteX13" fmla="*/ 2298279 w 3939907"/>
                <a:gd name="connsiteY13" fmla="*/ 1729254 h 1729254"/>
                <a:gd name="connsiteX14" fmla="*/ 2298279 w 3939907"/>
                <a:gd name="connsiteY14" fmla="*/ 1729254 h 1729254"/>
                <a:gd name="connsiteX15" fmla="*/ 195764 w 3939907"/>
                <a:gd name="connsiteY15" fmla="*/ 1729254 h 1729254"/>
                <a:gd name="connsiteX16" fmla="*/ 0 w 3939907"/>
                <a:gd name="connsiteY16" fmla="*/ 1533490 h 1729254"/>
                <a:gd name="connsiteX17" fmla="*/ 0 w 3939907"/>
                <a:gd name="connsiteY17" fmla="*/ 1044093 h 1729254"/>
                <a:gd name="connsiteX18" fmla="*/ 0 w 3939907"/>
                <a:gd name="connsiteY18" fmla="*/ 750452 h 1729254"/>
                <a:gd name="connsiteX19" fmla="*/ 0 w 3939907"/>
                <a:gd name="connsiteY19" fmla="*/ 750452 h 1729254"/>
                <a:gd name="connsiteX20" fmla="*/ 0 w 3939907"/>
                <a:gd name="connsiteY20" fmla="*/ 750456 h 1729254"/>
                <a:gd name="connsiteX0" fmla="*/ 0 w 3939907"/>
                <a:gd name="connsiteY0" fmla="*/ 636156 h 1614954"/>
                <a:gd name="connsiteX1" fmla="*/ 195764 w 3939907"/>
                <a:gd name="connsiteY1" fmla="*/ 440392 h 1614954"/>
                <a:gd name="connsiteX2" fmla="*/ 3232343 w 3939907"/>
                <a:gd name="connsiteY2" fmla="*/ 430560 h 1614954"/>
                <a:gd name="connsiteX3" fmla="*/ 3704143 w 3939907"/>
                <a:gd name="connsiteY3" fmla="*/ 0 h 1614954"/>
                <a:gd name="connsiteX4" fmla="*/ 3519231 w 3939907"/>
                <a:gd name="connsiteY4" fmla="*/ 440392 h 1614954"/>
                <a:gd name="connsiteX5" fmla="*/ 3744143 w 3939907"/>
                <a:gd name="connsiteY5" fmla="*/ 440392 h 1614954"/>
                <a:gd name="connsiteX6" fmla="*/ 3939907 w 3939907"/>
                <a:gd name="connsiteY6" fmla="*/ 636156 h 1614954"/>
                <a:gd name="connsiteX7" fmla="*/ 3939907 w 3939907"/>
                <a:gd name="connsiteY7" fmla="*/ 636152 h 1614954"/>
                <a:gd name="connsiteX8" fmla="*/ 3939907 w 3939907"/>
                <a:gd name="connsiteY8" fmla="*/ 636152 h 1614954"/>
                <a:gd name="connsiteX9" fmla="*/ 3939907 w 3939907"/>
                <a:gd name="connsiteY9" fmla="*/ 929793 h 1614954"/>
                <a:gd name="connsiteX10" fmla="*/ 3939907 w 3939907"/>
                <a:gd name="connsiteY10" fmla="*/ 1419190 h 1614954"/>
                <a:gd name="connsiteX11" fmla="*/ 3744143 w 3939907"/>
                <a:gd name="connsiteY11" fmla="*/ 1614954 h 1614954"/>
                <a:gd name="connsiteX12" fmla="*/ 3283256 w 3939907"/>
                <a:gd name="connsiteY12" fmla="*/ 1614954 h 1614954"/>
                <a:gd name="connsiteX13" fmla="*/ 2298279 w 3939907"/>
                <a:gd name="connsiteY13" fmla="*/ 1614954 h 1614954"/>
                <a:gd name="connsiteX14" fmla="*/ 2298279 w 3939907"/>
                <a:gd name="connsiteY14" fmla="*/ 1614954 h 1614954"/>
                <a:gd name="connsiteX15" fmla="*/ 195764 w 3939907"/>
                <a:gd name="connsiteY15" fmla="*/ 1614954 h 1614954"/>
                <a:gd name="connsiteX16" fmla="*/ 0 w 3939907"/>
                <a:gd name="connsiteY16" fmla="*/ 1419190 h 1614954"/>
                <a:gd name="connsiteX17" fmla="*/ 0 w 3939907"/>
                <a:gd name="connsiteY17" fmla="*/ 929793 h 1614954"/>
                <a:gd name="connsiteX18" fmla="*/ 0 w 3939907"/>
                <a:gd name="connsiteY18" fmla="*/ 636152 h 1614954"/>
                <a:gd name="connsiteX19" fmla="*/ 0 w 3939907"/>
                <a:gd name="connsiteY19" fmla="*/ 636152 h 1614954"/>
                <a:gd name="connsiteX20" fmla="*/ 0 w 3939907"/>
                <a:gd name="connsiteY20" fmla="*/ 636156 h 1614954"/>
                <a:gd name="connsiteX0" fmla="*/ 0 w 3952875"/>
                <a:gd name="connsiteY0" fmla="*/ 636156 h 1614954"/>
                <a:gd name="connsiteX1" fmla="*/ 195764 w 3952875"/>
                <a:gd name="connsiteY1" fmla="*/ 440392 h 1614954"/>
                <a:gd name="connsiteX2" fmla="*/ 3232343 w 3952875"/>
                <a:gd name="connsiteY2" fmla="*/ 430560 h 1614954"/>
                <a:gd name="connsiteX3" fmla="*/ 3704143 w 3952875"/>
                <a:gd name="connsiteY3" fmla="*/ 0 h 1614954"/>
                <a:gd name="connsiteX4" fmla="*/ 3519231 w 3952875"/>
                <a:gd name="connsiteY4" fmla="*/ 440392 h 1614954"/>
                <a:gd name="connsiteX5" fmla="*/ 3744143 w 3952875"/>
                <a:gd name="connsiteY5" fmla="*/ 440392 h 1614954"/>
                <a:gd name="connsiteX6" fmla="*/ 3939907 w 3952875"/>
                <a:gd name="connsiteY6" fmla="*/ 636156 h 1614954"/>
                <a:gd name="connsiteX7" fmla="*/ 3939907 w 3952875"/>
                <a:gd name="connsiteY7" fmla="*/ 636152 h 1614954"/>
                <a:gd name="connsiteX8" fmla="*/ 3939907 w 3952875"/>
                <a:gd name="connsiteY8" fmla="*/ 636152 h 1614954"/>
                <a:gd name="connsiteX9" fmla="*/ 3952875 w 3952875"/>
                <a:gd name="connsiteY9" fmla="*/ 767845 h 1614954"/>
                <a:gd name="connsiteX10" fmla="*/ 3939907 w 3952875"/>
                <a:gd name="connsiteY10" fmla="*/ 929793 h 1614954"/>
                <a:gd name="connsiteX11" fmla="*/ 3939907 w 3952875"/>
                <a:gd name="connsiteY11" fmla="*/ 1419190 h 1614954"/>
                <a:gd name="connsiteX12" fmla="*/ 3744143 w 3952875"/>
                <a:gd name="connsiteY12" fmla="*/ 1614954 h 1614954"/>
                <a:gd name="connsiteX13" fmla="*/ 3283256 w 3952875"/>
                <a:gd name="connsiteY13" fmla="*/ 1614954 h 1614954"/>
                <a:gd name="connsiteX14" fmla="*/ 2298279 w 3952875"/>
                <a:gd name="connsiteY14" fmla="*/ 1614954 h 1614954"/>
                <a:gd name="connsiteX15" fmla="*/ 2298279 w 3952875"/>
                <a:gd name="connsiteY15" fmla="*/ 1614954 h 1614954"/>
                <a:gd name="connsiteX16" fmla="*/ 195764 w 3952875"/>
                <a:gd name="connsiteY16" fmla="*/ 1614954 h 1614954"/>
                <a:gd name="connsiteX17" fmla="*/ 0 w 3952875"/>
                <a:gd name="connsiteY17" fmla="*/ 1419190 h 1614954"/>
                <a:gd name="connsiteX18" fmla="*/ 0 w 3952875"/>
                <a:gd name="connsiteY18" fmla="*/ 929793 h 1614954"/>
                <a:gd name="connsiteX19" fmla="*/ 0 w 3952875"/>
                <a:gd name="connsiteY19" fmla="*/ 636152 h 1614954"/>
                <a:gd name="connsiteX20" fmla="*/ 0 w 3952875"/>
                <a:gd name="connsiteY20" fmla="*/ 636152 h 1614954"/>
                <a:gd name="connsiteX21" fmla="*/ 0 w 3952875"/>
                <a:gd name="connsiteY21" fmla="*/ 636156 h 1614954"/>
                <a:gd name="connsiteX0" fmla="*/ 0 w 4086225"/>
                <a:gd name="connsiteY0" fmla="*/ 636156 h 1614954"/>
                <a:gd name="connsiteX1" fmla="*/ 195764 w 4086225"/>
                <a:gd name="connsiteY1" fmla="*/ 440392 h 1614954"/>
                <a:gd name="connsiteX2" fmla="*/ 3232343 w 4086225"/>
                <a:gd name="connsiteY2" fmla="*/ 430560 h 1614954"/>
                <a:gd name="connsiteX3" fmla="*/ 3704143 w 4086225"/>
                <a:gd name="connsiteY3" fmla="*/ 0 h 1614954"/>
                <a:gd name="connsiteX4" fmla="*/ 3519231 w 4086225"/>
                <a:gd name="connsiteY4" fmla="*/ 440392 h 1614954"/>
                <a:gd name="connsiteX5" fmla="*/ 3744143 w 4086225"/>
                <a:gd name="connsiteY5" fmla="*/ 440392 h 1614954"/>
                <a:gd name="connsiteX6" fmla="*/ 3939907 w 4086225"/>
                <a:gd name="connsiteY6" fmla="*/ 636156 h 1614954"/>
                <a:gd name="connsiteX7" fmla="*/ 3939907 w 4086225"/>
                <a:gd name="connsiteY7" fmla="*/ 636152 h 1614954"/>
                <a:gd name="connsiteX8" fmla="*/ 3939907 w 4086225"/>
                <a:gd name="connsiteY8" fmla="*/ 636152 h 1614954"/>
                <a:gd name="connsiteX9" fmla="*/ 4086225 w 4086225"/>
                <a:gd name="connsiteY9" fmla="*/ 777370 h 1614954"/>
                <a:gd name="connsiteX10" fmla="*/ 3939907 w 4086225"/>
                <a:gd name="connsiteY10" fmla="*/ 929793 h 1614954"/>
                <a:gd name="connsiteX11" fmla="*/ 3939907 w 4086225"/>
                <a:gd name="connsiteY11" fmla="*/ 1419190 h 1614954"/>
                <a:gd name="connsiteX12" fmla="*/ 3744143 w 4086225"/>
                <a:gd name="connsiteY12" fmla="*/ 1614954 h 1614954"/>
                <a:gd name="connsiteX13" fmla="*/ 3283256 w 4086225"/>
                <a:gd name="connsiteY13" fmla="*/ 1614954 h 1614954"/>
                <a:gd name="connsiteX14" fmla="*/ 2298279 w 4086225"/>
                <a:gd name="connsiteY14" fmla="*/ 1614954 h 1614954"/>
                <a:gd name="connsiteX15" fmla="*/ 2298279 w 4086225"/>
                <a:gd name="connsiteY15" fmla="*/ 1614954 h 1614954"/>
                <a:gd name="connsiteX16" fmla="*/ 195764 w 4086225"/>
                <a:gd name="connsiteY16" fmla="*/ 1614954 h 1614954"/>
                <a:gd name="connsiteX17" fmla="*/ 0 w 4086225"/>
                <a:gd name="connsiteY17" fmla="*/ 1419190 h 1614954"/>
                <a:gd name="connsiteX18" fmla="*/ 0 w 4086225"/>
                <a:gd name="connsiteY18" fmla="*/ 929793 h 1614954"/>
                <a:gd name="connsiteX19" fmla="*/ 0 w 4086225"/>
                <a:gd name="connsiteY19" fmla="*/ 636152 h 1614954"/>
                <a:gd name="connsiteX20" fmla="*/ 0 w 4086225"/>
                <a:gd name="connsiteY20" fmla="*/ 636152 h 1614954"/>
                <a:gd name="connsiteX21" fmla="*/ 0 w 4086225"/>
                <a:gd name="connsiteY21" fmla="*/ 636156 h 1614954"/>
                <a:gd name="connsiteX0" fmla="*/ 0 w 4086225"/>
                <a:gd name="connsiteY0" fmla="*/ 636156 h 1614954"/>
                <a:gd name="connsiteX1" fmla="*/ 195764 w 4086225"/>
                <a:gd name="connsiteY1" fmla="*/ 440392 h 1614954"/>
                <a:gd name="connsiteX2" fmla="*/ 3232343 w 4086225"/>
                <a:gd name="connsiteY2" fmla="*/ 430560 h 1614954"/>
                <a:gd name="connsiteX3" fmla="*/ 3704143 w 4086225"/>
                <a:gd name="connsiteY3" fmla="*/ 0 h 1614954"/>
                <a:gd name="connsiteX4" fmla="*/ 3519231 w 4086225"/>
                <a:gd name="connsiteY4" fmla="*/ 440392 h 1614954"/>
                <a:gd name="connsiteX5" fmla="*/ 3744143 w 4086225"/>
                <a:gd name="connsiteY5" fmla="*/ 440392 h 1614954"/>
                <a:gd name="connsiteX6" fmla="*/ 3939907 w 4086225"/>
                <a:gd name="connsiteY6" fmla="*/ 636156 h 1614954"/>
                <a:gd name="connsiteX7" fmla="*/ 3939907 w 4086225"/>
                <a:gd name="connsiteY7" fmla="*/ 636152 h 1614954"/>
                <a:gd name="connsiteX8" fmla="*/ 3939907 w 4086225"/>
                <a:gd name="connsiteY8" fmla="*/ 636152 h 1614954"/>
                <a:gd name="connsiteX9" fmla="*/ 4086225 w 4086225"/>
                <a:gd name="connsiteY9" fmla="*/ 777370 h 1614954"/>
                <a:gd name="connsiteX10" fmla="*/ 3939907 w 4086225"/>
                <a:gd name="connsiteY10" fmla="*/ 929793 h 1614954"/>
                <a:gd name="connsiteX11" fmla="*/ 3939907 w 4086225"/>
                <a:gd name="connsiteY11" fmla="*/ 1419190 h 1614954"/>
                <a:gd name="connsiteX12" fmla="*/ 3744143 w 4086225"/>
                <a:gd name="connsiteY12" fmla="*/ 1614954 h 1614954"/>
                <a:gd name="connsiteX13" fmla="*/ 3283256 w 4086225"/>
                <a:gd name="connsiteY13" fmla="*/ 1614954 h 1614954"/>
                <a:gd name="connsiteX14" fmla="*/ 2298279 w 4086225"/>
                <a:gd name="connsiteY14" fmla="*/ 1614954 h 1614954"/>
                <a:gd name="connsiteX15" fmla="*/ 2298279 w 4086225"/>
                <a:gd name="connsiteY15" fmla="*/ 1614954 h 1614954"/>
                <a:gd name="connsiteX16" fmla="*/ 195764 w 4086225"/>
                <a:gd name="connsiteY16" fmla="*/ 1614954 h 1614954"/>
                <a:gd name="connsiteX17" fmla="*/ 0 w 4086225"/>
                <a:gd name="connsiteY17" fmla="*/ 1419190 h 1614954"/>
                <a:gd name="connsiteX18" fmla="*/ 0 w 4086225"/>
                <a:gd name="connsiteY18" fmla="*/ 929793 h 1614954"/>
                <a:gd name="connsiteX19" fmla="*/ 0 w 4086225"/>
                <a:gd name="connsiteY19" fmla="*/ 636152 h 1614954"/>
                <a:gd name="connsiteX20" fmla="*/ 0 w 4086225"/>
                <a:gd name="connsiteY20" fmla="*/ 636152 h 1614954"/>
                <a:gd name="connsiteX21" fmla="*/ 0 w 4086225"/>
                <a:gd name="connsiteY21" fmla="*/ 636156 h 1614954"/>
                <a:gd name="connsiteX0" fmla="*/ 0 w 4086225"/>
                <a:gd name="connsiteY0" fmla="*/ 636156 h 1614954"/>
                <a:gd name="connsiteX1" fmla="*/ 195764 w 4086225"/>
                <a:gd name="connsiteY1" fmla="*/ 440392 h 1614954"/>
                <a:gd name="connsiteX2" fmla="*/ 3232343 w 4086225"/>
                <a:gd name="connsiteY2" fmla="*/ 430560 h 1614954"/>
                <a:gd name="connsiteX3" fmla="*/ 3704143 w 4086225"/>
                <a:gd name="connsiteY3" fmla="*/ 0 h 1614954"/>
                <a:gd name="connsiteX4" fmla="*/ 3519231 w 4086225"/>
                <a:gd name="connsiteY4" fmla="*/ 440392 h 1614954"/>
                <a:gd name="connsiteX5" fmla="*/ 3744143 w 4086225"/>
                <a:gd name="connsiteY5" fmla="*/ 440392 h 1614954"/>
                <a:gd name="connsiteX6" fmla="*/ 3939907 w 4086225"/>
                <a:gd name="connsiteY6" fmla="*/ 636156 h 1614954"/>
                <a:gd name="connsiteX7" fmla="*/ 3939907 w 4086225"/>
                <a:gd name="connsiteY7" fmla="*/ 636152 h 1614954"/>
                <a:gd name="connsiteX8" fmla="*/ 3939907 w 4086225"/>
                <a:gd name="connsiteY8" fmla="*/ 636152 h 1614954"/>
                <a:gd name="connsiteX9" fmla="*/ 4086225 w 4086225"/>
                <a:gd name="connsiteY9" fmla="*/ 777370 h 1614954"/>
                <a:gd name="connsiteX10" fmla="*/ 3939907 w 4086225"/>
                <a:gd name="connsiteY10" fmla="*/ 929793 h 1614954"/>
                <a:gd name="connsiteX11" fmla="*/ 3939907 w 4086225"/>
                <a:gd name="connsiteY11" fmla="*/ 1419190 h 1614954"/>
                <a:gd name="connsiteX12" fmla="*/ 3744143 w 4086225"/>
                <a:gd name="connsiteY12" fmla="*/ 1614954 h 1614954"/>
                <a:gd name="connsiteX13" fmla="*/ 3283256 w 4086225"/>
                <a:gd name="connsiteY13" fmla="*/ 1614954 h 1614954"/>
                <a:gd name="connsiteX14" fmla="*/ 2298279 w 4086225"/>
                <a:gd name="connsiteY14" fmla="*/ 1614954 h 1614954"/>
                <a:gd name="connsiteX15" fmla="*/ 2298279 w 4086225"/>
                <a:gd name="connsiteY15" fmla="*/ 1614954 h 1614954"/>
                <a:gd name="connsiteX16" fmla="*/ 195764 w 4086225"/>
                <a:gd name="connsiteY16" fmla="*/ 1614954 h 1614954"/>
                <a:gd name="connsiteX17" fmla="*/ 0 w 4086225"/>
                <a:gd name="connsiteY17" fmla="*/ 1419190 h 1614954"/>
                <a:gd name="connsiteX18" fmla="*/ 0 w 4086225"/>
                <a:gd name="connsiteY18" fmla="*/ 929793 h 1614954"/>
                <a:gd name="connsiteX19" fmla="*/ 0 w 4086225"/>
                <a:gd name="connsiteY19" fmla="*/ 636152 h 1614954"/>
                <a:gd name="connsiteX20" fmla="*/ 0 w 4086225"/>
                <a:gd name="connsiteY20" fmla="*/ 636152 h 1614954"/>
                <a:gd name="connsiteX21" fmla="*/ 0 w 4086225"/>
                <a:gd name="connsiteY21" fmla="*/ 636156 h 1614954"/>
                <a:gd name="connsiteX0" fmla="*/ 0 w 4086225"/>
                <a:gd name="connsiteY0" fmla="*/ 205596 h 1184394"/>
                <a:gd name="connsiteX1" fmla="*/ 195764 w 4086225"/>
                <a:gd name="connsiteY1" fmla="*/ 9832 h 1184394"/>
                <a:gd name="connsiteX2" fmla="*/ 3232343 w 4086225"/>
                <a:gd name="connsiteY2" fmla="*/ 0 h 1184394"/>
                <a:gd name="connsiteX3" fmla="*/ 3519231 w 4086225"/>
                <a:gd name="connsiteY3" fmla="*/ 9832 h 1184394"/>
                <a:gd name="connsiteX4" fmla="*/ 3744143 w 4086225"/>
                <a:gd name="connsiteY4" fmla="*/ 9832 h 1184394"/>
                <a:gd name="connsiteX5" fmla="*/ 3939907 w 4086225"/>
                <a:gd name="connsiteY5" fmla="*/ 205596 h 1184394"/>
                <a:gd name="connsiteX6" fmla="*/ 3939907 w 4086225"/>
                <a:gd name="connsiteY6" fmla="*/ 205592 h 1184394"/>
                <a:gd name="connsiteX7" fmla="*/ 3939907 w 4086225"/>
                <a:gd name="connsiteY7" fmla="*/ 205592 h 1184394"/>
                <a:gd name="connsiteX8" fmla="*/ 4086225 w 4086225"/>
                <a:gd name="connsiteY8" fmla="*/ 346810 h 1184394"/>
                <a:gd name="connsiteX9" fmla="*/ 3939907 w 4086225"/>
                <a:gd name="connsiteY9" fmla="*/ 499233 h 1184394"/>
                <a:gd name="connsiteX10" fmla="*/ 3939907 w 4086225"/>
                <a:gd name="connsiteY10" fmla="*/ 988630 h 1184394"/>
                <a:gd name="connsiteX11" fmla="*/ 3744143 w 4086225"/>
                <a:gd name="connsiteY11" fmla="*/ 1184394 h 1184394"/>
                <a:gd name="connsiteX12" fmla="*/ 3283256 w 4086225"/>
                <a:gd name="connsiteY12" fmla="*/ 1184394 h 1184394"/>
                <a:gd name="connsiteX13" fmla="*/ 2298279 w 4086225"/>
                <a:gd name="connsiteY13" fmla="*/ 1184394 h 1184394"/>
                <a:gd name="connsiteX14" fmla="*/ 2298279 w 4086225"/>
                <a:gd name="connsiteY14" fmla="*/ 1184394 h 1184394"/>
                <a:gd name="connsiteX15" fmla="*/ 195764 w 4086225"/>
                <a:gd name="connsiteY15" fmla="*/ 1184394 h 1184394"/>
                <a:gd name="connsiteX16" fmla="*/ 0 w 4086225"/>
                <a:gd name="connsiteY16" fmla="*/ 988630 h 1184394"/>
                <a:gd name="connsiteX17" fmla="*/ 0 w 4086225"/>
                <a:gd name="connsiteY17" fmla="*/ 499233 h 1184394"/>
                <a:gd name="connsiteX18" fmla="*/ 0 w 4086225"/>
                <a:gd name="connsiteY18" fmla="*/ 205592 h 1184394"/>
                <a:gd name="connsiteX19" fmla="*/ 0 w 4086225"/>
                <a:gd name="connsiteY19" fmla="*/ 205592 h 1184394"/>
                <a:gd name="connsiteX20" fmla="*/ 0 w 4086225"/>
                <a:gd name="connsiteY20" fmla="*/ 205596 h 1184394"/>
                <a:gd name="connsiteX0" fmla="*/ 0 w 4086225"/>
                <a:gd name="connsiteY0" fmla="*/ 214038 h 1192836"/>
                <a:gd name="connsiteX1" fmla="*/ 195764 w 4086225"/>
                <a:gd name="connsiteY1" fmla="*/ 18274 h 1192836"/>
                <a:gd name="connsiteX2" fmla="*/ 3232343 w 4086225"/>
                <a:gd name="connsiteY2" fmla="*/ 8442 h 1192836"/>
                <a:gd name="connsiteX3" fmla="*/ 3744143 w 4086225"/>
                <a:gd name="connsiteY3" fmla="*/ 18274 h 1192836"/>
                <a:gd name="connsiteX4" fmla="*/ 3939907 w 4086225"/>
                <a:gd name="connsiteY4" fmla="*/ 214038 h 1192836"/>
                <a:gd name="connsiteX5" fmla="*/ 3939907 w 4086225"/>
                <a:gd name="connsiteY5" fmla="*/ 214034 h 1192836"/>
                <a:gd name="connsiteX6" fmla="*/ 3939907 w 4086225"/>
                <a:gd name="connsiteY6" fmla="*/ 214034 h 1192836"/>
                <a:gd name="connsiteX7" fmla="*/ 4086225 w 4086225"/>
                <a:gd name="connsiteY7" fmla="*/ 355252 h 1192836"/>
                <a:gd name="connsiteX8" fmla="*/ 3939907 w 4086225"/>
                <a:gd name="connsiteY8" fmla="*/ 507675 h 1192836"/>
                <a:gd name="connsiteX9" fmla="*/ 3939907 w 4086225"/>
                <a:gd name="connsiteY9" fmla="*/ 997072 h 1192836"/>
                <a:gd name="connsiteX10" fmla="*/ 3744143 w 4086225"/>
                <a:gd name="connsiteY10" fmla="*/ 1192836 h 1192836"/>
                <a:gd name="connsiteX11" fmla="*/ 3283256 w 4086225"/>
                <a:gd name="connsiteY11" fmla="*/ 1192836 h 1192836"/>
                <a:gd name="connsiteX12" fmla="*/ 2298279 w 4086225"/>
                <a:gd name="connsiteY12" fmla="*/ 1192836 h 1192836"/>
                <a:gd name="connsiteX13" fmla="*/ 2298279 w 4086225"/>
                <a:gd name="connsiteY13" fmla="*/ 1192836 h 1192836"/>
                <a:gd name="connsiteX14" fmla="*/ 195764 w 4086225"/>
                <a:gd name="connsiteY14" fmla="*/ 1192836 h 1192836"/>
                <a:gd name="connsiteX15" fmla="*/ 0 w 4086225"/>
                <a:gd name="connsiteY15" fmla="*/ 997072 h 1192836"/>
                <a:gd name="connsiteX16" fmla="*/ 0 w 4086225"/>
                <a:gd name="connsiteY16" fmla="*/ 507675 h 1192836"/>
                <a:gd name="connsiteX17" fmla="*/ 0 w 4086225"/>
                <a:gd name="connsiteY17" fmla="*/ 214034 h 1192836"/>
                <a:gd name="connsiteX18" fmla="*/ 0 w 4086225"/>
                <a:gd name="connsiteY18" fmla="*/ 214034 h 1192836"/>
                <a:gd name="connsiteX19" fmla="*/ 0 w 4086225"/>
                <a:gd name="connsiteY19" fmla="*/ 214038 h 1192836"/>
                <a:gd name="connsiteX0" fmla="*/ 0 w 4086225"/>
                <a:gd name="connsiteY0" fmla="*/ 195764 h 1174562"/>
                <a:gd name="connsiteX1" fmla="*/ 195764 w 4086225"/>
                <a:gd name="connsiteY1" fmla="*/ 0 h 1174562"/>
                <a:gd name="connsiteX2" fmla="*/ 3744143 w 4086225"/>
                <a:gd name="connsiteY2" fmla="*/ 0 h 1174562"/>
                <a:gd name="connsiteX3" fmla="*/ 3939907 w 4086225"/>
                <a:gd name="connsiteY3" fmla="*/ 195764 h 1174562"/>
                <a:gd name="connsiteX4" fmla="*/ 3939907 w 4086225"/>
                <a:gd name="connsiteY4" fmla="*/ 195760 h 1174562"/>
                <a:gd name="connsiteX5" fmla="*/ 3939907 w 4086225"/>
                <a:gd name="connsiteY5" fmla="*/ 195760 h 1174562"/>
                <a:gd name="connsiteX6" fmla="*/ 4086225 w 4086225"/>
                <a:gd name="connsiteY6" fmla="*/ 336978 h 1174562"/>
                <a:gd name="connsiteX7" fmla="*/ 3939907 w 4086225"/>
                <a:gd name="connsiteY7" fmla="*/ 489401 h 1174562"/>
                <a:gd name="connsiteX8" fmla="*/ 3939907 w 4086225"/>
                <a:gd name="connsiteY8" fmla="*/ 978798 h 1174562"/>
                <a:gd name="connsiteX9" fmla="*/ 3744143 w 4086225"/>
                <a:gd name="connsiteY9" fmla="*/ 1174562 h 1174562"/>
                <a:gd name="connsiteX10" fmla="*/ 3283256 w 4086225"/>
                <a:gd name="connsiteY10" fmla="*/ 1174562 h 1174562"/>
                <a:gd name="connsiteX11" fmla="*/ 2298279 w 4086225"/>
                <a:gd name="connsiteY11" fmla="*/ 1174562 h 1174562"/>
                <a:gd name="connsiteX12" fmla="*/ 2298279 w 4086225"/>
                <a:gd name="connsiteY12" fmla="*/ 1174562 h 1174562"/>
                <a:gd name="connsiteX13" fmla="*/ 195764 w 4086225"/>
                <a:gd name="connsiteY13" fmla="*/ 1174562 h 1174562"/>
                <a:gd name="connsiteX14" fmla="*/ 0 w 4086225"/>
                <a:gd name="connsiteY14" fmla="*/ 978798 h 1174562"/>
                <a:gd name="connsiteX15" fmla="*/ 0 w 4086225"/>
                <a:gd name="connsiteY15" fmla="*/ 489401 h 1174562"/>
                <a:gd name="connsiteX16" fmla="*/ 0 w 4086225"/>
                <a:gd name="connsiteY16" fmla="*/ 195760 h 1174562"/>
                <a:gd name="connsiteX17" fmla="*/ 0 w 4086225"/>
                <a:gd name="connsiteY17" fmla="*/ 195760 h 1174562"/>
                <a:gd name="connsiteX18" fmla="*/ 0 w 4086225"/>
                <a:gd name="connsiteY18" fmla="*/ 195764 h 1174562"/>
                <a:gd name="connsiteX0" fmla="*/ 0 w 4171950"/>
                <a:gd name="connsiteY0" fmla="*/ 195764 h 1174562"/>
                <a:gd name="connsiteX1" fmla="*/ 195764 w 4171950"/>
                <a:gd name="connsiteY1" fmla="*/ 0 h 1174562"/>
                <a:gd name="connsiteX2" fmla="*/ 3744143 w 4171950"/>
                <a:gd name="connsiteY2" fmla="*/ 0 h 1174562"/>
                <a:gd name="connsiteX3" fmla="*/ 3939907 w 4171950"/>
                <a:gd name="connsiteY3" fmla="*/ 195764 h 1174562"/>
                <a:gd name="connsiteX4" fmla="*/ 3939907 w 4171950"/>
                <a:gd name="connsiteY4" fmla="*/ 195760 h 1174562"/>
                <a:gd name="connsiteX5" fmla="*/ 3939907 w 4171950"/>
                <a:gd name="connsiteY5" fmla="*/ 195760 h 1174562"/>
                <a:gd name="connsiteX6" fmla="*/ 4171950 w 4171950"/>
                <a:gd name="connsiteY6" fmla="*/ 127428 h 1174562"/>
                <a:gd name="connsiteX7" fmla="*/ 3939907 w 4171950"/>
                <a:gd name="connsiteY7" fmla="*/ 489401 h 1174562"/>
                <a:gd name="connsiteX8" fmla="*/ 3939907 w 4171950"/>
                <a:gd name="connsiteY8" fmla="*/ 978798 h 1174562"/>
                <a:gd name="connsiteX9" fmla="*/ 3744143 w 4171950"/>
                <a:gd name="connsiteY9" fmla="*/ 1174562 h 1174562"/>
                <a:gd name="connsiteX10" fmla="*/ 3283256 w 4171950"/>
                <a:gd name="connsiteY10" fmla="*/ 1174562 h 1174562"/>
                <a:gd name="connsiteX11" fmla="*/ 2298279 w 4171950"/>
                <a:gd name="connsiteY11" fmla="*/ 1174562 h 1174562"/>
                <a:gd name="connsiteX12" fmla="*/ 2298279 w 4171950"/>
                <a:gd name="connsiteY12" fmla="*/ 1174562 h 1174562"/>
                <a:gd name="connsiteX13" fmla="*/ 195764 w 4171950"/>
                <a:gd name="connsiteY13" fmla="*/ 1174562 h 1174562"/>
                <a:gd name="connsiteX14" fmla="*/ 0 w 4171950"/>
                <a:gd name="connsiteY14" fmla="*/ 978798 h 1174562"/>
                <a:gd name="connsiteX15" fmla="*/ 0 w 4171950"/>
                <a:gd name="connsiteY15" fmla="*/ 489401 h 1174562"/>
                <a:gd name="connsiteX16" fmla="*/ 0 w 4171950"/>
                <a:gd name="connsiteY16" fmla="*/ 195760 h 1174562"/>
                <a:gd name="connsiteX17" fmla="*/ 0 w 4171950"/>
                <a:gd name="connsiteY17" fmla="*/ 195760 h 1174562"/>
                <a:gd name="connsiteX18" fmla="*/ 0 w 4171950"/>
                <a:gd name="connsiteY18" fmla="*/ 195764 h 1174562"/>
                <a:gd name="connsiteX0" fmla="*/ 0 w 4171950"/>
                <a:gd name="connsiteY0" fmla="*/ 195764 h 1174562"/>
                <a:gd name="connsiteX1" fmla="*/ 195764 w 4171950"/>
                <a:gd name="connsiteY1" fmla="*/ 0 h 1174562"/>
                <a:gd name="connsiteX2" fmla="*/ 3744143 w 4171950"/>
                <a:gd name="connsiteY2" fmla="*/ 0 h 1174562"/>
                <a:gd name="connsiteX3" fmla="*/ 3939907 w 4171950"/>
                <a:gd name="connsiteY3" fmla="*/ 195764 h 1174562"/>
                <a:gd name="connsiteX4" fmla="*/ 3939907 w 4171950"/>
                <a:gd name="connsiteY4" fmla="*/ 195760 h 1174562"/>
                <a:gd name="connsiteX5" fmla="*/ 3939907 w 4171950"/>
                <a:gd name="connsiteY5" fmla="*/ 195760 h 1174562"/>
                <a:gd name="connsiteX6" fmla="*/ 4171950 w 4171950"/>
                <a:gd name="connsiteY6" fmla="*/ 127428 h 1174562"/>
                <a:gd name="connsiteX7" fmla="*/ 3939907 w 4171950"/>
                <a:gd name="connsiteY7" fmla="*/ 489401 h 1174562"/>
                <a:gd name="connsiteX8" fmla="*/ 3939907 w 4171950"/>
                <a:gd name="connsiteY8" fmla="*/ 978798 h 1174562"/>
                <a:gd name="connsiteX9" fmla="*/ 3744143 w 4171950"/>
                <a:gd name="connsiteY9" fmla="*/ 1174562 h 1174562"/>
                <a:gd name="connsiteX10" fmla="*/ 3283256 w 4171950"/>
                <a:gd name="connsiteY10" fmla="*/ 1174562 h 1174562"/>
                <a:gd name="connsiteX11" fmla="*/ 2298279 w 4171950"/>
                <a:gd name="connsiteY11" fmla="*/ 1174562 h 1174562"/>
                <a:gd name="connsiteX12" fmla="*/ 2298279 w 4171950"/>
                <a:gd name="connsiteY12" fmla="*/ 1174562 h 1174562"/>
                <a:gd name="connsiteX13" fmla="*/ 195764 w 4171950"/>
                <a:gd name="connsiteY13" fmla="*/ 1174562 h 1174562"/>
                <a:gd name="connsiteX14" fmla="*/ 0 w 4171950"/>
                <a:gd name="connsiteY14" fmla="*/ 978798 h 1174562"/>
                <a:gd name="connsiteX15" fmla="*/ 0 w 4171950"/>
                <a:gd name="connsiteY15" fmla="*/ 489401 h 1174562"/>
                <a:gd name="connsiteX16" fmla="*/ 0 w 4171950"/>
                <a:gd name="connsiteY16" fmla="*/ 195760 h 1174562"/>
                <a:gd name="connsiteX17" fmla="*/ 0 w 4171950"/>
                <a:gd name="connsiteY17" fmla="*/ 195760 h 1174562"/>
                <a:gd name="connsiteX18" fmla="*/ 0 w 4171950"/>
                <a:gd name="connsiteY18" fmla="*/ 195764 h 1174562"/>
                <a:gd name="connsiteX0" fmla="*/ 0 w 4171950"/>
                <a:gd name="connsiteY0" fmla="*/ 195764 h 1174562"/>
                <a:gd name="connsiteX1" fmla="*/ 195764 w 4171950"/>
                <a:gd name="connsiteY1" fmla="*/ 0 h 1174562"/>
                <a:gd name="connsiteX2" fmla="*/ 3744143 w 4171950"/>
                <a:gd name="connsiteY2" fmla="*/ 0 h 1174562"/>
                <a:gd name="connsiteX3" fmla="*/ 3939907 w 4171950"/>
                <a:gd name="connsiteY3" fmla="*/ 195764 h 1174562"/>
                <a:gd name="connsiteX4" fmla="*/ 3939907 w 4171950"/>
                <a:gd name="connsiteY4" fmla="*/ 195760 h 1174562"/>
                <a:gd name="connsiteX5" fmla="*/ 3939907 w 4171950"/>
                <a:gd name="connsiteY5" fmla="*/ 195760 h 1174562"/>
                <a:gd name="connsiteX6" fmla="*/ 4171950 w 4171950"/>
                <a:gd name="connsiteY6" fmla="*/ 127428 h 1174562"/>
                <a:gd name="connsiteX7" fmla="*/ 3939907 w 4171950"/>
                <a:gd name="connsiteY7" fmla="*/ 489401 h 1174562"/>
                <a:gd name="connsiteX8" fmla="*/ 3939907 w 4171950"/>
                <a:gd name="connsiteY8" fmla="*/ 978798 h 1174562"/>
                <a:gd name="connsiteX9" fmla="*/ 3744143 w 4171950"/>
                <a:gd name="connsiteY9" fmla="*/ 1174562 h 1174562"/>
                <a:gd name="connsiteX10" fmla="*/ 3283256 w 4171950"/>
                <a:gd name="connsiteY10" fmla="*/ 1174562 h 1174562"/>
                <a:gd name="connsiteX11" fmla="*/ 2298279 w 4171950"/>
                <a:gd name="connsiteY11" fmla="*/ 1174562 h 1174562"/>
                <a:gd name="connsiteX12" fmla="*/ 2298279 w 4171950"/>
                <a:gd name="connsiteY12" fmla="*/ 1174562 h 1174562"/>
                <a:gd name="connsiteX13" fmla="*/ 195764 w 4171950"/>
                <a:gd name="connsiteY13" fmla="*/ 1174562 h 1174562"/>
                <a:gd name="connsiteX14" fmla="*/ 0 w 4171950"/>
                <a:gd name="connsiteY14" fmla="*/ 978798 h 1174562"/>
                <a:gd name="connsiteX15" fmla="*/ 0 w 4171950"/>
                <a:gd name="connsiteY15" fmla="*/ 489401 h 1174562"/>
                <a:gd name="connsiteX16" fmla="*/ 0 w 4171950"/>
                <a:gd name="connsiteY16" fmla="*/ 195760 h 1174562"/>
                <a:gd name="connsiteX17" fmla="*/ 0 w 4171950"/>
                <a:gd name="connsiteY17" fmla="*/ 195760 h 1174562"/>
                <a:gd name="connsiteX18" fmla="*/ 0 w 4171950"/>
                <a:gd name="connsiteY18" fmla="*/ 195764 h 1174562"/>
                <a:gd name="connsiteX0" fmla="*/ 0 w 4171950"/>
                <a:gd name="connsiteY0" fmla="*/ 195764 h 1174562"/>
                <a:gd name="connsiteX1" fmla="*/ 195764 w 4171950"/>
                <a:gd name="connsiteY1" fmla="*/ 0 h 1174562"/>
                <a:gd name="connsiteX2" fmla="*/ 3744143 w 4171950"/>
                <a:gd name="connsiteY2" fmla="*/ 0 h 1174562"/>
                <a:gd name="connsiteX3" fmla="*/ 3939907 w 4171950"/>
                <a:gd name="connsiteY3" fmla="*/ 195764 h 1174562"/>
                <a:gd name="connsiteX4" fmla="*/ 3939907 w 4171950"/>
                <a:gd name="connsiteY4" fmla="*/ 195760 h 1174562"/>
                <a:gd name="connsiteX5" fmla="*/ 3939907 w 4171950"/>
                <a:gd name="connsiteY5" fmla="*/ 195760 h 1174562"/>
                <a:gd name="connsiteX6" fmla="*/ 4171950 w 4171950"/>
                <a:gd name="connsiteY6" fmla="*/ 127428 h 1174562"/>
                <a:gd name="connsiteX7" fmla="*/ 3939907 w 4171950"/>
                <a:gd name="connsiteY7" fmla="*/ 489401 h 1174562"/>
                <a:gd name="connsiteX8" fmla="*/ 3939907 w 4171950"/>
                <a:gd name="connsiteY8" fmla="*/ 978798 h 1174562"/>
                <a:gd name="connsiteX9" fmla="*/ 3744143 w 4171950"/>
                <a:gd name="connsiteY9" fmla="*/ 1174562 h 1174562"/>
                <a:gd name="connsiteX10" fmla="*/ 3283256 w 4171950"/>
                <a:gd name="connsiteY10" fmla="*/ 1174562 h 1174562"/>
                <a:gd name="connsiteX11" fmla="*/ 2298279 w 4171950"/>
                <a:gd name="connsiteY11" fmla="*/ 1174562 h 1174562"/>
                <a:gd name="connsiteX12" fmla="*/ 2298279 w 4171950"/>
                <a:gd name="connsiteY12" fmla="*/ 1174562 h 1174562"/>
                <a:gd name="connsiteX13" fmla="*/ 195764 w 4171950"/>
                <a:gd name="connsiteY13" fmla="*/ 1174562 h 1174562"/>
                <a:gd name="connsiteX14" fmla="*/ 0 w 4171950"/>
                <a:gd name="connsiteY14" fmla="*/ 978798 h 1174562"/>
                <a:gd name="connsiteX15" fmla="*/ 0 w 4171950"/>
                <a:gd name="connsiteY15" fmla="*/ 489401 h 1174562"/>
                <a:gd name="connsiteX16" fmla="*/ 0 w 4171950"/>
                <a:gd name="connsiteY16" fmla="*/ 195760 h 1174562"/>
                <a:gd name="connsiteX17" fmla="*/ 0 w 4171950"/>
                <a:gd name="connsiteY17" fmla="*/ 195760 h 1174562"/>
                <a:gd name="connsiteX18" fmla="*/ 0 w 4171950"/>
                <a:gd name="connsiteY18" fmla="*/ 195764 h 1174562"/>
                <a:gd name="connsiteX0" fmla="*/ 0 w 4095750"/>
                <a:gd name="connsiteY0" fmla="*/ 195764 h 1174562"/>
                <a:gd name="connsiteX1" fmla="*/ 195764 w 4095750"/>
                <a:gd name="connsiteY1" fmla="*/ 0 h 1174562"/>
                <a:gd name="connsiteX2" fmla="*/ 3744143 w 4095750"/>
                <a:gd name="connsiteY2" fmla="*/ 0 h 1174562"/>
                <a:gd name="connsiteX3" fmla="*/ 3939907 w 4095750"/>
                <a:gd name="connsiteY3" fmla="*/ 195764 h 1174562"/>
                <a:gd name="connsiteX4" fmla="*/ 3939907 w 4095750"/>
                <a:gd name="connsiteY4" fmla="*/ 195760 h 1174562"/>
                <a:gd name="connsiteX5" fmla="*/ 3939907 w 4095750"/>
                <a:gd name="connsiteY5" fmla="*/ 195760 h 1174562"/>
                <a:gd name="connsiteX6" fmla="*/ 4095750 w 4095750"/>
                <a:gd name="connsiteY6" fmla="*/ 222678 h 1174562"/>
                <a:gd name="connsiteX7" fmla="*/ 3939907 w 4095750"/>
                <a:gd name="connsiteY7" fmla="*/ 489401 h 1174562"/>
                <a:gd name="connsiteX8" fmla="*/ 3939907 w 4095750"/>
                <a:gd name="connsiteY8" fmla="*/ 978798 h 1174562"/>
                <a:gd name="connsiteX9" fmla="*/ 3744143 w 4095750"/>
                <a:gd name="connsiteY9" fmla="*/ 1174562 h 1174562"/>
                <a:gd name="connsiteX10" fmla="*/ 3283256 w 4095750"/>
                <a:gd name="connsiteY10" fmla="*/ 1174562 h 1174562"/>
                <a:gd name="connsiteX11" fmla="*/ 2298279 w 4095750"/>
                <a:gd name="connsiteY11" fmla="*/ 1174562 h 1174562"/>
                <a:gd name="connsiteX12" fmla="*/ 2298279 w 4095750"/>
                <a:gd name="connsiteY12" fmla="*/ 1174562 h 1174562"/>
                <a:gd name="connsiteX13" fmla="*/ 195764 w 4095750"/>
                <a:gd name="connsiteY13" fmla="*/ 1174562 h 1174562"/>
                <a:gd name="connsiteX14" fmla="*/ 0 w 4095750"/>
                <a:gd name="connsiteY14" fmla="*/ 978798 h 1174562"/>
                <a:gd name="connsiteX15" fmla="*/ 0 w 4095750"/>
                <a:gd name="connsiteY15" fmla="*/ 489401 h 1174562"/>
                <a:gd name="connsiteX16" fmla="*/ 0 w 4095750"/>
                <a:gd name="connsiteY16" fmla="*/ 195760 h 1174562"/>
                <a:gd name="connsiteX17" fmla="*/ 0 w 4095750"/>
                <a:gd name="connsiteY17" fmla="*/ 195760 h 1174562"/>
                <a:gd name="connsiteX18" fmla="*/ 0 w 4095750"/>
                <a:gd name="connsiteY18" fmla="*/ 195764 h 1174562"/>
                <a:gd name="connsiteX0" fmla="*/ 0 w 4095750"/>
                <a:gd name="connsiteY0" fmla="*/ 195764 h 1174562"/>
                <a:gd name="connsiteX1" fmla="*/ 195764 w 4095750"/>
                <a:gd name="connsiteY1" fmla="*/ 0 h 1174562"/>
                <a:gd name="connsiteX2" fmla="*/ 3744143 w 4095750"/>
                <a:gd name="connsiteY2" fmla="*/ 0 h 1174562"/>
                <a:gd name="connsiteX3" fmla="*/ 3939907 w 4095750"/>
                <a:gd name="connsiteY3" fmla="*/ 195764 h 1174562"/>
                <a:gd name="connsiteX4" fmla="*/ 3939907 w 4095750"/>
                <a:gd name="connsiteY4" fmla="*/ 195760 h 1174562"/>
                <a:gd name="connsiteX5" fmla="*/ 3939907 w 4095750"/>
                <a:gd name="connsiteY5" fmla="*/ 195760 h 1174562"/>
                <a:gd name="connsiteX6" fmla="*/ 4095750 w 4095750"/>
                <a:gd name="connsiteY6" fmla="*/ 222678 h 1174562"/>
                <a:gd name="connsiteX7" fmla="*/ 3939907 w 4095750"/>
                <a:gd name="connsiteY7" fmla="*/ 489401 h 1174562"/>
                <a:gd name="connsiteX8" fmla="*/ 3939907 w 4095750"/>
                <a:gd name="connsiteY8" fmla="*/ 978798 h 1174562"/>
                <a:gd name="connsiteX9" fmla="*/ 3744143 w 4095750"/>
                <a:gd name="connsiteY9" fmla="*/ 1174562 h 1174562"/>
                <a:gd name="connsiteX10" fmla="*/ 3283256 w 4095750"/>
                <a:gd name="connsiteY10" fmla="*/ 1174562 h 1174562"/>
                <a:gd name="connsiteX11" fmla="*/ 2298279 w 4095750"/>
                <a:gd name="connsiteY11" fmla="*/ 1174562 h 1174562"/>
                <a:gd name="connsiteX12" fmla="*/ 2298279 w 4095750"/>
                <a:gd name="connsiteY12" fmla="*/ 1174562 h 1174562"/>
                <a:gd name="connsiteX13" fmla="*/ 195764 w 4095750"/>
                <a:gd name="connsiteY13" fmla="*/ 1174562 h 1174562"/>
                <a:gd name="connsiteX14" fmla="*/ 0 w 4095750"/>
                <a:gd name="connsiteY14" fmla="*/ 978798 h 1174562"/>
                <a:gd name="connsiteX15" fmla="*/ 0 w 4095750"/>
                <a:gd name="connsiteY15" fmla="*/ 489401 h 1174562"/>
                <a:gd name="connsiteX16" fmla="*/ 0 w 4095750"/>
                <a:gd name="connsiteY16" fmla="*/ 195760 h 1174562"/>
                <a:gd name="connsiteX17" fmla="*/ 0 w 4095750"/>
                <a:gd name="connsiteY17" fmla="*/ 195760 h 1174562"/>
                <a:gd name="connsiteX18" fmla="*/ 0 w 4095750"/>
                <a:gd name="connsiteY18" fmla="*/ 195764 h 1174562"/>
                <a:gd name="connsiteX0" fmla="*/ 0 w 4095750"/>
                <a:gd name="connsiteY0" fmla="*/ 195764 h 1174562"/>
                <a:gd name="connsiteX1" fmla="*/ 195764 w 4095750"/>
                <a:gd name="connsiteY1" fmla="*/ 0 h 1174562"/>
                <a:gd name="connsiteX2" fmla="*/ 3744143 w 4095750"/>
                <a:gd name="connsiteY2" fmla="*/ 0 h 1174562"/>
                <a:gd name="connsiteX3" fmla="*/ 3939907 w 4095750"/>
                <a:gd name="connsiteY3" fmla="*/ 195764 h 1174562"/>
                <a:gd name="connsiteX4" fmla="*/ 3939907 w 4095750"/>
                <a:gd name="connsiteY4" fmla="*/ 195760 h 1174562"/>
                <a:gd name="connsiteX5" fmla="*/ 3939907 w 4095750"/>
                <a:gd name="connsiteY5" fmla="*/ 195760 h 1174562"/>
                <a:gd name="connsiteX6" fmla="*/ 4095750 w 4095750"/>
                <a:gd name="connsiteY6" fmla="*/ 222678 h 1174562"/>
                <a:gd name="connsiteX7" fmla="*/ 3939907 w 4095750"/>
                <a:gd name="connsiteY7" fmla="*/ 489401 h 1174562"/>
                <a:gd name="connsiteX8" fmla="*/ 3939907 w 4095750"/>
                <a:gd name="connsiteY8" fmla="*/ 978798 h 1174562"/>
                <a:gd name="connsiteX9" fmla="*/ 3744143 w 4095750"/>
                <a:gd name="connsiteY9" fmla="*/ 1174562 h 1174562"/>
                <a:gd name="connsiteX10" fmla="*/ 3283256 w 4095750"/>
                <a:gd name="connsiteY10" fmla="*/ 1174562 h 1174562"/>
                <a:gd name="connsiteX11" fmla="*/ 2298279 w 4095750"/>
                <a:gd name="connsiteY11" fmla="*/ 1174562 h 1174562"/>
                <a:gd name="connsiteX12" fmla="*/ 2298279 w 4095750"/>
                <a:gd name="connsiteY12" fmla="*/ 1174562 h 1174562"/>
                <a:gd name="connsiteX13" fmla="*/ 195764 w 4095750"/>
                <a:gd name="connsiteY13" fmla="*/ 1174562 h 1174562"/>
                <a:gd name="connsiteX14" fmla="*/ 0 w 4095750"/>
                <a:gd name="connsiteY14" fmla="*/ 978798 h 1174562"/>
                <a:gd name="connsiteX15" fmla="*/ 0 w 4095750"/>
                <a:gd name="connsiteY15" fmla="*/ 489401 h 1174562"/>
                <a:gd name="connsiteX16" fmla="*/ 0 w 4095750"/>
                <a:gd name="connsiteY16" fmla="*/ 195760 h 1174562"/>
                <a:gd name="connsiteX17" fmla="*/ 0 w 4095750"/>
                <a:gd name="connsiteY17" fmla="*/ 195760 h 1174562"/>
                <a:gd name="connsiteX18" fmla="*/ 0 w 4095750"/>
                <a:gd name="connsiteY18" fmla="*/ 195764 h 117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095750" h="1174562">
                  <a:moveTo>
                    <a:pt x="0" y="195764"/>
                  </a:moveTo>
                  <a:cubicBezTo>
                    <a:pt x="0" y="87647"/>
                    <a:pt x="87647" y="0"/>
                    <a:pt x="195764" y="0"/>
                  </a:cubicBezTo>
                  <a:lnTo>
                    <a:pt x="3744143" y="0"/>
                  </a:lnTo>
                  <a:cubicBezTo>
                    <a:pt x="3852260" y="0"/>
                    <a:pt x="3939907" y="87647"/>
                    <a:pt x="3939907" y="195764"/>
                  </a:cubicBezTo>
                  <a:lnTo>
                    <a:pt x="3939907" y="195760"/>
                  </a:lnTo>
                  <a:lnTo>
                    <a:pt x="3939907" y="195760"/>
                  </a:lnTo>
                  <a:cubicBezTo>
                    <a:pt x="3988680" y="242833"/>
                    <a:pt x="3989827" y="261330"/>
                    <a:pt x="4095750" y="222678"/>
                  </a:cubicBezTo>
                  <a:cubicBezTo>
                    <a:pt x="3970777" y="340161"/>
                    <a:pt x="3988680" y="438593"/>
                    <a:pt x="3939907" y="489401"/>
                  </a:cubicBezTo>
                  <a:lnTo>
                    <a:pt x="3939907" y="978798"/>
                  </a:lnTo>
                  <a:cubicBezTo>
                    <a:pt x="3939907" y="1086915"/>
                    <a:pt x="3852260" y="1174562"/>
                    <a:pt x="3744143" y="1174562"/>
                  </a:cubicBezTo>
                  <a:lnTo>
                    <a:pt x="3283256" y="1174562"/>
                  </a:lnTo>
                  <a:lnTo>
                    <a:pt x="2298279" y="1174562"/>
                  </a:lnTo>
                  <a:lnTo>
                    <a:pt x="2298279" y="1174562"/>
                  </a:lnTo>
                  <a:lnTo>
                    <a:pt x="195764" y="1174562"/>
                  </a:lnTo>
                  <a:cubicBezTo>
                    <a:pt x="87647" y="1174562"/>
                    <a:pt x="0" y="1086915"/>
                    <a:pt x="0" y="978798"/>
                  </a:cubicBezTo>
                  <a:lnTo>
                    <a:pt x="0" y="489401"/>
                  </a:lnTo>
                  <a:lnTo>
                    <a:pt x="0" y="195760"/>
                  </a:lnTo>
                  <a:lnTo>
                    <a:pt x="0" y="195760"/>
                  </a:lnTo>
                  <a:lnTo>
                    <a:pt x="0" y="195764"/>
                  </a:lnTo>
                  <a:close/>
                </a:path>
              </a:pathLst>
            </a:cu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Query"/>
            <p:cNvSpPr txBox="1"/>
            <p:nvPr/>
          </p:nvSpPr>
          <p:spPr>
            <a:xfrm>
              <a:off x="5327402" y="2934956"/>
              <a:ext cx="3755836" cy="941796"/>
            </a:xfrm>
            <a:prstGeom prst="rect">
              <a:avLst/>
            </a:prstGeom>
            <a:noFill/>
          </p:spPr>
          <p:txBody>
            <a:bodyPr wrap="none" lIns="0" tIns="0" rIns="0" bIns="0" rtlCol="0" anchor="t" anchorCtr="0">
              <a:spAutoFit/>
            </a:bodyPr>
            <a:lstStyle/>
            <a:p>
              <a:pPr>
                <a:lnSpc>
                  <a:spcPct val="90000"/>
                </a:lnSpc>
              </a:pPr>
              <a:r>
                <a:rPr lang="en-US" sz="1700" b="1" spc="-50" dirty="0" smtClean="0">
                  <a:latin typeface="Consolas" panose="020B0609020204030204" pitchFamily="49" charset="0"/>
                  <a:cs typeface="Consolas" panose="020B0609020204030204" pitchFamily="49" charset="0"/>
                </a:rPr>
                <a:t>From</a:t>
              </a:r>
              <a:r>
                <a:rPr lang="en-US" sz="1700" spc="-50" dirty="0" smtClean="0">
                  <a:latin typeface="Consolas" panose="020B0609020204030204" pitchFamily="49" charset="0"/>
                  <a:cs typeface="Consolas" panose="020B0609020204030204" pitchFamily="49" charset="0"/>
                </a:rPr>
                <a:t> </a:t>
              </a:r>
              <a:r>
                <a:rPr lang="en-US" sz="1700" spc="-50" dirty="0" smtClean="0">
                  <a:solidFill>
                    <a:srgbClr val="2F2364"/>
                  </a:solidFill>
                  <a:latin typeface="Consolas" panose="020B0609020204030204" pitchFamily="49" charset="0"/>
                  <a:cs typeface="Consolas" panose="020B0609020204030204" pitchFamily="49" charset="0"/>
                </a:rPr>
                <a:t>a</a:t>
              </a:r>
              <a:r>
                <a:rPr lang="en-US" sz="1700" spc="-50" dirty="0" smtClean="0">
                  <a:latin typeface="Consolas" panose="020B0609020204030204" pitchFamily="49" charset="0"/>
                  <a:cs typeface="Consolas" panose="020B0609020204030204" pitchFamily="49" charset="0"/>
                </a:rPr>
                <a:t> </a:t>
              </a:r>
              <a:r>
                <a:rPr lang="en-US" sz="1700" b="1" spc="-50" dirty="0" smtClean="0">
                  <a:latin typeface="Consolas" panose="020B0609020204030204" pitchFamily="49" charset="0"/>
                  <a:cs typeface="Consolas" panose="020B0609020204030204" pitchFamily="49" charset="0"/>
                </a:rPr>
                <a:t>In</a:t>
              </a:r>
              <a:r>
                <a:rPr lang="en-US" sz="1700" spc="-50" dirty="0" smtClean="0">
                  <a:latin typeface="Consolas" panose="020B0609020204030204" pitchFamily="49" charset="0"/>
                  <a:cs typeface="Consolas" panose="020B0609020204030204" pitchFamily="49" charset="0"/>
                </a:rPr>
                <a:t> </a:t>
              </a:r>
              <a:r>
                <a:rPr lang="en-US" sz="1700" spc="-50" dirty="0" smtClean="0">
                  <a:solidFill>
                    <a:srgbClr val="2F2364"/>
                  </a:solidFill>
                  <a:latin typeface="Consolas" panose="020B0609020204030204" pitchFamily="49" charset="0"/>
                  <a:cs typeface="Consolas" panose="020B0609020204030204" pitchFamily="49" charset="0"/>
                </a:rPr>
                <a:t>A</a:t>
              </a:r>
            </a:p>
            <a:p>
              <a:pPr>
                <a:lnSpc>
                  <a:spcPct val="90000"/>
                </a:lnSpc>
              </a:pPr>
              <a:r>
                <a:rPr lang="en-US" sz="1700" spc="-50" dirty="0">
                  <a:latin typeface="Consolas" panose="020B0609020204030204" pitchFamily="49" charset="0"/>
                  <a:cs typeface="Consolas" panose="020B0609020204030204" pitchFamily="49" charset="0"/>
                </a:rPr>
                <a:t> </a:t>
              </a:r>
              <a:r>
                <a:rPr lang="en-US" sz="1700" spc="-50" dirty="0" smtClean="0">
                  <a:latin typeface="Consolas" panose="020B0609020204030204" pitchFamily="49" charset="0"/>
                  <a:cs typeface="Consolas" panose="020B0609020204030204" pitchFamily="49" charset="0"/>
                </a:rPr>
                <a:t> </a:t>
              </a:r>
              <a:r>
                <a:rPr lang="en-US" sz="1700" b="1" spc="-50" dirty="0" smtClean="0">
                  <a:latin typeface="Consolas" panose="020B0609020204030204" pitchFamily="49" charset="0"/>
                  <a:cs typeface="Consolas" panose="020B0609020204030204" pitchFamily="49" charset="0"/>
                </a:rPr>
                <a:t>Join</a:t>
              </a:r>
              <a:r>
                <a:rPr lang="en-US" sz="1700" spc="-50" dirty="0" smtClean="0">
                  <a:latin typeface="Consolas" panose="020B0609020204030204" pitchFamily="49" charset="0"/>
                  <a:cs typeface="Consolas" panose="020B0609020204030204" pitchFamily="49" charset="0"/>
                </a:rPr>
                <a:t> </a:t>
              </a:r>
              <a:r>
                <a:rPr lang="en-US" sz="1700" spc="-50" dirty="0" smtClean="0">
                  <a:solidFill>
                    <a:srgbClr val="23642F"/>
                  </a:solidFill>
                  <a:latin typeface="Consolas" panose="020B0609020204030204" pitchFamily="49" charset="0"/>
                  <a:cs typeface="Consolas" panose="020B0609020204030204" pitchFamily="49" charset="0"/>
                </a:rPr>
                <a:t>b</a:t>
              </a:r>
              <a:r>
                <a:rPr lang="en-US" sz="1700" spc="-50" dirty="0" smtClean="0">
                  <a:latin typeface="Consolas" panose="020B0609020204030204" pitchFamily="49" charset="0"/>
                  <a:cs typeface="Consolas" panose="020B0609020204030204" pitchFamily="49" charset="0"/>
                </a:rPr>
                <a:t> </a:t>
              </a:r>
              <a:r>
                <a:rPr lang="en-US" sz="1700" b="1" spc="-50" dirty="0" smtClean="0">
                  <a:latin typeface="Consolas" panose="020B0609020204030204" pitchFamily="49" charset="0"/>
                  <a:cs typeface="Consolas" panose="020B0609020204030204" pitchFamily="49" charset="0"/>
                </a:rPr>
                <a:t>In</a:t>
              </a:r>
              <a:r>
                <a:rPr lang="en-US" sz="1700" spc="-50" dirty="0" smtClean="0">
                  <a:latin typeface="Consolas" panose="020B0609020204030204" pitchFamily="49" charset="0"/>
                  <a:cs typeface="Consolas" panose="020B0609020204030204" pitchFamily="49" charset="0"/>
                </a:rPr>
                <a:t> </a:t>
              </a:r>
              <a:r>
                <a:rPr lang="en-US" sz="1700" spc="-50" dirty="0" smtClean="0">
                  <a:solidFill>
                    <a:srgbClr val="23642F"/>
                  </a:solidFill>
                  <a:latin typeface="Consolas" panose="020B0609020204030204" pitchFamily="49" charset="0"/>
                  <a:cs typeface="Consolas" panose="020B0609020204030204" pitchFamily="49" charset="0"/>
                </a:rPr>
                <a:t>B</a:t>
              </a:r>
              <a:r>
                <a:rPr lang="en-US" sz="1700" spc="-50" dirty="0" smtClean="0">
                  <a:latin typeface="Consolas" panose="020B0609020204030204" pitchFamily="49" charset="0"/>
                  <a:cs typeface="Consolas" panose="020B0609020204030204" pitchFamily="49" charset="0"/>
                </a:rPr>
                <a:t> </a:t>
              </a:r>
              <a:r>
                <a:rPr lang="en-US" sz="1700" b="1" spc="-50" dirty="0" smtClean="0">
                  <a:latin typeface="Consolas" panose="020B0609020204030204" pitchFamily="49" charset="0"/>
                  <a:cs typeface="Consolas" panose="020B0609020204030204" pitchFamily="49" charset="0"/>
                </a:rPr>
                <a:t>On</a:t>
              </a:r>
              <a:r>
                <a:rPr lang="en-US" sz="1700" spc="-50" dirty="0" smtClean="0">
                  <a:latin typeface="Consolas" panose="020B0609020204030204" pitchFamily="49" charset="0"/>
                  <a:cs typeface="Consolas" panose="020B0609020204030204" pitchFamily="49" charset="0"/>
                </a:rPr>
                <a:t> </a:t>
              </a:r>
              <a:r>
                <a:rPr lang="en-US" sz="1700" spc="-50" dirty="0" smtClean="0">
                  <a:solidFill>
                    <a:srgbClr val="2F2364"/>
                  </a:solidFill>
                  <a:latin typeface="Consolas" panose="020B0609020204030204" pitchFamily="49" charset="0"/>
                  <a:cs typeface="Consolas" panose="020B0609020204030204" pitchFamily="49" charset="0"/>
                </a:rPr>
                <a:t>a</a:t>
              </a:r>
              <a:r>
                <a:rPr lang="en-US" sz="1700" spc="-50" dirty="0" smtClean="0">
                  <a:latin typeface="Consolas" panose="020B0609020204030204" pitchFamily="49" charset="0"/>
                  <a:cs typeface="Consolas" panose="020B0609020204030204" pitchFamily="49" charset="0"/>
                </a:rPr>
                <a:t> </a:t>
              </a:r>
              <a:r>
                <a:rPr lang="en-US" sz="1700" b="1" spc="-50" dirty="0" smtClean="0">
                  <a:latin typeface="Consolas" panose="020B0609020204030204" pitchFamily="49" charset="0"/>
                  <a:cs typeface="Consolas" panose="020B0609020204030204" pitchFamily="49" charset="0"/>
                </a:rPr>
                <a:t>-&gt;</a:t>
              </a:r>
              <a:r>
                <a:rPr lang="en-US" sz="1700" spc="-50" dirty="0" smtClean="0">
                  <a:latin typeface="Consolas" panose="020B0609020204030204" pitchFamily="49" charset="0"/>
                  <a:cs typeface="Consolas" panose="020B0609020204030204" pitchFamily="49" charset="0"/>
                </a:rPr>
                <a:t> </a:t>
              </a:r>
              <a:r>
                <a:rPr lang="en-US" sz="1700" spc="-50" dirty="0" smtClean="0">
                  <a:solidFill>
                    <a:srgbClr val="23642F"/>
                  </a:solidFill>
                  <a:latin typeface="Consolas" panose="020B0609020204030204" pitchFamily="49" charset="0"/>
                  <a:cs typeface="Consolas" panose="020B0609020204030204" pitchFamily="49" charset="0"/>
                </a:rPr>
                <a:t>b</a:t>
              </a:r>
            </a:p>
            <a:p>
              <a:pPr>
                <a:lnSpc>
                  <a:spcPct val="90000"/>
                </a:lnSpc>
              </a:pPr>
              <a:r>
                <a:rPr lang="en-US" sz="1700" spc="-50" dirty="0" smtClean="0">
                  <a:latin typeface="Consolas" panose="020B0609020204030204" pitchFamily="49" charset="0"/>
                  <a:cs typeface="Consolas" panose="020B0609020204030204" pitchFamily="49" charset="0"/>
                </a:rPr>
                <a:t>  </a:t>
              </a:r>
              <a:r>
                <a:rPr lang="en-US" sz="1700" b="1" spc="-50" dirty="0" err="1" smtClean="0">
                  <a:latin typeface="Consolas" panose="020B0609020204030204" pitchFamily="49" charset="0"/>
                  <a:cs typeface="Consolas" panose="020B0609020204030204" pitchFamily="49" charset="0"/>
                </a:rPr>
                <a:t>GroupBy</a:t>
              </a:r>
              <a:r>
                <a:rPr lang="en-US" sz="1700" spc="-50" dirty="0" smtClean="0">
                  <a:latin typeface="Consolas" panose="020B0609020204030204" pitchFamily="49" charset="0"/>
                  <a:cs typeface="Consolas" panose="020B0609020204030204" pitchFamily="49" charset="0"/>
                </a:rPr>
                <a:t> </a:t>
              </a:r>
              <a:r>
                <a:rPr lang="en-US" sz="1700" spc="-50" dirty="0" err="1" smtClean="0">
                  <a:solidFill>
                    <a:srgbClr val="2F2364"/>
                  </a:solidFill>
                  <a:latin typeface="Consolas" panose="020B0609020204030204" pitchFamily="49" charset="0"/>
                  <a:cs typeface="Consolas" panose="020B0609020204030204" pitchFamily="49" charset="0"/>
                </a:rPr>
                <a:t>a.procName</a:t>
              </a:r>
              <a:endParaRPr lang="en-US" sz="1700" spc="-50" dirty="0" smtClean="0">
                <a:solidFill>
                  <a:srgbClr val="2F2364"/>
                </a:solidFill>
                <a:latin typeface="Consolas" panose="020B0609020204030204" pitchFamily="49" charset="0"/>
                <a:cs typeface="Consolas" panose="020B0609020204030204" pitchFamily="49" charset="0"/>
              </a:endParaRPr>
            </a:p>
            <a:p>
              <a:pPr>
                <a:lnSpc>
                  <a:spcPct val="90000"/>
                </a:lnSpc>
              </a:pPr>
              <a:r>
                <a:rPr lang="en-US" sz="1700" spc="-50" dirty="0" smtClean="0">
                  <a:solidFill>
                    <a:srgbClr val="23642F"/>
                  </a:solidFill>
                  <a:latin typeface="Consolas" panose="020B0609020204030204" pitchFamily="49" charset="0"/>
                  <a:cs typeface="Consolas" panose="020B0609020204030204" pitchFamily="49" charset="0"/>
                </a:rPr>
                <a:t>  </a:t>
              </a:r>
              <a:r>
                <a:rPr lang="en-US" sz="1700" b="1" spc="-50" dirty="0" smtClean="0">
                  <a:latin typeface="Consolas" panose="020B0609020204030204" pitchFamily="49" charset="0"/>
                  <a:cs typeface="Consolas" panose="020B0609020204030204" pitchFamily="49" charset="0"/>
                </a:rPr>
                <a:t>Select</a:t>
              </a:r>
              <a:r>
                <a:rPr lang="en-US" sz="1700" spc="-50" dirty="0" smtClean="0">
                  <a:latin typeface="Consolas" panose="020B0609020204030204" pitchFamily="49" charset="0"/>
                  <a:cs typeface="Consolas" panose="020B0609020204030204" pitchFamily="49" charset="0"/>
                </a:rPr>
                <a:t> </a:t>
              </a:r>
              <a:r>
                <a:rPr lang="en-US" sz="1700" spc="-50" dirty="0" err="1" smtClean="0">
                  <a:solidFill>
                    <a:srgbClr val="2F2364"/>
                  </a:solidFill>
                  <a:latin typeface="Consolas" panose="020B0609020204030204" pitchFamily="49" charset="0"/>
                  <a:cs typeface="Consolas" panose="020B0609020204030204" pitchFamily="49" charset="0"/>
                </a:rPr>
                <a:t>a.procName</a:t>
              </a:r>
              <a:r>
                <a:rPr lang="en-US" sz="1700" spc="-50" dirty="0" smtClean="0">
                  <a:latin typeface="Consolas" panose="020B0609020204030204" pitchFamily="49" charset="0"/>
                  <a:cs typeface="Consolas" panose="020B0609020204030204" pitchFamily="49" charset="0"/>
                </a:rPr>
                <a:t>,</a:t>
              </a:r>
              <a:r>
                <a:rPr lang="en-US" sz="1700" spc="-50" dirty="0" smtClean="0">
                  <a:solidFill>
                    <a:srgbClr val="23642F"/>
                  </a:solidFill>
                  <a:latin typeface="Consolas" panose="020B0609020204030204" pitchFamily="49" charset="0"/>
                  <a:cs typeface="Consolas" panose="020B0609020204030204" pitchFamily="49" charset="0"/>
                </a:rPr>
                <a:t> </a:t>
              </a:r>
              <a:r>
                <a:rPr lang="en-US" sz="1700" b="1" spc="-50" dirty="0" smtClean="0">
                  <a:latin typeface="Consolas" panose="020B0609020204030204" pitchFamily="49" charset="0"/>
                  <a:cs typeface="Consolas" panose="020B0609020204030204" pitchFamily="49" charset="0"/>
                </a:rPr>
                <a:t>SUM(</a:t>
              </a:r>
              <a:r>
                <a:rPr lang="en-US" sz="1700" spc="-50" dirty="0" err="1" smtClean="0">
                  <a:solidFill>
                    <a:srgbClr val="23642F"/>
                  </a:solidFill>
                  <a:latin typeface="Consolas" panose="020B0609020204030204" pitchFamily="49" charset="0"/>
                  <a:cs typeface="Consolas" panose="020B0609020204030204" pitchFamily="49" charset="0"/>
                </a:rPr>
                <a:t>b.delta</a:t>
              </a:r>
              <a:r>
                <a:rPr lang="en-US" sz="1700" b="1" spc="-50" dirty="0" smtClean="0">
                  <a:latin typeface="Consolas" panose="020B0609020204030204" pitchFamily="49" charset="0"/>
                  <a:cs typeface="Consolas" panose="020B0609020204030204" pitchFamily="49" charset="0"/>
                </a:rPr>
                <a:t>)</a:t>
              </a:r>
            </a:p>
          </p:txBody>
        </p:sp>
      </p:grpSp>
      <p:grpSp>
        <p:nvGrpSpPr>
          <p:cNvPr id="194" name="Group 193"/>
          <p:cNvGrpSpPr/>
          <p:nvPr/>
        </p:nvGrpSpPr>
        <p:grpSpPr>
          <a:xfrm>
            <a:off x="2409805" y="476498"/>
            <a:ext cx="2440458" cy="1194898"/>
            <a:chOff x="2028805" y="476498"/>
            <a:chExt cx="2440458" cy="1194898"/>
          </a:xfrm>
        </p:grpSpPr>
        <p:sp>
          <p:nvSpPr>
            <p:cNvPr id="5" name="Process A"/>
            <p:cNvSpPr/>
            <p:nvPr/>
          </p:nvSpPr>
          <p:spPr>
            <a:xfrm>
              <a:off x="2028805" y="476498"/>
              <a:ext cx="2440458" cy="984940"/>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nvGrpSpPr>
            <p:cNvPr id="17" name="PT Agent A"/>
            <p:cNvGrpSpPr/>
            <p:nvPr/>
          </p:nvGrpSpPr>
          <p:grpSpPr>
            <a:xfrm>
              <a:off x="2110275" y="1202254"/>
              <a:ext cx="1074956" cy="469142"/>
              <a:chOff x="2626646" y="3779254"/>
              <a:chExt cx="1074956" cy="469142"/>
            </a:xfrm>
          </p:grpSpPr>
          <p:sp>
            <p:nvSpPr>
              <p:cNvPr id="18" name="Rectangle 17"/>
              <p:cNvSpPr/>
              <p:nvPr/>
            </p:nvSpPr>
            <p:spPr>
              <a:xfrm>
                <a:off x="2703536" y="3779254"/>
                <a:ext cx="998066" cy="331980"/>
              </a:xfrm>
              <a:prstGeom prst="rect">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91440" bIns="0" rtlCol="0" anchor="t" anchorCtr="0"/>
              <a:lstStyle/>
              <a:p>
                <a:pPr algn="r"/>
                <a:r>
                  <a:rPr lang="en-US" dirty="0" smtClean="0">
                    <a:solidFill>
                      <a:schemeClr val="tx1"/>
                    </a:solidFill>
                  </a:rPr>
                  <a:t>PT Agent</a:t>
                </a:r>
                <a:endParaRPr lang="en-US" dirty="0">
                  <a:solidFill>
                    <a:schemeClr val="tx1"/>
                  </a:solidFill>
                </a:endParaRPr>
              </a:p>
            </p:txBody>
          </p:sp>
          <p:grpSp>
            <p:nvGrpSpPr>
              <p:cNvPr id="19" name="Group 18"/>
              <p:cNvGrpSpPr/>
              <p:nvPr/>
            </p:nvGrpSpPr>
            <p:grpSpPr>
              <a:xfrm rot="878394">
                <a:off x="2626646" y="3986085"/>
                <a:ext cx="442659" cy="262311"/>
                <a:chOff x="2015326" y="3161328"/>
                <a:chExt cx="442659" cy="262311"/>
              </a:xfrm>
            </p:grpSpPr>
            <p:sp>
              <p:nvSpPr>
                <p:cNvPr id="20" name="Freeform 19"/>
                <p:cNvSpPr/>
                <p:nvPr/>
              </p:nvSpPr>
              <p:spPr>
                <a:xfrm>
                  <a:off x="2015326" y="3198159"/>
                  <a:ext cx="207804" cy="225480"/>
                </a:xfrm>
                <a:custGeom>
                  <a:avLst/>
                  <a:gdLst>
                    <a:gd name="connsiteX0" fmla="*/ 250470 w 278551"/>
                    <a:gd name="connsiteY0" fmla="*/ 185740 h 302245"/>
                    <a:gd name="connsiteX1" fmla="*/ 278551 w 278551"/>
                    <a:gd name="connsiteY1" fmla="*/ 212135 h 302245"/>
                    <a:gd name="connsiteX2" fmla="*/ 261752 w 278551"/>
                    <a:gd name="connsiteY2" fmla="*/ 241233 h 302245"/>
                    <a:gd name="connsiteX3" fmla="*/ 225317 w 278551"/>
                    <a:gd name="connsiteY3" fmla="*/ 230252 h 302245"/>
                    <a:gd name="connsiteX4" fmla="*/ 247440 w 278551"/>
                    <a:gd name="connsiteY4" fmla="*/ 199863 h 302245"/>
                    <a:gd name="connsiteX5" fmla="*/ 139274 w 278551"/>
                    <a:gd name="connsiteY5" fmla="*/ 84295 h 302245"/>
                    <a:gd name="connsiteX6" fmla="*/ 196885 w 278551"/>
                    <a:gd name="connsiteY6" fmla="*/ 113100 h 302245"/>
                    <a:gd name="connsiteX7" fmla="*/ 196884 w 278551"/>
                    <a:gd name="connsiteY7" fmla="*/ 114931 h 302245"/>
                    <a:gd name="connsiteX8" fmla="*/ 141702 w 278551"/>
                    <a:gd name="connsiteY8" fmla="*/ 86497 h 302245"/>
                    <a:gd name="connsiteX9" fmla="*/ 91232 w 278551"/>
                    <a:gd name="connsiteY9" fmla="*/ 110971 h 302245"/>
                    <a:gd name="connsiteX10" fmla="*/ 90180 w 278551"/>
                    <a:gd name="connsiteY10" fmla="*/ 108843 h 302245"/>
                    <a:gd name="connsiteX11" fmla="*/ 93907 w 278551"/>
                    <a:gd name="connsiteY11" fmla="*/ 56612 h 302245"/>
                    <a:gd name="connsiteX12" fmla="*/ 77529 w 278551"/>
                    <a:gd name="connsiteY12" fmla="*/ 83250 h 302245"/>
                    <a:gd name="connsiteX13" fmla="*/ 90180 w 278551"/>
                    <a:gd name="connsiteY13" fmla="*/ 108843 h 302245"/>
                    <a:gd name="connsiteX14" fmla="*/ 81665 w 278551"/>
                    <a:gd name="connsiteY14" fmla="*/ 113100 h 302245"/>
                    <a:gd name="connsiteX15" fmla="*/ 81665 w 278551"/>
                    <a:gd name="connsiteY15" fmla="*/ 189144 h 302245"/>
                    <a:gd name="connsiteX16" fmla="*/ 139274 w 278551"/>
                    <a:gd name="connsiteY16" fmla="*/ 217949 h 302245"/>
                    <a:gd name="connsiteX17" fmla="*/ 196884 w 278551"/>
                    <a:gd name="connsiteY17" fmla="*/ 189144 h 302245"/>
                    <a:gd name="connsiteX18" fmla="*/ 196884 w 278551"/>
                    <a:gd name="connsiteY18" fmla="*/ 114931 h 302245"/>
                    <a:gd name="connsiteX19" fmla="*/ 198958 w 278551"/>
                    <a:gd name="connsiteY19" fmla="*/ 115999 h 302245"/>
                    <a:gd name="connsiteX20" fmla="*/ 198034 w 278551"/>
                    <a:gd name="connsiteY20" fmla="*/ 192038 h 302245"/>
                    <a:gd name="connsiteX21" fmla="*/ 144208 w 278551"/>
                    <a:gd name="connsiteY21" fmla="*/ 218139 h 302245"/>
                    <a:gd name="connsiteX22" fmla="*/ 155568 w 278551"/>
                    <a:gd name="connsiteY22" fmla="*/ 241121 h 302245"/>
                    <a:gd name="connsiteX23" fmla="*/ 182697 w 278551"/>
                    <a:gd name="connsiteY23" fmla="*/ 246757 h 302245"/>
                    <a:gd name="connsiteX24" fmla="*/ 166987 w 278551"/>
                    <a:gd name="connsiteY24" fmla="*/ 255827 h 302245"/>
                    <a:gd name="connsiteX25" fmla="*/ 156075 w 278551"/>
                    <a:gd name="connsiteY25" fmla="*/ 302245 h 302245"/>
                    <a:gd name="connsiteX26" fmla="*/ 122476 w 278551"/>
                    <a:gd name="connsiteY26" fmla="*/ 302245 h 302245"/>
                    <a:gd name="connsiteX27" fmla="*/ 111565 w 278551"/>
                    <a:gd name="connsiteY27" fmla="*/ 255827 h 302245"/>
                    <a:gd name="connsiteX28" fmla="*/ 62455 w 278551"/>
                    <a:gd name="connsiteY28" fmla="*/ 227473 h 302245"/>
                    <a:gd name="connsiteX29" fmla="*/ 16799 w 278551"/>
                    <a:gd name="connsiteY29" fmla="*/ 241233 h 302245"/>
                    <a:gd name="connsiteX30" fmla="*/ 0 w 278551"/>
                    <a:gd name="connsiteY30" fmla="*/ 212135 h 302245"/>
                    <a:gd name="connsiteX31" fmla="*/ 34743 w 278551"/>
                    <a:gd name="connsiteY31" fmla="*/ 179476 h 302245"/>
                    <a:gd name="connsiteX32" fmla="*/ 34743 w 278551"/>
                    <a:gd name="connsiteY32" fmla="*/ 122768 h 302245"/>
                    <a:gd name="connsiteX33" fmla="*/ 0 w 278551"/>
                    <a:gd name="connsiteY33" fmla="*/ 90110 h 302245"/>
                    <a:gd name="connsiteX34" fmla="*/ 16799 w 278551"/>
                    <a:gd name="connsiteY34" fmla="*/ 61012 h 302245"/>
                    <a:gd name="connsiteX35" fmla="*/ 62454 w 278551"/>
                    <a:gd name="connsiteY35" fmla="*/ 74772 h 302245"/>
                    <a:gd name="connsiteX36" fmla="*/ 122476 w 278551"/>
                    <a:gd name="connsiteY36" fmla="*/ 0 h 302245"/>
                    <a:gd name="connsiteX37" fmla="*/ 156075 w 278551"/>
                    <a:gd name="connsiteY37" fmla="*/ 0 h 302245"/>
                    <a:gd name="connsiteX38" fmla="*/ 165987 w 278551"/>
                    <a:gd name="connsiteY38" fmla="*/ 42169 h 302245"/>
                    <a:gd name="connsiteX39" fmla="*/ 142303 w 278551"/>
                    <a:gd name="connsiteY39" fmla="*/ 37087 h 302245"/>
                    <a:gd name="connsiteX40" fmla="*/ 112428 w 278551"/>
                    <a:gd name="connsiteY40" fmla="*/ 42742 h 30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78551" h="302245">
                      <a:moveTo>
                        <a:pt x="250470" y="185740"/>
                      </a:moveTo>
                      <a:lnTo>
                        <a:pt x="278551" y="212135"/>
                      </a:lnTo>
                      <a:lnTo>
                        <a:pt x="261752" y="241233"/>
                      </a:lnTo>
                      <a:lnTo>
                        <a:pt x="225317" y="230252"/>
                      </a:lnTo>
                      <a:lnTo>
                        <a:pt x="247440" y="199863"/>
                      </a:lnTo>
                      <a:close/>
                      <a:moveTo>
                        <a:pt x="139274" y="84295"/>
                      </a:moveTo>
                      <a:lnTo>
                        <a:pt x="196885" y="113100"/>
                      </a:lnTo>
                      <a:lnTo>
                        <a:pt x="196884" y="114931"/>
                      </a:lnTo>
                      <a:lnTo>
                        <a:pt x="141702" y="86497"/>
                      </a:lnTo>
                      <a:lnTo>
                        <a:pt x="91232" y="110971"/>
                      </a:lnTo>
                      <a:lnTo>
                        <a:pt x="90180" y="108843"/>
                      </a:lnTo>
                      <a:close/>
                      <a:moveTo>
                        <a:pt x="93907" y="56612"/>
                      </a:moveTo>
                      <a:lnTo>
                        <a:pt x="77529" y="83250"/>
                      </a:lnTo>
                      <a:lnTo>
                        <a:pt x="90180" y="108843"/>
                      </a:lnTo>
                      <a:lnTo>
                        <a:pt x="81665" y="113100"/>
                      </a:lnTo>
                      <a:lnTo>
                        <a:pt x="81665" y="189144"/>
                      </a:lnTo>
                      <a:lnTo>
                        <a:pt x="139274" y="217949"/>
                      </a:lnTo>
                      <a:lnTo>
                        <a:pt x="196884" y="189144"/>
                      </a:lnTo>
                      <a:lnTo>
                        <a:pt x="196884" y="114931"/>
                      </a:lnTo>
                      <a:lnTo>
                        <a:pt x="198958" y="115999"/>
                      </a:lnTo>
                      <a:lnTo>
                        <a:pt x="198034" y="192038"/>
                      </a:lnTo>
                      <a:lnTo>
                        <a:pt x="144208" y="218139"/>
                      </a:lnTo>
                      <a:lnTo>
                        <a:pt x="155568" y="241121"/>
                      </a:lnTo>
                      <a:lnTo>
                        <a:pt x="182697" y="246757"/>
                      </a:lnTo>
                      <a:lnTo>
                        <a:pt x="166987" y="255827"/>
                      </a:lnTo>
                      <a:lnTo>
                        <a:pt x="156075" y="302245"/>
                      </a:lnTo>
                      <a:lnTo>
                        <a:pt x="122476" y="302245"/>
                      </a:lnTo>
                      <a:lnTo>
                        <a:pt x="111565" y="255827"/>
                      </a:lnTo>
                      <a:cubicBezTo>
                        <a:pt x="92967" y="250905"/>
                        <a:pt x="76016" y="241118"/>
                        <a:pt x="62455" y="227473"/>
                      </a:cubicBezTo>
                      <a:lnTo>
                        <a:pt x="16799" y="241233"/>
                      </a:lnTo>
                      <a:lnTo>
                        <a:pt x="0" y="212135"/>
                      </a:lnTo>
                      <a:lnTo>
                        <a:pt x="34743" y="179476"/>
                      </a:lnTo>
                      <a:cubicBezTo>
                        <a:pt x="29707" y="160909"/>
                        <a:pt x="29707" y="141335"/>
                        <a:pt x="34743" y="122768"/>
                      </a:cubicBezTo>
                      <a:lnTo>
                        <a:pt x="0" y="90110"/>
                      </a:lnTo>
                      <a:lnTo>
                        <a:pt x="16799" y="61012"/>
                      </a:lnTo>
                      <a:lnTo>
                        <a:pt x="62454" y="74772"/>
                      </a:lnTo>
                      <a:close/>
                      <a:moveTo>
                        <a:pt x="122476" y="0"/>
                      </a:moveTo>
                      <a:lnTo>
                        <a:pt x="156075" y="0"/>
                      </a:lnTo>
                      <a:lnTo>
                        <a:pt x="165987" y="42169"/>
                      </a:lnTo>
                      <a:lnTo>
                        <a:pt x="142303" y="37087"/>
                      </a:lnTo>
                      <a:lnTo>
                        <a:pt x="112428" y="42742"/>
                      </a:lnTo>
                      <a:close/>
                    </a:path>
                  </a:pathLst>
                </a:custGeom>
                <a:solidFill>
                  <a:schemeClr val="bg1"/>
                </a:solidFill>
                <a:ln w="19050">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1" name="Freeform 20"/>
                <p:cNvSpPr/>
                <p:nvPr/>
              </p:nvSpPr>
              <p:spPr>
                <a:xfrm rot="20021754">
                  <a:off x="2054359" y="3161328"/>
                  <a:ext cx="403626" cy="168587"/>
                </a:xfrm>
                <a:custGeom>
                  <a:avLst/>
                  <a:gdLst>
                    <a:gd name="connsiteX0" fmla="*/ 99307 w 541041"/>
                    <a:gd name="connsiteY0" fmla="*/ 54263 h 225982"/>
                    <a:gd name="connsiteX1" fmla="*/ 136175 w 541041"/>
                    <a:gd name="connsiteY1" fmla="*/ 104206 h 225982"/>
                    <a:gd name="connsiteX2" fmla="*/ 103289 w 541041"/>
                    <a:gd name="connsiteY2" fmla="*/ 170735 h 225982"/>
                    <a:gd name="connsiteX3" fmla="*/ 38879 w 541041"/>
                    <a:gd name="connsiteY3" fmla="*/ 171028 h 225982"/>
                    <a:gd name="connsiteX4" fmla="*/ 0 w 541041"/>
                    <a:gd name="connsiteY4" fmla="*/ 119677 h 225982"/>
                    <a:gd name="connsiteX5" fmla="*/ 33698 w 541041"/>
                    <a:gd name="connsiteY5" fmla="*/ 51507 h 225982"/>
                    <a:gd name="connsiteX6" fmla="*/ 43218 w 541041"/>
                    <a:gd name="connsiteY6" fmla="*/ 51464 h 225982"/>
                    <a:gd name="connsiteX7" fmla="*/ 43218 w 541041"/>
                    <a:gd name="connsiteY7" fmla="*/ 53838 h 225982"/>
                    <a:gd name="connsiteX8" fmla="*/ 504723 w 541041"/>
                    <a:gd name="connsiteY8" fmla="*/ 53019 h 225982"/>
                    <a:gd name="connsiteX9" fmla="*/ 541041 w 541041"/>
                    <a:gd name="connsiteY9" fmla="*/ 107811 h 225982"/>
                    <a:gd name="connsiteX10" fmla="*/ 481576 w 541041"/>
                    <a:gd name="connsiteY10" fmla="*/ 167276 h 225982"/>
                    <a:gd name="connsiteX11" fmla="*/ 171988 w 541041"/>
                    <a:gd name="connsiteY11" fmla="*/ 167276 h 225982"/>
                    <a:gd name="connsiteX12" fmla="*/ 143860 w 541041"/>
                    <a:gd name="connsiteY12" fmla="*/ 202747 h 225982"/>
                    <a:gd name="connsiteX13" fmla="*/ 99545 w 541041"/>
                    <a:gd name="connsiteY13" fmla="*/ 225955 h 225982"/>
                    <a:gd name="connsiteX14" fmla="*/ 99000 w 541041"/>
                    <a:gd name="connsiteY14" fmla="*/ 225982 h 225982"/>
                    <a:gd name="connsiteX15" fmla="*/ 66761 w 541041"/>
                    <a:gd name="connsiteY15" fmla="*/ 217441 h 225982"/>
                    <a:gd name="connsiteX16" fmla="*/ 43218 w 541041"/>
                    <a:gd name="connsiteY16" fmla="*/ 199021 h 225982"/>
                    <a:gd name="connsiteX17" fmla="*/ 43218 w 541041"/>
                    <a:gd name="connsiteY17" fmla="*/ 173385 h 225982"/>
                    <a:gd name="connsiteX18" fmla="*/ 103037 w 541041"/>
                    <a:gd name="connsiteY18" fmla="*/ 173839 h 225982"/>
                    <a:gd name="connsiteX19" fmla="*/ 137561 w 541041"/>
                    <a:gd name="connsiteY19" fmla="*/ 106083 h 225982"/>
                    <a:gd name="connsiteX20" fmla="*/ 136175 w 541041"/>
                    <a:gd name="connsiteY20" fmla="*/ 104206 h 225982"/>
                    <a:gd name="connsiteX21" fmla="*/ 136987 w 541041"/>
                    <a:gd name="connsiteY21" fmla="*/ 102565 h 225982"/>
                    <a:gd name="connsiteX22" fmla="*/ 98106 w 541041"/>
                    <a:gd name="connsiteY22" fmla="*/ 51213 h 225982"/>
                    <a:gd name="connsiteX23" fmla="*/ 43218 w 541041"/>
                    <a:gd name="connsiteY23" fmla="*/ 51464 h 225982"/>
                    <a:gd name="connsiteX24" fmla="*/ 43218 w 541041"/>
                    <a:gd name="connsiteY24" fmla="*/ 22915 h 225982"/>
                    <a:gd name="connsiteX25" fmla="*/ 77964 w 541041"/>
                    <a:gd name="connsiteY25" fmla="*/ 1110 h 225982"/>
                    <a:gd name="connsiteX26" fmla="*/ 85046 w 541041"/>
                    <a:gd name="connsiteY26" fmla="*/ 0 h 225982"/>
                    <a:gd name="connsiteX27" fmla="*/ 121741 w 541041"/>
                    <a:gd name="connsiteY27" fmla="*/ 10236 h 225982"/>
                    <a:gd name="connsiteX28" fmla="*/ 157909 w 541041"/>
                    <a:gd name="connsiteY28" fmla="*/ 38916 h 225982"/>
                    <a:gd name="connsiteX29" fmla="*/ 163138 w 541041"/>
                    <a:gd name="connsiteY29" fmla="*/ 48346 h 225982"/>
                    <a:gd name="connsiteX30" fmla="*/ 481576 w 541041"/>
                    <a:gd name="connsiteY30" fmla="*/ 48346 h 225982"/>
                    <a:gd name="connsiteX31" fmla="*/ 504723 w 541041"/>
                    <a:gd name="connsiteY31" fmla="*/ 53019 h 22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41041" h="225982">
                      <a:moveTo>
                        <a:pt x="99307" y="54263"/>
                      </a:moveTo>
                      <a:lnTo>
                        <a:pt x="136175" y="104206"/>
                      </a:lnTo>
                      <a:lnTo>
                        <a:pt x="103289" y="170735"/>
                      </a:lnTo>
                      <a:lnTo>
                        <a:pt x="38879" y="171028"/>
                      </a:lnTo>
                      <a:lnTo>
                        <a:pt x="0" y="119677"/>
                      </a:lnTo>
                      <a:lnTo>
                        <a:pt x="33698" y="51507"/>
                      </a:lnTo>
                      <a:lnTo>
                        <a:pt x="43218" y="51464"/>
                      </a:lnTo>
                      <a:lnTo>
                        <a:pt x="43218" y="53838"/>
                      </a:lnTo>
                      <a:close/>
                      <a:moveTo>
                        <a:pt x="504723" y="53019"/>
                      </a:moveTo>
                      <a:cubicBezTo>
                        <a:pt x="526066" y="62046"/>
                        <a:pt x="541041" y="83180"/>
                        <a:pt x="541041" y="107811"/>
                      </a:cubicBezTo>
                      <a:cubicBezTo>
                        <a:pt x="541041" y="140653"/>
                        <a:pt x="514418" y="167276"/>
                        <a:pt x="481576" y="167276"/>
                      </a:cubicBezTo>
                      <a:lnTo>
                        <a:pt x="171988" y="167276"/>
                      </a:lnTo>
                      <a:lnTo>
                        <a:pt x="143860" y="202747"/>
                      </a:lnTo>
                      <a:cubicBezTo>
                        <a:pt x="130861" y="213683"/>
                        <a:pt x="115692" y="221548"/>
                        <a:pt x="99545" y="225955"/>
                      </a:cubicBezTo>
                      <a:lnTo>
                        <a:pt x="99000" y="225982"/>
                      </a:lnTo>
                      <a:lnTo>
                        <a:pt x="66761" y="217441"/>
                      </a:lnTo>
                      <a:lnTo>
                        <a:pt x="43218" y="199021"/>
                      </a:lnTo>
                      <a:lnTo>
                        <a:pt x="43218" y="173385"/>
                      </a:lnTo>
                      <a:lnTo>
                        <a:pt x="103037" y="173839"/>
                      </a:lnTo>
                      <a:lnTo>
                        <a:pt x="137561" y="106083"/>
                      </a:lnTo>
                      <a:lnTo>
                        <a:pt x="136175" y="104206"/>
                      </a:lnTo>
                      <a:lnTo>
                        <a:pt x="136987" y="102565"/>
                      </a:lnTo>
                      <a:lnTo>
                        <a:pt x="98106" y="51213"/>
                      </a:lnTo>
                      <a:lnTo>
                        <a:pt x="43218" y="51464"/>
                      </a:lnTo>
                      <a:lnTo>
                        <a:pt x="43218" y="22915"/>
                      </a:lnTo>
                      <a:lnTo>
                        <a:pt x="77964" y="1110"/>
                      </a:lnTo>
                      <a:lnTo>
                        <a:pt x="85046" y="0"/>
                      </a:lnTo>
                      <a:lnTo>
                        <a:pt x="121741" y="10236"/>
                      </a:lnTo>
                      <a:cubicBezTo>
                        <a:pt x="136041" y="17522"/>
                        <a:pt x="148188" y="27361"/>
                        <a:pt x="157909" y="38916"/>
                      </a:cubicBezTo>
                      <a:lnTo>
                        <a:pt x="163138" y="48346"/>
                      </a:lnTo>
                      <a:lnTo>
                        <a:pt x="481576" y="48346"/>
                      </a:lnTo>
                      <a:cubicBezTo>
                        <a:pt x="489787" y="48346"/>
                        <a:pt x="497608" y="50010"/>
                        <a:pt x="504723" y="53019"/>
                      </a:cubicBezTo>
                      <a:close/>
                    </a:path>
                  </a:pathLst>
                </a:cu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22" name="Hexagon 21"/>
                <p:cNvSpPr/>
                <p:nvPr/>
              </p:nvSpPr>
              <p:spPr>
                <a:xfrm rot="16200000">
                  <a:off x="2067787" y="3266584"/>
                  <a:ext cx="102880" cy="89052"/>
                </a:xfrm>
                <a:prstGeom prst="hexagon">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grpSp>
      </p:grpSp>
      <p:grpSp>
        <p:nvGrpSpPr>
          <p:cNvPr id="195" name="Group 194"/>
          <p:cNvGrpSpPr/>
          <p:nvPr/>
        </p:nvGrpSpPr>
        <p:grpSpPr>
          <a:xfrm>
            <a:off x="5521305" y="516046"/>
            <a:ext cx="2745258" cy="1454951"/>
            <a:chOff x="5140305" y="516046"/>
            <a:chExt cx="2745258" cy="1454951"/>
          </a:xfrm>
        </p:grpSpPr>
        <p:grpSp>
          <p:nvGrpSpPr>
            <p:cNvPr id="41" name="Process B"/>
            <p:cNvGrpSpPr/>
            <p:nvPr/>
          </p:nvGrpSpPr>
          <p:grpSpPr>
            <a:xfrm flipH="1">
              <a:off x="5140305" y="516046"/>
              <a:ext cx="2745258" cy="1234786"/>
              <a:chOff x="5785070" y="298924"/>
              <a:chExt cx="2745258" cy="1700610"/>
            </a:xfrm>
          </p:grpSpPr>
          <p:sp>
            <p:nvSpPr>
              <p:cNvPr id="32" name="Process B3"/>
              <p:cNvSpPr/>
              <p:nvPr/>
            </p:nvSpPr>
            <p:spPr>
              <a:xfrm>
                <a:off x="5785070" y="298924"/>
                <a:ext cx="2440458" cy="1395810"/>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39" name="Process B2"/>
              <p:cNvSpPr/>
              <p:nvPr/>
            </p:nvSpPr>
            <p:spPr>
              <a:xfrm>
                <a:off x="5937470" y="451324"/>
                <a:ext cx="2440458" cy="1395810"/>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40" name="Process B1"/>
              <p:cNvSpPr/>
              <p:nvPr/>
            </p:nvSpPr>
            <p:spPr>
              <a:xfrm>
                <a:off x="6089870" y="603724"/>
                <a:ext cx="2440458" cy="1395810"/>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grpSp>
          <p:nvGrpSpPr>
            <p:cNvPr id="33" name="PT Agent B"/>
            <p:cNvGrpSpPr/>
            <p:nvPr/>
          </p:nvGrpSpPr>
          <p:grpSpPr>
            <a:xfrm>
              <a:off x="5247478" y="1501855"/>
              <a:ext cx="1074956" cy="469142"/>
              <a:chOff x="2626646" y="3779254"/>
              <a:chExt cx="1074956" cy="469142"/>
            </a:xfrm>
          </p:grpSpPr>
          <p:sp>
            <p:nvSpPr>
              <p:cNvPr id="34" name="Text"/>
              <p:cNvSpPr/>
              <p:nvPr/>
            </p:nvSpPr>
            <p:spPr>
              <a:xfrm>
                <a:off x="2703536" y="3779254"/>
                <a:ext cx="998066" cy="331980"/>
              </a:xfrm>
              <a:prstGeom prst="rect">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91440" bIns="0" rtlCol="0" anchor="t" anchorCtr="0"/>
              <a:lstStyle/>
              <a:p>
                <a:pPr algn="r"/>
                <a:r>
                  <a:rPr lang="en-US" dirty="0" smtClean="0">
                    <a:solidFill>
                      <a:schemeClr val="tx1"/>
                    </a:solidFill>
                  </a:rPr>
                  <a:t>PT Agent</a:t>
                </a:r>
                <a:endParaRPr lang="en-US" dirty="0">
                  <a:solidFill>
                    <a:schemeClr val="tx1"/>
                  </a:solidFill>
                </a:endParaRPr>
              </a:p>
            </p:txBody>
          </p:sp>
          <p:grpSp>
            <p:nvGrpSpPr>
              <p:cNvPr id="35" name="Group 34"/>
              <p:cNvGrpSpPr/>
              <p:nvPr/>
            </p:nvGrpSpPr>
            <p:grpSpPr>
              <a:xfrm rot="878394">
                <a:off x="2626646" y="3986085"/>
                <a:ext cx="442659" cy="262311"/>
                <a:chOff x="2015326" y="3161328"/>
                <a:chExt cx="442659" cy="262311"/>
              </a:xfrm>
            </p:grpSpPr>
            <p:sp>
              <p:nvSpPr>
                <p:cNvPr id="36" name="Freeform 35"/>
                <p:cNvSpPr/>
                <p:nvPr/>
              </p:nvSpPr>
              <p:spPr>
                <a:xfrm>
                  <a:off x="2015326" y="3198159"/>
                  <a:ext cx="207804" cy="225480"/>
                </a:xfrm>
                <a:custGeom>
                  <a:avLst/>
                  <a:gdLst>
                    <a:gd name="connsiteX0" fmla="*/ 250470 w 278551"/>
                    <a:gd name="connsiteY0" fmla="*/ 185740 h 302245"/>
                    <a:gd name="connsiteX1" fmla="*/ 278551 w 278551"/>
                    <a:gd name="connsiteY1" fmla="*/ 212135 h 302245"/>
                    <a:gd name="connsiteX2" fmla="*/ 261752 w 278551"/>
                    <a:gd name="connsiteY2" fmla="*/ 241233 h 302245"/>
                    <a:gd name="connsiteX3" fmla="*/ 225317 w 278551"/>
                    <a:gd name="connsiteY3" fmla="*/ 230252 h 302245"/>
                    <a:gd name="connsiteX4" fmla="*/ 247440 w 278551"/>
                    <a:gd name="connsiteY4" fmla="*/ 199863 h 302245"/>
                    <a:gd name="connsiteX5" fmla="*/ 139274 w 278551"/>
                    <a:gd name="connsiteY5" fmla="*/ 84295 h 302245"/>
                    <a:gd name="connsiteX6" fmla="*/ 196885 w 278551"/>
                    <a:gd name="connsiteY6" fmla="*/ 113100 h 302245"/>
                    <a:gd name="connsiteX7" fmla="*/ 196884 w 278551"/>
                    <a:gd name="connsiteY7" fmla="*/ 114931 h 302245"/>
                    <a:gd name="connsiteX8" fmla="*/ 141702 w 278551"/>
                    <a:gd name="connsiteY8" fmla="*/ 86497 h 302245"/>
                    <a:gd name="connsiteX9" fmla="*/ 91232 w 278551"/>
                    <a:gd name="connsiteY9" fmla="*/ 110971 h 302245"/>
                    <a:gd name="connsiteX10" fmla="*/ 90180 w 278551"/>
                    <a:gd name="connsiteY10" fmla="*/ 108843 h 302245"/>
                    <a:gd name="connsiteX11" fmla="*/ 93907 w 278551"/>
                    <a:gd name="connsiteY11" fmla="*/ 56612 h 302245"/>
                    <a:gd name="connsiteX12" fmla="*/ 77529 w 278551"/>
                    <a:gd name="connsiteY12" fmla="*/ 83250 h 302245"/>
                    <a:gd name="connsiteX13" fmla="*/ 90180 w 278551"/>
                    <a:gd name="connsiteY13" fmla="*/ 108843 h 302245"/>
                    <a:gd name="connsiteX14" fmla="*/ 81665 w 278551"/>
                    <a:gd name="connsiteY14" fmla="*/ 113100 h 302245"/>
                    <a:gd name="connsiteX15" fmla="*/ 81665 w 278551"/>
                    <a:gd name="connsiteY15" fmla="*/ 189144 h 302245"/>
                    <a:gd name="connsiteX16" fmla="*/ 139274 w 278551"/>
                    <a:gd name="connsiteY16" fmla="*/ 217949 h 302245"/>
                    <a:gd name="connsiteX17" fmla="*/ 196884 w 278551"/>
                    <a:gd name="connsiteY17" fmla="*/ 189144 h 302245"/>
                    <a:gd name="connsiteX18" fmla="*/ 196884 w 278551"/>
                    <a:gd name="connsiteY18" fmla="*/ 114931 h 302245"/>
                    <a:gd name="connsiteX19" fmla="*/ 198958 w 278551"/>
                    <a:gd name="connsiteY19" fmla="*/ 115999 h 302245"/>
                    <a:gd name="connsiteX20" fmla="*/ 198034 w 278551"/>
                    <a:gd name="connsiteY20" fmla="*/ 192038 h 302245"/>
                    <a:gd name="connsiteX21" fmla="*/ 144208 w 278551"/>
                    <a:gd name="connsiteY21" fmla="*/ 218139 h 302245"/>
                    <a:gd name="connsiteX22" fmla="*/ 155568 w 278551"/>
                    <a:gd name="connsiteY22" fmla="*/ 241121 h 302245"/>
                    <a:gd name="connsiteX23" fmla="*/ 182697 w 278551"/>
                    <a:gd name="connsiteY23" fmla="*/ 246757 h 302245"/>
                    <a:gd name="connsiteX24" fmla="*/ 166987 w 278551"/>
                    <a:gd name="connsiteY24" fmla="*/ 255827 h 302245"/>
                    <a:gd name="connsiteX25" fmla="*/ 156075 w 278551"/>
                    <a:gd name="connsiteY25" fmla="*/ 302245 h 302245"/>
                    <a:gd name="connsiteX26" fmla="*/ 122476 w 278551"/>
                    <a:gd name="connsiteY26" fmla="*/ 302245 h 302245"/>
                    <a:gd name="connsiteX27" fmla="*/ 111565 w 278551"/>
                    <a:gd name="connsiteY27" fmla="*/ 255827 h 302245"/>
                    <a:gd name="connsiteX28" fmla="*/ 62455 w 278551"/>
                    <a:gd name="connsiteY28" fmla="*/ 227473 h 302245"/>
                    <a:gd name="connsiteX29" fmla="*/ 16799 w 278551"/>
                    <a:gd name="connsiteY29" fmla="*/ 241233 h 302245"/>
                    <a:gd name="connsiteX30" fmla="*/ 0 w 278551"/>
                    <a:gd name="connsiteY30" fmla="*/ 212135 h 302245"/>
                    <a:gd name="connsiteX31" fmla="*/ 34743 w 278551"/>
                    <a:gd name="connsiteY31" fmla="*/ 179476 h 302245"/>
                    <a:gd name="connsiteX32" fmla="*/ 34743 w 278551"/>
                    <a:gd name="connsiteY32" fmla="*/ 122768 h 302245"/>
                    <a:gd name="connsiteX33" fmla="*/ 0 w 278551"/>
                    <a:gd name="connsiteY33" fmla="*/ 90110 h 302245"/>
                    <a:gd name="connsiteX34" fmla="*/ 16799 w 278551"/>
                    <a:gd name="connsiteY34" fmla="*/ 61012 h 302245"/>
                    <a:gd name="connsiteX35" fmla="*/ 62454 w 278551"/>
                    <a:gd name="connsiteY35" fmla="*/ 74772 h 302245"/>
                    <a:gd name="connsiteX36" fmla="*/ 122476 w 278551"/>
                    <a:gd name="connsiteY36" fmla="*/ 0 h 302245"/>
                    <a:gd name="connsiteX37" fmla="*/ 156075 w 278551"/>
                    <a:gd name="connsiteY37" fmla="*/ 0 h 302245"/>
                    <a:gd name="connsiteX38" fmla="*/ 165987 w 278551"/>
                    <a:gd name="connsiteY38" fmla="*/ 42169 h 302245"/>
                    <a:gd name="connsiteX39" fmla="*/ 142303 w 278551"/>
                    <a:gd name="connsiteY39" fmla="*/ 37087 h 302245"/>
                    <a:gd name="connsiteX40" fmla="*/ 112428 w 278551"/>
                    <a:gd name="connsiteY40" fmla="*/ 42742 h 30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78551" h="302245">
                      <a:moveTo>
                        <a:pt x="250470" y="185740"/>
                      </a:moveTo>
                      <a:lnTo>
                        <a:pt x="278551" y="212135"/>
                      </a:lnTo>
                      <a:lnTo>
                        <a:pt x="261752" y="241233"/>
                      </a:lnTo>
                      <a:lnTo>
                        <a:pt x="225317" y="230252"/>
                      </a:lnTo>
                      <a:lnTo>
                        <a:pt x="247440" y="199863"/>
                      </a:lnTo>
                      <a:close/>
                      <a:moveTo>
                        <a:pt x="139274" y="84295"/>
                      </a:moveTo>
                      <a:lnTo>
                        <a:pt x="196885" y="113100"/>
                      </a:lnTo>
                      <a:lnTo>
                        <a:pt x="196884" y="114931"/>
                      </a:lnTo>
                      <a:lnTo>
                        <a:pt x="141702" y="86497"/>
                      </a:lnTo>
                      <a:lnTo>
                        <a:pt x="91232" y="110971"/>
                      </a:lnTo>
                      <a:lnTo>
                        <a:pt x="90180" y="108843"/>
                      </a:lnTo>
                      <a:close/>
                      <a:moveTo>
                        <a:pt x="93907" y="56612"/>
                      </a:moveTo>
                      <a:lnTo>
                        <a:pt x="77529" y="83250"/>
                      </a:lnTo>
                      <a:lnTo>
                        <a:pt x="90180" y="108843"/>
                      </a:lnTo>
                      <a:lnTo>
                        <a:pt x="81665" y="113100"/>
                      </a:lnTo>
                      <a:lnTo>
                        <a:pt x="81665" y="189144"/>
                      </a:lnTo>
                      <a:lnTo>
                        <a:pt x="139274" y="217949"/>
                      </a:lnTo>
                      <a:lnTo>
                        <a:pt x="196884" y="189144"/>
                      </a:lnTo>
                      <a:lnTo>
                        <a:pt x="196884" y="114931"/>
                      </a:lnTo>
                      <a:lnTo>
                        <a:pt x="198958" y="115999"/>
                      </a:lnTo>
                      <a:lnTo>
                        <a:pt x="198034" y="192038"/>
                      </a:lnTo>
                      <a:lnTo>
                        <a:pt x="144208" y="218139"/>
                      </a:lnTo>
                      <a:lnTo>
                        <a:pt x="155568" y="241121"/>
                      </a:lnTo>
                      <a:lnTo>
                        <a:pt x="182697" y="246757"/>
                      </a:lnTo>
                      <a:lnTo>
                        <a:pt x="166987" y="255827"/>
                      </a:lnTo>
                      <a:lnTo>
                        <a:pt x="156075" y="302245"/>
                      </a:lnTo>
                      <a:lnTo>
                        <a:pt x="122476" y="302245"/>
                      </a:lnTo>
                      <a:lnTo>
                        <a:pt x="111565" y="255827"/>
                      </a:lnTo>
                      <a:cubicBezTo>
                        <a:pt x="92967" y="250905"/>
                        <a:pt x="76016" y="241118"/>
                        <a:pt x="62455" y="227473"/>
                      </a:cubicBezTo>
                      <a:lnTo>
                        <a:pt x="16799" y="241233"/>
                      </a:lnTo>
                      <a:lnTo>
                        <a:pt x="0" y="212135"/>
                      </a:lnTo>
                      <a:lnTo>
                        <a:pt x="34743" y="179476"/>
                      </a:lnTo>
                      <a:cubicBezTo>
                        <a:pt x="29707" y="160909"/>
                        <a:pt x="29707" y="141335"/>
                        <a:pt x="34743" y="122768"/>
                      </a:cubicBezTo>
                      <a:lnTo>
                        <a:pt x="0" y="90110"/>
                      </a:lnTo>
                      <a:lnTo>
                        <a:pt x="16799" y="61012"/>
                      </a:lnTo>
                      <a:lnTo>
                        <a:pt x="62454" y="74772"/>
                      </a:lnTo>
                      <a:close/>
                      <a:moveTo>
                        <a:pt x="122476" y="0"/>
                      </a:moveTo>
                      <a:lnTo>
                        <a:pt x="156075" y="0"/>
                      </a:lnTo>
                      <a:lnTo>
                        <a:pt x="165987" y="42169"/>
                      </a:lnTo>
                      <a:lnTo>
                        <a:pt x="142303" y="37087"/>
                      </a:lnTo>
                      <a:lnTo>
                        <a:pt x="112428" y="42742"/>
                      </a:lnTo>
                      <a:close/>
                    </a:path>
                  </a:pathLst>
                </a:custGeom>
                <a:solidFill>
                  <a:schemeClr val="bg1"/>
                </a:solidFill>
                <a:ln w="19050">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37" name="Freeform 36"/>
                <p:cNvSpPr/>
                <p:nvPr/>
              </p:nvSpPr>
              <p:spPr>
                <a:xfrm rot="20021754">
                  <a:off x="2054359" y="3161328"/>
                  <a:ext cx="403626" cy="168587"/>
                </a:xfrm>
                <a:custGeom>
                  <a:avLst/>
                  <a:gdLst>
                    <a:gd name="connsiteX0" fmla="*/ 99307 w 541041"/>
                    <a:gd name="connsiteY0" fmla="*/ 54263 h 225982"/>
                    <a:gd name="connsiteX1" fmla="*/ 136175 w 541041"/>
                    <a:gd name="connsiteY1" fmla="*/ 104206 h 225982"/>
                    <a:gd name="connsiteX2" fmla="*/ 103289 w 541041"/>
                    <a:gd name="connsiteY2" fmla="*/ 170735 h 225982"/>
                    <a:gd name="connsiteX3" fmla="*/ 38879 w 541041"/>
                    <a:gd name="connsiteY3" fmla="*/ 171028 h 225982"/>
                    <a:gd name="connsiteX4" fmla="*/ 0 w 541041"/>
                    <a:gd name="connsiteY4" fmla="*/ 119677 h 225982"/>
                    <a:gd name="connsiteX5" fmla="*/ 33698 w 541041"/>
                    <a:gd name="connsiteY5" fmla="*/ 51507 h 225982"/>
                    <a:gd name="connsiteX6" fmla="*/ 43218 w 541041"/>
                    <a:gd name="connsiteY6" fmla="*/ 51464 h 225982"/>
                    <a:gd name="connsiteX7" fmla="*/ 43218 w 541041"/>
                    <a:gd name="connsiteY7" fmla="*/ 53838 h 225982"/>
                    <a:gd name="connsiteX8" fmla="*/ 504723 w 541041"/>
                    <a:gd name="connsiteY8" fmla="*/ 53019 h 225982"/>
                    <a:gd name="connsiteX9" fmla="*/ 541041 w 541041"/>
                    <a:gd name="connsiteY9" fmla="*/ 107811 h 225982"/>
                    <a:gd name="connsiteX10" fmla="*/ 481576 w 541041"/>
                    <a:gd name="connsiteY10" fmla="*/ 167276 h 225982"/>
                    <a:gd name="connsiteX11" fmla="*/ 171988 w 541041"/>
                    <a:gd name="connsiteY11" fmla="*/ 167276 h 225982"/>
                    <a:gd name="connsiteX12" fmla="*/ 143860 w 541041"/>
                    <a:gd name="connsiteY12" fmla="*/ 202747 h 225982"/>
                    <a:gd name="connsiteX13" fmla="*/ 99545 w 541041"/>
                    <a:gd name="connsiteY13" fmla="*/ 225955 h 225982"/>
                    <a:gd name="connsiteX14" fmla="*/ 99000 w 541041"/>
                    <a:gd name="connsiteY14" fmla="*/ 225982 h 225982"/>
                    <a:gd name="connsiteX15" fmla="*/ 66761 w 541041"/>
                    <a:gd name="connsiteY15" fmla="*/ 217441 h 225982"/>
                    <a:gd name="connsiteX16" fmla="*/ 43218 w 541041"/>
                    <a:gd name="connsiteY16" fmla="*/ 199021 h 225982"/>
                    <a:gd name="connsiteX17" fmla="*/ 43218 w 541041"/>
                    <a:gd name="connsiteY17" fmla="*/ 173385 h 225982"/>
                    <a:gd name="connsiteX18" fmla="*/ 103037 w 541041"/>
                    <a:gd name="connsiteY18" fmla="*/ 173839 h 225982"/>
                    <a:gd name="connsiteX19" fmla="*/ 137561 w 541041"/>
                    <a:gd name="connsiteY19" fmla="*/ 106083 h 225982"/>
                    <a:gd name="connsiteX20" fmla="*/ 136175 w 541041"/>
                    <a:gd name="connsiteY20" fmla="*/ 104206 h 225982"/>
                    <a:gd name="connsiteX21" fmla="*/ 136987 w 541041"/>
                    <a:gd name="connsiteY21" fmla="*/ 102565 h 225982"/>
                    <a:gd name="connsiteX22" fmla="*/ 98106 w 541041"/>
                    <a:gd name="connsiteY22" fmla="*/ 51213 h 225982"/>
                    <a:gd name="connsiteX23" fmla="*/ 43218 w 541041"/>
                    <a:gd name="connsiteY23" fmla="*/ 51464 h 225982"/>
                    <a:gd name="connsiteX24" fmla="*/ 43218 w 541041"/>
                    <a:gd name="connsiteY24" fmla="*/ 22915 h 225982"/>
                    <a:gd name="connsiteX25" fmla="*/ 77964 w 541041"/>
                    <a:gd name="connsiteY25" fmla="*/ 1110 h 225982"/>
                    <a:gd name="connsiteX26" fmla="*/ 85046 w 541041"/>
                    <a:gd name="connsiteY26" fmla="*/ 0 h 225982"/>
                    <a:gd name="connsiteX27" fmla="*/ 121741 w 541041"/>
                    <a:gd name="connsiteY27" fmla="*/ 10236 h 225982"/>
                    <a:gd name="connsiteX28" fmla="*/ 157909 w 541041"/>
                    <a:gd name="connsiteY28" fmla="*/ 38916 h 225982"/>
                    <a:gd name="connsiteX29" fmla="*/ 163138 w 541041"/>
                    <a:gd name="connsiteY29" fmla="*/ 48346 h 225982"/>
                    <a:gd name="connsiteX30" fmla="*/ 481576 w 541041"/>
                    <a:gd name="connsiteY30" fmla="*/ 48346 h 225982"/>
                    <a:gd name="connsiteX31" fmla="*/ 504723 w 541041"/>
                    <a:gd name="connsiteY31" fmla="*/ 53019 h 22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41041" h="225982">
                      <a:moveTo>
                        <a:pt x="99307" y="54263"/>
                      </a:moveTo>
                      <a:lnTo>
                        <a:pt x="136175" y="104206"/>
                      </a:lnTo>
                      <a:lnTo>
                        <a:pt x="103289" y="170735"/>
                      </a:lnTo>
                      <a:lnTo>
                        <a:pt x="38879" y="171028"/>
                      </a:lnTo>
                      <a:lnTo>
                        <a:pt x="0" y="119677"/>
                      </a:lnTo>
                      <a:lnTo>
                        <a:pt x="33698" y="51507"/>
                      </a:lnTo>
                      <a:lnTo>
                        <a:pt x="43218" y="51464"/>
                      </a:lnTo>
                      <a:lnTo>
                        <a:pt x="43218" y="53838"/>
                      </a:lnTo>
                      <a:close/>
                      <a:moveTo>
                        <a:pt x="504723" y="53019"/>
                      </a:moveTo>
                      <a:cubicBezTo>
                        <a:pt x="526066" y="62046"/>
                        <a:pt x="541041" y="83180"/>
                        <a:pt x="541041" y="107811"/>
                      </a:cubicBezTo>
                      <a:cubicBezTo>
                        <a:pt x="541041" y="140653"/>
                        <a:pt x="514418" y="167276"/>
                        <a:pt x="481576" y="167276"/>
                      </a:cubicBezTo>
                      <a:lnTo>
                        <a:pt x="171988" y="167276"/>
                      </a:lnTo>
                      <a:lnTo>
                        <a:pt x="143860" y="202747"/>
                      </a:lnTo>
                      <a:cubicBezTo>
                        <a:pt x="130861" y="213683"/>
                        <a:pt x="115692" y="221548"/>
                        <a:pt x="99545" y="225955"/>
                      </a:cubicBezTo>
                      <a:lnTo>
                        <a:pt x="99000" y="225982"/>
                      </a:lnTo>
                      <a:lnTo>
                        <a:pt x="66761" y="217441"/>
                      </a:lnTo>
                      <a:lnTo>
                        <a:pt x="43218" y="199021"/>
                      </a:lnTo>
                      <a:lnTo>
                        <a:pt x="43218" y="173385"/>
                      </a:lnTo>
                      <a:lnTo>
                        <a:pt x="103037" y="173839"/>
                      </a:lnTo>
                      <a:lnTo>
                        <a:pt x="137561" y="106083"/>
                      </a:lnTo>
                      <a:lnTo>
                        <a:pt x="136175" y="104206"/>
                      </a:lnTo>
                      <a:lnTo>
                        <a:pt x="136987" y="102565"/>
                      </a:lnTo>
                      <a:lnTo>
                        <a:pt x="98106" y="51213"/>
                      </a:lnTo>
                      <a:lnTo>
                        <a:pt x="43218" y="51464"/>
                      </a:lnTo>
                      <a:lnTo>
                        <a:pt x="43218" y="22915"/>
                      </a:lnTo>
                      <a:lnTo>
                        <a:pt x="77964" y="1110"/>
                      </a:lnTo>
                      <a:lnTo>
                        <a:pt x="85046" y="0"/>
                      </a:lnTo>
                      <a:lnTo>
                        <a:pt x="121741" y="10236"/>
                      </a:lnTo>
                      <a:cubicBezTo>
                        <a:pt x="136041" y="17522"/>
                        <a:pt x="148188" y="27361"/>
                        <a:pt x="157909" y="38916"/>
                      </a:cubicBezTo>
                      <a:lnTo>
                        <a:pt x="163138" y="48346"/>
                      </a:lnTo>
                      <a:lnTo>
                        <a:pt x="481576" y="48346"/>
                      </a:lnTo>
                      <a:cubicBezTo>
                        <a:pt x="489787" y="48346"/>
                        <a:pt x="497608" y="50010"/>
                        <a:pt x="504723" y="53019"/>
                      </a:cubicBezTo>
                      <a:close/>
                    </a:path>
                  </a:pathLst>
                </a:cu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38" name="Hexagon 37"/>
                <p:cNvSpPr/>
                <p:nvPr/>
              </p:nvSpPr>
              <p:spPr>
                <a:xfrm rot="16200000">
                  <a:off x="2067787" y="3266584"/>
                  <a:ext cx="102880" cy="89052"/>
                </a:xfrm>
                <a:prstGeom prst="hexagon">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dirty="0"/>
                </a:p>
              </p:txBody>
            </p:sp>
          </p:grpSp>
        </p:grpSp>
      </p:grpSp>
      <p:sp>
        <p:nvSpPr>
          <p:cNvPr id="42" name="Green Workload"/>
          <p:cNvSpPr/>
          <p:nvPr/>
        </p:nvSpPr>
        <p:spPr>
          <a:xfrm>
            <a:off x="2047635" y="763222"/>
            <a:ext cx="6604000" cy="399484"/>
          </a:xfrm>
          <a:custGeom>
            <a:avLst/>
            <a:gdLst>
              <a:gd name="connsiteX0" fmla="*/ 0 w 6604000"/>
              <a:gd name="connsiteY0" fmla="*/ 0 h 673100"/>
              <a:gd name="connsiteX1" fmla="*/ 2514600 w 6604000"/>
              <a:gd name="connsiteY1" fmla="*/ 0 h 673100"/>
              <a:gd name="connsiteX2" fmla="*/ 3060700 w 6604000"/>
              <a:gd name="connsiteY2" fmla="*/ 673100 h 673100"/>
              <a:gd name="connsiteX3" fmla="*/ 6604000 w 6604000"/>
              <a:gd name="connsiteY3" fmla="*/ 673100 h 673100"/>
            </a:gdLst>
            <a:ahLst/>
            <a:cxnLst>
              <a:cxn ang="0">
                <a:pos x="connsiteX0" y="connsiteY0"/>
              </a:cxn>
              <a:cxn ang="0">
                <a:pos x="connsiteX1" y="connsiteY1"/>
              </a:cxn>
              <a:cxn ang="0">
                <a:pos x="connsiteX2" y="connsiteY2"/>
              </a:cxn>
              <a:cxn ang="0">
                <a:pos x="connsiteX3" y="connsiteY3"/>
              </a:cxn>
            </a:cxnLst>
            <a:rect l="l" t="t" r="r" b="b"/>
            <a:pathLst>
              <a:path w="6604000" h="673100">
                <a:moveTo>
                  <a:pt x="0" y="0"/>
                </a:moveTo>
                <a:lnTo>
                  <a:pt x="2514600" y="0"/>
                </a:lnTo>
                <a:lnTo>
                  <a:pt x="3060700" y="673100"/>
                </a:lnTo>
                <a:lnTo>
                  <a:pt x="6604000" y="673100"/>
                </a:lnTo>
              </a:path>
            </a:pathLst>
          </a:custGeom>
          <a:noFill/>
          <a:ln w="57150">
            <a:solidFill>
              <a:schemeClr val="accent3"/>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Green Tenant"/>
          <p:cNvSpPr/>
          <p:nvPr/>
        </p:nvSpPr>
        <p:spPr>
          <a:xfrm>
            <a:off x="1295742" y="404444"/>
            <a:ext cx="475862" cy="556102"/>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bg2"/>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43" name="Yellow Tenant"/>
          <p:cNvSpPr/>
          <p:nvPr/>
        </p:nvSpPr>
        <p:spPr>
          <a:xfrm>
            <a:off x="1448142" y="556844"/>
            <a:ext cx="475862" cy="556102"/>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bg2"/>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45" name="Yellow Workload"/>
          <p:cNvSpPr/>
          <p:nvPr/>
        </p:nvSpPr>
        <p:spPr>
          <a:xfrm>
            <a:off x="2200035" y="877522"/>
            <a:ext cx="6451600" cy="399484"/>
          </a:xfrm>
          <a:custGeom>
            <a:avLst/>
            <a:gdLst>
              <a:gd name="connsiteX0" fmla="*/ 0 w 6604000"/>
              <a:gd name="connsiteY0" fmla="*/ 0 h 673100"/>
              <a:gd name="connsiteX1" fmla="*/ 2514600 w 6604000"/>
              <a:gd name="connsiteY1" fmla="*/ 0 h 673100"/>
              <a:gd name="connsiteX2" fmla="*/ 3060700 w 6604000"/>
              <a:gd name="connsiteY2" fmla="*/ 673100 h 673100"/>
              <a:gd name="connsiteX3" fmla="*/ 6604000 w 6604000"/>
              <a:gd name="connsiteY3" fmla="*/ 673100 h 673100"/>
            </a:gdLst>
            <a:ahLst/>
            <a:cxnLst>
              <a:cxn ang="0">
                <a:pos x="connsiteX0" y="connsiteY0"/>
              </a:cxn>
              <a:cxn ang="0">
                <a:pos x="connsiteX1" y="connsiteY1"/>
              </a:cxn>
              <a:cxn ang="0">
                <a:pos x="connsiteX2" y="connsiteY2"/>
              </a:cxn>
              <a:cxn ang="0">
                <a:pos x="connsiteX3" y="connsiteY3"/>
              </a:cxn>
            </a:cxnLst>
            <a:rect l="l" t="t" r="r" b="b"/>
            <a:pathLst>
              <a:path w="6604000" h="673100">
                <a:moveTo>
                  <a:pt x="0" y="0"/>
                </a:moveTo>
                <a:lnTo>
                  <a:pt x="2514600" y="0"/>
                </a:lnTo>
                <a:lnTo>
                  <a:pt x="3060700" y="673100"/>
                </a:lnTo>
                <a:lnTo>
                  <a:pt x="6604000" y="673100"/>
                </a:lnTo>
              </a:path>
            </a:pathLst>
          </a:custGeom>
          <a:noFill/>
          <a:ln w="57150">
            <a:solidFill>
              <a:schemeClr val="accent3"/>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Blue Tenant"/>
          <p:cNvSpPr/>
          <p:nvPr/>
        </p:nvSpPr>
        <p:spPr>
          <a:xfrm>
            <a:off x="1600542" y="709244"/>
            <a:ext cx="475862" cy="556102"/>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bg2"/>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46" name="Blue Workload"/>
          <p:cNvSpPr/>
          <p:nvPr/>
        </p:nvSpPr>
        <p:spPr>
          <a:xfrm>
            <a:off x="2352435" y="979122"/>
            <a:ext cx="6299200" cy="399484"/>
          </a:xfrm>
          <a:custGeom>
            <a:avLst/>
            <a:gdLst>
              <a:gd name="connsiteX0" fmla="*/ 0 w 6604000"/>
              <a:gd name="connsiteY0" fmla="*/ 0 h 673100"/>
              <a:gd name="connsiteX1" fmla="*/ 2514600 w 6604000"/>
              <a:gd name="connsiteY1" fmla="*/ 0 h 673100"/>
              <a:gd name="connsiteX2" fmla="*/ 3060700 w 6604000"/>
              <a:gd name="connsiteY2" fmla="*/ 673100 h 673100"/>
              <a:gd name="connsiteX3" fmla="*/ 6604000 w 6604000"/>
              <a:gd name="connsiteY3" fmla="*/ 673100 h 673100"/>
            </a:gdLst>
            <a:ahLst/>
            <a:cxnLst>
              <a:cxn ang="0">
                <a:pos x="connsiteX0" y="connsiteY0"/>
              </a:cxn>
              <a:cxn ang="0">
                <a:pos x="connsiteX1" y="connsiteY1"/>
              </a:cxn>
              <a:cxn ang="0">
                <a:pos x="connsiteX2" y="connsiteY2"/>
              </a:cxn>
              <a:cxn ang="0">
                <a:pos x="connsiteX3" y="connsiteY3"/>
              </a:cxn>
            </a:cxnLst>
            <a:rect l="l" t="t" r="r" b="b"/>
            <a:pathLst>
              <a:path w="6604000" h="673100">
                <a:moveTo>
                  <a:pt x="0" y="0"/>
                </a:moveTo>
                <a:lnTo>
                  <a:pt x="2514600" y="0"/>
                </a:lnTo>
                <a:lnTo>
                  <a:pt x="3060700" y="673100"/>
                </a:lnTo>
                <a:lnTo>
                  <a:pt x="6604000" y="673100"/>
                </a:lnTo>
              </a:path>
            </a:pathLst>
          </a:custGeom>
          <a:noFill/>
          <a:ln w="57150">
            <a:solidFill>
              <a:schemeClr val="accent3"/>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6" name="Instrumented System"/>
          <p:cNvGrpSpPr/>
          <p:nvPr/>
        </p:nvGrpSpPr>
        <p:grpSpPr>
          <a:xfrm>
            <a:off x="2409805" y="-45532"/>
            <a:ext cx="6633414" cy="369332"/>
            <a:chOff x="2028805" y="-25868"/>
            <a:chExt cx="6633414" cy="369332"/>
          </a:xfrm>
        </p:grpSpPr>
        <p:cxnSp>
          <p:nvCxnSpPr>
            <p:cNvPr id="170" name="Straight Connector 169"/>
            <p:cNvCxnSpPr/>
            <p:nvPr/>
          </p:nvCxnSpPr>
          <p:spPr>
            <a:xfrm>
              <a:off x="2055612" y="294968"/>
              <a:ext cx="660660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71" name="TextBox 170"/>
            <p:cNvSpPr txBox="1"/>
            <p:nvPr/>
          </p:nvSpPr>
          <p:spPr>
            <a:xfrm>
              <a:off x="2028805" y="-25868"/>
              <a:ext cx="2180853" cy="369332"/>
            </a:xfrm>
            <a:prstGeom prst="rect">
              <a:avLst/>
            </a:prstGeom>
            <a:noFill/>
          </p:spPr>
          <p:txBody>
            <a:bodyPr wrap="none" rtlCol="0">
              <a:spAutoFit/>
            </a:bodyPr>
            <a:lstStyle/>
            <a:p>
              <a:r>
                <a:rPr lang="en-US" dirty="0" smtClean="0"/>
                <a:t>Instrumented System</a:t>
              </a:r>
              <a:endParaRPr lang="en-US" dirty="0"/>
            </a:p>
          </p:txBody>
        </p:sp>
        <p:sp>
          <p:nvSpPr>
            <p:cNvPr id="173" name="TextBox 172"/>
            <p:cNvSpPr txBox="1"/>
            <p:nvPr/>
          </p:nvSpPr>
          <p:spPr>
            <a:xfrm>
              <a:off x="4222190" y="-25868"/>
              <a:ext cx="370614" cy="369332"/>
            </a:xfrm>
            <a:prstGeom prst="rect">
              <a:avLst/>
            </a:prstGeom>
            <a:noFill/>
          </p:spPr>
          <p:txBody>
            <a:bodyPr wrap="none" rtlCol="0">
              <a:spAutoFit/>
            </a:bodyPr>
            <a:lstStyle/>
            <a:p>
              <a:r>
                <a:rPr lang="en-US" dirty="0" smtClean="0"/>
                <a:t>(+</a:t>
              </a:r>
              <a:endParaRPr lang="en-US" dirty="0"/>
            </a:p>
          </p:txBody>
        </p:sp>
        <p:sp>
          <p:nvSpPr>
            <p:cNvPr id="182" name="Freeform 181"/>
            <p:cNvSpPr/>
            <p:nvPr/>
          </p:nvSpPr>
          <p:spPr>
            <a:xfrm flipH="1">
              <a:off x="4521318" y="48908"/>
              <a:ext cx="268369" cy="219780"/>
            </a:xfrm>
            <a:custGeom>
              <a:avLst/>
              <a:gdLst>
                <a:gd name="connsiteX0" fmla="*/ 205184 w 1161142"/>
                <a:gd name="connsiteY0" fmla="*/ 225311 h 1009083"/>
                <a:gd name="connsiteX1" fmla="*/ 130631 w 1161142"/>
                <a:gd name="connsiteY1" fmla="*/ 225311 h 1009083"/>
                <a:gd name="connsiteX2" fmla="*/ 0 w 1161142"/>
                <a:gd name="connsiteY2" fmla="*/ 355942 h 1009083"/>
                <a:gd name="connsiteX3" fmla="*/ 0 w 1161142"/>
                <a:gd name="connsiteY3" fmla="*/ 878452 h 1009083"/>
                <a:gd name="connsiteX4" fmla="*/ 130631 w 1161142"/>
                <a:gd name="connsiteY4" fmla="*/ 1009083 h 1009083"/>
                <a:gd name="connsiteX5" fmla="*/ 205184 w 1161142"/>
                <a:gd name="connsiteY5" fmla="*/ 1009083 h 1009083"/>
                <a:gd name="connsiteX6" fmla="*/ 1030511 w 1161142"/>
                <a:gd name="connsiteY6" fmla="*/ 225311 h 1009083"/>
                <a:gd name="connsiteX7" fmla="*/ 955958 w 1161142"/>
                <a:gd name="connsiteY7" fmla="*/ 225311 h 1009083"/>
                <a:gd name="connsiteX8" fmla="*/ 955958 w 1161142"/>
                <a:gd name="connsiteY8" fmla="*/ 1009083 h 1009083"/>
                <a:gd name="connsiteX9" fmla="*/ 1030511 w 1161142"/>
                <a:gd name="connsiteY9" fmla="*/ 1009083 h 1009083"/>
                <a:gd name="connsiteX10" fmla="*/ 1161142 w 1161142"/>
                <a:gd name="connsiteY10" fmla="*/ 878452 h 1009083"/>
                <a:gd name="connsiteX11" fmla="*/ 1161142 w 1161142"/>
                <a:gd name="connsiteY11" fmla="*/ 355942 h 1009083"/>
                <a:gd name="connsiteX12" fmla="*/ 1030511 w 1161142"/>
                <a:gd name="connsiteY12" fmla="*/ 225311 h 1009083"/>
                <a:gd name="connsiteX13" fmla="*/ 580571 w 1161142"/>
                <a:gd name="connsiteY13" fmla="*/ 76200 h 1009083"/>
                <a:gd name="connsiteX14" fmla="*/ 729682 w 1161142"/>
                <a:gd name="connsiteY14" fmla="*/ 225311 h 1009083"/>
                <a:gd name="connsiteX15" fmla="*/ 431460 w 1161142"/>
                <a:gd name="connsiteY15" fmla="*/ 225311 h 1009083"/>
                <a:gd name="connsiteX16" fmla="*/ 580571 w 1161142"/>
                <a:gd name="connsiteY16" fmla="*/ 76200 h 1009083"/>
                <a:gd name="connsiteX17" fmla="*/ 580571 w 1161142"/>
                <a:gd name="connsiteY17" fmla="*/ 0 h 1009083"/>
                <a:gd name="connsiteX18" fmla="*/ 355260 w 1161142"/>
                <a:gd name="connsiteY18" fmla="*/ 225311 h 1009083"/>
                <a:gd name="connsiteX19" fmla="*/ 290704 w 1161142"/>
                <a:gd name="connsiteY19" fmla="*/ 225311 h 1009083"/>
                <a:gd name="connsiteX20" fmla="*/ 290704 w 1161142"/>
                <a:gd name="connsiteY20" fmla="*/ 1009083 h 1009083"/>
                <a:gd name="connsiteX21" fmla="*/ 870438 w 1161142"/>
                <a:gd name="connsiteY21" fmla="*/ 1009083 h 1009083"/>
                <a:gd name="connsiteX22" fmla="*/ 870438 w 1161142"/>
                <a:gd name="connsiteY22" fmla="*/ 225311 h 1009083"/>
                <a:gd name="connsiteX23" fmla="*/ 805882 w 1161142"/>
                <a:gd name="connsiteY23" fmla="*/ 225311 h 1009083"/>
                <a:gd name="connsiteX24" fmla="*/ 580571 w 1161142"/>
                <a:gd name="connsiteY24" fmla="*/ 0 h 100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61142" h="1009083">
                  <a:moveTo>
                    <a:pt x="205184" y="225311"/>
                  </a:moveTo>
                  <a:lnTo>
                    <a:pt x="130631" y="225311"/>
                  </a:lnTo>
                  <a:cubicBezTo>
                    <a:pt x="58485" y="225311"/>
                    <a:pt x="0" y="283796"/>
                    <a:pt x="0" y="355942"/>
                  </a:cubicBezTo>
                  <a:lnTo>
                    <a:pt x="0" y="878452"/>
                  </a:lnTo>
                  <a:cubicBezTo>
                    <a:pt x="0" y="950598"/>
                    <a:pt x="58485" y="1009083"/>
                    <a:pt x="130631" y="1009083"/>
                  </a:cubicBezTo>
                  <a:lnTo>
                    <a:pt x="205184" y="1009083"/>
                  </a:lnTo>
                  <a:close/>
                  <a:moveTo>
                    <a:pt x="1030511" y="225311"/>
                  </a:moveTo>
                  <a:lnTo>
                    <a:pt x="955958" y="225311"/>
                  </a:lnTo>
                  <a:lnTo>
                    <a:pt x="955958" y="1009083"/>
                  </a:lnTo>
                  <a:lnTo>
                    <a:pt x="1030511" y="1009083"/>
                  </a:lnTo>
                  <a:cubicBezTo>
                    <a:pt x="1102657" y="1009083"/>
                    <a:pt x="1161142" y="950598"/>
                    <a:pt x="1161142" y="878452"/>
                  </a:cubicBezTo>
                  <a:lnTo>
                    <a:pt x="1161142" y="355942"/>
                  </a:lnTo>
                  <a:cubicBezTo>
                    <a:pt x="1161142" y="283796"/>
                    <a:pt x="1102657" y="225311"/>
                    <a:pt x="1030511" y="225311"/>
                  </a:cubicBezTo>
                  <a:close/>
                  <a:moveTo>
                    <a:pt x="580571" y="76200"/>
                  </a:moveTo>
                  <a:cubicBezTo>
                    <a:pt x="662923" y="76200"/>
                    <a:pt x="729682" y="142959"/>
                    <a:pt x="729682" y="225311"/>
                  </a:cubicBezTo>
                  <a:lnTo>
                    <a:pt x="431460" y="225311"/>
                  </a:lnTo>
                  <a:cubicBezTo>
                    <a:pt x="431460" y="142959"/>
                    <a:pt x="498219" y="76200"/>
                    <a:pt x="580571" y="76200"/>
                  </a:cubicBezTo>
                  <a:close/>
                  <a:moveTo>
                    <a:pt x="580571" y="0"/>
                  </a:moveTo>
                  <a:cubicBezTo>
                    <a:pt x="456135" y="0"/>
                    <a:pt x="355260" y="100875"/>
                    <a:pt x="355260" y="225311"/>
                  </a:cubicBezTo>
                  <a:lnTo>
                    <a:pt x="290704" y="225311"/>
                  </a:lnTo>
                  <a:lnTo>
                    <a:pt x="290704" y="1009083"/>
                  </a:lnTo>
                  <a:lnTo>
                    <a:pt x="870438" y="1009083"/>
                  </a:lnTo>
                  <a:lnTo>
                    <a:pt x="870438" y="225311"/>
                  </a:lnTo>
                  <a:lnTo>
                    <a:pt x="805882" y="225311"/>
                  </a:lnTo>
                  <a:cubicBezTo>
                    <a:pt x="805882" y="100875"/>
                    <a:pt x="705007" y="0"/>
                    <a:pt x="580571"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83" name="TextBox 182"/>
            <p:cNvSpPr txBox="1"/>
            <p:nvPr/>
          </p:nvSpPr>
          <p:spPr>
            <a:xfrm>
              <a:off x="4706823" y="-25868"/>
              <a:ext cx="1132746" cy="369332"/>
            </a:xfrm>
            <a:prstGeom prst="rect">
              <a:avLst/>
            </a:prstGeom>
            <a:noFill/>
          </p:spPr>
          <p:txBody>
            <a:bodyPr wrap="none" rtlCol="0">
              <a:spAutoFit/>
            </a:bodyPr>
            <a:lstStyle/>
            <a:p>
              <a:r>
                <a:rPr lang="en-US" dirty="0" smtClean="0"/>
                <a:t> Baggage, </a:t>
              </a:r>
              <a:endParaRPr lang="en-US" dirty="0"/>
            </a:p>
          </p:txBody>
        </p:sp>
        <p:grpSp>
          <p:nvGrpSpPr>
            <p:cNvPr id="177" name="Group 176"/>
            <p:cNvGrpSpPr/>
            <p:nvPr/>
          </p:nvGrpSpPr>
          <p:grpSpPr>
            <a:xfrm>
              <a:off x="5905195" y="53952"/>
              <a:ext cx="351612" cy="209692"/>
              <a:chOff x="7760681" y="2437731"/>
              <a:chExt cx="456050" cy="271976"/>
            </a:xfrm>
          </p:grpSpPr>
          <p:sp>
            <p:nvSpPr>
              <p:cNvPr id="179" name="Freeform 178"/>
              <p:cNvSpPr/>
              <p:nvPr/>
            </p:nvSpPr>
            <p:spPr>
              <a:xfrm>
                <a:off x="7760681" y="2484227"/>
                <a:ext cx="207804" cy="225480"/>
              </a:xfrm>
              <a:custGeom>
                <a:avLst/>
                <a:gdLst>
                  <a:gd name="connsiteX0" fmla="*/ 250470 w 278551"/>
                  <a:gd name="connsiteY0" fmla="*/ 185740 h 302245"/>
                  <a:gd name="connsiteX1" fmla="*/ 278551 w 278551"/>
                  <a:gd name="connsiteY1" fmla="*/ 212135 h 302245"/>
                  <a:gd name="connsiteX2" fmla="*/ 261752 w 278551"/>
                  <a:gd name="connsiteY2" fmla="*/ 241233 h 302245"/>
                  <a:gd name="connsiteX3" fmla="*/ 225317 w 278551"/>
                  <a:gd name="connsiteY3" fmla="*/ 230252 h 302245"/>
                  <a:gd name="connsiteX4" fmla="*/ 247440 w 278551"/>
                  <a:gd name="connsiteY4" fmla="*/ 199863 h 302245"/>
                  <a:gd name="connsiteX5" fmla="*/ 139274 w 278551"/>
                  <a:gd name="connsiteY5" fmla="*/ 84295 h 302245"/>
                  <a:gd name="connsiteX6" fmla="*/ 196885 w 278551"/>
                  <a:gd name="connsiteY6" fmla="*/ 113100 h 302245"/>
                  <a:gd name="connsiteX7" fmla="*/ 196884 w 278551"/>
                  <a:gd name="connsiteY7" fmla="*/ 114931 h 302245"/>
                  <a:gd name="connsiteX8" fmla="*/ 141702 w 278551"/>
                  <a:gd name="connsiteY8" fmla="*/ 86497 h 302245"/>
                  <a:gd name="connsiteX9" fmla="*/ 91232 w 278551"/>
                  <a:gd name="connsiteY9" fmla="*/ 110971 h 302245"/>
                  <a:gd name="connsiteX10" fmla="*/ 90180 w 278551"/>
                  <a:gd name="connsiteY10" fmla="*/ 108843 h 302245"/>
                  <a:gd name="connsiteX11" fmla="*/ 93907 w 278551"/>
                  <a:gd name="connsiteY11" fmla="*/ 56612 h 302245"/>
                  <a:gd name="connsiteX12" fmla="*/ 77529 w 278551"/>
                  <a:gd name="connsiteY12" fmla="*/ 83250 h 302245"/>
                  <a:gd name="connsiteX13" fmla="*/ 90180 w 278551"/>
                  <a:gd name="connsiteY13" fmla="*/ 108843 h 302245"/>
                  <a:gd name="connsiteX14" fmla="*/ 81665 w 278551"/>
                  <a:gd name="connsiteY14" fmla="*/ 113100 h 302245"/>
                  <a:gd name="connsiteX15" fmla="*/ 81665 w 278551"/>
                  <a:gd name="connsiteY15" fmla="*/ 189144 h 302245"/>
                  <a:gd name="connsiteX16" fmla="*/ 139274 w 278551"/>
                  <a:gd name="connsiteY16" fmla="*/ 217949 h 302245"/>
                  <a:gd name="connsiteX17" fmla="*/ 196884 w 278551"/>
                  <a:gd name="connsiteY17" fmla="*/ 189144 h 302245"/>
                  <a:gd name="connsiteX18" fmla="*/ 196884 w 278551"/>
                  <a:gd name="connsiteY18" fmla="*/ 114931 h 302245"/>
                  <a:gd name="connsiteX19" fmla="*/ 198958 w 278551"/>
                  <a:gd name="connsiteY19" fmla="*/ 115999 h 302245"/>
                  <a:gd name="connsiteX20" fmla="*/ 198034 w 278551"/>
                  <a:gd name="connsiteY20" fmla="*/ 192038 h 302245"/>
                  <a:gd name="connsiteX21" fmla="*/ 144208 w 278551"/>
                  <a:gd name="connsiteY21" fmla="*/ 218139 h 302245"/>
                  <a:gd name="connsiteX22" fmla="*/ 155568 w 278551"/>
                  <a:gd name="connsiteY22" fmla="*/ 241121 h 302245"/>
                  <a:gd name="connsiteX23" fmla="*/ 182697 w 278551"/>
                  <a:gd name="connsiteY23" fmla="*/ 246757 h 302245"/>
                  <a:gd name="connsiteX24" fmla="*/ 166987 w 278551"/>
                  <a:gd name="connsiteY24" fmla="*/ 255827 h 302245"/>
                  <a:gd name="connsiteX25" fmla="*/ 156075 w 278551"/>
                  <a:gd name="connsiteY25" fmla="*/ 302245 h 302245"/>
                  <a:gd name="connsiteX26" fmla="*/ 122476 w 278551"/>
                  <a:gd name="connsiteY26" fmla="*/ 302245 h 302245"/>
                  <a:gd name="connsiteX27" fmla="*/ 111565 w 278551"/>
                  <a:gd name="connsiteY27" fmla="*/ 255827 h 302245"/>
                  <a:gd name="connsiteX28" fmla="*/ 62455 w 278551"/>
                  <a:gd name="connsiteY28" fmla="*/ 227473 h 302245"/>
                  <a:gd name="connsiteX29" fmla="*/ 16799 w 278551"/>
                  <a:gd name="connsiteY29" fmla="*/ 241233 h 302245"/>
                  <a:gd name="connsiteX30" fmla="*/ 0 w 278551"/>
                  <a:gd name="connsiteY30" fmla="*/ 212135 h 302245"/>
                  <a:gd name="connsiteX31" fmla="*/ 34743 w 278551"/>
                  <a:gd name="connsiteY31" fmla="*/ 179476 h 302245"/>
                  <a:gd name="connsiteX32" fmla="*/ 34743 w 278551"/>
                  <a:gd name="connsiteY32" fmla="*/ 122768 h 302245"/>
                  <a:gd name="connsiteX33" fmla="*/ 0 w 278551"/>
                  <a:gd name="connsiteY33" fmla="*/ 90110 h 302245"/>
                  <a:gd name="connsiteX34" fmla="*/ 16799 w 278551"/>
                  <a:gd name="connsiteY34" fmla="*/ 61012 h 302245"/>
                  <a:gd name="connsiteX35" fmla="*/ 62454 w 278551"/>
                  <a:gd name="connsiteY35" fmla="*/ 74772 h 302245"/>
                  <a:gd name="connsiteX36" fmla="*/ 122476 w 278551"/>
                  <a:gd name="connsiteY36" fmla="*/ 0 h 302245"/>
                  <a:gd name="connsiteX37" fmla="*/ 156075 w 278551"/>
                  <a:gd name="connsiteY37" fmla="*/ 0 h 302245"/>
                  <a:gd name="connsiteX38" fmla="*/ 165987 w 278551"/>
                  <a:gd name="connsiteY38" fmla="*/ 42169 h 302245"/>
                  <a:gd name="connsiteX39" fmla="*/ 142303 w 278551"/>
                  <a:gd name="connsiteY39" fmla="*/ 37087 h 302245"/>
                  <a:gd name="connsiteX40" fmla="*/ 112428 w 278551"/>
                  <a:gd name="connsiteY40" fmla="*/ 42742 h 30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78551" h="302245">
                    <a:moveTo>
                      <a:pt x="250470" y="185740"/>
                    </a:moveTo>
                    <a:lnTo>
                      <a:pt x="278551" y="212135"/>
                    </a:lnTo>
                    <a:lnTo>
                      <a:pt x="261752" y="241233"/>
                    </a:lnTo>
                    <a:lnTo>
                      <a:pt x="225317" y="230252"/>
                    </a:lnTo>
                    <a:lnTo>
                      <a:pt x="247440" y="199863"/>
                    </a:lnTo>
                    <a:close/>
                    <a:moveTo>
                      <a:pt x="139274" y="84295"/>
                    </a:moveTo>
                    <a:lnTo>
                      <a:pt x="196885" y="113100"/>
                    </a:lnTo>
                    <a:lnTo>
                      <a:pt x="196884" y="114931"/>
                    </a:lnTo>
                    <a:lnTo>
                      <a:pt x="141702" y="86497"/>
                    </a:lnTo>
                    <a:lnTo>
                      <a:pt x="91232" y="110971"/>
                    </a:lnTo>
                    <a:lnTo>
                      <a:pt x="90180" y="108843"/>
                    </a:lnTo>
                    <a:close/>
                    <a:moveTo>
                      <a:pt x="93907" y="56612"/>
                    </a:moveTo>
                    <a:lnTo>
                      <a:pt x="77529" y="83250"/>
                    </a:lnTo>
                    <a:lnTo>
                      <a:pt x="90180" y="108843"/>
                    </a:lnTo>
                    <a:lnTo>
                      <a:pt x="81665" y="113100"/>
                    </a:lnTo>
                    <a:lnTo>
                      <a:pt x="81665" y="189144"/>
                    </a:lnTo>
                    <a:lnTo>
                      <a:pt x="139274" y="217949"/>
                    </a:lnTo>
                    <a:lnTo>
                      <a:pt x="196884" y="189144"/>
                    </a:lnTo>
                    <a:lnTo>
                      <a:pt x="196884" y="114931"/>
                    </a:lnTo>
                    <a:lnTo>
                      <a:pt x="198958" y="115999"/>
                    </a:lnTo>
                    <a:lnTo>
                      <a:pt x="198034" y="192038"/>
                    </a:lnTo>
                    <a:lnTo>
                      <a:pt x="144208" y="218139"/>
                    </a:lnTo>
                    <a:lnTo>
                      <a:pt x="155568" y="241121"/>
                    </a:lnTo>
                    <a:lnTo>
                      <a:pt x="182697" y="246757"/>
                    </a:lnTo>
                    <a:lnTo>
                      <a:pt x="166987" y="255827"/>
                    </a:lnTo>
                    <a:lnTo>
                      <a:pt x="156075" y="302245"/>
                    </a:lnTo>
                    <a:lnTo>
                      <a:pt x="122476" y="302245"/>
                    </a:lnTo>
                    <a:lnTo>
                      <a:pt x="111565" y="255827"/>
                    </a:lnTo>
                    <a:cubicBezTo>
                      <a:pt x="92967" y="250905"/>
                      <a:pt x="76016" y="241118"/>
                      <a:pt x="62455" y="227473"/>
                    </a:cubicBezTo>
                    <a:lnTo>
                      <a:pt x="16799" y="241233"/>
                    </a:lnTo>
                    <a:lnTo>
                      <a:pt x="0" y="212135"/>
                    </a:lnTo>
                    <a:lnTo>
                      <a:pt x="34743" y="179476"/>
                    </a:lnTo>
                    <a:cubicBezTo>
                      <a:pt x="29707" y="160909"/>
                      <a:pt x="29707" y="141335"/>
                      <a:pt x="34743" y="122768"/>
                    </a:cubicBezTo>
                    <a:lnTo>
                      <a:pt x="0" y="90110"/>
                    </a:lnTo>
                    <a:lnTo>
                      <a:pt x="16799" y="61012"/>
                    </a:lnTo>
                    <a:lnTo>
                      <a:pt x="62454" y="74772"/>
                    </a:lnTo>
                    <a:close/>
                    <a:moveTo>
                      <a:pt x="122476" y="0"/>
                    </a:moveTo>
                    <a:lnTo>
                      <a:pt x="156075" y="0"/>
                    </a:lnTo>
                    <a:lnTo>
                      <a:pt x="165987" y="42169"/>
                    </a:lnTo>
                    <a:lnTo>
                      <a:pt x="142303" y="37087"/>
                    </a:lnTo>
                    <a:lnTo>
                      <a:pt x="112428" y="42742"/>
                    </a:lnTo>
                    <a:close/>
                  </a:path>
                </a:pathLst>
              </a:custGeom>
              <a:solidFill>
                <a:schemeClr val="bg1"/>
              </a:solidFill>
              <a:ln w="19050">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80" name="Freeform 179"/>
              <p:cNvSpPr/>
              <p:nvPr/>
            </p:nvSpPr>
            <p:spPr>
              <a:xfrm rot="20021754">
                <a:off x="7797455" y="2437731"/>
                <a:ext cx="419276" cy="175124"/>
              </a:xfrm>
              <a:custGeom>
                <a:avLst/>
                <a:gdLst>
                  <a:gd name="connsiteX0" fmla="*/ 99307 w 541041"/>
                  <a:gd name="connsiteY0" fmla="*/ 54263 h 225982"/>
                  <a:gd name="connsiteX1" fmla="*/ 136175 w 541041"/>
                  <a:gd name="connsiteY1" fmla="*/ 104206 h 225982"/>
                  <a:gd name="connsiteX2" fmla="*/ 103289 w 541041"/>
                  <a:gd name="connsiteY2" fmla="*/ 170735 h 225982"/>
                  <a:gd name="connsiteX3" fmla="*/ 38879 w 541041"/>
                  <a:gd name="connsiteY3" fmla="*/ 171028 h 225982"/>
                  <a:gd name="connsiteX4" fmla="*/ 0 w 541041"/>
                  <a:gd name="connsiteY4" fmla="*/ 119677 h 225982"/>
                  <a:gd name="connsiteX5" fmla="*/ 33698 w 541041"/>
                  <a:gd name="connsiteY5" fmla="*/ 51507 h 225982"/>
                  <a:gd name="connsiteX6" fmla="*/ 43218 w 541041"/>
                  <a:gd name="connsiteY6" fmla="*/ 51464 h 225982"/>
                  <a:gd name="connsiteX7" fmla="*/ 43218 w 541041"/>
                  <a:gd name="connsiteY7" fmla="*/ 53838 h 225982"/>
                  <a:gd name="connsiteX8" fmla="*/ 504723 w 541041"/>
                  <a:gd name="connsiteY8" fmla="*/ 53019 h 225982"/>
                  <a:gd name="connsiteX9" fmla="*/ 541041 w 541041"/>
                  <a:gd name="connsiteY9" fmla="*/ 107811 h 225982"/>
                  <a:gd name="connsiteX10" fmla="*/ 481576 w 541041"/>
                  <a:gd name="connsiteY10" fmla="*/ 167276 h 225982"/>
                  <a:gd name="connsiteX11" fmla="*/ 171988 w 541041"/>
                  <a:gd name="connsiteY11" fmla="*/ 167276 h 225982"/>
                  <a:gd name="connsiteX12" fmla="*/ 143860 w 541041"/>
                  <a:gd name="connsiteY12" fmla="*/ 202747 h 225982"/>
                  <a:gd name="connsiteX13" fmla="*/ 99545 w 541041"/>
                  <a:gd name="connsiteY13" fmla="*/ 225955 h 225982"/>
                  <a:gd name="connsiteX14" fmla="*/ 99000 w 541041"/>
                  <a:gd name="connsiteY14" fmla="*/ 225982 h 225982"/>
                  <a:gd name="connsiteX15" fmla="*/ 66761 w 541041"/>
                  <a:gd name="connsiteY15" fmla="*/ 217441 h 225982"/>
                  <a:gd name="connsiteX16" fmla="*/ 43218 w 541041"/>
                  <a:gd name="connsiteY16" fmla="*/ 199021 h 225982"/>
                  <a:gd name="connsiteX17" fmla="*/ 43218 w 541041"/>
                  <a:gd name="connsiteY17" fmla="*/ 173385 h 225982"/>
                  <a:gd name="connsiteX18" fmla="*/ 103037 w 541041"/>
                  <a:gd name="connsiteY18" fmla="*/ 173839 h 225982"/>
                  <a:gd name="connsiteX19" fmla="*/ 137561 w 541041"/>
                  <a:gd name="connsiteY19" fmla="*/ 106083 h 225982"/>
                  <a:gd name="connsiteX20" fmla="*/ 136175 w 541041"/>
                  <a:gd name="connsiteY20" fmla="*/ 104206 h 225982"/>
                  <a:gd name="connsiteX21" fmla="*/ 136987 w 541041"/>
                  <a:gd name="connsiteY21" fmla="*/ 102565 h 225982"/>
                  <a:gd name="connsiteX22" fmla="*/ 98106 w 541041"/>
                  <a:gd name="connsiteY22" fmla="*/ 51213 h 225982"/>
                  <a:gd name="connsiteX23" fmla="*/ 43218 w 541041"/>
                  <a:gd name="connsiteY23" fmla="*/ 51464 h 225982"/>
                  <a:gd name="connsiteX24" fmla="*/ 43218 w 541041"/>
                  <a:gd name="connsiteY24" fmla="*/ 22915 h 225982"/>
                  <a:gd name="connsiteX25" fmla="*/ 77964 w 541041"/>
                  <a:gd name="connsiteY25" fmla="*/ 1110 h 225982"/>
                  <a:gd name="connsiteX26" fmla="*/ 85046 w 541041"/>
                  <a:gd name="connsiteY26" fmla="*/ 0 h 225982"/>
                  <a:gd name="connsiteX27" fmla="*/ 121741 w 541041"/>
                  <a:gd name="connsiteY27" fmla="*/ 10236 h 225982"/>
                  <a:gd name="connsiteX28" fmla="*/ 157909 w 541041"/>
                  <a:gd name="connsiteY28" fmla="*/ 38916 h 225982"/>
                  <a:gd name="connsiteX29" fmla="*/ 163138 w 541041"/>
                  <a:gd name="connsiteY29" fmla="*/ 48346 h 225982"/>
                  <a:gd name="connsiteX30" fmla="*/ 481576 w 541041"/>
                  <a:gd name="connsiteY30" fmla="*/ 48346 h 225982"/>
                  <a:gd name="connsiteX31" fmla="*/ 504723 w 541041"/>
                  <a:gd name="connsiteY31" fmla="*/ 53019 h 22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41041" h="225982">
                    <a:moveTo>
                      <a:pt x="99307" y="54263"/>
                    </a:moveTo>
                    <a:lnTo>
                      <a:pt x="136175" y="104206"/>
                    </a:lnTo>
                    <a:lnTo>
                      <a:pt x="103289" y="170735"/>
                    </a:lnTo>
                    <a:lnTo>
                      <a:pt x="38879" y="171028"/>
                    </a:lnTo>
                    <a:lnTo>
                      <a:pt x="0" y="119677"/>
                    </a:lnTo>
                    <a:lnTo>
                      <a:pt x="33698" y="51507"/>
                    </a:lnTo>
                    <a:lnTo>
                      <a:pt x="43218" y="51464"/>
                    </a:lnTo>
                    <a:lnTo>
                      <a:pt x="43218" y="53838"/>
                    </a:lnTo>
                    <a:close/>
                    <a:moveTo>
                      <a:pt x="504723" y="53019"/>
                    </a:moveTo>
                    <a:cubicBezTo>
                      <a:pt x="526066" y="62046"/>
                      <a:pt x="541041" y="83180"/>
                      <a:pt x="541041" y="107811"/>
                    </a:cubicBezTo>
                    <a:cubicBezTo>
                      <a:pt x="541041" y="140653"/>
                      <a:pt x="514418" y="167276"/>
                      <a:pt x="481576" y="167276"/>
                    </a:cubicBezTo>
                    <a:lnTo>
                      <a:pt x="171988" y="167276"/>
                    </a:lnTo>
                    <a:lnTo>
                      <a:pt x="143860" y="202747"/>
                    </a:lnTo>
                    <a:cubicBezTo>
                      <a:pt x="130861" y="213683"/>
                      <a:pt x="115692" y="221548"/>
                      <a:pt x="99545" y="225955"/>
                    </a:cubicBezTo>
                    <a:lnTo>
                      <a:pt x="99000" y="225982"/>
                    </a:lnTo>
                    <a:lnTo>
                      <a:pt x="66761" y="217441"/>
                    </a:lnTo>
                    <a:lnTo>
                      <a:pt x="43218" y="199021"/>
                    </a:lnTo>
                    <a:lnTo>
                      <a:pt x="43218" y="173385"/>
                    </a:lnTo>
                    <a:lnTo>
                      <a:pt x="103037" y="173839"/>
                    </a:lnTo>
                    <a:lnTo>
                      <a:pt x="137561" y="106083"/>
                    </a:lnTo>
                    <a:lnTo>
                      <a:pt x="136175" y="104206"/>
                    </a:lnTo>
                    <a:lnTo>
                      <a:pt x="136987" y="102565"/>
                    </a:lnTo>
                    <a:lnTo>
                      <a:pt x="98106" y="51213"/>
                    </a:lnTo>
                    <a:lnTo>
                      <a:pt x="43218" y="51464"/>
                    </a:lnTo>
                    <a:lnTo>
                      <a:pt x="43218" y="22915"/>
                    </a:lnTo>
                    <a:lnTo>
                      <a:pt x="77964" y="1110"/>
                    </a:lnTo>
                    <a:lnTo>
                      <a:pt x="85046" y="0"/>
                    </a:lnTo>
                    <a:lnTo>
                      <a:pt x="121741" y="10236"/>
                    </a:lnTo>
                    <a:cubicBezTo>
                      <a:pt x="136041" y="17522"/>
                      <a:pt x="148188" y="27361"/>
                      <a:pt x="157909" y="38916"/>
                    </a:cubicBezTo>
                    <a:lnTo>
                      <a:pt x="163138" y="48346"/>
                    </a:lnTo>
                    <a:lnTo>
                      <a:pt x="481576" y="48346"/>
                    </a:lnTo>
                    <a:cubicBezTo>
                      <a:pt x="489787" y="48346"/>
                      <a:pt x="497608" y="50010"/>
                      <a:pt x="504723" y="53019"/>
                    </a:cubicBezTo>
                    <a:close/>
                  </a:path>
                </a:pathLst>
              </a:cu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81" name="Hexagon 180"/>
              <p:cNvSpPr/>
              <p:nvPr/>
            </p:nvSpPr>
            <p:spPr>
              <a:xfrm rot="16200000">
                <a:off x="7813142" y="2552652"/>
                <a:ext cx="102880" cy="89052"/>
              </a:xfrm>
              <a:prstGeom prst="hexagon">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sp>
          <p:nvSpPr>
            <p:cNvPr id="178" name="TextBox 177"/>
            <p:cNvSpPr txBox="1"/>
            <p:nvPr/>
          </p:nvSpPr>
          <p:spPr>
            <a:xfrm>
              <a:off x="6191989" y="-25868"/>
              <a:ext cx="1090107" cy="369332"/>
            </a:xfrm>
            <a:prstGeom prst="rect">
              <a:avLst/>
            </a:prstGeom>
            <a:noFill/>
          </p:spPr>
          <p:txBody>
            <a:bodyPr wrap="none" rtlCol="0">
              <a:spAutoFit/>
            </a:bodyPr>
            <a:lstStyle/>
            <a:p>
              <a:r>
                <a:rPr lang="en-US" dirty="0"/>
                <a:t>PT </a:t>
              </a:r>
              <a:r>
                <a:rPr lang="en-US" dirty="0" smtClean="0"/>
                <a:t>Agent)</a:t>
              </a:r>
              <a:endParaRPr lang="en-US" dirty="0"/>
            </a:p>
          </p:txBody>
        </p:sp>
        <p:sp>
          <p:nvSpPr>
            <p:cNvPr id="176" name="TextBox 175"/>
            <p:cNvSpPr txBox="1"/>
            <p:nvPr/>
          </p:nvSpPr>
          <p:spPr>
            <a:xfrm>
              <a:off x="5651894" y="-25868"/>
              <a:ext cx="300082" cy="369332"/>
            </a:xfrm>
            <a:prstGeom prst="rect">
              <a:avLst/>
            </a:prstGeom>
            <a:noFill/>
          </p:spPr>
          <p:txBody>
            <a:bodyPr wrap="none" rtlCol="0">
              <a:spAutoFit/>
            </a:bodyPr>
            <a:lstStyle/>
            <a:p>
              <a:r>
                <a:rPr lang="en-US" dirty="0"/>
                <a:t>+</a:t>
              </a:r>
            </a:p>
          </p:txBody>
        </p:sp>
      </p:grpSp>
      <p:sp>
        <p:nvSpPr>
          <p:cNvPr id="202" name="Tracepoint 4"/>
          <p:cNvSpPr/>
          <p:nvPr/>
        </p:nvSpPr>
        <p:spPr>
          <a:xfrm>
            <a:off x="7204732" y="810021"/>
            <a:ext cx="304800" cy="304800"/>
          </a:xfrm>
          <a:prstGeom prst="ellipse">
            <a:avLst/>
          </a:prstGeom>
          <a:solidFill>
            <a:schemeClr val="bg2">
              <a:lumMod val="90000"/>
            </a:schemeClr>
          </a:solidFill>
          <a:ln w="19050">
            <a:solidFill>
              <a:schemeClr val="bg2">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Tracepoint 3"/>
          <p:cNvSpPr/>
          <p:nvPr/>
        </p:nvSpPr>
        <p:spPr>
          <a:xfrm>
            <a:off x="7540577" y="1022502"/>
            <a:ext cx="304800" cy="304800"/>
          </a:xfrm>
          <a:prstGeom prst="ellipse">
            <a:avLst/>
          </a:prstGeom>
          <a:solidFill>
            <a:schemeClr val="bg2">
              <a:lumMod val="90000"/>
            </a:schemeClr>
          </a:solidFill>
          <a:ln w="19050">
            <a:solidFill>
              <a:schemeClr val="bg2">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Tracepoint 2"/>
          <p:cNvSpPr/>
          <p:nvPr/>
        </p:nvSpPr>
        <p:spPr>
          <a:xfrm>
            <a:off x="7544219" y="1377126"/>
            <a:ext cx="304800" cy="304800"/>
          </a:xfrm>
          <a:prstGeom prst="ellipse">
            <a:avLst/>
          </a:prstGeom>
          <a:solidFill>
            <a:schemeClr val="bg2">
              <a:lumMod val="90000"/>
            </a:schemeClr>
          </a:solidFill>
          <a:ln w="19050">
            <a:solidFill>
              <a:schemeClr val="bg2">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Tracepoint 1"/>
          <p:cNvSpPr/>
          <p:nvPr/>
        </p:nvSpPr>
        <p:spPr>
          <a:xfrm>
            <a:off x="7208374" y="1164645"/>
            <a:ext cx="304800" cy="304800"/>
          </a:xfrm>
          <a:prstGeom prst="ellipse">
            <a:avLst/>
          </a:prstGeom>
          <a:solidFill>
            <a:srgbClr val="FFE1E1"/>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Tracepoint 5"/>
          <p:cNvSpPr/>
          <p:nvPr/>
        </p:nvSpPr>
        <p:spPr>
          <a:xfrm>
            <a:off x="3758334" y="590584"/>
            <a:ext cx="304800" cy="304800"/>
          </a:xfrm>
          <a:prstGeom prst="ellipse">
            <a:avLst/>
          </a:prstGeom>
          <a:solidFill>
            <a:schemeClr val="bg2">
              <a:lumMod val="90000"/>
            </a:schemeClr>
          </a:solidFill>
          <a:ln w="19050">
            <a:solidFill>
              <a:schemeClr val="bg2">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Tracepoint 4"/>
          <p:cNvSpPr/>
          <p:nvPr/>
        </p:nvSpPr>
        <p:spPr>
          <a:xfrm>
            <a:off x="4246723" y="589866"/>
            <a:ext cx="304800" cy="304800"/>
          </a:xfrm>
          <a:prstGeom prst="ellipse">
            <a:avLst/>
          </a:prstGeom>
          <a:solidFill>
            <a:schemeClr val="bg2">
              <a:lumMod val="90000"/>
            </a:schemeClr>
          </a:solidFill>
          <a:ln w="19050">
            <a:solidFill>
              <a:schemeClr val="bg2">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Tracepoint 3"/>
          <p:cNvSpPr/>
          <p:nvPr/>
        </p:nvSpPr>
        <p:spPr>
          <a:xfrm>
            <a:off x="3754692" y="942277"/>
            <a:ext cx="304800" cy="304800"/>
          </a:xfrm>
          <a:prstGeom prst="ellipse">
            <a:avLst/>
          </a:prstGeom>
          <a:solidFill>
            <a:schemeClr val="bg2">
              <a:lumMod val="90000"/>
            </a:schemeClr>
          </a:solidFill>
          <a:ln w="19050">
            <a:solidFill>
              <a:schemeClr val="bg2">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Tracepoint 2"/>
          <p:cNvSpPr/>
          <p:nvPr/>
        </p:nvSpPr>
        <p:spPr>
          <a:xfrm>
            <a:off x="4246723" y="942277"/>
            <a:ext cx="304800" cy="304800"/>
          </a:xfrm>
          <a:prstGeom prst="ellipse">
            <a:avLst/>
          </a:prstGeom>
          <a:solidFill>
            <a:schemeClr val="bg2">
              <a:lumMod val="90000"/>
            </a:schemeClr>
          </a:solidFill>
          <a:ln w="19050">
            <a:solidFill>
              <a:schemeClr val="bg2">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Tracepoint 1"/>
          <p:cNvSpPr/>
          <p:nvPr/>
        </p:nvSpPr>
        <p:spPr>
          <a:xfrm>
            <a:off x="3265757" y="590584"/>
            <a:ext cx="304800" cy="304800"/>
          </a:xfrm>
          <a:prstGeom prst="ellipse">
            <a:avLst/>
          </a:prstGeom>
          <a:solidFill>
            <a:srgbClr val="FFE1E1"/>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7" name="Group 236"/>
          <p:cNvGrpSpPr/>
          <p:nvPr/>
        </p:nvGrpSpPr>
        <p:grpSpPr>
          <a:xfrm>
            <a:off x="3255152" y="550041"/>
            <a:ext cx="4273876" cy="943684"/>
            <a:chOff x="2874152" y="550041"/>
            <a:chExt cx="4273876" cy="943684"/>
          </a:xfrm>
        </p:grpSpPr>
        <p:sp>
          <p:nvSpPr>
            <p:cNvPr id="235" name="TextBox 234"/>
            <p:cNvSpPr txBox="1"/>
            <p:nvPr/>
          </p:nvSpPr>
          <p:spPr>
            <a:xfrm>
              <a:off x="2874152" y="550041"/>
              <a:ext cx="324128" cy="369332"/>
            </a:xfrm>
            <a:prstGeom prst="rect">
              <a:avLst/>
            </a:prstGeom>
            <a:noFill/>
          </p:spPr>
          <p:txBody>
            <a:bodyPr wrap="none" rtlCol="0">
              <a:spAutoFit/>
            </a:bodyPr>
            <a:lstStyle/>
            <a:p>
              <a:r>
                <a:rPr lang="en-US" b="1" dirty="0" smtClean="0"/>
                <a:t>A</a:t>
              </a:r>
              <a:endParaRPr lang="en-US" b="1" dirty="0"/>
            </a:p>
          </p:txBody>
        </p:sp>
        <p:sp>
          <p:nvSpPr>
            <p:cNvPr id="236" name="TextBox 235"/>
            <p:cNvSpPr txBox="1"/>
            <p:nvPr/>
          </p:nvSpPr>
          <p:spPr>
            <a:xfrm>
              <a:off x="6823900" y="1124393"/>
              <a:ext cx="324128" cy="369332"/>
            </a:xfrm>
            <a:prstGeom prst="rect">
              <a:avLst/>
            </a:prstGeom>
            <a:noFill/>
          </p:spPr>
          <p:txBody>
            <a:bodyPr wrap="none" rtlCol="0">
              <a:spAutoFit/>
            </a:bodyPr>
            <a:lstStyle/>
            <a:p>
              <a:r>
                <a:rPr lang="en-US" b="1" dirty="0" smtClean="0"/>
                <a:t>B</a:t>
              </a:r>
              <a:endParaRPr lang="en-US" b="1" dirty="0"/>
            </a:p>
          </p:txBody>
        </p:sp>
      </p:grpSp>
      <p:sp>
        <p:nvSpPr>
          <p:cNvPr id="78" name="PT User"/>
          <p:cNvSpPr/>
          <p:nvPr/>
        </p:nvSpPr>
        <p:spPr>
          <a:xfrm>
            <a:off x="4523021" y="2823248"/>
            <a:ext cx="475862" cy="556102"/>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r>
              <a:rPr lang="en-US" sz="2000" b="1" dirty="0" smtClean="0"/>
              <a:t>PT</a:t>
            </a:r>
            <a:endParaRPr lang="en-US" sz="2000" b="1" dirty="0"/>
          </a:p>
        </p:txBody>
      </p:sp>
      <p:grpSp>
        <p:nvGrpSpPr>
          <p:cNvPr id="81" name="Query User -&gt; FE"/>
          <p:cNvGrpSpPr/>
          <p:nvPr/>
        </p:nvGrpSpPr>
        <p:grpSpPr>
          <a:xfrm>
            <a:off x="3987250" y="2349484"/>
            <a:ext cx="836855" cy="838017"/>
            <a:chOff x="3606250" y="2005362"/>
            <a:chExt cx="836855" cy="838017"/>
          </a:xfrm>
        </p:grpSpPr>
        <p:sp>
          <p:nvSpPr>
            <p:cNvPr id="82" name="Arrow"/>
            <p:cNvSpPr/>
            <p:nvPr/>
          </p:nvSpPr>
          <p:spPr>
            <a:xfrm>
              <a:off x="3827623" y="2380883"/>
              <a:ext cx="317196" cy="441418"/>
            </a:xfrm>
            <a:custGeom>
              <a:avLst/>
              <a:gdLst>
                <a:gd name="connsiteX0" fmla="*/ 190500 w 190500"/>
                <a:gd name="connsiteY0" fmla="*/ 698500 h 698500"/>
                <a:gd name="connsiteX1" fmla="*/ 38100 w 190500"/>
                <a:gd name="connsiteY1" fmla="*/ 393700 h 698500"/>
                <a:gd name="connsiteX2" fmla="*/ 0 w 190500"/>
                <a:gd name="connsiteY2" fmla="*/ 0 h 698500"/>
              </a:gdLst>
              <a:ahLst/>
              <a:cxnLst>
                <a:cxn ang="0">
                  <a:pos x="connsiteX0" y="connsiteY0"/>
                </a:cxn>
                <a:cxn ang="0">
                  <a:pos x="connsiteX1" y="connsiteY1"/>
                </a:cxn>
                <a:cxn ang="0">
                  <a:pos x="connsiteX2" y="connsiteY2"/>
                </a:cxn>
              </a:cxnLst>
              <a:rect l="l" t="t" r="r" b="b"/>
              <a:pathLst>
                <a:path w="190500" h="698500">
                  <a:moveTo>
                    <a:pt x="190500" y="698500"/>
                  </a:moveTo>
                  <a:cubicBezTo>
                    <a:pt x="130175" y="604308"/>
                    <a:pt x="69850" y="510117"/>
                    <a:pt x="38100" y="393700"/>
                  </a:cubicBezTo>
                  <a:cubicBezTo>
                    <a:pt x="6350" y="277283"/>
                    <a:pt x="3175" y="138641"/>
                    <a:pt x="0" y="0"/>
                  </a:cubicBezTo>
                </a:path>
              </a:pathLst>
            </a:custGeom>
            <a:noFill/>
            <a:ln w="19050">
              <a:solidFill>
                <a:schemeClr val="tx1"/>
              </a:solidFill>
              <a:prstDash val="sysDot"/>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Label"/>
            <p:cNvSpPr/>
            <p:nvPr/>
          </p:nvSpPr>
          <p:spPr>
            <a:xfrm rot="2804405">
              <a:off x="3605669" y="2005943"/>
              <a:ext cx="838017" cy="836855"/>
            </a:xfrm>
            <a:custGeom>
              <a:avLst/>
              <a:gdLst>
                <a:gd name="connsiteX0" fmla="*/ 0 w 4136325"/>
                <a:gd name="connsiteY0" fmla="*/ 0 h 923330"/>
                <a:gd name="connsiteX1" fmla="*/ 4136325 w 4136325"/>
                <a:gd name="connsiteY1" fmla="*/ 0 h 923330"/>
                <a:gd name="connsiteX2" fmla="*/ 4136325 w 4136325"/>
                <a:gd name="connsiteY2" fmla="*/ 923330 h 923330"/>
                <a:gd name="connsiteX3" fmla="*/ 0 w 4136325"/>
                <a:gd name="connsiteY3" fmla="*/ 923330 h 923330"/>
                <a:gd name="connsiteX4" fmla="*/ 0 w 4136325"/>
                <a:gd name="connsiteY4" fmla="*/ 0 h 923330"/>
                <a:gd name="connsiteX0" fmla="*/ 0 w 4136325"/>
                <a:gd name="connsiteY0" fmla="*/ 347976 h 1271306"/>
                <a:gd name="connsiteX1" fmla="*/ 3852075 w 4136325"/>
                <a:gd name="connsiteY1" fmla="*/ 0 h 1271306"/>
                <a:gd name="connsiteX2" fmla="*/ 4136325 w 4136325"/>
                <a:gd name="connsiteY2" fmla="*/ 1271306 h 1271306"/>
                <a:gd name="connsiteX3" fmla="*/ 0 w 4136325"/>
                <a:gd name="connsiteY3" fmla="*/ 1271306 h 1271306"/>
                <a:gd name="connsiteX4" fmla="*/ 0 w 4136325"/>
                <a:gd name="connsiteY4" fmla="*/ 347976 h 1271306"/>
                <a:gd name="connsiteX0" fmla="*/ 0 w 4136325"/>
                <a:gd name="connsiteY0" fmla="*/ 520695 h 1444025"/>
                <a:gd name="connsiteX1" fmla="*/ 3531683 w 4136325"/>
                <a:gd name="connsiteY1" fmla="*/ 0 h 1444025"/>
                <a:gd name="connsiteX2" fmla="*/ 4136325 w 4136325"/>
                <a:gd name="connsiteY2" fmla="*/ 1444025 h 1444025"/>
                <a:gd name="connsiteX3" fmla="*/ 0 w 4136325"/>
                <a:gd name="connsiteY3" fmla="*/ 1444025 h 1444025"/>
                <a:gd name="connsiteX4" fmla="*/ 0 w 4136325"/>
                <a:gd name="connsiteY4" fmla="*/ 520695 h 1444025"/>
                <a:gd name="connsiteX0" fmla="*/ 0 w 4136325"/>
                <a:gd name="connsiteY0" fmla="*/ 0 h 923330"/>
                <a:gd name="connsiteX1" fmla="*/ 2786017 w 4136325"/>
                <a:gd name="connsiteY1" fmla="*/ 49315 h 923330"/>
                <a:gd name="connsiteX2" fmla="*/ 4136325 w 4136325"/>
                <a:gd name="connsiteY2" fmla="*/ 923330 h 923330"/>
                <a:gd name="connsiteX3" fmla="*/ 0 w 4136325"/>
                <a:gd name="connsiteY3" fmla="*/ 923330 h 923330"/>
                <a:gd name="connsiteX4" fmla="*/ 0 w 4136325"/>
                <a:gd name="connsiteY4" fmla="*/ 0 h 923330"/>
                <a:gd name="connsiteX0" fmla="*/ 0 w 4136325"/>
                <a:gd name="connsiteY0" fmla="*/ 636172 h 1559502"/>
                <a:gd name="connsiteX1" fmla="*/ 3237910 w 4136325"/>
                <a:gd name="connsiteY1" fmla="*/ 0 h 1559502"/>
                <a:gd name="connsiteX2" fmla="*/ 4136325 w 4136325"/>
                <a:gd name="connsiteY2" fmla="*/ 1559502 h 1559502"/>
                <a:gd name="connsiteX3" fmla="*/ 0 w 4136325"/>
                <a:gd name="connsiteY3" fmla="*/ 1559502 h 1559502"/>
                <a:gd name="connsiteX4" fmla="*/ 0 w 4136325"/>
                <a:gd name="connsiteY4" fmla="*/ 636172 h 1559502"/>
                <a:gd name="connsiteX0" fmla="*/ 0 w 4136325"/>
                <a:gd name="connsiteY0" fmla="*/ 1332843 h 2256173"/>
                <a:gd name="connsiteX1" fmla="*/ 3237910 w 4136325"/>
                <a:gd name="connsiteY1" fmla="*/ 696671 h 2256173"/>
                <a:gd name="connsiteX2" fmla="*/ 4136325 w 4136325"/>
                <a:gd name="connsiteY2" fmla="*/ 2256173 h 2256173"/>
                <a:gd name="connsiteX3" fmla="*/ 0 w 4136325"/>
                <a:gd name="connsiteY3" fmla="*/ 2256173 h 2256173"/>
                <a:gd name="connsiteX4" fmla="*/ 0 w 4136325"/>
                <a:gd name="connsiteY4" fmla="*/ 1332843 h 2256173"/>
                <a:gd name="connsiteX0" fmla="*/ 0 w 4136325"/>
                <a:gd name="connsiteY0" fmla="*/ 1862158 h 2785488"/>
                <a:gd name="connsiteX1" fmla="*/ 3237910 w 4136325"/>
                <a:gd name="connsiteY1" fmla="*/ 1225986 h 2785488"/>
                <a:gd name="connsiteX2" fmla="*/ 4136325 w 4136325"/>
                <a:gd name="connsiteY2" fmla="*/ 2785488 h 2785488"/>
                <a:gd name="connsiteX3" fmla="*/ 0 w 4136325"/>
                <a:gd name="connsiteY3" fmla="*/ 2785488 h 2785488"/>
                <a:gd name="connsiteX4" fmla="*/ 0 w 4136325"/>
                <a:gd name="connsiteY4" fmla="*/ 1862158 h 2785488"/>
                <a:gd name="connsiteX0" fmla="*/ 0 w 4136325"/>
                <a:gd name="connsiteY0" fmla="*/ 5753169 h 6676499"/>
                <a:gd name="connsiteX1" fmla="*/ 2307839 w 4136325"/>
                <a:gd name="connsiteY1" fmla="*/ 389248 h 6676499"/>
                <a:gd name="connsiteX2" fmla="*/ 4136325 w 4136325"/>
                <a:gd name="connsiteY2" fmla="*/ 6676499 h 6676499"/>
                <a:gd name="connsiteX3" fmla="*/ 0 w 4136325"/>
                <a:gd name="connsiteY3" fmla="*/ 6676499 h 6676499"/>
                <a:gd name="connsiteX4" fmla="*/ 0 w 4136325"/>
                <a:gd name="connsiteY4" fmla="*/ 5753169 h 6676499"/>
                <a:gd name="connsiteX0" fmla="*/ 0 w 4136325"/>
                <a:gd name="connsiteY0" fmla="*/ 6332577 h 7255907"/>
                <a:gd name="connsiteX1" fmla="*/ 2307839 w 4136325"/>
                <a:gd name="connsiteY1" fmla="*/ 968656 h 7255907"/>
                <a:gd name="connsiteX2" fmla="*/ 4136325 w 4136325"/>
                <a:gd name="connsiteY2" fmla="*/ 7255907 h 7255907"/>
                <a:gd name="connsiteX3" fmla="*/ 0 w 4136325"/>
                <a:gd name="connsiteY3" fmla="*/ 7255907 h 7255907"/>
                <a:gd name="connsiteX4" fmla="*/ 0 w 4136325"/>
                <a:gd name="connsiteY4" fmla="*/ 6332577 h 7255907"/>
                <a:gd name="connsiteX0" fmla="*/ 0 w 4136325"/>
                <a:gd name="connsiteY0" fmla="*/ 8493468 h 9416798"/>
                <a:gd name="connsiteX1" fmla="*/ 2112251 w 4136325"/>
                <a:gd name="connsiteY1" fmla="*/ 795245 h 9416798"/>
                <a:gd name="connsiteX2" fmla="*/ 4136325 w 4136325"/>
                <a:gd name="connsiteY2" fmla="*/ 9416798 h 9416798"/>
                <a:gd name="connsiteX3" fmla="*/ 0 w 4136325"/>
                <a:gd name="connsiteY3" fmla="*/ 9416798 h 9416798"/>
                <a:gd name="connsiteX4" fmla="*/ 0 w 4136325"/>
                <a:gd name="connsiteY4" fmla="*/ 8493468 h 9416798"/>
                <a:gd name="connsiteX0" fmla="*/ 0 w 4441973"/>
                <a:gd name="connsiteY0" fmla="*/ 14348549 h 15271879"/>
                <a:gd name="connsiteX1" fmla="*/ 2112251 w 4441973"/>
                <a:gd name="connsiteY1" fmla="*/ 6650326 h 15271879"/>
                <a:gd name="connsiteX2" fmla="*/ 4086159 w 4441973"/>
                <a:gd name="connsiteY2" fmla="*/ 204397 h 15271879"/>
                <a:gd name="connsiteX3" fmla="*/ 4136325 w 4441973"/>
                <a:gd name="connsiteY3" fmla="*/ 15271879 h 15271879"/>
                <a:gd name="connsiteX4" fmla="*/ 0 w 4441973"/>
                <a:gd name="connsiteY4" fmla="*/ 15271879 h 15271879"/>
                <a:gd name="connsiteX5" fmla="*/ 0 w 4441973"/>
                <a:gd name="connsiteY5" fmla="*/ 14348549 h 15271879"/>
                <a:gd name="connsiteX0" fmla="*/ 0 w 4184088"/>
                <a:gd name="connsiteY0" fmla="*/ 7982667 h 8905997"/>
                <a:gd name="connsiteX1" fmla="*/ 2112251 w 4184088"/>
                <a:gd name="connsiteY1" fmla="*/ 284444 h 8905997"/>
                <a:gd name="connsiteX2" fmla="*/ 4136325 w 4184088"/>
                <a:gd name="connsiteY2" fmla="*/ 8905997 h 8905997"/>
                <a:gd name="connsiteX3" fmla="*/ 0 w 4184088"/>
                <a:gd name="connsiteY3" fmla="*/ 8905997 h 8905997"/>
                <a:gd name="connsiteX4" fmla="*/ 0 w 4184088"/>
                <a:gd name="connsiteY4" fmla="*/ 7982667 h 8905997"/>
                <a:gd name="connsiteX0" fmla="*/ 0 w 4184088"/>
                <a:gd name="connsiteY0" fmla="*/ 8621549 h 8621549"/>
                <a:gd name="connsiteX1" fmla="*/ 2112251 w 4184088"/>
                <a:gd name="connsiteY1" fmla="*/ -4 h 8621549"/>
                <a:gd name="connsiteX2" fmla="*/ 4136325 w 4184088"/>
                <a:gd name="connsiteY2" fmla="*/ 8621549 h 8621549"/>
                <a:gd name="connsiteX3" fmla="*/ 0 w 4184088"/>
                <a:gd name="connsiteY3" fmla="*/ 8621549 h 8621549"/>
                <a:gd name="connsiteX0" fmla="*/ 0 w 4182940"/>
                <a:gd name="connsiteY0" fmla="*/ 8621549 h 8621549"/>
                <a:gd name="connsiteX1" fmla="*/ 2112251 w 4182940"/>
                <a:gd name="connsiteY1" fmla="*/ -4 h 8621549"/>
                <a:gd name="connsiteX2" fmla="*/ 4136325 w 4182940"/>
                <a:gd name="connsiteY2" fmla="*/ 8621549 h 8621549"/>
                <a:gd name="connsiteX3" fmla="*/ 0 w 4182940"/>
                <a:gd name="connsiteY3" fmla="*/ 8621549 h 8621549"/>
              </a:gdLst>
              <a:ahLst/>
              <a:cxnLst>
                <a:cxn ang="0">
                  <a:pos x="connsiteX0" y="connsiteY0"/>
                </a:cxn>
                <a:cxn ang="0">
                  <a:pos x="connsiteX1" y="connsiteY1"/>
                </a:cxn>
                <a:cxn ang="0">
                  <a:pos x="connsiteX2" y="connsiteY2"/>
                </a:cxn>
                <a:cxn ang="0">
                  <a:pos x="connsiteX3" y="connsiteY3"/>
                </a:cxn>
              </a:cxnLst>
              <a:rect l="l" t="t" r="r" b="b"/>
              <a:pathLst>
                <a:path w="4182940" h="8621549">
                  <a:moveTo>
                    <a:pt x="0" y="8621549"/>
                  </a:moveTo>
                  <a:lnTo>
                    <a:pt x="2112251" y="-4"/>
                  </a:lnTo>
                  <a:cubicBezTo>
                    <a:pt x="2751597" y="2701520"/>
                    <a:pt x="4488367" y="7184624"/>
                    <a:pt x="4136325" y="8621549"/>
                  </a:cubicBezTo>
                  <a:lnTo>
                    <a:pt x="0" y="8621549"/>
                  </a:lnTo>
                  <a:close/>
                </a:path>
              </a:pathLst>
            </a:custGeom>
            <a:noFill/>
          </p:spPr>
          <p:txBody>
            <a:bodyPr wrap="none" lIns="91440" tIns="45720" rIns="91440" bIns="45720">
              <a:prstTxWarp prst="textArchDown">
                <a:avLst>
                  <a:gd name="adj" fmla="val 3008235"/>
                </a:avLst>
              </a:prstTxWarp>
              <a:spAutoFit/>
            </a:bodyPr>
            <a:lstStyle/>
            <a:p>
              <a:pPr algn="ctr"/>
              <a:r>
                <a:rPr lang="en-US" sz="4800" b="0" cap="none" spc="0" dirty="0" smtClean="0">
                  <a:ln w="0"/>
                  <a:solidFill>
                    <a:schemeClr val="tx1"/>
                  </a:solidFill>
                </a:rPr>
                <a:t>Query</a:t>
              </a:r>
              <a:endParaRPr lang="en-US" sz="4800" b="0" cap="none" spc="0" dirty="0">
                <a:ln w="0"/>
                <a:solidFill>
                  <a:schemeClr val="tx1"/>
                </a:solidFill>
              </a:endParaRPr>
            </a:p>
          </p:txBody>
        </p:sp>
      </p:grpSp>
      <p:sp>
        <p:nvSpPr>
          <p:cNvPr id="84" name="PivotTracingFrontEnd"/>
          <p:cNvSpPr txBox="1"/>
          <p:nvPr/>
        </p:nvSpPr>
        <p:spPr>
          <a:xfrm>
            <a:off x="4137897" y="2303616"/>
            <a:ext cx="1246110" cy="433965"/>
          </a:xfrm>
          <a:prstGeom prst="rect">
            <a:avLst/>
          </a:prstGeom>
          <a:solidFill>
            <a:schemeClr val="bg1"/>
          </a:solidFill>
          <a:ln w="28575">
            <a:solidFill>
              <a:schemeClr val="tx1"/>
            </a:solidFill>
          </a:ln>
        </p:spPr>
        <p:txBody>
          <a:bodyPr wrap="none" lIns="27432" tIns="45720" rIns="27432" bIns="0" rtlCol="0">
            <a:spAutoFit/>
          </a:bodyPr>
          <a:lstStyle/>
          <a:p>
            <a:pPr algn="ctr">
              <a:lnSpc>
                <a:spcPct val="70000"/>
              </a:lnSpc>
            </a:pPr>
            <a:r>
              <a:rPr lang="en-US" dirty="0" smtClean="0"/>
              <a:t>Pivot Tracing</a:t>
            </a:r>
          </a:p>
          <a:p>
            <a:pPr algn="ctr">
              <a:lnSpc>
                <a:spcPct val="70000"/>
              </a:lnSpc>
            </a:pPr>
            <a:r>
              <a:rPr lang="en-US" dirty="0" smtClean="0"/>
              <a:t>Front End</a:t>
            </a:r>
            <a:endParaRPr lang="en-US" dirty="0"/>
          </a:p>
        </p:txBody>
      </p:sp>
      <p:sp>
        <p:nvSpPr>
          <p:cNvPr id="85" name="Rectangle 84"/>
          <p:cNvSpPr/>
          <p:nvPr/>
        </p:nvSpPr>
        <p:spPr>
          <a:xfrm>
            <a:off x="48670" y="3261906"/>
            <a:ext cx="4853648" cy="3539430"/>
          </a:xfrm>
          <a:prstGeom prst="rect">
            <a:avLst/>
          </a:prstGeom>
        </p:spPr>
        <p:txBody>
          <a:bodyPr wrap="square">
            <a:spAutoFit/>
          </a:bodyPr>
          <a:lstStyle/>
          <a:p>
            <a:r>
              <a:rPr lang="en-US" sz="2400" dirty="0" smtClean="0"/>
              <a:t>Query is compiled to advice</a:t>
            </a:r>
          </a:p>
          <a:p>
            <a:r>
              <a:rPr lang="en-US" dirty="0" smtClean="0"/>
              <a:t>(</a:t>
            </a:r>
            <a:r>
              <a:rPr lang="en-US" dirty="0"/>
              <a:t>i</a:t>
            </a:r>
            <a:r>
              <a:rPr lang="en-US" dirty="0" smtClean="0"/>
              <a:t>ntermediate </a:t>
            </a:r>
            <a:r>
              <a:rPr lang="en-US" dirty="0"/>
              <a:t>representation for </a:t>
            </a:r>
            <a:r>
              <a:rPr lang="en-US" dirty="0" smtClean="0"/>
              <a:t>instrumentation)</a:t>
            </a:r>
            <a:endParaRPr lang="en-US" sz="2000" dirty="0"/>
          </a:p>
          <a:p>
            <a:endParaRPr lang="en-US" sz="2000" dirty="0" smtClean="0"/>
          </a:p>
          <a:p>
            <a:r>
              <a:rPr lang="en-US" sz="2400" dirty="0" smtClean="0"/>
              <a:t>Advice will be installed at </a:t>
            </a:r>
            <a:r>
              <a:rPr lang="en-US" sz="2400" dirty="0" err="1" smtClean="0"/>
              <a:t>tracepoints</a:t>
            </a:r>
            <a:endParaRPr lang="en-US" sz="2800" dirty="0"/>
          </a:p>
          <a:p>
            <a:endParaRPr lang="en-US" sz="2400" dirty="0"/>
          </a:p>
          <a:p>
            <a:r>
              <a:rPr lang="en-US" sz="2400" dirty="0"/>
              <a:t>Limited instruction </a:t>
            </a:r>
            <a:r>
              <a:rPr lang="en-US" sz="2400" dirty="0" smtClean="0"/>
              <a:t>set</a:t>
            </a:r>
          </a:p>
          <a:p>
            <a:pPr lvl="1"/>
            <a:r>
              <a:rPr lang="en-US" dirty="0" smtClean="0">
                <a:latin typeface="Inconsolata"/>
                <a:cs typeface="Inconsolata"/>
              </a:rPr>
              <a:t>OBSERVE</a:t>
            </a:r>
          </a:p>
          <a:p>
            <a:pPr lvl="1"/>
            <a:r>
              <a:rPr lang="en-US" dirty="0" smtClean="0">
                <a:latin typeface="Inconsolata"/>
                <a:cs typeface="Inconsolata"/>
              </a:rPr>
              <a:t>PACK</a:t>
            </a:r>
          </a:p>
          <a:p>
            <a:pPr lvl="1"/>
            <a:r>
              <a:rPr lang="en-US" dirty="0" smtClean="0">
                <a:latin typeface="Inconsolata"/>
                <a:cs typeface="Inconsolata"/>
              </a:rPr>
              <a:t>FILTER</a:t>
            </a:r>
          </a:p>
          <a:p>
            <a:pPr lvl="1"/>
            <a:r>
              <a:rPr lang="en-US" dirty="0" smtClean="0">
                <a:latin typeface="Inconsolata"/>
                <a:cs typeface="Inconsolata"/>
              </a:rPr>
              <a:t>UNPACK</a:t>
            </a:r>
          </a:p>
          <a:p>
            <a:pPr lvl="1"/>
            <a:r>
              <a:rPr lang="en-US" dirty="0" smtClean="0">
                <a:latin typeface="Inconsolata"/>
                <a:cs typeface="Inconsolata"/>
              </a:rPr>
              <a:t>EMIT</a:t>
            </a:r>
            <a:endParaRPr lang="en-US" sz="2000" dirty="0">
              <a:latin typeface="Inconsolata"/>
              <a:cs typeface="Inconsolata"/>
            </a:endParaRPr>
          </a:p>
        </p:txBody>
      </p:sp>
      <p:grpSp>
        <p:nvGrpSpPr>
          <p:cNvPr id="8" name="Group 7"/>
          <p:cNvGrpSpPr/>
          <p:nvPr/>
        </p:nvGrpSpPr>
        <p:grpSpPr>
          <a:xfrm>
            <a:off x="208918" y="2480073"/>
            <a:ext cx="2264373" cy="707886"/>
            <a:chOff x="5269405" y="2796678"/>
            <a:chExt cx="2264373" cy="707886"/>
          </a:xfrm>
        </p:grpSpPr>
        <p:grpSp>
          <p:nvGrpSpPr>
            <p:cNvPr id="7" name="Group 6"/>
            <p:cNvGrpSpPr/>
            <p:nvPr/>
          </p:nvGrpSpPr>
          <p:grpSpPr>
            <a:xfrm>
              <a:off x="5269405" y="2959070"/>
              <a:ext cx="562647" cy="390401"/>
              <a:chOff x="5269405" y="2959070"/>
              <a:chExt cx="562647" cy="390401"/>
            </a:xfrm>
          </p:grpSpPr>
          <p:sp>
            <p:nvSpPr>
              <p:cNvPr id="89" name="Tracepoint 3"/>
              <p:cNvSpPr/>
              <p:nvPr/>
            </p:nvSpPr>
            <p:spPr>
              <a:xfrm>
                <a:off x="5269405" y="2959070"/>
                <a:ext cx="390402" cy="390401"/>
              </a:xfrm>
              <a:prstGeom prst="ellipse">
                <a:avLst/>
              </a:prstGeom>
              <a:solidFill>
                <a:srgbClr val="E1E1FF"/>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Tracepoint 3"/>
              <p:cNvSpPr/>
              <p:nvPr/>
            </p:nvSpPr>
            <p:spPr>
              <a:xfrm>
                <a:off x="5441650" y="2959070"/>
                <a:ext cx="390402" cy="390401"/>
              </a:xfrm>
              <a:prstGeom prst="ellipse">
                <a:avLst/>
              </a:prstGeom>
              <a:solidFill>
                <a:srgbClr val="E1E1FF"/>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8" name="TextBox 87"/>
            <p:cNvSpPr txBox="1"/>
            <p:nvPr/>
          </p:nvSpPr>
          <p:spPr>
            <a:xfrm>
              <a:off x="5962514" y="2796678"/>
              <a:ext cx="1571264" cy="707886"/>
            </a:xfrm>
            <a:prstGeom prst="rect">
              <a:avLst/>
            </a:prstGeom>
            <a:noFill/>
          </p:spPr>
          <p:txBody>
            <a:bodyPr wrap="none" rtlCol="0">
              <a:spAutoFit/>
            </a:bodyPr>
            <a:lstStyle/>
            <a:p>
              <a:r>
                <a:rPr lang="en-US" sz="4000" dirty="0" smtClean="0"/>
                <a:t>Advice</a:t>
              </a:r>
            </a:p>
          </p:txBody>
        </p:sp>
      </p:grpSp>
      <p:sp>
        <p:nvSpPr>
          <p:cNvPr id="93" name="Rounded Rectangle 92"/>
          <p:cNvSpPr/>
          <p:nvPr/>
        </p:nvSpPr>
        <p:spPr>
          <a:xfrm>
            <a:off x="5793623" y="4596704"/>
            <a:ext cx="2667000" cy="819058"/>
          </a:xfrm>
          <a:prstGeom prst="roundRect">
            <a:avLst>
              <a:gd name="adj" fmla="val 18490"/>
            </a:avLst>
          </a:prstGeom>
          <a:solidFill>
            <a:srgbClr val="E1E1FF"/>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r>
              <a:rPr lang="en-US" sz="1600" b="1" dirty="0" smtClean="0">
                <a:solidFill>
                  <a:schemeClr val="tx1"/>
                </a:solidFill>
                <a:cs typeface="Consolas" panose="020B0609020204030204" pitchFamily="49" charset="0"/>
              </a:rPr>
              <a:t>Advice A1</a:t>
            </a:r>
          </a:p>
          <a:p>
            <a:r>
              <a:rPr lang="en-US" sz="1600" b="1" dirty="0" smtClean="0">
                <a:solidFill>
                  <a:schemeClr val="tx1"/>
                </a:solidFill>
                <a:latin typeface="+mj-lt"/>
                <a:cs typeface="Consolas" panose="020B0609020204030204" pitchFamily="49" charset="0"/>
              </a:rPr>
              <a:t>OBSERVE</a:t>
            </a:r>
            <a:r>
              <a:rPr lang="en-US" sz="1600" dirty="0">
                <a:solidFill>
                  <a:schemeClr val="tx1"/>
                </a:solidFill>
                <a:latin typeface="Consolas" panose="020B0609020204030204" pitchFamily="49" charset="0"/>
                <a:cs typeface="Consolas" panose="020B0609020204030204" pitchFamily="49" charset="0"/>
              </a:rPr>
              <a:t>	</a:t>
            </a:r>
            <a:r>
              <a:rPr lang="en-US" sz="1600" dirty="0" err="1" smtClean="0">
                <a:solidFill>
                  <a:schemeClr val="tx1"/>
                </a:solidFill>
                <a:latin typeface="Consolas" panose="020B0609020204030204" pitchFamily="49" charset="0"/>
                <a:cs typeface="Consolas" panose="020B0609020204030204" pitchFamily="49" charset="0"/>
              </a:rPr>
              <a:t>procName</a:t>
            </a:r>
            <a:endParaRPr lang="en-US" sz="1600" dirty="0" smtClean="0">
              <a:solidFill>
                <a:schemeClr val="tx1"/>
              </a:solidFill>
              <a:latin typeface="Consolas" panose="020B0609020204030204" pitchFamily="49" charset="0"/>
              <a:cs typeface="Consolas" panose="020B0609020204030204" pitchFamily="49" charset="0"/>
            </a:endParaRPr>
          </a:p>
          <a:p>
            <a:r>
              <a:rPr lang="en-US" sz="1600" b="1" dirty="0" smtClean="0">
                <a:solidFill>
                  <a:schemeClr val="tx1"/>
                </a:solidFill>
                <a:latin typeface="+mj-lt"/>
                <a:cs typeface="Consolas" panose="020B0609020204030204" pitchFamily="49" charset="0"/>
              </a:rPr>
              <a:t>PACK</a:t>
            </a:r>
            <a:r>
              <a:rPr lang="en-US" sz="1600" dirty="0" smtClean="0">
                <a:solidFill>
                  <a:schemeClr val="tx1"/>
                </a:solidFill>
                <a:latin typeface="Consolas" panose="020B0609020204030204" pitchFamily="49" charset="0"/>
                <a:cs typeface="Consolas" panose="020B0609020204030204" pitchFamily="49" charset="0"/>
              </a:rPr>
              <a:t>	</a:t>
            </a:r>
            <a:r>
              <a:rPr lang="en-US" sz="1600" dirty="0" err="1" smtClean="0">
                <a:solidFill>
                  <a:schemeClr val="tx1"/>
                </a:solidFill>
                <a:latin typeface="Consolas" panose="020B0609020204030204" pitchFamily="49" charset="0"/>
                <a:cs typeface="Consolas" panose="020B0609020204030204" pitchFamily="49" charset="0"/>
              </a:rPr>
              <a:t>procName</a:t>
            </a:r>
            <a:endParaRPr lang="en-US" sz="1600" b="1" dirty="0" smtClean="0">
              <a:solidFill>
                <a:schemeClr val="tx1"/>
              </a:solidFill>
              <a:latin typeface="+mj-lt"/>
              <a:cs typeface="Consolas" panose="020B0609020204030204" pitchFamily="49" charset="0"/>
            </a:endParaRPr>
          </a:p>
        </p:txBody>
      </p:sp>
      <p:sp>
        <p:nvSpPr>
          <p:cNvPr id="94" name="Rounded Rectangle 93"/>
          <p:cNvSpPr/>
          <p:nvPr/>
        </p:nvSpPr>
        <p:spPr>
          <a:xfrm>
            <a:off x="5793623" y="5548419"/>
            <a:ext cx="3201971" cy="1132017"/>
          </a:xfrm>
          <a:prstGeom prst="roundRect">
            <a:avLst>
              <a:gd name="adj" fmla="val 18490"/>
            </a:avLst>
          </a:prstGeom>
          <a:solidFill>
            <a:srgbClr val="E1E1FF"/>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r>
              <a:rPr lang="en-US" sz="1600" b="1" dirty="0" smtClean="0">
                <a:solidFill>
                  <a:schemeClr val="tx1"/>
                </a:solidFill>
                <a:cs typeface="Consolas" panose="020B0609020204030204" pitchFamily="49" charset="0"/>
              </a:rPr>
              <a:t>Advice B1</a:t>
            </a:r>
          </a:p>
          <a:p>
            <a:r>
              <a:rPr lang="en-US" sz="1600" b="1" dirty="0" smtClean="0">
                <a:solidFill>
                  <a:schemeClr val="tx1"/>
                </a:solidFill>
                <a:latin typeface="+mj-lt"/>
                <a:cs typeface="Consolas" panose="020B0609020204030204" pitchFamily="49" charset="0"/>
              </a:rPr>
              <a:t>OBSERVE</a:t>
            </a:r>
            <a:r>
              <a:rPr lang="en-US" sz="1600" dirty="0">
                <a:solidFill>
                  <a:schemeClr val="tx1"/>
                </a:solidFill>
                <a:latin typeface="Consolas" panose="020B0609020204030204" pitchFamily="49" charset="0"/>
                <a:cs typeface="Consolas" panose="020B0609020204030204" pitchFamily="49" charset="0"/>
              </a:rPr>
              <a:t>	</a:t>
            </a:r>
            <a:r>
              <a:rPr lang="en-US" sz="1600" dirty="0" smtClean="0">
                <a:solidFill>
                  <a:schemeClr val="tx1"/>
                </a:solidFill>
                <a:latin typeface="Consolas" panose="020B0609020204030204" pitchFamily="49" charset="0"/>
                <a:cs typeface="Consolas" panose="020B0609020204030204" pitchFamily="49" charset="0"/>
              </a:rPr>
              <a:t>delta</a:t>
            </a:r>
          </a:p>
          <a:p>
            <a:r>
              <a:rPr lang="en-US" sz="1600" b="1" dirty="0" smtClean="0">
                <a:solidFill>
                  <a:schemeClr val="tx1"/>
                </a:solidFill>
                <a:latin typeface="+mj-lt"/>
                <a:cs typeface="Consolas" panose="020B0609020204030204" pitchFamily="49" charset="0"/>
              </a:rPr>
              <a:t>UNPACK</a:t>
            </a:r>
            <a:r>
              <a:rPr lang="en-US" sz="1600" dirty="0" smtClean="0">
                <a:solidFill>
                  <a:schemeClr val="tx1"/>
                </a:solidFill>
                <a:latin typeface="Consolas" panose="020B0609020204030204" pitchFamily="49" charset="0"/>
                <a:cs typeface="Consolas" panose="020B0609020204030204" pitchFamily="49" charset="0"/>
              </a:rPr>
              <a:t>	</a:t>
            </a:r>
            <a:r>
              <a:rPr lang="en-US" sz="1600" dirty="0" err="1" smtClean="0">
                <a:solidFill>
                  <a:schemeClr val="tx1"/>
                </a:solidFill>
                <a:latin typeface="Consolas" panose="020B0609020204030204" pitchFamily="49" charset="0"/>
                <a:cs typeface="Consolas" panose="020B0609020204030204" pitchFamily="49" charset="0"/>
              </a:rPr>
              <a:t>procName</a:t>
            </a:r>
            <a:endParaRPr lang="en-US" sz="1600" dirty="0" smtClean="0">
              <a:solidFill>
                <a:schemeClr val="tx1"/>
              </a:solidFill>
              <a:latin typeface="Consolas" panose="020B0609020204030204" pitchFamily="49" charset="0"/>
              <a:cs typeface="Consolas" panose="020B0609020204030204" pitchFamily="49" charset="0"/>
            </a:endParaRPr>
          </a:p>
          <a:p>
            <a:r>
              <a:rPr lang="en-US" sz="1600" b="1" dirty="0" smtClean="0">
                <a:solidFill>
                  <a:schemeClr val="tx1"/>
                </a:solidFill>
                <a:latin typeface="+mj-lt"/>
                <a:cs typeface="Consolas" panose="020B0609020204030204" pitchFamily="49" charset="0"/>
              </a:rPr>
              <a:t>EMIT</a:t>
            </a:r>
            <a:r>
              <a:rPr lang="en-US" sz="1600" dirty="0" smtClean="0">
                <a:solidFill>
                  <a:schemeClr val="tx1"/>
                </a:solidFill>
                <a:latin typeface="Consolas" panose="020B0609020204030204" pitchFamily="49" charset="0"/>
                <a:cs typeface="Consolas" panose="020B0609020204030204" pitchFamily="49" charset="0"/>
              </a:rPr>
              <a:t> 	</a:t>
            </a:r>
            <a:r>
              <a:rPr lang="en-US" sz="1600" dirty="0" err="1" smtClean="0">
                <a:solidFill>
                  <a:schemeClr val="tx1"/>
                </a:solidFill>
                <a:latin typeface="Consolas" panose="020B0609020204030204" pitchFamily="49" charset="0"/>
                <a:cs typeface="Consolas" panose="020B0609020204030204" pitchFamily="49" charset="0"/>
              </a:rPr>
              <a:t>procName</a:t>
            </a:r>
            <a:r>
              <a:rPr lang="en-US" sz="1600" b="1" dirty="0" smtClean="0">
                <a:solidFill>
                  <a:schemeClr val="tx1"/>
                </a:solidFill>
                <a:latin typeface="+mj-lt"/>
                <a:cs typeface="Consolas" panose="020B0609020204030204" pitchFamily="49" charset="0"/>
              </a:rPr>
              <a:t>, SUM(</a:t>
            </a:r>
            <a:r>
              <a:rPr lang="en-US" sz="1600" dirty="0" smtClean="0">
                <a:solidFill>
                  <a:schemeClr val="tx1"/>
                </a:solidFill>
                <a:latin typeface="Consolas" panose="020B0609020204030204" pitchFamily="49" charset="0"/>
                <a:cs typeface="Consolas" panose="020B0609020204030204" pitchFamily="49" charset="0"/>
              </a:rPr>
              <a:t>delta</a:t>
            </a:r>
            <a:r>
              <a:rPr lang="en-US" sz="1600" b="1" dirty="0" smtClean="0">
                <a:solidFill>
                  <a:schemeClr val="tx1"/>
                </a:solidFill>
                <a:latin typeface="+mj-lt"/>
                <a:cs typeface="Consolas" panose="020B0609020204030204" pitchFamily="49" charset="0"/>
              </a:rPr>
              <a:t>)</a:t>
            </a:r>
          </a:p>
        </p:txBody>
      </p:sp>
      <p:sp>
        <p:nvSpPr>
          <p:cNvPr id="134" name="Tracepoint 3"/>
          <p:cNvSpPr/>
          <p:nvPr/>
        </p:nvSpPr>
        <p:spPr>
          <a:xfrm>
            <a:off x="8218938" y="4554875"/>
            <a:ext cx="304800" cy="304800"/>
          </a:xfrm>
          <a:prstGeom prst="ellipse">
            <a:avLst/>
          </a:prstGeom>
          <a:solidFill>
            <a:srgbClr val="FFE1E1"/>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A</a:t>
            </a:r>
            <a:endParaRPr lang="en-US" b="1" dirty="0">
              <a:solidFill>
                <a:schemeClr val="tx1"/>
              </a:solidFill>
            </a:endParaRPr>
          </a:p>
        </p:txBody>
      </p:sp>
      <p:sp>
        <p:nvSpPr>
          <p:cNvPr id="135" name="Tracepoint 3"/>
          <p:cNvSpPr/>
          <p:nvPr/>
        </p:nvSpPr>
        <p:spPr>
          <a:xfrm>
            <a:off x="8753110" y="5500392"/>
            <a:ext cx="304800" cy="304800"/>
          </a:xfrm>
          <a:prstGeom prst="ellipse">
            <a:avLst/>
          </a:prstGeom>
          <a:solidFill>
            <a:srgbClr val="FFE1E1"/>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B</a:t>
            </a:r>
            <a:endParaRPr lang="en-US" b="1" dirty="0">
              <a:solidFill>
                <a:schemeClr val="tx1"/>
              </a:solidFill>
            </a:endParaRPr>
          </a:p>
        </p:txBody>
      </p:sp>
      <p:grpSp>
        <p:nvGrpSpPr>
          <p:cNvPr id="3" name="Group 2"/>
          <p:cNvGrpSpPr/>
          <p:nvPr/>
        </p:nvGrpSpPr>
        <p:grpSpPr>
          <a:xfrm>
            <a:off x="6963920" y="4176218"/>
            <a:ext cx="576657" cy="377681"/>
            <a:chOff x="6961450" y="4257633"/>
            <a:chExt cx="576657" cy="296302"/>
          </a:xfrm>
        </p:grpSpPr>
        <p:sp>
          <p:nvSpPr>
            <p:cNvPr id="109" name="Right Arrow 108"/>
            <p:cNvSpPr/>
            <p:nvPr/>
          </p:nvSpPr>
          <p:spPr>
            <a:xfrm rot="5400000">
              <a:off x="6934940" y="4284143"/>
              <a:ext cx="296302" cy="243282"/>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ight Arrow 121"/>
            <p:cNvSpPr/>
            <p:nvPr/>
          </p:nvSpPr>
          <p:spPr>
            <a:xfrm rot="5400000">
              <a:off x="7268315" y="4284143"/>
              <a:ext cx="296302" cy="243282"/>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Slide Number Placeholder 1"/>
          <p:cNvSpPr>
            <a:spLocks noGrp="1"/>
          </p:cNvSpPr>
          <p:nvPr>
            <p:ph type="sldNum" sz="quarter" idx="12"/>
          </p:nvPr>
        </p:nvSpPr>
        <p:spPr/>
        <p:txBody>
          <a:bodyPr/>
          <a:lstStyle/>
          <a:p>
            <a:fld id="{D431E30F-8439-471B-9257-EDD8E85CDBC8}" type="slidenum">
              <a:rPr lang="en-US" smtClean="0"/>
              <a:t>27</a:t>
            </a:fld>
            <a:endParaRPr lang="en-US"/>
          </a:p>
        </p:txBody>
      </p:sp>
    </p:spTree>
    <p:extLst>
      <p:ext uri="{BB962C8B-B14F-4D97-AF65-F5344CB8AC3E}">
        <p14:creationId xmlns:p14="http://schemas.microsoft.com/office/powerpoint/2010/main" val="177706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4"/>
                                        </p:tgtEl>
                                        <p:attrNameLst>
                                          <p:attrName>style.visibility</p:attrName>
                                        </p:attrNameLst>
                                      </p:cBhvr>
                                      <p:to>
                                        <p:strVal val="visible"/>
                                      </p:to>
                                    </p:set>
                                    <p:animEffect transition="in" filter="fade">
                                      <p:cBhvr>
                                        <p:cTn id="7" dur="500"/>
                                        <p:tgtEl>
                                          <p:spTgt spid="84"/>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81"/>
                                        </p:tgtEl>
                                        <p:attrNameLst>
                                          <p:attrName>style.visibility</p:attrName>
                                        </p:attrNameLst>
                                      </p:cBhvr>
                                      <p:to>
                                        <p:strVal val="visible"/>
                                      </p:to>
                                    </p:set>
                                    <p:animEffect transition="in" filter="wipe(down)">
                                      <p:cBhvr>
                                        <p:cTn id="11" dur="500"/>
                                        <p:tgtEl>
                                          <p:spTgt spid="81"/>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par>
                          <p:cTn id="17" fill="hold">
                            <p:stCondLst>
                              <p:cond delay="500"/>
                            </p:stCondLst>
                            <p:childTnLst>
                              <p:par>
                                <p:cTn id="18" presetID="22" presetClass="entr" presetSubtype="1" fill="hold" nodeType="after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up)">
                                      <p:cBhvr>
                                        <p:cTn id="20" dur="250"/>
                                        <p:tgtEl>
                                          <p:spTgt spid="3"/>
                                        </p:tgtEl>
                                      </p:cBhvr>
                                    </p:animEffect>
                                  </p:childTnLst>
                                </p:cTn>
                              </p:par>
                            </p:childTnLst>
                          </p:cTn>
                        </p:par>
                        <p:par>
                          <p:cTn id="21" fill="hold">
                            <p:stCondLst>
                              <p:cond delay="750"/>
                            </p:stCondLst>
                            <p:childTnLst>
                              <p:par>
                                <p:cTn id="22" presetID="10" presetClass="entr" presetSubtype="0" fill="hold" grpId="0" nodeType="afterEffect">
                                  <p:stCondLst>
                                    <p:cond delay="0"/>
                                  </p:stCondLst>
                                  <p:childTnLst>
                                    <p:set>
                                      <p:cBhvr>
                                        <p:cTn id="23" dur="1" fill="hold">
                                          <p:stCondLst>
                                            <p:cond delay="0"/>
                                          </p:stCondLst>
                                        </p:cTn>
                                        <p:tgtEl>
                                          <p:spTgt spid="93"/>
                                        </p:tgtEl>
                                        <p:attrNameLst>
                                          <p:attrName>style.visibility</p:attrName>
                                        </p:attrNameLst>
                                      </p:cBhvr>
                                      <p:to>
                                        <p:strVal val="visible"/>
                                      </p:to>
                                    </p:set>
                                    <p:animEffect transition="in" filter="fade">
                                      <p:cBhvr>
                                        <p:cTn id="24" dur="500"/>
                                        <p:tgtEl>
                                          <p:spTgt spid="9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4"/>
                                        </p:tgtEl>
                                        <p:attrNameLst>
                                          <p:attrName>style.visibility</p:attrName>
                                        </p:attrNameLst>
                                      </p:cBhvr>
                                      <p:to>
                                        <p:strVal val="visible"/>
                                      </p:to>
                                    </p:set>
                                    <p:animEffect transition="in" filter="fade">
                                      <p:cBhvr>
                                        <p:cTn id="27" dur="500"/>
                                        <p:tgtEl>
                                          <p:spTgt spid="13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94"/>
                                        </p:tgtEl>
                                        <p:attrNameLst>
                                          <p:attrName>style.visibility</p:attrName>
                                        </p:attrNameLst>
                                      </p:cBhvr>
                                      <p:to>
                                        <p:strVal val="visible"/>
                                      </p:to>
                                    </p:set>
                                    <p:animEffect transition="in" filter="fade">
                                      <p:cBhvr>
                                        <p:cTn id="30" dur="500"/>
                                        <p:tgtEl>
                                          <p:spTgt spid="9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5"/>
                                        </p:tgtEl>
                                        <p:attrNameLst>
                                          <p:attrName>style.visibility</p:attrName>
                                        </p:attrNameLst>
                                      </p:cBhvr>
                                      <p:to>
                                        <p:strVal val="visible"/>
                                      </p:to>
                                    </p:set>
                                    <p:animEffect transition="in" filter="fade">
                                      <p:cBhvr>
                                        <p:cTn id="33" dur="500"/>
                                        <p:tgtEl>
                                          <p:spTgt spid="135"/>
                                        </p:tgtEl>
                                      </p:cBhvr>
                                    </p:animEffect>
                                  </p:childTnLst>
                                </p:cTn>
                              </p:par>
                              <p:par>
                                <p:cTn id="34" presetID="10" presetClass="entr" presetSubtype="0" fill="hold" nodeType="withEffect">
                                  <p:stCondLst>
                                    <p:cond delay="250"/>
                                  </p:stCondLst>
                                  <p:childTnLst>
                                    <p:set>
                                      <p:cBhvr>
                                        <p:cTn id="35" dur="1" fill="hold">
                                          <p:stCondLst>
                                            <p:cond delay="0"/>
                                          </p:stCondLst>
                                        </p:cTn>
                                        <p:tgtEl>
                                          <p:spTgt spid="85">
                                            <p:txEl>
                                              <p:pRg st="0" end="0"/>
                                            </p:txEl>
                                          </p:spTgt>
                                        </p:tgtEl>
                                        <p:attrNameLst>
                                          <p:attrName>style.visibility</p:attrName>
                                        </p:attrNameLst>
                                      </p:cBhvr>
                                      <p:to>
                                        <p:strVal val="visible"/>
                                      </p:to>
                                    </p:set>
                                    <p:animEffect transition="in" filter="fade">
                                      <p:cBhvr>
                                        <p:cTn id="36" dur="500"/>
                                        <p:tgtEl>
                                          <p:spTgt spid="85">
                                            <p:txEl>
                                              <p:pRg st="0" end="0"/>
                                            </p:txEl>
                                          </p:spTgt>
                                        </p:tgtEl>
                                      </p:cBhvr>
                                    </p:animEffect>
                                  </p:childTnLst>
                                </p:cTn>
                              </p:par>
                              <p:par>
                                <p:cTn id="37" presetID="10" presetClass="entr" presetSubtype="0" fill="hold" nodeType="withEffect">
                                  <p:stCondLst>
                                    <p:cond delay="250"/>
                                  </p:stCondLst>
                                  <p:childTnLst>
                                    <p:set>
                                      <p:cBhvr>
                                        <p:cTn id="38" dur="1" fill="hold">
                                          <p:stCondLst>
                                            <p:cond delay="0"/>
                                          </p:stCondLst>
                                        </p:cTn>
                                        <p:tgtEl>
                                          <p:spTgt spid="85">
                                            <p:txEl>
                                              <p:pRg st="1" end="1"/>
                                            </p:txEl>
                                          </p:spTgt>
                                        </p:tgtEl>
                                        <p:attrNameLst>
                                          <p:attrName>style.visibility</p:attrName>
                                        </p:attrNameLst>
                                      </p:cBhvr>
                                      <p:to>
                                        <p:strVal val="visible"/>
                                      </p:to>
                                    </p:set>
                                    <p:animEffect transition="in" filter="fade">
                                      <p:cBhvr>
                                        <p:cTn id="39" dur="500"/>
                                        <p:tgtEl>
                                          <p:spTgt spid="85">
                                            <p:txEl>
                                              <p:pRg st="1" end="1"/>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85">
                                            <p:txEl>
                                              <p:pRg st="3" end="3"/>
                                            </p:txEl>
                                          </p:spTgt>
                                        </p:tgtEl>
                                        <p:attrNameLst>
                                          <p:attrName>style.visibility</p:attrName>
                                        </p:attrNameLst>
                                      </p:cBhvr>
                                      <p:to>
                                        <p:strVal val="visible"/>
                                      </p:to>
                                    </p:set>
                                    <p:animEffect transition="in" filter="fade">
                                      <p:cBhvr>
                                        <p:cTn id="44" dur="500"/>
                                        <p:tgtEl>
                                          <p:spTgt spid="85">
                                            <p:txEl>
                                              <p:pRg st="3" end="3"/>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85">
                                            <p:txEl>
                                              <p:pRg st="5" end="5"/>
                                            </p:txEl>
                                          </p:spTgt>
                                        </p:tgtEl>
                                        <p:attrNameLst>
                                          <p:attrName>style.visibility</p:attrName>
                                        </p:attrNameLst>
                                      </p:cBhvr>
                                      <p:to>
                                        <p:strVal val="visible"/>
                                      </p:to>
                                    </p:set>
                                    <p:animEffect transition="in" filter="fade">
                                      <p:cBhvr>
                                        <p:cTn id="49" dur="500"/>
                                        <p:tgtEl>
                                          <p:spTgt spid="85">
                                            <p:txEl>
                                              <p:pRg st="5" end="5"/>
                                            </p:txEl>
                                          </p:spTgt>
                                        </p:tgtEl>
                                      </p:cBhvr>
                                    </p:animEffect>
                                  </p:childTnLst>
                                </p:cTn>
                              </p:par>
                              <p:par>
                                <p:cTn id="50" presetID="10" presetClass="entr" presetSubtype="0" fill="hold" nodeType="withEffect">
                                  <p:stCondLst>
                                    <p:cond delay="0"/>
                                  </p:stCondLst>
                                  <p:childTnLst>
                                    <p:set>
                                      <p:cBhvr>
                                        <p:cTn id="51" dur="1" fill="hold">
                                          <p:stCondLst>
                                            <p:cond delay="0"/>
                                          </p:stCondLst>
                                        </p:cTn>
                                        <p:tgtEl>
                                          <p:spTgt spid="85">
                                            <p:txEl>
                                              <p:pRg st="6" end="6"/>
                                            </p:txEl>
                                          </p:spTgt>
                                        </p:tgtEl>
                                        <p:attrNameLst>
                                          <p:attrName>style.visibility</p:attrName>
                                        </p:attrNameLst>
                                      </p:cBhvr>
                                      <p:to>
                                        <p:strVal val="visible"/>
                                      </p:to>
                                    </p:set>
                                    <p:animEffect transition="in" filter="fade">
                                      <p:cBhvr>
                                        <p:cTn id="52" dur="500"/>
                                        <p:tgtEl>
                                          <p:spTgt spid="85">
                                            <p:txEl>
                                              <p:pRg st="6" end="6"/>
                                            </p:txEl>
                                          </p:spTgt>
                                        </p:tgtEl>
                                      </p:cBhvr>
                                    </p:animEffect>
                                  </p:childTnLst>
                                </p:cTn>
                              </p:par>
                              <p:par>
                                <p:cTn id="53" presetID="10" presetClass="entr" presetSubtype="0" fill="hold" nodeType="withEffect">
                                  <p:stCondLst>
                                    <p:cond delay="0"/>
                                  </p:stCondLst>
                                  <p:childTnLst>
                                    <p:set>
                                      <p:cBhvr>
                                        <p:cTn id="54" dur="1" fill="hold">
                                          <p:stCondLst>
                                            <p:cond delay="0"/>
                                          </p:stCondLst>
                                        </p:cTn>
                                        <p:tgtEl>
                                          <p:spTgt spid="85">
                                            <p:txEl>
                                              <p:pRg st="7" end="7"/>
                                            </p:txEl>
                                          </p:spTgt>
                                        </p:tgtEl>
                                        <p:attrNameLst>
                                          <p:attrName>style.visibility</p:attrName>
                                        </p:attrNameLst>
                                      </p:cBhvr>
                                      <p:to>
                                        <p:strVal val="visible"/>
                                      </p:to>
                                    </p:set>
                                    <p:animEffect transition="in" filter="fade">
                                      <p:cBhvr>
                                        <p:cTn id="55" dur="500"/>
                                        <p:tgtEl>
                                          <p:spTgt spid="85">
                                            <p:txEl>
                                              <p:pRg st="7" end="7"/>
                                            </p:txEl>
                                          </p:spTgt>
                                        </p:tgtEl>
                                      </p:cBhvr>
                                    </p:animEffect>
                                  </p:childTnLst>
                                </p:cTn>
                              </p:par>
                              <p:par>
                                <p:cTn id="56" presetID="10" presetClass="entr" presetSubtype="0" fill="hold" nodeType="withEffect">
                                  <p:stCondLst>
                                    <p:cond delay="0"/>
                                  </p:stCondLst>
                                  <p:childTnLst>
                                    <p:set>
                                      <p:cBhvr>
                                        <p:cTn id="57" dur="1" fill="hold">
                                          <p:stCondLst>
                                            <p:cond delay="0"/>
                                          </p:stCondLst>
                                        </p:cTn>
                                        <p:tgtEl>
                                          <p:spTgt spid="85">
                                            <p:txEl>
                                              <p:pRg st="8" end="8"/>
                                            </p:txEl>
                                          </p:spTgt>
                                        </p:tgtEl>
                                        <p:attrNameLst>
                                          <p:attrName>style.visibility</p:attrName>
                                        </p:attrNameLst>
                                      </p:cBhvr>
                                      <p:to>
                                        <p:strVal val="visible"/>
                                      </p:to>
                                    </p:set>
                                    <p:animEffect transition="in" filter="fade">
                                      <p:cBhvr>
                                        <p:cTn id="58" dur="500"/>
                                        <p:tgtEl>
                                          <p:spTgt spid="85">
                                            <p:txEl>
                                              <p:pRg st="8" end="8"/>
                                            </p:txEl>
                                          </p:spTgt>
                                        </p:tgtEl>
                                      </p:cBhvr>
                                    </p:animEffect>
                                  </p:childTnLst>
                                </p:cTn>
                              </p:par>
                              <p:par>
                                <p:cTn id="59" presetID="10" presetClass="entr" presetSubtype="0" fill="hold" nodeType="withEffect">
                                  <p:stCondLst>
                                    <p:cond delay="0"/>
                                  </p:stCondLst>
                                  <p:childTnLst>
                                    <p:set>
                                      <p:cBhvr>
                                        <p:cTn id="60" dur="1" fill="hold">
                                          <p:stCondLst>
                                            <p:cond delay="0"/>
                                          </p:stCondLst>
                                        </p:cTn>
                                        <p:tgtEl>
                                          <p:spTgt spid="85">
                                            <p:txEl>
                                              <p:pRg st="9" end="9"/>
                                            </p:txEl>
                                          </p:spTgt>
                                        </p:tgtEl>
                                        <p:attrNameLst>
                                          <p:attrName>style.visibility</p:attrName>
                                        </p:attrNameLst>
                                      </p:cBhvr>
                                      <p:to>
                                        <p:strVal val="visible"/>
                                      </p:to>
                                    </p:set>
                                    <p:animEffect transition="in" filter="fade">
                                      <p:cBhvr>
                                        <p:cTn id="61" dur="500"/>
                                        <p:tgtEl>
                                          <p:spTgt spid="85">
                                            <p:txEl>
                                              <p:pRg st="9" end="9"/>
                                            </p:txEl>
                                          </p:spTgt>
                                        </p:tgtEl>
                                      </p:cBhvr>
                                    </p:animEffect>
                                  </p:childTnLst>
                                </p:cTn>
                              </p:par>
                              <p:par>
                                <p:cTn id="62" presetID="10" presetClass="entr" presetSubtype="0" fill="hold" nodeType="withEffect">
                                  <p:stCondLst>
                                    <p:cond delay="0"/>
                                  </p:stCondLst>
                                  <p:childTnLst>
                                    <p:set>
                                      <p:cBhvr>
                                        <p:cTn id="63" dur="1" fill="hold">
                                          <p:stCondLst>
                                            <p:cond delay="0"/>
                                          </p:stCondLst>
                                        </p:cTn>
                                        <p:tgtEl>
                                          <p:spTgt spid="85">
                                            <p:txEl>
                                              <p:pRg st="10" end="10"/>
                                            </p:txEl>
                                          </p:spTgt>
                                        </p:tgtEl>
                                        <p:attrNameLst>
                                          <p:attrName>style.visibility</p:attrName>
                                        </p:attrNameLst>
                                      </p:cBhvr>
                                      <p:to>
                                        <p:strVal val="visible"/>
                                      </p:to>
                                    </p:set>
                                    <p:animEffect transition="in" filter="fade">
                                      <p:cBhvr>
                                        <p:cTn id="64" dur="500"/>
                                        <p:tgtEl>
                                          <p:spTgt spid="85">
                                            <p:txEl>
                                              <p:pRg st="10" end="10"/>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xit" presetSubtype="0" fill="hold" nodeType="clickEffect">
                                  <p:stCondLst>
                                    <p:cond delay="0"/>
                                  </p:stCondLst>
                                  <p:childTnLst>
                                    <p:animEffect transition="out" filter="fade">
                                      <p:cBhvr>
                                        <p:cTn id="68" dur="500"/>
                                        <p:tgtEl>
                                          <p:spTgt spid="8"/>
                                        </p:tgtEl>
                                      </p:cBhvr>
                                    </p:animEffect>
                                    <p:set>
                                      <p:cBhvr>
                                        <p:cTn id="69" dur="1" fill="hold">
                                          <p:stCondLst>
                                            <p:cond delay="499"/>
                                          </p:stCondLst>
                                        </p:cTn>
                                        <p:tgtEl>
                                          <p:spTgt spid="8"/>
                                        </p:tgtEl>
                                        <p:attrNameLst>
                                          <p:attrName>style.visibility</p:attrName>
                                        </p:attrNameLst>
                                      </p:cBhvr>
                                      <p:to>
                                        <p:strVal val="hidden"/>
                                      </p:to>
                                    </p:set>
                                  </p:childTnLst>
                                </p:cTn>
                              </p:par>
                              <p:par>
                                <p:cTn id="70" presetID="10" presetClass="exit" presetSubtype="0" fill="hold" grpId="0" nodeType="withEffect">
                                  <p:stCondLst>
                                    <p:cond delay="0"/>
                                  </p:stCondLst>
                                  <p:childTnLst>
                                    <p:animEffect transition="out" filter="fade">
                                      <p:cBhvr>
                                        <p:cTn id="71" dur="500"/>
                                        <p:tgtEl>
                                          <p:spTgt spid="85">
                                            <p:txEl>
                                              <p:pRg st="0" end="0"/>
                                            </p:txEl>
                                          </p:spTgt>
                                        </p:tgtEl>
                                      </p:cBhvr>
                                    </p:animEffect>
                                    <p:set>
                                      <p:cBhvr>
                                        <p:cTn id="72" dur="1" fill="hold">
                                          <p:stCondLst>
                                            <p:cond delay="499"/>
                                          </p:stCondLst>
                                        </p:cTn>
                                        <p:tgtEl>
                                          <p:spTgt spid="85">
                                            <p:txEl>
                                              <p:pRg st="0" end="0"/>
                                            </p:txEl>
                                          </p:spTgt>
                                        </p:tgtEl>
                                        <p:attrNameLst>
                                          <p:attrName>style.visibility</p:attrName>
                                        </p:attrNameLst>
                                      </p:cBhvr>
                                      <p:to>
                                        <p:strVal val="hidden"/>
                                      </p:to>
                                    </p:set>
                                  </p:childTnLst>
                                </p:cTn>
                              </p:par>
                              <p:par>
                                <p:cTn id="73" presetID="10" presetClass="exit" presetSubtype="0" fill="hold" grpId="0" nodeType="withEffect">
                                  <p:stCondLst>
                                    <p:cond delay="0"/>
                                  </p:stCondLst>
                                  <p:childTnLst>
                                    <p:animEffect transition="out" filter="fade">
                                      <p:cBhvr>
                                        <p:cTn id="74" dur="500"/>
                                        <p:tgtEl>
                                          <p:spTgt spid="85">
                                            <p:txEl>
                                              <p:pRg st="1" end="1"/>
                                            </p:txEl>
                                          </p:spTgt>
                                        </p:tgtEl>
                                      </p:cBhvr>
                                    </p:animEffect>
                                    <p:set>
                                      <p:cBhvr>
                                        <p:cTn id="75" dur="1" fill="hold">
                                          <p:stCondLst>
                                            <p:cond delay="499"/>
                                          </p:stCondLst>
                                        </p:cTn>
                                        <p:tgtEl>
                                          <p:spTgt spid="85">
                                            <p:txEl>
                                              <p:pRg st="1" end="1"/>
                                            </p:txEl>
                                          </p:spTgt>
                                        </p:tgtEl>
                                        <p:attrNameLst>
                                          <p:attrName>style.visibility</p:attrName>
                                        </p:attrNameLst>
                                      </p:cBhvr>
                                      <p:to>
                                        <p:strVal val="hidden"/>
                                      </p:to>
                                    </p:set>
                                  </p:childTnLst>
                                </p:cTn>
                              </p:par>
                              <p:par>
                                <p:cTn id="76" presetID="10" presetClass="exit" presetSubtype="0" fill="hold" grpId="0" nodeType="withEffect">
                                  <p:stCondLst>
                                    <p:cond delay="0"/>
                                  </p:stCondLst>
                                  <p:childTnLst>
                                    <p:animEffect transition="out" filter="fade">
                                      <p:cBhvr>
                                        <p:cTn id="77" dur="500"/>
                                        <p:tgtEl>
                                          <p:spTgt spid="85">
                                            <p:txEl>
                                              <p:pRg st="3" end="3"/>
                                            </p:txEl>
                                          </p:spTgt>
                                        </p:tgtEl>
                                      </p:cBhvr>
                                    </p:animEffect>
                                    <p:set>
                                      <p:cBhvr>
                                        <p:cTn id="78" dur="1" fill="hold">
                                          <p:stCondLst>
                                            <p:cond delay="499"/>
                                          </p:stCondLst>
                                        </p:cTn>
                                        <p:tgtEl>
                                          <p:spTgt spid="85">
                                            <p:txEl>
                                              <p:pRg st="3" end="3"/>
                                            </p:txEl>
                                          </p:spTgt>
                                        </p:tgtEl>
                                        <p:attrNameLst>
                                          <p:attrName>style.visibility</p:attrName>
                                        </p:attrNameLst>
                                      </p:cBhvr>
                                      <p:to>
                                        <p:strVal val="hidden"/>
                                      </p:to>
                                    </p:set>
                                  </p:childTnLst>
                                </p:cTn>
                              </p:par>
                              <p:par>
                                <p:cTn id="79" presetID="10" presetClass="exit" presetSubtype="0" fill="hold" grpId="0" nodeType="withEffect">
                                  <p:stCondLst>
                                    <p:cond delay="0"/>
                                  </p:stCondLst>
                                  <p:childTnLst>
                                    <p:animEffect transition="out" filter="fade">
                                      <p:cBhvr>
                                        <p:cTn id="80" dur="500"/>
                                        <p:tgtEl>
                                          <p:spTgt spid="85">
                                            <p:txEl>
                                              <p:pRg st="5" end="5"/>
                                            </p:txEl>
                                          </p:spTgt>
                                        </p:tgtEl>
                                      </p:cBhvr>
                                    </p:animEffect>
                                    <p:set>
                                      <p:cBhvr>
                                        <p:cTn id="81" dur="1" fill="hold">
                                          <p:stCondLst>
                                            <p:cond delay="499"/>
                                          </p:stCondLst>
                                        </p:cTn>
                                        <p:tgtEl>
                                          <p:spTgt spid="85">
                                            <p:txEl>
                                              <p:pRg st="5" end="5"/>
                                            </p:txEl>
                                          </p:spTgt>
                                        </p:tgtEl>
                                        <p:attrNameLst>
                                          <p:attrName>style.visibility</p:attrName>
                                        </p:attrNameLst>
                                      </p:cBhvr>
                                      <p:to>
                                        <p:strVal val="hidden"/>
                                      </p:to>
                                    </p:set>
                                  </p:childTnLst>
                                </p:cTn>
                              </p:par>
                              <p:par>
                                <p:cTn id="82" presetID="10" presetClass="exit" presetSubtype="0" fill="hold" grpId="0" nodeType="withEffect">
                                  <p:stCondLst>
                                    <p:cond delay="0"/>
                                  </p:stCondLst>
                                  <p:childTnLst>
                                    <p:animEffect transition="out" filter="fade">
                                      <p:cBhvr>
                                        <p:cTn id="83" dur="500"/>
                                        <p:tgtEl>
                                          <p:spTgt spid="85">
                                            <p:txEl>
                                              <p:pRg st="6" end="6"/>
                                            </p:txEl>
                                          </p:spTgt>
                                        </p:tgtEl>
                                      </p:cBhvr>
                                    </p:animEffect>
                                    <p:set>
                                      <p:cBhvr>
                                        <p:cTn id="84" dur="1" fill="hold">
                                          <p:stCondLst>
                                            <p:cond delay="499"/>
                                          </p:stCondLst>
                                        </p:cTn>
                                        <p:tgtEl>
                                          <p:spTgt spid="85">
                                            <p:txEl>
                                              <p:pRg st="6" end="6"/>
                                            </p:txEl>
                                          </p:spTgt>
                                        </p:tgtEl>
                                        <p:attrNameLst>
                                          <p:attrName>style.visibility</p:attrName>
                                        </p:attrNameLst>
                                      </p:cBhvr>
                                      <p:to>
                                        <p:strVal val="hidden"/>
                                      </p:to>
                                    </p:set>
                                  </p:childTnLst>
                                </p:cTn>
                              </p:par>
                              <p:par>
                                <p:cTn id="85" presetID="10" presetClass="exit" presetSubtype="0" fill="hold" grpId="0" nodeType="withEffect">
                                  <p:stCondLst>
                                    <p:cond delay="0"/>
                                  </p:stCondLst>
                                  <p:childTnLst>
                                    <p:animEffect transition="out" filter="fade">
                                      <p:cBhvr>
                                        <p:cTn id="86" dur="500"/>
                                        <p:tgtEl>
                                          <p:spTgt spid="85">
                                            <p:txEl>
                                              <p:pRg st="7" end="7"/>
                                            </p:txEl>
                                          </p:spTgt>
                                        </p:tgtEl>
                                      </p:cBhvr>
                                    </p:animEffect>
                                    <p:set>
                                      <p:cBhvr>
                                        <p:cTn id="87" dur="1" fill="hold">
                                          <p:stCondLst>
                                            <p:cond delay="499"/>
                                          </p:stCondLst>
                                        </p:cTn>
                                        <p:tgtEl>
                                          <p:spTgt spid="85">
                                            <p:txEl>
                                              <p:pRg st="7" end="7"/>
                                            </p:txEl>
                                          </p:spTgt>
                                        </p:tgtEl>
                                        <p:attrNameLst>
                                          <p:attrName>style.visibility</p:attrName>
                                        </p:attrNameLst>
                                      </p:cBhvr>
                                      <p:to>
                                        <p:strVal val="hidden"/>
                                      </p:to>
                                    </p:set>
                                  </p:childTnLst>
                                </p:cTn>
                              </p:par>
                              <p:par>
                                <p:cTn id="88" presetID="10" presetClass="exit" presetSubtype="0" fill="hold" grpId="0" nodeType="withEffect">
                                  <p:stCondLst>
                                    <p:cond delay="0"/>
                                  </p:stCondLst>
                                  <p:childTnLst>
                                    <p:animEffect transition="out" filter="fade">
                                      <p:cBhvr>
                                        <p:cTn id="89" dur="500"/>
                                        <p:tgtEl>
                                          <p:spTgt spid="85">
                                            <p:txEl>
                                              <p:pRg st="8" end="8"/>
                                            </p:txEl>
                                          </p:spTgt>
                                        </p:tgtEl>
                                      </p:cBhvr>
                                    </p:animEffect>
                                    <p:set>
                                      <p:cBhvr>
                                        <p:cTn id="90" dur="1" fill="hold">
                                          <p:stCondLst>
                                            <p:cond delay="499"/>
                                          </p:stCondLst>
                                        </p:cTn>
                                        <p:tgtEl>
                                          <p:spTgt spid="85">
                                            <p:txEl>
                                              <p:pRg st="8" end="8"/>
                                            </p:txEl>
                                          </p:spTgt>
                                        </p:tgtEl>
                                        <p:attrNameLst>
                                          <p:attrName>style.visibility</p:attrName>
                                        </p:attrNameLst>
                                      </p:cBhvr>
                                      <p:to>
                                        <p:strVal val="hidden"/>
                                      </p:to>
                                    </p:set>
                                  </p:childTnLst>
                                </p:cTn>
                              </p:par>
                              <p:par>
                                <p:cTn id="91" presetID="10" presetClass="exit" presetSubtype="0" fill="hold" grpId="0" nodeType="withEffect">
                                  <p:stCondLst>
                                    <p:cond delay="0"/>
                                  </p:stCondLst>
                                  <p:childTnLst>
                                    <p:animEffect transition="out" filter="fade">
                                      <p:cBhvr>
                                        <p:cTn id="92" dur="500"/>
                                        <p:tgtEl>
                                          <p:spTgt spid="85">
                                            <p:txEl>
                                              <p:pRg st="9" end="9"/>
                                            </p:txEl>
                                          </p:spTgt>
                                        </p:tgtEl>
                                      </p:cBhvr>
                                    </p:animEffect>
                                    <p:set>
                                      <p:cBhvr>
                                        <p:cTn id="93" dur="1" fill="hold">
                                          <p:stCondLst>
                                            <p:cond delay="499"/>
                                          </p:stCondLst>
                                        </p:cTn>
                                        <p:tgtEl>
                                          <p:spTgt spid="85">
                                            <p:txEl>
                                              <p:pRg st="9" end="9"/>
                                            </p:txEl>
                                          </p:spTgt>
                                        </p:tgtEl>
                                        <p:attrNameLst>
                                          <p:attrName>style.visibility</p:attrName>
                                        </p:attrNameLst>
                                      </p:cBhvr>
                                      <p:to>
                                        <p:strVal val="hidden"/>
                                      </p:to>
                                    </p:set>
                                  </p:childTnLst>
                                </p:cTn>
                              </p:par>
                              <p:par>
                                <p:cTn id="94" presetID="10" presetClass="exit" presetSubtype="0" fill="hold" grpId="0" nodeType="withEffect">
                                  <p:stCondLst>
                                    <p:cond delay="0"/>
                                  </p:stCondLst>
                                  <p:childTnLst>
                                    <p:animEffect transition="out" filter="fade">
                                      <p:cBhvr>
                                        <p:cTn id="95" dur="500"/>
                                        <p:tgtEl>
                                          <p:spTgt spid="85">
                                            <p:txEl>
                                              <p:pRg st="10" end="10"/>
                                            </p:txEl>
                                          </p:spTgt>
                                        </p:tgtEl>
                                      </p:cBhvr>
                                    </p:animEffect>
                                    <p:set>
                                      <p:cBhvr>
                                        <p:cTn id="96" dur="1" fill="hold">
                                          <p:stCondLst>
                                            <p:cond delay="499"/>
                                          </p:stCondLst>
                                        </p:cTn>
                                        <p:tgtEl>
                                          <p:spTgt spid="85">
                                            <p:txEl>
                                              <p:pRg st="10" end="10"/>
                                            </p:txEl>
                                          </p:spTgt>
                                        </p:tgtEl>
                                        <p:attrNameLst>
                                          <p:attrName>style.visibility</p:attrName>
                                        </p:attrNameLst>
                                      </p:cBhvr>
                                      <p:to>
                                        <p:strVal val="hidden"/>
                                      </p:to>
                                    </p:set>
                                  </p:childTnLst>
                                </p:cTn>
                              </p:par>
                              <p:par>
                                <p:cTn id="97" presetID="10" presetClass="exit" presetSubtype="0" fill="hold" nodeType="withEffect">
                                  <p:stCondLst>
                                    <p:cond delay="0"/>
                                  </p:stCondLst>
                                  <p:childTnLst>
                                    <p:animEffect transition="out" filter="fade">
                                      <p:cBhvr>
                                        <p:cTn id="98" dur="500"/>
                                        <p:tgtEl>
                                          <p:spTgt spid="3"/>
                                        </p:tgtEl>
                                      </p:cBhvr>
                                    </p:animEffect>
                                    <p:set>
                                      <p:cBhvr>
                                        <p:cTn id="99" dur="1" fill="hold">
                                          <p:stCondLst>
                                            <p:cond delay="4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P spid="85" grpId="0" build="allAtOnce"/>
      <p:bldP spid="93" grpId="0" animBg="1"/>
      <p:bldP spid="94" grpId="0" animBg="1"/>
      <p:bldP spid="134" grpId="0" animBg="1"/>
      <p:bldP spid="13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 name="Group 193"/>
          <p:cNvGrpSpPr/>
          <p:nvPr/>
        </p:nvGrpSpPr>
        <p:grpSpPr>
          <a:xfrm>
            <a:off x="2409805" y="476498"/>
            <a:ext cx="2440458" cy="1194898"/>
            <a:chOff x="2028805" y="476498"/>
            <a:chExt cx="2440458" cy="1194898"/>
          </a:xfrm>
        </p:grpSpPr>
        <p:sp>
          <p:nvSpPr>
            <p:cNvPr id="5" name="Process A"/>
            <p:cNvSpPr/>
            <p:nvPr/>
          </p:nvSpPr>
          <p:spPr>
            <a:xfrm>
              <a:off x="2028805" y="476498"/>
              <a:ext cx="2440458" cy="984940"/>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nvGrpSpPr>
            <p:cNvPr id="17" name="PT Agent A"/>
            <p:cNvGrpSpPr/>
            <p:nvPr/>
          </p:nvGrpSpPr>
          <p:grpSpPr>
            <a:xfrm>
              <a:off x="2110275" y="1202254"/>
              <a:ext cx="1074956" cy="469142"/>
              <a:chOff x="2626646" y="3779254"/>
              <a:chExt cx="1074956" cy="469142"/>
            </a:xfrm>
          </p:grpSpPr>
          <p:sp>
            <p:nvSpPr>
              <p:cNvPr id="18" name="Rectangle 17"/>
              <p:cNvSpPr/>
              <p:nvPr/>
            </p:nvSpPr>
            <p:spPr>
              <a:xfrm>
                <a:off x="2703536" y="3779254"/>
                <a:ext cx="998066" cy="331980"/>
              </a:xfrm>
              <a:prstGeom prst="rect">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91440" bIns="0" rtlCol="0" anchor="t" anchorCtr="0"/>
              <a:lstStyle/>
              <a:p>
                <a:pPr algn="r"/>
                <a:r>
                  <a:rPr lang="en-US" dirty="0" smtClean="0">
                    <a:solidFill>
                      <a:schemeClr val="tx1"/>
                    </a:solidFill>
                  </a:rPr>
                  <a:t>PT Agent</a:t>
                </a:r>
                <a:endParaRPr lang="en-US" dirty="0">
                  <a:solidFill>
                    <a:schemeClr val="tx1"/>
                  </a:solidFill>
                </a:endParaRPr>
              </a:p>
            </p:txBody>
          </p:sp>
          <p:grpSp>
            <p:nvGrpSpPr>
              <p:cNvPr id="19" name="Group 18"/>
              <p:cNvGrpSpPr/>
              <p:nvPr/>
            </p:nvGrpSpPr>
            <p:grpSpPr>
              <a:xfrm rot="878394">
                <a:off x="2626646" y="3986085"/>
                <a:ext cx="442659" cy="262311"/>
                <a:chOff x="2015326" y="3161328"/>
                <a:chExt cx="442659" cy="262311"/>
              </a:xfrm>
            </p:grpSpPr>
            <p:sp>
              <p:nvSpPr>
                <p:cNvPr id="20" name="Freeform 19"/>
                <p:cNvSpPr/>
                <p:nvPr/>
              </p:nvSpPr>
              <p:spPr>
                <a:xfrm>
                  <a:off x="2015326" y="3198159"/>
                  <a:ext cx="207804" cy="225480"/>
                </a:xfrm>
                <a:custGeom>
                  <a:avLst/>
                  <a:gdLst>
                    <a:gd name="connsiteX0" fmla="*/ 250470 w 278551"/>
                    <a:gd name="connsiteY0" fmla="*/ 185740 h 302245"/>
                    <a:gd name="connsiteX1" fmla="*/ 278551 w 278551"/>
                    <a:gd name="connsiteY1" fmla="*/ 212135 h 302245"/>
                    <a:gd name="connsiteX2" fmla="*/ 261752 w 278551"/>
                    <a:gd name="connsiteY2" fmla="*/ 241233 h 302245"/>
                    <a:gd name="connsiteX3" fmla="*/ 225317 w 278551"/>
                    <a:gd name="connsiteY3" fmla="*/ 230252 h 302245"/>
                    <a:gd name="connsiteX4" fmla="*/ 247440 w 278551"/>
                    <a:gd name="connsiteY4" fmla="*/ 199863 h 302245"/>
                    <a:gd name="connsiteX5" fmla="*/ 139274 w 278551"/>
                    <a:gd name="connsiteY5" fmla="*/ 84295 h 302245"/>
                    <a:gd name="connsiteX6" fmla="*/ 196885 w 278551"/>
                    <a:gd name="connsiteY6" fmla="*/ 113100 h 302245"/>
                    <a:gd name="connsiteX7" fmla="*/ 196884 w 278551"/>
                    <a:gd name="connsiteY7" fmla="*/ 114931 h 302245"/>
                    <a:gd name="connsiteX8" fmla="*/ 141702 w 278551"/>
                    <a:gd name="connsiteY8" fmla="*/ 86497 h 302245"/>
                    <a:gd name="connsiteX9" fmla="*/ 91232 w 278551"/>
                    <a:gd name="connsiteY9" fmla="*/ 110971 h 302245"/>
                    <a:gd name="connsiteX10" fmla="*/ 90180 w 278551"/>
                    <a:gd name="connsiteY10" fmla="*/ 108843 h 302245"/>
                    <a:gd name="connsiteX11" fmla="*/ 93907 w 278551"/>
                    <a:gd name="connsiteY11" fmla="*/ 56612 h 302245"/>
                    <a:gd name="connsiteX12" fmla="*/ 77529 w 278551"/>
                    <a:gd name="connsiteY12" fmla="*/ 83250 h 302245"/>
                    <a:gd name="connsiteX13" fmla="*/ 90180 w 278551"/>
                    <a:gd name="connsiteY13" fmla="*/ 108843 h 302245"/>
                    <a:gd name="connsiteX14" fmla="*/ 81665 w 278551"/>
                    <a:gd name="connsiteY14" fmla="*/ 113100 h 302245"/>
                    <a:gd name="connsiteX15" fmla="*/ 81665 w 278551"/>
                    <a:gd name="connsiteY15" fmla="*/ 189144 h 302245"/>
                    <a:gd name="connsiteX16" fmla="*/ 139274 w 278551"/>
                    <a:gd name="connsiteY16" fmla="*/ 217949 h 302245"/>
                    <a:gd name="connsiteX17" fmla="*/ 196884 w 278551"/>
                    <a:gd name="connsiteY17" fmla="*/ 189144 h 302245"/>
                    <a:gd name="connsiteX18" fmla="*/ 196884 w 278551"/>
                    <a:gd name="connsiteY18" fmla="*/ 114931 h 302245"/>
                    <a:gd name="connsiteX19" fmla="*/ 198958 w 278551"/>
                    <a:gd name="connsiteY19" fmla="*/ 115999 h 302245"/>
                    <a:gd name="connsiteX20" fmla="*/ 198034 w 278551"/>
                    <a:gd name="connsiteY20" fmla="*/ 192038 h 302245"/>
                    <a:gd name="connsiteX21" fmla="*/ 144208 w 278551"/>
                    <a:gd name="connsiteY21" fmla="*/ 218139 h 302245"/>
                    <a:gd name="connsiteX22" fmla="*/ 155568 w 278551"/>
                    <a:gd name="connsiteY22" fmla="*/ 241121 h 302245"/>
                    <a:gd name="connsiteX23" fmla="*/ 182697 w 278551"/>
                    <a:gd name="connsiteY23" fmla="*/ 246757 h 302245"/>
                    <a:gd name="connsiteX24" fmla="*/ 166987 w 278551"/>
                    <a:gd name="connsiteY24" fmla="*/ 255827 h 302245"/>
                    <a:gd name="connsiteX25" fmla="*/ 156075 w 278551"/>
                    <a:gd name="connsiteY25" fmla="*/ 302245 h 302245"/>
                    <a:gd name="connsiteX26" fmla="*/ 122476 w 278551"/>
                    <a:gd name="connsiteY26" fmla="*/ 302245 h 302245"/>
                    <a:gd name="connsiteX27" fmla="*/ 111565 w 278551"/>
                    <a:gd name="connsiteY27" fmla="*/ 255827 h 302245"/>
                    <a:gd name="connsiteX28" fmla="*/ 62455 w 278551"/>
                    <a:gd name="connsiteY28" fmla="*/ 227473 h 302245"/>
                    <a:gd name="connsiteX29" fmla="*/ 16799 w 278551"/>
                    <a:gd name="connsiteY29" fmla="*/ 241233 h 302245"/>
                    <a:gd name="connsiteX30" fmla="*/ 0 w 278551"/>
                    <a:gd name="connsiteY30" fmla="*/ 212135 h 302245"/>
                    <a:gd name="connsiteX31" fmla="*/ 34743 w 278551"/>
                    <a:gd name="connsiteY31" fmla="*/ 179476 h 302245"/>
                    <a:gd name="connsiteX32" fmla="*/ 34743 w 278551"/>
                    <a:gd name="connsiteY32" fmla="*/ 122768 h 302245"/>
                    <a:gd name="connsiteX33" fmla="*/ 0 w 278551"/>
                    <a:gd name="connsiteY33" fmla="*/ 90110 h 302245"/>
                    <a:gd name="connsiteX34" fmla="*/ 16799 w 278551"/>
                    <a:gd name="connsiteY34" fmla="*/ 61012 h 302245"/>
                    <a:gd name="connsiteX35" fmla="*/ 62454 w 278551"/>
                    <a:gd name="connsiteY35" fmla="*/ 74772 h 302245"/>
                    <a:gd name="connsiteX36" fmla="*/ 122476 w 278551"/>
                    <a:gd name="connsiteY36" fmla="*/ 0 h 302245"/>
                    <a:gd name="connsiteX37" fmla="*/ 156075 w 278551"/>
                    <a:gd name="connsiteY37" fmla="*/ 0 h 302245"/>
                    <a:gd name="connsiteX38" fmla="*/ 165987 w 278551"/>
                    <a:gd name="connsiteY38" fmla="*/ 42169 h 302245"/>
                    <a:gd name="connsiteX39" fmla="*/ 142303 w 278551"/>
                    <a:gd name="connsiteY39" fmla="*/ 37087 h 302245"/>
                    <a:gd name="connsiteX40" fmla="*/ 112428 w 278551"/>
                    <a:gd name="connsiteY40" fmla="*/ 42742 h 30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78551" h="302245">
                      <a:moveTo>
                        <a:pt x="250470" y="185740"/>
                      </a:moveTo>
                      <a:lnTo>
                        <a:pt x="278551" y="212135"/>
                      </a:lnTo>
                      <a:lnTo>
                        <a:pt x="261752" y="241233"/>
                      </a:lnTo>
                      <a:lnTo>
                        <a:pt x="225317" y="230252"/>
                      </a:lnTo>
                      <a:lnTo>
                        <a:pt x="247440" y="199863"/>
                      </a:lnTo>
                      <a:close/>
                      <a:moveTo>
                        <a:pt x="139274" y="84295"/>
                      </a:moveTo>
                      <a:lnTo>
                        <a:pt x="196885" y="113100"/>
                      </a:lnTo>
                      <a:lnTo>
                        <a:pt x="196884" y="114931"/>
                      </a:lnTo>
                      <a:lnTo>
                        <a:pt x="141702" y="86497"/>
                      </a:lnTo>
                      <a:lnTo>
                        <a:pt x="91232" y="110971"/>
                      </a:lnTo>
                      <a:lnTo>
                        <a:pt x="90180" y="108843"/>
                      </a:lnTo>
                      <a:close/>
                      <a:moveTo>
                        <a:pt x="93907" y="56612"/>
                      </a:moveTo>
                      <a:lnTo>
                        <a:pt x="77529" y="83250"/>
                      </a:lnTo>
                      <a:lnTo>
                        <a:pt x="90180" y="108843"/>
                      </a:lnTo>
                      <a:lnTo>
                        <a:pt x="81665" y="113100"/>
                      </a:lnTo>
                      <a:lnTo>
                        <a:pt x="81665" y="189144"/>
                      </a:lnTo>
                      <a:lnTo>
                        <a:pt x="139274" y="217949"/>
                      </a:lnTo>
                      <a:lnTo>
                        <a:pt x="196884" y="189144"/>
                      </a:lnTo>
                      <a:lnTo>
                        <a:pt x="196884" y="114931"/>
                      </a:lnTo>
                      <a:lnTo>
                        <a:pt x="198958" y="115999"/>
                      </a:lnTo>
                      <a:lnTo>
                        <a:pt x="198034" y="192038"/>
                      </a:lnTo>
                      <a:lnTo>
                        <a:pt x="144208" y="218139"/>
                      </a:lnTo>
                      <a:lnTo>
                        <a:pt x="155568" y="241121"/>
                      </a:lnTo>
                      <a:lnTo>
                        <a:pt x="182697" y="246757"/>
                      </a:lnTo>
                      <a:lnTo>
                        <a:pt x="166987" y="255827"/>
                      </a:lnTo>
                      <a:lnTo>
                        <a:pt x="156075" y="302245"/>
                      </a:lnTo>
                      <a:lnTo>
                        <a:pt x="122476" y="302245"/>
                      </a:lnTo>
                      <a:lnTo>
                        <a:pt x="111565" y="255827"/>
                      </a:lnTo>
                      <a:cubicBezTo>
                        <a:pt x="92967" y="250905"/>
                        <a:pt x="76016" y="241118"/>
                        <a:pt x="62455" y="227473"/>
                      </a:cubicBezTo>
                      <a:lnTo>
                        <a:pt x="16799" y="241233"/>
                      </a:lnTo>
                      <a:lnTo>
                        <a:pt x="0" y="212135"/>
                      </a:lnTo>
                      <a:lnTo>
                        <a:pt x="34743" y="179476"/>
                      </a:lnTo>
                      <a:cubicBezTo>
                        <a:pt x="29707" y="160909"/>
                        <a:pt x="29707" y="141335"/>
                        <a:pt x="34743" y="122768"/>
                      </a:cubicBezTo>
                      <a:lnTo>
                        <a:pt x="0" y="90110"/>
                      </a:lnTo>
                      <a:lnTo>
                        <a:pt x="16799" y="61012"/>
                      </a:lnTo>
                      <a:lnTo>
                        <a:pt x="62454" y="74772"/>
                      </a:lnTo>
                      <a:close/>
                      <a:moveTo>
                        <a:pt x="122476" y="0"/>
                      </a:moveTo>
                      <a:lnTo>
                        <a:pt x="156075" y="0"/>
                      </a:lnTo>
                      <a:lnTo>
                        <a:pt x="165987" y="42169"/>
                      </a:lnTo>
                      <a:lnTo>
                        <a:pt x="142303" y="37087"/>
                      </a:lnTo>
                      <a:lnTo>
                        <a:pt x="112428" y="42742"/>
                      </a:lnTo>
                      <a:close/>
                    </a:path>
                  </a:pathLst>
                </a:custGeom>
                <a:solidFill>
                  <a:schemeClr val="bg1"/>
                </a:solidFill>
                <a:ln w="19050">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1" name="Freeform 20"/>
                <p:cNvSpPr/>
                <p:nvPr/>
              </p:nvSpPr>
              <p:spPr>
                <a:xfrm rot="20021754">
                  <a:off x="2054359" y="3161328"/>
                  <a:ext cx="403626" cy="168587"/>
                </a:xfrm>
                <a:custGeom>
                  <a:avLst/>
                  <a:gdLst>
                    <a:gd name="connsiteX0" fmla="*/ 99307 w 541041"/>
                    <a:gd name="connsiteY0" fmla="*/ 54263 h 225982"/>
                    <a:gd name="connsiteX1" fmla="*/ 136175 w 541041"/>
                    <a:gd name="connsiteY1" fmla="*/ 104206 h 225982"/>
                    <a:gd name="connsiteX2" fmla="*/ 103289 w 541041"/>
                    <a:gd name="connsiteY2" fmla="*/ 170735 h 225982"/>
                    <a:gd name="connsiteX3" fmla="*/ 38879 w 541041"/>
                    <a:gd name="connsiteY3" fmla="*/ 171028 h 225982"/>
                    <a:gd name="connsiteX4" fmla="*/ 0 w 541041"/>
                    <a:gd name="connsiteY4" fmla="*/ 119677 h 225982"/>
                    <a:gd name="connsiteX5" fmla="*/ 33698 w 541041"/>
                    <a:gd name="connsiteY5" fmla="*/ 51507 h 225982"/>
                    <a:gd name="connsiteX6" fmla="*/ 43218 w 541041"/>
                    <a:gd name="connsiteY6" fmla="*/ 51464 h 225982"/>
                    <a:gd name="connsiteX7" fmla="*/ 43218 w 541041"/>
                    <a:gd name="connsiteY7" fmla="*/ 53838 h 225982"/>
                    <a:gd name="connsiteX8" fmla="*/ 504723 w 541041"/>
                    <a:gd name="connsiteY8" fmla="*/ 53019 h 225982"/>
                    <a:gd name="connsiteX9" fmla="*/ 541041 w 541041"/>
                    <a:gd name="connsiteY9" fmla="*/ 107811 h 225982"/>
                    <a:gd name="connsiteX10" fmla="*/ 481576 w 541041"/>
                    <a:gd name="connsiteY10" fmla="*/ 167276 h 225982"/>
                    <a:gd name="connsiteX11" fmla="*/ 171988 w 541041"/>
                    <a:gd name="connsiteY11" fmla="*/ 167276 h 225982"/>
                    <a:gd name="connsiteX12" fmla="*/ 143860 w 541041"/>
                    <a:gd name="connsiteY12" fmla="*/ 202747 h 225982"/>
                    <a:gd name="connsiteX13" fmla="*/ 99545 w 541041"/>
                    <a:gd name="connsiteY13" fmla="*/ 225955 h 225982"/>
                    <a:gd name="connsiteX14" fmla="*/ 99000 w 541041"/>
                    <a:gd name="connsiteY14" fmla="*/ 225982 h 225982"/>
                    <a:gd name="connsiteX15" fmla="*/ 66761 w 541041"/>
                    <a:gd name="connsiteY15" fmla="*/ 217441 h 225982"/>
                    <a:gd name="connsiteX16" fmla="*/ 43218 w 541041"/>
                    <a:gd name="connsiteY16" fmla="*/ 199021 h 225982"/>
                    <a:gd name="connsiteX17" fmla="*/ 43218 w 541041"/>
                    <a:gd name="connsiteY17" fmla="*/ 173385 h 225982"/>
                    <a:gd name="connsiteX18" fmla="*/ 103037 w 541041"/>
                    <a:gd name="connsiteY18" fmla="*/ 173839 h 225982"/>
                    <a:gd name="connsiteX19" fmla="*/ 137561 w 541041"/>
                    <a:gd name="connsiteY19" fmla="*/ 106083 h 225982"/>
                    <a:gd name="connsiteX20" fmla="*/ 136175 w 541041"/>
                    <a:gd name="connsiteY20" fmla="*/ 104206 h 225982"/>
                    <a:gd name="connsiteX21" fmla="*/ 136987 w 541041"/>
                    <a:gd name="connsiteY21" fmla="*/ 102565 h 225982"/>
                    <a:gd name="connsiteX22" fmla="*/ 98106 w 541041"/>
                    <a:gd name="connsiteY22" fmla="*/ 51213 h 225982"/>
                    <a:gd name="connsiteX23" fmla="*/ 43218 w 541041"/>
                    <a:gd name="connsiteY23" fmla="*/ 51464 h 225982"/>
                    <a:gd name="connsiteX24" fmla="*/ 43218 w 541041"/>
                    <a:gd name="connsiteY24" fmla="*/ 22915 h 225982"/>
                    <a:gd name="connsiteX25" fmla="*/ 77964 w 541041"/>
                    <a:gd name="connsiteY25" fmla="*/ 1110 h 225982"/>
                    <a:gd name="connsiteX26" fmla="*/ 85046 w 541041"/>
                    <a:gd name="connsiteY26" fmla="*/ 0 h 225982"/>
                    <a:gd name="connsiteX27" fmla="*/ 121741 w 541041"/>
                    <a:gd name="connsiteY27" fmla="*/ 10236 h 225982"/>
                    <a:gd name="connsiteX28" fmla="*/ 157909 w 541041"/>
                    <a:gd name="connsiteY28" fmla="*/ 38916 h 225982"/>
                    <a:gd name="connsiteX29" fmla="*/ 163138 w 541041"/>
                    <a:gd name="connsiteY29" fmla="*/ 48346 h 225982"/>
                    <a:gd name="connsiteX30" fmla="*/ 481576 w 541041"/>
                    <a:gd name="connsiteY30" fmla="*/ 48346 h 225982"/>
                    <a:gd name="connsiteX31" fmla="*/ 504723 w 541041"/>
                    <a:gd name="connsiteY31" fmla="*/ 53019 h 22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41041" h="225982">
                      <a:moveTo>
                        <a:pt x="99307" y="54263"/>
                      </a:moveTo>
                      <a:lnTo>
                        <a:pt x="136175" y="104206"/>
                      </a:lnTo>
                      <a:lnTo>
                        <a:pt x="103289" y="170735"/>
                      </a:lnTo>
                      <a:lnTo>
                        <a:pt x="38879" y="171028"/>
                      </a:lnTo>
                      <a:lnTo>
                        <a:pt x="0" y="119677"/>
                      </a:lnTo>
                      <a:lnTo>
                        <a:pt x="33698" y="51507"/>
                      </a:lnTo>
                      <a:lnTo>
                        <a:pt x="43218" y="51464"/>
                      </a:lnTo>
                      <a:lnTo>
                        <a:pt x="43218" y="53838"/>
                      </a:lnTo>
                      <a:close/>
                      <a:moveTo>
                        <a:pt x="504723" y="53019"/>
                      </a:moveTo>
                      <a:cubicBezTo>
                        <a:pt x="526066" y="62046"/>
                        <a:pt x="541041" y="83180"/>
                        <a:pt x="541041" y="107811"/>
                      </a:cubicBezTo>
                      <a:cubicBezTo>
                        <a:pt x="541041" y="140653"/>
                        <a:pt x="514418" y="167276"/>
                        <a:pt x="481576" y="167276"/>
                      </a:cubicBezTo>
                      <a:lnTo>
                        <a:pt x="171988" y="167276"/>
                      </a:lnTo>
                      <a:lnTo>
                        <a:pt x="143860" y="202747"/>
                      </a:lnTo>
                      <a:cubicBezTo>
                        <a:pt x="130861" y="213683"/>
                        <a:pt x="115692" y="221548"/>
                        <a:pt x="99545" y="225955"/>
                      </a:cubicBezTo>
                      <a:lnTo>
                        <a:pt x="99000" y="225982"/>
                      </a:lnTo>
                      <a:lnTo>
                        <a:pt x="66761" y="217441"/>
                      </a:lnTo>
                      <a:lnTo>
                        <a:pt x="43218" y="199021"/>
                      </a:lnTo>
                      <a:lnTo>
                        <a:pt x="43218" y="173385"/>
                      </a:lnTo>
                      <a:lnTo>
                        <a:pt x="103037" y="173839"/>
                      </a:lnTo>
                      <a:lnTo>
                        <a:pt x="137561" y="106083"/>
                      </a:lnTo>
                      <a:lnTo>
                        <a:pt x="136175" y="104206"/>
                      </a:lnTo>
                      <a:lnTo>
                        <a:pt x="136987" y="102565"/>
                      </a:lnTo>
                      <a:lnTo>
                        <a:pt x="98106" y="51213"/>
                      </a:lnTo>
                      <a:lnTo>
                        <a:pt x="43218" y="51464"/>
                      </a:lnTo>
                      <a:lnTo>
                        <a:pt x="43218" y="22915"/>
                      </a:lnTo>
                      <a:lnTo>
                        <a:pt x="77964" y="1110"/>
                      </a:lnTo>
                      <a:lnTo>
                        <a:pt x="85046" y="0"/>
                      </a:lnTo>
                      <a:lnTo>
                        <a:pt x="121741" y="10236"/>
                      </a:lnTo>
                      <a:cubicBezTo>
                        <a:pt x="136041" y="17522"/>
                        <a:pt x="148188" y="27361"/>
                        <a:pt x="157909" y="38916"/>
                      </a:cubicBezTo>
                      <a:lnTo>
                        <a:pt x="163138" y="48346"/>
                      </a:lnTo>
                      <a:lnTo>
                        <a:pt x="481576" y="48346"/>
                      </a:lnTo>
                      <a:cubicBezTo>
                        <a:pt x="489787" y="48346"/>
                        <a:pt x="497608" y="50010"/>
                        <a:pt x="504723" y="53019"/>
                      </a:cubicBezTo>
                      <a:close/>
                    </a:path>
                  </a:pathLst>
                </a:cu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22" name="Hexagon 21"/>
                <p:cNvSpPr/>
                <p:nvPr/>
              </p:nvSpPr>
              <p:spPr>
                <a:xfrm rot="16200000">
                  <a:off x="2067787" y="3266584"/>
                  <a:ext cx="102880" cy="89052"/>
                </a:xfrm>
                <a:prstGeom prst="hexagon">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grpSp>
      </p:grpSp>
      <p:grpSp>
        <p:nvGrpSpPr>
          <p:cNvPr id="195" name="Group 194"/>
          <p:cNvGrpSpPr/>
          <p:nvPr/>
        </p:nvGrpSpPr>
        <p:grpSpPr>
          <a:xfrm>
            <a:off x="5521305" y="516046"/>
            <a:ext cx="2745258" cy="1454951"/>
            <a:chOff x="5140305" y="516046"/>
            <a:chExt cx="2745258" cy="1454951"/>
          </a:xfrm>
        </p:grpSpPr>
        <p:grpSp>
          <p:nvGrpSpPr>
            <p:cNvPr id="41" name="Process B"/>
            <p:cNvGrpSpPr/>
            <p:nvPr/>
          </p:nvGrpSpPr>
          <p:grpSpPr>
            <a:xfrm flipH="1">
              <a:off x="5140305" y="516046"/>
              <a:ext cx="2745258" cy="1234786"/>
              <a:chOff x="5785070" y="298924"/>
              <a:chExt cx="2745258" cy="1700610"/>
            </a:xfrm>
          </p:grpSpPr>
          <p:sp>
            <p:nvSpPr>
              <p:cNvPr id="32" name="Process B3"/>
              <p:cNvSpPr/>
              <p:nvPr/>
            </p:nvSpPr>
            <p:spPr>
              <a:xfrm>
                <a:off x="5785070" y="298924"/>
                <a:ext cx="2440458" cy="1395810"/>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39" name="Process B2"/>
              <p:cNvSpPr/>
              <p:nvPr/>
            </p:nvSpPr>
            <p:spPr>
              <a:xfrm>
                <a:off x="5937470" y="451324"/>
                <a:ext cx="2440458" cy="1395810"/>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40" name="Process B1"/>
              <p:cNvSpPr/>
              <p:nvPr/>
            </p:nvSpPr>
            <p:spPr>
              <a:xfrm>
                <a:off x="6089870" y="603724"/>
                <a:ext cx="2440458" cy="1395810"/>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grpSp>
          <p:nvGrpSpPr>
            <p:cNvPr id="33" name="PT Agent B"/>
            <p:cNvGrpSpPr/>
            <p:nvPr/>
          </p:nvGrpSpPr>
          <p:grpSpPr>
            <a:xfrm>
              <a:off x="5247478" y="1501855"/>
              <a:ext cx="1074956" cy="469142"/>
              <a:chOff x="2626646" y="3779254"/>
              <a:chExt cx="1074956" cy="469142"/>
            </a:xfrm>
          </p:grpSpPr>
          <p:sp>
            <p:nvSpPr>
              <p:cNvPr id="34" name="Text"/>
              <p:cNvSpPr/>
              <p:nvPr/>
            </p:nvSpPr>
            <p:spPr>
              <a:xfrm>
                <a:off x="2703536" y="3779254"/>
                <a:ext cx="998066" cy="331980"/>
              </a:xfrm>
              <a:prstGeom prst="rect">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91440" bIns="0" rtlCol="0" anchor="t" anchorCtr="0"/>
              <a:lstStyle/>
              <a:p>
                <a:pPr algn="r"/>
                <a:r>
                  <a:rPr lang="en-US" dirty="0" smtClean="0">
                    <a:solidFill>
                      <a:schemeClr val="tx1"/>
                    </a:solidFill>
                  </a:rPr>
                  <a:t>PT Agent</a:t>
                </a:r>
                <a:endParaRPr lang="en-US" dirty="0">
                  <a:solidFill>
                    <a:schemeClr val="tx1"/>
                  </a:solidFill>
                </a:endParaRPr>
              </a:p>
            </p:txBody>
          </p:sp>
          <p:grpSp>
            <p:nvGrpSpPr>
              <p:cNvPr id="35" name="Group 34"/>
              <p:cNvGrpSpPr/>
              <p:nvPr/>
            </p:nvGrpSpPr>
            <p:grpSpPr>
              <a:xfrm rot="878394">
                <a:off x="2626646" y="3986085"/>
                <a:ext cx="442659" cy="262311"/>
                <a:chOff x="2015326" y="3161328"/>
                <a:chExt cx="442659" cy="262311"/>
              </a:xfrm>
            </p:grpSpPr>
            <p:sp>
              <p:nvSpPr>
                <p:cNvPr id="36" name="Freeform 35"/>
                <p:cNvSpPr/>
                <p:nvPr/>
              </p:nvSpPr>
              <p:spPr>
                <a:xfrm>
                  <a:off x="2015326" y="3198159"/>
                  <a:ext cx="207804" cy="225480"/>
                </a:xfrm>
                <a:custGeom>
                  <a:avLst/>
                  <a:gdLst>
                    <a:gd name="connsiteX0" fmla="*/ 250470 w 278551"/>
                    <a:gd name="connsiteY0" fmla="*/ 185740 h 302245"/>
                    <a:gd name="connsiteX1" fmla="*/ 278551 w 278551"/>
                    <a:gd name="connsiteY1" fmla="*/ 212135 h 302245"/>
                    <a:gd name="connsiteX2" fmla="*/ 261752 w 278551"/>
                    <a:gd name="connsiteY2" fmla="*/ 241233 h 302245"/>
                    <a:gd name="connsiteX3" fmla="*/ 225317 w 278551"/>
                    <a:gd name="connsiteY3" fmla="*/ 230252 h 302245"/>
                    <a:gd name="connsiteX4" fmla="*/ 247440 w 278551"/>
                    <a:gd name="connsiteY4" fmla="*/ 199863 h 302245"/>
                    <a:gd name="connsiteX5" fmla="*/ 139274 w 278551"/>
                    <a:gd name="connsiteY5" fmla="*/ 84295 h 302245"/>
                    <a:gd name="connsiteX6" fmla="*/ 196885 w 278551"/>
                    <a:gd name="connsiteY6" fmla="*/ 113100 h 302245"/>
                    <a:gd name="connsiteX7" fmla="*/ 196884 w 278551"/>
                    <a:gd name="connsiteY7" fmla="*/ 114931 h 302245"/>
                    <a:gd name="connsiteX8" fmla="*/ 141702 w 278551"/>
                    <a:gd name="connsiteY8" fmla="*/ 86497 h 302245"/>
                    <a:gd name="connsiteX9" fmla="*/ 91232 w 278551"/>
                    <a:gd name="connsiteY9" fmla="*/ 110971 h 302245"/>
                    <a:gd name="connsiteX10" fmla="*/ 90180 w 278551"/>
                    <a:gd name="connsiteY10" fmla="*/ 108843 h 302245"/>
                    <a:gd name="connsiteX11" fmla="*/ 93907 w 278551"/>
                    <a:gd name="connsiteY11" fmla="*/ 56612 h 302245"/>
                    <a:gd name="connsiteX12" fmla="*/ 77529 w 278551"/>
                    <a:gd name="connsiteY12" fmla="*/ 83250 h 302245"/>
                    <a:gd name="connsiteX13" fmla="*/ 90180 w 278551"/>
                    <a:gd name="connsiteY13" fmla="*/ 108843 h 302245"/>
                    <a:gd name="connsiteX14" fmla="*/ 81665 w 278551"/>
                    <a:gd name="connsiteY14" fmla="*/ 113100 h 302245"/>
                    <a:gd name="connsiteX15" fmla="*/ 81665 w 278551"/>
                    <a:gd name="connsiteY15" fmla="*/ 189144 h 302245"/>
                    <a:gd name="connsiteX16" fmla="*/ 139274 w 278551"/>
                    <a:gd name="connsiteY16" fmla="*/ 217949 h 302245"/>
                    <a:gd name="connsiteX17" fmla="*/ 196884 w 278551"/>
                    <a:gd name="connsiteY17" fmla="*/ 189144 h 302245"/>
                    <a:gd name="connsiteX18" fmla="*/ 196884 w 278551"/>
                    <a:gd name="connsiteY18" fmla="*/ 114931 h 302245"/>
                    <a:gd name="connsiteX19" fmla="*/ 198958 w 278551"/>
                    <a:gd name="connsiteY19" fmla="*/ 115999 h 302245"/>
                    <a:gd name="connsiteX20" fmla="*/ 198034 w 278551"/>
                    <a:gd name="connsiteY20" fmla="*/ 192038 h 302245"/>
                    <a:gd name="connsiteX21" fmla="*/ 144208 w 278551"/>
                    <a:gd name="connsiteY21" fmla="*/ 218139 h 302245"/>
                    <a:gd name="connsiteX22" fmla="*/ 155568 w 278551"/>
                    <a:gd name="connsiteY22" fmla="*/ 241121 h 302245"/>
                    <a:gd name="connsiteX23" fmla="*/ 182697 w 278551"/>
                    <a:gd name="connsiteY23" fmla="*/ 246757 h 302245"/>
                    <a:gd name="connsiteX24" fmla="*/ 166987 w 278551"/>
                    <a:gd name="connsiteY24" fmla="*/ 255827 h 302245"/>
                    <a:gd name="connsiteX25" fmla="*/ 156075 w 278551"/>
                    <a:gd name="connsiteY25" fmla="*/ 302245 h 302245"/>
                    <a:gd name="connsiteX26" fmla="*/ 122476 w 278551"/>
                    <a:gd name="connsiteY26" fmla="*/ 302245 h 302245"/>
                    <a:gd name="connsiteX27" fmla="*/ 111565 w 278551"/>
                    <a:gd name="connsiteY27" fmla="*/ 255827 h 302245"/>
                    <a:gd name="connsiteX28" fmla="*/ 62455 w 278551"/>
                    <a:gd name="connsiteY28" fmla="*/ 227473 h 302245"/>
                    <a:gd name="connsiteX29" fmla="*/ 16799 w 278551"/>
                    <a:gd name="connsiteY29" fmla="*/ 241233 h 302245"/>
                    <a:gd name="connsiteX30" fmla="*/ 0 w 278551"/>
                    <a:gd name="connsiteY30" fmla="*/ 212135 h 302245"/>
                    <a:gd name="connsiteX31" fmla="*/ 34743 w 278551"/>
                    <a:gd name="connsiteY31" fmla="*/ 179476 h 302245"/>
                    <a:gd name="connsiteX32" fmla="*/ 34743 w 278551"/>
                    <a:gd name="connsiteY32" fmla="*/ 122768 h 302245"/>
                    <a:gd name="connsiteX33" fmla="*/ 0 w 278551"/>
                    <a:gd name="connsiteY33" fmla="*/ 90110 h 302245"/>
                    <a:gd name="connsiteX34" fmla="*/ 16799 w 278551"/>
                    <a:gd name="connsiteY34" fmla="*/ 61012 h 302245"/>
                    <a:gd name="connsiteX35" fmla="*/ 62454 w 278551"/>
                    <a:gd name="connsiteY35" fmla="*/ 74772 h 302245"/>
                    <a:gd name="connsiteX36" fmla="*/ 122476 w 278551"/>
                    <a:gd name="connsiteY36" fmla="*/ 0 h 302245"/>
                    <a:gd name="connsiteX37" fmla="*/ 156075 w 278551"/>
                    <a:gd name="connsiteY37" fmla="*/ 0 h 302245"/>
                    <a:gd name="connsiteX38" fmla="*/ 165987 w 278551"/>
                    <a:gd name="connsiteY38" fmla="*/ 42169 h 302245"/>
                    <a:gd name="connsiteX39" fmla="*/ 142303 w 278551"/>
                    <a:gd name="connsiteY39" fmla="*/ 37087 h 302245"/>
                    <a:gd name="connsiteX40" fmla="*/ 112428 w 278551"/>
                    <a:gd name="connsiteY40" fmla="*/ 42742 h 30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78551" h="302245">
                      <a:moveTo>
                        <a:pt x="250470" y="185740"/>
                      </a:moveTo>
                      <a:lnTo>
                        <a:pt x="278551" y="212135"/>
                      </a:lnTo>
                      <a:lnTo>
                        <a:pt x="261752" y="241233"/>
                      </a:lnTo>
                      <a:lnTo>
                        <a:pt x="225317" y="230252"/>
                      </a:lnTo>
                      <a:lnTo>
                        <a:pt x="247440" y="199863"/>
                      </a:lnTo>
                      <a:close/>
                      <a:moveTo>
                        <a:pt x="139274" y="84295"/>
                      </a:moveTo>
                      <a:lnTo>
                        <a:pt x="196885" y="113100"/>
                      </a:lnTo>
                      <a:lnTo>
                        <a:pt x="196884" y="114931"/>
                      </a:lnTo>
                      <a:lnTo>
                        <a:pt x="141702" y="86497"/>
                      </a:lnTo>
                      <a:lnTo>
                        <a:pt x="91232" y="110971"/>
                      </a:lnTo>
                      <a:lnTo>
                        <a:pt x="90180" y="108843"/>
                      </a:lnTo>
                      <a:close/>
                      <a:moveTo>
                        <a:pt x="93907" y="56612"/>
                      </a:moveTo>
                      <a:lnTo>
                        <a:pt x="77529" y="83250"/>
                      </a:lnTo>
                      <a:lnTo>
                        <a:pt x="90180" y="108843"/>
                      </a:lnTo>
                      <a:lnTo>
                        <a:pt x="81665" y="113100"/>
                      </a:lnTo>
                      <a:lnTo>
                        <a:pt x="81665" y="189144"/>
                      </a:lnTo>
                      <a:lnTo>
                        <a:pt x="139274" y="217949"/>
                      </a:lnTo>
                      <a:lnTo>
                        <a:pt x="196884" y="189144"/>
                      </a:lnTo>
                      <a:lnTo>
                        <a:pt x="196884" y="114931"/>
                      </a:lnTo>
                      <a:lnTo>
                        <a:pt x="198958" y="115999"/>
                      </a:lnTo>
                      <a:lnTo>
                        <a:pt x="198034" y="192038"/>
                      </a:lnTo>
                      <a:lnTo>
                        <a:pt x="144208" y="218139"/>
                      </a:lnTo>
                      <a:lnTo>
                        <a:pt x="155568" y="241121"/>
                      </a:lnTo>
                      <a:lnTo>
                        <a:pt x="182697" y="246757"/>
                      </a:lnTo>
                      <a:lnTo>
                        <a:pt x="166987" y="255827"/>
                      </a:lnTo>
                      <a:lnTo>
                        <a:pt x="156075" y="302245"/>
                      </a:lnTo>
                      <a:lnTo>
                        <a:pt x="122476" y="302245"/>
                      </a:lnTo>
                      <a:lnTo>
                        <a:pt x="111565" y="255827"/>
                      </a:lnTo>
                      <a:cubicBezTo>
                        <a:pt x="92967" y="250905"/>
                        <a:pt x="76016" y="241118"/>
                        <a:pt x="62455" y="227473"/>
                      </a:cubicBezTo>
                      <a:lnTo>
                        <a:pt x="16799" y="241233"/>
                      </a:lnTo>
                      <a:lnTo>
                        <a:pt x="0" y="212135"/>
                      </a:lnTo>
                      <a:lnTo>
                        <a:pt x="34743" y="179476"/>
                      </a:lnTo>
                      <a:cubicBezTo>
                        <a:pt x="29707" y="160909"/>
                        <a:pt x="29707" y="141335"/>
                        <a:pt x="34743" y="122768"/>
                      </a:cubicBezTo>
                      <a:lnTo>
                        <a:pt x="0" y="90110"/>
                      </a:lnTo>
                      <a:lnTo>
                        <a:pt x="16799" y="61012"/>
                      </a:lnTo>
                      <a:lnTo>
                        <a:pt x="62454" y="74772"/>
                      </a:lnTo>
                      <a:close/>
                      <a:moveTo>
                        <a:pt x="122476" y="0"/>
                      </a:moveTo>
                      <a:lnTo>
                        <a:pt x="156075" y="0"/>
                      </a:lnTo>
                      <a:lnTo>
                        <a:pt x="165987" y="42169"/>
                      </a:lnTo>
                      <a:lnTo>
                        <a:pt x="142303" y="37087"/>
                      </a:lnTo>
                      <a:lnTo>
                        <a:pt x="112428" y="42742"/>
                      </a:lnTo>
                      <a:close/>
                    </a:path>
                  </a:pathLst>
                </a:custGeom>
                <a:solidFill>
                  <a:schemeClr val="bg1"/>
                </a:solidFill>
                <a:ln w="19050">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37" name="Freeform 36"/>
                <p:cNvSpPr/>
                <p:nvPr/>
              </p:nvSpPr>
              <p:spPr>
                <a:xfrm rot="20021754">
                  <a:off x="2054359" y="3161328"/>
                  <a:ext cx="403626" cy="168587"/>
                </a:xfrm>
                <a:custGeom>
                  <a:avLst/>
                  <a:gdLst>
                    <a:gd name="connsiteX0" fmla="*/ 99307 w 541041"/>
                    <a:gd name="connsiteY0" fmla="*/ 54263 h 225982"/>
                    <a:gd name="connsiteX1" fmla="*/ 136175 w 541041"/>
                    <a:gd name="connsiteY1" fmla="*/ 104206 h 225982"/>
                    <a:gd name="connsiteX2" fmla="*/ 103289 w 541041"/>
                    <a:gd name="connsiteY2" fmla="*/ 170735 h 225982"/>
                    <a:gd name="connsiteX3" fmla="*/ 38879 w 541041"/>
                    <a:gd name="connsiteY3" fmla="*/ 171028 h 225982"/>
                    <a:gd name="connsiteX4" fmla="*/ 0 w 541041"/>
                    <a:gd name="connsiteY4" fmla="*/ 119677 h 225982"/>
                    <a:gd name="connsiteX5" fmla="*/ 33698 w 541041"/>
                    <a:gd name="connsiteY5" fmla="*/ 51507 h 225982"/>
                    <a:gd name="connsiteX6" fmla="*/ 43218 w 541041"/>
                    <a:gd name="connsiteY6" fmla="*/ 51464 h 225982"/>
                    <a:gd name="connsiteX7" fmla="*/ 43218 w 541041"/>
                    <a:gd name="connsiteY7" fmla="*/ 53838 h 225982"/>
                    <a:gd name="connsiteX8" fmla="*/ 504723 w 541041"/>
                    <a:gd name="connsiteY8" fmla="*/ 53019 h 225982"/>
                    <a:gd name="connsiteX9" fmla="*/ 541041 w 541041"/>
                    <a:gd name="connsiteY9" fmla="*/ 107811 h 225982"/>
                    <a:gd name="connsiteX10" fmla="*/ 481576 w 541041"/>
                    <a:gd name="connsiteY10" fmla="*/ 167276 h 225982"/>
                    <a:gd name="connsiteX11" fmla="*/ 171988 w 541041"/>
                    <a:gd name="connsiteY11" fmla="*/ 167276 h 225982"/>
                    <a:gd name="connsiteX12" fmla="*/ 143860 w 541041"/>
                    <a:gd name="connsiteY12" fmla="*/ 202747 h 225982"/>
                    <a:gd name="connsiteX13" fmla="*/ 99545 w 541041"/>
                    <a:gd name="connsiteY13" fmla="*/ 225955 h 225982"/>
                    <a:gd name="connsiteX14" fmla="*/ 99000 w 541041"/>
                    <a:gd name="connsiteY14" fmla="*/ 225982 h 225982"/>
                    <a:gd name="connsiteX15" fmla="*/ 66761 w 541041"/>
                    <a:gd name="connsiteY15" fmla="*/ 217441 h 225982"/>
                    <a:gd name="connsiteX16" fmla="*/ 43218 w 541041"/>
                    <a:gd name="connsiteY16" fmla="*/ 199021 h 225982"/>
                    <a:gd name="connsiteX17" fmla="*/ 43218 w 541041"/>
                    <a:gd name="connsiteY17" fmla="*/ 173385 h 225982"/>
                    <a:gd name="connsiteX18" fmla="*/ 103037 w 541041"/>
                    <a:gd name="connsiteY18" fmla="*/ 173839 h 225982"/>
                    <a:gd name="connsiteX19" fmla="*/ 137561 w 541041"/>
                    <a:gd name="connsiteY19" fmla="*/ 106083 h 225982"/>
                    <a:gd name="connsiteX20" fmla="*/ 136175 w 541041"/>
                    <a:gd name="connsiteY20" fmla="*/ 104206 h 225982"/>
                    <a:gd name="connsiteX21" fmla="*/ 136987 w 541041"/>
                    <a:gd name="connsiteY21" fmla="*/ 102565 h 225982"/>
                    <a:gd name="connsiteX22" fmla="*/ 98106 w 541041"/>
                    <a:gd name="connsiteY22" fmla="*/ 51213 h 225982"/>
                    <a:gd name="connsiteX23" fmla="*/ 43218 w 541041"/>
                    <a:gd name="connsiteY23" fmla="*/ 51464 h 225982"/>
                    <a:gd name="connsiteX24" fmla="*/ 43218 w 541041"/>
                    <a:gd name="connsiteY24" fmla="*/ 22915 h 225982"/>
                    <a:gd name="connsiteX25" fmla="*/ 77964 w 541041"/>
                    <a:gd name="connsiteY25" fmla="*/ 1110 h 225982"/>
                    <a:gd name="connsiteX26" fmla="*/ 85046 w 541041"/>
                    <a:gd name="connsiteY26" fmla="*/ 0 h 225982"/>
                    <a:gd name="connsiteX27" fmla="*/ 121741 w 541041"/>
                    <a:gd name="connsiteY27" fmla="*/ 10236 h 225982"/>
                    <a:gd name="connsiteX28" fmla="*/ 157909 w 541041"/>
                    <a:gd name="connsiteY28" fmla="*/ 38916 h 225982"/>
                    <a:gd name="connsiteX29" fmla="*/ 163138 w 541041"/>
                    <a:gd name="connsiteY29" fmla="*/ 48346 h 225982"/>
                    <a:gd name="connsiteX30" fmla="*/ 481576 w 541041"/>
                    <a:gd name="connsiteY30" fmla="*/ 48346 h 225982"/>
                    <a:gd name="connsiteX31" fmla="*/ 504723 w 541041"/>
                    <a:gd name="connsiteY31" fmla="*/ 53019 h 22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41041" h="225982">
                      <a:moveTo>
                        <a:pt x="99307" y="54263"/>
                      </a:moveTo>
                      <a:lnTo>
                        <a:pt x="136175" y="104206"/>
                      </a:lnTo>
                      <a:lnTo>
                        <a:pt x="103289" y="170735"/>
                      </a:lnTo>
                      <a:lnTo>
                        <a:pt x="38879" y="171028"/>
                      </a:lnTo>
                      <a:lnTo>
                        <a:pt x="0" y="119677"/>
                      </a:lnTo>
                      <a:lnTo>
                        <a:pt x="33698" y="51507"/>
                      </a:lnTo>
                      <a:lnTo>
                        <a:pt x="43218" y="51464"/>
                      </a:lnTo>
                      <a:lnTo>
                        <a:pt x="43218" y="53838"/>
                      </a:lnTo>
                      <a:close/>
                      <a:moveTo>
                        <a:pt x="504723" y="53019"/>
                      </a:moveTo>
                      <a:cubicBezTo>
                        <a:pt x="526066" y="62046"/>
                        <a:pt x="541041" y="83180"/>
                        <a:pt x="541041" y="107811"/>
                      </a:cubicBezTo>
                      <a:cubicBezTo>
                        <a:pt x="541041" y="140653"/>
                        <a:pt x="514418" y="167276"/>
                        <a:pt x="481576" y="167276"/>
                      </a:cubicBezTo>
                      <a:lnTo>
                        <a:pt x="171988" y="167276"/>
                      </a:lnTo>
                      <a:lnTo>
                        <a:pt x="143860" y="202747"/>
                      </a:lnTo>
                      <a:cubicBezTo>
                        <a:pt x="130861" y="213683"/>
                        <a:pt x="115692" y="221548"/>
                        <a:pt x="99545" y="225955"/>
                      </a:cubicBezTo>
                      <a:lnTo>
                        <a:pt x="99000" y="225982"/>
                      </a:lnTo>
                      <a:lnTo>
                        <a:pt x="66761" y="217441"/>
                      </a:lnTo>
                      <a:lnTo>
                        <a:pt x="43218" y="199021"/>
                      </a:lnTo>
                      <a:lnTo>
                        <a:pt x="43218" y="173385"/>
                      </a:lnTo>
                      <a:lnTo>
                        <a:pt x="103037" y="173839"/>
                      </a:lnTo>
                      <a:lnTo>
                        <a:pt x="137561" y="106083"/>
                      </a:lnTo>
                      <a:lnTo>
                        <a:pt x="136175" y="104206"/>
                      </a:lnTo>
                      <a:lnTo>
                        <a:pt x="136987" y="102565"/>
                      </a:lnTo>
                      <a:lnTo>
                        <a:pt x="98106" y="51213"/>
                      </a:lnTo>
                      <a:lnTo>
                        <a:pt x="43218" y="51464"/>
                      </a:lnTo>
                      <a:lnTo>
                        <a:pt x="43218" y="22915"/>
                      </a:lnTo>
                      <a:lnTo>
                        <a:pt x="77964" y="1110"/>
                      </a:lnTo>
                      <a:lnTo>
                        <a:pt x="85046" y="0"/>
                      </a:lnTo>
                      <a:lnTo>
                        <a:pt x="121741" y="10236"/>
                      </a:lnTo>
                      <a:cubicBezTo>
                        <a:pt x="136041" y="17522"/>
                        <a:pt x="148188" y="27361"/>
                        <a:pt x="157909" y="38916"/>
                      </a:cubicBezTo>
                      <a:lnTo>
                        <a:pt x="163138" y="48346"/>
                      </a:lnTo>
                      <a:lnTo>
                        <a:pt x="481576" y="48346"/>
                      </a:lnTo>
                      <a:cubicBezTo>
                        <a:pt x="489787" y="48346"/>
                        <a:pt x="497608" y="50010"/>
                        <a:pt x="504723" y="53019"/>
                      </a:cubicBezTo>
                      <a:close/>
                    </a:path>
                  </a:pathLst>
                </a:cu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38" name="Hexagon 37"/>
                <p:cNvSpPr/>
                <p:nvPr/>
              </p:nvSpPr>
              <p:spPr>
                <a:xfrm rot="16200000">
                  <a:off x="2067787" y="3266584"/>
                  <a:ext cx="102880" cy="89052"/>
                </a:xfrm>
                <a:prstGeom prst="hexagon">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dirty="0"/>
                </a:p>
              </p:txBody>
            </p:sp>
          </p:grpSp>
        </p:grpSp>
      </p:grpSp>
      <p:sp>
        <p:nvSpPr>
          <p:cNvPr id="42" name="Green Workload"/>
          <p:cNvSpPr/>
          <p:nvPr/>
        </p:nvSpPr>
        <p:spPr>
          <a:xfrm>
            <a:off x="2047635" y="763222"/>
            <a:ext cx="6604000" cy="399484"/>
          </a:xfrm>
          <a:custGeom>
            <a:avLst/>
            <a:gdLst>
              <a:gd name="connsiteX0" fmla="*/ 0 w 6604000"/>
              <a:gd name="connsiteY0" fmla="*/ 0 h 673100"/>
              <a:gd name="connsiteX1" fmla="*/ 2514600 w 6604000"/>
              <a:gd name="connsiteY1" fmla="*/ 0 h 673100"/>
              <a:gd name="connsiteX2" fmla="*/ 3060700 w 6604000"/>
              <a:gd name="connsiteY2" fmla="*/ 673100 h 673100"/>
              <a:gd name="connsiteX3" fmla="*/ 6604000 w 6604000"/>
              <a:gd name="connsiteY3" fmla="*/ 673100 h 673100"/>
            </a:gdLst>
            <a:ahLst/>
            <a:cxnLst>
              <a:cxn ang="0">
                <a:pos x="connsiteX0" y="connsiteY0"/>
              </a:cxn>
              <a:cxn ang="0">
                <a:pos x="connsiteX1" y="connsiteY1"/>
              </a:cxn>
              <a:cxn ang="0">
                <a:pos x="connsiteX2" y="connsiteY2"/>
              </a:cxn>
              <a:cxn ang="0">
                <a:pos x="connsiteX3" y="connsiteY3"/>
              </a:cxn>
            </a:cxnLst>
            <a:rect l="l" t="t" r="r" b="b"/>
            <a:pathLst>
              <a:path w="6604000" h="673100">
                <a:moveTo>
                  <a:pt x="0" y="0"/>
                </a:moveTo>
                <a:lnTo>
                  <a:pt x="2514600" y="0"/>
                </a:lnTo>
                <a:lnTo>
                  <a:pt x="3060700" y="673100"/>
                </a:lnTo>
                <a:lnTo>
                  <a:pt x="6604000" y="673100"/>
                </a:lnTo>
              </a:path>
            </a:pathLst>
          </a:custGeom>
          <a:noFill/>
          <a:ln w="57150">
            <a:solidFill>
              <a:schemeClr val="accent3"/>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Green Tenant"/>
          <p:cNvSpPr/>
          <p:nvPr/>
        </p:nvSpPr>
        <p:spPr>
          <a:xfrm>
            <a:off x="1295742" y="404444"/>
            <a:ext cx="475862" cy="556102"/>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bg2"/>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43" name="Yellow Tenant"/>
          <p:cNvSpPr/>
          <p:nvPr/>
        </p:nvSpPr>
        <p:spPr>
          <a:xfrm>
            <a:off x="1448142" y="556844"/>
            <a:ext cx="475862" cy="556102"/>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bg2"/>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45" name="Yellow Workload"/>
          <p:cNvSpPr/>
          <p:nvPr/>
        </p:nvSpPr>
        <p:spPr>
          <a:xfrm>
            <a:off x="2200035" y="877522"/>
            <a:ext cx="6451600" cy="399484"/>
          </a:xfrm>
          <a:custGeom>
            <a:avLst/>
            <a:gdLst>
              <a:gd name="connsiteX0" fmla="*/ 0 w 6604000"/>
              <a:gd name="connsiteY0" fmla="*/ 0 h 673100"/>
              <a:gd name="connsiteX1" fmla="*/ 2514600 w 6604000"/>
              <a:gd name="connsiteY1" fmla="*/ 0 h 673100"/>
              <a:gd name="connsiteX2" fmla="*/ 3060700 w 6604000"/>
              <a:gd name="connsiteY2" fmla="*/ 673100 h 673100"/>
              <a:gd name="connsiteX3" fmla="*/ 6604000 w 6604000"/>
              <a:gd name="connsiteY3" fmla="*/ 673100 h 673100"/>
            </a:gdLst>
            <a:ahLst/>
            <a:cxnLst>
              <a:cxn ang="0">
                <a:pos x="connsiteX0" y="connsiteY0"/>
              </a:cxn>
              <a:cxn ang="0">
                <a:pos x="connsiteX1" y="connsiteY1"/>
              </a:cxn>
              <a:cxn ang="0">
                <a:pos x="connsiteX2" y="connsiteY2"/>
              </a:cxn>
              <a:cxn ang="0">
                <a:pos x="connsiteX3" y="connsiteY3"/>
              </a:cxn>
            </a:cxnLst>
            <a:rect l="l" t="t" r="r" b="b"/>
            <a:pathLst>
              <a:path w="6604000" h="673100">
                <a:moveTo>
                  <a:pt x="0" y="0"/>
                </a:moveTo>
                <a:lnTo>
                  <a:pt x="2514600" y="0"/>
                </a:lnTo>
                <a:lnTo>
                  <a:pt x="3060700" y="673100"/>
                </a:lnTo>
                <a:lnTo>
                  <a:pt x="6604000" y="673100"/>
                </a:lnTo>
              </a:path>
            </a:pathLst>
          </a:custGeom>
          <a:noFill/>
          <a:ln w="57150">
            <a:solidFill>
              <a:schemeClr val="accent3"/>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Blue Tenant"/>
          <p:cNvSpPr/>
          <p:nvPr/>
        </p:nvSpPr>
        <p:spPr>
          <a:xfrm>
            <a:off x="1600542" y="709244"/>
            <a:ext cx="475862" cy="556102"/>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bg2"/>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46" name="Blue Workload"/>
          <p:cNvSpPr/>
          <p:nvPr/>
        </p:nvSpPr>
        <p:spPr>
          <a:xfrm>
            <a:off x="2352435" y="979122"/>
            <a:ext cx="6299200" cy="399484"/>
          </a:xfrm>
          <a:custGeom>
            <a:avLst/>
            <a:gdLst>
              <a:gd name="connsiteX0" fmla="*/ 0 w 6604000"/>
              <a:gd name="connsiteY0" fmla="*/ 0 h 673100"/>
              <a:gd name="connsiteX1" fmla="*/ 2514600 w 6604000"/>
              <a:gd name="connsiteY1" fmla="*/ 0 h 673100"/>
              <a:gd name="connsiteX2" fmla="*/ 3060700 w 6604000"/>
              <a:gd name="connsiteY2" fmla="*/ 673100 h 673100"/>
              <a:gd name="connsiteX3" fmla="*/ 6604000 w 6604000"/>
              <a:gd name="connsiteY3" fmla="*/ 673100 h 673100"/>
            </a:gdLst>
            <a:ahLst/>
            <a:cxnLst>
              <a:cxn ang="0">
                <a:pos x="connsiteX0" y="connsiteY0"/>
              </a:cxn>
              <a:cxn ang="0">
                <a:pos x="connsiteX1" y="connsiteY1"/>
              </a:cxn>
              <a:cxn ang="0">
                <a:pos x="connsiteX2" y="connsiteY2"/>
              </a:cxn>
              <a:cxn ang="0">
                <a:pos x="connsiteX3" y="connsiteY3"/>
              </a:cxn>
            </a:cxnLst>
            <a:rect l="l" t="t" r="r" b="b"/>
            <a:pathLst>
              <a:path w="6604000" h="673100">
                <a:moveTo>
                  <a:pt x="0" y="0"/>
                </a:moveTo>
                <a:lnTo>
                  <a:pt x="2514600" y="0"/>
                </a:lnTo>
                <a:lnTo>
                  <a:pt x="3060700" y="673100"/>
                </a:lnTo>
                <a:lnTo>
                  <a:pt x="6604000" y="673100"/>
                </a:lnTo>
              </a:path>
            </a:pathLst>
          </a:custGeom>
          <a:noFill/>
          <a:ln w="57150">
            <a:solidFill>
              <a:schemeClr val="accent3"/>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6" name="Instrumented System"/>
          <p:cNvGrpSpPr/>
          <p:nvPr/>
        </p:nvGrpSpPr>
        <p:grpSpPr>
          <a:xfrm>
            <a:off x="2409805" y="-45532"/>
            <a:ext cx="6633414" cy="369332"/>
            <a:chOff x="2028805" y="-25868"/>
            <a:chExt cx="6633414" cy="369332"/>
          </a:xfrm>
        </p:grpSpPr>
        <p:cxnSp>
          <p:nvCxnSpPr>
            <p:cNvPr id="170" name="Straight Connector 169"/>
            <p:cNvCxnSpPr/>
            <p:nvPr/>
          </p:nvCxnSpPr>
          <p:spPr>
            <a:xfrm>
              <a:off x="2055612" y="294968"/>
              <a:ext cx="660660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71" name="TextBox 170"/>
            <p:cNvSpPr txBox="1"/>
            <p:nvPr/>
          </p:nvSpPr>
          <p:spPr>
            <a:xfrm>
              <a:off x="2028805" y="-25868"/>
              <a:ext cx="2180853" cy="369332"/>
            </a:xfrm>
            <a:prstGeom prst="rect">
              <a:avLst/>
            </a:prstGeom>
            <a:noFill/>
          </p:spPr>
          <p:txBody>
            <a:bodyPr wrap="none" rtlCol="0">
              <a:spAutoFit/>
            </a:bodyPr>
            <a:lstStyle/>
            <a:p>
              <a:r>
                <a:rPr lang="en-US" dirty="0" smtClean="0"/>
                <a:t>Instrumented System</a:t>
              </a:r>
              <a:endParaRPr lang="en-US" dirty="0"/>
            </a:p>
          </p:txBody>
        </p:sp>
        <p:sp>
          <p:nvSpPr>
            <p:cNvPr id="173" name="TextBox 172"/>
            <p:cNvSpPr txBox="1"/>
            <p:nvPr/>
          </p:nvSpPr>
          <p:spPr>
            <a:xfrm>
              <a:off x="4222190" y="-25868"/>
              <a:ext cx="370614" cy="369332"/>
            </a:xfrm>
            <a:prstGeom prst="rect">
              <a:avLst/>
            </a:prstGeom>
            <a:noFill/>
          </p:spPr>
          <p:txBody>
            <a:bodyPr wrap="none" rtlCol="0">
              <a:spAutoFit/>
            </a:bodyPr>
            <a:lstStyle/>
            <a:p>
              <a:r>
                <a:rPr lang="en-US" dirty="0" smtClean="0"/>
                <a:t>(+</a:t>
              </a:r>
              <a:endParaRPr lang="en-US" dirty="0"/>
            </a:p>
          </p:txBody>
        </p:sp>
        <p:sp>
          <p:nvSpPr>
            <p:cNvPr id="182" name="Freeform 181"/>
            <p:cNvSpPr/>
            <p:nvPr/>
          </p:nvSpPr>
          <p:spPr>
            <a:xfrm flipH="1">
              <a:off x="4521318" y="48908"/>
              <a:ext cx="268369" cy="219780"/>
            </a:xfrm>
            <a:custGeom>
              <a:avLst/>
              <a:gdLst>
                <a:gd name="connsiteX0" fmla="*/ 205184 w 1161142"/>
                <a:gd name="connsiteY0" fmla="*/ 225311 h 1009083"/>
                <a:gd name="connsiteX1" fmla="*/ 130631 w 1161142"/>
                <a:gd name="connsiteY1" fmla="*/ 225311 h 1009083"/>
                <a:gd name="connsiteX2" fmla="*/ 0 w 1161142"/>
                <a:gd name="connsiteY2" fmla="*/ 355942 h 1009083"/>
                <a:gd name="connsiteX3" fmla="*/ 0 w 1161142"/>
                <a:gd name="connsiteY3" fmla="*/ 878452 h 1009083"/>
                <a:gd name="connsiteX4" fmla="*/ 130631 w 1161142"/>
                <a:gd name="connsiteY4" fmla="*/ 1009083 h 1009083"/>
                <a:gd name="connsiteX5" fmla="*/ 205184 w 1161142"/>
                <a:gd name="connsiteY5" fmla="*/ 1009083 h 1009083"/>
                <a:gd name="connsiteX6" fmla="*/ 1030511 w 1161142"/>
                <a:gd name="connsiteY6" fmla="*/ 225311 h 1009083"/>
                <a:gd name="connsiteX7" fmla="*/ 955958 w 1161142"/>
                <a:gd name="connsiteY7" fmla="*/ 225311 h 1009083"/>
                <a:gd name="connsiteX8" fmla="*/ 955958 w 1161142"/>
                <a:gd name="connsiteY8" fmla="*/ 1009083 h 1009083"/>
                <a:gd name="connsiteX9" fmla="*/ 1030511 w 1161142"/>
                <a:gd name="connsiteY9" fmla="*/ 1009083 h 1009083"/>
                <a:gd name="connsiteX10" fmla="*/ 1161142 w 1161142"/>
                <a:gd name="connsiteY10" fmla="*/ 878452 h 1009083"/>
                <a:gd name="connsiteX11" fmla="*/ 1161142 w 1161142"/>
                <a:gd name="connsiteY11" fmla="*/ 355942 h 1009083"/>
                <a:gd name="connsiteX12" fmla="*/ 1030511 w 1161142"/>
                <a:gd name="connsiteY12" fmla="*/ 225311 h 1009083"/>
                <a:gd name="connsiteX13" fmla="*/ 580571 w 1161142"/>
                <a:gd name="connsiteY13" fmla="*/ 76200 h 1009083"/>
                <a:gd name="connsiteX14" fmla="*/ 729682 w 1161142"/>
                <a:gd name="connsiteY14" fmla="*/ 225311 h 1009083"/>
                <a:gd name="connsiteX15" fmla="*/ 431460 w 1161142"/>
                <a:gd name="connsiteY15" fmla="*/ 225311 h 1009083"/>
                <a:gd name="connsiteX16" fmla="*/ 580571 w 1161142"/>
                <a:gd name="connsiteY16" fmla="*/ 76200 h 1009083"/>
                <a:gd name="connsiteX17" fmla="*/ 580571 w 1161142"/>
                <a:gd name="connsiteY17" fmla="*/ 0 h 1009083"/>
                <a:gd name="connsiteX18" fmla="*/ 355260 w 1161142"/>
                <a:gd name="connsiteY18" fmla="*/ 225311 h 1009083"/>
                <a:gd name="connsiteX19" fmla="*/ 290704 w 1161142"/>
                <a:gd name="connsiteY19" fmla="*/ 225311 h 1009083"/>
                <a:gd name="connsiteX20" fmla="*/ 290704 w 1161142"/>
                <a:gd name="connsiteY20" fmla="*/ 1009083 h 1009083"/>
                <a:gd name="connsiteX21" fmla="*/ 870438 w 1161142"/>
                <a:gd name="connsiteY21" fmla="*/ 1009083 h 1009083"/>
                <a:gd name="connsiteX22" fmla="*/ 870438 w 1161142"/>
                <a:gd name="connsiteY22" fmla="*/ 225311 h 1009083"/>
                <a:gd name="connsiteX23" fmla="*/ 805882 w 1161142"/>
                <a:gd name="connsiteY23" fmla="*/ 225311 h 1009083"/>
                <a:gd name="connsiteX24" fmla="*/ 580571 w 1161142"/>
                <a:gd name="connsiteY24" fmla="*/ 0 h 100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61142" h="1009083">
                  <a:moveTo>
                    <a:pt x="205184" y="225311"/>
                  </a:moveTo>
                  <a:lnTo>
                    <a:pt x="130631" y="225311"/>
                  </a:lnTo>
                  <a:cubicBezTo>
                    <a:pt x="58485" y="225311"/>
                    <a:pt x="0" y="283796"/>
                    <a:pt x="0" y="355942"/>
                  </a:cubicBezTo>
                  <a:lnTo>
                    <a:pt x="0" y="878452"/>
                  </a:lnTo>
                  <a:cubicBezTo>
                    <a:pt x="0" y="950598"/>
                    <a:pt x="58485" y="1009083"/>
                    <a:pt x="130631" y="1009083"/>
                  </a:cubicBezTo>
                  <a:lnTo>
                    <a:pt x="205184" y="1009083"/>
                  </a:lnTo>
                  <a:close/>
                  <a:moveTo>
                    <a:pt x="1030511" y="225311"/>
                  </a:moveTo>
                  <a:lnTo>
                    <a:pt x="955958" y="225311"/>
                  </a:lnTo>
                  <a:lnTo>
                    <a:pt x="955958" y="1009083"/>
                  </a:lnTo>
                  <a:lnTo>
                    <a:pt x="1030511" y="1009083"/>
                  </a:lnTo>
                  <a:cubicBezTo>
                    <a:pt x="1102657" y="1009083"/>
                    <a:pt x="1161142" y="950598"/>
                    <a:pt x="1161142" y="878452"/>
                  </a:cubicBezTo>
                  <a:lnTo>
                    <a:pt x="1161142" y="355942"/>
                  </a:lnTo>
                  <a:cubicBezTo>
                    <a:pt x="1161142" y="283796"/>
                    <a:pt x="1102657" y="225311"/>
                    <a:pt x="1030511" y="225311"/>
                  </a:cubicBezTo>
                  <a:close/>
                  <a:moveTo>
                    <a:pt x="580571" y="76200"/>
                  </a:moveTo>
                  <a:cubicBezTo>
                    <a:pt x="662923" y="76200"/>
                    <a:pt x="729682" y="142959"/>
                    <a:pt x="729682" y="225311"/>
                  </a:cubicBezTo>
                  <a:lnTo>
                    <a:pt x="431460" y="225311"/>
                  </a:lnTo>
                  <a:cubicBezTo>
                    <a:pt x="431460" y="142959"/>
                    <a:pt x="498219" y="76200"/>
                    <a:pt x="580571" y="76200"/>
                  </a:cubicBezTo>
                  <a:close/>
                  <a:moveTo>
                    <a:pt x="580571" y="0"/>
                  </a:moveTo>
                  <a:cubicBezTo>
                    <a:pt x="456135" y="0"/>
                    <a:pt x="355260" y="100875"/>
                    <a:pt x="355260" y="225311"/>
                  </a:cubicBezTo>
                  <a:lnTo>
                    <a:pt x="290704" y="225311"/>
                  </a:lnTo>
                  <a:lnTo>
                    <a:pt x="290704" y="1009083"/>
                  </a:lnTo>
                  <a:lnTo>
                    <a:pt x="870438" y="1009083"/>
                  </a:lnTo>
                  <a:lnTo>
                    <a:pt x="870438" y="225311"/>
                  </a:lnTo>
                  <a:lnTo>
                    <a:pt x="805882" y="225311"/>
                  </a:lnTo>
                  <a:cubicBezTo>
                    <a:pt x="805882" y="100875"/>
                    <a:pt x="705007" y="0"/>
                    <a:pt x="580571"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83" name="TextBox 182"/>
            <p:cNvSpPr txBox="1"/>
            <p:nvPr/>
          </p:nvSpPr>
          <p:spPr>
            <a:xfrm>
              <a:off x="4706823" y="-25868"/>
              <a:ext cx="1132746" cy="369332"/>
            </a:xfrm>
            <a:prstGeom prst="rect">
              <a:avLst/>
            </a:prstGeom>
            <a:noFill/>
          </p:spPr>
          <p:txBody>
            <a:bodyPr wrap="none" rtlCol="0">
              <a:spAutoFit/>
            </a:bodyPr>
            <a:lstStyle/>
            <a:p>
              <a:r>
                <a:rPr lang="en-US" dirty="0" smtClean="0"/>
                <a:t> Baggage, </a:t>
              </a:r>
              <a:endParaRPr lang="en-US" dirty="0"/>
            </a:p>
          </p:txBody>
        </p:sp>
        <p:grpSp>
          <p:nvGrpSpPr>
            <p:cNvPr id="177" name="Group 176"/>
            <p:cNvGrpSpPr/>
            <p:nvPr/>
          </p:nvGrpSpPr>
          <p:grpSpPr>
            <a:xfrm>
              <a:off x="5905195" y="53952"/>
              <a:ext cx="351612" cy="209692"/>
              <a:chOff x="7760681" y="2437731"/>
              <a:chExt cx="456050" cy="271976"/>
            </a:xfrm>
          </p:grpSpPr>
          <p:sp>
            <p:nvSpPr>
              <p:cNvPr id="179" name="Freeform 178"/>
              <p:cNvSpPr/>
              <p:nvPr/>
            </p:nvSpPr>
            <p:spPr>
              <a:xfrm>
                <a:off x="7760681" y="2484227"/>
                <a:ext cx="207804" cy="225480"/>
              </a:xfrm>
              <a:custGeom>
                <a:avLst/>
                <a:gdLst>
                  <a:gd name="connsiteX0" fmla="*/ 250470 w 278551"/>
                  <a:gd name="connsiteY0" fmla="*/ 185740 h 302245"/>
                  <a:gd name="connsiteX1" fmla="*/ 278551 w 278551"/>
                  <a:gd name="connsiteY1" fmla="*/ 212135 h 302245"/>
                  <a:gd name="connsiteX2" fmla="*/ 261752 w 278551"/>
                  <a:gd name="connsiteY2" fmla="*/ 241233 h 302245"/>
                  <a:gd name="connsiteX3" fmla="*/ 225317 w 278551"/>
                  <a:gd name="connsiteY3" fmla="*/ 230252 h 302245"/>
                  <a:gd name="connsiteX4" fmla="*/ 247440 w 278551"/>
                  <a:gd name="connsiteY4" fmla="*/ 199863 h 302245"/>
                  <a:gd name="connsiteX5" fmla="*/ 139274 w 278551"/>
                  <a:gd name="connsiteY5" fmla="*/ 84295 h 302245"/>
                  <a:gd name="connsiteX6" fmla="*/ 196885 w 278551"/>
                  <a:gd name="connsiteY6" fmla="*/ 113100 h 302245"/>
                  <a:gd name="connsiteX7" fmla="*/ 196884 w 278551"/>
                  <a:gd name="connsiteY7" fmla="*/ 114931 h 302245"/>
                  <a:gd name="connsiteX8" fmla="*/ 141702 w 278551"/>
                  <a:gd name="connsiteY8" fmla="*/ 86497 h 302245"/>
                  <a:gd name="connsiteX9" fmla="*/ 91232 w 278551"/>
                  <a:gd name="connsiteY9" fmla="*/ 110971 h 302245"/>
                  <a:gd name="connsiteX10" fmla="*/ 90180 w 278551"/>
                  <a:gd name="connsiteY10" fmla="*/ 108843 h 302245"/>
                  <a:gd name="connsiteX11" fmla="*/ 93907 w 278551"/>
                  <a:gd name="connsiteY11" fmla="*/ 56612 h 302245"/>
                  <a:gd name="connsiteX12" fmla="*/ 77529 w 278551"/>
                  <a:gd name="connsiteY12" fmla="*/ 83250 h 302245"/>
                  <a:gd name="connsiteX13" fmla="*/ 90180 w 278551"/>
                  <a:gd name="connsiteY13" fmla="*/ 108843 h 302245"/>
                  <a:gd name="connsiteX14" fmla="*/ 81665 w 278551"/>
                  <a:gd name="connsiteY14" fmla="*/ 113100 h 302245"/>
                  <a:gd name="connsiteX15" fmla="*/ 81665 w 278551"/>
                  <a:gd name="connsiteY15" fmla="*/ 189144 h 302245"/>
                  <a:gd name="connsiteX16" fmla="*/ 139274 w 278551"/>
                  <a:gd name="connsiteY16" fmla="*/ 217949 h 302245"/>
                  <a:gd name="connsiteX17" fmla="*/ 196884 w 278551"/>
                  <a:gd name="connsiteY17" fmla="*/ 189144 h 302245"/>
                  <a:gd name="connsiteX18" fmla="*/ 196884 w 278551"/>
                  <a:gd name="connsiteY18" fmla="*/ 114931 h 302245"/>
                  <a:gd name="connsiteX19" fmla="*/ 198958 w 278551"/>
                  <a:gd name="connsiteY19" fmla="*/ 115999 h 302245"/>
                  <a:gd name="connsiteX20" fmla="*/ 198034 w 278551"/>
                  <a:gd name="connsiteY20" fmla="*/ 192038 h 302245"/>
                  <a:gd name="connsiteX21" fmla="*/ 144208 w 278551"/>
                  <a:gd name="connsiteY21" fmla="*/ 218139 h 302245"/>
                  <a:gd name="connsiteX22" fmla="*/ 155568 w 278551"/>
                  <a:gd name="connsiteY22" fmla="*/ 241121 h 302245"/>
                  <a:gd name="connsiteX23" fmla="*/ 182697 w 278551"/>
                  <a:gd name="connsiteY23" fmla="*/ 246757 h 302245"/>
                  <a:gd name="connsiteX24" fmla="*/ 166987 w 278551"/>
                  <a:gd name="connsiteY24" fmla="*/ 255827 h 302245"/>
                  <a:gd name="connsiteX25" fmla="*/ 156075 w 278551"/>
                  <a:gd name="connsiteY25" fmla="*/ 302245 h 302245"/>
                  <a:gd name="connsiteX26" fmla="*/ 122476 w 278551"/>
                  <a:gd name="connsiteY26" fmla="*/ 302245 h 302245"/>
                  <a:gd name="connsiteX27" fmla="*/ 111565 w 278551"/>
                  <a:gd name="connsiteY27" fmla="*/ 255827 h 302245"/>
                  <a:gd name="connsiteX28" fmla="*/ 62455 w 278551"/>
                  <a:gd name="connsiteY28" fmla="*/ 227473 h 302245"/>
                  <a:gd name="connsiteX29" fmla="*/ 16799 w 278551"/>
                  <a:gd name="connsiteY29" fmla="*/ 241233 h 302245"/>
                  <a:gd name="connsiteX30" fmla="*/ 0 w 278551"/>
                  <a:gd name="connsiteY30" fmla="*/ 212135 h 302245"/>
                  <a:gd name="connsiteX31" fmla="*/ 34743 w 278551"/>
                  <a:gd name="connsiteY31" fmla="*/ 179476 h 302245"/>
                  <a:gd name="connsiteX32" fmla="*/ 34743 w 278551"/>
                  <a:gd name="connsiteY32" fmla="*/ 122768 h 302245"/>
                  <a:gd name="connsiteX33" fmla="*/ 0 w 278551"/>
                  <a:gd name="connsiteY33" fmla="*/ 90110 h 302245"/>
                  <a:gd name="connsiteX34" fmla="*/ 16799 w 278551"/>
                  <a:gd name="connsiteY34" fmla="*/ 61012 h 302245"/>
                  <a:gd name="connsiteX35" fmla="*/ 62454 w 278551"/>
                  <a:gd name="connsiteY35" fmla="*/ 74772 h 302245"/>
                  <a:gd name="connsiteX36" fmla="*/ 122476 w 278551"/>
                  <a:gd name="connsiteY36" fmla="*/ 0 h 302245"/>
                  <a:gd name="connsiteX37" fmla="*/ 156075 w 278551"/>
                  <a:gd name="connsiteY37" fmla="*/ 0 h 302245"/>
                  <a:gd name="connsiteX38" fmla="*/ 165987 w 278551"/>
                  <a:gd name="connsiteY38" fmla="*/ 42169 h 302245"/>
                  <a:gd name="connsiteX39" fmla="*/ 142303 w 278551"/>
                  <a:gd name="connsiteY39" fmla="*/ 37087 h 302245"/>
                  <a:gd name="connsiteX40" fmla="*/ 112428 w 278551"/>
                  <a:gd name="connsiteY40" fmla="*/ 42742 h 30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78551" h="302245">
                    <a:moveTo>
                      <a:pt x="250470" y="185740"/>
                    </a:moveTo>
                    <a:lnTo>
                      <a:pt x="278551" y="212135"/>
                    </a:lnTo>
                    <a:lnTo>
                      <a:pt x="261752" y="241233"/>
                    </a:lnTo>
                    <a:lnTo>
                      <a:pt x="225317" y="230252"/>
                    </a:lnTo>
                    <a:lnTo>
                      <a:pt x="247440" y="199863"/>
                    </a:lnTo>
                    <a:close/>
                    <a:moveTo>
                      <a:pt x="139274" y="84295"/>
                    </a:moveTo>
                    <a:lnTo>
                      <a:pt x="196885" y="113100"/>
                    </a:lnTo>
                    <a:lnTo>
                      <a:pt x="196884" y="114931"/>
                    </a:lnTo>
                    <a:lnTo>
                      <a:pt x="141702" y="86497"/>
                    </a:lnTo>
                    <a:lnTo>
                      <a:pt x="91232" y="110971"/>
                    </a:lnTo>
                    <a:lnTo>
                      <a:pt x="90180" y="108843"/>
                    </a:lnTo>
                    <a:close/>
                    <a:moveTo>
                      <a:pt x="93907" y="56612"/>
                    </a:moveTo>
                    <a:lnTo>
                      <a:pt x="77529" y="83250"/>
                    </a:lnTo>
                    <a:lnTo>
                      <a:pt x="90180" y="108843"/>
                    </a:lnTo>
                    <a:lnTo>
                      <a:pt x="81665" y="113100"/>
                    </a:lnTo>
                    <a:lnTo>
                      <a:pt x="81665" y="189144"/>
                    </a:lnTo>
                    <a:lnTo>
                      <a:pt x="139274" y="217949"/>
                    </a:lnTo>
                    <a:lnTo>
                      <a:pt x="196884" y="189144"/>
                    </a:lnTo>
                    <a:lnTo>
                      <a:pt x="196884" y="114931"/>
                    </a:lnTo>
                    <a:lnTo>
                      <a:pt x="198958" y="115999"/>
                    </a:lnTo>
                    <a:lnTo>
                      <a:pt x="198034" y="192038"/>
                    </a:lnTo>
                    <a:lnTo>
                      <a:pt x="144208" y="218139"/>
                    </a:lnTo>
                    <a:lnTo>
                      <a:pt x="155568" y="241121"/>
                    </a:lnTo>
                    <a:lnTo>
                      <a:pt x="182697" y="246757"/>
                    </a:lnTo>
                    <a:lnTo>
                      <a:pt x="166987" y="255827"/>
                    </a:lnTo>
                    <a:lnTo>
                      <a:pt x="156075" y="302245"/>
                    </a:lnTo>
                    <a:lnTo>
                      <a:pt x="122476" y="302245"/>
                    </a:lnTo>
                    <a:lnTo>
                      <a:pt x="111565" y="255827"/>
                    </a:lnTo>
                    <a:cubicBezTo>
                      <a:pt x="92967" y="250905"/>
                      <a:pt x="76016" y="241118"/>
                      <a:pt x="62455" y="227473"/>
                    </a:cubicBezTo>
                    <a:lnTo>
                      <a:pt x="16799" y="241233"/>
                    </a:lnTo>
                    <a:lnTo>
                      <a:pt x="0" y="212135"/>
                    </a:lnTo>
                    <a:lnTo>
                      <a:pt x="34743" y="179476"/>
                    </a:lnTo>
                    <a:cubicBezTo>
                      <a:pt x="29707" y="160909"/>
                      <a:pt x="29707" y="141335"/>
                      <a:pt x="34743" y="122768"/>
                    </a:cubicBezTo>
                    <a:lnTo>
                      <a:pt x="0" y="90110"/>
                    </a:lnTo>
                    <a:lnTo>
                      <a:pt x="16799" y="61012"/>
                    </a:lnTo>
                    <a:lnTo>
                      <a:pt x="62454" y="74772"/>
                    </a:lnTo>
                    <a:close/>
                    <a:moveTo>
                      <a:pt x="122476" y="0"/>
                    </a:moveTo>
                    <a:lnTo>
                      <a:pt x="156075" y="0"/>
                    </a:lnTo>
                    <a:lnTo>
                      <a:pt x="165987" y="42169"/>
                    </a:lnTo>
                    <a:lnTo>
                      <a:pt x="142303" y="37087"/>
                    </a:lnTo>
                    <a:lnTo>
                      <a:pt x="112428" y="42742"/>
                    </a:lnTo>
                    <a:close/>
                  </a:path>
                </a:pathLst>
              </a:custGeom>
              <a:solidFill>
                <a:schemeClr val="bg1"/>
              </a:solidFill>
              <a:ln w="19050">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80" name="Freeform 179"/>
              <p:cNvSpPr/>
              <p:nvPr/>
            </p:nvSpPr>
            <p:spPr>
              <a:xfrm rot="20021754">
                <a:off x="7797455" y="2437731"/>
                <a:ext cx="419276" cy="175124"/>
              </a:xfrm>
              <a:custGeom>
                <a:avLst/>
                <a:gdLst>
                  <a:gd name="connsiteX0" fmla="*/ 99307 w 541041"/>
                  <a:gd name="connsiteY0" fmla="*/ 54263 h 225982"/>
                  <a:gd name="connsiteX1" fmla="*/ 136175 w 541041"/>
                  <a:gd name="connsiteY1" fmla="*/ 104206 h 225982"/>
                  <a:gd name="connsiteX2" fmla="*/ 103289 w 541041"/>
                  <a:gd name="connsiteY2" fmla="*/ 170735 h 225982"/>
                  <a:gd name="connsiteX3" fmla="*/ 38879 w 541041"/>
                  <a:gd name="connsiteY3" fmla="*/ 171028 h 225982"/>
                  <a:gd name="connsiteX4" fmla="*/ 0 w 541041"/>
                  <a:gd name="connsiteY4" fmla="*/ 119677 h 225982"/>
                  <a:gd name="connsiteX5" fmla="*/ 33698 w 541041"/>
                  <a:gd name="connsiteY5" fmla="*/ 51507 h 225982"/>
                  <a:gd name="connsiteX6" fmla="*/ 43218 w 541041"/>
                  <a:gd name="connsiteY6" fmla="*/ 51464 h 225982"/>
                  <a:gd name="connsiteX7" fmla="*/ 43218 w 541041"/>
                  <a:gd name="connsiteY7" fmla="*/ 53838 h 225982"/>
                  <a:gd name="connsiteX8" fmla="*/ 504723 w 541041"/>
                  <a:gd name="connsiteY8" fmla="*/ 53019 h 225982"/>
                  <a:gd name="connsiteX9" fmla="*/ 541041 w 541041"/>
                  <a:gd name="connsiteY9" fmla="*/ 107811 h 225982"/>
                  <a:gd name="connsiteX10" fmla="*/ 481576 w 541041"/>
                  <a:gd name="connsiteY10" fmla="*/ 167276 h 225982"/>
                  <a:gd name="connsiteX11" fmla="*/ 171988 w 541041"/>
                  <a:gd name="connsiteY11" fmla="*/ 167276 h 225982"/>
                  <a:gd name="connsiteX12" fmla="*/ 143860 w 541041"/>
                  <a:gd name="connsiteY12" fmla="*/ 202747 h 225982"/>
                  <a:gd name="connsiteX13" fmla="*/ 99545 w 541041"/>
                  <a:gd name="connsiteY13" fmla="*/ 225955 h 225982"/>
                  <a:gd name="connsiteX14" fmla="*/ 99000 w 541041"/>
                  <a:gd name="connsiteY14" fmla="*/ 225982 h 225982"/>
                  <a:gd name="connsiteX15" fmla="*/ 66761 w 541041"/>
                  <a:gd name="connsiteY15" fmla="*/ 217441 h 225982"/>
                  <a:gd name="connsiteX16" fmla="*/ 43218 w 541041"/>
                  <a:gd name="connsiteY16" fmla="*/ 199021 h 225982"/>
                  <a:gd name="connsiteX17" fmla="*/ 43218 w 541041"/>
                  <a:gd name="connsiteY17" fmla="*/ 173385 h 225982"/>
                  <a:gd name="connsiteX18" fmla="*/ 103037 w 541041"/>
                  <a:gd name="connsiteY18" fmla="*/ 173839 h 225982"/>
                  <a:gd name="connsiteX19" fmla="*/ 137561 w 541041"/>
                  <a:gd name="connsiteY19" fmla="*/ 106083 h 225982"/>
                  <a:gd name="connsiteX20" fmla="*/ 136175 w 541041"/>
                  <a:gd name="connsiteY20" fmla="*/ 104206 h 225982"/>
                  <a:gd name="connsiteX21" fmla="*/ 136987 w 541041"/>
                  <a:gd name="connsiteY21" fmla="*/ 102565 h 225982"/>
                  <a:gd name="connsiteX22" fmla="*/ 98106 w 541041"/>
                  <a:gd name="connsiteY22" fmla="*/ 51213 h 225982"/>
                  <a:gd name="connsiteX23" fmla="*/ 43218 w 541041"/>
                  <a:gd name="connsiteY23" fmla="*/ 51464 h 225982"/>
                  <a:gd name="connsiteX24" fmla="*/ 43218 w 541041"/>
                  <a:gd name="connsiteY24" fmla="*/ 22915 h 225982"/>
                  <a:gd name="connsiteX25" fmla="*/ 77964 w 541041"/>
                  <a:gd name="connsiteY25" fmla="*/ 1110 h 225982"/>
                  <a:gd name="connsiteX26" fmla="*/ 85046 w 541041"/>
                  <a:gd name="connsiteY26" fmla="*/ 0 h 225982"/>
                  <a:gd name="connsiteX27" fmla="*/ 121741 w 541041"/>
                  <a:gd name="connsiteY27" fmla="*/ 10236 h 225982"/>
                  <a:gd name="connsiteX28" fmla="*/ 157909 w 541041"/>
                  <a:gd name="connsiteY28" fmla="*/ 38916 h 225982"/>
                  <a:gd name="connsiteX29" fmla="*/ 163138 w 541041"/>
                  <a:gd name="connsiteY29" fmla="*/ 48346 h 225982"/>
                  <a:gd name="connsiteX30" fmla="*/ 481576 w 541041"/>
                  <a:gd name="connsiteY30" fmla="*/ 48346 h 225982"/>
                  <a:gd name="connsiteX31" fmla="*/ 504723 w 541041"/>
                  <a:gd name="connsiteY31" fmla="*/ 53019 h 22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41041" h="225982">
                    <a:moveTo>
                      <a:pt x="99307" y="54263"/>
                    </a:moveTo>
                    <a:lnTo>
                      <a:pt x="136175" y="104206"/>
                    </a:lnTo>
                    <a:lnTo>
                      <a:pt x="103289" y="170735"/>
                    </a:lnTo>
                    <a:lnTo>
                      <a:pt x="38879" y="171028"/>
                    </a:lnTo>
                    <a:lnTo>
                      <a:pt x="0" y="119677"/>
                    </a:lnTo>
                    <a:lnTo>
                      <a:pt x="33698" y="51507"/>
                    </a:lnTo>
                    <a:lnTo>
                      <a:pt x="43218" y="51464"/>
                    </a:lnTo>
                    <a:lnTo>
                      <a:pt x="43218" y="53838"/>
                    </a:lnTo>
                    <a:close/>
                    <a:moveTo>
                      <a:pt x="504723" y="53019"/>
                    </a:moveTo>
                    <a:cubicBezTo>
                      <a:pt x="526066" y="62046"/>
                      <a:pt x="541041" y="83180"/>
                      <a:pt x="541041" y="107811"/>
                    </a:cubicBezTo>
                    <a:cubicBezTo>
                      <a:pt x="541041" y="140653"/>
                      <a:pt x="514418" y="167276"/>
                      <a:pt x="481576" y="167276"/>
                    </a:cubicBezTo>
                    <a:lnTo>
                      <a:pt x="171988" y="167276"/>
                    </a:lnTo>
                    <a:lnTo>
                      <a:pt x="143860" y="202747"/>
                    </a:lnTo>
                    <a:cubicBezTo>
                      <a:pt x="130861" y="213683"/>
                      <a:pt x="115692" y="221548"/>
                      <a:pt x="99545" y="225955"/>
                    </a:cubicBezTo>
                    <a:lnTo>
                      <a:pt x="99000" y="225982"/>
                    </a:lnTo>
                    <a:lnTo>
                      <a:pt x="66761" y="217441"/>
                    </a:lnTo>
                    <a:lnTo>
                      <a:pt x="43218" y="199021"/>
                    </a:lnTo>
                    <a:lnTo>
                      <a:pt x="43218" y="173385"/>
                    </a:lnTo>
                    <a:lnTo>
                      <a:pt x="103037" y="173839"/>
                    </a:lnTo>
                    <a:lnTo>
                      <a:pt x="137561" y="106083"/>
                    </a:lnTo>
                    <a:lnTo>
                      <a:pt x="136175" y="104206"/>
                    </a:lnTo>
                    <a:lnTo>
                      <a:pt x="136987" y="102565"/>
                    </a:lnTo>
                    <a:lnTo>
                      <a:pt x="98106" y="51213"/>
                    </a:lnTo>
                    <a:lnTo>
                      <a:pt x="43218" y="51464"/>
                    </a:lnTo>
                    <a:lnTo>
                      <a:pt x="43218" y="22915"/>
                    </a:lnTo>
                    <a:lnTo>
                      <a:pt x="77964" y="1110"/>
                    </a:lnTo>
                    <a:lnTo>
                      <a:pt x="85046" y="0"/>
                    </a:lnTo>
                    <a:lnTo>
                      <a:pt x="121741" y="10236"/>
                    </a:lnTo>
                    <a:cubicBezTo>
                      <a:pt x="136041" y="17522"/>
                      <a:pt x="148188" y="27361"/>
                      <a:pt x="157909" y="38916"/>
                    </a:cubicBezTo>
                    <a:lnTo>
                      <a:pt x="163138" y="48346"/>
                    </a:lnTo>
                    <a:lnTo>
                      <a:pt x="481576" y="48346"/>
                    </a:lnTo>
                    <a:cubicBezTo>
                      <a:pt x="489787" y="48346"/>
                      <a:pt x="497608" y="50010"/>
                      <a:pt x="504723" y="53019"/>
                    </a:cubicBezTo>
                    <a:close/>
                  </a:path>
                </a:pathLst>
              </a:cu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81" name="Hexagon 180"/>
              <p:cNvSpPr/>
              <p:nvPr/>
            </p:nvSpPr>
            <p:spPr>
              <a:xfrm rot="16200000">
                <a:off x="7813142" y="2552652"/>
                <a:ext cx="102880" cy="89052"/>
              </a:xfrm>
              <a:prstGeom prst="hexagon">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sp>
          <p:nvSpPr>
            <p:cNvPr id="178" name="TextBox 177"/>
            <p:cNvSpPr txBox="1"/>
            <p:nvPr/>
          </p:nvSpPr>
          <p:spPr>
            <a:xfrm>
              <a:off x="6191989" y="-25868"/>
              <a:ext cx="1090107" cy="369332"/>
            </a:xfrm>
            <a:prstGeom prst="rect">
              <a:avLst/>
            </a:prstGeom>
            <a:noFill/>
          </p:spPr>
          <p:txBody>
            <a:bodyPr wrap="none" rtlCol="0">
              <a:spAutoFit/>
            </a:bodyPr>
            <a:lstStyle/>
            <a:p>
              <a:r>
                <a:rPr lang="en-US" dirty="0"/>
                <a:t>PT </a:t>
              </a:r>
              <a:r>
                <a:rPr lang="en-US" dirty="0" smtClean="0"/>
                <a:t>Agent)</a:t>
              </a:r>
              <a:endParaRPr lang="en-US" dirty="0"/>
            </a:p>
          </p:txBody>
        </p:sp>
        <p:sp>
          <p:nvSpPr>
            <p:cNvPr id="176" name="TextBox 175"/>
            <p:cNvSpPr txBox="1"/>
            <p:nvPr/>
          </p:nvSpPr>
          <p:spPr>
            <a:xfrm>
              <a:off x="5651894" y="-25868"/>
              <a:ext cx="300082" cy="369332"/>
            </a:xfrm>
            <a:prstGeom prst="rect">
              <a:avLst/>
            </a:prstGeom>
            <a:noFill/>
          </p:spPr>
          <p:txBody>
            <a:bodyPr wrap="none" rtlCol="0">
              <a:spAutoFit/>
            </a:bodyPr>
            <a:lstStyle/>
            <a:p>
              <a:r>
                <a:rPr lang="en-US" dirty="0"/>
                <a:t>+</a:t>
              </a:r>
            </a:p>
          </p:txBody>
        </p:sp>
      </p:grpSp>
      <p:sp>
        <p:nvSpPr>
          <p:cNvPr id="202" name="Tracepoint 4"/>
          <p:cNvSpPr/>
          <p:nvPr/>
        </p:nvSpPr>
        <p:spPr>
          <a:xfrm>
            <a:off x="7204732" y="810021"/>
            <a:ext cx="304800" cy="304800"/>
          </a:xfrm>
          <a:prstGeom prst="ellipse">
            <a:avLst/>
          </a:prstGeom>
          <a:solidFill>
            <a:schemeClr val="bg2">
              <a:lumMod val="90000"/>
            </a:schemeClr>
          </a:solidFill>
          <a:ln w="19050">
            <a:solidFill>
              <a:schemeClr val="bg2">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Tracepoint 3"/>
          <p:cNvSpPr/>
          <p:nvPr/>
        </p:nvSpPr>
        <p:spPr>
          <a:xfrm>
            <a:off x="7540577" y="1022502"/>
            <a:ext cx="304800" cy="304800"/>
          </a:xfrm>
          <a:prstGeom prst="ellipse">
            <a:avLst/>
          </a:prstGeom>
          <a:solidFill>
            <a:schemeClr val="bg2">
              <a:lumMod val="90000"/>
            </a:schemeClr>
          </a:solidFill>
          <a:ln w="19050">
            <a:solidFill>
              <a:schemeClr val="bg2">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Tracepoint 2"/>
          <p:cNvSpPr/>
          <p:nvPr/>
        </p:nvSpPr>
        <p:spPr>
          <a:xfrm>
            <a:off x="7544219" y="1377126"/>
            <a:ext cx="304800" cy="304800"/>
          </a:xfrm>
          <a:prstGeom prst="ellipse">
            <a:avLst/>
          </a:prstGeom>
          <a:solidFill>
            <a:schemeClr val="bg2">
              <a:lumMod val="90000"/>
            </a:schemeClr>
          </a:solidFill>
          <a:ln w="19050">
            <a:solidFill>
              <a:schemeClr val="bg2">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Tracepoint 5"/>
          <p:cNvSpPr/>
          <p:nvPr/>
        </p:nvSpPr>
        <p:spPr>
          <a:xfrm>
            <a:off x="3758334" y="590584"/>
            <a:ext cx="304800" cy="304800"/>
          </a:xfrm>
          <a:prstGeom prst="ellipse">
            <a:avLst/>
          </a:prstGeom>
          <a:solidFill>
            <a:schemeClr val="bg2">
              <a:lumMod val="90000"/>
            </a:schemeClr>
          </a:solidFill>
          <a:ln w="19050">
            <a:solidFill>
              <a:schemeClr val="bg2">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Tracepoint 4"/>
          <p:cNvSpPr/>
          <p:nvPr/>
        </p:nvSpPr>
        <p:spPr>
          <a:xfrm>
            <a:off x="4246723" y="589866"/>
            <a:ext cx="304800" cy="304800"/>
          </a:xfrm>
          <a:prstGeom prst="ellipse">
            <a:avLst/>
          </a:prstGeom>
          <a:solidFill>
            <a:schemeClr val="bg2">
              <a:lumMod val="90000"/>
            </a:schemeClr>
          </a:solidFill>
          <a:ln w="19050">
            <a:solidFill>
              <a:schemeClr val="bg2">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Tracepoint 3"/>
          <p:cNvSpPr/>
          <p:nvPr/>
        </p:nvSpPr>
        <p:spPr>
          <a:xfrm>
            <a:off x="3754692" y="942277"/>
            <a:ext cx="304800" cy="304800"/>
          </a:xfrm>
          <a:prstGeom prst="ellipse">
            <a:avLst/>
          </a:prstGeom>
          <a:solidFill>
            <a:schemeClr val="bg2">
              <a:lumMod val="90000"/>
            </a:schemeClr>
          </a:solidFill>
          <a:ln w="19050">
            <a:solidFill>
              <a:schemeClr val="bg2">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Tracepoint 2"/>
          <p:cNvSpPr/>
          <p:nvPr/>
        </p:nvSpPr>
        <p:spPr>
          <a:xfrm>
            <a:off x="4246723" y="942277"/>
            <a:ext cx="304800" cy="304800"/>
          </a:xfrm>
          <a:prstGeom prst="ellipse">
            <a:avLst/>
          </a:prstGeom>
          <a:solidFill>
            <a:schemeClr val="bg2">
              <a:lumMod val="90000"/>
            </a:schemeClr>
          </a:solidFill>
          <a:ln w="19050">
            <a:solidFill>
              <a:schemeClr val="bg2">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PT User"/>
          <p:cNvSpPr/>
          <p:nvPr/>
        </p:nvSpPr>
        <p:spPr>
          <a:xfrm>
            <a:off x="4523021" y="2823248"/>
            <a:ext cx="475862" cy="556102"/>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r>
              <a:rPr lang="en-US" sz="2000" b="1" dirty="0" smtClean="0"/>
              <a:t>PT</a:t>
            </a:r>
            <a:endParaRPr lang="en-US" sz="2000" b="1" dirty="0"/>
          </a:p>
        </p:txBody>
      </p:sp>
      <p:grpSp>
        <p:nvGrpSpPr>
          <p:cNvPr id="81" name="Query User -&gt; FE"/>
          <p:cNvGrpSpPr/>
          <p:nvPr/>
        </p:nvGrpSpPr>
        <p:grpSpPr>
          <a:xfrm>
            <a:off x="3987250" y="2349484"/>
            <a:ext cx="836855" cy="838017"/>
            <a:chOff x="3606250" y="2005362"/>
            <a:chExt cx="836855" cy="838017"/>
          </a:xfrm>
        </p:grpSpPr>
        <p:sp>
          <p:nvSpPr>
            <p:cNvPr id="82" name="Arrow"/>
            <p:cNvSpPr/>
            <p:nvPr/>
          </p:nvSpPr>
          <p:spPr>
            <a:xfrm>
              <a:off x="3827623" y="2380883"/>
              <a:ext cx="317196" cy="441418"/>
            </a:xfrm>
            <a:custGeom>
              <a:avLst/>
              <a:gdLst>
                <a:gd name="connsiteX0" fmla="*/ 190500 w 190500"/>
                <a:gd name="connsiteY0" fmla="*/ 698500 h 698500"/>
                <a:gd name="connsiteX1" fmla="*/ 38100 w 190500"/>
                <a:gd name="connsiteY1" fmla="*/ 393700 h 698500"/>
                <a:gd name="connsiteX2" fmla="*/ 0 w 190500"/>
                <a:gd name="connsiteY2" fmla="*/ 0 h 698500"/>
              </a:gdLst>
              <a:ahLst/>
              <a:cxnLst>
                <a:cxn ang="0">
                  <a:pos x="connsiteX0" y="connsiteY0"/>
                </a:cxn>
                <a:cxn ang="0">
                  <a:pos x="connsiteX1" y="connsiteY1"/>
                </a:cxn>
                <a:cxn ang="0">
                  <a:pos x="connsiteX2" y="connsiteY2"/>
                </a:cxn>
              </a:cxnLst>
              <a:rect l="l" t="t" r="r" b="b"/>
              <a:pathLst>
                <a:path w="190500" h="698500">
                  <a:moveTo>
                    <a:pt x="190500" y="698500"/>
                  </a:moveTo>
                  <a:cubicBezTo>
                    <a:pt x="130175" y="604308"/>
                    <a:pt x="69850" y="510117"/>
                    <a:pt x="38100" y="393700"/>
                  </a:cubicBezTo>
                  <a:cubicBezTo>
                    <a:pt x="6350" y="277283"/>
                    <a:pt x="3175" y="138641"/>
                    <a:pt x="0" y="0"/>
                  </a:cubicBezTo>
                </a:path>
              </a:pathLst>
            </a:custGeom>
            <a:noFill/>
            <a:ln w="19050">
              <a:solidFill>
                <a:schemeClr val="tx1"/>
              </a:solidFill>
              <a:prstDash val="sysDot"/>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Label"/>
            <p:cNvSpPr/>
            <p:nvPr/>
          </p:nvSpPr>
          <p:spPr>
            <a:xfrm rot="2804405">
              <a:off x="3605669" y="2005943"/>
              <a:ext cx="838017" cy="836855"/>
            </a:xfrm>
            <a:custGeom>
              <a:avLst/>
              <a:gdLst>
                <a:gd name="connsiteX0" fmla="*/ 0 w 4136325"/>
                <a:gd name="connsiteY0" fmla="*/ 0 h 923330"/>
                <a:gd name="connsiteX1" fmla="*/ 4136325 w 4136325"/>
                <a:gd name="connsiteY1" fmla="*/ 0 h 923330"/>
                <a:gd name="connsiteX2" fmla="*/ 4136325 w 4136325"/>
                <a:gd name="connsiteY2" fmla="*/ 923330 h 923330"/>
                <a:gd name="connsiteX3" fmla="*/ 0 w 4136325"/>
                <a:gd name="connsiteY3" fmla="*/ 923330 h 923330"/>
                <a:gd name="connsiteX4" fmla="*/ 0 w 4136325"/>
                <a:gd name="connsiteY4" fmla="*/ 0 h 923330"/>
                <a:gd name="connsiteX0" fmla="*/ 0 w 4136325"/>
                <a:gd name="connsiteY0" fmla="*/ 347976 h 1271306"/>
                <a:gd name="connsiteX1" fmla="*/ 3852075 w 4136325"/>
                <a:gd name="connsiteY1" fmla="*/ 0 h 1271306"/>
                <a:gd name="connsiteX2" fmla="*/ 4136325 w 4136325"/>
                <a:gd name="connsiteY2" fmla="*/ 1271306 h 1271306"/>
                <a:gd name="connsiteX3" fmla="*/ 0 w 4136325"/>
                <a:gd name="connsiteY3" fmla="*/ 1271306 h 1271306"/>
                <a:gd name="connsiteX4" fmla="*/ 0 w 4136325"/>
                <a:gd name="connsiteY4" fmla="*/ 347976 h 1271306"/>
                <a:gd name="connsiteX0" fmla="*/ 0 w 4136325"/>
                <a:gd name="connsiteY0" fmla="*/ 520695 h 1444025"/>
                <a:gd name="connsiteX1" fmla="*/ 3531683 w 4136325"/>
                <a:gd name="connsiteY1" fmla="*/ 0 h 1444025"/>
                <a:gd name="connsiteX2" fmla="*/ 4136325 w 4136325"/>
                <a:gd name="connsiteY2" fmla="*/ 1444025 h 1444025"/>
                <a:gd name="connsiteX3" fmla="*/ 0 w 4136325"/>
                <a:gd name="connsiteY3" fmla="*/ 1444025 h 1444025"/>
                <a:gd name="connsiteX4" fmla="*/ 0 w 4136325"/>
                <a:gd name="connsiteY4" fmla="*/ 520695 h 1444025"/>
                <a:gd name="connsiteX0" fmla="*/ 0 w 4136325"/>
                <a:gd name="connsiteY0" fmla="*/ 0 h 923330"/>
                <a:gd name="connsiteX1" fmla="*/ 2786017 w 4136325"/>
                <a:gd name="connsiteY1" fmla="*/ 49315 h 923330"/>
                <a:gd name="connsiteX2" fmla="*/ 4136325 w 4136325"/>
                <a:gd name="connsiteY2" fmla="*/ 923330 h 923330"/>
                <a:gd name="connsiteX3" fmla="*/ 0 w 4136325"/>
                <a:gd name="connsiteY3" fmla="*/ 923330 h 923330"/>
                <a:gd name="connsiteX4" fmla="*/ 0 w 4136325"/>
                <a:gd name="connsiteY4" fmla="*/ 0 h 923330"/>
                <a:gd name="connsiteX0" fmla="*/ 0 w 4136325"/>
                <a:gd name="connsiteY0" fmla="*/ 636172 h 1559502"/>
                <a:gd name="connsiteX1" fmla="*/ 3237910 w 4136325"/>
                <a:gd name="connsiteY1" fmla="*/ 0 h 1559502"/>
                <a:gd name="connsiteX2" fmla="*/ 4136325 w 4136325"/>
                <a:gd name="connsiteY2" fmla="*/ 1559502 h 1559502"/>
                <a:gd name="connsiteX3" fmla="*/ 0 w 4136325"/>
                <a:gd name="connsiteY3" fmla="*/ 1559502 h 1559502"/>
                <a:gd name="connsiteX4" fmla="*/ 0 w 4136325"/>
                <a:gd name="connsiteY4" fmla="*/ 636172 h 1559502"/>
                <a:gd name="connsiteX0" fmla="*/ 0 w 4136325"/>
                <a:gd name="connsiteY0" fmla="*/ 1332843 h 2256173"/>
                <a:gd name="connsiteX1" fmla="*/ 3237910 w 4136325"/>
                <a:gd name="connsiteY1" fmla="*/ 696671 h 2256173"/>
                <a:gd name="connsiteX2" fmla="*/ 4136325 w 4136325"/>
                <a:gd name="connsiteY2" fmla="*/ 2256173 h 2256173"/>
                <a:gd name="connsiteX3" fmla="*/ 0 w 4136325"/>
                <a:gd name="connsiteY3" fmla="*/ 2256173 h 2256173"/>
                <a:gd name="connsiteX4" fmla="*/ 0 w 4136325"/>
                <a:gd name="connsiteY4" fmla="*/ 1332843 h 2256173"/>
                <a:gd name="connsiteX0" fmla="*/ 0 w 4136325"/>
                <a:gd name="connsiteY0" fmla="*/ 1862158 h 2785488"/>
                <a:gd name="connsiteX1" fmla="*/ 3237910 w 4136325"/>
                <a:gd name="connsiteY1" fmla="*/ 1225986 h 2785488"/>
                <a:gd name="connsiteX2" fmla="*/ 4136325 w 4136325"/>
                <a:gd name="connsiteY2" fmla="*/ 2785488 h 2785488"/>
                <a:gd name="connsiteX3" fmla="*/ 0 w 4136325"/>
                <a:gd name="connsiteY3" fmla="*/ 2785488 h 2785488"/>
                <a:gd name="connsiteX4" fmla="*/ 0 w 4136325"/>
                <a:gd name="connsiteY4" fmla="*/ 1862158 h 2785488"/>
                <a:gd name="connsiteX0" fmla="*/ 0 w 4136325"/>
                <a:gd name="connsiteY0" fmla="*/ 5753169 h 6676499"/>
                <a:gd name="connsiteX1" fmla="*/ 2307839 w 4136325"/>
                <a:gd name="connsiteY1" fmla="*/ 389248 h 6676499"/>
                <a:gd name="connsiteX2" fmla="*/ 4136325 w 4136325"/>
                <a:gd name="connsiteY2" fmla="*/ 6676499 h 6676499"/>
                <a:gd name="connsiteX3" fmla="*/ 0 w 4136325"/>
                <a:gd name="connsiteY3" fmla="*/ 6676499 h 6676499"/>
                <a:gd name="connsiteX4" fmla="*/ 0 w 4136325"/>
                <a:gd name="connsiteY4" fmla="*/ 5753169 h 6676499"/>
                <a:gd name="connsiteX0" fmla="*/ 0 w 4136325"/>
                <a:gd name="connsiteY0" fmla="*/ 6332577 h 7255907"/>
                <a:gd name="connsiteX1" fmla="*/ 2307839 w 4136325"/>
                <a:gd name="connsiteY1" fmla="*/ 968656 h 7255907"/>
                <a:gd name="connsiteX2" fmla="*/ 4136325 w 4136325"/>
                <a:gd name="connsiteY2" fmla="*/ 7255907 h 7255907"/>
                <a:gd name="connsiteX3" fmla="*/ 0 w 4136325"/>
                <a:gd name="connsiteY3" fmla="*/ 7255907 h 7255907"/>
                <a:gd name="connsiteX4" fmla="*/ 0 w 4136325"/>
                <a:gd name="connsiteY4" fmla="*/ 6332577 h 7255907"/>
                <a:gd name="connsiteX0" fmla="*/ 0 w 4136325"/>
                <a:gd name="connsiteY0" fmla="*/ 8493468 h 9416798"/>
                <a:gd name="connsiteX1" fmla="*/ 2112251 w 4136325"/>
                <a:gd name="connsiteY1" fmla="*/ 795245 h 9416798"/>
                <a:gd name="connsiteX2" fmla="*/ 4136325 w 4136325"/>
                <a:gd name="connsiteY2" fmla="*/ 9416798 h 9416798"/>
                <a:gd name="connsiteX3" fmla="*/ 0 w 4136325"/>
                <a:gd name="connsiteY3" fmla="*/ 9416798 h 9416798"/>
                <a:gd name="connsiteX4" fmla="*/ 0 w 4136325"/>
                <a:gd name="connsiteY4" fmla="*/ 8493468 h 9416798"/>
                <a:gd name="connsiteX0" fmla="*/ 0 w 4441973"/>
                <a:gd name="connsiteY0" fmla="*/ 14348549 h 15271879"/>
                <a:gd name="connsiteX1" fmla="*/ 2112251 w 4441973"/>
                <a:gd name="connsiteY1" fmla="*/ 6650326 h 15271879"/>
                <a:gd name="connsiteX2" fmla="*/ 4086159 w 4441973"/>
                <a:gd name="connsiteY2" fmla="*/ 204397 h 15271879"/>
                <a:gd name="connsiteX3" fmla="*/ 4136325 w 4441973"/>
                <a:gd name="connsiteY3" fmla="*/ 15271879 h 15271879"/>
                <a:gd name="connsiteX4" fmla="*/ 0 w 4441973"/>
                <a:gd name="connsiteY4" fmla="*/ 15271879 h 15271879"/>
                <a:gd name="connsiteX5" fmla="*/ 0 w 4441973"/>
                <a:gd name="connsiteY5" fmla="*/ 14348549 h 15271879"/>
                <a:gd name="connsiteX0" fmla="*/ 0 w 4184088"/>
                <a:gd name="connsiteY0" fmla="*/ 7982667 h 8905997"/>
                <a:gd name="connsiteX1" fmla="*/ 2112251 w 4184088"/>
                <a:gd name="connsiteY1" fmla="*/ 284444 h 8905997"/>
                <a:gd name="connsiteX2" fmla="*/ 4136325 w 4184088"/>
                <a:gd name="connsiteY2" fmla="*/ 8905997 h 8905997"/>
                <a:gd name="connsiteX3" fmla="*/ 0 w 4184088"/>
                <a:gd name="connsiteY3" fmla="*/ 8905997 h 8905997"/>
                <a:gd name="connsiteX4" fmla="*/ 0 w 4184088"/>
                <a:gd name="connsiteY4" fmla="*/ 7982667 h 8905997"/>
                <a:gd name="connsiteX0" fmla="*/ 0 w 4184088"/>
                <a:gd name="connsiteY0" fmla="*/ 8621549 h 8621549"/>
                <a:gd name="connsiteX1" fmla="*/ 2112251 w 4184088"/>
                <a:gd name="connsiteY1" fmla="*/ -4 h 8621549"/>
                <a:gd name="connsiteX2" fmla="*/ 4136325 w 4184088"/>
                <a:gd name="connsiteY2" fmla="*/ 8621549 h 8621549"/>
                <a:gd name="connsiteX3" fmla="*/ 0 w 4184088"/>
                <a:gd name="connsiteY3" fmla="*/ 8621549 h 8621549"/>
                <a:gd name="connsiteX0" fmla="*/ 0 w 4182940"/>
                <a:gd name="connsiteY0" fmla="*/ 8621549 h 8621549"/>
                <a:gd name="connsiteX1" fmla="*/ 2112251 w 4182940"/>
                <a:gd name="connsiteY1" fmla="*/ -4 h 8621549"/>
                <a:gd name="connsiteX2" fmla="*/ 4136325 w 4182940"/>
                <a:gd name="connsiteY2" fmla="*/ 8621549 h 8621549"/>
                <a:gd name="connsiteX3" fmla="*/ 0 w 4182940"/>
                <a:gd name="connsiteY3" fmla="*/ 8621549 h 8621549"/>
              </a:gdLst>
              <a:ahLst/>
              <a:cxnLst>
                <a:cxn ang="0">
                  <a:pos x="connsiteX0" y="connsiteY0"/>
                </a:cxn>
                <a:cxn ang="0">
                  <a:pos x="connsiteX1" y="connsiteY1"/>
                </a:cxn>
                <a:cxn ang="0">
                  <a:pos x="connsiteX2" y="connsiteY2"/>
                </a:cxn>
                <a:cxn ang="0">
                  <a:pos x="connsiteX3" y="connsiteY3"/>
                </a:cxn>
              </a:cxnLst>
              <a:rect l="l" t="t" r="r" b="b"/>
              <a:pathLst>
                <a:path w="4182940" h="8621549">
                  <a:moveTo>
                    <a:pt x="0" y="8621549"/>
                  </a:moveTo>
                  <a:lnTo>
                    <a:pt x="2112251" y="-4"/>
                  </a:lnTo>
                  <a:cubicBezTo>
                    <a:pt x="2751597" y="2701520"/>
                    <a:pt x="4488367" y="7184624"/>
                    <a:pt x="4136325" y="8621549"/>
                  </a:cubicBezTo>
                  <a:lnTo>
                    <a:pt x="0" y="8621549"/>
                  </a:lnTo>
                  <a:close/>
                </a:path>
              </a:pathLst>
            </a:custGeom>
            <a:noFill/>
          </p:spPr>
          <p:txBody>
            <a:bodyPr wrap="none" lIns="91440" tIns="45720" rIns="91440" bIns="45720">
              <a:prstTxWarp prst="textArchDown">
                <a:avLst>
                  <a:gd name="adj" fmla="val 3008235"/>
                </a:avLst>
              </a:prstTxWarp>
              <a:spAutoFit/>
            </a:bodyPr>
            <a:lstStyle/>
            <a:p>
              <a:pPr algn="ctr"/>
              <a:r>
                <a:rPr lang="en-US" sz="4800" b="0" cap="none" spc="0" dirty="0" smtClean="0">
                  <a:ln w="0"/>
                  <a:solidFill>
                    <a:schemeClr val="tx1"/>
                  </a:solidFill>
                </a:rPr>
                <a:t>Query</a:t>
              </a:r>
              <a:endParaRPr lang="en-US" sz="4800" b="0" cap="none" spc="0" dirty="0">
                <a:ln w="0"/>
                <a:solidFill>
                  <a:schemeClr val="tx1"/>
                </a:solidFill>
              </a:endParaRPr>
            </a:p>
          </p:txBody>
        </p:sp>
      </p:grpSp>
      <p:sp>
        <p:nvSpPr>
          <p:cNvPr id="84" name="PivotTracingFrontEnd"/>
          <p:cNvSpPr txBox="1"/>
          <p:nvPr/>
        </p:nvSpPr>
        <p:spPr>
          <a:xfrm>
            <a:off x="4137897" y="2303616"/>
            <a:ext cx="1246110" cy="433965"/>
          </a:xfrm>
          <a:prstGeom prst="rect">
            <a:avLst/>
          </a:prstGeom>
          <a:solidFill>
            <a:schemeClr val="bg1"/>
          </a:solidFill>
          <a:ln w="28575">
            <a:solidFill>
              <a:schemeClr val="tx1"/>
            </a:solidFill>
          </a:ln>
        </p:spPr>
        <p:txBody>
          <a:bodyPr wrap="none" lIns="27432" tIns="45720" rIns="27432" bIns="0" rtlCol="0">
            <a:spAutoFit/>
          </a:bodyPr>
          <a:lstStyle/>
          <a:p>
            <a:pPr algn="ctr">
              <a:lnSpc>
                <a:spcPct val="70000"/>
              </a:lnSpc>
            </a:pPr>
            <a:r>
              <a:rPr lang="en-US" dirty="0" smtClean="0"/>
              <a:t>Pivot Tracing</a:t>
            </a:r>
          </a:p>
          <a:p>
            <a:pPr algn="ctr">
              <a:lnSpc>
                <a:spcPct val="70000"/>
              </a:lnSpc>
            </a:pPr>
            <a:r>
              <a:rPr lang="en-US" dirty="0" smtClean="0"/>
              <a:t>Front End</a:t>
            </a:r>
            <a:endParaRPr lang="en-US" dirty="0"/>
          </a:p>
        </p:txBody>
      </p:sp>
      <p:sp>
        <p:nvSpPr>
          <p:cNvPr id="85" name="Rectangle 84"/>
          <p:cNvSpPr/>
          <p:nvPr/>
        </p:nvSpPr>
        <p:spPr>
          <a:xfrm>
            <a:off x="153277" y="3818972"/>
            <a:ext cx="4302729" cy="830997"/>
          </a:xfrm>
          <a:prstGeom prst="rect">
            <a:avLst/>
          </a:prstGeom>
        </p:spPr>
        <p:txBody>
          <a:bodyPr wrap="square">
            <a:spAutoFit/>
          </a:bodyPr>
          <a:lstStyle/>
          <a:p>
            <a:r>
              <a:rPr lang="en-US" sz="2400" dirty="0" smtClean="0"/>
              <a:t>PT Agent dynamically enables advice at </a:t>
            </a:r>
            <a:r>
              <a:rPr lang="en-US" sz="2400" dirty="0" err="1" smtClean="0"/>
              <a:t>tracepoints</a:t>
            </a:r>
            <a:endParaRPr lang="en-US" sz="2400" dirty="0">
              <a:latin typeface="Inconsolata"/>
              <a:cs typeface="Inconsolata"/>
            </a:endParaRPr>
          </a:p>
        </p:txBody>
      </p:sp>
      <p:grpSp>
        <p:nvGrpSpPr>
          <p:cNvPr id="95" name="Advice FE -&gt; B"/>
          <p:cNvGrpSpPr/>
          <p:nvPr/>
        </p:nvGrpSpPr>
        <p:grpSpPr>
          <a:xfrm>
            <a:off x="5061721" y="1731775"/>
            <a:ext cx="1569892" cy="836855"/>
            <a:chOff x="4680721" y="1387653"/>
            <a:chExt cx="1569892" cy="836855"/>
          </a:xfrm>
        </p:grpSpPr>
        <p:sp>
          <p:nvSpPr>
            <p:cNvPr id="96" name="Arrow"/>
            <p:cNvSpPr/>
            <p:nvPr/>
          </p:nvSpPr>
          <p:spPr>
            <a:xfrm flipH="1">
              <a:off x="5003007" y="1501436"/>
              <a:ext cx="853770" cy="645807"/>
            </a:xfrm>
            <a:custGeom>
              <a:avLst/>
              <a:gdLst>
                <a:gd name="connsiteX0" fmla="*/ 1327041 w 1423557"/>
                <a:gd name="connsiteY0" fmla="*/ 1143000 h 1143000"/>
                <a:gd name="connsiteX1" fmla="*/ 1327041 w 1423557"/>
                <a:gd name="connsiteY1" fmla="*/ 571500 h 1143000"/>
                <a:gd name="connsiteX2" fmla="*/ 1339741 w 1423557"/>
                <a:gd name="connsiteY2" fmla="*/ 266700 h 1143000"/>
                <a:gd name="connsiteX3" fmla="*/ 158641 w 1423557"/>
                <a:gd name="connsiteY3" fmla="*/ 241300 h 1143000"/>
                <a:gd name="connsiteX4" fmla="*/ 44341 w 1423557"/>
                <a:gd name="connsiteY4" fmla="*/ 0 h 1143000"/>
                <a:gd name="connsiteX0" fmla="*/ 1282700 w 1387675"/>
                <a:gd name="connsiteY0" fmla="*/ 1143000 h 1143000"/>
                <a:gd name="connsiteX1" fmla="*/ 1282700 w 1387675"/>
                <a:gd name="connsiteY1" fmla="*/ 571500 h 1143000"/>
                <a:gd name="connsiteX2" fmla="*/ 1295400 w 1387675"/>
                <a:gd name="connsiteY2" fmla="*/ 266700 h 1143000"/>
                <a:gd name="connsiteX3" fmla="*/ 0 w 1387675"/>
                <a:gd name="connsiteY3" fmla="*/ 0 h 1143000"/>
                <a:gd name="connsiteX0" fmla="*/ 1282700 w 1387675"/>
                <a:gd name="connsiteY0" fmla="*/ 1143000 h 1143000"/>
                <a:gd name="connsiteX1" fmla="*/ 1282700 w 1387675"/>
                <a:gd name="connsiteY1" fmla="*/ 571500 h 1143000"/>
                <a:gd name="connsiteX2" fmla="*/ 1295400 w 1387675"/>
                <a:gd name="connsiteY2" fmla="*/ 266700 h 1143000"/>
                <a:gd name="connsiteX3" fmla="*/ 0 w 1387675"/>
                <a:gd name="connsiteY3" fmla="*/ 0 h 1143000"/>
                <a:gd name="connsiteX0" fmla="*/ 1282700 w 1377479"/>
                <a:gd name="connsiteY0" fmla="*/ 1143000 h 1143000"/>
                <a:gd name="connsiteX1" fmla="*/ 1282700 w 1377479"/>
                <a:gd name="connsiteY1" fmla="*/ 571500 h 1143000"/>
                <a:gd name="connsiteX2" fmla="*/ 0 w 1377479"/>
                <a:gd name="connsiteY2" fmla="*/ 0 h 1143000"/>
                <a:gd name="connsiteX0" fmla="*/ 1282700 w 1282703"/>
                <a:gd name="connsiteY0" fmla="*/ 1143000 h 1143000"/>
                <a:gd name="connsiteX1" fmla="*/ 1282700 w 1282703"/>
                <a:gd name="connsiteY1" fmla="*/ 571500 h 1143000"/>
                <a:gd name="connsiteX2" fmla="*/ 0 w 1282703"/>
                <a:gd name="connsiteY2" fmla="*/ 0 h 1143000"/>
                <a:gd name="connsiteX0" fmla="*/ 1282785 w 1282787"/>
                <a:gd name="connsiteY0" fmla="*/ 1143000 h 1143000"/>
                <a:gd name="connsiteX1" fmla="*/ 1282785 w 1282787"/>
                <a:gd name="connsiteY1" fmla="*/ 571500 h 1143000"/>
                <a:gd name="connsiteX2" fmla="*/ 85 w 1282787"/>
                <a:gd name="connsiteY2" fmla="*/ 0 h 1143000"/>
                <a:gd name="connsiteX0" fmla="*/ 1266036 w 1359573"/>
                <a:gd name="connsiteY0" fmla="*/ 1104900 h 1104900"/>
                <a:gd name="connsiteX1" fmla="*/ 1266036 w 1359573"/>
                <a:gd name="connsiteY1" fmla="*/ 533400 h 1104900"/>
                <a:gd name="connsiteX2" fmla="*/ 104 w 1359573"/>
                <a:gd name="connsiteY2" fmla="*/ 0 h 1104900"/>
                <a:gd name="connsiteX0" fmla="*/ 1265932 w 1359469"/>
                <a:gd name="connsiteY0" fmla="*/ 1104900 h 1104900"/>
                <a:gd name="connsiteX1" fmla="*/ 1265932 w 1359469"/>
                <a:gd name="connsiteY1" fmla="*/ 533400 h 1104900"/>
                <a:gd name="connsiteX2" fmla="*/ 0 w 1359469"/>
                <a:gd name="connsiteY2" fmla="*/ 0 h 1104900"/>
                <a:gd name="connsiteX0" fmla="*/ 1265932 w 1353300"/>
                <a:gd name="connsiteY0" fmla="*/ 1104900 h 1104900"/>
                <a:gd name="connsiteX1" fmla="*/ 1257548 w 1353300"/>
                <a:gd name="connsiteY1" fmla="*/ 381000 h 1104900"/>
                <a:gd name="connsiteX2" fmla="*/ 0 w 1353300"/>
                <a:gd name="connsiteY2" fmla="*/ 0 h 1104900"/>
                <a:gd name="connsiteX0" fmla="*/ 1265932 w 1265932"/>
                <a:gd name="connsiteY0" fmla="*/ 1104900 h 1104900"/>
                <a:gd name="connsiteX1" fmla="*/ 1257548 w 1265932"/>
                <a:gd name="connsiteY1" fmla="*/ 381000 h 1104900"/>
                <a:gd name="connsiteX2" fmla="*/ 0 w 1265932"/>
                <a:gd name="connsiteY2" fmla="*/ 0 h 1104900"/>
                <a:gd name="connsiteX0" fmla="*/ 1265932 w 1265932"/>
                <a:gd name="connsiteY0" fmla="*/ 1104900 h 1104900"/>
                <a:gd name="connsiteX1" fmla="*/ 1257548 w 1265932"/>
                <a:gd name="connsiteY1" fmla="*/ 381000 h 1104900"/>
                <a:gd name="connsiteX2" fmla="*/ 0 w 1265932"/>
                <a:gd name="connsiteY2" fmla="*/ 0 h 1104900"/>
                <a:gd name="connsiteX0" fmla="*/ 1265932 w 1265932"/>
                <a:gd name="connsiteY0" fmla="*/ 1104900 h 1104900"/>
                <a:gd name="connsiteX1" fmla="*/ 1257548 w 1265932"/>
                <a:gd name="connsiteY1" fmla="*/ 381000 h 1104900"/>
                <a:gd name="connsiteX2" fmla="*/ 0 w 1265932"/>
                <a:gd name="connsiteY2" fmla="*/ 0 h 1104900"/>
                <a:gd name="connsiteX0" fmla="*/ 1240780 w 1345086"/>
                <a:gd name="connsiteY0" fmla="*/ 800100 h 800100"/>
                <a:gd name="connsiteX1" fmla="*/ 1257548 w 1345086"/>
                <a:gd name="connsiteY1" fmla="*/ 381000 h 800100"/>
                <a:gd name="connsiteX2" fmla="*/ 0 w 1345086"/>
                <a:gd name="connsiteY2" fmla="*/ 0 h 800100"/>
                <a:gd name="connsiteX0" fmla="*/ 1240780 w 1257552"/>
                <a:gd name="connsiteY0" fmla="*/ 800100 h 800100"/>
                <a:gd name="connsiteX1" fmla="*/ 1257548 w 1257552"/>
                <a:gd name="connsiteY1" fmla="*/ 381000 h 800100"/>
                <a:gd name="connsiteX2" fmla="*/ 0 w 1257552"/>
                <a:gd name="connsiteY2" fmla="*/ 0 h 800100"/>
                <a:gd name="connsiteX0" fmla="*/ 1265932 w 1353300"/>
                <a:gd name="connsiteY0" fmla="*/ 804862 h 804862"/>
                <a:gd name="connsiteX1" fmla="*/ 1257548 w 1353300"/>
                <a:gd name="connsiteY1" fmla="*/ 381000 h 804862"/>
                <a:gd name="connsiteX2" fmla="*/ 0 w 1353300"/>
                <a:gd name="connsiteY2" fmla="*/ 0 h 804862"/>
                <a:gd name="connsiteX0" fmla="*/ 1265932 w 1265932"/>
                <a:gd name="connsiteY0" fmla="*/ 804862 h 804862"/>
                <a:gd name="connsiteX1" fmla="*/ 1257548 w 1265932"/>
                <a:gd name="connsiteY1" fmla="*/ 381000 h 804862"/>
                <a:gd name="connsiteX2" fmla="*/ 0 w 1265932"/>
                <a:gd name="connsiteY2" fmla="*/ 0 h 804862"/>
                <a:gd name="connsiteX0" fmla="*/ 1265932 w 1265932"/>
                <a:gd name="connsiteY0" fmla="*/ 804862 h 804862"/>
                <a:gd name="connsiteX1" fmla="*/ 1257548 w 1265932"/>
                <a:gd name="connsiteY1" fmla="*/ 381000 h 804862"/>
                <a:gd name="connsiteX2" fmla="*/ 0 w 1265932"/>
                <a:gd name="connsiteY2" fmla="*/ 0 h 804862"/>
                <a:gd name="connsiteX0" fmla="*/ 1265932 w 1265932"/>
                <a:gd name="connsiteY0" fmla="*/ 804862 h 804862"/>
                <a:gd name="connsiteX1" fmla="*/ 1260692 w 1265932"/>
                <a:gd name="connsiteY1" fmla="*/ 352425 h 804862"/>
                <a:gd name="connsiteX2" fmla="*/ 0 w 1265932"/>
                <a:gd name="connsiteY2" fmla="*/ 0 h 804862"/>
                <a:gd name="connsiteX0" fmla="*/ 515238 w 1266907"/>
                <a:gd name="connsiteY0" fmla="*/ 1097938 h 1097938"/>
                <a:gd name="connsiteX1" fmla="*/ 1260692 w 1266907"/>
                <a:gd name="connsiteY1" fmla="*/ 352425 h 1097938"/>
                <a:gd name="connsiteX2" fmla="*/ 0 w 1266907"/>
                <a:gd name="connsiteY2" fmla="*/ 0 h 1097938"/>
                <a:gd name="connsiteX0" fmla="*/ 515238 w 515238"/>
                <a:gd name="connsiteY0" fmla="*/ 1097938 h 1097938"/>
                <a:gd name="connsiteX1" fmla="*/ 0 w 515238"/>
                <a:gd name="connsiteY1" fmla="*/ 0 h 1097938"/>
                <a:gd name="connsiteX0" fmla="*/ 515238 w 515238"/>
                <a:gd name="connsiteY0" fmla="*/ 1097938 h 1097938"/>
                <a:gd name="connsiteX1" fmla="*/ 0 w 515238"/>
                <a:gd name="connsiteY1" fmla="*/ 0 h 1097938"/>
                <a:gd name="connsiteX0" fmla="*/ 515238 w 515238"/>
                <a:gd name="connsiteY0" fmla="*/ 1097938 h 1097938"/>
                <a:gd name="connsiteX1" fmla="*/ 0 w 515238"/>
                <a:gd name="connsiteY1" fmla="*/ 0 h 1097938"/>
              </a:gdLst>
              <a:ahLst/>
              <a:cxnLst>
                <a:cxn ang="0">
                  <a:pos x="connsiteX0" y="connsiteY0"/>
                </a:cxn>
                <a:cxn ang="0">
                  <a:pos x="connsiteX1" y="connsiteY1"/>
                </a:cxn>
              </a:cxnLst>
              <a:rect l="l" t="t" r="r" b="b"/>
              <a:pathLst>
                <a:path w="515238" h="1097938">
                  <a:moveTo>
                    <a:pt x="515238" y="1097938"/>
                  </a:moveTo>
                  <a:cubicBezTo>
                    <a:pt x="157753" y="1095375"/>
                    <a:pt x="16964" y="963856"/>
                    <a:pt x="0" y="0"/>
                  </a:cubicBezTo>
                </a:path>
              </a:pathLst>
            </a:custGeom>
            <a:noFill/>
            <a:ln w="19050">
              <a:solidFill>
                <a:schemeClr val="tx1"/>
              </a:solidFill>
              <a:prstDash val="sysDot"/>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Label"/>
            <p:cNvSpPr/>
            <p:nvPr/>
          </p:nvSpPr>
          <p:spPr>
            <a:xfrm rot="20144558">
              <a:off x="4680721" y="1387653"/>
              <a:ext cx="1569892" cy="836855"/>
            </a:xfrm>
            <a:custGeom>
              <a:avLst/>
              <a:gdLst>
                <a:gd name="connsiteX0" fmla="*/ 0 w 4136325"/>
                <a:gd name="connsiteY0" fmla="*/ 0 h 923330"/>
                <a:gd name="connsiteX1" fmla="*/ 4136325 w 4136325"/>
                <a:gd name="connsiteY1" fmla="*/ 0 h 923330"/>
                <a:gd name="connsiteX2" fmla="*/ 4136325 w 4136325"/>
                <a:gd name="connsiteY2" fmla="*/ 923330 h 923330"/>
                <a:gd name="connsiteX3" fmla="*/ 0 w 4136325"/>
                <a:gd name="connsiteY3" fmla="*/ 923330 h 923330"/>
                <a:gd name="connsiteX4" fmla="*/ 0 w 4136325"/>
                <a:gd name="connsiteY4" fmla="*/ 0 h 923330"/>
                <a:gd name="connsiteX0" fmla="*/ 0 w 4136325"/>
                <a:gd name="connsiteY0" fmla="*/ 347976 h 1271306"/>
                <a:gd name="connsiteX1" fmla="*/ 3852075 w 4136325"/>
                <a:gd name="connsiteY1" fmla="*/ 0 h 1271306"/>
                <a:gd name="connsiteX2" fmla="*/ 4136325 w 4136325"/>
                <a:gd name="connsiteY2" fmla="*/ 1271306 h 1271306"/>
                <a:gd name="connsiteX3" fmla="*/ 0 w 4136325"/>
                <a:gd name="connsiteY3" fmla="*/ 1271306 h 1271306"/>
                <a:gd name="connsiteX4" fmla="*/ 0 w 4136325"/>
                <a:gd name="connsiteY4" fmla="*/ 347976 h 1271306"/>
                <a:gd name="connsiteX0" fmla="*/ 0 w 4136325"/>
                <a:gd name="connsiteY0" fmla="*/ 520695 h 1444025"/>
                <a:gd name="connsiteX1" fmla="*/ 3531683 w 4136325"/>
                <a:gd name="connsiteY1" fmla="*/ 0 h 1444025"/>
                <a:gd name="connsiteX2" fmla="*/ 4136325 w 4136325"/>
                <a:gd name="connsiteY2" fmla="*/ 1444025 h 1444025"/>
                <a:gd name="connsiteX3" fmla="*/ 0 w 4136325"/>
                <a:gd name="connsiteY3" fmla="*/ 1444025 h 1444025"/>
                <a:gd name="connsiteX4" fmla="*/ 0 w 4136325"/>
                <a:gd name="connsiteY4" fmla="*/ 520695 h 1444025"/>
                <a:gd name="connsiteX0" fmla="*/ 0 w 4136325"/>
                <a:gd name="connsiteY0" fmla="*/ 0 h 923330"/>
                <a:gd name="connsiteX1" fmla="*/ 2786017 w 4136325"/>
                <a:gd name="connsiteY1" fmla="*/ 49315 h 923330"/>
                <a:gd name="connsiteX2" fmla="*/ 4136325 w 4136325"/>
                <a:gd name="connsiteY2" fmla="*/ 923330 h 923330"/>
                <a:gd name="connsiteX3" fmla="*/ 0 w 4136325"/>
                <a:gd name="connsiteY3" fmla="*/ 923330 h 923330"/>
                <a:gd name="connsiteX4" fmla="*/ 0 w 4136325"/>
                <a:gd name="connsiteY4" fmla="*/ 0 h 923330"/>
                <a:gd name="connsiteX0" fmla="*/ 0 w 4136325"/>
                <a:gd name="connsiteY0" fmla="*/ 636172 h 1559502"/>
                <a:gd name="connsiteX1" fmla="*/ 3237910 w 4136325"/>
                <a:gd name="connsiteY1" fmla="*/ 0 h 1559502"/>
                <a:gd name="connsiteX2" fmla="*/ 4136325 w 4136325"/>
                <a:gd name="connsiteY2" fmla="*/ 1559502 h 1559502"/>
                <a:gd name="connsiteX3" fmla="*/ 0 w 4136325"/>
                <a:gd name="connsiteY3" fmla="*/ 1559502 h 1559502"/>
                <a:gd name="connsiteX4" fmla="*/ 0 w 4136325"/>
                <a:gd name="connsiteY4" fmla="*/ 636172 h 1559502"/>
                <a:gd name="connsiteX0" fmla="*/ 0 w 4136325"/>
                <a:gd name="connsiteY0" fmla="*/ 1332843 h 2256173"/>
                <a:gd name="connsiteX1" fmla="*/ 3237910 w 4136325"/>
                <a:gd name="connsiteY1" fmla="*/ 696671 h 2256173"/>
                <a:gd name="connsiteX2" fmla="*/ 4136325 w 4136325"/>
                <a:gd name="connsiteY2" fmla="*/ 2256173 h 2256173"/>
                <a:gd name="connsiteX3" fmla="*/ 0 w 4136325"/>
                <a:gd name="connsiteY3" fmla="*/ 2256173 h 2256173"/>
                <a:gd name="connsiteX4" fmla="*/ 0 w 4136325"/>
                <a:gd name="connsiteY4" fmla="*/ 1332843 h 2256173"/>
                <a:gd name="connsiteX0" fmla="*/ 0 w 4136325"/>
                <a:gd name="connsiteY0" fmla="*/ 1862158 h 2785488"/>
                <a:gd name="connsiteX1" fmla="*/ 3237910 w 4136325"/>
                <a:gd name="connsiteY1" fmla="*/ 1225986 h 2785488"/>
                <a:gd name="connsiteX2" fmla="*/ 4136325 w 4136325"/>
                <a:gd name="connsiteY2" fmla="*/ 2785488 h 2785488"/>
                <a:gd name="connsiteX3" fmla="*/ 0 w 4136325"/>
                <a:gd name="connsiteY3" fmla="*/ 2785488 h 2785488"/>
                <a:gd name="connsiteX4" fmla="*/ 0 w 4136325"/>
                <a:gd name="connsiteY4" fmla="*/ 1862158 h 2785488"/>
                <a:gd name="connsiteX0" fmla="*/ 0 w 4136325"/>
                <a:gd name="connsiteY0" fmla="*/ 5753169 h 6676499"/>
                <a:gd name="connsiteX1" fmla="*/ 2307839 w 4136325"/>
                <a:gd name="connsiteY1" fmla="*/ 389248 h 6676499"/>
                <a:gd name="connsiteX2" fmla="*/ 4136325 w 4136325"/>
                <a:gd name="connsiteY2" fmla="*/ 6676499 h 6676499"/>
                <a:gd name="connsiteX3" fmla="*/ 0 w 4136325"/>
                <a:gd name="connsiteY3" fmla="*/ 6676499 h 6676499"/>
                <a:gd name="connsiteX4" fmla="*/ 0 w 4136325"/>
                <a:gd name="connsiteY4" fmla="*/ 5753169 h 6676499"/>
                <a:gd name="connsiteX0" fmla="*/ 0 w 4136325"/>
                <a:gd name="connsiteY0" fmla="*/ 6332577 h 7255907"/>
                <a:gd name="connsiteX1" fmla="*/ 2307839 w 4136325"/>
                <a:gd name="connsiteY1" fmla="*/ 968656 h 7255907"/>
                <a:gd name="connsiteX2" fmla="*/ 4136325 w 4136325"/>
                <a:gd name="connsiteY2" fmla="*/ 7255907 h 7255907"/>
                <a:gd name="connsiteX3" fmla="*/ 0 w 4136325"/>
                <a:gd name="connsiteY3" fmla="*/ 7255907 h 7255907"/>
                <a:gd name="connsiteX4" fmla="*/ 0 w 4136325"/>
                <a:gd name="connsiteY4" fmla="*/ 6332577 h 7255907"/>
                <a:gd name="connsiteX0" fmla="*/ 0 w 4136325"/>
                <a:gd name="connsiteY0" fmla="*/ 8493468 h 9416798"/>
                <a:gd name="connsiteX1" fmla="*/ 2112251 w 4136325"/>
                <a:gd name="connsiteY1" fmla="*/ 795245 h 9416798"/>
                <a:gd name="connsiteX2" fmla="*/ 4136325 w 4136325"/>
                <a:gd name="connsiteY2" fmla="*/ 9416798 h 9416798"/>
                <a:gd name="connsiteX3" fmla="*/ 0 w 4136325"/>
                <a:gd name="connsiteY3" fmla="*/ 9416798 h 9416798"/>
                <a:gd name="connsiteX4" fmla="*/ 0 w 4136325"/>
                <a:gd name="connsiteY4" fmla="*/ 8493468 h 9416798"/>
                <a:gd name="connsiteX0" fmla="*/ 0 w 4441973"/>
                <a:gd name="connsiteY0" fmla="*/ 14348549 h 15271879"/>
                <a:gd name="connsiteX1" fmla="*/ 2112251 w 4441973"/>
                <a:gd name="connsiteY1" fmla="*/ 6650326 h 15271879"/>
                <a:gd name="connsiteX2" fmla="*/ 4086159 w 4441973"/>
                <a:gd name="connsiteY2" fmla="*/ 204397 h 15271879"/>
                <a:gd name="connsiteX3" fmla="*/ 4136325 w 4441973"/>
                <a:gd name="connsiteY3" fmla="*/ 15271879 h 15271879"/>
                <a:gd name="connsiteX4" fmla="*/ 0 w 4441973"/>
                <a:gd name="connsiteY4" fmla="*/ 15271879 h 15271879"/>
                <a:gd name="connsiteX5" fmla="*/ 0 w 4441973"/>
                <a:gd name="connsiteY5" fmla="*/ 14348549 h 15271879"/>
                <a:gd name="connsiteX0" fmla="*/ 0 w 4184088"/>
                <a:gd name="connsiteY0" fmla="*/ 7982667 h 8905997"/>
                <a:gd name="connsiteX1" fmla="*/ 2112251 w 4184088"/>
                <a:gd name="connsiteY1" fmla="*/ 284444 h 8905997"/>
                <a:gd name="connsiteX2" fmla="*/ 4136325 w 4184088"/>
                <a:gd name="connsiteY2" fmla="*/ 8905997 h 8905997"/>
                <a:gd name="connsiteX3" fmla="*/ 0 w 4184088"/>
                <a:gd name="connsiteY3" fmla="*/ 8905997 h 8905997"/>
                <a:gd name="connsiteX4" fmla="*/ 0 w 4184088"/>
                <a:gd name="connsiteY4" fmla="*/ 7982667 h 8905997"/>
                <a:gd name="connsiteX0" fmla="*/ 0 w 4184088"/>
                <a:gd name="connsiteY0" fmla="*/ 8621549 h 8621549"/>
                <a:gd name="connsiteX1" fmla="*/ 2112251 w 4184088"/>
                <a:gd name="connsiteY1" fmla="*/ -4 h 8621549"/>
                <a:gd name="connsiteX2" fmla="*/ 4136325 w 4184088"/>
                <a:gd name="connsiteY2" fmla="*/ 8621549 h 8621549"/>
                <a:gd name="connsiteX3" fmla="*/ 0 w 4184088"/>
                <a:gd name="connsiteY3" fmla="*/ 8621549 h 8621549"/>
                <a:gd name="connsiteX0" fmla="*/ 0 w 4182940"/>
                <a:gd name="connsiteY0" fmla="*/ 8621549 h 8621549"/>
                <a:gd name="connsiteX1" fmla="*/ 2112251 w 4182940"/>
                <a:gd name="connsiteY1" fmla="*/ -4 h 8621549"/>
                <a:gd name="connsiteX2" fmla="*/ 4136325 w 4182940"/>
                <a:gd name="connsiteY2" fmla="*/ 8621549 h 8621549"/>
                <a:gd name="connsiteX3" fmla="*/ 0 w 4182940"/>
                <a:gd name="connsiteY3" fmla="*/ 8621549 h 8621549"/>
              </a:gdLst>
              <a:ahLst/>
              <a:cxnLst>
                <a:cxn ang="0">
                  <a:pos x="connsiteX0" y="connsiteY0"/>
                </a:cxn>
                <a:cxn ang="0">
                  <a:pos x="connsiteX1" y="connsiteY1"/>
                </a:cxn>
                <a:cxn ang="0">
                  <a:pos x="connsiteX2" y="connsiteY2"/>
                </a:cxn>
                <a:cxn ang="0">
                  <a:pos x="connsiteX3" y="connsiteY3"/>
                </a:cxn>
              </a:cxnLst>
              <a:rect l="l" t="t" r="r" b="b"/>
              <a:pathLst>
                <a:path w="4182940" h="8621549">
                  <a:moveTo>
                    <a:pt x="0" y="8621549"/>
                  </a:moveTo>
                  <a:lnTo>
                    <a:pt x="2112251" y="-4"/>
                  </a:lnTo>
                  <a:cubicBezTo>
                    <a:pt x="2751597" y="2701520"/>
                    <a:pt x="4488367" y="7184624"/>
                    <a:pt x="4136325" y="8621549"/>
                  </a:cubicBezTo>
                  <a:lnTo>
                    <a:pt x="0" y="8621549"/>
                  </a:lnTo>
                  <a:close/>
                </a:path>
              </a:pathLst>
            </a:custGeom>
            <a:noFill/>
          </p:spPr>
          <p:txBody>
            <a:bodyPr wrap="none" lIns="91440" tIns="45720" rIns="91440" bIns="45720">
              <a:prstTxWarp prst="textArchDown">
                <a:avLst>
                  <a:gd name="adj" fmla="val 1667357"/>
                </a:avLst>
              </a:prstTxWarp>
              <a:spAutoFit/>
            </a:bodyPr>
            <a:lstStyle/>
            <a:p>
              <a:pPr algn="ctr"/>
              <a:r>
                <a:rPr lang="en-US" b="0" cap="none" spc="0" dirty="0" smtClean="0">
                  <a:ln w="0"/>
                  <a:solidFill>
                    <a:schemeClr val="tx1"/>
                  </a:solidFill>
                </a:rPr>
                <a:t>Advice B1</a:t>
              </a:r>
              <a:endParaRPr lang="en-US" b="0" cap="none" spc="0" dirty="0">
                <a:ln w="0"/>
                <a:solidFill>
                  <a:schemeClr val="tx1"/>
                </a:solidFill>
              </a:endParaRPr>
            </a:p>
          </p:txBody>
        </p:sp>
      </p:grpSp>
      <p:grpSp>
        <p:nvGrpSpPr>
          <p:cNvPr id="98" name="Advice FE -&gt; A"/>
          <p:cNvGrpSpPr/>
          <p:nvPr/>
        </p:nvGrpSpPr>
        <p:grpSpPr>
          <a:xfrm>
            <a:off x="2881540" y="1522511"/>
            <a:ext cx="1569892" cy="1111747"/>
            <a:chOff x="2500540" y="1178389"/>
            <a:chExt cx="1569892" cy="1111747"/>
          </a:xfrm>
        </p:grpSpPr>
        <p:sp>
          <p:nvSpPr>
            <p:cNvPr id="99" name="Arrow"/>
            <p:cNvSpPr/>
            <p:nvPr/>
          </p:nvSpPr>
          <p:spPr>
            <a:xfrm>
              <a:off x="2657235" y="1178389"/>
              <a:ext cx="1059961" cy="1012453"/>
            </a:xfrm>
            <a:custGeom>
              <a:avLst/>
              <a:gdLst>
                <a:gd name="connsiteX0" fmla="*/ 1327041 w 1423557"/>
                <a:gd name="connsiteY0" fmla="*/ 1143000 h 1143000"/>
                <a:gd name="connsiteX1" fmla="*/ 1327041 w 1423557"/>
                <a:gd name="connsiteY1" fmla="*/ 571500 h 1143000"/>
                <a:gd name="connsiteX2" fmla="*/ 1339741 w 1423557"/>
                <a:gd name="connsiteY2" fmla="*/ 266700 h 1143000"/>
                <a:gd name="connsiteX3" fmla="*/ 158641 w 1423557"/>
                <a:gd name="connsiteY3" fmla="*/ 241300 h 1143000"/>
                <a:gd name="connsiteX4" fmla="*/ 44341 w 1423557"/>
                <a:gd name="connsiteY4" fmla="*/ 0 h 1143000"/>
                <a:gd name="connsiteX0" fmla="*/ 1282700 w 1387675"/>
                <a:gd name="connsiteY0" fmla="*/ 1143000 h 1143000"/>
                <a:gd name="connsiteX1" fmla="*/ 1282700 w 1387675"/>
                <a:gd name="connsiteY1" fmla="*/ 571500 h 1143000"/>
                <a:gd name="connsiteX2" fmla="*/ 1295400 w 1387675"/>
                <a:gd name="connsiteY2" fmla="*/ 266700 h 1143000"/>
                <a:gd name="connsiteX3" fmla="*/ 0 w 1387675"/>
                <a:gd name="connsiteY3" fmla="*/ 0 h 1143000"/>
                <a:gd name="connsiteX0" fmla="*/ 1282700 w 1387675"/>
                <a:gd name="connsiteY0" fmla="*/ 1143000 h 1143000"/>
                <a:gd name="connsiteX1" fmla="*/ 1282700 w 1387675"/>
                <a:gd name="connsiteY1" fmla="*/ 571500 h 1143000"/>
                <a:gd name="connsiteX2" fmla="*/ 1295400 w 1387675"/>
                <a:gd name="connsiteY2" fmla="*/ 266700 h 1143000"/>
                <a:gd name="connsiteX3" fmla="*/ 0 w 1387675"/>
                <a:gd name="connsiteY3" fmla="*/ 0 h 1143000"/>
                <a:gd name="connsiteX0" fmla="*/ 1282700 w 1377479"/>
                <a:gd name="connsiteY0" fmla="*/ 1143000 h 1143000"/>
                <a:gd name="connsiteX1" fmla="*/ 1282700 w 1377479"/>
                <a:gd name="connsiteY1" fmla="*/ 571500 h 1143000"/>
                <a:gd name="connsiteX2" fmla="*/ 0 w 1377479"/>
                <a:gd name="connsiteY2" fmla="*/ 0 h 1143000"/>
                <a:gd name="connsiteX0" fmla="*/ 1282700 w 1282703"/>
                <a:gd name="connsiteY0" fmla="*/ 1143000 h 1143000"/>
                <a:gd name="connsiteX1" fmla="*/ 1282700 w 1282703"/>
                <a:gd name="connsiteY1" fmla="*/ 571500 h 1143000"/>
                <a:gd name="connsiteX2" fmla="*/ 0 w 1282703"/>
                <a:gd name="connsiteY2" fmla="*/ 0 h 1143000"/>
                <a:gd name="connsiteX0" fmla="*/ 1282785 w 1282787"/>
                <a:gd name="connsiteY0" fmla="*/ 1143000 h 1143000"/>
                <a:gd name="connsiteX1" fmla="*/ 1282785 w 1282787"/>
                <a:gd name="connsiteY1" fmla="*/ 571500 h 1143000"/>
                <a:gd name="connsiteX2" fmla="*/ 85 w 1282787"/>
                <a:gd name="connsiteY2" fmla="*/ 0 h 1143000"/>
                <a:gd name="connsiteX0" fmla="*/ 1282785 w 1282787"/>
                <a:gd name="connsiteY0" fmla="*/ 1143000 h 1143000"/>
                <a:gd name="connsiteX1" fmla="*/ 1282785 w 1282787"/>
                <a:gd name="connsiteY1" fmla="*/ 571500 h 1143000"/>
                <a:gd name="connsiteX2" fmla="*/ 85 w 1282787"/>
                <a:gd name="connsiteY2" fmla="*/ 0 h 1143000"/>
                <a:gd name="connsiteX0" fmla="*/ 1282700 w 1282700"/>
                <a:gd name="connsiteY0" fmla="*/ 1143000 h 1143000"/>
                <a:gd name="connsiteX1" fmla="*/ 0 w 1282700"/>
                <a:gd name="connsiteY1" fmla="*/ 0 h 1143000"/>
                <a:gd name="connsiteX0" fmla="*/ 1059961 w 1059961"/>
                <a:gd name="connsiteY0" fmla="*/ 1400907 h 1400907"/>
                <a:gd name="connsiteX1" fmla="*/ 0 w 1059961"/>
                <a:gd name="connsiteY1" fmla="*/ 0 h 1400907"/>
                <a:gd name="connsiteX0" fmla="*/ 1059961 w 1059961"/>
                <a:gd name="connsiteY0" fmla="*/ 1400907 h 1400907"/>
                <a:gd name="connsiteX1" fmla="*/ 0 w 1059961"/>
                <a:gd name="connsiteY1" fmla="*/ 0 h 1400907"/>
                <a:gd name="connsiteX0" fmla="*/ 1059961 w 1059961"/>
                <a:gd name="connsiteY0" fmla="*/ 1400907 h 1400907"/>
                <a:gd name="connsiteX1" fmla="*/ 0 w 1059961"/>
                <a:gd name="connsiteY1" fmla="*/ 0 h 1400907"/>
              </a:gdLst>
              <a:ahLst/>
              <a:cxnLst>
                <a:cxn ang="0">
                  <a:pos x="connsiteX0" y="connsiteY0"/>
                </a:cxn>
                <a:cxn ang="0">
                  <a:pos x="connsiteX1" y="connsiteY1"/>
                </a:cxn>
              </a:cxnLst>
              <a:rect l="l" t="t" r="r" b="b"/>
              <a:pathLst>
                <a:path w="1059961" h="1400907">
                  <a:moveTo>
                    <a:pt x="1059961" y="1400907"/>
                  </a:moveTo>
                  <a:cubicBezTo>
                    <a:pt x="190826" y="1391138"/>
                    <a:pt x="13351" y="1029677"/>
                    <a:pt x="0" y="0"/>
                  </a:cubicBezTo>
                </a:path>
              </a:pathLst>
            </a:custGeom>
            <a:noFill/>
            <a:ln w="19050">
              <a:solidFill>
                <a:schemeClr val="tx1"/>
              </a:solidFill>
              <a:prstDash val="sysDot"/>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Label"/>
            <p:cNvSpPr/>
            <p:nvPr/>
          </p:nvSpPr>
          <p:spPr>
            <a:xfrm rot="870311">
              <a:off x="2500540" y="1453281"/>
              <a:ext cx="1569892" cy="836855"/>
            </a:xfrm>
            <a:custGeom>
              <a:avLst/>
              <a:gdLst>
                <a:gd name="connsiteX0" fmla="*/ 0 w 4136325"/>
                <a:gd name="connsiteY0" fmla="*/ 0 h 923330"/>
                <a:gd name="connsiteX1" fmla="*/ 4136325 w 4136325"/>
                <a:gd name="connsiteY1" fmla="*/ 0 h 923330"/>
                <a:gd name="connsiteX2" fmla="*/ 4136325 w 4136325"/>
                <a:gd name="connsiteY2" fmla="*/ 923330 h 923330"/>
                <a:gd name="connsiteX3" fmla="*/ 0 w 4136325"/>
                <a:gd name="connsiteY3" fmla="*/ 923330 h 923330"/>
                <a:gd name="connsiteX4" fmla="*/ 0 w 4136325"/>
                <a:gd name="connsiteY4" fmla="*/ 0 h 923330"/>
                <a:gd name="connsiteX0" fmla="*/ 0 w 4136325"/>
                <a:gd name="connsiteY0" fmla="*/ 347976 h 1271306"/>
                <a:gd name="connsiteX1" fmla="*/ 3852075 w 4136325"/>
                <a:gd name="connsiteY1" fmla="*/ 0 h 1271306"/>
                <a:gd name="connsiteX2" fmla="*/ 4136325 w 4136325"/>
                <a:gd name="connsiteY2" fmla="*/ 1271306 h 1271306"/>
                <a:gd name="connsiteX3" fmla="*/ 0 w 4136325"/>
                <a:gd name="connsiteY3" fmla="*/ 1271306 h 1271306"/>
                <a:gd name="connsiteX4" fmla="*/ 0 w 4136325"/>
                <a:gd name="connsiteY4" fmla="*/ 347976 h 1271306"/>
                <a:gd name="connsiteX0" fmla="*/ 0 w 4136325"/>
                <a:gd name="connsiteY0" fmla="*/ 520695 h 1444025"/>
                <a:gd name="connsiteX1" fmla="*/ 3531683 w 4136325"/>
                <a:gd name="connsiteY1" fmla="*/ 0 h 1444025"/>
                <a:gd name="connsiteX2" fmla="*/ 4136325 w 4136325"/>
                <a:gd name="connsiteY2" fmla="*/ 1444025 h 1444025"/>
                <a:gd name="connsiteX3" fmla="*/ 0 w 4136325"/>
                <a:gd name="connsiteY3" fmla="*/ 1444025 h 1444025"/>
                <a:gd name="connsiteX4" fmla="*/ 0 w 4136325"/>
                <a:gd name="connsiteY4" fmla="*/ 520695 h 1444025"/>
                <a:gd name="connsiteX0" fmla="*/ 0 w 4136325"/>
                <a:gd name="connsiteY0" fmla="*/ 0 h 923330"/>
                <a:gd name="connsiteX1" fmla="*/ 2786017 w 4136325"/>
                <a:gd name="connsiteY1" fmla="*/ 49315 h 923330"/>
                <a:gd name="connsiteX2" fmla="*/ 4136325 w 4136325"/>
                <a:gd name="connsiteY2" fmla="*/ 923330 h 923330"/>
                <a:gd name="connsiteX3" fmla="*/ 0 w 4136325"/>
                <a:gd name="connsiteY3" fmla="*/ 923330 h 923330"/>
                <a:gd name="connsiteX4" fmla="*/ 0 w 4136325"/>
                <a:gd name="connsiteY4" fmla="*/ 0 h 923330"/>
                <a:gd name="connsiteX0" fmla="*/ 0 w 4136325"/>
                <a:gd name="connsiteY0" fmla="*/ 636172 h 1559502"/>
                <a:gd name="connsiteX1" fmla="*/ 3237910 w 4136325"/>
                <a:gd name="connsiteY1" fmla="*/ 0 h 1559502"/>
                <a:gd name="connsiteX2" fmla="*/ 4136325 w 4136325"/>
                <a:gd name="connsiteY2" fmla="*/ 1559502 h 1559502"/>
                <a:gd name="connsiteX3" fmla="*/ 0 w 4136325"/>
                <a:gd name="connsiteY3" fmla="*/ 1559502 h 1559502"/>
                <a:gd name="connsiteX4" fmla="*/ 0 w 4136325"/>
                <a:gd name="connsiteY4" fmla="*/ 636172 h 1559502"/>
                <a:gd name="connsiteX0" fmla="*/ 0 w 4136325"/>
                <a:gd name="connsiteY0" fmla="*/ 1332843 h 2256173"/>
                <a:gd name="connsiteX1" fmla="*/ 3237910 w 4136325"/>
                <a:gd name="connsiteY1" fmla="*/ 696671 h 2256173"/>
                <a:gd name="connsiteX2" fmla="*/ 4136325 w 4136325"/>
                <a:gd name="connsiteY2" fmla="*/ 2256173 h 2256173"/>
                <a:gd name="connsiteX3" fmla="*/ 0 w 4136325"/>
                <a:gd name="connsiteY3" fmla="*/ 2256173 h 2256173"/>
                <a:gd name="connsiteX4" fmla="*/ 0 w 4136325"/>
                <a:gd name="connsiteY4" fmla="*/ 1332843 h 2256173"/>
                <a:gd name="connsiteX0" fmla="*/ 0 w 4136325"/>
                <a:gd name="connsiteY0" fmla="*/ 1862158 h 2785488"/>
                <a:gd name="connsiteX1" fmla="*/ 3237910 w 4136325"/>
                <a:gd name="connsiteY1" fmla="*/ 1225986 h 2785488"/>
                <a:gd name="connsiteX2" fmla="*/ 4136325 w 4136325"/>
                <a:gd name="connsiteY2" fmla="*/ 2785488 h 2785488"/>
                <a:gd name="connsiteX3" fmla="*/ 0 w 4136325"/>
                <a:gd name="connsiteY3" fmla="*/ 2785488 h 2785488"/>
                <a:gd name="connsiteX4" fmla="*/ 0 w 4136325"/>
                <a:gd name="connsiteY4" fmla="*/ 1862158 h 2785488"/>
                <a:gd name="connsiteX0" fmla="*/ 0 w 4136325"/>
                <a:gd name="connsiteY0" fmla="*/ 5753169 h 6676499"/>
                <a:gd name="connsiteX1" fmla="*/ 2307839 w 4136325"/>
                <a:gd name="connsiteY1" fmla="*/ 389248 h 6676499"/>
                <a:gd name="connsiteX2" fmla="*/ 4136325 w 4136325"/>
                <a:gd name="connsiteY2" fmla="*/ 6676499 h 6676499"/>
                <a:gd name="connsiteX3" fmla="*/ 0 w 4136325"/>
                <a:gd name="connsiteY3" fmla="*/ 6676499 h 6676499"/>
                <a:gd name="connsiteX4" fmla="*/ 0 w 4136325"/>
                <a:gd name="connsiteY4" fmla="*/ 5753169 h 6676499"/>
                <a:gd name="connsiteX0" fmla="*/ 0 w 4136325"/>
                <a:gd name="connsiteY0" fmla="*/ 6332577 h 7255907"/>
                <a:gd name="connsiteX1" fmla="*/ 2307839 w 4136325"/>
                <a:gd name="connsiteY1" fmla="*/ 968656 h 7255907"/>
                <a:gd name="connsiteX2" fmla="*/ 4136325 w 4136325"/>
                <a:gd name="connsiteY2" fmla="*/ 7255907 h 7255907"/>
                <a:gd name="connsiteX3" fmla="*/ 0 w 4136325"/>
                <a:gd name="connsiteY3" fmla="*/ 7255907 h 7255907"/>
                <a:gd name="connsiteX4" fmla="*/ 0 w 4136325"/>
                <a:gd name="connsiteY4" fmla="*/ 6332577 h 7255907"/>
                <a:gd name="connsiteX0" fmla="*/ 0 w 4136325"/>
                <a:gd name="connsiteY0" fmla="*/ 8493468 h 9416798"/>
                <a:gd name="connsiteX1" fmla="*/ 2112251 w 4136325"/>
                <a:gd name="connsiteY1" fmla="*/ 795245 h 9416798"/>
                <a:gd name="connsiteX2" fmla="*/ 4136325 w 4136325"/>
                <a:gd name="connsiteY2" fmla="*/ 9416798 h 9416798"/>
                <a:gd name="connsiteX3" fmla="*/ 0 w 4136325"/>
                <a:gd name="connsiteY3" fmla="*/ 9416798 h 9416798"/>
                <a:gd name="connsiteX4" fmla="*/ 0 w 4136325"/>
                <a:gd name="connsiteY4" fmla="*/ 8493468 h 9416798"/>
                <a:gd name="connsiteX0" fmla="*/ 0 w 4441973"/>
                <a:gd name="connsiteY0" fmla="*/ 14348549 h 15271879"/>
                <a:gd name="connsiteX1" fmla="*/ 2112251 w 4441973"/>
                <a:gd name="connsiteY1" fmla="*/ 6650326 h 15271879"/>
                <a:gd name="connsiteX2" fmla="*/ 4086159 w 4441973"/>
                <a:gd name="connsiteY2" fmla="*/ 204397 h 15271879"/>
                <a:gd name="connsiteX3" fmla="*/ 4136325 w 4441973"/>
                <a:gd name="connsiteY3" fmla="*/ 15271879 h 15271879"/>
                <a:gd name="connsiteX4" fmla="*/ 0 w 4441973"/>
                <a:gd name="connsiteY4" fmla="*/ 15271879 h 15271879"/>
                <a:gd name="connsiteX5" fmla="*/ 0 w 4441973"/>
                <a:gd name="connsiteY5" fmla="*/ 14348549 h 15271879"/>
                <a:gd name="connsiteX0" fmla="*/ 0 w 4184088"/>
                <a:gd name="connsiteY0" fmla="*/ 7982667 h 8905997"/>
                <a:gd name="connsiteX1" fmla="*/ 2112251 w 4184088"/>
                <a:gd name="connsiteY1" fmla="*/ 284444 h 8905997"/>
                <a:gd name="connsiteX2" fmla="*/ 4136325 w 4184088"/>
                <a:gd name="connsiteY2" fmla="*/ 8905997 h 8905997"/>
                <a:gd name="connsiteX3" fmla="*/ 0 w 4184088"/>
                <a:gd name="connsiteY3" fmla="*/ 8905997 h 8905997"/>
                <a:gd name="connsiteX4" fmla="*/ 0 w 4184088"/>
                <a:gd name="connsiteY4" fmla="*/ 7982667 h 8905997"/>
                <a:gd name="connsiteX0" fmla="*/ 0 w 4184088"/>
                <a:gd name="connsiteY0" fmla="*/ 8621549 h 8621549"/>
                <a:gd name="connsiteX1" fmla="*/ 2112251 w 4184088"/>
                <a:gd name="connsiteY1" fmla="*/ -4 h 8621549"/>
                <a:gd name="connsiteX2" fmla="*/ 4136325 w 4184088"/>
                <a:gd name="connsiteY2" fmla="*/ 8621549 h 8621549"/>
                <a:gd name="connsiteX3" fmla="*/ 0 w 4184088"/>
                <a:gd name="connsiteY3" fmla="*/ 8621549 h 8621549"/>
                <a:gd name="connsiteX0" fmla="*/ 0 w 4182940"/>
                <a:gd name="connsiteY0" fmla="*/ 8621549 h 8621549"/>
                <a:gd name="connsiteX1" fmla="*/ 2112251 w 4182940"/>
                <a:gd name="connsiteY1" fmla="*/ -4 h 8621549"/>
                <a:gd name="connsiteX2" fmla="*/ 4136325 w 4182940"/>
                <a:gd name="connsiteY2" fmla="*/ 8621549 h 8621549"/>
                <a:gd name="connsiteX3" fmla="*/ 0 w 4182940"/>
                <a:gd name="connsiteY3" fmla="*/ 8621549 h 8621549"/>
              </a:gdLst>
              <a:ahLst/>
              <a:cxnLst>
                <a:cxn ang="0">
                  <a:pos x="connsiteX0" y="connsiteY0"/>
                </a:cxn>
                <a:cxn ang="0">
                  <a:pos x="connsiteX1" y="connsiteY1"/>
                </a:cxn>
                <a:cxn ang="0">
                  <a:pos x="connsiteX2" y="connsiteY2"/>
                </a:cxn>
                <a:cxn ang="0">
                  <a:pos x="connsiteX3" y="connsiteY3"/>
                </a:cxn>
              </a:cxnLst>
              <a:rect l="l" t="t" r="r" b="b"/>
              <a:pathLst>
                <a:path w="4182940" h="8621549">
                  <a:moveTo>
                    <a:pt x="0" y="8621549"/>
                  </a:moveTo>
                  <a:lnTo>
                    <a:pt x="2112251" y="-4"/>
                  </a:lnTo>
                  <a:cubicBezTo>
                    <a:pt x="2751597" y="2701520"/>
                    <a:pt x="4488367" y="7184624"/>
                    <a:pt x="4136325" y="8621549"/>
                  </a:cubicBezTo>
                  <a:lnTo>
                    <a:pt x="0" y="8621549"/>
                  </a:lnTo>
                  <a:close/>
                </a:path>
              </a:pathLst>
            </a:custGeom>
            <a:noFill/>
          </p:spPr>
          <p:txBody>
            <a:bodyPr wrap="none" lIns="91440" tIns="45720" rIns="91440" bIns="45720">
              <a:prstTxWarp prst="textArchDown">
                <a:avLst>
                  <a:gd name="adj" fmla="val 1667357"/>
                </a:avLst>
              </a:prstTxWarp>
              <a:spAutoFit/>
            </a:bodyPr>
            <a:lstStyle/>
            <a:p>
              <a:pPr algn="ctr"/>
              <a:r>
                <a:rPr lang="en-US" b="0" cap="none" spc="0" dirty="0" smtClean="0">
                  <a:ln w="0"/>
                  <a:solidFill>
                    <a:schemeClr val="tx1"/>
                  </a:solidFill>
                </a:rPr>
                <a:t>Advice A1</a:t>
              </a:r>
              <a:endParaRPr lang="en-US" b="0" cap="none" spc="0" dirty="0">
                <a:ln w="0"/>
                <a:solidFill>
                  <a:schemeClr val="tx1"/>
                </a:solidFill>
              </a:endParaRPr>
            </a:p>
          </p:txBody>
        </p:sp>
      </p:grpSp>
      <p:grpSp>
        <p:nvGrpSpPr>
          <p:cNvPr id="4" name="Group 3"/>
          <p:cNvGrpSpPr/>
          <p:nvPr/>
        </p:nvGrpSpPr>
        <p:grpSpPr>
          <a:xfrm>
            <a:off x="513646" y="2753868"/>
            <a:ext cx="3164285" cy="707886"/>
            <a:chOff x="4773385" y="2796678"/>
            <a:chExt cx="3164285" cy="707886"/>
          </a:xfrm>
        </p:grpSpPr>
        <p:sp>
          <p:nvSpPr>
            <p:cNvPr id="88" name="TextBox 87"/>
            <p:cNvSpPr txBox="1"/>
            <p:nvPr/>
          </p:nvSpPr>
          <p:spPr>
            <a:xfrm>
              <a:off x="5962514" y="2796678"/>
              <a:ext cx="1975156" cy="707886"/>
            </a:xfrm>
            <a:prstGeom prst="rect">
              <a:avLst/>
            </a:prstGeom>
            <a:noFill/>
          </p:spPr>
          <p:txBody>
            <a:bodyPr wrap="none" rtlCol="0">
              <a:spAutoFit/>
            </a:bodyPr>
            <a:lstStyle/>
            <a:p>
              <a:r>
                <a:rPr lang="en-US" sz="4000" dirty="0" smtClean="0"/>
                <a:t>Weaving</a:t>
              </a:r>
            </a:p>
          </p:txBody>
        </p:sp>
        <p:grpSp>
          <p:nvGrpSpPr>
            <p:cNvPr id="3" name="Group 2"/>
            <p:cNvGrpSpPr/>
            <p:nvPr/>
          </p:nvGrpSpPr>
          <p:grpSpPr>
            <a:xfrm>
              <a:off x="4773385" y="2959070"/>
              <a:ext cx="1080092" cy="390401"/>
              <a:chOff x="4773385" y="2959070"/>
              <a:chExt cx="1080092" cy="390401"/>
            </a:xfrm>
          </p:grpSpPr>
          <p:sp>
            <p:nvSpPr>
              <p:cNvPr id="89" name="Tracepoint 3"/>
              <p:cNvSpPr/>
              <p:nvPr/>
            </p:nvSpPr>
            <p:spPr>
              <a:xfrm>
                <a:off x="4773385" y="2959070"/>
                <a:ext cx="390402" cy="390401"/>
              </a:xfrm>
              <a:prstGeom prst="ellipse">
                <a:avLst/>
              </a:prstGeom>
              <a:solidFill>
                <a:srgbClr val="FFE1E1"/>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Tracepoint 3"/>
              <p:cNvSpPr/>
              <p:nvPr/>
            </p:nvSpPr>
            <p:spPr>
              <a:xfrm>
                <a:off x="5463075" y="2959070"/>
                <a:ext cx="390402" cy="390401"/>
              </a:xfrm>
              <a:prstGeom prst="ellipse">
                <a:avLst/>
              </a:prstGeom>
              <a:solidFill>
                <a:srgbClr val="E1E1FF"/>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ight Arrow 1"/>
              <p:cNvSpPr/>
              <p:nvPr/>
            </p:nvSpPr>
            <p:spPr>
              <a:xfrm>
                <a:off x="5200323" y="3057564"/>
                <a:ext cx="237931" cy="186113"/>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6" name="Group 5"/>
          <p:cNvGrpSpPr/>
          <p:nvPr/>
        </p:nvGrpSpPr>
        <p:grpSpPr>
          <a:xfrm>
            <a:off x="3255152" y="550041"/>
            <a:ext cx="4273876" cy="943684"/>
            <a:chOff x="2874152" y="550041"/>
            <a:chExt cx="4273876" cy="943684"/>
          </a:xfrm>
        </p:grpSpPr>
        <p:sp>
          <p:nvSpPr>
            <p:cNvPr id="205" name="Tracepoint 1"/>
            <p:cNvSpPr/>
            <p:nvPr/>
          </p:nvSpPr>
          <p:spPr>
            <a:xfrm>
              <a:off x="6827374" y="1164645"/>
              <a:ext cx="304800" cy="304800"/>
            </a:xfrm>
            <a:prstGeom prst="ellipse">
              <a:avLst/>
            </a:prstGeom>
            <a:solidFill>
              <a:srgbClr val="FFE1E1"/>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Tracepoint 1"/>
            <p:cNvSpPr/>
            <p:nvPr/>
          </p:nvSpPr>
          <p:spPr>
            <a:xfrm>
              <a:off x="2884757" y="590584"/>
              <a:ext cx="304800" cy="304800"/>
            </a:xfrm>
            <a:prstGeom prst="ellipse">
              <a:avLst/>
            </a:prstGeom>
            <a:solidFill>
              <a:srgbClr val="FFE1E1"/>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7" name="Group 236"/>
            <p:cNvGrpSpPr/>
            <p:nvPr/>
          </p:nvGrpSpPr>
          <p:grpSpPr>
            <a:xfrm>
              <a:off x="2874152" y="550041"/>
              <a:ext cx="4273876" cy="943684"/>
              <a:chOff x="2874152" y="550041"/>
              <a:chExt cx="4273876" cy="943684"/>
            </a:xfrm>
          </p:grpSpPr>
          <p:sp>
            <p:nvSpPr>
              <p:cNvPr id="235" name="TextBox 234"/>
              <p:cNvSpPr txBox="1"/>
              <p:nvPr/>
            </p:nvSpPr>
            <p:spPr>
              <a:xfrm>
                <a:off x="2874152" y="550041"/>
                <a:ext cx="324128" cy="369332"/>
              </a:xfrm>
              <a:prstGeom prst="rect">
                <a:avLst/>
              </a:prstGeom>
              <a:noFill/>
            </p:spPr>
            <p:txBody>
              <a:bodyPr wrap="none" rtlCol="0">
                <a:spAutoFit/>
              </a:bodyPr>
              <a:lstStyle/>
              <a:p>
                <a:r>
                  <a:rPr lang="en-US" b="1" dirty="0" smtClean="0"/>
                  <a:t>A</a:t>
                </a:r>
                <a:endParaRPr lang="en-US" b="1" dirty="0"/>
              </a:p>
            </p:txBody>
          </p:sp>
          <p:sp>
            <p:nvSpPr>
              <p:cNvPr id="236" name="TextBox 235"/>
              <p:cNvSpPr txBox="1"/>
              <p:nvPr/>
            </p:nvSpPr>
            <p:spPr>
              <a:xfrm>
                <a:off x="6823900" y="1124393"/>
                <a:ext cx="324128" cy="369332"/>
              </a:xfrm>
              <a:prstGeom prst="rect">
                <a:avLst/>
              </a:prstGeom>
              <a:noFill/>
            </p:spPr>
            <p:txBody>
              <a:bodyPr wrap="none" rtlCol="0">
                <a:spAutoFit/>
              </a:bodyPr>
              <a:lstStyle/>
              <a:p>
                <a:r>
                  <a:rPr lang="en-US" b="1" dirty="0" smtClean="0"/>
                  <a:t>B</a:t>
                </a:r>
                <a:endParaRPr lang="en-US" b="1" dirty="0"/>
              </a:p>
            </p:txBody>
          </p:sp>
        </p:grpSp>
      </p:grpSp>
      <p:grpSp>
        <p:nvGrpSpPr>
          <p:cNvPr id="109" name="Group 108"/>
          <p:cNvGrpSpPr/>
          <p:nvPr/>
        </p:nvGrpSpPr>
        <p:grpSpPr>
          <a:xfrm>
            <a:off x="6095832" y="1511664"/>
            <a:ext cx="304800" cy="304800"/>
            <a:chOff x="249913" y="289635"/>
            <a:chExt cx="304800" cy="304800"/>
          </a:xfrm>
        </p:grpSpPr>
        <p:sp>
          <p:nvSpPr>
            <p:cNvPr id="122" name="Tracepoint 5"/>
            <p:cNvSpPr/>
            <p:nvPr/>
          </p:nvSpPr>
          <p:spPr>
            <a:xfrm>
              <a:off x="249913" y="289635"/>
              <a:ext cx="304800" cy="304800"/>
            </a:xfrm>
            <a:prstGeom prst="ellipse">
              <a:avLst/>
            </a:prstGeom>
            <a:solidFill>
              <a:srgbClr val="E1E1FF"/>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TextBox 122"/>
            <p:cNvSpPr txBox="1"/>
            <p:nvPr/>
          </p:nvSpPr>
          <p:spPr>
            <a:xfrm>
              <a:off x="278108" y="295490"/>
              <a:ext cx="246862" cy="276999"/>
            </a:xfrm>
            <a:prstGeom prst="rect">
              <a:avLst/>
            </a:prstGeom>
            <a:noFill/>
          </p:spPr>
          <p:txBody>
            <a:bodyPr wrap="none" lIns="0" tIns="0" rIns="0" bIns="0" rtlCol="0" anchor="ctr" anchorCtr="0">
              <a:spAutoFit/>
            </a:bodyPr>
            <a:lstStyle/>
            <a:p>
              <a:pPr algn="ctr"/>
              <a:r>
                <a:rPr lang="en-US" b="1" dirty="0"/>
                <a:t>B</a:t>
              </a:r>
              <a:r>
                <a:rPr lang="en-US" b="1" dirty="0" smtClean="0"/>
                <a:t>1</a:t>
              </a:r>
              <a:endParaRPr lang="en-US" b="1" dirty="0"/>
            </a:p>
          </p:txBody>
        </p:sp>
      </p:grpSp>
      <p:grpSp>
        <p:nvGrpSpPr>
          <p:cNvPr id="106" name="Group 105"/>
          <p:cNvGrpSpPr/>
          <p:nvPr/>
        </p:nvGrpSpPr>
        <p:grpSpPr>
          <a:xfrm>
            <a:off x="2877117" y="1201632"/>
            <a:ext cx="304800" cy="308470"/>
            <a:chOff x="249913" y="285965"/>
            <a:chExt cx="304800" cy="308470"/>
          </a:xfrm>
        </p:grpSpPr>
        <p:sp>
          <p:nvSpPr>
            <p:cNvPr id="107" name="Tracepoint 5"/>
            <p:cNvSpPr/>
            <p:nvPr/>
          </p:nvSpPr>
          <p:spPr>
            <a:xfrm>
              <a:off x="249913" y="289635"/>
              <a:ext cx="304800" cy="304800"/>
            </a:xfrm>
            <a:prstGeom prst="ellipse">
              <a:avLst/>
            </a:prstGeom>
            <a:solidFill>
              <a:srgbClr val="E1E1FF"/>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TextBox 107"/>
            <p:cNvSpPr txBox="1"/>
            <p:nvPr/>
          </p:nvSpPr>
          <p:spPr>
            <a:xfrm>
              <a:off x="273299" y="285965"/>
              <a:ext cx="256480" cy="276999"/>
            </a:xfrm>
            <a:prstGeom prst="rect">
              <a:avLst/>
            </a:prstGeom>
            <a:noFill/>
          </p:spPr>
          <p:txBody>
            <a:bodyPr wrap="none" lIns="0" tIns="0" rIns="0" bIns="0" rtlCol="0" anchor="ctr" anchorCtr="0">
              <a:spAutoFit/>
            </a:bodyPr>
            <a:lstStyle/>
            <a:p>
              <a:pPr algn="ctr"/>
              <a:r>
                <a:rPr lang="en-US" b="1" dirty="0" smtClean="0"/>
                <a:t>A1</a:t>
              </a:r>
              <a:endParaRPr lang="en-US" b="1" dirty="0"/>
            </a:p>
          </p:txBody>
        </p:sp>
      </p:grpSp>
      <p:grpSp>
        <p:nvGrpSpPr>
          <p:cNvPr id="116" name="Group 115"/>
          <p:cNvGrpSpPr/>
          <p:nvPr/>
        </p:nvGrpSpPr>
        <p:grpSpPr>
          <a:xfrm>
            <a:off x="4432620" y="2362933"/>
            <a:ext cx="304800" cy="308470"/>
            <a:chOff x="249913" y="285965"/>
            <a:chExt cx="304800" cy="308470"/>
          </a:xfrm>
        </p:grpSpPr>
        <p:sp>
          <p:nvSpPr>
            <p:cNvPr id="117" name="Tracepoint 5"/>
            <p:cNvSpPr/>
            <p:nvPr/>
          </p:nvSpPr>
          <p:spPr>
            <a:xfrm>
              <a:off x="249913" y="289635"/>
              <a:ext cx="304800" cy="304800"/>
            </a:xfrm>
            <a:prstGeom prst="ellipse">
              <a:avLst/>
            </a:prstGeom>
            <a:solidFill>
              <a:srgbClr val="E1E1FF"/>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TextBox 117"/>
            <p:cNvSpPr txBox="1"/>
            <p:nvPr/>
          </p:nvSpPr>
          <p:spPr>
            <a:xfrm>
              <a:off x="273299" y="285965"/>
              <a:ext cx="256480" cy="276999"/>
            </a:xfrm>
            <a:prstGeom prst="rect">
              <a:avLst/>
            </a:prstGeom>
            <a:noFill/>
          </p:spPr>
          <p:txBody>
            <a:bodyPr wrap="none" lIns="0" tIns="0" rIns="0" bIns="0" rtlCol="0" anchor="ctr" anchorCtr="0">
              <a:spAutoFit/>
            </a:bodyPr>
            <a:lstStyle/>
            <a:p>
              <a:pPr algn="ctr"/>
              <a:r>
                <a:rPr lang="en-US" b="1" dirty="0" smtClean="0"/>
                <a:t>A1</a:t>
              </a:r>
              <a:endParaRPr lang="en-US" b="1" dirty="0"/>
            </a:p>
          </p:txBody>
        </p:sp>
      </p:grpSp>
      <p:grpSp>
        <p:nvGrpSpPr>
          <p:cNvPr id="119" name="Group 118"/>
          <p:cNvGrpSpPr/>
          <p:nvPr/>
        </p:nvGrpSpPr>
        <p:grpSpPr>
          <a:xfrm>
            <a:off x="4742831" y="2358913"/>
            <a:ext cx="304800" cy="304800"/>
            <a:chOff x="249913" y="289635"/>
            <a:chExt cx="304800" cy="304800"/>
          </a:xfrm>
        </p:grpSpPr>
        <p:sp>
          <p:nvSpPr>
            <p:cNvPr id="120" name="Tracepoint 5"/>
            <p:cNvSpPr/>
            <p:nvPr/>
          </p:nvSpPr>
          <p:spPr>
            <a:xfrm>
              <a:off x="249913" y="289635"/>
              <a:ext cx="304800" cy="304800"/>
            </a:xfrm>
            <a:prstGeom prst="ellipse">
              <a:avLst/>
            </a:prstGeom>
            <a:solidFill>
              <a:srgbClr val="E1E1FF"/>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TextBox 120"/>
            <p:cNvSpPr txBox="1"/>
            <p:nvPr/>
          </p:nvSpPr>
          <p:spPr>
            <a:xfrm>
              <a:off x="278108" y="295490"/>
              <a:ext cx="246862" cy="276999"/>
            </a:xfrm>
            <a:prstGeom prst="rect">
              <a:avLst/>
            </a:prstGeom>
            <a:noFill/>
          </p:spPr>
          <p:txBody>
            <a:bodyPr wrap="none" lIns="0" tIns="0" rIns="0" bIns="0" rtlCol="0" anchor="ctr" anchorCtr="0">
              <a:spAutoFit/>
            </a:bodyPr>
            <a:lstStyle/>
            <a:p>
              <a:pPr algn="ctr"/>
              <a:r>
                <a:rPr lang="en-US" b="1" dirty="0"/>
                <a:t>B</a:t>
              </a:r>
              <a:r>
                <a:rPr lang="en-US" b="1" dirty="0" smtClean="0"/>
                <a:t>1</a:t>
              </a:r>
              <a:endParaRPr lang="en-US" b="1" dirty="0"/>
            </a:p>
          </p:txBody>
        </p:sp>
      </p:grpSp>
      <p:grpSp>
        <p:nvGrpSpPr>
          <p:cNvPr id="10" name="Group 9"/>
          <p:cNvGrpSpPr/>
          <p:nvPr/>
        </p:nvGrpSpPr>
        <p:grpSpPr>
          <a:xfrm>
            <a:off x="5048250" y="2930097"/>
            <a:ext cx="4095750" cy="3750339"/>
            <a:chOff x="5048250" y="2930097"/>
            <a:chExt cx="4095750" cy="3750339"/>
          </a:xfrm>
        </p:grpSpPr>
        <p:grpSp>
          <p:nvGrpSpPr>
            <p:cNvPr id="150" name="Group 149"/>
            <p:cNvGrpSpPr/>
            <p:nvPr/>
          </p:nvGrpSpPr>
          <p:grpSpPr>
            <a:xfrm>
              <a:off x="5048250" y="2930097"/>
              <a:ext cx="4095750" cy="1174562"/>
              <a:chOff x="5048250" y="2834847"/>
              <a:chExt cx="4095750" cy="1174562"/>
            </a:xfrm>
          </p:grpSpPr>
          <p:sp>
            <p:nvSpPr>
              <p:cNvPr id="151" name="Rounded Rectangular Callout 233"/>
              <p:cNvSpPr/>
              <p:nvPr/>
            </p:nvSpPr>
            <p:spPr>
              <a:xfrm flipH="1">
                <a:off x="5048250" y="2834847"/>
                <a:ext cx="4095750" cy="1174562"/>
              </a:xfrm>
              <a:custGeom>
                <a:avLst/>
                <a:gdLst>
                  <a:gd name="connsiteX0" fmla="*/ 0 w 3939907"/>
                  <a:gd name="connsiteY0" fmla="*/ 195764 h 1174562"/>
                  <a:gd name="connsiteX1" fmla="*/ 195764 w 3939907"/>
                  <a:gd name="connsiteY1" fmla="*/ 0 h 1174562"/>
                  <a:gd name="connsiteX2" fmla="*/ 2298279 w 3939907"/>
                  <a:gd name="connsiteY2" fmla="*/ 0 h 1174562"/>
                  <a:gd name="connsiteX3" fmla="*/ 3351718 w 3939907"/>
                  <a:gd name="connsiteY3" fmla="*/ -297517 h 1174562"/>
                  <a:gd name="connsiteX4" fmla="*/ 3283256 w 3939907"/>
                  <a:gd name="connsiteY4" fmla="*/ 0 h 1174562"/>
                  <a:gd name="connsiteX5" fmla="*/ 3744143 w 3939907"/>
                  <a:gd name="connsiteY5" fmla="*/ 0 h 1174562"/>
                  <a:gd name="connsiteX6" fmla="*/ 3939907 w 3939907"/>
                  <a:gd name="connsiteY6" fmla="*/ 195764 h 1174562"/>
                  <a:gd name="connsiteX7" fmla="*/ 3939907 w 3939907"/>
                  <a:gd name="connsiteY7" fmla="*/ 195760 h 1174562"/>
                  <a:gd name="connsiteX8" fmla="*/ 3939907 w 3939907"/>
                  <a:gd name="connsiteY8" fmla="*/ 195760 h 1174562"/>
                  <a:gd name="connsiteX9" fmla="*/ 3939907 w 3939907"/>
                  <a:gd name="connsiteY9" fmla="*/ 489401 h 1174562"/>
                  <a:gd name="connsiteX10" fmla="*/ 3939907 w 3939907"/>
                  <a:gd name="connsiteY10" fmla="*/ 978798 h 1174562"/>
                  <a:gd name="connsiteX11" fmla="*/ 3744143 w 3939907"/>
                  <a:gd name="connsiteY11" fmla="*/ 1174562 h 1174562"/>
                  <a:gd name="connsiteX12" fmla="*/ 3283256 w 3939907"/>
                  <a:gd name="connsiteY12" fmla="*/ 1174562 h 1174562"/>
                  <a:gd name="connsiteX13" fmla="*/ 2298279 w 3939907"/>
                  <a:gd name="connsiteY13" fmla="*/ 1174562 h 1174562"/>
                  <a:gd name="connsiteX14" fmla="*/ 2298279 w 3939907"/>
                  <a:gd name="connsiteY14" fmla="*/ 1174562 h 1174562"/>
                  <a:gd name="connsiteX15" fmla="*/ 195764 w 3939907"/>
                  <a:gd name="connsiteY15" fmla="*/ 1174562 h 1174562"/>
                  <a:gd name="connsiteX16" fmla="*/ 0 w 3939907"/>
                  <a:gd name="connsiteY16" fmla="*/ 978798 h 1174562"/>
                  <a:gd name="connsiteX17" fmla="*/ 0 w 3939907"/>
                  <a:gd name="connsiteY17" fmla="*/ 489401 h 1174562"/>
                  <a:gd name="connsiteX18" fmla="*/ 0 w 3939907"/>
                  <a:gd name="connsiteY18" fmla="*/ 195760 h 1174562"/>
                  <a:gd name="connsiteX19" fmla="*/ 0 w 3939907"/>
                  <a:gd name="connsiteY19" fmla="*/ 195760 h 1174562"/>
                  <a:gd name="connsiteX20" fmla="*/ 0 w 3939907"/>
                  <a:gd name="connsiteY20" fmla="*/ 195764 h 1174562"/>
                  <a:gd name="connsiteX0" fmla="*/ 0 w 3939907"/>
                  <a:gd name="connsiteY0" fmla="*/ 493281 h 1472079"/>
                  <a:gd name="connsiteX1" fmla="*/ 195764 w 3939907"/>
                  <a:gd name="connsiteY1" fmla="*/ 297517 h 1472079"/>
                  <a:gd name="connsiteX2" fmla="*/ 2298279 w 3939907"/>
                  <a:gd name="connsiteY2" fmla="*/ 297517 h 1472079"/>
                  <a:gd name="connsiteX3" fmla="*/ 3351718 w 3939907"/>
                  <a:gd name="connsiteY3" fmla="*/ 0 h 1472079"/>
                  <a:gd name="connsiteX4" fmla="*/ 3519231 w 3939907"/>
                  <a:gd name="connsiteY4" fmla="*/ 297517 h 1472079"/>
                  <a:gd name="connsiteX5" fmla="*/ 3744143 w 3939907"/>
                  <a:gd name="connsiteY5" fmla="*/ 297517 h 1472079"/>
                  <a:gd name="connsiteX6" fmla="*/ 3939907 w 3939907"/>
                  <a:gd name="connsiteY6" fmla="*/ 493281 h 1472079"/>
                  <a:gd name="connsiteX7" fmla="*/ 3939907 w 3939907"/>
                  <a:gd name="connsiteY7" fmla="*/ 493277 h 1472079"/>
                  <a:gd name="connsiteX8" fmla="*/ 3939907 w 3939907"/>
                  <a:gd name="connsiteY8" fmla="*/ 493277 h 1472079"/>
                  <a:gd name="connsiteX9" fmla="*/ 3939907 w 3939907"/>
                  <a:gd name="connsiteY9" fmla="*/ 786918 h 1472079"/>
                  <a:gd name="connsiteX10" fmla="*/ 3939907 w 3939907"/>
                  <a:gd name="connsiteY10" fmla="*/ 1276315 h 1472079"/>
                  <a:gd name="connsiteX11" fmla="*/ 3744143 w 3939907"/>
                  <a:gd name="connsiteY11" fmla="*/ 1472079 h 1472079"/>
                  <a:gd name="connsiteX12" fmla="*/ 3283256 w 3939907"/>
                  <a:gd name="connsiteY12" fmla="*/ 1472079 h 1472079"/>
                  <a:gd name="connsiteX13" fmla="*/ 2298279 w 3939907"/>
                  <a:gd name="connsiteY13" fmla="*/ 1472079 h 1472079"/>
                  <a:gd name="connsiteX14" fmla="*/ 2298279 w 3939907"/>
                  <a:gd name="connsiteY14" fmla="*/ 1472079 h 1472079"/>
                  <a:gd name="connsiteX15" fmla="*/ 195764 w 3939907"/>
                  <a:gd name="connsiteY15" fmla="*/ 1472079 h 1472079"/>
                  <a:gd name="connsiteX16" fmla="*/ 0 w 3939907"/>
                  <a:gd name="connsiteY16" fmla="*/ 1276315 h 1472079"/>
                  <a:gd name="connsiteX17" fmla="*/ 0 w 3939907"/>
                  <a:gd name="connsiteY17" fmla="*/ 786918 h 1472079"/>
                  <a:gd name="connsiteX18" fmla="*/ 0 w 3939907"/>
                  <a:gd name="connsiteY18" fmla="*/ 493277 h 1472079"/>
                  <a:gd name="connsiteX19" fmla="*/ 0 w 3939907"/>
                  <a:gd name="connsiteY19" fmla="*/ 493277 h 1472079"/>
                  <a:gd name="connsiteX20" fmla="*/ 0 w 3939907"/>
                  <a:gd name="connsiteY20" fmla="*/ 493281 h 1472079"/>
                  <a:gd name="connsiteX0" fmla="*/ 0 w 3939907"/>
                  <a:gd name="connsiteY0" fmla="*/ 493281 h 1472079"/>
                  <a:gd name="connsiteX1" fmla="*/ 195764 w 3939907"/>
                  <a:gd name="connsiteY1" fmla="*/ 297517 h 1472079"/>
                  <a:gd name="connsiteX2" fmla="*/ 3232343 w 3939907"/>
                  <a:gd name="connsiteY2" fmla="*/ 287685 h 1472079"/>
                  <a:gd name="connsiteX3" fmla="*/ 3351718 w 3939907"/>
                  <a:gd name="connsiteY3" fmla="*/ 0 h 1472079"/>
                  <a:gd name="connsiteX4" fmla="*/ 3519231 w 3939907"/>
                  <a:gd name="connsiteY4" fmla="*/ 297517 h 1472079"/>
                  <a:gd name="connsiteX5" fmla="*/ 3744143 w 3939907"/>
                  <a:gd name="connsiteY5" fmla="*/ 297517 h 1472079"/>
                  <a:gd name="connsiteX6" fmla="*/ 3939907 w 3939907"/>
                  <a:gd name="connsiteY6" fmla="*/ 493281 h 1472079"/>
                  <a:gd name="connsiteX7" fmla="*/ 3939907 w 3939907"/>
                  <a:gd name="connsiteY7" fmla="*/ 493277 h 1472079"/>
                  <a:gd name="connsiteX8" fmla="*/ 3939907 w 3939907"/>
                  <a:gd name="connsiteY8" fmla="*/ 493277 h 1472079"/>
                  <a:gd name="connsiteX9" fmla="*/ 3939907 w 3939907"/>
                  <a:gd name="connsiteY9" fmla="*/ 786918 h 1472079"/>
                  <a:gd name="connsiteX10" fmla="*/ 3939907 w 3939907"/>
                  <a:gd name="connsiteY10" fmla="*/ 1276315 h 1472079"/>
                  <a:gd name="connsiteX11" fmla="*/ 3744143 w 3939907"/>
                  <a:gd name="connsiteY11" fmla="*/ 1472079 h 1472079"/>
                  <a:gd name="connsiteX12" fmla="*/ 3283256 w 3939907"/>
                  <a:gd name="connsiteY12" fmla="*/ 1472079 h 1472079"/>
                  <a:gd name="connsiteX13" fmla="*/ 2298279 w 3939907"/>
                  <a:gd name="connsiteY13" fmla="*/ 1472079 h 1472079"/>
                  <a:gd name="connsiteX14" fmla="*/ 2298279 w 3939907"/>
                  <a:gd name="connsiteY14" fmla="*/ 1472079 h 1472079"/>
                  <a:gd name="connsiteX15" fmla="*/ 195764 w 3939907"/>
                  <a:gd name="connsiteY15" fmla="*/ 1472079 h 1472079"/>
                  <a:gd name="connsiteX16" fmla="*/ 0 w 3939907"/>
                  <a:gd name="connsiteY16" fmla="*/ 1276315 h 1472079"/>
                  <a:gd name="connsiteX17" fmla="*/ 0 w 3939907"/>
                  <a:gd name="connsiteY17" fmla="*/ 786918 h 1472079"/>
                  <a:gd name="connsiteX18" fmla="*/ 0 w 3939907"/>
                  <a:gd name="connsiteY18" fmla="*/ 493277 h 1472079"/>
                  <a:gd name="connsiteX19" fmla="*/ 0 w 3939907"/>
                  <a:gd name="connsiteY19" fmla="*/ 493277 h 1472079"/>
                  <a:gd name="connsiteX20" fmla="*/ 0 w 3939907"/>
                  <a:gd name="connsiteY20" fmla="*/ 493281 h 1472079"/>
                  <a:gd name="connsiteX0" fmla="*/ 0 w 3939907"/>
                  <a:gd name="connsiteY0" fmla="*/ 493281 h 1472079"/>
                  <a:gd name="connsiteX1" fmla="*/ 195764 w 3939907"/>
                  <a:gd name="connsiteY1" fmla="*/ 297517 h 1472079"/>
                  <a:gd name="connsiteX2" fmla="*/ 3232343 w 3939907"/>
                  <a:gd name="connsiteY2" fmla="*/ 287685 h 1472079"/>
                  <a:gd name="connsiteX3" fmla="*/ 3351718 w 3939907"/>
                  <a:gd name="connsiteY3" fmla="*/ 0 h 1472079"/>
                  <a:gd name="connsiteX4" fmla="*/ 3519231 w 3939907"/>
                  <a:gd name="connsiteY4" fmla="*/ 297517 h 1472079"/>
                  <a:gd name="connsiteX5" fmla="*/ 3744143 w 3939907"/>
                  <a:gd name="connsiteY5" fmla="*/ 297517 h 1472079"/>
                  <a:gd name="connsiteX6" fmla="*/ 3939907 w 3939907"/>
                  <a:gd name="connsiteY6" fmla="*/ 493281 h 1472079"/>
                  <a:gd name="connsiteX7" fmla="*/ 3939907 w 3939907"/>
                  <a:gd name="connsiteY7" fmla="*/ 493277 h 1472079"/>
                  <a:gd name="connsiteX8" fmla="*/ 3939907 w 3939907"/>
                  <a:gd name="connsiteY8" fmla="*/ 493277 h 1472079"/>
                  <a:gd name="connsiteX9" fmla="*/ 3939907 w 3939907"/>
                  <a:gd name="connsiteY9" fmla="*/ 786918 h 1472079"/>
                  <a:gd name="connsiteX10" fmla="*/ 3939907 w 3939907"/>
                  <a:gd name="connsiteY10" fmla="*/ 1276315 h 1472079"/>
                  <a:gd name="connsiteX11" fmla="*/ 3744143 w 3939907"/>
                  <a:gd name="connsiteY11" fmla="*/ 1472079 h 1472079"/>
                  <a:gd name="connsiteX12" fmla="*/ 3283256 w 3939907"/>
                  <a:gd name="connsiteY12" fmla="*/ 1472079 h 1472079"/>
                  <a:gd name="connsiteX13" fmla="*/ 2298279 w 3939907"/>
                  <a:gd name="connsiteY13" fmla="*/ 1472079 h 1472079"/>
                  <a:gd name="connsiteX14" fmla="*/ 2298279 w 3939907"/>
                  <a:gd name="connsiteY14" fmla="*/ 1472079 h 1472079"/>
                  <a:gd name="connsiteX15" fmla="*/ 195764 w 3939907"/>
                  <a:gd name="connsiteY15" fmla="*/ 1472079 h 1472079"/>
                  <a:gd name="connsiteX16" fmla="*/ 0 w 3939907"/>
                  <a:gd name="connsiteY16" fmla="*/ 1276315 h 1472079"/>
                  <a:gd name="connsiteX17" fmla="*/ 0 w 3939907"/>
                  <a:gd name="connsiteY17" fmla="*/ 786918 h 1472079"/>
                  <a:gd name="connsiteX18" fmla="*/ 0 w 3939907"/>
                  <a:gd name="connsiteY18" fmla="*/ 493277 h 1472079"/>
                  <a:gd name="connsiteX19" fmla="*/ 0 w 3939907"/>
                  <a:gd name="connsiteY19" fmla="*/ 493277 h 1472079"/>
                  <a:gd name="connsiteX20" fmla="*/ 0 w 3939907"/>
                  <a:gd name="connsiteY20" fmla="*/ 493281 h 1472079"/>
                  <a:gd name="connsiteX0" fmla="*/ 0 w 3939907"/>
                  <a:gd name="connsiteY0" fmla="*/ 493281 h 1472079"/>
                  <a:gd name="connsiteX1" fmla="*/ 195764 w 3939907"/>
                  <a:gd name="connsiteY1" fmla="*/ 297517 h 1472079"/>
                  <a:gd name="connsiteX2" fmla="*/ 3232343 w 3939907"/>
                  <a:gd name="connsiteY2" fmla="*/ 287685 h 1472079"/>
                  <a:gd name="connsiteX3" fmla="*/ 3351718 w 3939907"/>
                  <a:gd name="connsiteY3" fmla="*/ 0 h 1472079"/>
                  <a:gd name="connsiteX4" fmla="*/ 3519231 w 3939907"/>
                  <a:gd name="connsiteY4" fmla="*/ 297517 h 1472079"/>
                  <a:gd name="connsiteX5" fmla="*/ 3744143 w 3939907"/>
                  <a:gd name="connsiteY5" fmla="*/ 297517 h 1472079"/>
                  <a:gd name="connsiteX6" fmla="*/ 3939907 w 3939907"/>
                  <a:gd name="connsiteY6" fmla="*/ 493281 h 1472079"/>
                  <a:gd name="connsiteX7" fmla="*/ 3939907 w 3939907"/>
                  <a:gd name="connsiteY7" fmla="*/ 493277 h 1472079"/>
                  <a:gd name="connsiteX8" fmla="*/ 3939907 w 3939907"/>
                  <a:gd name="connsiteY8" fmla="*/ 493277 h 1472079"/>
                  <a:gd name="connsiteX9" fmla="*/ 3939907 w 3939907"/>
                  <a:gd name="connsiteY9" fmla="*/ 786918 h 1472079"/>
                  <a:gd name="connsiteX10" fmla="*/ 3939907 w 3939907"/>
                  <a:gd name="connsiteY10" fmla="*/ 1276315 h 1472079"/>
                  <a:gd name="connsiteX11" fmla="*/ 3744143 w 3939907"/>
                  <a:gd name="connsiteY11" fmla="*/ 1472079 h 1472079"/>
                  <a:gd name="connsiteX12" fmla="*/ 3283256 w 3939907"/>
                  <a:gd name="connsiteY12" fmla="*/ 1472079 h 1472079"/>
                  <a:gd name="connsiteX13" fmla="*/ 2298279 w 3939907"/>
                  <a:gd name="connsiteY13" fmla="*/ 1472079 h 1472079"/>
                  <a:gd name="connsiteX14" fmla="*/ 2298279 w 3939907"/>
                  <a:gd name="connsiteY14" fmla="*/ 1472079 h 1472079"/>
                  <a:gd name="connsiteX15" fmla="*/ 195764 w 3939907"/>
                  <a:gd name="connsiteY15" fmla="*/ 1472079 h 1472079"/>
                  <a:gd name="connsiteX16" fmla="*/ 0 w 3939907"/>
                  <a:gd name="connsiteY16" fmla="*/ 1276315 h 1472079"/>
                  <a:gd name="connsiteX17" fmla="*/ 0 w 3939907"/>
                  <a:gd name="connsiteY17" fmla="*/ 786918 h 1472079"/>
                  <a:gd name="connsiteX18" fmla="*/ 0 w 3939907"/>
                  <a:gd name="connsiteY18" fmla="*/ 493277 h 1472079"/>
                  <a:gd name="connsiteX19" fmla="*/ 0 w 3939907"/>
                  <a:gd name="connsiteY19" fmla="*/ 493277 h 1472079"/>
                  <a:gd name="connsiteX20" fmla="*/ 0 w 3939907"/>
                  <a:gd name="connsiteY20" fmla="*/ 493281 h 1472079"/>
                  <a:gd name="connsiteX0" fmla="*/ 0 w 3939907"/>
                  <a:gd name="connsiteY0" fmla="*/ 493281 h 1472079"/>
                  <a:gd name="connsiteX1" fmla="*/ 195764 w 3939907"/>
                  <a:gd name="connsiteY1" fmla="*/ 297517 h 1472079"/>
                  <a:gd name="connsiteX2" fmla="*/ 3232343 w 3939907"/>
                  <a:gd name="connsiteY2" fmla="*/ 287685 h 1472079"/>
                  <a:gd name="connsiteX3" fmla="*/ 3351718 w 3939907"/>
                  <a:gd name="connsiteY3" fmla="*/ 0 h 1472079"/>
                  <a:gd name="connsiteX4" fmla="*/ 3519231 w 3939907"/>
                  <a:gd name="connsiteY4" fmla="*/ 297517 h 1472079"/>
                  <a:gd name="connsiteX5" fmla="*/ 3744143 w 3939907"/>
                  <a:gd name="connsiteY5" fmla="*/ 297517 h 1472079"/>
                  <a:gd name="connsiteX6" fmla="*/ 3939907 w 3939907"/>
                  <a:gd name="connsiteY6" fmla="*/ 493281 h 1472079"/>
                  <a:gd name="connsiteX7" fmla="*/ 3939907 w 3939907"/>
                  <a:gd name="connsiteY7" fmla="*/ 493277 h 1472079"/>
                  <a:gd name="connsiteX8" fmla="*/ 3939907 w 3939907"/>
                  <a:gd name="connsiteY8" fmla="*/ 493277 h 1472079"/>
                  <a:gd name="connsiteX9" fmla="*/ 3939907 w 3939907"/>
                  <a:gd name="connsiteY9" fmla="*/ 786918 h 1472079"/>
                  <a:gd name="connsiteX10" fmla="*/ 3939907 w 3939907"/>
                  <a:gd name="connsiteY10" fmla="*/ 1276315 h 1472079"/>
                  <a:gd name="connsiteX11" fmla="*/ 3744143 w 3939907"/>
                  <a:gd name="connsiteY11" fmla="*/ 1472079 h 1472079"/>
                  <a:gd name="connsiteX12" fmla="*/ 3283256 w 3939907"/>
                  <a:gd name="connsiteY12" fmla="*/ 1472079 h 1472079"/>
                  <a:gd name="connsiteX13" fmla="*/ 2298279 w 3939907"/>
                  <a:gd name="connsiteY13" fmla="*/ 1472079 h 1472079"/>
                  <a:gd name="connsiteX14" fmla="*/ 2298279 w 3939907"/>
                  <a:gd name="connsiteY14" fmla="*/ 1472079 h 1472079"/>
                  <a:gd name="connsiteX15" fmla="*/ 195764 w 3939907"/>
                  <a:gd name="connsiteY15" fmla="*/ 1472079 h 1472079"/>
                  <a:gd name="connsiteX16" fmla="*/ 0 w 3939907"/>
                  <a:gd name="connsiteY16" fmla="*/ 1276315 h 1472079"/>
                  <a:gd name="connsiteX17" fmla="*/ 0 w 3939907"/>
                  <a:gd name="connsiteY17" fmla="*/ 786918 h 1472079"/>
                  <a:gd name="connsiteX18" fmla="*/ 0 w 3939907"/>
                  <a:gd name="connsiteY18" fmla="*/ 493277 h 1472079"/>
                  <a:gd name="connsiteX19" fmla="*/ 0 w 3939907"/>
                  <a:gd name="connsiteY19" fmla="*/ 493277 h 1472079"/>
                  <a:gd name="connsiteX20" fmla="*/ 0 w 3939907"/>
                  <a:gd name="connsiteY20" fmla="*/ 493281 h 1472079"/>
                  <a:gd name="connsiteX0" fmla="*/ 0 w 3939907"/>
                  <a:gd name="connsiteY0" fmla="*/ 493281 h 1472079"/>
                  <a:gd name="connsiteX1" fmla="*/ 195764 w 3939907"/>
                  <a:gd name="connsiteY1" fmla="*/ 297517 h 1472079"/>
                  <a:gd name="connsiteX2" fmla="*/ 3232343 w 3939907"/>
                  <a:gd name="connsiteY2" fmla="*/ 287685 h 1472079"/>
                  <a:gd name="connsiteX3" fmla="*/ 3351718 w 3939907"/>
                  <a:gd name="connsiteY3" fmla="*/ 0 h 1472079"/>
                  <a:gd name="connsiteX4" fmla="*/ 3519231 w 3939907"/>
                  <a:gd name="connsiteY4" fmla="*/ 297517 h 1472079"/>
                  <a:gd name="connsiteX5" fmla="*/ 3744143 w 3939907"/>
                  <a:gd name="connsiteY5" fmla="*/ 297517 h 1472079"/>
                  <a:gd name="connsiteX6" fmla="*/ 3939907 w 3939907"/>
                  <a:gd name="connsiteY6" fmla="*/ 493281 h 1472079"/>
                  <a:gd name="connsiteX7" fmla="*/ 3939907 w 3939907"/>
                  <a:gd name="connsiteY7" fmla="*/ 493277 h 1472079"/>
                  <a:gd name="connsiteX8" fmla="*/ 3939907 w 3939907"/>
                  <a:gd name="connsiteY8" fmla="*/ 493277 h 1472079"/>
                  <a:gd name="connsiteX9" fmla="*/ 3939907 w 3939907"/>
                  <a:gd name="connsiteY9" fmla="*/ 786918 h 1472079"/>
                  <a:gd name="connsiteX10" fmla="*/ 3939907 w 3939907"/>
                  <a:gd name="connsiteY10" fmla="*/ 1276315 h 1472079"/>
                  <a:gd name="connsiteX11" fmla="*/ 3744143 w 3939907"/>
                  <a:gd name="connsiteY11" fmla="*/ 1472079 h 1472079"/>
                  <a:gd name="connsiteX12" fmla="*/ 3283256 w 3939907"/>
                  <a:gd name="connsiteY12" fmla="*/ 1472079 h 1472079"/>
                  <a:gd name="connsiteX13" fmla="*/ 2298279 w 3939907"/>
                  <a:gd name="connsiteY13" fmla="*/ 1472079 h 1472079"/>
                  <a:gd name="connsiteX14" fmla="*/ 2298279 w 3939907"/>
                  <a:gd name="connsiteY14" fmla="*/ 1472079 h 1472079"/>
                  <a:gd name="connsiteX15" fmla="*/ 195764 w 3939907"/>
                  <a:gd name="connsiteY15" fmla="*/ 1472079 h 1472079"/>
                  <a:gd name="connsiteX16" fmla="*/ 0 w 3939907"/>
                  <a:gd name="connsiteY16" fmla="*/ 1276315 h 1472079"/>
                  <a:gd name="connsiteX17" fmla="*/ 0 w 3939907"/>
                  <a:gd name="connsiteY17" fmla="*/ 786918 h 1472079"/>
                  <a:gd name="connsiteX18" fmla="*/ 0 w 3939907"/>
                  <a:gd name="connsiteY18" fmla="*/ 493277 h 1472079"/>
                  <a:gd name="connsiteX19" fmla="*/ 0 w 3939907"/>
                  <a:gd name="connsiteY19" fmla="*/ 493277 h 1472079"/>
                  <a:gd name="connsiteX20" fmla="*/ 0 w 3939907"/>
                  <a:gd name="connsiteY20" fmla="*/ 493281 h 1472079"/>
                  <a:gd name="connsiteX0" fmla="*/ 0 w 3939907"/>
                  <a:gd name="connsiteY0" fmla="*/ 493281 h 1472079"/>
                  <a:gd name="connsiteX1" fmla="*/ 195764 w 3939907"/>
                  <a:gd name="connsiteY1" fmla="*/ 297517 h 1472079"/>
                  <a:gd name="connsiteX2" fmla="*/ 3232343 w 3939907"/>
                  <a:gd name="connsiteY2" fmla="*/ 287685 h 1472079"/>
                  <a:gd name="connsiteX3" fmla="*/ 3351718 w 3939907"/>
                  <a:gd name="connsiteY3" fmla="*/ 0 h 1472079"/>
                  <a:gd name="connsiteX4" fmla="*/ 3519231 w 3939907"/>
                  <a:gd name="connsiteY4" fmla="*/ 297517 h 1472079"/>
                  <a:gd name="connsiteX5" fmla="*/ 3744143 w 3939907"/>
                  <a:gd name="connsiteY5" fmla="*/ 297517 h 1472079"/>
                  <a:gd name="connsiteX6" fmla="*/ 3939907 w 3939907"/>
                  <a:gd name="connsiteY6" fmla="*/ 493281 h 1472079"/>
                  <a:gd name="connsiteX7" fmla="*/ 3939907 w 3939907"/>
                  <a:gd name="connsiteY7" fmla="*/ 493277 h 1472079"/>
                  <a:gd name="connsiteX8" fmla="*/ 3939907 w 3939907"/>
                  <a:gd name="connsiteY8" fmla="*/ 493277 h 1472079"/>
                  <a:gd name="connsiteX9" fmla="*/ 3939907 w 3939907"/>
                  <a:gd name="connsiteY9" fmla="*/ 786918 h 1472079"/>
                  <a:gd name="connsiteX10" fmla="*/ 3939907 w 3939907"/>
                  <a:gd name="connsiteY10" fmla="*/ 1276315 h 1472079"/>
                  <a:gd name="connsiteX11" fmla="*/ 3744143 w 3939907"/>
                  <a:gd name="connsiteY11" fmla="*/ 1472079 h 1472079"/>
                  <a:gd name="connsiteX12" fmla="*/ 3283256 w 3939907"/>
                  <a:gd name="connsiteY12" fmla="*/ 1472079 h 1472079"/>
                  <a:gd name="connsiteX13" fmla="*/ 2298279 w 3939907"/>
                  <a:gd name="connsiteY13" fmla="*/ 1472079 h 1472079"/>
                  <a:gd name="connsiteX14" fmla="*/ 2298279 w 3939907"/>
                  <a:gd name="connsiteY14" fmla="*/ 1472079 h 1472079"/>
                  <a:gd name="connsiteX15" fmla="*/ 195764 w 3939907"/>
                  <a:gd name="connsiteY15" fmla="*/ 1472079 h 1472079"/>
                  <a:gd name="connsiteX16" fmla="*/ 0 w 3939907"/>
                  <a:gd name="connsiteY16" fmla="*/ 1276315 h 1472079"/>
                  <a:gd name="connsiteX17" fmla="*/ 0 w 3939907"/>
                  <a:gd name="connsiteY17" fmla="*/ 786918 h 1472079"/>
                  <a:gd name="connsiteX18" fmla="*/ 0 w 3939907"/>
                  <a:gd name="connsiteY18" fmla="*/ 493277 h 1472079"/>
                  <a:gd name="connsiteX19" fmla="*/ 0 w 3939907"/>
                  <a:gd name="connsiteY19" fmla="*/ 493277 h 1472079"/>
                  <a:gd name="connsiteX20" fmla="*/ 0 w 3939907"/>
                  <a:gd name="connsiteY20" fmla="*/ 493281 h 1472079"/>
                  <a:gd name="connsiteX0" fmla="*/ 0 w 3939907"/>
                  <a:gd name="connsiteY0" fmla="*/ 493281 h 1472079"/>
                  <a:gd name="connsiteX1" fmla="*/ 195764 w 3939907"/>
                  <a:gd name="connsiteY1" fmla="*/ 297517 h 1472079"/>
                  <a:gd name="connsiteX2" fmla="*/ 3232343 w 3939907"/>
                  <a:gd name="connsiteY2" fmla="*/ 287685 h 1472079"/>
                  <a:gd name="connsiteX3" fmla="*/ 3351718 w 3939907"/>
                  <a:gd name="connsiteY3" fmla="*/ 0 h 1472079"/>
                  <a:gd name="connsiteX4" fmla="*/ 3519231 w 3939907"/>
                  <a:gd name="connsiteY4" fmla="*/ 297517 h 1472079"/>
                  <a:gd name="connsiteX5" fmla="*/ 3744143 w 3939907"/>
                  <a:gd name="connsiteY5" fmla="*/ 297517 h 1472079"/>
                  <a:gd name="connsiteX6" fmla="*/ 3939907 w 3939907"/>
                  <a:gd name="connsiteY6" fmla="*/ 493281 h 1472079"/>
                  <a:gd name="connsiteX7" fmla="*/ 3939907 w 3939907"/>
                  <a:gd name="connsiteY7" fmla="*/ 493277 h 1472079"/>
                  <a:gd name="connsiteX8" fmla="*/ 3939907 w 3939907"/>
                  <a:gd name="connsiteY8" fmla="*/ 493277 h 1472079"/>
                  <a:gd name="connsiteX9" fmla="*/ 3939907 w 3939907"/>
                  <a:gd name="connsiteY9" fmla="*/ 786918 h 1472079"/>
                  <a:gd name="connsiteX10" fmla="*/ 3939907 w 3939907"/>
                  <a:gd name="connsiteY10" fmla="*/ 1276315 h 1472079"/>
                  <a:gd name="connsiteX11" fmla="*/ 3744143 w 3939907"/>
                  <a:gd name="connsiteY11" fmla="*/ 1472079 h 1472079"/>
                  <a:gd name="connsiteX12" fmla="*/ 3283256 w 3939907"/>
                  <a:gd name="connsiteY12" fmla="*/ 1472079 h 1472079"/>
                  <a:gd name="connsiteX13" fmla="*/ 2298279 w 3939907"/>
                  <a:gd name="connsiteY13" fmla="*/ 1472079 h 1472079"/>
                  <a:gd name="connsiteX14" fmla="*/ 2298279 w 3939907"/>
                  <a:gd name="connsiteY14" fmla="*/ 1472079 h 1472079"/>
                  <a:gd name="connsiteX15" fmla="*/ 195764 w 3939907"/>
                  <a:gd name="connsiteY15" fmla="*/ 1472079 h 1472079"/>
                  <a:gd name="connsiteX16" fmla="*/ 0 w 3939907"/>
                  <a:gd name="connsiteY16" fmla="*/ 1276315 h 1472079"/>
                  <a:gd name="connsiteX17" fmla="*/ 0 w 3939907"/>
                  <a:gd name="connsiteY17" fmla="*/ 786918 h 1472079"/>
                  <a:gd name="connsiteX18" fmla="*/ 0 w 3939907"/>
                  <a:gd name="connsiteY18" fmla="*/ 493277 h 1472079"/>
                  <a:gd name="connsiteX19" fmla="*/ 0 w 3939907"/>
                  <a:gd name="connsiteY19" fmla="*/ 493277 h 1472079"/>
                  <a:gd name="connsiteX20" fmla="*/ 0 w 3939907"/>
                  <a:gd name="connsiteY20" fmla="*/ 493281 h 1472079"/>
                  <a:gd name="connsiteX0" fmla="*/ 0 w 3939907"/>
                  <a:gd name="connsiteY0" fmla="*/ 493281 h 1472079"/>
                  <a:gd name="connsiteX1" fmla="*/ 195764 w 3939907"/>
                  <a:gd name="connsiteY1" fmla="*/ 297517 h 1472079"/>
                  <a:gd name="connsiteX2" fmla="*/ 3232343 w 3939907"/>
                  <a:gd name="connsiteY2" fmla="*/ 287685 h 1472079"/>
                  <a:gd name="connsiteX3" fmla="*/ 3351718 w 3939907"/>
                  <a:gd name="connsiteY3" fmla="*/ 0 h 1472079"/>
                  <a:gd name="connsiteX4" fmla="*/ 3519231 w 3939907"/>
                  <a:gd name="connsiteY4" fmla="*/ 297517 h 1472079"/>
                  <a:gd name="connsiteX5" fmla="*/ 3744143 w 3939907"/>
                  <a:gd name="connsiteY5" fmla="*/ 297517 h 1472079"/>
                  <a:gd name="connsiteX6" fmla="*/ 3939907 w 3939907"/>
                  <a:gd name="connsiteY6" fmla="*/ 493281 h 1472079"/>
                  <a:gd name="connsiteX7" fmla="*/ 3939907 w 3939907"/>
                  <a:gd name="connsiteY7" fmla="*/ 493277 h 1472079"/>
                  <a:gd name="connsiteX8" fmla="*/ 3939907 w 3939907"/>
                  <a:gd name="connsiteY8" fmla="*/ 493277 h 1472079"/>
                  <a:gd name="connsiteX9" fmla="*/ 3939907 w 3939907"/>
                  <a:gd name="connsiteY9" fmla="*/ 786918 h 1472079"/>
                  <a:gd name="connsiteX10" fmla="*/ 3939907 w 3939907"/>
                  <a:gd name="connsiteY10" fmla="*/ 1276315 h 1472079"/>
                  <a:gd name="connsiteX11" fmla="*/ 3744143 w 3939907"/>
                  <a:gd name="connsiteY11" fmla="*/ 1472079 h 1472079"/>
                  <a:gd name="connsiteX12" fmla="*/ 3283256 w 3939907"/>
                  <a:gd name="connsiteY12" fmla="*/ 1472079 h 1472079"/>
                  <a:gd name="connsiteX13" fmla="*/ 2298279 w 3939907"/>
                  <a:gd name="connsiteY13" fmla="*/ 1472079 h 1472079"/>
                  <a:gd name="connsiteX14" fmla="*/ 2298279 w 3939907"/>
                  <a:gd name="connsiteY14" fmla="*/ 1472079 h 1472079"/>
                  <a:gd name="connsiteX15" fmla="*/ 195764 w 3939907"/>
                  <a:gd name="connsiteY15" fmla="*/ 1472079 h 1472079"/>
                  <a:gd name="connsiteX16" fmla="*/ 0 w 3939907"/>
                  <a:gd name="connsiteY16" fmla="*/ 1276315 h 1472079"/>
                  <a:gd name="connsiteX17" fmla="*/ 0 w 3939907"/>
                  <a:gd name="connsiteY17" fmla="*/ 786918 h 1472079"/>
                  <a:gd name="connsiteX18" fmla="*/ 0 w 3939907"/>
                  <a:gd name="connsiteY18" fmla="*/ 493277 h 1472079"/>
                  <a:gd name="connsiteX19" fmla="*/ 0 w 3939907"/>
                  <a:gd name="connsiteY19" fmla="*/ 493277 h 1472079"/>
                  <a:gd name="connsiteX20" fmla="*/ 0 w 3939907"/>
                  <a:gd name="connsiteY20" fmla="*/ 493281 h 1472079"/>
                  <a:gd name="connsiteX0" fmla="*/ 0 w 3939907"/>
                  <a:gd name="connsiteY0" fmla="*/ 569481 h 1548279"/>
                  <a:gd name="connsiteX1" fmla="*/ 195764 w 3939907"/>
                  <a:gd name="connsiteY1" fmla="*/ 373717 h 1548279"/>
                  <a:gd name="connsiteX2" fmla="*/ 3232343 w 3939907"/>
                  <a:gd name="connsiteY2" fmla="*/ 363885 h 1548279"/>
                  <a:gd name="connsiteX3" fmla="*/ 3637468 w 3939907"/>
                  <a:gd name="connsiteY3" fmla="*/ 0 h 1548279"/>
                  <a:gd name="connsiteX4" fmla="*/ 3519231 w 3939907"/>
                  <a:gd name="connsiteY4" fmla="*/ 373717 h 1548279"/>
                  <a:gd name="connsiteX5" fmla="*/ 3744143 w 3939907"/>
                  <a:gd name="connsiteY5" fmla="*/ 373717 h 1548279"/>
                  <a:gd name="connsiteX6" fmla="*/ 3939907 w 3939907"/>
                  <a:gd name="connsiteY6" fmla="*/ 569481 h 1548279"/>
                  <a:gd name="connsiteX7" fmla="*/ 3939907 w 3939907"/>
                  <a:gd name="connsiteY7" fmla="*/ 569477 h 1548279"/>
                  <a:gd name="connsiteX8" fmla="*/ 3939907 w 3939907"/>
                  <a:gd name="connsiteY8" fmla="*/ 569477 h 1548279"/>
                  <a:gd name="connsiteX9" fmla="*/ 3939907 w 3939907"/>
                  <a:gd name="connsiteY9" fmla="*/ 863118 h 1548279"/>
                  <a:gd name="connsiteX10" fmla="*/ 3939907 w 3939907"/>
                  <a:gd name="connsiteY10" fmla="*/ 1352515 h 1548279"/>
                  <a:gd name="connsiteX11" fmla="*/ 3744143 w 3939907"/>
                  <a:gd name="connsiteY11" fmla="*/ 1548279 h 1548279"/>
                  <a:gd name="connsiteX12" fmla="*/ 3283256 w 3939907"/>
                  <a:gd name="connsiteY12" fmla="*/ 1548279 h 1548279"/>
                  <a:gd name="connsiteX13" fmla="*/ 2298279 w 3939907"/>
                  <a:gd name="connsiteY13" fmla="*/ 1548279 h 1548279"/>
                  <a:gd name="connsiteX14" fmla="*/ 2298279 w 3939907"/>
                  <a:gd name="connsiteY14" fmla="*/ 1548279 h 1548279"/>
                  <a:gd name="connsiteX15" fmla="*/ 195764 w 3939907"/>
                  <a:gd name="connsiteY15" fmla="*/ 1548279 h 1548279"/>
                  <a:gd name="connsiteX16" fmla="*/ 0 w 3939907"/>
                  <a:gd name="connsiteY16" fmla="*/ 1352515 h 1548279"/>
                  <a:gd name="connsiteX17" fmla="*/ 0 w 3939907"/>
                  <a:gd name="connsiteY17" fmla="*/ 863118 h 1548279"/>
                  <a:gd name="connsiteX18" fmla="*/ 0 w 3939907"/>
                  <a:gd name="connsiteY18" fmla="*/ 569477 h 1548279"/>
                  <a:gd name="connsiteX19" fmla="*/ 0 w 3939907"/>
                  <a:gd name="connsiteY19" fmla="*/ 569477 h 1548279"/>
                  <a:gd name="connsiteX20" fmla="*/ 0 w 3939907"/>
                  <a:gd name="connsiteY20" fmla="*/ 569481 h 1548279"/>
                  <a:gd name="connsiteX0" fmla="*/ 0 w 3939907"/>
                  <a:gd name="connsiteY0" fmla="*/ 569481 h 1548279"/>
                  <a:gd name="connsiteX1" fmla="*/ 195764 w 3939907"/>
                  <a:gd name="connsiteY1" fmla="*/ 373717 h 1548279"/>
                  <a:gd name="connsiteX2" fmla="*/ 3232343 w 3939907"/>
                  <a:gd name="connsiteY2" fmla="*/ 363885 h 1548279"/>
                  <a:gd name="connsiteX3" fmla="*/ 3637468 w 3939907"/>
                  <a:gd name="connsiteY3" fmla="*/ 0 h 1548279"/>
                  <a:gd name="connsiteX4" fmla="*/ 3519231 w 3939907"/>
                  <a:gd name="connsiteY4" fmla="*/ 373717 h 1548279"/>
                  <a:gd name="connsiteX5" fmla="*/ 3744143 w 3939907"/>
                  <a:gd name="connsiteY5" fmla="*/ 373717 h 1548279"/>
                  <a:gd name="connsiteX6" fmla="*/ 3939907 w 3939907"/>
                  <a:gd name="connsiteY6" fmla="*/ 569481 h 1548279"/>
                  <a:gd name="connsiteX7" fmla="*/ 3939907 w 3939907"/>
                  <a:gd name="connsiteY7" fmla="*/ 569477 h 1548279"/>
                  <a:gd name="connsiteX8" fmla="*/ 3939907 w 3939907"/>
                  <a:gd name="connsiteY8" fmla="*/ 569477 h 1548279"/>
                  <a:gd name="connsiteX9" fmla="*/ 3939907 w 3939907"/>
                  <a:gd name="connsiteY9" fmla="*/ 863118 h 1548279"/>
                  <a:gd name="connsiteX10" fmla="*/ 3939907 w 3939907"/>
                  <a:gd name="connsiteY10" fmla="*/ 1352515 h 1548279"/>
                  <a:gd name="connsiteX11" fmla="*/ 3744143 w 3939907"/>
                  <a:gd name="connsiteY11" fmla="*/ 1548279 h 1548279"/>
                  <a:gd name="connsiteX12" fmla="*/ 3283256 w 3939907"/>
                  <a:gd name="connsiteY12" fmla="*/ 1548279 h 1548279"/>
                  <a:gd name="connsiteX13" fmla="*/ 2298279 w 3939907"/>
                  <a:gd name="connsiteY13" fmla="*/ 1548279 h 1548279"/>
                  <a:gd name="connsiteX14" fmla="*/ 2298279 w 3939907"/>
                  <a:gd name="connsiteY14" fmla="*/ 1548279 h 1548279"/>
                  <a:gd name="connsiteX15" fmla="*/ 195764 w 3939907"/>
                  <a:gd name="connsiteY15" fmla="*/ 1548279 h 1548279"/>
                  <a:gd name="connsiteX16" fmla="*/ 0 w 3939907"/>
                  <a:gd name="connsiteY16" fmla="*/ 1352515 h 1548279"/>
                  <a:gd name="connsiteX17" fmla="*/ 0 w 3939907"/>
                  <a:gd name="connsiteY17" fmla="*/ 863118 h 1548279"/>
                  <a:gd name="connsiteX18" fmla="*/ 0 w 3939907"/>
                  <a:gd name="connsiteY18" fmla="*/ 569477 h 1548279"/>
                  <a:gd name="connsiteX19" fmla="*/ 0 w 3939907"/>
                  <a:gd name="connsiteY19" fmla="*/ 569477 h 1548279"/>
                  <a:gd name="connsiteX20" fmla="*/ 0 w 3939907"/>
                  <a:gd name="connsiteY20" fmla="*/ 569481 h 1548279"/>
                  <a:gd name="connsiteX0" fmla="*/ 0 w 3939907"/>
                  <a:gd name="connsiteY0" fmla="*/ 569481 h 1548279"/>
                  <a:gd name="connsiteX1" fmla="*/ 195764 w 3939907"/>
                  <a:gd name="connsiteY1" fmla="*/ 373717 h 1548279"/>
                  <a:gd name="connsiteX2" fmla="*/ 3232343 w 3939907"/>
                  <a:gd name="connsiteY2" fmla="*/ 363885 h 1548279"/>
                  <a:gd name="connsiteX3" fmla="*/ 3637468 w 3939907"/>
                  <a:gd name="connsiteY3" fmla="*/ 0 h 1548279"/>
                  <a:gd name="connsiteX4" fmla="*/ 3519231 w 3939907"/>
                  <a:gd name="connsiteY4" fmla="*/ 373717 h 1548279"/>
                  <a:gd name="connsiteX5" fmla="*/ 3744143 w 3939907"/>
                  <a:gd name="connsiteY5" fmla="*/ 373717 h 1548279"/>
                  <a:gd name="connsiteX6" fmla="*/ 3939907 w 3939907"/>
                  <a:gd name="connsiteY6" fmla="*/ 569481 h 1548279"/>
                  <a:gd name="connsiteX7" fmla="*/ 3939907 w 3939907"/>
                  <a:gd name="connsiteY7" fmla="*/ 569477 h 1548279"/>
                  <a:gd name="connsiteX8" fmla="*/ 3939907 w 3939907"/>
                  <a:gd name="connsiteY8" fmla="*/ 569477 h 1548279"/>
                  <a:gd name="connsiteX9" fmla="*/ 3939907 w 3939907"/>
                  <a:gd name="connsiteY9" fmla="*/ 863118 h 1548279"/>
                  <a:gd name="connsiteX10" fmla="*/ 3939907 w 3939907"/>
                  <a:gd name="connsiteY10" fmla="*/ 1352515 h 1548279"/>
                  <a:gd name="connsiteX11" fmla="*/ 3744143 w 3939907"/>
                  <a:gd name="connsiteY11" fmla="*/ 1548279 h 1548279"/>
                  <a:gd name="connsiteX12" fmla="*/ 3283256 w 3939907"/>
                  <a:gd name="connsiteY12" fmla="*/ 1548279 h 1548279"/>
                  <a:gd name="connsiteX13" fmla="*/ 2298279 w 3939907"/>
                  <a:gd name="connsiteY13" fmla="*/ 1548279 h 1548279"/>
                  <a:gd name="connsiteX14" fmla="*/ 2298279 w 3939907"/>
                  <a:gd name="connsiteY14" fmla="*/ 1548279 h 1548279"/>
                  <a:gd name="connsiteX15" fmla="*/ 195764 w 3939907"/>
                  <a:gd name="connsiteY15" fmla="*/ 1548279 h 1548279"/>
                  <a:gd name="connsiteX16" fmla="*/ 0 w 3939907"/>
                  <a:gd name="connsiteY16" fmla="*/ 1352515 h 1548279"/>
                  <a:gd name="connsiteX17" fmla="*/ 0 w 3939907"/>
                  <a:gd name="connsiteY17" fmla="*/ 863118 h 1548279"/>
                  <a:gd name="connsiteX18" fmla="*/ 0 w 3939907"/>
                  <a:gd name="connsiteY18" fmla="*/ 569477 h 1548279"/>
                  <a:gd name="connsiteX19" fmla="*/ 0 w 3939907"/>
                  <a:gd name="connsiteY19" fmla="*/ 569477 h 1548279"/>
                  <a:gd name="connsiteX20" fmla="*/ 0 w 3939907"/>
                  <a:gd name="connsiteY20" fmla="*/ 569481 h 1548279"/>
                  <a:gd name="connsiteX0" fmla="*/ 0 w 3939907"/>
                  <a:gd name="connsiteY0" fmla="*/ 569481 h 1548279"/>
                  <a:gd name="connsiteX1" fmla="*/ 195764 w 3939907"/>
                  <a:gd name="connsiteY1" fmla="*/ 373717 h 1548279"/>
                  <a:gd name="connsiteX2" fmla="*/ 3232343 w 3939907"/>
                  <a:gd name="connsiteY2" fmla="*/ 363885 h 1548279"/>
                  <a:gd name="connsiteX3" fmla="*/ 3637468 w 3939907"/>
                  <a:gd name="connsiteY3" fmla="*/ 0 h 1548279"/>
                  <a:gd name="connsiteX4" fmla="*/ 3519231 w 3939907"/>
                  <a:gd name="connsiteY4" fmla="*/ 373717 h 1548279"/>
                  <a:gd name="connsiteX5" fmla="*/ 3744143 w 3939907"/>
                  <a:gd name="connsiteY5" fmla="*/ 373717 h 1548279"/>
                  <a:gd name="connsiteX6" fmla="*/ 3939907 w 3939907"/>
                  <a:gd name="connsiteY6" fmla="*/ 569481 h 1548279"/>
                  <a:gd name="connsiteX7" fmla="*/ 3939907 w 3939907"/>
                  <a:gd name="connsiteY7" fmla="*/ 569477 h 1548279"/>
                  <a:gd name="connsiteX8" fmla="*/ 3939907 w 3939907"/>
                  <a:gd name="connsiteY8" fmla="*/ 569477 h 1548279"/>
                  <a:gd name="connsiteX9" fmla="*/ 3939907 w 3939907"/>
                  <a:gd name="connsiteY9" fmla="*/ 863118 h 1548279"/>
                  <a:gd name="connsiteX10" fmla="*/ 3939907 w 3939907"/>
                  <a:gd name="connsiteY10" fmla="*/ 1352515 h 1548279"/>
                  <a:gd name="connsiteX11" fmla="*/ 3744143 w 3939907"/>
                  <a:gd name="connsiteY11" fmla="*/ 1548279 h 1548279"/>
                  <a:gd name="connsiteX12" fmla="*/ 3283256 w 3939907"/>
                  <a:gd name="connsiteY12" fmla="*/ 1548279 h 1548279"/>
                  <a:gd name="connsiteX13" fmla="*/ 2298279 w 3939907"/>
                  <a:gd name="connsiteY13" fmla="*/ 1548279 h 1548279"/>
                  <a:gd name="connsiteX14" fmla="*/ 2298279 w 3939907"/>
                  <a:gd name="connsiteY14" fmla="*/ 1548279 h 1548279"/>
                  <a:gd name="connsiteX15" fmla="*/ 195764 w 3939907"/>
                  <a:gd name="connsiteY15" fmla="*/ 1548279 h 1548279"/>
                  <a:gd name="connsiteX16" fmla="*/ 0 w 3939907"/>
                  <a:gd name="connsiteY16" fmla="*/ 1352515 h 1548279"/>
                  <a:gd name="connsiteX17" fmla="*/ 0 w 3939907"/>
                  <a:gd name="connsiteY17" fmla="*/ 863118 h 1548279"/>
                  <a:gd name="connsiteX18" fmla="*/ 0 w 3939907"/>
                  <a:gd name="connsiteY18" fmla="*/ 569477 h 1548279"/>
                  <a:gd name="connsiteX19" fmla="*/ 0 w 3939907"/>
                  <a:gd name="connsiteY19" fmla="*/ 569477 h 1548279"/>
                  <a:gd name="connsiteX20" fmla="*/ 0 w 3939907"/>
                  <a:gd name="connsiteY20" fmla="*/ 569481 h 1548279"/>
                  <a:gd name="connsiteX0" fmla="*/ 0 w 3939907"/>
                  <a:gd name="connsiteY0" fmla="*/ 569481 h 1548279"/>
                  <a:gd name="connsiteX1" fmla="*/ 195764 w 3939907"/>
                  <a:gd name="connsiteY1" fmla="*/ 373717 h 1548279"/>
                  <a:gd name="connsiteX2" fmla="*/ 3232343 w 3939907"/>
                  <a:gd name="connsiteY2" fmla="*/ 363885 h 1548279"/>
                  <a:gd name="connsiteX3" fmla="*/ 3637468 w 3939907"/>
                  <a:gd name="connsiteY3" fmla="*/ 0 h 1548279"/>
                  <a:gd name="connsiteX4" fmla="*/ 3519231 w 3939907"/>
                  <a:gd name="connsiteY4" fmla="*/ 373717 h 1548279"/>
                  <a:gd name="connsiteX5" fmla="*/ 3744143 w 3939907"/>
                  <a:gd name="connsiteY5" fmla="*/ 373717 h 1548279"/>
                  <a:gd name="connsiteX6" fmla="*/ 3939907 w 3939907"/>
                  <a:gd name="connsiteY6" fmla="*/ 569481 h 1548279"/>
                  <a:gd name="connsiteX7" fmla="*/ 3939907 w 3939907"/>
                  <a:gd name="connsiteY7" fmla="*/ 569477 h 1548279"/>
                  <a:gd name="connsiteX8" fmla="*/ 3939907 w 3939907"/>
                  <a:gd name="connsiteY8" fmla="*/ 569477 h 1548279"/>
                  <a:gd name="connsiteX9" fmla="*/ 3939907 w 3939907"/>
                  <a:gd name="connsiteY9" fmla="*/ 863118 h 1548279"/>
                  <a:gd name="connsiteX10" fmla="*/ 3939907 w 3939907"/>
                  <a:gd name="connsiteY10" fmla="*/ 1352515 h 1548279"/>
                  <a:gd name="connsiteX11" fmla="*/ 3744143 w 3939907"/>
                  <a:gd name="connsiteY11" fmla="*/ 1548279 h 1548279"/>
                  <a:gd name="connsiteX12" fmla="*/ 3283256 w 3939907"/>
                  <a:gd name="connsiteY12" fmla="*/ 1548279 h 1548279"/>
                  <a:gd name="connsiteX13" fmla="*/ 2298279 w 3939907"/>
                  <a:gd name="connsiteY13" fmla="*/ 1548279 h 1548279"/>
                  <a:gd name="connsiteX14" fmla="*/ 2298279 w 3939907"/>
                  <a:gd name="connsiteY14" fmla="*/ 1548279 h 1548279"/>
                  <a:gd name="connsiteX15" fmla="*/ 195764 w 3939907"/>
                  <a:gd name="connsiteY15" fmla="*/ 1548279 h 1548279"/>
                  <a:gd name="connsiteX16" fmla="*/ 0 w 3939907"/>
                  <a:gd name="connsiteY16" fmla="*/ 1352515 h 1548279"/>
                  <a:gd name="connsiteX17" fmla="*/ 0 w 3939907"/>
                  <a:gd name="connsiteY17" fmla="*/ 863118 h 1548279"/>
                  <a:gd name="connsiteX18" fmla="*/ 0 w 3939907"/>
                  <a:gd name="connsiteY18" fmla="*/ 569477 h 1548279"/>
                  <a:gd name="connsiteX19" fmla="*/ 0 w 3939907"/>
                  <a:gd name="connsiteY19" fmla="*/ 569477 h 1548279"/>
                  <a:gd name="connsiteX20" fmla="*/ 0 w 3939907"/>
                  <a:gd name="connsiteY20" fmla="*/ 569481 h 1548279"/>
                  <a:gd name="connsiteX0" fmla="*/ 0 w 3939907"/>
                  <a:gd name="connsiteY0" fmla="*/ 569481 h 1548279"/>
                  <a:gd name="connsiteX1" fmla="*/ 195764 w 3939907"/>
                  <a:gd name="connsiteY1" fmla="*/ 373717 h 1548279"/>
                  <a:gd name="connsiteX2" fmla="*/ 3232343 w 3939907"/>
                  <a:gd name="connsiteY2" fmla="*/ 363885 h 1548279"/>
                  <a:gd name="connsiteX3" fmla="*/ 3637468 w 3939907"/>
                  <a:gd name="connsiteY3" fmla="*/ 0 h 1548279"/>
                  <a:gd name="connsiteX4" fmla="*/ 3519231 w 3939907"/>
                  <a:gd name="connsiteY4" fmla="*/ 373717 h 1548279"/>
                  <a:gd name="connsiteX5" fmla="*/ 3744143 w 3939907"/>
                  <a:gd name="connsiteY5" fmla="*/ 373717 h 1548279"/>
                  <a:gd name="connsiteX6" fmla="*/ 3939907 w 3939907"/>
                  <a:gd name="connsiteY6" fmla="*/ 569481 h 1548279"/>
                  <a:gd name="connsiteX7" fmla="*/ 3939907 w 3939907"/>
                  <a:gd name="connsiteY7" fmla="*/ 569477 h 1548279"/>
                  <a:gd name="connsiteX8" fmla="*/ 3939907 w 3939907"/>
                  <a:gd name="connsiteY8" fmla="*/ 569477 h 1548279"/>
                  <a:gd name="connsiteX9" fmla="*/ 3939907 w 3939907"/>
                  <a:gd name="connsiteY9" fmla="*/ 863118 h 1548279"/>
                  <a:gd name="connsiteX10" fmla="*/ 3939907 w 3939907"/>
                  <a:gd name="connsiteY10" fmla="*/ 1352515 h 1548279"/>
                  <a:gd name="connsiteX11" fmla="*/ 3744143 w 3939907"/>
                  <a:gd name="connsiteY11" fmla="*/ 1548279 h 1548279"/>
                  <a:gd name="connsiteX12" fmla="*/ 3283256 w 3939907"/>
                  <a:gd name="connsiteY12" fmla="*/ 1548279 h 1548279"/>
                  <a:gd name="connsiteX13" fmla="*/ 2298279 w 3939907"/>
                  <a:gd name="connsiteY13" fmla="*/ 1548279 h 1548279"/>
                  <a:gd name="connsiteX14" fmla="*/ 2298279 w 3939907"/>
                  <a:gd name="connsiteY14" fmla="*/ 1548279 h 1548279"/>
                  <a:gd name="connsiteX15" fmla="*/ 195764 w 3939907"/>
                  <a:gd name="connsiteY15" fmla="*/ 1548279 h 1548279"/>
                  <a:gd name="connsiteX16" fmla="*/ 0 w 3939907"/>
                  <a:gd name="connsiteY16" fmla="*/ 1352515 h 1548279"/>
                  <a:gd name="connsiteX17" fmla="*/ 0 w 3939907"/>
                  <a:gd name="connsiteY17" fmla="*/ 863118 h 1548279"/>
                  <a:gd name="connsiteX18" fmla="*/ 0 w 3939907"/>
                  <a:gd name="connsiteY18" fmla="*/ 569477 h 1548279"/>
                  <a:gd name="connsiteX19" fmla="*/ 0 w 3939907"/>
                  <a:gd name="connsiteY19" fmla="*/ 569477 h 1548279"/>
                  <a:gd name="connsiteX20" fmla="*/ 0 w 3939907"/>
                  <a:gd name="connsiteY20" fmla="*/ 569481 h 1548279"/>
                  <a:gd name="connsiteX0" fmla="*/ 0 w 3939907"/>
                  <a:gd name="connsiteY0" fmla="*/ 569481 h 1548279"/>
                  <a:gd name="connsiteX1" fmla="*/ 195764 w 3939907"/>
                  <a:gd name="connsiteY1" fmla="*/ 373717 h 1548279"/>
                  <a:gd name="connsiteX2" fmla="*/ 3232343 w 3939907"/>
                  <a:gd name="connsiteY2" fmla="*/ 363885 h 1548279"/>
                  <a:gd name="connsiteX3" fmla="*/ 3637468 w 3939907"/>
                  <a:gd name="connsiteY3" fmla="*/ 0 h 1548279"/>
                  <a:gd name="connsiteX4" fmla="*/ 3519231 w 3939907"/>
                  <a:gd name="connsiteY4" fmla="*/ 373717 h 1548279"/>
                  <a:gd name="connsiteX5" fmla="*/ 3744143 w 3939907"/>
                  <a:gd name="connsiteY5" fmla="*/ 373717 h 1548279"/>
                  <a:gd name="connsiteX6" fmla="*/ 3939907 w 3939907"/>
                  <a:gd name="connsiteY6" fmla="*/ 569481 h 1548279"/>
                  <a:gd name="connsiteX7" fmla="*/ 3939907 w 3939907"/>
                  <a:gd name="connsiteY7" fmla="*/ 569477 h 1548279"/>
                  <a:gd name="connsiteX8" fmla="*/ 3939907 w 3939907"/>
                  <a:gd name="connsiteY8" fmla="*/ 569477 h 1548279"/>
                  <a:gd name="connsiteX9" fmla="*/ 3939907 w 3939907"/>
                  <a:gd name="connsiteY9" fmla="*/ 863118 h 1548279"/>
                  <a:gd name="connsiteX10" fmla="*/ 3939907 w 3939907"/>
                  <a:gd name="connsiteY10" fmla="*/ 1352515 h 1548279"/>
                  <a:gd name="connsiteX11" fmla="*/ 3744143 w 3939907"/>
                  <a:gd name="connsiteY11" fmla="*/ 1548279 h 1548279"/>
                  <a:gd name="connsiteX12" fmla="*/ 3283256 w 3939907"/>
                  <a:gd name="connsiteY12" fmla="*/ 1548279 h 1548279"/>
                  <a:gd name="connsiteX13" fmla="*/ 2298279 w 3939907"/>
                  <a:gd name="connsiteY13" fmla="*/ 1548279 h 1548279"/>
                  <a:gd name="connsiteX14" fmla="*/ 2298279 w 3939907"/>
                  <a:gd name="connsiteY14" fmla="*/ 1548279 h 1548279"/>
                  <a:gd name="connsiteX15" fmla="*/ 195764 w 3939907"/>
                  <a:gd name="connsiteY15" fmla="*/ 1548279 h 1548279"/>
                  <a:gd name="connsiteX16" fmla="*/ 0 w 3939907"/>
                  <a:gd name="connsiteY16" fmla="*/ 1352515 h 1548279"/>
                  <a:gd name="connsiteX17" fmla="*/ 0 w 3939907"/>
                  <a:gd name="connsiteY17" fmla="*/ 863118 h 1548279"/>
                  <a:gd name="connsiteX18" fmla="*/ 0 w 3939907"/>
                  <a:gd name="connsiteY18" fmla="*/ 569477 h 1548279"/>
                  <a:gd name="connsiteX19" fmla="*/ 0 w 3939907"/>
                  <a:gd name="connsiteY19" fmla="*/ 569477 h 1548279"/>
                  <a:gd name="connsiteX20" fmla="*/ 0 w 3939907"/>
                  <a:gd name="connsiteY20" fmla="*/ 569481 h 1548279"/>
                  <a:gd name="connsiteX0" fmla="*/ 0 w 3939907"/>
                  <a:gd name="connsiteY0" fmla="*/ 569481 h 1548279"/>
                  <a:gd name="connsiteX1" fmla="*/ 195764 w 3939907"/>
                  <a:gd name="connsiteY1" fmla="*/ 373717 h 1548279"/>
                  <a:gd name="connsiteX2" fmla="*/ 3232343 w 3939907"/>
                  <a:gd name="connsiteY2" fmla="*/ 363885 h 1548279"/>
                  <a:gd name="connsiteX3" fmla="*/ 3637468 w 3939907"/>
                  <a:gd name="connsiteY3" fmla="*/ 0 h 1548279"/>
                  <a:gd name="connsiteX4" fmla="*/ 3519231 w 3939907"/>
                  <a:gd name="connsiteY4" fmla="*/ 373717 h 1548279"/>
                  <a:gd name="connsiteX5" fmla="*/ 3744143 w 3939907"/>
                  <a:gd name="connsiteY5" fmla="*/ 373717 h 1548279"/>
                  <a:gd name="connsiteX6" fmla="*/ 3939907 w 3939907"/>
                  <a:gd name="connsiteY6" fmla="*/ 569481 h 1548279"/>
                  <a:gd name="connsiteX7" fmla="*/ 3939907 w 3939907"/>
                  <a:gd name="connsiteY7" fmla="*/ 569477 h 1548279"/>
                  <a:gd name="connsiteX8" fmla="*/ 3939907 w 3939907"/>
                  <a:gd name="connsiteY8" fmla="*/ 569477 h 1548279"/>
                  <a:gd name="connsiteX9" fmla="*/ 3939907 w 3939907"/>
                  <a:gd name="connsiteY9" fmla="*/ 863118 h 1548279"/>
                  <a:gd name="connsiteX10" fmla="*/ 3939907 w 3939907"/>
                  <a:gd name="connsiteY10" fmla="*/ 1352515 h 1548279"/>
                  <a:gd name="connsiteX11" fmla="*/ 3744143 w 3939907"/>
                  <a:gd name="connsiteY11" fmla="*/ 1548279 h 1548279"/>
                  <a:gd name="connsiteX12" fmla="*/ 3283256 w 3939907"/>
                  <a:gd name="connsiteY12" fmla="*/ 1548279 h 1548279"/>
                  <a:gd name="connsiteX13" fmla="*/ 2298279 w 3939907"/>
                  <a:gd name="connsiteY13" fmla="*/ 1548279 h 1548279"/>
                  <a:gd name="connsiteX14" fmla="*/ 2298279 w 3939907"/>
                  <a:gd name="connsiteY14" fmla="*/ 1548279 h 1548279"/>
                  <a:gd name="connsiteX15" fmla="*/ 195764 w 3939907"/>
                  <a:gd name="connsiteY15" fmla="*/ 1548279 h 1548279"/>
                  <a:gd name="connsiteX16" fmla="*/ 0 w 3939907"/>
                  <a:gd name="connsiteY16" fmla="*/ 1352515 h 1548279"/>
                  <a:gd name="connsiteX17" fmla="*/ 0 w 3939907"/>
                  <a:gd name="connsiteY17" fmla="*/ 863118 h 1548279"/>
                  <a:gd name="connsiteX18" fmla="*/ 0 w 3939907"/>
                  <a:gd name="connsiteY18" fmla="*/ 569477 h 1548279"/>
                  <a:gd name="connsiteX19" fmla="*/ 0 w 3939907"/>
                  <a:gd name="connsiteY19" fmla="*/ 569477 h 1548279"/>
                  <a:gd name="connsiteX20" fmla="*/ 0 w 3939907"/>
                  <a:gd name="connsiteY20" fmla="*/ 569481 h 1548279"/>
                  <a:gd name="connsiteX0" fmla="*/ 0 w 3939907"/>
                  <a:gd name="connsiteY0" fmla="*/ 750456 h 1729254"/>
                  <a:gd name="connsiteX1" fmla="*/ 195764 w 3939907"/>
                  <a:gd name="connsiteY1" fmla="*/ 554692 h 1729254"/>
                  <a:gd name="connsiteX2" fmla="*/ 3232343 w 3939907"/>
                  <a:gd name="connsiteY2" fmla="*/ 544860 h 1729254"/>
                  <a:gd name="connsiteX3" fmla="*/ 3799393 w 3939907"/>
                  <a:gd name="connsiteY3" fmla="*/ 0 h 1729254"/>
                  <a:gd name="connsiteX4" fmla="*/ 3519231 w 3939907"/>
                  <a:gd name="connsiteY4" fmla="*/ 554692 h 1729254"/>
                  <a:gd name="connsiteX5" fmla="*/ 3744143 w 3939907"/>
                  <a:gd name="connsiteY5" fmla="*/ 554692 h 1729254"/>
                  <a:gd name="connsiteX6" fmla="*/ 3939907 w 3939907"/>
                  <a:gd name="connsiteY6" fmla="*/ 750456 h 1729254"/>
                  <a:gd name="connsiteX7" fmla="*/ 3939907 w 3939907"/>
                  <a:gd name="connsiteY7" fmla="*/ 750452 h 1729254"/>
                  <a:gd name="connsiteX8" fmla="*/ 3939907 w 3939907"/>
                  <a:gd name="connsiteY8" fmla="*/ 750452 h 1729254"/>
                  <a:gd name="connsiteX9" fmla="*/ 3939907 w 3939907"/>
                  <a:gd name="connsiteY9" fmla="*/ 1044093 h 1729254"/>
                  <a:gd name="connsiteX10" fmla="*/ 3939907 w 3939907"/>
                  <a:gd name="connsiteY10" fmla="*/ 1533490 h 1729254"/>
                  <a:gd name="connsiteX11" fmla="*/ 3744143 w 3939907"/>
                  <a:gd name="connsiteY11" fmla="*/ 1729254 h 1729254"/>
                  <a:gd name="connsiteX12" fmla="*/ 3283256 w 3939907"/>
                  <a:gd name="connsiteY12" fmla="*/ 1729254 h 1729254"/>
                  <a:gd name="connsiteX13" fmla="*/ 2298279 w 3939907"/>
                  <a:gd name="connsiteY13" fmla="*/ 1729254 h 1729254"/>
                  <a:gd name="connsiteX14" fmla="*/ 2298279 w 3939907"/>
                  <a:gd name="connsiteY14" fmla="*/ 1729254 h 1729254"/>
                  <a:gd name="connsiteX15" fmla="*/ 195764 w 3939907"/>
                  <a:gd name="connsiteY15" fmla="*/ 1729254 h 1729254"/>
                  <a:gd name="connsiteX16" fmla="*/ 0 w 3939907"/>
                  <a:gd name="connsiteY16" fmla="*/ 1533490 h 1729254"/>
                  <a:gd name="connsiteX17" fmla="*/ 0 w 3939907"/>
                  <a:gd name="connsiteY17" fmla="*/ 1044093 h 1729254"/>
                  <a:gd name="connsiteX18" fmla="*/ 0 w 3939907"/>
                  <a:gd name="connsiteY18" fmla="*/ 750452 h 1729254"/>
                  <a:gd name="connsiteX19" fmla="*/ 0 w 3939907"/>
                  <a:gd name="connsiteY19" fmla="*/ 750452 h 1729254"/>
                  <a:gd name="connsiteX20" fmla="*/ 0 w 3939907"/>
                  <a:gd name="connsiteY20" fmla="*/ 750456 h 1729254"/>
                  <a:gd name="connsiteX0" fmla="*/ 0 w 3939907"/>
                  <a:gd name="connsiteY0" fmla="*/ 750456 h 1729254"/>
                  <a:gd name="connsiteX1" fmla="*/ 195764 w 3939907"/>
                  <a:gd name="connsiteY1" fmla="*/ 554692 h 1729254"/>
                  <a:gd name="connsiteX2" fmla="*/ 3232343 w 3939907"/>
                  <a:gd name="connsiteY2" fmla="*/ 544860 h 1729254"/>
                  <a:gd name="connsiteX3" fmla="*/ 3799393 w 3939907"/>
                  <a:gd name="connsiteY3" fmla="*/ 0 h 1729254"/>
                  <a:gd name="connsiteX4" fmla="*/ 3519231 w 3939907"/>
                  <a:gd name="connsiteY4" fmla="*/ 554692 h 1729254"/>
                  <a:gd name="connsiteX5" fmla="*/ 3744143 w 3939907"/>
                  <a:gd name="connsiteY5" fmla="*/ 554692 h 1729254"/>
                  <a:gd name="connsiteX6" fmla="*/ 3939907 w 3939907"/>
                  <a:gd name="connsiteY6" fmla="*/ 750456 h 1729254"/>
                  <a:gd name="connsiteX7" fmla="*/ 3939907 w 3939907"/>
                  <a:gd name="connsiteY7" fmla="*/ 750452 h 1729254"/>
                  <a:gd name="connsiteX8" fmla="*/ 3939907 w 3939907"/>
                  <a:gd name="connsiteY8" fmla="*/ 750452 h 1729254"/>
                  <a:gd name="connsiteX9" fmla="*/ 3939907 w 3939907"/>
                  <a:gd name="connsiteY9" fmla="*/ 1044093 h 1729254"/>
                  <a:gd name="connsiteX10" fmla="*/ 3939907 w 3939907"/>
                  <a:gd name="connsiteY10" fmla="*/ 1533490 h 1729254"/>
                  <a:gd name="connsiteX11" fmla="*/ 3744143 w 3939907"/>
                  <a:gd name="connsiteY11" fmla="*/ 1729254 h 1729254"/>
                  <a:gd name="connsiteX12" fmla="*/ 3283256 w 3939907"/>
                  <a:gd name="connsiteY12" fmla="*/ 1729254 h 1729254"/>
                  <a:gd name="connsiteX13" fmla="*/ 2298279 w 3939907"/>
                  <a:gd name="connsiteY13" fmla="*/ 1729254 h 1729254"/>
                  <a:gd name="connsiteX14" fmla="*/ 2298279 w 3939907"/>
                  <a:gd name="connsiteY14" fmla="*/ 1729254 h 1729254"/>
                  <a:gd name="connsiteX15" fmla="*/ 195764 w 3939907"/>
                  <a:gd name="connsiteY15" fmla="*/ 1729254 h 1729254"/>
                  <a:gd name="connsiteX16" fmla="*/ 0 w 3939907"/>
                  <a:gd name="connsiteY16" fmla="*/ 1533490 h 1729254"/>
                  <a:gd name="connsiteX17" fmla="*/ 0 w 3939907"/>
                  <a:gd name="connsiteY17" fmla="*/ 1044093 h 1729254"/>
                  <a:gd name="connsiteX18" fmla="*/ 0 w 3939907"/>
                  <a:gd name="connsiteY18" fmla="*/ 750452 h 1729254"/>
                  <a:gd name="connsiteX19" fmla="*/ 0 w 3939907"/>
                  <a:gd name="connsiteY19" fmla="*/ 750452 h 1729254"/>
                  <a:gd name="connsiteX20" fmla="*/ 0 w 3939907"/>
                  <a:gd name="connsiteY20" fmla="*/ 750456 h 1729254"/>
                  <a:gd name="connsiteX0" fmla="*/ 0 w 3939907"/>
                  <a:gd name="connsiteY0" fmla="*/ 750456 h 1729254"/>
                  <a:gd name="connsiteX1" fmla="*/ 195764 w 3939907"/>
                  <a:gd name="connsiteY1" fmla="*/ 554692 h 1729254"/>
                  <a:gd name="connsiteX2" fmla="*/ 3232343 w 3939907"/>
                  <a:gd name="connsiteY2" fmla="*/ 544860 h 1729254"/>
                  <a:gd name="connsiteX3" fmla="*/ 3799393 w 3939907"/>
                  <a:gd name="connsiteY3" fmla="*/ 0 h 1729254"/>
                  <a:gd name="connsiteX4" fmla="*/ 3519231 w 3939907"/>
                  <a:gd name="connsiteY4" fmla="*/ 554692 h 1729254"/>
                  <a:gd name="connsiteX5" fmla="*/ 3744143 w 3939907"/>
                  <a:gd name="connsiteY5" fmla="*/ 554692 h 1729254"/>
                  <a:gd name="connsiteX6" fmla="*/ 3939907 w 3939907"/>
                  <a:gd name="connsiteY6" fmla="*/ 750456 h 1729254"/>
                  <a:gd name="connsiteX7" fmla="*/ 3939907 w 3939907"/>
                  <a:gd name="connsiteY7" fmla="*/ 750452 h 1729254"/>
                  <a:gd name="connsiteX8" fmla="*/ 3939907 w 3939907"/>
                  <a:gd name="connsiteY8" fmla="*/ 750452 h 1729254"/>
                  <a:gd name="connsiteX9" fmla="*/ 3939907 w 3939907"/>
                  <a:gd name="connsiteY9" fmla="*/ 1044093 h 1729254"/>
                  <a:gd name="connsiteX10" fmla="*/ 3939907 w 3939907"/>
                  <a:gd name="connsiteY10" fmla="*/ 1533490 h 1729254"/>
                  <a:gd name="connsiteX11" fmla="*/ 3744143 w 3939907"/>
                  <a:gd name="connsiteY11" fmla="*/ 1729254 h 1729254"/>
                  <a:gd name="connsiteX12" fmla="*/ 3283256 w 3939907"/>
                  <a:gd name="connsiteY12" fmla="*/ 1729254 h 1729254"/>
                  <a:gd name="connsiteX13" fmla="*/ 2298279 w 3939907"/>
                  <a:gd name="connsiteY13" fmla="*/ 1729254 h 1729254"/>
                  <a:gd name="connsiteX14" fmla="*/ 2298279 w 3939907"/>
                  <a:gd name="connsiteY14" fmla="*/ 1729254 h 1729254"/>
                  <a:gd name="connsiteX15" fmla="*/ 195764 w 3939907"/>
                  <a:gd name="connsiteY15" fmla="*/ 1729254 h 1729254"/>
                  <a:gd name="connsiteX16" fmla="*/ 0 w 3939907"/>
                  <a:gd name="connsiteY16" fmla="*/ 1533490 h 1729254"/>
                  <a:gd name="connsiteX17" fmla="*/ 0 w 3939907"/>
                  <a:gd name="connsiteY17" fmla="*/ 1044093 h 1729254"/>
                  <a:gd name="connsiteX18" fmla="*/ 0 w 3939907"/>
                  <a:gd name="connsiteY18" fmla="*/ 750452 h 1729254"/>
                  <a:gd name="connsiteX19" fmla="*/ 0 w 3939907"/>
                  <a:gd name="connsiteY19" fmla="*/ 750452 h 1729254"/>
                  <a:gd name="connsiteX20" fmla="*/ 0 w 3939907"/>
                  <a:gd name="connsiteY20" fmla="*/ 750456 h 1729254"/>
                  <a:gd name="connsiteX0" fmla="*/ 0 w 3939907"/>
                  <a:gd name="connsiteY0" fmla="*/ 750456 h 1729254"/>
                  <a:gd name="connsiteX1" fmla="*/ 195764 w 3939907"/>
                  <a:gd name="connsiteY1" fmla="*/ 554692 h 1729254"/>
                  <a:gd name="connsiteX2" fmla="*/ 3232343 w 3939907"/>
                  <a:gd name="connsiteY2" fmla="*/ 544860 h 1729254"/>
                  <a:gd name="connsiteX3" fmla="*/ 3799393 w 3939907"/>
                  <a:gd name="connsiteY3" fmla="*/ 0 h 1729254"/>
                  <a:gd name="connsiteX4" fmla="*/ 3519231 w 3939907"/>
                  <a:gd name="connsiteY4" fmla="*/ 554692 h 1729254"/>
                  <a:gd name="connsiteX5" fmla="*/ 3744143 w 3939907"/>
                  <a:gd name="connsiteY5" fmla="*/ 554692 h 1729254"/>
                  <a:gd name="connsiteX6" fmla="*/ 3939907 w 3939907"/>
                  <a:gd name="connsiteY6" fmla="*/ 750456 h 1729254"/>
                  <a:gd name="connsiteX7" fmla="*/ 3939907 w 3939907"/>
                  <a:gd name="connsiteY7" fmla="*/ 750452 h 1729254"/>
                  <a:gd name="connsiteX8" fmla="*/ 3939907 w 3939907"/>
                  <a:gd name="connsiteY8" fmla="*/ 750452 h 1729254"/>
                  <a:gd name="connsiteX9" fmla="*/ 3939907 w 3939907"/>
                  <a:gd name="connsiteY9" fmla="*/ 1044093 h 1729254"/>
                  <a:gd name="connsiteX10" fmla="*/ 3939907 w 3939907"/>
                  <a:gd name="connsiteY10" fmla="*/ 1533490 h 1729254"/>
                  <a:gd name="connsiteX11" fmla="*/ 3744143 w 3939907"/>
                  <a:gd name="connsiteY11" fmla="*/ 1729254 h 1729254"/>
                  <a:gd name="connsiteX12" fmla="*/ 3283256 w 3939907"/>
                  <a:gd name="connsiteY12" fmla="*/ 1729254 h 1729254"/>
                  <a:gd name="connsiteX13" fmla="*/ 2298279 w 3939907"/>
                  <a:gd name="connsiteY13" fmla="*/ 1729254 h 1729254"/>
                  <a:gd name="connsiteX14" fmla="*/ 2298279 w 3939907"/>
                  <a:gd name="connsiteY14" fmla="*/ 1729254 h 1729254"/>
                  <a:gd name="connsiteX15" fmla="*/ 195764 w 3939907"/>
                  <a:gd name="connsiteY15" fmla="*/ 1729254 h 1729254"/>
                  <a:gd name="connsiteX16" fmla="*/ 0 w 3939907"/>
                  <a:gd name="connsiteY16" fmla="*/ 1533490 h 1729254"/>
                  <a:gd name="connsiteX17" fmla="*/ 0 w 3939907"/>
                  <a:gd name="connsiteY17" fmla="*/ 1044093 h 1729254"/>
                  <a:gd name="connsiteX18" fmla="*/ 0 w 3939907"/>
                  <a:gd name="connsiteY18" fmla="*/ 750452 h 1729254"/>
                  <a:gd name="connsiteX19" fmla="*/ 0 w 3939907"/>
                  <a:gd name="connsiteY19" fmla="*/ 750452 h 1729254"/>
                  <a:gd name="connsiteX20" fmla="*/ 0 w 3939907"/>
                  <a:gd name="connsiteY20" fmla="*/ 750456 h 1729254"/>
                  <a:gd name="connsiteX0" fmla="*/ 0 w 3939907"/>
                  <a:gd name="connsiteY0" fmla="*/ 636156 h 1614954"/>
                  <a:gd name="connsiteX1" fmla="*/ 195764 w 3939907"/>
                  <a:gd name="connsiteY1" fmla="*/ 440392 h 1614954"/>
                  <a:gd name="connsiteX2" fmla="*/ 3232343 w 3939907"/>
                  <a:gd name="connsiteY2" fmla="*/ 430560 h 1614954"/>
                  <a:gd name="connsiteX3" fmla="*/ 3704143 w 3939907"/>
                  <a:gd name="connsiteY3" fmla="*/ 0 h 1614954"/>
                  <a:gd name="connsiteX4" fmla="*/ 3519231 w 3939907"/>
                  <a:gd name="connsiteY4" fmla="*/ 440392 h 1614954"/>
                  <a:gd name="connsiteX5" fmla="*/ 3744143 w 3939907"/>
                  <a:gd name="connsiteY5" fmla="*/ 440392 h 1614954"/>
                  <a:gd name="connsiteX6" fmla="*/ 3939907 w 3939907"/>
                  <a:gd name="connsiteY6" fmla="*/ 636156 h 1614954"/>
                  <a:gd name="connsiteX7" fmla="*/ 3939907 w 3939907"/>
                  <a:gd name="connsiteY7" fmla="*/ 636152 h 1614954"/>
                  <a:gd name="connsiteX8" fmla="*/ 3939907 w 3939907"/>
                  <a:gd name="connsiteY8" fmla="*/ 636152 h 1614954"/>
                  <a:gd name="connsiteX9" fmla="*/ 3939907 w 3939907"/>
                  <a:gd name="connsiteY9" fmla="*/ 929793 h 1614954"/>
                  <a:gd name="connsiteX10" fmla="*/ 3939907 w 3939907"/>
                  <a:gd name="connsiteY10" fmla="*/ 1419190 h 1614954"/>
                  <a:gd name="connsiteX11" fmla="*/ 3744143 w 3939907"/>
                  <a:gd name="connsiteY11" fmla="*/ 1614954 h 1614954"/>
                  <a:gd name="connsiteX12" fmla="*/ 3283256 w 3939907"/>
                  <a:gd name="connsiteY12" fmla="*/ 1614954 h 1614954"/>
                  <a:gd name="connsiteX13" fmla="*/ 2298279 w 3939907"/>
                  <a:gd name="connsiteY13" fmla="*/ 1614954 h 1614954"/>
                  <a:gd name="connsiteX14" fmla="*/ 2298279 w 3939907"/>
                  <a:gd name="connsiteY14" fmla="*/ 1614954 h 1614954"/>
                  <a:gd name="connsiteX15" fmla="*/ 195764 w 3939907"/>
                  <a:gd name="connsiteY15" fmla="*/ 1614954 h 1614954"/>
                  <a:gd name="connsiteX16" fmla="*/ 0 w 3939907"/>
                  <a:gd name="connsiteY16" fmla="*/ 1419190 h 1614954"/>
                  <a:gd name="connsiteX17" fmla="*/ 0 w 3939907"/>
                  <a:gd name="connsiteY17" fmla="*/ 929793 h 1614954"/>
                  <a:gd name="connsiteX18" fmla="*/ 0 w 3939907"/>
                  <a:gd name="connsiteY18" fmla="*/ 636152 h 1614954"/>
                  <a:gd name="connsiteX19" fmla="*/ 0 w 3939907"/>
                  <a:gd name="connsiteY19" fmla="*/ 636152 h 1614954"/>
                  <a:gd name="connsiteX20" fmla="*/ 0 w 3939907"/>
                  <a:gd name="connsiteY20" fmla="*/ 636156 h 1614954"/>
                  <a:gd name="connsiteX0" fmla="*/ 0 w 3952875"/>
                  <a:gd name="connsiteY0" fmla="*/ 636156 h 1614954"/>
                  <a:gd name="connsiteX1" fmla="*/ 195764 w 3952875"/>
                  <a:gd name="connsiteY1" fmla="*/ 440392 h 1614954"/>
                  <a:gd name="connsiteX2" fmla="*/ 3232343 w 3952875"/>
                  <a:gd name="connsiteY2" fmla="*/ 430560 h 1614954"/>
                  <a:gd name="connsiteX3" fmla="*/ 3704143 w 3952875"/>
                  <a:gd name="connsiteY3" fmla="*/ 0 h 1614954"/>
                  <a:gd name="connsiteX4" fmla="*/ 3519231 w 3952875"/>
                  <a:gd name="connsiteY4" fmla="*/ 440392 h 1614954"/>
                  <a:gd name="connsiteX5" fmla="*/ 3744143 w 3952875"/>
                  <a:gd name="connsiteY5" fmla="*/ 440392 h 1614954"/>
                  <a:gd name="connsiteX6" fmla="*/ 3939907 w 3952875"/>
                  <a:gd name="connsiteY6" fmla="*/ 636156 h 1614954"/>
                  <a:gd name="connsiteX7" fmla="*/ 3939907 w 3952875"/>
                  <a:gd name="connsiteY7" fmla="*/ 636152 h 1614954"/>
                  <a:gd name="connsiteX8" fmla="*/ 3939907 w 3952875"/>
                  <a:gd name="connsiteY8" fmla="*/ 636152 h 1614954"/>
                  <a:gd name="connsiteX9" fmla="*/ 3952875 w 3952875"/>
                  <a:gd name="connsiteY9" fmla="*/ 767845 h 1614954"/>
                  <a:gd name="connsiteX10" fmla="*/ 3939907 w 3952875"/>
                  <a:gd name="connsiteY10" fmla="*/ 929793 h 1614954"/>
                  <a:gd name="connsiteX11" fmla="*/ 3939907 w 3952875"/>
                  <a:gd name="connsiteY11" fmla="*/ 1419190 h 1614954"/>
                  <a:gd name="connsiteX12" fmla="*/ 3744143 w 3952875"/>
                  <a:gd name="connsiteY12" fmla="*/ 1614954 h 1614954"/>
                  <a:gd name="connsiteX13" fmla="*/ 3283256 w 3952875"/>
                  <a:gd name="connsiteY13" fmla="*/ 1614954 h 1614954"/>
                  <a:gd name="connsiteX14" fmla="*/ 2298279 w 3952875"/>
                  <a:gd name="connsiteY14" fmla="*/ 1614954 h 1614954"/>
                  <a:gd name="connsiteX15" fmla="*/ 2298279 w 3952875"/>
                  <a:gd name="connsiteY15" fmla="*/ 1614954 h 1614954"/>
                  <a:gd name="connsiteX16" fmla="*/ 195764 w 3952875"/>
                  <a:gd name="connsiteY16" fmla="*/ 1614954 h 1614954"/>
                  <a:gd name="connsiteX17" fmla="*/ 0 w 3952875"/>
                  <a:gd name="connsiteY17" fmla="*/ 1419190 h 1614954"/>
                  <a:gd name="connsiteX18" fmla="*/ 0 w 3952875"/>
                  <a:gd name="connsiteY18" fmla="*/ 929793 h 1614954"/>
                  <a:gd name="connsiteX19" fmla="*/ 0 w 3952875"/>
                  <a:gd name="connsiteY19" fmla="*/ 636152 h 1614954"/>
                  <a:gd name="connsiteX20" fmla="*/ 0 w 3952875"/>
                  <a:gd name="connsiteY20" fmla="*/ 636152 h 1614954"/>
                  <a:gd name="connsiteX21" fmla="*/ 0 w 3952875"/>
                  <a:gd name="connsiteY21" fmla="*/ 636156 h 1614954"/>
                  <a:gd name="connsiteX0" fmla="*/ 0 w 4086225"/>
                  <a:gd name="connsiteY0" fmla="*/ 636156 h 1614954"/>
                  <a:gd name="connsiteX1" fmla="*/ 195764 w 4086225"/>
                  <a:gd name="connsiteY1" fmla="*/ 440392 h 1614954"/>
                  <a:gd name="connsiteX2" fmla="*/ 3232343 w 4086225"/>
                  <a:gd name="connsiteY2" fmla="*/ 430560 h 1614954"/>
                  <a:gd name="connsiteX3" fmla="*/ 3704143 w 4086225"/>
                  <a:gd name="connsiteY3" fmla="*/ 0 h 1614954"/>
                  <a:gd name="connsiteX4" fmla="*/ 3519231 w 4086225"/>
                  <a:gd name="connsiteY4" fmla="*/ 440392 h 1614954"/>
                  <a:gd name="connsiteX5" fmla="*/ 3744143 w 4086225"/>
                  <a:gd name="connsiteY5" fmla="*/ 440392 h 1614954"/>
                  <a:gd name="connsiteX6" fmla="*/ 3939907 w 4086225"/>
                  <a:gd name="connsiteY6" fmla="*/ 636156 h 1614954"/>
                  <a:gd name="connsiteX7" fmla="*/ 3939907 w 4086225"/>
                  <a:gd name="connsiteY7" fmla="*/ 636152 h 1614954"/>
                  <a:gd name="connsiteX8" fmla="*/ 3939907 w 4086225"/>
                  <a:gd name="connsiteY8" fmla="*/ 636152 h 1614954"/>
                  <a:gd name="connsiteX9" fmla="*/ 4086225 w 4086225"/>
                  <a:gd name="connsiteY9" fmla="*/ 777370 h 1614954"/>
                  <a:gd name="connsiteX10" fmla="*/ 3939907 w 4086225"/>
                  <a:gd name="connsiteY10" fmla="*/ 929793 h 1614954"/>
                  <a:gd name="connsiteX11" fmla="*/ 3939907 w 4086225"/>
                  <a:gd name="connsiteY11" fmla="*/ 1419190 h 1614954"/>
                  <a:gd name="connsiteX12" fmla="*/ 3744143 w 4086225"/>
                  <a:gd name="connsiteY12" fmla="*/ 1614954 h 1614954"/>
                  <a:gd name="connsiteX13" fmla="*/ 3283256 w 4086225"/>
                  <a:gd name="connsiteY13" fmla="*/ 1614954 h 1614954"/>
                  <a:gd name="connsiteX14" fmla="*/ 2298279 w 4086225"/>
                  <a:gd name="connsiteY14" fmla="*/ 1614954 h 1614954"/>
                  <a:gd name="connsiteX15" fmla="*/ 2298279 w 4086225"/>
                  <a:gd name="connsiteY15" fmla="*/ 1614954 h 1614954"/>
                  <a:gd name="connsiteX16" fmla="*/ 195764 w 4086225"/>
                  <a:gd name="connsiteY16" fmla="*/ 1614954 h 1614954"/>
                  <a:gd name="connsiteX17" fmla="*/ 0 w 4086225"/>
                  <a:gd name="connsiteY17" fmla="*/ 1419190 h 1614954"/>
                  <a:gd name="connsiteX18" fmla="*/ 0 w 4086225"/>
                  <a:gd name="connsiteY18" fmla="*/ 929793 h 1614954"/>
                  <a:gd name="connsiteX19" fmla="*/ 0 w 4086225"/>
                  <a:gd name="connsiteY19" fmla="*/ 636152 h 1614954"/>
                  <a:gd name="connsiteX20" fmla="*/ 0 w 4086225"/>
                  <a:gd name="connsiteY20" fmla="*/ 636152 h 1614954"/>
                  <a:gd name="connsiteX21" fmla="*/ 0 w 4086225"/>
                  <a:gd name="connsiteY21" fmla="*/ 636156 h 1614954"/>
                  <a:gd name="connsiteX0" fmla="*/ 0 w 4086225"/>
                  <a:gd name="connsiteY0" fmla="*/ 636156 h 1614954"/>
                  <a:gd name="connsiteX1" fmla="*/ 195764 w 4086225"/>
                  <a:gd name="connsiteY1" fmla="*/ 440392 h 1614954"/>
                  <a:gd name="connsiteX2" fmla="*/ 3232343 w 4086225"/>
                  <a:gd name="connsiteY2" fmla="*/ 430560 h 1614954"/>
                  <a:gd name="connsiteX3" fmla="*/ 3704143 w 4086225"/>
                  <a:gd name="connsiteY3" fmla="*/ 0 h 1614954"/>
                  <a:gd name="connsiteX4" fmla="*/ 3519231 w 4086225"/>
                  <a:gd name="connsiteY4" fmla="*/ 440392 h 1614954"/>
                  <a:gd name="connsiteX5" fmla="*/ 3744143 w 4086225"/>
                  <a:gd name="connsiteY5" fmla="*/ 440392 h 1614954"/>
                  <a:gd name="connsiteX6" fmla="*/ 3939907 w 4086225"/>
                  <a:gd name="connsiteY6" fmla="*/ 636156 h 1614954"/>
                  <a:gd name="connsiteX7" fmla="*/ 3939907 w 4086225"/>
                  <a:gd name="connsiteY7" fmla="*/ 636152 h 1614954"/>
                  <a:gd name="connsiteX8" fmla="*/ 3939907 w 4086225"/>
                  <a:gd name="connsiteY8" fmla="*/ 636152 h 1614954"/>
                  <a:gd name="connsiteX9" fmla="*/ 4086225 w 4086225"/>
                  <a:gd name="connsiteY9" fmla="*/ 777370 h 1614954"/>
                  <a:gd name="connsiteX10" fmla="*/ 3939907 w 4086225"/>
                  <a:gd name="connsiteY10" fmla="*/ 929793 h 1614954"/>
                  <a:gd name="connsiteX11" fmla="*/ 3939907 w 4086225"/>
                  <a:gd name="connsiteY11" fmla="*/ 1419190 h 1614954"/>
                  <a:gd name="connsiteX12" fmla="*/ 3744143 w 4086225"/>
                  <a:gd name="connsiteY12" fmla="*/ 1614954 h 1614954"/>
                  <a:gd name="connsiteX13" fmla="*/ 3283256 w 4086225"/>
                  <a:gd name="connsiteY13" fmla="*/ 1614954 h 1614954"/>
                  <a:gd name="connsiteX14" fmla="*/ 2298279 w 4086225"/>
                  <a:gd name="connsiteY14" fmla="*/ 1614954 h 1614954"/>
                  <a:gd name="connsiteX15" fmla="*/ 2298279 w 4086225"/>
                  <a:gd name="connsiteY15" fmla="*/ 1614954 h 1614954"/>
                  <a:gd name="connsiteX16" fmla="*/ 195764 w 4086225"/>
                  <a:gd name="connsiteY16" fmla="*/ 1614954 h 1614954"/>
                  <a:gd name="connsiteX17" fmla="*/ 0 w 4086225"/>
                  <a:gd name="connsiteY17" fmla="*/ 1419190 h 1614954"/>
                  <a:gd name="connsiteX18" fmla="*/ 0 w 4086225"/>
                  <a:gd name="connsiteY18" fmla="*/ 929793 h 1614954"/>
                  <a:gd name="connsiteX19" fmla="*/ 0 w 4086225"/>
                  <a:gd name="connsiteY19" fmla="*/ 636152 h 1614954"/>
                  <a:gd name="connsiteX20" fmla="*/ 0 w 4086225"/>
                  <a:gd name="connsiteY20" fmla="*/ 636152 h 1614954"/>
                  <a:gd name="connsiteX21" fmla="*/ 0 w 4086225"/>
                  <a:gd name="connsiteY21" fmla="*/ 636156 h 1614954"/>
                  <a:gd name="connsiteX0" fmla="*/ 0 w 4086225"/>
                  <a:gd name="connsiteY0" fmla="*/ 636156 h 1614954"/>
                  <a:gd name="connsiteX1" fmla="*/ 195764 w 4086225"/>
                  <a:gd name="connsiteY1" fmla="*/ 440392 h 1614954"/>
                  <a:gd name="connsiteX2" fmla="*/ 3232343 w 4086225"/>
                  <a:gd name="connsiteY2" fmla="*/ 430560 h 1614954"/>
                  <a:gd name="connsiteX3" fmla="*/ 3704143 w 4086225"/>
                  <a:gd name="connsiteY3" fmla="*/ 0 h 1614954"/>
                  <a:gd name="connsiteX4" fmla="*/ 3519231 w 4086225"/>
                  <a:gd name="connsiteY4" fmla="*/ 440392 h 1614954"/>
                  <a:gd name="connsiteX5" fmla="*/ 3744143 w 4086225"/>
                  <a:gd name="connsiteY5" fmla="*/ 440392 h 1614954"/>
                  <a:gd name="connsiteX6" fmla="*/ 3939907 w 4086225"/>
                  <a:gd name="connsiteY6" fmla="*/ 636156 h 1614954"/>
                  <a:gd name="connsiteX7" fmla="*/ 3939907 w 4086225"/>
                  <a:gd name="connsiteY7" fmla="*/ 636152 h 1614954"/>
                  <a:gd name="connsiteX8" fmla="*/ 3939907 w 4086225"/>
                  <a:gd name="connsiteY8" fmla="*/ 636152 h 1614954"/>
                  <a:gd name="connsiteX9" fmla="*/ 4086225 w 4086225"/>
                  <a:gd name="connsiteY9" fmla="*/ 777370 h 1614954"/>
                  <a:gd name="connsiteX10" fmla="*/ 3939907 w 4086225"/>
                  <a:gd name="connsiteY10" fmla="*/ 929793 h 1614954"/>
                  <a:gd name="connsiteX11" fmla="*/ 3939907 w 4086225"/>
                  <a:gd name="connsiteY11" fmla="*/ 1419190 h 1614954"/>
                  <a:gd name="connsiteX12" fmla="*/ 3744143 w 4086225"/>
                  <a:gd name="connsiteY12" fmla="*/ 1614954 h 1614954"/>
                  <a:gd name="connsiteX13" fmla="*/ 3283256 w 4086225"/>
                  <a:gd name="connsiteY13" fmla="*/ 1614954 h 1614954"/>
                  <a:gd name="connsiteX14" fmla="*/ 2298279 w 4086225"/>
                  <a:gd name="connsiteY14" fmla="*/ 1614954 h 1614954"/>
                  <a:gd name="connsiteX15" fmla="*/ 2298279 w 4086225"/>
                  <a:gd name="connsiteY15" fmla="*/ 1614954 h 1614954"/>
                  <a:gd name="connsiteX16" fmla="*/ 195764 w 4086225"/>
                  <a:gd name="connsiteY16" fmla="*/ 1614954 h 1614954"/>
                  <a:gd name="connsiteX17" fmla="*/ 0 w 4086225"/>
                  <a:gd name="connsiteY17" fmla="*/ 1419190 h 1614954"/>
                  <a:gd name="connsiteX18" fmla="*/ 0 w 4086225"/>
                  <a:gd name="connsiteY18" fmla="*/ 929793 h 1614954"/>
                  <a:gd name="connsiteX19" fmla="*/ 0 w 4086225"/>
                  <a:gd name="connsiteY19" fmla="*/ 636152 h 1614954"/>
                  <a:gd name="connsiteX20" fmla="*/ 0 w 4086225"/>
                  <a:gd name="connsiteY20" fmla="*/ 636152 h 1614954"/>
                  <a:gd name="connsiteX21" fmla="*/ 0 w 4086225"/>
                  <a:gd name="connsiteY21" fmla="*/ 636156 h 1614954"/>
                  <a:gd name="connsiteX0" fmla="*/ 0 w 4086225"/>
                  <a:gd name="connsiteY0" fmla="*/ 205596 h 1184394"/>
                  <a:gd name="connsiteX1" fmla="*/ 195764 w 4086225"/>
                  <a:gd name="connsiteY1" fmla="*/ 9832 h 1184394"/>
                  <a:gd name="connsiteX2" fmla="*/ 3232343 w 4086225"/>
                  <a:gd name="connsiteY2" fmla="*/ 0 h 1184394"/>
                  <a:gd name="connsiteX3" fmla="*/ 3519231 w 4086225"/>
                  <a:gd name="connsiteY3" fmla="*/ 9832 h 1184394"/>
                  <a:gd name="connsiteX4" fmla="*/ 3744143 w 4086225"/>
                  <a:gd name="connsiteY4" fmla="*/ 9832 h 1184394"/>
                  <a:gd name="connsiteX5" fmla="*/ 3939907 w 4086225"/>
                  <a:gd name="connsiteY5" fmla="*/ 205596 h 1184394"/>
                  <a:gd name="connsiteX6" fmla="*/ 3939907 w 4086225"/>
                  <a:gd name="connsiteY6" fmla="*/ 205592 h 1184394"/>
                  <a:gd name="connsiteX7" fmla="*/ 3939907 w 4086225"/>
                  <a:gd name="connsiteY7" fmla="*/ 205592 h 1184394"/>
                  <a:gd name="connsiteX8" fmla="*/ 4086225 w 4086225"/>
                  <a:gd name="connsiteY8" fmla="*/ 346810 h 1184394"/>
                  <a:gd name="connsiteX9" fmla="*/ 3939907 w 4086225"/>
                  <a:gd name="connsiteY9" fmla="*/ 499233 h 1184394"/>
                  <a:gd name="connsiteX10" fmla="*/ 3939907 w 4086225"/>
                  <a:gd name="connsiteY10" fmla="*/ 988630 h 1184394"/>
                  <a:gd name="connsiteX11" fmla="*/ 3744143 w 4086225"/>
                  <a:gd name="connsiteY11" fmla="*/ 1184394 h 1184394"/>
                  <a:gd name="connsiteX12" fmla="*/ 3283256 w 4086225"/>
                  <a:gd name="connsiteY12" fmla="*/ 1184394 h 1184394"/>
                  <a:gd name="connsiteX13" fmla="*/ 2298279 w 4086225"/>
                  <a:gd name="connsiteY13" fmla="*/ 1184394 h 1184394"/>
                  <a:gd name="connsiteX14" fmla="*/ 2298279 w 4086225"/>
                  <a:gd name="connsiteY14" fmla="*/ 1184394 h 1184394"/>
                  <a:gd name="connsiteX15" fmla="*/ 195764 w 4086225"/>
                  <a:gd name="connsiteY15" fmla="*/ 1184394 h 1184394"/>
                  <a:gd name="connsiteX16" fmla="*/ 0 w 4086225"/>
                  <a:gd name="connsiteY16" fmla="*/ 988630 h 1184394"/>
                  <a:gd name="connsiteX17" fmla="*/ 0 w 4086225"/>
                  <a:gd name="connsiteY17" fmla="*/ 499233 h 1184394"/>
                  <a:gd name="connsiteX18" fmla="*/ 0 w 4086225"/>
                  <a:gd name="connsiteY18" fmla="*/ 205592 h 1184394"/>
                  <a:gd name="connsiteX19" fmla="*/ 0 w 4086225"/>
                  <a:gd name="connsiteY19" fmla="*/ 205592 h 1184394"/>
                  <a:gd name="connsiteX20" fmla="*/ 0 w 4086225"/>
                  <a:gd name="connsiteY20" fmla="*/ 205596 h 1184394"/>
                  <a:gd name="connsiteX0" fmla="*/ 0 w 4086225"/>
                  <a:gd name="connsiteY0" fmla="*/ 214038 h 1192836"/>
                  <a:gd name="connsiteX1" fmla="*/ 195764 w 4086225"/>
                  <a:gd name="connsiteY1" fmla="*/ 18274 h 1192836"/>
                  <a:gd name="connsiteX2" fmla="*/ 3232343 w 4086225"/>
                  <a:gd name="connsiteY2" fmla="*/ 8442 h 1192836"/>
                  <a:gd name="connsiteX3" fmla="*/ 3744143 w 4086225"/>
                  <a:gd name="connsiteY3" fmla="*/ 18274 h 1192836"/>
                  <a:gd name="connsiteX4" fmla="*/ 3939907 w 4086225"/>
                  <a:gd name="connsiteY4" fmla="*/ 214038 h 1192836"/>
                  <a:gd name="connsiteX5" fmla="*/ 3939907 w 4086225"/>
                  <a:gd name="connsiteY5" fmla="*/ 214034 h 1192836"/>
                  <a:gd name="connsiteX6" fmla="*/ 3939907 w 4086225"/>
                  <a:gd name="connsiteY6" fmla="*/ 214034 h 1192836"/>
                  <a:gd name="connsiteX7" fmla="*/ 4086225 w 4086225"/>
                  <a:gd name="connsiteY7" fmla="*/ 355252 h 1192836"/>
                  <a:gd name="connsiteX8" fmla="*/ 3939907 w 4086225"/>
                  <a:gd name="connsiteY8" fmla="*/ 507675 h 1192836"/>
                  <a:gd name="connsiteX9" fmla="*/ 3939907 w 4086225"/>
                  <a:gd name="connsiteY9" fmla="*/ 997072 h 1192836"/>
                  <a:gd name="connsiteX10" fmla="*/ 3744143 w 4086225"/>
                  <a:gd name="connsiteY10" fmla="*/ 1192836 h 1192836"/>
                  <a:gd name="connsiteX11" fmla="*/ 3283256 w 4086225"/>
                  <a:gd name="connsiteY11" fmla="*/ 1192836 h 1192836"/>
                  <a:gd name="connsiteX12" fmla="*/ 2298279 w 4086225"/>
                  <a:gd name="connsiteY12" fmla="*/ 1192836 h 1192836"/>
                  <a:gd name="connsiteX13" fmla="*/ 2298279 w 4086225"/>
                  <a:gd name="connsiteY13" fmla="*/ 1192836 h 1192836"/>
                  <a:gd name="connsiteX14" fmla="*/ 195764 w 4086225"/>
                  <a:gd name="connsiteY14" fmla="*/ 1192836 h 1192836"/>
                  <a:gd name="connsiteX15" fmla="*/ 0 w 4086225"/>
                  <a:gd name="connsiteY15" fmla="*/ 997072 h 1192836"/>
                  <a:gd name="connsiteX16" fmla="*/ 0 w 4086225"/>
                  <a:gd name="connsiteY16" fmla="*/ 507675 h 1192836"/>
                  <a:gd name="connsiteX17" fmla="*/ 0 w 4086225"/>
                  <a:gd name="connsiteY17" fmla="*/ 214034 h 1192836"/>
                  <a:gd name="connsiteX18" fmla="*/ 0 w 4086225"/>
                  <a:gd name="connsiteY18" fmla="*/ 214034 h 1192836"/>
                  <a:gd name="connsiteX19" fmla="*/ 0 w 4086225"/>
                  <a:gd name="connsiteY19" fmla="*/ 214038 h 1192836"/>
                  <a:gd name="connsiteX0" fmla="*/ 0 w 4086225"/>
                  <a:gd name="connsiteY0" fmla="*/ 195764 h 1174562"/>
                  <a:gd name="connsiteX1" fmla="*/ 195764 w 4086225"/>
                  <a:gd name="connsiteY1" fmla="*/ 0 h 1174562"/>
                  <a:gd name="connsiteX2" fmla="*/ 3744143 w 4086225"/>
                  <a:gd name="connsiteY2" fmla="*/ 0 h 1174562"/>
                  <a:gd name="connsiteX3" fmla="*/ 3939907 w 4086225"/>
                  <a:gd name="connsiteY3" fmla="*/ 195764 h 1174562"/>
                  <a:gd name="connsiteX4" fmla="*/ 3939907 w 4086225"/>
                  <a:gd name="connsiteY4" fmla="*/ 195760 h 1174562"/>
                  <a:gd name="connsiteX5" fmla="*/ 3939907 w 4086225"/>
                  <a:gd name="connsiteY5" fmla="*/ 195760 h 1174562"/>
                  <a:gd name="connsiteX6" fmla="*/ 4086225 w 4086225"/>
                  <a:gd name="connsiteY6" fmla="*/ 336978 h 1174562"/>
                  <a:gd name="connsiteX7" fmla="*/ 3939907 w 4086225"/>
                  <a:gd name="connsiteY7" fmla="*/ 489401 h 1174562"/>
                  <a:gd name="connsiteX8" fmla="*/ 3939907 w 4086225"/>
                  <a:gd name="connsiteY8" fmla="*/ 978798 h 1174562"/>
                  <a:gd name="connsiteX9" fmla="*/ 3744143 w 4086225"/>
                  <a:gd name="connsiteY9" fmla="*/ 1174562 h 1174562"/>
                  <a:gd name="connsiteX10" fmla="*/ 3283256 w 4086225"/>
                  <a:gd name="connsiteY10" fmla="*/ 1174562 h 1174562"/>
                  <a:gd name="connsiteX11" fmla="*/ 2298279 w 4086225"/>
                  <a:gd name="connsiteY11" fmla="*/ 1174562 h 1174562"/>
                  <a:gd name="connsiteX12" fmla="*/ 2298279 w 4086225"/>
                  <a:gd name="connsiteY12" fmla="*/ 1174562 h 1174562"/>
                  <a:gd name="connsiteX13" fmla="*/ 195764 w 4086225"/>
                  <a:gd name="connsiteY13" fmla="*/ 1174562 h 1174562"/>
                  <a:gd name="connsiteX14" fmla="*/ 0 w 4086225"/>
                  <a:gd name="connsiteY14" fmla="*/ 978798 h 1174562"/>
                  <a:gd name="connsiteX15" fmla="*/ 0 w 4086225"/>
                  <a:gd name="connsiteY15" fmla="*/ 489401 h 1174562"/>
                  <a:gd name="connsiteX16" fmla="*/ 0 w 4086225"/>
                  <a:gd name="connsiteY16" fmla="*/ 195760 h 1174562"/>
                  <a:gd name="connsiteX17" fmla="*/ 0 w 4086225"/>
                  <a:gd name="connsiteY17" fmla="*/ 195760 h 1174562"/>
                  <a:gd name="connsiteX18" fmla="*/ 0 w 4086225"/>
                  <a:gd name="connsiteY18" fmla="*/ 195764 h 1174562"/>
                  <a:gd name="connsiteX0" fmla="*/ 0 w 4171950"/>
                  <a:gd name="connsiteY0" fmla="*/ 195764 h 1174562"/>
                  <a:gd name="connsiteX1" fmla="*/ 195764 w 4171950"/>
                  <a:gd name="connsiteY1" fmla="*/ 0 h 1174562"/>
                  <a:gd name="connsiteX2" fmla="*/ 3744143 w 4171950"/>
                  <a:gd name="connsiteY2" fmla="*/ 0 h 1174562"/>
                  <a:gd name="connsiteX3" fmla="*/ 3939907 w 4171950"/>
                  <a:gd name="connsiteY3" fmla="*/ 195764 h 1174562"/>
                  <a:gd name="connsiteX4" fmla="*/ 3939907 w 4171950"/>
                  <a:gd name="connsiteY4" fmla="*/ 195760 h 1174562"/>
                  <a:gd name="connsiteX5" fmla="*/ 3939907 w 4171950"/>
                  <a:gd name="connsiteY5" fmla="*/ 195760 h 1174562"/>
                  <a:gd name="connsiteX6" fmla="*/ 4171950 w 4171950"/>
                  <a:gd name="connsiteY6" fmla="*/ 127428 h 1174562"/>
                  <a:gd name="connsiteX7" fmla="*/ 3939907 w 4171950"/>
                  <a:gd name="connsiteY7" fmla="*/ 489401 h 1174562"/>
                  <a:gd name="connsiteX8" fmla="*/ 3939907 w 4171950"/>
                  <a:gd name="connsiteY8" fmla="*/ 978798 h 1174562"/>
                  <a:gd name="connsiteX9" fmla="*/ 3744143 w 4171950"/>
                  <a:gd name="connsiteY9" fmla="*/ 1174562 h 1174562"/>
                  <a:gd name="connsiteX10" fmla="*/ 3283256 w 4171950"/>
                  <a:gd name="connsiteY10" fmla="*/ 1174562 h 1174562"/>
                  <a:gd name="connsiteX11" fmla="*/ 2298279 w 4171950"/>
                  <a:gd name="connsiteY11" fmla="*/ 1174562 h 1174562"/>
                  <a:gd name="connsiteX12" fmla="*/ 2298279 w 4171950"/>
                  <a:gd name="connsiteY12" fmla="*/ 1174562 h 1174562"/>
                  <a:gd name="connsiteX13" fmla="*/ 195764 w 4171950"/>
                  <a:gd name="connsiteY13" fmla="*/ 1174562 h 1174562"/>
                  <a:gd name="connsiteX14" fmla="*/ 0 w 4171950"/>
                  <a:gd name="connsiteY14" fmla="*/ 978798 h 1174562"/>
                  <a:gd name="connsiteX15" fmla="*/ 0 w 4171950"/>
                  <a:gd name="connsiteY15" fmla="*/ 489401 h 1174562"/>
                  <a:gd name="connsiteX16" fmla="*/ 0 w 4171950"/>
                  <a:gd name="connsiteY16" fmla="*/ 195760 h 1174562"/>
                  <a:gd name="connsiteX17" fmla="*/ 0 w 4171950"/>
                  <a:gd name="connsiteY17" fmla="*/ 195760 h 1174562"/>
                  <a:gd name="connsiteX18" fmla="*/ 0 w 4171950"/>
                  <a:gd name="connsiteY18" fmla="*/ 195764 h 1174562"/>
                  <a:gd name="connsiteX0" fmla="*/ 0 w 4171950"/>
                  <a:gd name="connsiteY0" fmla="*/ 195764 h 1174562"/>
                  <a:gd name="connsiteX1" fmla="*/ 195764 w 4171950"/>
                  <a:gd name="connsiteY1" fmla="*/ 0 h 1174562"/>
                  <a:gd name="connsiteX2" fmla="*/ 3744143 w 4171950"/>
                  <a:gd name="connsiteY2" fmla="*/ 0 h 1174562"/>
                  <a:gd name="connsiteX3" fmla="*/ 3939907 w 4171950"/>
                  <a:gd name="connsiteY3" fmla="*/ 195764 h 1174562"/>
                  <a:gd name="connsiteX4" fmla="*/ 3939907 w 4171950"/>
                  <a:gd name="connsiteY4" fmla="*/ 195760 h 1174562"/>
                  <a:gd name="connsiteX5" fmla="*/ 3939907 w 4171950"/>
                  <a:gd name="connsiteY5" fmla="*/ 195760 h 1174562"/>
                  <a:gd name="connsiteX6" fmla="*/ 4171950 w 4171950"/>
                  <a:gd name="connsiteY6" fmla="*/ 127428 h 1174562"/>
                  <a:gd name="connsiteX7" fmla="*/ 3939907 w 4171950"/>
                  <a:gd name="connsiteY7" fmla="*/ 489401 h 1174562"/>
                  <a:gd name="connsiteX8" fmla="*/ 3939907 w 4171950"/>
                  <a:gd name="connsiteY8" fmla="*/ 978798 h 1174562"/>
                  <a:gd name="connsiteX9" fmla="*/ 3744143 w 4171950"/>
                  <a:gd name="connsiteY9" fmla="*/ 1174562 h 1174562"/>
                  <a:gd name="connsiteX10" fmla="*/ 3283256 w 4171950"/>
                  <a:gd name="connsiteY10" fmla="*/ 1174562 h 1174562"/>
                  <a:gd name="connsiteX11" fmla="*/ 2298279 w 4171950"/>
                  <a:gd name="connsiteY11" fmla="*/ 1174562 h 1174562"/>
                  <a:gd name="connsiteX12" fmla="*/ 2298279 w 4171950"/>
                  <a:gd name="connsiteY12" fmla="*/ 1174562 h 1174562"/>
                  <a:gd name="connsiteX13" fmla="*/ 195764 w 4171950"/>
                  <a:gd name="connsiteY13" fmla="*/ 1174562 h 1174562"/>
                  <a:gd name="connsiteX14" fmla="*/ 0 w 4171950"/>
                  <a:gd name="connsiteY14" fmla="*/ 978798 h 1174562"/>
                  <a:gd name="connsiteX15" fmla="*/ 0 w 4171950"/>
                  <a:gd name="connsiteY15" fmla="*/ 489401 h 1174562"/>
                  <a:gd name="connsiteX16" fmla="*/ 0 w 4171950"/>
                  <a:gd name="connsiteY16" fmla="*/ 195760 h 1174562"/>
                  <a:gd name="connsiteX17" fmla="*/ 0 w 4171950"/>
                  <a:gd name="connsiteY17" fmla="*/ 195760 h 1174562"/>
                  <a:gd name="connsiteX18" fmla="*/ 0 w 4171950"/>
                  <a:gd name="connsiteY18" fmla="*/ 195764 h 1174562"/>
                  <a:gd name="connsiteX0" fmla="*/ 0 w 4171950"/>
                  <a:gd name="connsiteY0" fmla="*/ 195764 h 1174562"/>
                  <a:gd name="connsiteX1" fmla="*/ 195764 w 4171950"/>
                  <a:gd name="connsiteY1" fmla="*/ 0 h 1174562"/>
                  <a:gd name="connsiteX2" fmla="*/ 3744143 w 4171950"/>
                  <a:gd name="connsiteY2" fmla="*/ 0 h 1174562"/>
                  <a:gd name="connsiteX3" fmla="*/ 3939907 w 4171950"/>
                  <a:gd name="connsiteY3" fmla="*/ 195764 h 1174562"/>
                  <a:gd name="connsiteX4" fmla="*/ 3939907 w 4171950"/>
                  <a:gd name="connsiteY4" fmla="*/ 195760 h 1174562"/>
                  <a:gd name="connsiteX5" fmla="*/ 3939907 w 4171950"/>
                  <a:gd name="connsiteY5" fmla="*/ 195760 h 1174562"/>
                  <a:gd name="connsiteX6" fmla="*/ 4171950 w 4171950"/>
                  <a:gd name="connsiteY6" fmla="*/ 127428 h 1174562"/>
                  <a:gd name="connsiteX7" fmla="*/ 3939907 w 4171950"/>
                  <a:gd name="connsiteY7" fmla="*/ 489401 h 1174562"/>
                  <a:gd name="connsiteX8" fmla="*/ 3939907 w 4171950"/>
                  <a:gd name="connsiteY8" fmla="*/ 978798 h 1174562"/>
                  <a:gd name="connsiteX9" fmla="*/ 3744143 w 4171950"/>
                  <a:gd name="connsiteY9" fmla="*/ 1174562 h 1174562"/>
                  <a:gd name="connsiteX10" fmla="*/ 3283256 w 4171950"/>
                  <a:gd name="connsiteY10" fmla="*/ 1174562 h 1174562"/>
                  <a:gd name="connsiteX11" fmla="*/ 2298279 w 4171950"/>
                  <a:gd name="connsiteY11" fmla="*/ 1174562 h 1174562"/>
                  <a:gd name="connsiteX12" fmla="*/ 2298279 w 4171950"/>
                  <a:gd name="connsiteY12" fmla="*/ 1174562 h 1174562"/>
                  <a:gd name="connsiteX13" fmla="*/ 195764 w 4171950"/>
                  <a:gd name="connsiteY13" fmla="*/ 1174562 h 1174562"/>
                  <a:gd name="connsiteX14" fmla="*/ 0 w 4171950"/>
                  <a:gd name="connsiteY14" fmla="*/ 978798 h 1174562"/>
                  <a:gd name="connsiteX15" fmla="*/ 0 w 4171950"/>
                  <a:gd name="connsiteY15" fmla="*/ 489401 h 1174562"/>
                  <a:gd name="connsiteX16" fmla="*/ 0 w 4171950"/>
                  <a:gd name="connsiteY16" fmla="*/ 195760 h 1174562"/>
                  <a:gd name="connsiteX17" fmla="*/ 0 w 4171950"/>
                  <a:gd name="connsiteY17" fmla="*/ 195760 h 1174562"/>
                  <a:gd name="connsiteX18" fmla="*/ 0 w 4171950"/>
                  <a:gd name="connsiteY18" fmla="*/ 195764 h 1174562"/>
                  <a:gd name="connsiteX0" fmla="*/ 0 w 4171950"/>
                  <a:gd name="connsiteY0" fmla="*/ 195764 h 1174562"/>
                  <a:gd name="connsiteX1" fmla="*/ 195764 w 4171950"/>
                  <a:gd name="connsiteY1" fmla="*/ 0 h 1174562"/>
                  <a:gd name="connsiteX2" fmla="*/ 3744143 w 4171950"/>
                  <a:gd name="connsiteY2" fmla="*/ 0 h 1174562"/>
                  <a:gd name="connsiteX3" fmla="*/ 3939907 w 4171950"/>
                  <a:gd name="connsiteY3" fmla="*/ 195764 h 1174562"/>
                  <a:gd name="connsiteX4" fmla="*/ 3939907 w 4171950"/>
                  <a:gd name="connsiteY4" fmla="*/ 195760 h 1174562"/>
                  <a:gd name="connsiteX5" fmla="*/ 3939907 w 4171950"/>
                  <a:gd name="connsiteY5" fmla="*/ 195760 h 1174562"/>
                  <a:gd name="connsiteX6" fmla="*/ 4171950 w 4171950"/>
                  <a:gd name="connsiteY6" fmla="*/ 127428 h 1174562"/>
                  <a:gd name="connsiteX7" fmla="*/ 3939907 w 4171950"/>
                  <a:gd name="connsiteY7" fmla="*/ 489401 h 1174562"/>
                  <a:gd name="connsiteX8" fmla="*/ 3939907 w 4171950"/>
                  <a:gd name="connsiteY8" fmla="*/ 978798 h 1174562"/>
                  <a:gd name="connsiteX9" fmla="*/ 3744143 w 4171950"/>
                  <a:gd name="connsiteY9" fmla="*/ 1174562 h 1174562"/>
                  <a:gd name="connsiteX10" fmla="*/ 3283256 w 4171950"/>
                  <a:gd name="connsiteY10" fmla="*/ 1174562 h 1174562"/>
                  <a:gd name="connsiteX11" fmla="*/ 2298279 w 4171950"/>
                  <a:gd name="connsiteY11" fmla="*/ 1174562 h 1174562"/>
                  <a:gd name="connsiteX12" fmla="*/ 2298279 w 4171950"/>
                  <a:gd name="connsiteY12" fmla="*/ 1174562 h 1174562"/>
                  <a:gd name="connsiteX13" fmla="*/ 195764 w 4171950"/>
                  <a:gd name="connsiteY13" fmla="*/ 1174562 h 1174562"/>
                  <a:gd name="connsiteX14" fmla="*/ 0 w 4171950"/>
                  <a:gd name="connsiteY14" fmla="*/ 978798 h 1174562"/>
                  <a:gd name="connsiteX15" fmla="*/ 0 w 4171950"/>
                  <a:gd name="connsiteY15" fmla="*/ 489401 h 1174562"/>
                  <a:gd name="connsiteX16" fmla="*/ 0 w 4171950"/>
                  <a:gd name="connsiteY16" fmla="*/ 195760 h 1174562"/>
                  <a:gd name="connsiteX17" fmla="*/ 0 w 4171950"/>
                  <a:gd name="connsiteY17" fmla="*/ 195760 h 1174562"/>
                  <a:gd name="connsiteX18" fmla="*/ 0 w 4171950"/>
                  <a:gd name="connsiteY18" fmla="*/ 195764 h 1174562"/>
                  <a:gd name="connsiteX0" fmla="*/ 0 w 4095750"/>
                  <a:gd name="connsiteY0" fmla="*/ 195764 h 1174562"/>
                  <a:gd name="connsiteX1" fmla="*/ 195764 w 4095750"/>
                  <a:gd name="connsiteY1" fmla="*/ 0 h 1174562"/>
                  <a:gd name="connsiteX2" fmla="*/ 3744143 w 4095750"/>
                  <a:gd name="connsiteY2" fmla="*/ 0 h 1174562"/>
                  <a:gd name="connsiteX3" fmla="*/ 3939907 w 4095750"/>
                  <a:gd name="connsiteY3" fmla="*/ 195764 h 1174562"/>
                  <a:gd name="connsiteX4" fmla="*/ 3939907 w 4095750"/>
                  <a:gd name="connsiteY4" fmla="*/ 195760 h 1174562"/>
                  <a:gd name="connsiteX5" fmla="*/ 3939907 w 4095750"/>
                  <a:gd name="connsiteY5" fmla="*/ 195760 h 1174562"/>
                  <a:gd name="connsiteX6" fmla="*/ 4095750 w 4095750"/>
                  <a:gd name="connsiteY6" fmla="*/ 222678 h 1174562"/>
                  <a:gd name="connsiteX7" fmla="*/ 3939907 w 4095750"/>
                  <a:gd name="connsiteY7" fmla="*/ 489401 h 1174562"/>
                  <a:gd name="connsiteX8" fmla="*/ 3939907 w 4095750"/>
                  <a:gd name="connsiteY8" fmla="*/ 978798 h 1174562"/>
                  <a:gd name="connsiteX9" fmla="*/ 3744143 w 4095750"/>
                  <a:gd name="connsiteY9" fmla="*/ 1174562 h 1174562"/>
                  <a:gd name="connsiteX10" fmla="*/ 3283256 w 4095750"/>
                  <a:gd name="connsiteY10" fmla="*/ 1174562 h 1174562"/>
                  <a:gd name="connsiteX11" fmla="*/ 2298279 w 4095750"/>
                  <a:gd name="connsiteY11" fmla="*/ 1174562 h 1174562"/>
                  <a:gd name="connsiteX12" fmla="*/ 2298279 w 4095750"/>
                  <a:gd name="connsiteY12" fmla="*/ 1174562 h 1174562"/>
                  <a:gd name="connsiteX13" fmla="*/ 195764 w 4095750"/>
                  <a:gd name="connsiteY13" fmla="*/ 1174562 h 1174562"/>
                  <a:gd name="connsiteX14" fmla="*/ 0 w 4095750"/>
                  <a:gd name="connsiteY14" fmla="*/ 978798 h 1174562"/>
                  <a:gd name="connsiteX15" fmla="*/ 0 w 4095750"/>
                  <a:gd name="connsiteY15" fmla="*/ 489401 h 1174562"/>
                  <a:gd name="connsiteX16" fmla="*/ 0 w 4095750"/>
                  <a:gd name="connsiteY16" fmla="*/ 195760 h 1174562"/>
                  <a:gd name="connsiteX17" fmla="*/ 0 w 4095750"/>
                  <a:gd name="connsiteY17" fmla="*/ 195760 h 1174562"/>
                  <a:gd name="connsiteX18" fmla="*/ 0 w 4095750"/>
                  <a:gd name="connsiteY18" fmla="*/ 195764 h 1174562"/>
                  <a:gd name="connsiteX0" fmla="*/ 0 w 4095750"/>
                  <a:gd name="connsiteY0" fmla="*/ 195764 h 1174562"/>
                  <a:gd name="connsiteX1" fmla="*/ 195764 w 4095750"/>
                  <a:gd name="connsiteY1" fmla="*/ 0 h 1174562"/>
                  <a:gd name="connsiteX2" fmla="*/ 3744143 w 4095750"/>
                  <a:gd name="connsiteY2" fmla="*/ 0 h 1174562"/>
                  <a:gd name="connsiteX3" fmla="*/ 3939907 w 4095750"/>
                  <a:gd name="connsiteY3" fmla="*/ 195764 h 1174562"/>
                  <a:gd name="connsiteX4" fmla="*/ 3939907 w 4095750"/>
                  <a:gd name="connsiteY4" fmla="*/ 195760 h 1174562"/>
                  <a:gd name="connsiteX5" fmla="*/ 3939907 w 4095750"/>
                  <a:gd name="connsiteY5" fmla="*/ 195760 h 1174562"/>
                  <a:gd name="connsiteX6" fmla="*/ 4095750 w 4095750"/>
                  <a:gd name="connsiteY6" fmla="*/ 222678 h 1174562"/>
                  <a:gd name="connsiteX7" fmla="*/ 3939907 w 4095750"/>
                  <a:gd name="connsiteY7" fmla="*/ 489401 h 1174562"/>
                  <a:gd name="connsiteX8" fmla="*/ 3939907 w 4095750"/>
                  <a:gd name="connsiteY8" fmla="*/ 978798 h 1174562"/>
                  <a:gd name="connsiteX9" fmla="*/ 3744143 w 4095750"/>
                  <a:gd name="connsiteY9" fmla="*/ 1174562 h 1174562"/>
                  <a:gd name="connsiteX10" fmla="*/ 3283256 w 4095750"/>
                  <a:gd name="connsiteY10" fmla="*/ 1174562 h 1174562"/>
                  <a:gd name="connsiteX11" fmla="*/ 2298279 w 4095750"/>
                  <a:gd name="connsiteY11" fmla="*/ 1174562 h 1174562"/>
                  <a:gd name="connsiteX12" fmla="*/ 2298279 w 4095750"/>
                  <a:gd name="connsiteY12" fmla="*/ 1174562 h 1174562"/>
                  <a:gd name="connsiteX13" fmla="*/ 195764 w 4095750"/>
                  <a:gd name="connsiteY13" fmla="*/ 1174562 h 1174562"/>
                  <a:gd name="connsiteX14" fmla="*/ 0 w 4095750"/>
                  <a:gd name="connsiteY14" fmla="*/ 978798 h 1174562"/>
                  <a:gd name="connsiteX15" fmla="*/ 0 w 4095750"/>
                  <a:gd name="connsiteY15" fmla="*/ 489401 h 1174562"/>
                  <a:gd name="connsiteX16" fmla="*/ 0 w 4095750"/>
                  <a:gd name="connsiteY16" fmla="*/ 195760 h 1174562"/>
                  <a:gd name="connsiteX17" fmla="*/ 0 w 4095750"/>
                  <a:gd name="connsiteY17" fmla="*/ 195760 h 1174562"/>
                  <a:gd name="connsiteX18" fmla="*/ 0 w 4095750"/>
                  <a:gd name="connsiteY18" fmla="*/ 195764 h 1174562"/>
                  <a:gd name="connsiteX0" fmla="*/ 0 w 4095750"/>
                  <a:gd name="connsiteY0" fmla="*/ 195764 h 1174562"/>
                  <a:gd name="connsiteX1" fmla="*/ 195764 w 4095750"/>
                  <a:gd name="connsiteY1" fmla="*/ 0 h 1174562"/>
                  <a:gd name="connsiteX2" fmla="*/ 3744143 w 4095750"/>
                  <a:gd name="connsiteY2" fmla="*/ 0 h 1174562"/>
                  <a:gd name="connsiteX3" fmla="*/ 3939907 w 4095750"/>
                  <a:gd name="connsiteY3" fmla="*/ 195764 h 1174562"/>
                  <a:gd name="connsiteX4" fmla="*/ 3939907 w 4095750"/>
                  <a:gd name="connsiteY4" fmla="*/ 195760 h 1174562"/>
                  <a:gd name="connsiteX5" fmla="*/ 3939907 w 4095750"/>
                  <a:gd name="connsiteY5" fmla="*/ 195760 h 1174562"/>
                  <a:gd name="connsiteX6" fmla="*/ 4095750 w 4095750"/>
                  <a:gd name="connsiteY6" fmla="*/ 222678 h 1174562"/>
                  <a:gd name="connsiteX7" fmla="*/ 3939907 w 4095750"/>
                  <a:gd name="connsiteY7" fmla="*/ 489401 h 1174562"/>
                  <a:gd name="connsiteX8" fmla="*/ 3939907 w 4095750"/>
                  <a:gd name="connsiteY8" fmla="*/ 978798 h 1174562"/>
                  <a:gd name="connsiteX9" fmla="*/ 3744143 w 4095750"/>
                  <a:gd name="connsiteY9" fmla="*/ 1174562 h 1174562"/>
                  <a:gd name="connsiteX10" fmla="*/ 3283256 w 4095750"/>
                  <a:gd name="connsiteY10" fmla="*/ 1174562 h 1174562"/>
                  <a:gd name="connsiteX11" fmla="*/ 2298279 w 4095750"/>
                  <a:gd name="connsiteY11" fmla="*/ 1174562 h 1174562"/>
                  <a:gd name="connsiteX12" fmla="*/ 2298279 w 4095750"/>
                  <a:gd name="connsiteY12" fmla="*/ 1174562 h 1174562"/>
                  <a:gd name="connsiteX13" fmla="*/ 195764 w 4095750"/>
                  <a:gd name="connsiteY13" fmla="*/ 1174562 h 1174562"/>
                  <a:gd name="connsiteX14" fmla="*/ 0 w 4095750"/>
                  <a:gd name="connsiteY14" fmla="*/ 978798 h 1174562"/>
                  <a:gd name="connsiteX15" fmla="*/ 0 w 4095750"/>
                  <a:gd name="connsiteY15" fmla="*/ 489401 h 1174562"/>
                  <a:gd name="connsiteX16" fmla="*/ 0 w 4095750"/>
                  <a:gd name="connsiteY16" fmla="*/ 195760 h 1174562"/>
                  <a:gd name="connsiteX17" fmla="*/ 0 w 4095750"/>
                  <a:gd name="connsiteY17" fmla="*/ 195760 h 1174562"/>
                  <a:gd name="connsiteX18" fmla="*/ 0 w 4095750"/>
                  <a:gd name="connsiteY18" fmla="*/ 195764 h 117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095750" h="1174562">
                    <a:moveTo>
                      <a:pt x="0" y="195764"/>
                    </a:moveTo>
                    <a:cubicBezTo>
                      <a:pt x="0" y="87647"/>
                      <a:pt x="87647" y="0"/>
                      <a:pt x="195764" y="0"/>
                    </a:cubicBezTo>
                    <a:lnTo>
                      <a:pt x="3744143" y="0"/>
                    </a:lnTo>
                    <a:cubicBezTo>
                      <a:pt x="3852260" y="0"/>
                      <a:pt x="3939907" y="87647"/>
                      <a:pt x="3939907" y="195764"/>
                    </a:cubicBezTo>
                    <a:lnTo>
                      <a:pt x="3939907" y="195760"/>
                    </a:lnTo>
                    <a:lnTo>
                      <a:pt x="3939907" y="195760"/>
                    </a:lnTo>
                    <a:cubicBezTo>
                      <a:pt x="3988680" y="242833"/>
                      <a:pt x="3989827" y="261330"/>
                      <a:pt x="4095750" y="222678"/>
                    </a:cubicBezTo>
                    <a:cubicBezTo>
                      <a:pt x="3970777" y="340161"/>
                      <a:pt x="3988680" y="438593"/>
                      <a:pt x="3939907" y="489401"/>
                    </a:cubicBezTo>
                    <a:lnTo>
                      <a:pt x="3939907" y="978798"/>
                    </a:lnTo>
                    <a:cubicBezTo>
                      <a:pt x="3939907" y="1086915"/>
                      <a:pt x="3852260" y="1174562"/>
                      <a:pt x="3744143" y="1174562"/>
                    </a:cubicBezTo>
                    <a:lnTo>
                      <a:pt x="3283256" y="1174562"/>
                    </a:lnTo>
                    <a:lnTo>
                      <a:pt x="2298279" y="1174562"/>
                    </a:lnTo>
                    <a:lnTo>
                      <a:pt x="2298279" y="1174562"/>
                    </a:lnTo>
                    <a:lnTo>
                      <a:pt x="195764" y="1174562"/>
                    </a:lnTo>
                    <a:cubicBezTo>
                      <a:pt x="87647" y="1174562"/>
                      <a:pt x="0" y="1086915"/>
                      <a:pt x="0" y="978798"/>
                    </a:cubicBezTo>
                    <a:lnTo>
                      <a:pt x="0" y="489401"/>
                    </a:lnTo>
                    <a:lnTo>
                      <a:pt x="0" y="195760"/>
                    </a:lnTo>
                    <a:lnTo>
                      <a:pt x="0" y="195760"/>
                    </a:lnTo>
                    <a:lnTo>
                      <a:pt x="0" y="195764"/>
                    </a:lnTo>
                    <a:close/>
                  </a:path>
                </a:pathLst>
              </a:cu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Query"/>
              <p:cNvSpPr txBox="1"/>
              <p:nvPr/>
            </p:nvSpPr>
            <p:spPr>
              <a:xfrm>
                <a:off x="5327402" y="2934956"/>
                <a:ext cx="3755836" cy="941796"/>
              </a:xfrm>
              <a:prstGeom prst="rect">
                <a:avLst/>
              </a:prstGeom>
              <a:noFill/>
            </p:spPr>
            <p:txBody>
              <a:bodyPr wrap="none" lIns="0" tIns="0" rIns="0" bIns="0" rtlCol="0" anchor="t" anchorCtr="0">
                <a:spAutoFit/>
              </a:bodyPr>
              <a:lstStyle/>
              <a:p>
                <a:pPr>
                  <a:lnSpc>
                    <a:spcPct val="90000"/>
                  </a:lnSpc>
                </a:pPr>
                <a:r>
                  <a:rPr lang="en-US" sz="1700" b="1" spc="-50" dirty="0" smtClean="0">
                    <a:latin typeface="Consolas" panose="020B0609020204030204" pitchFamily="49" charset="0"/>
                    <a:cs typeface="Consolas" panose="020B0609020204030204" pitchFamily="49" charset="0"/>
                  </a:rPr>
                  <a:t>From</a:t>
                </a:r>
                <a:r>
                  <a:rPr lang="en-US" sz="1700" spc="-50" dirty="0" smtClean="0">
                    <a:latin typeface="Consolas" panose="020B0609020204030204" pitchFamily="49" charset="0"/>
                    <a:cs typeface="Consolas" panose="020B0609020204030204" pitchFamily="49" charset="0"/>
                  </a:rPr>
                  <a:t> </a:t>
                </a:r>
                <a:r>
                  <a:rPr lang="en-US" sz="1700" spc="-50" dirty="0" smtClean="0">
                    <a:solidFill>
                      <a:srgbClr val="2F2364"/>
                    </a:solidFill>
                    <a:latin typeface="Consolas" panose="020B0609020204030204" pitchFamily="49" charset="0"/>
                    <a:cs typeface="Consolas" panose="020B0609020204030204" pitchFamily="49" charset="0"/>
                  </a:rPr>
                  <a:t>a</a:t>
                </a:r>
                <a:r>
                  <a:rPr lang="en-US" sz="1700" spc="-50" dirty="0" smtClean="0">
                    <a:latin typeface="Consolas" panose="020B0609020204030204" pitchFamily="49" charset="0"/>
                    <a:cs typeface="Consolas" panose="020B0609020204030204" pitchFamily="49" charset="0"/>
                  </a:rPr>
                  <a:t> </a:t>
                </a:r>
                <a:r>
                  <a:rPr lang="en-US" sz="1700" b="1" spc="-50" dirty="0" smtClean="0">
                    <a:latin typeface="Consolas" panose="020B0609020204030204" pitchFamily="49" charset="0"/>
                    <a:cs typeface="Consolas" panose="020B0609020204030204" pitchFamily="49" charset="0"/>
                  </a:rPr>
                  <a:t>In</a:t>
                </a:r>
                <a:r>
                  <a:rPr lang="en-US" sz="1700" spc="-50" dirty="0" smtClean="0">
                    <a:latin typeface="Consolas" panose="020B0609020204030204" pitchFamily="49" charset="0"/>
                    <a:cs typeface="Consolas" panose="020B0609020204030204" pitchFamily="49" charset="0"/>
                  </a:rPr>
                  <a:t> </a:t>
                </a:r>
                <a:r>
                  <a:rPr lang="en-US" sz="1700" spc="-50" dirty="0" smtClean="0">
                    <a:solidFill>
                      <a:srgbClr val="2F2364"/>
                    </a:solidFill>
                    <a:latin typeface="Consolas" panose="020B0609020204030204" pitchFamily="49" charset="0"/>
                    <a:cs typeface="Consolas" panose="020B0609020204030204" pitchFamily="49" charset="0"/>
                  </a:rPr>
                  <a:t>A</a:t>
                </a:r>
              </a:p>
              <a:p>
                <a:pPr>
                  <a:lnSpc>
                    <a:spcPct val="90000"/>
                  </a:lnSpc>
                </a:pPr>
                <a:r>
                  <a:rPr lang="en-US" sz="1700" spc="-50" dirty="0">
                    <a:latin typeface="Consolas" panose="020B0609020204030204" pitchFamily="49" charset="0"/>
                    <a:cs typeface="Consolas" panose="020B0609020204030204" pitchFamily="49" charset="0"/>
                  </a:rPr>
                  <a:t> </a:t>
                </a:r>
                <a:r>
                  <a:rPr lang="en-US" sz="1700" spc="-50" dirty="0" smtClean="0">
                    <a:latin typeface="Consolas" panose="020B0609020204030204" pitchFamily="49" charset="0"/>
                    <a:cs typeface="Consolas" panose="020B0609020204030204" pitchFamily="49" charset="0"/>
                  </a:rPr>
                  <a:t> </a:t>
                </a:r>
                <a:r>
                  <a:rPr lang="en-US" sz="1700" b="1" spc="-50" dirty="0" smtClean="0">
                    <a:latin typeface="Consolas" panose="020B0609020204030204" pitchFamily="49" charset="0"/>
                    <a:cs typeface="Consolas" panose="020B0609020204030204" pitchFamily="49" charset="0"/>
                  </a:rPr>
                  <a:t>Join</a:t>
                </a:r>
                <a:r>
                  <a:rPr lang="en-US" sz="1700" spc="-50" dirty="0" smtClean="0">
                    <a:latin typeface="Consolas" panose="020B0609020204030204" pitchFamily="49" charset="0"/>
                    <a:cs typeface="Consolas" panose="020B0609020204030204" pitchFamily="49" charset="0"/>
                  </a:rPr>
                  <a:t> </a:t>
                </a:r>
                <a:r>
                  <a:rPr lang="en-US" sz="1700" spc="-50" dirty="0" smtClean="0">
                    <a:solidFill>
                      <a:srgbClr val="23642F"/>
                    </a:solidFill>
                    <a:latin typeface="Consolas" panose="020B0609020204030204" pitchFamily="49" charset="0"/>
                    <a:cs typeface="Consolas" panose="020B0609020204030204" pitchFamily="49" charset="0"/>
                  </a:rPr>
                  <a:t>b</a:t>
                </a:r>
                <a:r>
                  <a:rPr lang="en-US" sz="1700" spc="-50" dirty="0" smtClean="0">
                    <a:latin typeface="Consolas" panose="020B0609020204030204" pitchFamily="49" charset="0"/>
                    <a:cs typeface="Consolas" panose="020B0609020204030204" pitchFamily="49" charset="0"/>
                  </a:rPr>
                  <a:t> </a:t>
                </a:r>
                <a:r>
                  <a:rPr lang="en-US" sz="1700" b="1" spc="-50" dirty="0" smtClean="0">
                    <a:latin typeface="Consolas" panose="020B0609020204030204" pitchFamily="49" charset="0"/>
                    <a:cs typeface="Consolas" panose="020B0609020204030204" pitchFamily="49" charset="0"/>
                  </a:rPr>
                  <a:t>In</a:t>
                </a:r>
                <a:r>
                  <a:rPr lang="en-US" sz="1700" spc="-50" dirty="0" smtClean="0">
                    <a:latin typeface="Consolas" panose="020B0609020204030204" pitchFamily="49" charset="0"/>
                    <a:cs typeface="Consolas" panose="020B0609020204030204" pitchFamily="49" charset="0"/>
                  </a:rPr>
                  <a:t> </a:t>
                </a:r>
                <a:r>
                  <a:rPr lang="en-US" sz="1700" spc="-50" dirty="0" smtClean="0">
                    <a:solidFill>
                      <a:srgbClr val="23642F"/>
                    </a:solidFill>
                    <a:latin typeface="Consolas" panose="020B0609020204030204" pitchFamily="49" charset="0"/>
                    <a:cs typeface="Consolas" panose="020B0609020204030204" pitchFamily="49" charset="0"/>
                  </a:rPr>
                  <a:t>B</a:t>
                </a:r>
                <a:r>
                  <a:rPr lang="en-US" sz="1700" spc="-50" dirty="0" smtClean="0">
                    <a:latin typeface="Consolas" panose="020B0609020204030204" pitchFamily="49" charset="0"/>
                    <a:cs typeface="Consolas" panose="020B0609020204030204" pitchFamily="49" charset="0"/>
                  </a:rPr>
                  <a:t> </a:t>
                </a:r>
                <a:r>
                  <a:rPr lang="en-US" sz="1700" b="1" spc="-50" dirty="0" smtClean="0">
                    <a:latin typeface="Consolas" panose="020B0609020204030204" pitchFamily="49" charset="0"/>
                    <a:cs typeface="Consolas" panose="020B0609020204030204" pitchFamily="49" charset="0"/>
                  </a:rPr>
                  <a:t>On</a:t>
                </a:r>
                <a:r>
                  <a:rPr lang="en-US" sz="1700" spc="-50" dirty="0" smtClean="0">
                    <a:latin typeface="Consolas" panose="020B0609020204030204" pitchFamily="49" charset="0"/>
                    <a:cs typeface="Consolas" panose="020B0609020204030204" pitchFamily="49" charset="0"/>
                  </a:rPr>
                  <a:t> </a:t>
                </a:r>
                <a:r>
                  <a:rPr lang="en-US" sz="1700" spc="-50" dirty="0" smtClean="0">
                    <a:solidFill>
                      <a:srgbClr val="2F2364"/>
                    </a:solidFill>
                    <a:latin typeface="Consolas" panose="020B0609020204030204" pitchFamily="49" charset="0"/>
                    <a:cs typeface="Consolas" panose="020B0609020204030204" pitchFamily="49" charset="0"/>
                  </a:rPr>
                  <a:t>a</a:t>
                </a:r>
                <a:r>
                  <a:rPr lang="en-US" sz="1700" spc="-50" dirty="0" smtClean="0">
                    <a:latin typeface="Consolas" panose="020B0609020204030204" pitchFamily="49" charset="0"/>
                    <a:cs typeface="Consolas" panose="020B0609020204030204" pitchFamily="49" charset="0"/>
                  </a:rPr>
                  <a:t> </a:t>
                </a:r>
                <a:r>
                  <a:rPr lang="en-US" sz="1700" b="1" spc="-50" dirty="0" smtClean="0">
                    <a:latin typeface="Consolas" panose="020B0609020204030204" pitchFamily="49" charset="0"/>
                    <a:cs typeface="Consolas" panose="020B0609020204030204" pitchFamily="49" charset="0"/>
                  </a:rPr>
                  <a:t>-&gt;</a:t>
                </a:r>
                <a:r>
                  <a:rPr lang="en-US" sz="1700" spc="-50" dirty="0" smtClean="0">
                    <a:latin typeface="Consolas" panose="020B0609020204030204" pitchFamily="49" charset="0"/>
                    <a:cs typeface="Consolas" panose="020B0609020204030204" pitchFamily="49" charset="0"/>
                  </a:rPr>
                  <a:t> </a:t>
                </a:r>
                <a:r>
                  <a:rPr lang="en-US" sz="1700" spc="-50" dirty="0" smtClean="0">
                    <a:solidFill>
                      <a:srgbClr val="23642F"/>
                    </a:solidFill>
                    <a:latin typeface="Consolas" panose="020B0609020204030204" pitchFamily="49" charset="0"/>
                    <a:cs typeface="Consolas" panose="020B0609020204030204" pitchFamily="49" charset="0"/>
                  </a:rPr>
                  <a:t>b</a:t>
                </a:r>
              </a:p>
              <a:p>
                <a:pPr>
                  <a:lnSpc>
                    <a:spcPct val="90000"/>
                  </a:lnSpc>
                </a:pPr>
                <a:r>
                  <a:rPr lang="en-US" sz="1700" spc="-50" dirty="0" smtClean="0">
                    <a:latin typeface="Consolas" panose="020B0609020204030204" pitchFamily="49" charset="0"/>
                    <a:cs typeface="Consolas" panose="020B0609020204030204" pitchFamily="49" charset="0"/>
                  </a:rPr>
                  <a:t>  </a:t>
                </a:r>
                <a:r>
                  <a:rPr lang="en-US" sz="1700" b="1" spc="-50" dirty="0" err="1" smtClean="0">
                    <a:latin typeface="Consolas" panose="020B0609020204030204" pitchFamily="49" charset="0"/>
                    <a:cs typeface="Consolas" panose="020B0609020204030204" pitchFamily="49" charset="0"/>
                  </a:rPr>
                  <a:t>GroupBy</a:t>
                </a:r>
                <a:r>
                  <a:rPr lang="en-US" sz="1700" spc="-50" dirty="0" smtClean="0">
                    <a:latin typeface="Consolas" panose="020B0609020204030204" pitchFamily="49" charset="0"/>
                    <a:cs typeface="Consolas" panose="020B0609020204030204" pitchFamily="49" charset="0"/>
                  </a:rPr>
                  <a:t> </a:t>
                </a:r>
                <a:r>
                  <a:rPr lang="en-US" sz="1700" spc="-50" dirty="0" err="1" smtClean="0">
                    <a:solidFill>
                      <a:srgbClr val="2F2364"/>
                    </a:solidFill>
                    <a:latin typeface="Consolas" panose="020B0609020204030204" pitchFamily="49" charset="0"/>
                    <a:cs typeface="Consolas" panose="020B0609020204030204" pitchFamily="49" charset="0"/>
                  </a:rPr>
                  <a:t>a.procName</a:t>
                </a:r>
                <a:endParaRPr lang="en-US" sz="1700" spc="-50" dirty="0" smtClean="0">
                  <a:solidFill>
                    <a:srgbClr val="2F2364"/>
                  </a:solidFill>
                  <a:latin typeface="Consolas" panose="020B0609020204030204" pitchFamily="49" charset="0"/>
                  <a:cs typeface="Consolas" panose="020B0609020204030204" pitchFamily="49" charset="0"/>
                </a:endParaRPr>
              </a:p>
              <a:p>
                <a:pPr>
                  <a:lnSpc>
                    <a:spcPct val="90000"/>
                  </a:lnSpc>
                </a:pPr>
                <a:r>
                  <a:rPr lang="en-US" sz="1700" spc="-50" dirty="0" smtClean="0">
                    <a:solidFill>
                      <a:srgbClr val="23642F"/>
                    </a:solidFill>
                    <a:latin typeface="Consolas" panose="020B0609020204030204" pitchFamily="49" charset="0"/>
                    <a:cs typeface="Consolas" panose="020B0609020204030204" pitchFamily="49" charset="0"/>
                  </a:rPr>
                  <a:t>  </a:t>
                </a:r>
                <a:r>
                  <a:rPr lang="en-US" sz="1700" b="1" spc="-50" dirty="0" smtClean="0">
                    <a:latin typeface="Consolas" panose="020B0609020204030204" pitchFamily="49" charset="0"/>
                    <a:cs typeface="Consolas" panose="020B0609020204030204" pitchFamily="49" charset="0"/>
                  </a:rPr>
                  <a:t>Select</a:t>
                </a:r>
                <a:r>
                  <a:rPr lang="en-US" sz="1700" spc="-50" dirty="0" smtClean="0">
                    <a:latin typeface="Consolas" panose="020B0609020204030204" pitchFamily="49" charset="0"/>
                    <a:cs typeface="Consolas" panose="020B0609020204030204" pitchFamily="49" charset="0"/>
                  </a:rPr>
                  <a:t> </a:t>
                </a:r>
                <a:r>
                  <a:rPr lang="en-US" sz="1700" spc="-50" dirty="0" err="1" smtClean="0">
                    <a:solidFill>
                      <a:srgbClr val="2F2364"/>
                    </a:solidFill>
                    <a:latin typeface="Consolas" panose="020B0609020204030204" pitchFamily="49" charset="0"/>
                    <a:cs typeface="Consolas" panose="020B0609020204030204" pitchFamily="49" charset="0"/>
                  </a:rPr>
                  <a:t>a.procName</a:t>
                </a:r>
                <a:r>
                  <a:rPr lang="en-US" sz="1700" spc="-50" dirty="0" smtClean="0">
                    <a:latin typeface="Consolas" panose="020B0609020204030204" pitchFamily="49" charset="0"/>
                    <a:cs typeface="Consolas" panose="020B0609020204030204" pitchFamily="49" charset="0"/>
                  </a:rPr>
                  <a:t>,</a:t>
                </a:r>
                <a:r>
                  <a:rPr lang="en-US" sz="1700" spc="-50" dirty="0" smtClean="0">
                    <a:solidFill>
                      <a:srgbClr val="23642F"/>
                    </a:solidFill>
                    <a:latin typeface="Consolas" panose="020B0609020204030204" pitchFamily="49" charset="0"/>
                    <a:cs typeface="Consolas" panose="020B0609020204030204" pitchFamily="49" charset="0"/>
                  </a:rPr>
                  <a:t> </a:t>
                </a:r>
                <a:r>
                  <a:rPr lang="en-US" sz="1700" b="1" spc="-50" dirty="0" smtClean="0">
                    <a:latin typeface="Consolas" panose="020B0609020204030204" pitchFamily="49" charset="0"/>
                    <a:cs typeface="Consolas" panose="020B0609020204030204" pitchFamily="49" charset="0"/>
                  </a:rPr>
                  <a:t>SUM(</a:t>
                </a:r>
                <a:r>
                  <a:rPr lang="en-US" sz="1700" spc="-50" dirty="0" err="1" smtClean="0">
                    <a:solidFill>
                      <a:srgbClr val="23642F"/>
                    </a:solidFill>
                    <a:latin typeface="Consolas" panose="020B0609020204030204" pitchFamily="49" charset="0"/>
                    <a:cs typeface="Consolas" panose="020B0609020204030204" pitchFamily="49" charset="0"/>
                  </a:rPr>
                  <a:t>b.delta</a:t>
                </a:r>
                <a:r>
                  <a:rPr lang="en-US" sz="1700" b="1" spc="-50" dirty="0" smtClean="0">
                    <a:latin typeface="Consolas" panose="020B0609020204030204" pitchFamily="49" charset="0"/>
                    <a:cs typeface="Consolas" panose="020B0609020204030204" pitchFamily="49" charset="0"/>
                  </a:rPr>
                  <a:t>)</a:t>
                </a:r>
              </a:p>
            </p:txBody>
          </p:sp>
        </p:grpSp>
        <p:sp>
          <p:nvSpPr>
            <p:cNvPr id="153" name="Rounded Rectangle 152"/>
            <p:cNvSpPr/>
            <p:nvPr/>
          </p:nvSpPr>
          <p:spPr>
            <a:xfrm>
              <a:off x="5793623" y="4596704"/>
              <a:ext cx="2667000" cy="819058"/>
            </a:xfrm>
            <a:prstGeom prst="roundRect">
              <a:avLst>
                <a:gd name="adj" fmla="val 18490"/>
              </a:avLst>
            </a:prstGeom>
            <a:solidFill>
              <a:srgbClr val="E1E1FF"/>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r>
                <a:rPr lang="en-US" sz="1600" b="1" dirty="0" smtClean="0">
                  <a:solidFill>
                    <a:schemeClr val="tx1"/>
                  </a:solidFill>
                  <a:cs typeface="Consolas" panose="020B0609020204030204" pitchFamily="49" charset="0"/>
                </a:rPr>
                <a:t>Advice A1</a:t>
              </a:r>
            </a:p>
            <a:p>
              <a:r>
                <a:rPr lang="en-US" sz="1600" b="1" dirty="0" smtClean="0">
                  <a:solidFill>
                    <a:schemeClr val="tx1"/>
                  </a:solidFill>
                  <a:latin typeface="+mj-lt"/>
                  <a:cs typeface="Consolas" panose="020B0609020204030204" pitchFamily="49" charset="0"/>
                </a:rPr>
                <a:t>OBSERVE</a:t>
              </a:r>
              <a:r>
                <a:rPr lang="en-US" sz="1600" dirty="0">
                  <a:solidFill>
                    <a:schemeClr val="tx1"/>
                  </a:solidFill>
                  <a:latin typeface="Consolas" panose="020B0609020204030204" pitchFamily="49" charset="0"/>
                  <a:cs typeface="Consolas" panose="020B0609020204030204" pitchFamily="49" charset="0"/>
                </a:rPr>
                <a:t>	</a:t>
              </a:r>
              <a:r>
                <a:rPr lang="en-US" sz="1600" dirty="0" err="1" smtClean="0">
                  <a:solidFill>
                    <a:schemeClr val="tx1"/>
                  </a:solidFill>
                  <a:latin typeface="Consolas" panose="020B0609020204030204" pitchFamily="49" charset="0"/>
                  <a:cs typeface="Consolas" panose="020B0609020204030204" pitchFamily="49" charset="0"/>
                </a:rPr>
                <a:t>procName</a:t>
              </a:r>
              <a:endParaRPr lang="en-US" sz="1600" dirty="0" smtClean="0">
                <a:solidFill>
                  <a:schemeClr val="tx1"/>
                </a:solidFill>
                <a:latin typeface="Consolas" panose="020B0609020204030204" pitchFamily="49" charset="0"/>
                <a:cs typeface="Consolas" panose="020B0609020204030204" pitchFamily="49" charset="0"/>
              </a:endParaRPr>
            </a:p>
            <a:p>
              <a:r>
                <a:rPr lang="en-US" sz="1600" b="1" dirty="0" smtClean="0">
                  <a:solidFill>
                    <a:schemeClr val="tx1"/>
                  </a:solidFill>
                  <a:latin typeface="+mj-lt"/>
                  <a:cs typeface="Consolas" panose="020B0609020204030204" pitchFamily="49" charset="0"/>
                </a:rPr>
                <a:t>PACK</a:t>
              </a:r>
              <a:r>
                <a:rPr lang="en-US" sz="1600" dirty="0" smtClean="0">
                  <a:solidFill>
                    <a:schemeClr val="tx1"/>
                  </a:solidFill>
                  <a:latin typeface="Consolas" panose="020B0609020204030204" pitchFamily="49" charset="0"/>
                  <a:cs typeface="Consolas" panose="020B0609020204030204" pitchFamily="49" charset="0"/>
                </a:rPr>
                <a:t>	</a:t>
              </a:r>
              <a:r>
                <a:rPr lang="en-US" sz="1600" dirty="0" err="1" smtClean="0">
                  <a:solidFill>
                    <a:schemeClr val="tx1"/>
                  </a:solidFill>
                  <a:latin typeface="Consolas" panose="020B0609020204030204" pitchFamily="49" charset="0"/>
                  <a:cs typeface="Consolas" panose="020B0609020204030204" pitchFamily="49" charset="0"/>
                </a:rPr>
                <a:t>procName</a:t>
              </a:r>
              <a:endParaRPr lang="en-US" sz="1600" b="1" dirty="0" smtClean="0">
                <a:solidFill>
                  <a:schemeClr val="tx1"/>
                </a:solidFill>
                <a:latin typeface="+mj-lt"/>
                <a:cs typeface="Consolas" panose="020B0609020204030204" pitchFamily="49" charset="0"/>
              </a:endParaRPr>
            </a:p>
          </p:txBody>
        </p:sp>
        <p:sp>
          <p:nvSpPr>
            <p:cNvPr id="154" name="Rounded Rectangle 153"/>
            <p:cNvSpPr/>
            <p:nvPr/>
          </p:nvSpPr>
          <p:spPr>
            <a:xfrm>
              <a:off x="5793623" y="5548419"/>
              <a:ext cx="3201971" cy="1132017"/>
            </a:xfrm>
            <a:prstGeom prst="roundRect">
              <a:avLst>
                <a:gd name="adj" fmla="val 18490"/>
              </a:avLst>
            </a:prstGeom>
            <a:solidFill>
              <a:srgbClr val="E1E1FF"/>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r>
                <a:rPr lang="en-US" sz="1600" b="1" dirty="0" smtClean="0">
                  <a:solidFill>
                    <a:schemeClr val="tx1"/>
                  </a:solidFill>
                  <a:cs typeface="Consolas" panose="020B0609020204030204" pitchFamily="49" charset="0"/>
                </a:rPr>
                <a:t>Advice B1</a:t>
              </a:r>
            </a:p>
            <a:p>
              <a:r>
                <a:rPr lang="en-US" sz="1600" b="1" dirty="0" smtClean="0">
                  <a:solidFill>
                    <a:schemeClr val="tx1"/>
                  </a:solidFill>
                  <a:latin typeface="+mj-lt"/>
                  <a:cs typeface="Consolas" panose="020B0609020204030204" pitchFamily="49" charset="0"/>
                </a:rPr>
                <a:t>OBSERVE</a:t>
              </a:r>
              <a:r>
                <a:rPr lang="en-US" sz="1600" dirty="0">
                  <a:solidFill>
                    <a:schemeClr val="tx1"/>
                  </a:solidFill>
                  <a:latin typeface="Consolas" panose="020B0609020204030204" pitchFamily="49" charset="0"/>
                  <a:cs typeface="Consolas" panose="020B0609020204030204" pitchFamily="49" charset="0"/>
                </a:rPr>
                <a:t>	</a:t>
              </a:r>
              <a:r>
                <a:rPr lang="en-US" sz="1600" dirty="0" smtClean="0">
                  <a:solidFill>
                    <a:schemeClr val="tx1"/>
                  </a:solidFill>
                  <a:latin typeface="Consolas" panose="020B0609020204030204" pitchFamily="49" charset="0"/>
                  <a:cs typeface="Consolas" panose="020B0609020204030204" pitchFamily="49" charset="0"/>
                </a:rPr>
                <a:t>delta</a:t>
              </a:r>
            </a:p>
            <a:p>
              <a:r>
                <a:rPr lang="en-US" sz="1600" b="1" dirty="0" smtClean="0">
                  <a:solidFill>
                    <a:schemeClr val="tx1"/>
                  </a:solidFill>
                  <a:latin typeface="+mj-lt"/>
                  <a:cs typeface="Consolas" panose="020B0609020204030204" pitchFamily="49" charset="0"/>
                </a:rPr>
                <a:t>UNPACK</a:t>
              </a:r>
              <a:r>
                <a:rPr lang="en-US" sz="1600" dirty="0" smtClean="0">
                  <a:solidFill>
                    <a:schemeClr val="tx1"/>
                  </a:solidFill>
                  <a:latin typeface="Consolas" panose="020B0609020204030204" pitchFamily="49" charset="0"/>
                  <a:cs typeface="Consolas" panose="020B0609020204030204" pitchFamily="49" charset="0"/>
                </a:rPr>
                <a:t>	</a:t>
              </a:r>
              <a:r>
                <a:rPr lang="en-US" sz="1600" dirty="0" err="1" smtClean="0">
                  <a:solidFill>
                    <a:schemeClr val="tx1"/>
                  </a:solidFill>
                  <a:latin typeface="Consolas" panose="020B0609020204030204" pitchFamily="49" charset="0"/>
                  <a:cs typeface="Consolas" panose="020B0609020204030204" pitchFamily="49" charset="0"/>
                </a:rPr>
                <a:t>procName</a:t>
              </a:r>
              <a:endParaRPr lang="en-US" sz="1600" dirty="0" smtClean="0">
                <a:solidFill>
                  <a:schemeClr val="tx1"/>
                </a:solidFill>
                <a:latin typeface="Consolas" panose="020B0609020204030204" pitchFamily="49" charset="0"/>
                <a:cs typeface="Consolas" panose="020B0609020204030204" pitchFamily="49" charset="0"/>
              </a:endParaRPr>
            </a:p>
            <a:p>
              <a:r>
                <a:rPr lang="en-US" sz="1600" b="1" dirty="0" smtClean="0">
                  <a:solidFill>
                    <a:schemeClr val="tx1"/>
                  </a:solidFill>
                  <a:latin typeface="+mj-lt"/>
                  <a:cs typeface="Consolas" panose="020B0609020204030204" pitchFamily="49" charset="0"/>
                </a:rPr>
                <a:t>EMIT</a:t>
              </a:r>
              <a:r>
                <a:rPr lang="en-US" sz="1600" dirty="0" smtClean="0">
                  <a:solidFill>
                    <a:schemeClr val="tx1"/>
                  </a:solidFill>
                  <a:latin typeface="Consolas" panose="020B0609020204030204" pitchFamily="49" charset="0"/>
                  <a:cs typeface="Consolas" panose="020B0609020204030204" pitchFamily="49" charset="0"/>
                </a:rPr>
                <a:t> 	</a:t>
              </a:r>
              <a:r>
                <a:rPr lang="en-US" sz="1600" dirty="0" err="1" smtClean="0">
                  <a:solidFill>
                    <a:schemeClr val="tx1"/>
                  </a:solidFill>
                  <a:latin typeface="Consolas" panose="020B0609020204030204" pitchFamily="49" charset="0"/>
                  <a:cs typeface="Consolas" panose="020B0609020204030204" pitchFamily="49" charset="0"/>
                </a:rPr>
                <a:t>procName</a:t>
              </a:r>
              <a:r>
                <a:rPr lang="en-US" sz="1600" b="1" dirty="0" smtClean="0">
                  <a:solidFill>
                    <a:schemeClr val="tx1"/>
                  </a:solidFill>
                  <a:latin typeface="+mj-lt"/>
                  <a:cs typeface="Consolas" panose="020B0609020204030204" pitchFamily="49" charset="0"/>
                </a:rPr>
                <a:t>, SUM(</a:t>
              </a:r>
              <a:r>
                <a:rPr lang="en-US" sz="1600" dirty="0" smtClean="0">
                  <a:solidFill>
                    <a:schemeClr val="tx1"/>
                  </a:solidFill>
                  <a:latin typeface="Consolas" panose="020B0609020204030204" pitchFamily="49" charset="0"/>
                  <a:cs typeface="Consolas" panose="020B0609020204030204" pitchFamily="49" charset="0"/>
                </a:rPr>
                <a:t>delta</a:t>
              </a:r>
              <a:r>
                <a:rPr lang="en-US" sz="1600" b="1" dirty="0" smtClean="0">
                  <a:solidFill>
                    <a:schemeClr val="tx1"/>
                  </a:solidFill>
                  <a:latin typeface="+mj-lt"/>
                  <a:cs typeface="Consolas" panose="020B0609020204030204" pitchFamily="49" charset="0"/>
                </a:rPr>
                <a:t>)</a:t>
              </a:r>
            </a:p>
          </p:txBody>
        </p:sp>
        <p:sp>
          <p:nvSpPr>
            <p:cNvPr id="155" name="Tracepoint 3"/>
            <p:cNvSpPr/>
            <p:nvPr/>
          </p:nvSpPr>
          <p:spPr>
            <a:xfrm>
              <a:off x="8218938" y="4554875"/>
              <a:ext cx="304800" cy="304800"/>
            </a:xfrm>
            <a:prstGeom prst="ellipse">
              <a:avLst/>
            </a:prstGeom>
            <a:solidFill>
              <a:srgbClr val="FFE1E1"/>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A</a:t>
              </a:r>
              <a:endParaRPr lang="en-US" b="1" dirty="0">
                <a:solidFill>
                  <a:schemeClr val="tx1"/>
                </a:solidFill>
              </a:endParaRPr>
            </a:p>
          </p:txBody>
        </p:sp>
        <p:sp>
          <p:nvSpPr>
            <p:cNvPr id="156" name="Tracepoint 3"/>
            <p:cNvSpPr/>
            <p:nvPr/>
          </p:nvSpPr>
          <p:spPr>
            <a:xfrm>
              <a:off x="8753110" y="5500392"/>
              <a:ext cx="304800" cy="304800"/>
            </a:xfrm>
            <a:prstGeom prst="ellipse">
              <a:avLst/>
            </a:prstGeom>
            <a:solidFill>
              <a:srgbClr val="FFE1E1"/>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B</a:t>
              </a:r>
              <a:endParaRPr lang="en-US" b="1" dirty="0">
                <a:solidFill>
                  <a:schemeClr val="tx1"/>
                </a:solidFill>
              </a:endParaRPr>
            </a:p>
          </p:txBody>
        </p:sp>
      </p:grpSp>
      <p:sp>
        <p:nvSpPr>
          <p:cNvPr id="7" name="Slide Number Placeholder 6"/>
          <p:cNvSpPr>
            <a:spLocks noGrp="1"/>
          </p:cNvSpPr>
          <p:nvPr>
            <p:ph type="sldNum" sz="quarter" idx="12"/>
          </p:nvPr>
        </p:nvSpPr>
        <p:spPr/>
        <p:txBody>
          <a:bodyPr/>
          <a:lstStyle/>
          <a:p>
            <a:fld id="{D431E30F-8439-471B-9257-EDD8E85CDBC8}" type="slidenum">
              <a:rPr lang="en-US" smtClean="0"/>
              <a:t>28</a:t>
            </a:fld>
            <a:endParaRPr lang="en-US"/>
          </a:p>
        </p:txBody>
      </p:sp>
    </p:spTree>
    <p:extLst>
      <p:ext uri="{BB962C8B-B14F-4D97-AF65-F5344CB8AC3E}">
        <p14:creationId xmlns:p14="http://schemas.microsoft.com/office/powerpoint/2010/main" val="3729615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2" presetClass="entr" presetSubtype="4" fill="hold" nodeType="withEffect">
                                  <p:stCondLst>
                                    <p:cond delay="0"/>
                                  </p:stCondLst>
                                  <p:childTnLst>
                                    <p:set>
                                      <p:cBhvr>
                                        <p:cTn id="6" dur="1" fill="hold">
                                          <p:stCondLst>
                                            <p:cond delay="0"/>
                                          </p:stCondLst>
                                        </p:cTn>
                                        <p:tgtEl>
                                          <p:spTgt spid="98"/>
                                        </p:tgtEl>
                                        <p:attrNameLst>
                                          <p:attrName>style.visibility</p:attrName>
                                        </p:attrNameLst>
                                      </p:cBhvr>
                                      <p:to>
                                        <p:strVal val="visible"/>
                                      </p:to>
                                    </p:set>
                                    <p:animEffect transition="in" filter="wipe(down)">
                                      <p:cBhvr>
                                        <p:cTn id="7" dur="500"/>
                                        <p:tgtEl>
                                          <p:spTgt spid="98"/>
                                        </p:tgtEl>
                                      </p:cBhvr>
                                    </p:animEffect>
                                  </p:childTnLst>
                                </p:cTn>
                              </p:par>
                              <p:par>
                                <p:cTn id="8" presetID="22" presetClass="entr" presetSubtype="4" fill="hold" nodeType="withEffect">
                                  <p:stCondLst>
                                    <p:cond delay="0"/>
                                  </p:stCondLst>
                                  <p:childTnLst>
                                    <p:set>
                                      <p:cBhvr>
                                        <p:cTn id="9" dur="1" fill="hold">
                                          <p:stCondLst>
                                            <p:cond delay="0"/>
                                          </p:stCondLst>
                                        </p:cTn>
                                        <p:tgtEl>
                                          <p:spTgt spid="95"/>
                                        </p:tgtEl>
                                        <p:attrNameLst>
                                          <p:attrName>style.visibility</p:attrName>
                                        </p:attrNameLst>
                                      </p:cBhvr>
                                      <p:to>
                                        <p:strVal val="visible"/>
                                      </p:to>
                                    </p:set>
                                    <p:animEffect transition="in" filter="wipe(down)">
                                      <p:cBhvr>
                                        <p:cTn id="10" dur="500"/>
                                        <p:tgtEl>
                                          <p:spTgt spid="95"/>
                                        </p:tgtEl>
                                      </p:cBhvr>
                                    </p:animEffect>
                                  </p:childTnLst>
                                </p:cTn>
                              </p:par>
                            </p:childTnLst>
                          </p:cTn>
                        </p:par>
                        <p:par>
                          <p:cTn id="11" fill="hold">
                            <p:stCondLst>
                              <p:cond delay="1000"/>
                            </p:stCondLst>
                            <p:childTnLst>
                              <p:par>
                                <p:cTn id="12" presetID="10" presetClass="entr" presetSubtype="0" fill="hold" nodeType="afterEffect">
                                  <p:stCondLst>
                                    <p:cond delay="0"/>
                                  </p:stCondLst>
                                  <p:childTnLst>
                                    <p:set>
                                      <p:cBhvr>
                                        <p:cTn id="13" dur="1" fill="hold">
                                          <p:stCondLst>
                                            <p:cond delay="0"/>
                                          </p:stCondLst>
                                        </p:cTn>
                                        <p:tgtEl>
                                          <p:spTgt spid="116"/>
                                        </p:tgtEl>
                                        <p:attrNameLst>
                                          <p:attrName>style.visibility</p:attrName>
                                        </p:attrNameLst>
                                      </p:cBhvr>
                                      <p:to>
                                        <p:strVal val="visible"/>
                                      </p:to>
                                    </p:set>
                                    <p:animEffect transition="in" filter="fade">
                                      <p:cBhvr>
                                        <p:cTn id="14" dur="500"/>
                                        <p:tgtEl>
                                          <p:spTgt spid="116"/>
                                        </p:tgtEl>
                                      </p:cBhvr>
                                    </p:animEffect>
                                  </p:childTnLst>
                                </p:cTn>
                              </p:par>
                              <p:par>
                                <p:cTn id="15" presetID="10" presetClass="entr" presetSubtype="0" fill="hold" nodeType="withEffect">
                                  <p:stCondLst>
                                    <p:cond delay="0"/>
                                  </p:stCondLst>
                                  <p:childTnLst>
                                    <p:set>
                                      <p:cBhvr>
                                        <p:cTn id="16" dur="1" fill="hold">
                                          <p:stCondLst>
                                            <p:cond delay="0"/>
                                          </p:stCondLst>
                                        </p:cTn>
                                        <p:tgtEl>
                                          <p:spTgt spid="119"/>
                                        </p:tgtEl>
                                        <p:attrNameLst>
                                          <p:attrName>style.visibility</p:attrName>
                                        </p:attrNameLst>
                                      </p:cBhvr>
                                      <p:to>
                                        <p:strVal val="visible"/>
                                      </p:to>
                                    </p:set>
                                    <p:animEffect transition="in" filter="fade">
                                      <p:cBhvr>
                                        <p:cTn id="17" dur="500"/>
                                        <p:tgtEl>
                                          <p:spTgt spid="119"/>
                                        </p:tgtEl>
                                      </p:cBhvr>
                                    </p:animEffect>
                                  </p:childTnLst>
                                </p:cTn>
                              </p:par>
                            </p:childTnLst>
                          </p:cTn>
                        </p:par>
                        <p:par>
                          <p:cTn id="18" fill="hold">
                            <p:stCondLst>
                              <p:cond delay="1500"/>
                            </p:stCondLst>
                            <p:childTnLst>
                              <p:par>
                                <p:cTn id="19" presetID="0" presetClass="path" presetSubtype="0" fill="hold" nodeType="afterEffect">
                                  <p:stCondLst>
                                    <p:cond delay="500"/>
                                  </p:stCondLst>
                                  <p:childTnLst>
                                    <p:animMotion origin="layout" path="M 0.00069 -0.0007 L -0.04965 0.00254 C -0.14427 0.00162 -0.16736 -0.03287 -0.17014 -0.14213 L -0.17014 -0.16875 " pathEditMode="relative" rAng="0" ptsTypes="AAAA">
                                      <p:cBhvr>
                                        <p:cTn id="20" dur="1500" fill="hold"/>
                                        <p:tgtEl>
                                          <p:spTgt spid="116"/>
                                        </p:tgtEl>
                                        <p:attrNameLst>
                                          <p:attrName>ppt_x</p:attrName>
                                          <p:attrName>ppt_y</p:attrName>
                                        </p:attrNameLst>
                                      </p:cBhvr>
                                      <p:rCtr x="-8542" y="-8241"/>
                                    </p:animMotion>
                                  </p:childTnLst>
                                </p:cTn>
                              </p:par>
                              <p:par>
                                <p:cTn id="21" presetID="0" presetClass="path" presetSubtype="0" fill="hold" nodeType="withEffect">
                                  <p:stCondLst>
                                    <p:cond delay="500"/>
                                  </p:stCondLst>
                                  <p:childTnLst>
                                    <p:animMotion origin="layout" path="M 3.33333E-6 -3.7037E-6 L 0.05486 -3.7037E-6 C 0.10139 -0.00208 0.14583 -0.00301 0.14791 -0.09791 L 0.14791 -0.12361 " pathEditMode="relative" rAng="0" ptsTypes="AAAA">
                                      <p:cBhvr>
                                        <p:cTn id="22" dur="1500" fill="hold"/>
                                        <p:tgtEl>
                                          <p:spTgt spid="119"/>
                                        </p:tgtEl>
                                        <p:attrNameLst>
                                          <p:attrName>ppt_x</p:attrName>
                                          <p:attrName>ppt_y</p:attrName>
                                        </p:attrNameLst>
                                      </p:cBhvr>
                                      <p:rCtr x="7396" y="-6181"/>
                                    </p:animMotion>
                                  </p:childTnLst>
                                </p:cTn>
                              </p:par>
                            </p:childTnLst>
                          </p:cTn>
                        </p:par>
                        <p:par>
                          <p:cTn id="23" fill="hold">
                            <p:stCondLst>
                              <p:cond delay="3500"/>
                            </p:stCondLst>
                            <p:childTnLst>
                              <p:par>
                                <p:cTn id="24" presetID="1" presetClass="exit" presetSubtype="0" fill="hold" nodeType="afterEffect">
                                  <p:stCondLst>
                                    <p:cond delay="0"/>
                                  </p:stCondLst>
                                  <p:childTnLst>
                                    <p:set>
                                      <p:cBhvr>
                                        <p:cTn id="25" dur="1" fill="hold">
                                          <p:stCondLst>
                                            <p:cond delay="0"/>
                                          </p:stCondLst>
                                        </p:cTn>
                                        <p:tgtEl>
                                          <p:spTgt spid="116"/>
                                        </p:tgtEl>
                                        <p:attrNameLst>
                                          <p:attrName>style.visibility</p:attrName>
                                        </p:attrNameLst>
                                      </p:cBhvr>
                                      <p:to>
                                        <p:strVal val="hidden"/>
                                      </p:to>
                                    </p:set>
                                  </p:childTnLst>
                                </p:cTn>
                              </p:par>
                            </p:childTnLst>
                          </p:cTn>
                        </p:par>
                        <p:par>
                          <p:cTn id="26" fill="hold">
                            <p:stCondLst>
                              <p:cond delay="3500"/>
                            </p:stCondLst>
                            <p:childTnLst>
                              <p:par>
                                <p:cTn id="27" presetID="1" presetClass="exit" presetSubtype="0" fill="hold" nodeType="afterEffect">
                                  <p:stCondLst>
                                    <p:cond delay="0"/>
                                  </p:stCondLst>
                                  <p:childTnLst>
                                    <p:set>
                                      <p:cBhvr>
                                        <p:cTn id="28" dur="1" fill="hold">
                                          <p:stCondLst>
                                            <p:cond delay="0"/>
                                          </p:stCondLst>
                                        </p:cTn>
                                        <p:tgtEl>
                                          <p:spTgt spid="119"/>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10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9"/>
                                        </p:tgtEl>
                                        <p:attrNameLst>
                                          <p:attrName>style.visibility</p:attrName>
                                        </p:attrNameLst>
                                      </p:cBhvr>
                                      <p:to>
                                        <p:strVal val="visible"/>
                                      </p:to>
                                    </p:set>
                                  </p:childTnLst>
                                </p:cTn>
                              </p:par>
                            </p:childTnLst>
                          </p:cTn>
                        </p:par>
                        <p:par>
                          <p:cTn id="33" fill="hold">
                            <p:stCondLst>
                              <p:cond delay="3500"/>
                            </p:stCondLst>
                            <p:childTnLst>
                              <p:par>
                                <p:cTn id="34" presetID="10" presetClass="entr" presetSubtype="0" fill="hold" nodeType="after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fade">
                                      <p:cBhvr>
                                        <p:cTn id="36" dur="500"/>
                                        <p:tgtEl>
                                          <p:spTgt spid="4"/>
                                        </p:tgtEl>
                                      </p:cBhvr>
                                    </p:animEffect>
                                  </p:childTnLst>
                                </p:cTn>
                              </p:par>
                            </p:childTnLst>
                          </p:cTn>
                        </p:par>
                        <p:par>
                          <p:cTn id="37" fill="hold">
                            <p:stCondLst>
                              <p:cond delay="4000"/>
                            </p:stCondLst>
                            <p:childTnLst>
                              <p:par>
                                <p:cTn id="38" presetID="10" presetClass="entr" presetSubtype="0" fill="hold" grpId="0" nodeType="afterEffect">
                                  <p:stCondLst>
                                    <p:cond delay="0"/>
                                  </p:stCondLst>
                                  <p:childTnLst>
                                    <p:set>
                                      <p:cBhvr>
                                        <p:cTn id="39" dur="1" fill="hold">
                                          <p:stCondLst>
                                            <p:cond delay="0"/>
                                          </p:stCondLst>
                                        </p:cTn>
                                        <p:tgtEl>
                                          <p:spTgt spid="85"/>
                                        </p:tgtEl>
                                        <p:attrNameLst>
                                          <p:attrName>style.visibility</p:attrName>
                                        </p:attrNameLst>
                                      </p:cBhvr>
                                      <p:to>
                                        <p:strVal val="visible"/>
                                      </p:to>
                                    </p:set>
                                    <p:animEffect transition="in" filter="fade">
                                      <p:cBhvr>
                                        <p:cTn id="40" dur="500"/>
                                        <p:tgtEl>
                                          <p:spTgt spid="85"/>
                                        </p:tgtEl>
                                      </p:cBhvr>
                                    </p:animEffect>
                                  </p:childTnLst>
                                </p:cTn>
                              </p:par>
                            </p:childTnLst>
                          </p:cTn>
                        </p:par>
                        <p:par>
                          <p:cTn id="41" fill="hold">
                            <p:stCondLst>
                              <p:cond delay="4500"/>
                            </p:stCondLst>
                            <p:childTnLst>
                              <p:par>
                                <p:cTn id="42" presetID="0" presetClass="path" presetSubtype="0" fill="hold" nodeType="afterEffect">
                                  <p:stCondLst>
                                    <p:cond delay="0"/>
                                  </p:stCondLst>
                                  <p:childTnLst>
                                    <p:animMotion origin="layout" path="M -0.00208 0.00509 L 0.04271 -0.08797 " pathEditMode="relative" rAng="0" ptsTypes="AA">
                                      <p:cBhvr>
                                        <p:cTn id="43" dur="500" fill="hold"/>
                                        <p:tgtEl>
                                          <p:spTgt spid="106"/>
                                        </p:tgtEl>
                                        <p:attrNameLst>
                                          <p:attrName>ppt_x</p:attrName>
                                          <p:attrName>ppt_y</p:attrName>
                                        </p:attrNameLst>
                                      </p:cBhvr>
                                      <p:rCtr x="2240" y="-4653"/>
                                    </p:animMotion>
                                  </p:childTnLst>
                                </p:cTn>
                              </p:par>
                              <p:par>
                                <p:cTn id="44" presetID="0" presetClass="path" presetSubtype="0" fill="hold" nodeType="withEffect">
                                  <p:stCondLst>
                                    <p:cond delay="0"/>
                                  </p:stCondLst>
                                  <p:childTnLst>
                                    <p:animMotion origin="layout" path="M -0.00104 0.00185 L 0.12188 -0.05092 " pathEditMode="relative" rAng="0" ptsTypes="AA">
                                      <p:cBhvr>
                                        <p:cTn id="45" dur="500" fill="hold"/>
                                        <p:tgtEl>
                                          <p:spTgt spid="109"/>
                                        </p:tgtEl>
                                        <p:attrNameLst>
                                          <p:attrName>ppt_x</p:attrName>
                                          <p:attrName>ppt_y</p:attrName>
                                        </p:attrNameLst>
                                      </p:cBhvr>
                                      <p:rCtr x="6146" y="-2639"/>
                                    </p:animMotion>
                                  </p:childTnLst>
                                </p:cTn>
                              </p:par>
                            </p:childTnLst>
                          </p:cTn>
                        </p:par>
                        <p:par>
                          <p:cTn id="46" fill="hold">
                            <p:stCondLst>
                              <p:cond delay="5000"/>
                            </p:stCondLst>
                            <p:childTnLst>
                              <p:par>
                                <p:cTn id="47" presetID="1" presetClass="exit" presetSubtype="0" fill="hold" nodeType="afterEffect">
                                  <p:stCondLst>
                                    <p:cond delay="0"/>
                                  </p:stCondLst>
                                  <p:childTnLst>
                                    <p:set>
                                      <p:cBhvr>
                                        <p:cTn id="48" dur="1" fill="hold">
                                          <p:stCondLst>
                                            <p:cond delay="0"/>
                                          </p:stCondLst>
                                        </p:cTn>
                                        <p:tgtEl>
                                          <p:spTgt spid="6"/>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0" presetClass="exit" presetSubtype="0" fill="hold" nodeType="clickEffect">
                                  <p:stCondLst>
                                    <p:cond delay="0"/>
                                  </p:stCondLst>
                                  <p:childTnLst>
                                    <p:animEffect transition="out" filter="fade">
                                      <p:cBhvr>
                                        <p:cTn id="52" dur="500"/>
                                        <p:tgtEl>
                                          <p:spTgt spid="4"/>
                                        </p:tgtEl>
                                      </p:cBhvr>
                                    </p:animEffect>
                                    <p:set>
                                      <p:cBhvr>
                                        <p:cTn id="53" dur="1" fill="hold">
                                          <p:stCondLst>
                                            <p:cond delay="499"/>
                                          </p:stCondLst>
                                        </p:cTn>
                                        <p:tgtEl>
                                          <p:spTgt spid="4"/>
                                        </p:tgtEl>
                                        <p:attrNameLst>
                                          <p:attrName>style.visibility</p:attrName>
                                        </p:attrNameLst>
                                      </p:cBhvr>
                                      <p:to>
                                        <p:strVal val="hidden"/>
                                      </p:to>
                                    </p:set>
                                  </p:childTnLst>
                                </p:cTn>
                              </p:par>
                              <p:par>
                                <p:cTn id="54" presetID="10" presetClass="exit" presetSubtype="0" fill="hold" grpId="1" nodeType="withEffect">
                                  <p:stCondLst>
                                    <p:cond delay="0"/>
                                  </p:stCondLst>
                                  <p:childTnLst>
                                    <p:animEffect transition="out" filter="fade">
                                      <p:cBhvr>
                                        <p:cTn id="55" dur="500"/>
                                        <p:tgtEl>
                                          <p:spTgt spid="85"/>
                                        </p:tgtEl>
                                      </p:cBhvr>
                                    </p:animEffect>
                                    <p:set>
                                      <p:cBhvr>
                                        <p:cTn id="56" dur="1" fill="hold">
                                          <p:stCondLst>
                                            <p:cond delay="499"/>
                                          </p:stCondLst>
                                        </p:cTn>
                                        <p:tgtEl>
                                          <p:spTgt spid="8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p:bldP spid="85" grpId="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2" name="Group 131"/>
          <p:cNvGrpSpPr/>
          <p:nvPr/>
        </p:nvGrpSpPr>
        <p:grpSpPr>
          <a:xfrm>
            <a:off x="5048250" y="2930097"/>
            <a:ext cx="4095750" cy="3750339"/>
            <a:chOff x="5048250" y="2930097"/>
            <a:chExt cx="4095750" cy="3750339"/>
          </a:xfrm>
        </p:grpSpPr>
        <p:grpSp>
          <p:nvGrpSpPr>
            <p:cNvPr id="133" name="Group 132"/>
            <p:cNvGrpSpPr/>
            <p:nvPr/>
          </p:nvGrpSpPr>
          <p:grpSpPr>
            <a:xfrm>
              <a:off x="5048250" y="2930097"/>
              <a:ext cx="4095750" cy="1174562"/>
              <a:chOff x="5048250" y="2834847"/>
              <a:chExt cx="4095750" cy="1174562"/>
            </a:xfrm>
          </p:grpSpPr>
          <p:sp>
            <p:nvSpPr>
              <p:cNvPr id="141" name="Rounded Rectangular Callout 233"/>
              <p:cNvSpPr/>
              <p:nvPr/>
            </p:nvSpPr>
            <p:spPr>
              <a:xfrm flipH="1">
                <a:off x="5048250" y="2834847"/>
                <a:ext cx="4095750" cy="1174562"/>
              </a:xfrm>
              <a:custGeom>
                <a:avLst/>
                <a:gdLst>
                  <a:gd name="connsiteX0" fmla="*/ 0 w 3939907"/>
                  <a:gd name="connsiteY0" fmla="*/ 195764 h 1174562"/>
                  <a:gd name="connsiteX1" fmla="*/ 195764 w 3939907"/>
                  <a:gd name="connsiteY1" fmla="*/ 0 h 1174562"/>
                  <a:gd name="connsiteX2" fmla="*/ 2298279 w 3939907"/>
                  <a:gd name="connsiteY2" fmla="*/ 0 h 1174562"/>
                  <a:gd name="connsiteX3" fmla="*/ 3351718 w 3939907"/>
                  <a:gd name="connsiteY3" fmla="*/ -297517 h 1174562"/>
                  <a:gd name="connsiteX4" fmla="*/ 3283256 w 3939907"/>
                  <a:gd name="connsiteY4" fmla="*/ 0 h 1174562"/>
                  <a:gd name="connsiteX5" fmla="*/ 3744143 w 3939907"/>
                  <a:gd name="connsiteY5" fmla="*/ 0 h 1174562"/>
                  <a:gd name="connsiteX6" fmla="*/ 3939907 w 3939907"/>
                  <a:gd name="connsiteY6" fmla="*/ 195764 h 1174562"/>
                  <a:gd name="connsiteX7" fmla="*/ 3939907 w 3939907"/>
                  <a:gd name="connsiteY7" fmla="*/ 195760 h 1174562"/>
                  <a:gd name="connsiteX8" fmla="*/ 3939907 w 3939907"/>
                  <a:gd name="connsiteY8" fmla="*/ 195760 h 1174562"/>
                  <a:gd name="connsiteX9" fmla="*/ 3939907 w 3939907"/>
                  <a:gd name="connsiteY9" fmla="*/ 489401 h 1174562"/>
                  <a:gd name="connsiteX10" fmla="*/ 3939907 w 3939907"/>
                  <a:gd name="connsiteY10" fmla="*/ 978798 h 1174562"/>
                  <a:gd name="connsiteX11" fmla="*/ 3744143 w 3939907"/>
                  <a:gd name="connsiteY11" fmla="*/ 1174562 h 1174562"/>
                  <a:gd name="connsiteX12" fmla="*/ 3283256 w 3939907"/>
                  <a:gd name="connsiteY12" fmla="*/ 1174562 h 1174562"/>
                  <a:gd name="connsiteX13" fmla="*/ 2298279 w 3939907"/>
                  <a:gd name="connsiteY13" fmla="*/ 1174562 h 1174562"/>
                  <a:gd name="connsiteX14" fmla="*/ 2298279 w 3939907"/>
                  <a:gd name="connsiteY14" fmla="*/ 1174562 h 1174562"/>
                  <a:gd name="connsiteX15" fmla="*/ 195764 w 3939907"/>
                  <a:gd name="connsiteY15" fmla="*/ 1174562 h 1174562"/>
                  <a:gd name="connsiteX16" fmla="*/ 0 w 3939907"/>
                  <a:gd name="connsiteY16" fmla="*/ 978798 h 1174562"/>
                  <a:gd name="connsiteX17" fmla="*/ 0 w 3939907"/>
                  <a:gd name="connsiteY17" fmla="*/ 489401 h 1174562"/>
                  <a:gd name="connsiteX18" fmla="*/ 0 w 3939907"/>
                  <a:gd name="connsiteY18" fmla="*/ 195760 h 1174562"/>
                  <a:gd name="connsiteX19" fmla="*/ 0 w 3939907"/>
                  <a:gd name="connsiteY19" fmla="*/ 195760 h 1174562"/>
                  <a:gd name="connsiteX20" fmla="*/ 0 w 3939907"/>
                  <a:gd name="connsiteY20" fmla="*/ 195764 h 1174562"/>
                  <a:gd name="connsiteX0" fmla="*/ 0 w 3939907"/>
                  <a:gd name="connsiteY0" fmla="*/ 493281 h 1472079"/>
                  <a:gd name="connsiteX1" fmla="*/ 195764 w 3939907"/>
                  <a:gd name="connsiteY1" fmla="*/ 297517 h 1472079"/>
                  <a:gd name="connsiteX2" fmla="*/ 2298279 w 3939907"/>
                  <a:gd name="connsiteY2" fmla="*/ 297517 h 1472079"/>
                  <a:gd name="connsiteX3" fmla="*/ 3351718 w 3939907"/>
                  <a:gd name="connsiteY3" fmla="*/ 0 h 1472079"/>
                  <a:gd name="connsiteX4" fmla="*/ 3519231 w 3939907"/>
                  <a:gd name="connsiteY4" fmla="*/ 297517 h 1472079"/>
                  <a:gd name="connsiteX5" fmla="*/ 3744143 w 3939907"/>
                  <a:gd name="connsiteY5" fmla="*/ 297517 h 1472079"/>
                  <a:gd name="connsiteX6" fmla="*/ 3939907 w 3939907"/>
                  <a:gd name="connsiteY6" fmla="*/ 493281 h 1472079"/>
                  <a:gd name="connsiteX7" fmla="*/ 3939907 w 3939907"/>
                  <a:gd name="connsiteY7" fmla="*/ 493277 h 1472079"/>
                  <a:gd name="connsiteX8" fmla="*/ 3939907 w 3939907"/>
                  <a:gd name="connsiteY8" fmla="*/ 493277 h 1472079"/>
                  <a:gd name="connsiteX9" fmla="*/ 3939907 w 3939907"/>
                  <a:gd name="connsiteY9" fmla="*/ 786918 h 1472079"/>
                  <a:gd name="connsiteX10" fmla="*/ 3939907 w 3939907"/>
                  <a:gd name="connsiteY10" fmla="*/ 1276315 h 1472079"/>
                  <a:gd name="connsiteX11" fmla="*/ 3744143 w 3939907"/>
                  <a:gd name="connsiteY11" fmla="*/ 1472079 h 1472079"/>
                  <a:gd name="connsiteX12" fmla="*/ 3283256 w 3939907"/>
                  <a:gd name="connsiteY12" fmla="*/ 1472079 h 1472079"/>
                  <a:gd name="connsiteX13" fmla="*/ 2298279 w 3939907"/>
                  <a:gd name="connsiteY13" fmla="*/ 1472079 h 1472079"/>
                  <a:gd name="connsiteX14" fmla="*/ 2298279 w 3939907"/>
                  <a:gd name="connsiteY14" fmla="*/ 1472079 h 1472079"/>
                  <a:gd name="connsiteX15" fmla="*/ 195764 w 3939907"/>
                  <a:gd name="connsiteY15" fmla="*/ 1472079 h 1472079"/>
                  <a:gd name="connsiteX16" fmla="*/ 0 w 3939907"/>
                  <a:gd name="connsiteY16" fmla="*/ 1276315 h 1472079"/>
                  <a:gd name="connsiteX17" fmla="*/ 0 w 3939907"/>
                  <a:gd name="connsiteY17" fmla="*/ 786918 h 1472079"/>
                  <a:gd name="connsiteX18" fmla="*/ 0 w 3939907"/>
                  <a:gd name="connsiteY18" fmla="*/ 493277 h 1472079"/>
                  <a:gd name="connsiteX19" fmla="*/ 0 w 3939907"/>
                  <a:gd name="connsiteY19" fmla="*/ 493277 h 1472079"/>
                  <a:gd name="connsiteX20" fmla="*/ 0 w 3939907"/>
                  <a:gd name="connsiteY20" fmla="*/ 493281 h 1472079"/>
                  <a:gd name="connsiteX0" fmla="*/ 0 w 3939907"/>
                  <a:gd name="connsiteY0" fmla="*/ 493281 h 1472079"/>
                  <a:gd name="connsiteX1" fmla="*/ 195764 w 3939907"/>
                  <a:gd name="connsiteY1" fmla="*/ 297517 h 1472079"/>
                  <a:gd name="connsiteX2" fmla="*/ 3232343 w 3939907"/>
                  <a:gd name="connsiteY2" fmla="*/ 287685 h 1472079"/>
                  <a:gd name="connsiteX3" fmla="*/ 3351718 w 3939907"/>
                  <a:gd name="connsiteY3" fmla="*/ 0 h 1472079"/>
                  <a:gd name="connsiteX4" fmla="*/ 3519231 w 3939907"/>
                  <a:gd name="connsiteY4" fmla="*/ 297517 h 1472079"/>
                  <a:gd name="connsiteX5" fmla="*/ 3744143 w 3939907"/>
                  <a:gd name="connsiteY5" fmla="*/ 297517 h 1472079"/>
                  <a:gd name="connsiteX6" fmla="*/ 3939907 w 3939907"/>
                  <a:gd name="connsiteY6" fmla="*/ 493281 h 1472079"/>
                  <a:gd name="connsiteX7" fmla="*/ 3939907 w 3939907"/>
                  <a:gd name="connsiteY7" fmla="*/ 493277 h 1472079"/>
                  <a:gd name="connsiteX8" fmla="*/ 3939907 w 3939907"/>
                  <a:gd name="connsiteY8" fmla="*/ 493277 h 1472079"/>
                  <a:gd name="connsiteX9" fmla="*/ 3939907 w 3939907"/>
                  <a:gd name="connsiteY9" fmla="*/ 786918 h 1472079"/>
                  <a:gd name="connsiteX10" fmla="*/ 3939907 w 3939907"/>
                  <a:gd name="connsiteY10" fmla="*/ 1276315 h 1472079"/>
                  <a:gd name="connsiteX11" fmla="*/ 3744143 w 3939907"/>
                  <a:gd name="connsiteY11" fmla="*/ 1472079 h 1472079"/>
                  <a:gd name="connsiteX12" fmla="*/ 3283256 w 3939907"/>
                  <a:gd name="connsiteY12" fmla="*/ 1472079 h 1472079"/>
                  <a:gd name="connsiteX13" fmla="*/ 2298279 w 3939907"/>
                  <a:gd name="connsiteY13" fmla="*/ 1472079 h 1472079"/>
                  <a:gd name="connsiteX14" fmla="*/ 2298279 w 3939907"/>
                  <a:gd name="connsiteY14" fmla="*/ 1472079 h 1472079"/>
                  <a:gd name="connsiteX15" fmla="*/ 195764 w 3939907"/>
                  <a:gd name="connsiteY15" fmla="*/ 1472079 h 1472079"/>
                  <a:gd name="connsiteX16" fmla="*/ 0 w 3939907"/>
                  <a:gd name="connsiteY16" fmla="*/ 1276315 h 1472079"/>
                  <a:gd name="connsiteX17" fmla="*/ 0 w 3939907"/>
                  <a:gd name="connsiteY17" fmla="*/ 786918 h 1472079"/>
                  <a:gd name="connsiteX18" fmla="*/ 0 w 3939907"/>
                  <a:gd name="connsiteY18" fmla="*/ 493277 h 1472079"/>
                  <a:gd name="connsiteX19" fmla="*/ 0 w 3939907"/>
                  <a:gd name="connsiteY19" fmla="*/ 493277 h 1472079"/>
                  <a:gd name="connsiteX20" fmla="*/ 0 w 3939907"/>
                  <a:gd name="connsiteY20" fmla="*/ 493281 h 1472079"/>
                  <a:gd name="connsiteX0" fmla="*/ 0 w 3939907"/>
                  <a:gd name="connsiteY0" fmla="*/ 493281 h 1472079"/>
                  <a:gd name="connsiteX1" fmla="*/ 195764 w 3939907"/>
                  <a:gd name="connsiteY1" fmla="*/ 297517 h 1472079"/>
                  <a:gd name="connsiteX2" fmla="*/ 3232343 w 3939907"/>
                  <a:gd name="connsiteY2" fmla="*/ 287685 h 1472079"/>
                  <a:gd name="connsiteX3" fmla="*/ 3351718 w 3939907"/>
                  <a:gd name="connsiteY3" fmla="*/ 0 h 1472079"/>
                  <a:gd name="connsiteX4" fmla="*/ 3519231 w 3939907"/>
                  <a:gd name="connsiteY4" fmla="*/ 297517 h 1472079"/>
                  <a:gd name="connsiteX5" fmla="*/ 3744143 w 3939907"/>
                  <a:gd name="connsiteY5" fmla="*/ 297517 h 1472079"/>
                  <a:gd name="connsiteX6" fmla="*/ 3939907 w 3939907"/>
                  <a:gd name="connsiteY6" fmla="*/ 493281 h 1472079"/>
                  <a:gd name="connsiteX7" fmla="*/ 3939907 w 3939907"/>
                  <a:gd name="connsiteY7" fmla="*/ 493277 h 1472079"/>
                  <a:gd name="connsiteX8" fmla="*/ 3939907 w 3939907"/>
                  <a:gd name="connsiteY8" fmla="*/ 493277 h 1472079"/>
                  <a:gd name="connsiteX9" fmla="*/ 3939907 w 3939907"/>
                  <a:gd name="connsiteY9" fmla="*/ 786918 h 1472079"/>
                  <a:gd name="connsiteX10" fmla="*/ 3939907 w 3939907"/>
                  <a:gd name="connsiteY10" fmla="*/ 1276315 h 1472079"/>
                  <a:gd name="connsiteX11" fmla="*/ 3744143 w 3939907"/>
                  <a:gd name="connsiteY11" fmla="*/ 1472079 h 1472079"/>
                  <a:gd name="connsiteX12" fmla="*/ 3283256 w 3939907"/>
                  <a:gd name="connsiteY12" fmla="*/ 1472079 h 1472079"/>
                  <a:gd name="connsiteX13" fmla="*/ 2298279 w 3939907"/>
                  <a:gd name="connsiteY13" fmla="*/ 1472079 h 1472079"/>
                  <a:gd name="connsiteX14" fmla="*/ 2298279 w 3939907"/>
                  <a:gd name="connsiteY14" fmla="*/ 1472079 h 1472079"/>
                  <a:gd name="connsiteX15" fmla="*/ 195764 w 3939907"/>
                  <a:gd name="connsiteY15" fmla="*/ 1472079 h 1472079"/>
                  <a:gd name="connsiteX16" fmla="*/ 0 w 3939907"/>
                  <a:gd name="connsiteY16" fmla="*/ 1276315 h 1472079"/>
                  <a:gd name="connsiteX17" fmla="*/ 0 w 3939907"/>
                  <a:gd name="connsiteY17" fmla="*/ 786918 h 1472079"/>
                  <a:gd name="connsiteX18" fmla="*/ 0 w 3939907"/>
                  <a:gd name="connsiteY18" fmla="*/ 493277 h 1472079"/>
                  <a:gd name="connsiteX19" fmla="*/ 0 w 3939907"/>
                  <a:gd name="connsiteY19" fmla="*/ 493277 h 1472079"/>
                  <a:gd name="connsiteX20" fmla="*/ 0 w 3939907"/>
                  <a:gd name="connsiteY20" fmla="*/ 493281 h 1472079"/>
                  <a:gd name="connsiteX0" fmla="*/ 0 w 3939907"/>
                  <a:gd name="connsiteY0" fmla="*/ 493281 h 1472079"/>
                  <a:gd name="connsiteX1" fmla="*/ 195764 w 3939907"/>
                  <a:gd name="connsiteY1" fmla="*/ 297517 h 1472079"/>
                  <a:gd name="connsiteX2" fmla="*/ 3232343 w 3939907"/>
                  <a:gd name="connsiteY2" fmla="*/ 287685 h 1472079"/>
                  <a:gd name="connsiteX3" fmla="*/ 3351718 w 3939907"/>
                  <a:gd name="connsiteY3" fmla="*/ 0 h 1472079"/>
                  <a:gd name="connsiteX4" fmla="*/ 3519231 w 3939907"/>
                  <a:gd name="connsiteY4" fmla="*/ 297517 h 1472079"/>
                  <a:gd name="connsiteX5" fmla="*/ 3744143 w 3939907"/>
                  <a:gd name="connsiteY5" fmla="*/ 297517 h 1472079"/>
                  <a:gd name="connsiteX6" fmla="*/ 3939907 w 3939907"/>
                  <a:gd name="connsiteY6" fmla="*/ 493281 h 1472079"/>
                  <a:gd name="connsiteX7" fmla="*/ 3939907 w 3939907"/>
                  <a:gd name="connsiteY7" fmla="*/ 493277 h 1472079"/>
                  <a:gd name="connsiteX8" fmla="*/ 3939907 w 3939907"/>
                  <a:gd name="connsiteY8" fmla="*/ 493277 h 1472079"/>
                  <a:gd name="connsiteX9" fmla="*/ 3939907 w 3939907"/>
                  <a:gd name="connsiteY9" fmla="*/ 786918 h 1472079"/>
                  <a:gd name="connsiteX10" fmla="*/ 3939907 w 3939907"/>
                  <a:gd name="connsiteY10" fmla="*/ 1276315 h 1472079"/>
                  <a:gd name="connsiteX11" fmla="*/ 3744143 w 3939907"/>
                  <a:gd name="connsiteY11" fmla="*/ 1472079 h 1472079"/>
                  <a:gd name="connsiteX12" fmla="*/ 3283256 w 3939907"/>
                  <a:gd name="connsiteY12" fmla="*/ 1472079 h 1472079"/>
                  <a:gd name="connsiteX13" fmla="*/ 2298279 w 3939907"/>
                  <a:gd name="connsiteY13" fmla="*/ 1472079 h 1472079"/>
                  <a:gd name="connsiteX14" fmla="*/ 2298279 w 3939907"/>
                  <a:gd name="connsiteY14" fmla="*/ 1472079 h 1472079"/>
                  <a:gd name="connsiteX15" fmla="*/ 195764 w 3939907"/>
                  <a:gd name="connsiteY15" fmla="*/ 1472079 h 1472079"/>
                  <a:gd name="connsiteX16" fmla="*/ 0 w 3939907"/>
                  <a:gd name="connsiteY16" fmla="*/ 1276315 h 1472079"/>
                  <a:gd name="connsiteX17" fmla="*/ 0 w 3939907"/>
                  <a:gd name="connsiteY17" fmla="*/ 786918 h 1472079"/>
                  <a:gd name="connsiteX18" fmla="*/ 0 w 3939907"/>
                  <a:gd name="connsiteY18" fmla="*/ 493277 h 1472079"/>
                  <a:gd name="connsiteX19" fmla="*/ 0 w 3939907"/>
                  <a:gd name="connsiteY19" fmla="*/ 493277 h 1472079"/>
                  <a:gd name="connsiteX20" fmla="*/ 0 w 3939907"/>
                  <a:gd name="connsiteY20" fmla="*/ 493281 h 1472079"/>
                  <a:gd name="connsiteX0" fmla="*/ 0 w 3939907"/>
                  <a:gd name="connsiteY0" fmla="*/ 493281 h 1472079"/>
                  <a:gd name="connsiteX1" fmla="*/ 195764 w 3939907"/>
                  <a:gd name="connsiteY1" fmla="*/ 297517 h 1472079"/>
                  <a:gd name="connsiteX2" fmla="*/ 3232343 w 3939907"/>
                  <a:gd name="connsiteY2" fmla="*/ 287685 h 1472079"/>
                  <a:gd name="connsiteX3" fmla="*/ 3351718 w 3939907"/>
                  <a:gd name="connsiteY3" fmla="*/ 0 h 1472079"/>
                  <a:gd name="connsiteX4" fmla="*/ 3519231 w 3939907"/>
                  <a:gd name="connsiteY4" fmla="*/ 297517 h 1472079"/>
                  <a:gd name="connsiteX5" fmla="*/ 3744143 w 3939907"/>
                  <a:gd name="connsiteY5" fmla="*/ 297517 h 1472079"/>
                  <a:gd name="connsiteX6" fmla="*/ 3939907 w 3939907"/>
                  <a:gd name="connsiteY6" fmla="*/ 493281 h 1472079"/>
                  <a:gd name="connsiteX7" fmla="*/ 3939907 w 3939907"/>
                  <a:gd name="connsiteY7" fmla="*/ 493277 h 1472079"/>
                  <a:gd name="connsiteX8" fmla="*/ 3939907 w 3939907"/>
                  <a:gd name="connsiteY8" fmla="*/ 493277 h 1472079"/>
                  <a:gd name="connsiteX9" fmla="*/ 3939907 w 3939907"/>
                  <a:gd name="connsiteY9" fmla="*/ 786918 h 1472079"/>
                  <a:gd name="connsiteX10" fmla="*/ 3939907 w 3939907"/>
                  <a:gd name="connsiteY10" fmla="*/ 1276315 h 1472079"/>
                  <a:gd name="connsiteX11" fmla="*/ 3744143 w 3939907"/>
                  <a:gd name="connsiteY11" fmla="*/ 1472079 h 1472079"/>
                  <a:gd name="connsiteX12" fmla="*/ 3283256 w 3939907"/>
                  <a:gd name="connsiteY12" fmla="*/ 1472079 h 1472079"/>
                  <a:gd name="connsiteX13" fmla="*/ 2298279 w 3939907"/>
                  <a:gd name="connsiteY13" fmla="*/ 1472079 h 1472079"/>
                  <a:gd name="connsiteX14" fmla="*/ 2298279 w 3939907"/>
                  <a:gd name="connsiteY14" fmla="*/ 1472079 h 1472079"/>
                  <a:gd name="connsiteX15" fmla="*/ 195764 w 3939907"/>
                  <a:gd name="connsiteY15" fmla="*/ 1472079 h 1472079"/>
                  <a:gd name="connsiteX16" fmla="*/ 0 w 3939907"/>
                  <a:gd name="connsiteY16" fmla="*/ 1276315 h 1472079"/>
                  <a:gd name="connsiteX17" fmla="*/ 0 w 3939907"/>
                  <a:gd name="connsiteY17" fmla="*/ 786918 h 1472079"/>
                  <a:gd name="connsiteX18" fmla="*/ 0 w 3939907"/>
                  <a:gd name="connsiteY18" fmla="*/ 493277 h 1472079"/>
                  <a:gd name="connsiteX19" fmla="*/ 0 w 3939907"/>
                  <a:gd name="connsiteY19" fmla="*/ 493277 h 1472079"/>
                  <a:gd name="connsiteX20" fmla="*/ 0 w 3939907"/>
                  <a:gd name="connsiteY20" fmla="*/ 493281 h 1472079"/>
                  <a:gd name="connsiteX0" fmla="*/ 0 w 3939907"/>
                  <a:gd name="connsiteY0" fmla="*/ 493281 h 1472079"/>
                  <a:gd name="connsiteX1" fmla="*/ 195764 w 3939907"/>
                  <a:gd name="connsiteY1" fmla="*/ 297517 h 1472079"/>
                  <a:gd name="connsiteX2" fmla="*/ 3232343 w 3939907"/>
                  <a:gd name="connsiteY2" fmla="*/ 287685 h 1472079"/>
                  <a:gd name="connsiteX3" fmla="*/ 3351718 w 3939907"/>
                  <a:gd name="connsiteY3" fmla="*/ 0 h 1472079"/>
                  <a:gd name="connsiteX4" fmla="*/ 3519231 w 3939907"/>
                  <a:gd name="connsiteY4" fmla="*/ 297517 h 1472079"/>
                  <a:gd name="connsiteX5" fmla="*/ 3744143 w 3939907"/>
                  <a:gd name="connsiteY5" fmla="*/ 297517 h 1472079"/>
                  <a:gd name="connsiteX6" fmla="*/ 3939907 w 3939907"/>
                  <a:gd name="connsiteY6" fmla="*/ 493281 h 1472079"/>
                  <a:gd name="connsiteX7" fmla="*/ 3939907 w 3939907"/>
                  <a:gd name="connsiteY7" fmla="*/ 493277 h 1472079"/>
                  <a:gd name="connsiteX8" fmla="*/ 3939907 w 3939907"/>
                  <a:gd name="connsiteY8" fmla="*/ 493277 h 1472079"/>
                  <a:gd name="connsiteX9" fmla="*/ 3939907 w 3939907"/>
                  <a:gd name="connsiteY9" fmla="*/ 786918 h 1472079"/>
                  <a:gd name="connsiteX10" fmla="*/ 3939907 w 3939907"/>
                  <a:gd name="connsiteY10" fmla="*/ 1276315 h 1472079"/>
                  <a:gd name="connsiteX11" fmla="*/ 3744143 w 3939907"/>
                  <a:gd name="connsiteY11" fmla="*/ 1472079 h 1472079"/>
                  <a:gd name="connsiteX12" fmla="*/ 3283256 w 3939907"/>
                  <a:gd name="connsiteY12" fmla="*/ 1472079 h 1472079"/>
                  <a:gd name="connsiteX13" fmla="*/ 2298279 w 3939907"/>
                  <a:gd name="connsiteY13" fmla="*/ 1472079 h 1472079"/>
                  <a:gd name="connsiteX14" fmla="*/ 2298279 w 3939907"/>
                  <a:gd name="connsiteY14" fmla="*/ 1472079 h 1472079"/>
                  <a:gd name="connsiteX15" fmla="*/ 195764 w 3939907"/>
                  <a:gd name="connsiteY15" fmla="*/ 1472079 h 1472079"/>
                  <a:gd name="connsiteX16" fmla="*/ 0 w 3939907"/>
                  <a:gd name="connsiteY16" fmla="*/ 1276315 h 1472079"/>
                  <a:gd name="connsiteX17" fmla="*/ 0 w 3939907"/>
                  <a:gd name="connsiteY17" fmla="*/ 786918 h 1472079"/>
                  <a:gd name="connsiteX18" fmla="*/ 0 w 3939907"/>
                  <a:gd name="connsiteY18" fmla="*/ 493277 h 1472079"/>
                  <a:gd name="connsiteX19" fmla="*/ 0 w 3939907"/>
                  <a:gd name="connsiteY19" fmla="*/ 493277 h 1472079"/>
                  <a:gd name="connsiteX20" fmla="*/ 0 w 3939907"/>
                  <a:gd name="connsiteY20" fmla="*/ 493281 h 1472079"/>
                  <a:gd name="connsiteX0" fmla="*/ 0 w 3939907"/>
                  <a:gd name="connsiteY0" fmla="*/ 493281 h 1472079"/>
                  <a:gd name="connsiteX1" fmla="*/ 195764 w 3939907"/>
                  <a:gd name="connsiteY1" fmla="*/ 297517 h 1472079"/>
                  <a:gd name="connsiteX2" fmla="*/ 3232343 w 3939907"/>
                  <a:gd name="connsiteY2" fmla="*/ 287685 h 1472079"/>
                  <a:gd name="connsiteX3" fmla="*/ 3351718 w 3939907"/>
                  <a:gd name="connsiteY3" fmla="*/ 0 h 1472079"/>
                  <a:gd name="connsiteX4" fmla="*/ 3519231 w 3939907"/>
                  <a:gd name="connsiteY4" fmla="*/ 297517 h 1472079"/>
                  <a:gd name="connsiteX5" fmla="*/ 3744143 w 3939907"/>
                  <a:gd name="connsiteY5" fmla="*/ 297517 h 1472079"/>
                  <a:gd name="connsiteX6" fmla="*/ 3939907 w 3939907"/>
                  <a:gd name="connsiteY6" fmla="*/ 493281 h 1472079"/>
                  <a:gd name="connsiteX7" fmla="*/ 3939907 w 3939907"/>
                  <a:gd name="connsiteY7" fmla="*/ 493277 h 1472079"/>
                  <a:gd name="connsiteX8" fmla="*/ 3939907 w 3939907"/>
                  <a:gd name="connsiteY8" fmla="*/ 493277 h 1472079"/>
                  <a:gd name="connsiteX9" fmla="*/ 3939907 w 3939907"/>
                  <a:gd name="connsiteY9" fmla="*/ 786918 h 1472079"/>
                  <a:gd name="connsiteX10" fmla="*/ 3939907 w 3939907"/>
                  <a:gd name="connsiteY10" fmla="*/ 1276315 h 1472079"/>
                  <a:gd name="connsiteX11" fmla="*/ 3744143 w 3939907"/>
                  <a:gd name="connsiteY11" fmla="*/ 1472079 h 1472079"/>
                  <a:gd name="connsiteX12" fmla="*/ 3283256 w 3939907"/>
                  <a:gd name="connsiteY12" fmla="*/ 1472079 h 1472079"/>
                  <a:gd name="connsiteX13" fmla="*/ 2298279 w 3939907"/>
                  <a:gd name="connsiteY13" fmla="*/ 1472079 h 1472079"/>
                  <a:gd name="connsiteX14" fmla="*/ 2298279 w 3939907"/>
                  <a:gd name="connsiteY14" fmla="*/ 1472079 h 1472079"/>
                  <a:gd name="connsiteX15" fmla="*/ 195764 w 3939907"/>
                  <a:gd name="connsiteY15" fmla="*/ 1472079 h 1472079"/>
                  <a:gd name="connsiteX16" fmla="*/ 0 w 3939907"/>
                  <a:gd name="connsiteY16" fmla="*/ 1276315 h 1472079"/>
                  <a:gd name="connsiteX17" fmla="*/ 0 w 3939907"/>
                  <a:gd name="connsiteY17" fmla="*/ 786918 h 1472079"/>
                  <a:gd name="connsiteX18" fmla="*/ 0 w 3939907"/>
                  <a:gd name="connsiteY18" fmla="*/ 493277 h 1472079"/>
                  <a:gd name="connsiteX19" fmla="*/ 0 w 3939907"/>
                  <a:gd name="connsiteY19" fmla="*/ 493277 h 1472079"/>
                  <a:gd name="connsiteX20" fmla="*/ 0 w 3939907"/>
                  <a:gd name="connsiteY20" fmla="*/ 493281 h 1472079"/>
                  <a:gd name="connsiteX0" fmla="*/ 0 w 3939907"/>
                  <a:gd name="connsiteY0" fmla="*/ 493281 h 1472079"/>
                  <a:gd name="connsiteX1" fmla="*/ 195764 w 3939907"/>
                  <a:gd name="connsiteY1" fmla="*/ 297517 h 1472079"/>
                  <a:gd name="connsiteX2" fmla="*/ 3232343 w 3939907"/>
                  <a:gd name="connsiteY2" fmla="*/ 287685 h 1472079"/>
                  <a:gd name="connsiteX3" fmla="*/ 3351718 w 3939907"/>
                  <a:gd name="connsiteY3" fmla="*/ 0 h 1472079"/>
                  <a:gd name="connsiteX4" fmla="*/ 3519231 w 3939907"/>
                  <a:gd name="connsiteY4" fmla="*/ 297517 h 1472079"/>
                  <a:gd name="connsiteX5" fmla="*/ 3744143 w 3939907"/>
                  <a:gd name="connsiteY5" fmla="*/ 297517 h 1472079"/>
                  <a:gd name="connsiteX6" fmla="*/ 3939907 w 3939907"/>
                  <a:gd name="connsiteY6" fmla="*/ 493281 h 1472079"/>
                  <a:gd name="connsiteX7" fmla="*/ 3939907 w 3939907"/>
                  <a:gd name="connsiteY7" fmla="*/ 493277 h 1472079"/>
                  <a:gd name="connsiteX8" fmla="*/ 3939907 w 3939907"/>
                  <a:gd name="connsiteY8" fmla="*/ 493277 h 1472079"/>
                  <a:gd name="connsiteX9" fmla="*/ 3939907 w 3939907"/>
                  <a:gd name="connsiteY9" fmla="*/ 786918 h 1472079"/>
                  <a:gd name="connsiteX10" fmla="*/ 3939907 w 3939907"/>
                  <a:gd name="connsiteY10" fmla="*/ 1276315 h 1472079"/>
                  <a:gd name="connsiteX11" fmla="*/ 3744143 w 3939907"/>
                  <a:gd name="connsiteY11" fmla="*/ 1472079 h 1472079"/>
                  <a:gd name="connsiteX12" fmla="*/ 3283256 w 3939907"/>
                  <a:gd name="connsiteY12" fmla="*/ 1472079 h 1472079"/>
                  <a:gd name="connsiteX13" fmla="*/ 2298279 w 3939907"/>
                  <a:gd name="connsiteY13" fmla="*/ 1472079 h 1472079"/>
                  <a:gd name="connsiteX14" fmla="*/ 2298279 w 3939907"/>
                  <a:gd name="connsiteY14" fmla="*/ 1472079 h 1472079"/>
                  <a:gd name="connsiteX15" fmla="*/ 195764 w 3939907"/>
                  <a:gd name="connsiteY15" fmla="*/ 1472079 h 1472079"/>
                  <a:gd name="connsiteX16" fmla="*/ 0 w 3939907"/>
                  <a:gd name="connsiteY16" fmla="*/ 1276315 h 1472079"/>
                  <a:gd name="connsiteX17" fmla="*/ 0 w 3939907"/>
                  <a:gd name="connsiteY17" fmla="*/ 786918 h 1472079"/>
                  <a:gd name="connsiteX18" fmla="*/ 0 w 3939907"/>
                  <a:gd name="connsiteY18" fmla="*/ 493277 h 1472079"/>
                  <a:gd name="connsiteX19" fmla="*/ 0 w 3939907"/>
                  <a:gd name="connsiteY19" fmla="*/ 493277 h 1472079"/>
                  <a:gd name="connsiteX20" fmla="*/ 0 w 3939907"/>
                  <a:gd name="connsiteY20" fmla="*/ 493281 h 1472079"/>
                  <a:gd name="connsiteX0" fmla="*/ 0 w 3939907"/>
                  <a:gd name="connsiteY0" fmla="*/ 493281 h 1472079"/>
                  <a:gd name="connsiteX1" fmla="*/ 195764 w 3939907"/>
                  <a:gd name="connsiteY1" fmla="*/ 297517 h 1472079"/>
                  <a:gd name="connsiteX2" fmla="*/ 3232343 w 3939907"/>
                  <a:gd name="connsiteY2" fmla="*/ 287685 h 1472079"/>
                  <a:gd name="connsiteX3" fmla="*/ 3351718 w 3939907"/>
                  <a:gd name="connsiteY3" fmla="*/ 0 h 1472079"/>
                  <a:gd name="connsiteX4" fmla="*/ 3519231 w 3939907"/>
                  <a:gd name="connsiteY4" fmla="*/ 297517 h 1472079"/>
                  <a:gd name="connsiteX5" fmla="*/ 3744143 w 3939907"/>
                  <a:gd name="connsiteY5" fmla="*/ 297517 h 1472079"/>
                  <a:gd name="connsiteX6" fmla="*/ 3939907 w 3939907"/>
                  <a:gd name="connsiteY6" fmla="*/ 493281 h 1472079"/>
                  <a:gd name="connsiteX7" fmla="*/ 3939907 w 3939907"/>
                  <a:gd name="connsiteY7" fmla="*/ 493277 h 1472079"/>
                  <a:gd name="connsiteX8" fmla="*/ 3939907 w 3939907"/>
                  <a:gd name="connsiteY8" fmla="*/ 493277 h 1472079"/>
                  <a:gd name="connsiteX9" fmla="*/ 3939907 w 3939907"/>
                  <a:gd name="connsiteY9" fmla="*/ 786918 h 1472079"/>
                  <a:gd name="connsiteX10" fmla="*/ 3939907 w 3939907"/>
                  <a:gd name="connsiteY10" fmla="*/ 1276315 h 1472079"/>
                  <a:gd name="connsiteX11" fmla="*/ 3744143 w 3939907"/>
                  <a:gd name="connsiteY11" fmla="*/ 1472079 h 1472079"/>
                  <a:gd name="connsiteX12" fmla="*/ 3283256 w 3939907"/>
                  <a:gd name="connsiteY12" fmla="*/ 1472079 h 1472079"/>
                  <a:gd name="connsiteX13" fmla="*/ 2298279 w 3939907"/>
                  <a:gd name="connsiteY13" fmla="*/ 1472079 h 1472079"/>
                  <a:gd name="connsiteX14" fmla="*/ 2298279 w 3939907"/>
                  <a:gd name="connsiteY14" fmla="*/ 1472079 h 1472079"/>
                  <a:gd name="connsiteX15" fmla="*/ 195764 w 3939907"/>
                  <a:gd name="connsiteY15" fmla="*/ 1472079 h 1472079"/>
                  <a:gd name="connsiteX16" fmla="*/ 0 w 3939907"/>
                  <a:gd name="connsiteY16" fmla="*/ 1276315 h 1472079"/>
                  <a:gd name="connsiteX17" fmla="*/ 0 w 3939907"/>
                  <a:gd name="connsiteY17" fmla="*/ 786918 h 1472079"/>
                  <a:gd name="connsiteX18" fmla="*/ 0 w 3939907"/>
                  <a:gd name="connsiteY18" fmla="*/ 493277 h 1472079"/>
                  <a:gd name="connsiteX19" fmla="*/ 0 w 3939907"/>
                  <a:gd name="connsiteY19" fmla="*/ 493277 h 1472079"/>
                  <a:gd name="connsiteX20" fmla="*/ 0 w 3939907"/>
                  <a:gd name="connsiteY20" fmla="*/ 493281 h 1472079"/>
                  <a:gd name="connsiteX0" fmla="*/ 0 w 3939907"/>
                  <a:gd name="connsiteY0" fmla="*/ 569481 h 1548279"/>
                  <a:gd name="connsiteX1" fmla="*/ 195764 w 3939907"/>
                  <a:gd name="connsiteY1" fmla="*/ 373717 h 1548279"/>
                  <a:gd name="connsiteX2" fmla="*/ 3232343 w 3939907"/>
                  <a:gd name="connsiteY2" fmla="*/ 363885 h 1548279"/>
                  <a:gd name="connsiteX3" fmla="*/ 3637468 w 3939907"/>
                  <a:gd name="connsiteY3" fmla="*/ 0 h 1548279"/>
                  <a:gd name="connsiteX4" fmla="*/ 3519231 w 3939907"/>
                  <a:gd name="connsiteY4" fmla="*/ 373717 h 1548279"/>
                  <a:gd name="connsiteX5" fmla="*/ 3744143 w 3939907"/>
                  <a:gd name="connsiteY5" fmla="*/ 373717 h 1548279"/>
                  <a:gd name="connsiteX6" fmla="*/ 3939907 w 3939907"/>
                  <a:gd name="connsiteY6" fmla="*/ 569481 h 1548279"/>
                  <a:gd name="connsiteX7" fmla="*/ 3939907 w 3939907"/>
                  <a:gd name="connsiteY7" fmla="*/ 569477 h 1548279"/>
                  <a:gd name="connsiteX8" fmla="*/ 3939907 w 3939907"/>
                  <a:gd name="connsiteY8" fmla="*/ 569477 h 1548279"/>
                  <a:gd name="connsiteX9" fmla="*/ 3939907 w 3939907"/>
                  <a:gd name="connsiteY9" fmla="*/ 863118 h 1548279"/>
                  <a:gd name="connsiteX10" fmla="*/ 3939907 w 3939907"/>
                  <a:gd name="connsiteY10" fmla="*/ 1352515 h 1548279"/>
                  <a:gd name="connsiteX11" fmla="*/ 3744143 w 3939907"/>
                  <a:gd name="connsiteY11" fmla="*/ 1548279 h 1548279"/>
                  <a:gd name="connsiteX12" fmla="*/ 3283256 w 3939907"/>
                  <a:gd name="connsiteY12" fmla="*/ 1548279 h 1548279"/>
                  <a:gd name="connsiteX13" fmla="*/ 2298279 w 3939907"/>
                  <a:gd name="connsiteY13" fmla="*/ 1548279 h 1548279"/>
                  <a:gd name="connsiteX14" fmla="*/ 2298279 w 3939907"/>
                  <a:gd name="connsiteY14" fmla="*/ 1548279 h 1548279"/>
                  <a:gd name="connsiteX15" fmla="*/ 195764 w 3939907"/>
                  <a:gd name="connsiteY15" fmla="*/ 1548279 h 1548279"/>
                  <a:gd name="connsiteX16" fmla="*/ 0 w 3939907"/>
                  <a:gd name="connsiteY16" fmla="*/ 1352515 h 1548279"/>
                  <a:gd name="connsiteX17" fmla="*/ 0 w 3939907"/>
                  <a:gd name="connsiteY17" fmla="*/ 863118 h 1548279"/>
                  <a:gd name="connsiteX18" fmla="*/ 0 w 3939907"/>
                  <a:gd name="connsiteY18" fmla="*/ 569477 h 1548279"/>
                  <a:gd name="connsiteX19" fmla="*/ 0 w 3939907"/>
                  <a:gd name="connsiteY19" fmla="*/ 569477 h 1548279"/>
                  <a:gd name="connsiteX20" fmla="*/ 0 w 3939907"/>
                  <a:gd name="connsiteY20" fmla="*/ 569481 h 1548279"/>
                  <a:gd name="connsiteX0" fmla="*/ 0 w 3939907"/>
                  <a:gd name="connsiteY0" fmla="*/ 569481 h 1548279"/>
                  <a:gd name="connsiteX1" fmla="*/ 195764 w 3939907"/>
                  <a:gd name="connsiteY1" fmla="*/ 373717 h 1548279"/>
                  <a:gd name="connsiteX2" fmla="*/ 3232343 w 3939907"/>
                  <a:gd name="connsiteY2" fmla="*/ 363885 h 1548279"/>
                  <a:gd name="connsiteX3" fmla="*/ 3637468 w 3939907"/>
                  <a:gd name="connsiteY3" fmla="*/ 0 h 1548279"/>
                  <a:gd name="connsiteX4" fmla="*/ 3519231 w 3939907"/>
                  <a:gd name="connsiteY4" fmla="*/ 373717 h 1548279"/>
                  <a:gd name="connsiteX5" fmla="*/ 3744143 w 3939907"/>
                  <a:gd name="connsiteY5" fmla="*/ 373717 h 1548279"/>
                  <a:gd name="connsiteX6" fmla="*/ 3939907 w 3939907"/>
                  <a:gd name="connsiteY6" fmla="*/ 569481 h 1548279"/>
                  <a:gd name="connsiteX7" fmla="*/ 3939907 w 3939907"/>
                  <a:gd name="connsiteY7" fmla="*/ 569477 h 1548279"/>
                  <a:gd name="connsiteX8" fmla="*/ 3939907 w 3939907"/>
                  <a:gd name="connsiteY8" fmla="*/ 569477 h 1548279"/>
                  <a:gd name="connsiteX9" fmla="*/ 3939907 w 3939907"/>
                  <a:gd name="connsiteY9" fmla="*/ 863118 h 1548279"/>
                  <a:gd name="connsiteX10" fmla="*/ 3939907 w 3939907"/>
                  <a:gd name="connsiteY10" fmla="*/ 1352515 h 1548279"/>
                  <a:gd name="connsiteX11" fmla="*/ 3744143 w 3939907"/>
                  <a:gd name="connsiteY11" fmla="*/ 1548279 h 1548279"/>
                  <a:gd name="connsiteX12" fmla="*/ 3283256 w 3939907"/>
                  <a:gd name="connsiteY12" fmla="*/ 1548279 h 1548279"/>
                  <a:gd name="connsiteX13" fmla="*/ 2298279 w 3939907"/>
                  <a:gd name="connsiteY13" fmla="*/ 1548279 h 1548279"/>
                  <a:gd name="connsiteX14" fmla="*/ 2298279 w 3939907"/>
                  <a:gd name="connsiteY14" fmla="*/ 1548279 h 1548279"/>
                  <a:gd name="connsiteX15" fmla="*/ 195764 w 3939907"/>
                  <a:gd name="connsiteY15" fmla="*/ 1548279 h 1548279"/>
                  <a:gd name="connsiteX16" fmla="*/ 0 w 3939907"/>
                  <a:gd name="connsiteY16" fmla="*/ 1352515 h 1548279"/>
                  <a:gd name="connsiteX17" fmla="*/ 0 w 3939907"/>
                  <a:gd name="connsiteY17" fmla="*/ 863118 h 1548279"/>
                  <a:gd name="connsiteX18" fmla="*/ 0 w 3939907"/>
                  <a:gd name="connsiteY18" fmla="*/ 569477 h 1548279"/>
                  <a:gd name="connsiteX19" fmla="*/ 0 w 3939907"/>
                  <a:gd name="connsiteY19" fmla="*/ 569477 h 1548279"/>
                  <a:gd name="connsiteX20" fmla="*/ 0 w 3939907"/>
                  <a:gd name="connsiteY20" fmla="*/ 569481 h 1548279"/>
                  <a:gd name="connsiteX0" fmla="*/ 0 w 3939907"/>
                  <a:gd name="connsiteY0" fmla="*/ 569481 h 1548279"/>
                  <a:gd name="connsiteX1" fmla="*/ 195764 w 3939907"/>
                  <a:gd name="connsiteY1" fmla="*/ 373717 h 1548279"/>
                  <a:gd name="connsiteX2" fmla="*/ 3232343 w 3939907"/>
                  <a:gd name="connsiteY2" fmla="*/ 363885 h 1548279"/>
                  <a:gd name="connsiteX3" fmla="*/ 3637468 w 3939907"/>
                  <a:gd name="connsiteY3" fmla="*/ 0 h 1548279"/>
                  <a:gd name="connsiteX4" fmla="*/ 3519231 w 3939907"/>
                  <a:gd name="connsiteY4" fmla="*/ 373717 h 1548279"/>
                  <a:gd name="connsiteX5" fmla="*/ 3744143 w 3939907"/>
                  <a:gd name="connsiteY5" fmla="*/ 373717 h 1548279"/>
                  <a:gd name="connsiteX6" fmla="*/ 3939907 w 3939907"/>
                  <a:gd name="connsiteY6" fmla="*/ 569481 h 1548279"/>
                  <a:gd name="connsiteX7" fmla="*/ 3939907 w 3939907"/>
                  <a:gd name="connsiteY7" fmla="*/ 569477 h 1548279"/>
                  <a:gd name="connsiteX8" fmla="*/ 3939907 w 3939907"/>
                  <a:gd name="connsiteY8" fmla="*/ 569477 h 1548279"/>
                  <a:gd name="connsiteX9" fmla="*/ 3939907 w 3939907"/>
                  <a:gd name="connsiteY9" fmla="*/ 863118 h 1548279"/>
                  <a:gd name="connsiteX10" fmla="*/ 3939907 w 3939907"/>
                  <a:gd name="connsiteY10" fmla="*/ 1352515 h 1548279"/>
                  <a:gd name="connsiteX11" fmla="*/ 3744143 w 3939907"/>
                  <a:gd name="connsiteY11" fmla="*/ 1548279 h 1548279"/>
                  <a:gd name="connsiteX12" fmla="*/ 3283256 w 3939907"/>
                  <a:gd name="connsiteY12" fmla="*/ 1548279 h 1548279"/>
                  <a:gd name="connsiteX13" fmla="*/ 2298279 w 3939907"/>
                  <a:gd name="connsiteY13" fmla="*/ 1548279 h 1548279"/>
                  <a:gd name="connsiteX14" fmla="*/ 2298279 w 3939907"/>
                  <a:gd name="connsiteY14" fmla="*/ 1548279 h 1548279"/>
                  <a:gd name="connsiteX15" fmla="*/ 195764 w 3939907"/>
                  <a:gd name="connsiteY15" fmla="*/ 1548279 h 1548279"/>
                  <a:gd name="connsiteX16" fmla="*/ 0 w 3939907"/>
                  <a:gd name="connsiteY16" fmla="*/ 1352515 h 1548279"/>
                  <a:gd name="connsiteX17" fmla="*/ 0 w 3939907"/>
                  <a:gd name="connsiteY17" fmla="*/ 863118 h 1548279"/>
                  <a:gd name="connsiteX18" fmla="*/ 0 w 3939907"/>
                  <a:gd name="connsiteY18" fmla="*/ 569477 h 1548279"/>
                  <a:gd name="connsiteX19" fmla="*/ 0 w 3939907"/>
                  <a:gd name="connsiteY19" fmla="*/ 569477 h 1548279"/>
                  <a:gd name="connsiteX20" fmla="*/ 0 w 3939907"/>
                  <a:gd name="connsiteY20" fmla="*/ 569481 h 1548279"/>
                  <a:gd name="connsiteX0" fmla="*/ 0 w 3939907"/>
                  <a:gd name="connsiteY0" fmla="*/ 569481 h 1548279"/>
                  <a:gd name="connsiteX1" fmla="*/ 195764 w 3939907"/>
                  <a:gd name="connsiteY1" fmla="*/ 373717 h 1548279"/>
                  <a:gd name="connsiteX2" fmla="*/ 3232343 w 3939907"/>
                  <a:gd name="connsiteY2" fmla="*/ 363885 h 1548279"/>
                  <a:gd name="connsiteX3" fmla="*/ 3637468 w 3939907"/>
                  <a:gd name="connsiteY3" fmla="*/ 0 h 1548279"/>
                  <a:gd name="connsiteX4" fmla="*/ 3519231 w 3939907"/>
                  <a:gd name="connsiteY4" fmla="*/ 373717 h 1548279"/>
                  <a:gd name="connsiteX5" fmla="*/ 3744143 w 3939907"/>
                  <a:gd name="connsiteY5" fmla="*/ 373717 h 1548279"/>
                  <a:gd name="connsiteX6" fmla="*/ 3939907 w 3939907"/>
                  <a:gd name="connsiteY6" fmla="*/ 569481 h 1548279"/>
                  <a:gd name="connsiteX7" fmla="*/ 3939907 w 3939907"/>
                  <a:gd name="connsiteY7" fmla="*/ 569477 h 1548279"/>
                  <a:gd name="connsiteX8" fmla="*/ 3939907 w 3939907"/>
                  <a:gd name="connsiteY8" fmla="*/ 569477 h 1548279"/>
                  <a:gd name="connsiteX9" fmla="*/ 3939907 w 3939907"/>
                  <a:gd name="connsiteY9" fmla="*/ 863118 h 1548279"/>
                  <a:gd name="connsiteX10" fmla="*/ 3939907 w 3939907"/>
                  <a:gd name="connsiteY10" fmla="*/ 1352515 h 1548279"/>
                  <a:gd name="connsiteX11" fmla="*/ 3744143 w 3939907"/>
                  <a:gd name="connsiteY11" fmla="*/ 1548279 h 1548279"/>
                  <a:gd name="connsiteX12" fmla="*/ 3283256 w 3939907"/>
                  <a:gd name="connsiteY12" fmla="*/ 1548279 h 1548279"/>
                  <a:gd name="connsiteX13" fmla="*/ 2298279 w 3939907"/>
                  <a:gd name="connsiteY13" fmla="*/ 1548279 h 1548279"/>
                  <a:gd name="connsiteX14" fmla="*/ 2298279 w 3939907"/>
                  <a:gd name="connsiteY14" fmla="*/ 1548279 h 1548279"/>
                  <a:gd name="connsiteX15" fmla="*/ 195764 w 3939907"/>
                  <a:gd name="connsiteY15" fmla="*/ 1548279 h 1548279"/>
                  <a:gd name="connsiteX16" fmla="*/ 0 w 3939907"/>
                  <a:gd name="connsiteY16" fmla="*/ 1352515 h 1548279"/>
                  <a:gd name="connsiteX17" fmla="*/ 0 w 3939907"/>
                  <a:gd name="connsiteY17" fmla="*/ 863118 h 1548279"/>
                  <a:gd name="connsiteX18" fmla="*/ 0 w 3939907"/>
                  <a:gd name="connsiteY18" fmla="*/ 569477 h 1548279"/>
                  <a:gd name="connsiteX19" fmla="*/ 0 w 3939907"/>
                  <a:gd name="connsiteY19" fmla="*/ 569477 h 1548279"/>
                  <a:gd name="connsiteX20" fmla="*/ 0 w 3939907"/>
                  <a:gd name="connsiteY20" fmla="*/ 569481 h 1548279"/>
                  <a:gd name="connsiteX0" fmla="*/ 0 w 3939907"/>
                  <a:gd name="connsiteY0" fmla="*/ 569481 h 1548279"/>
                  <a:gd name="connsiteX1" fmla="*/ 195764 w 3939907"/>
                  <a:gd name="connsiteY1" fmla="*/ 373717 h 1548279"/>
                  <a:gd name="connsiteX2" fmla="*/ 3232343 w 3939907"/>
                  <a:gd name="connsiteY2" fmla="*/ 363885 h 1548279"/>
                  <a:gd name="connsiteX3" fmla="*/ 3637468 w 3939907"/>
                  <a:gd name="connsiteY3" fmla="*/ 0 h 1548279"/>
                  <a:gd name="connsiteX4" fmla="*/ 3519231 w 3939907"/>
                  <a:gd name="connsiteY4" fmla="*/ 373717 h 1548279"/>
                  <a:gd name="connsiteX5" fmla="*/ 3744143 w 3939907"/>
                  <a:gd name="connsiteY5" fmla="*/ 373717 h 1548279"/>
                  <a:gd name="connsiteX6" fmla="*/ 3939907 w 3939907"/>
                  <a:gd name="connsiteY6" fmla="*/ 569481 h 1548279"/>
                  <a:gd name="connsiteX7" fmla="*/ 3939907 w 3939907"/>
                  <a:gd name="connsiteY7" fmla="*/ 569477 h 1548279"/>
                  <a:gd name="connsiteX8" fmla="*/ 3939907 w 3939907"/>
                  <a:gd name="connsiteY8" fmla="*/ 569477 h 1548279"/>
                  <a:gd name="connsiteX9" fmla="*/ 3939907 w 3939907"/>
                  <a:gd name="connsiteY9" fmla="*/ 863118 h 1548279"/>
                  <a:gd name="connsiteX10" fmla="*/ 3939907 w 3939907"/>
                  <a:gd name="connsiteY10" fmla="*/ 1352515 h 1548279"/>
                  <a:gd name="connsiteX11" fmla="*/ 3744143 w 3939907"/>
                  <a:gd name="connsiteY11" fmla="*/ 1548279 h 1548279"/>
                  <a:gd name="connsiteX12" fmla="*/ 3283256 w 3939907"/>
                  <a:gd name="connsiteY12" fmla="*/ 1548279 h 1548279"/>
                  <a:gd name="connsiteX13" fmla="*/ 2298279 w 3939907"/>
                  <a:gd name="connsiteY13" fmla="*/ 1548279 h 1548279"/>
                  <a:gd name="connsiteX14" fmla="*/ 2298279 w 3939907"/>
                  <a:gd name="connsiteY14" fmla="*/ 1548279 h 1548279"/>
                  <a:gd name="connsiteX15" fmla="*/ 195764 w 3939907"/>
                  <a:gd name="connsiteY15" fmla="*/ 1548279 h 1548279"/>
                  <a:gd name="connsiteX16" fmla="*/ 0 w 3939907"/>
                  <a:gd name="connsiteY16" fmla="*/ 1352515 h 1548279"/>
                  <a:gd name="connsiteX17" fmla="*/ 0 w 3939907"/>
                  <a:gd name="connsiteY17" fmla="*/ 863118 h 1548279"/>
                  <a:gd name="connsiteX18" fmla="*/ 0 w 3939907"/>
                  <a:gd name="connsiteY18" fmla="*/ 569477 h 1548279"/>
                  <a:gd name="connsiteX19" fmla="*/ 0 w 3939907"/>
                  <a:gd name="connsiteY19" fmla="*/ 569477 h 1548279"/>
                  <a:gd name="connsiteX20" fmla="*/ 0 w 3939907"/>
                  <a:gd name="connsiteY20" fmla="*/ 569481 h 1548279"/>
                  <a:gd name="connsiteX0" fmla="*/ 0 w 3939907"/>
                  <a:gd name="connsiteY0" fmla="*/ 569481 h 1548279"/>
                  <a:gd name="connsiteX1" fmla="*/ 195764 w 3939907"/>
                  <a:gd name="connsiteY1" fmla="*/ 373717 h 1548279"/>
                  <a:gd name="connsiteX2" fmla="*/ 3232343 w 3939907"/>
                  <a:gd name="connsiteY2" fmla="*/ 363885 h 1548279"/>
                  <a:gd name="connsiteX3" fmla="*/ 3637468 w 3939907"/>
                  <a:gd name="connsiteY3" fmla="*/ 0 h 1548279"/>
                  <a:gd name="connsiteX4" fmla="*/ 3519231 w 3939907"/>
                  <a:gd name="connsiteY4" fmla="*/ 373717 h 1548279"/>
                  <a:gd name="connsiteX5" fmla="*/ 3744143 w 3939907"/>
                  <a:gd name="connsiteY5" fmla="*/ 373717 h 1548279"/>
                  <a:gd name="connsiteX6" fmla="*/ 3939907 w 3939907"/>
                  <a:gd name="connsiteY6" fmla="*/ 569481 h 1548279"/>
                  <a:gd name="connsiteX7" fmla="*/ 3939907 w 3939907"/>
                  <a:gd name="connsiteY7" fmla="*/ 569477 h 1548279"/>
                  <a:gd name="connsiteX8" fmla="*/ 3939907 w 3939907"/>
                  <a:gd name="connsiteY8" fmla="*/ 569477 h 1548279"/>
                  <a:gd name="connsiteX9" fmla="*/ 3939907 w 3939907"/>
                  <a:gd name="connsiteY9" fmla="*/ 863118 h 1548279"/>
                  <a:gd name="connsiteX10" fmla="*/ 3939907 w 3939907"/>
                  <a:gd name="connsiteY10" fmla="*/ 1352515 h 1548279"/>
                  <a:gd name="connsiteX11" fmla="*/ 3744143 w 3939907"/>
                  <a:gd name="connsiteY11" fmla="*/ 1548279 h 1548279"/>
                  <a:gd name="connsiteX12" fmla="*/ 3283256 w 3939907"/>
                  <a:gd name="connsiteY12" fmla="*/ 1548279 h 1548279"/>
                  <a:gd name="connsiteX13" fmla="*/ 2298279 w 3939907"/>
                  <a:gd name="connsiteY13" fmla="*/ 1548279 h 1548279"/>
                  <a:gd name="connsiteX14" fmla="*/ 2298279 w 3939907"/>
                  <a:gd name="connsiteY14" fmla="*/ 1548279 h 1548279"/>
                  <a:gd name="connsiteX15" fmla="*/ 195764 w 3939907"/>
                  <a:gd name="connsiteY15" fmla="*/ 1548279 h 1548279"/>
                  <a:gd name="connsiteX16" fmla="*/ 0 w 3939907"/>
                  <a:gd name="connsiteY16" fmla="*/ 1352515 h 1548279"/>
                  <a:gd name="connsiteX17" fmla="*/ 0 w 3939907"/>
                  <a:gd name="connsiteY17" fmla="*/ 863118 h 1548279"/>
                  <a:gd name="connsiteX18" fmla="*/ 0 w 3939907"/>
                  <a:gd name="connsiteY18" fmla="*/ 569477 h 1548279"/>
                  <a:gd name="connsiteX19" fmla="*/ 0 w 3939907"/>
                  <a:gd name="connsiteY19" fmla="*/ 569477 h 1548279"/>
                  <a:gd name="connsiteX20" fmla="*/ 0 w 3939907"/>
                  <a:gd name="connsiteY20" fmla="*/ 569481 h 1548279"/>
                  <a:gd name="connsiteX0" fmla="*/ 0 w 3939907"/>
                  <a:gd name="connsiteY0" fmla="*/ 569481 h 1548279"/>
                  <a:gd name="connsiteX1" fmla="*/ 195764 w 3939907"/>
                  <a:gd name="connsiteY1" fmla="*/ 373717 h 1548279"/>
                  <a:gd name="connsiteX2" fmla="*/ 3232343 w 3939907"/>
                  <a:gd name="connsiteY2" fmla="*/ 363885 h 1548279"/>
                  <a:gd name="connsiteX3" fmla="*/ 3637468 w 3939907"/>
                  <a:gd name="connsiteY3" fmla="*/ 0 h 1548279"/>
                  <a:gd name="connsiteX4" fmla="*/ 3519231 w 3939907"/>
                  <a:gd name="connsiteY4" fmla="*/ 373717 h 1548279"/>
                  <a:gd name="connsiteX5" fmla="*/ 3744143 w 3939907"/>
                  <a:gd name="connsiteY5" fmla="*/ 373717 h 1548279"/>
                  <a:gd name="connsiteX6" fmla="*/ 3939907 w 3939907"/>
                  <a:gd name="connsiteY6" fmla="*/ 569481 h 1548279"/>
                  <a:gd name="connsiteX7" fmla="*/ 3939907 w 3939907"/>
                  <a:gd name="connsiteY7" fmla="*/ 569477 h 1548279"/>
                  <a:gd name="connsiteX8" fmla="*/ 3939907 w 3939907"/>
                  <a:gd name="connsiteY8" fmla="*/ 569477 h 1548279"/>
                  <a:gd name="connsiteX9" fmla="*/ 3939907 w 3939907"/>
                  <a:gd name="connsiteY9" fmla="*/ 863118 h 1548279"/>
                  <a:gd name="connsiteX10" fmla="*/ 3939907 w 3939907"/>
                  <a:gd name="connsiteY10" fmla="*/ 1352515 h 1548279"/>
                  <a:gd name="connsiteX11" fmla="*/ 3744143 w 3939907"/>
                  <a:gd name="connsiteY11" fmla="*/ 1548279 h 1548279"/>
                  <a:gd name="connsiteX12" fmla="*/ 3283256 w 3939907"/>
                  <a:gd name="connsiteY12" fmla="*/ 1548279 h 1548279"/>
                  <a:gd name="connsiteX13" fmla="*/ 2298279 w 3939907"/>
                  <a:gd name="connsiteY13" fmla="*/ 1548279 h 1548279"/>
                  <a:gd name="connsiteX14" fmla="*/ 2298279 w 3939907"/>
                  <a:gd name="connsiteY14" fmla="*/ 1548279 h 1548279"/>
                  <a:gd name="connsiteX15" fmla="*/ 195764 w 3939907"/>
                  <a:gd name="connsiteY15" fmla="*/ 1548279 h 1548279"/>
                  <a:gd name="connsiteX16" fmla="*/ 0 w 3939907"/>
                  <a:gd name="connsiteY16" fmla="*/ 1352515 h 1548279"/>
                  <a:gd name="connsiteX17" fmla="*/ 0 w 3939907"/>
                  <a:gd name="connsiteY17" fmla="*/ 863118 h 1548279"/>
                  <a:gd name="connsiteX18" fmla="*/ 0 w 3939907"/>
                  <a:gd name="connsiteY18" fmla="*/ 569477 h 1548279"/>
                  <a:gd name="connsiteX19" fmla="*/ 0 w 3939907"/>
                  <a:gd name="connsiteY19" fmla="*/ 569477 h 1548279"/>
                  <a:gd name="connsiteX20" fmla="*/ 0 w 3939907"/>
                  <a:gd name="connsiteY20" fmla="*/ 569481 h 1548279"/>
                  <a:gd name="connsiteX0" fmla="*/ 0 w 3939907"/>
                  <a:gd name="connsiteY0" fmla="*/ 569481 h 1548279"/>
                  <a:gd name="connsiteX1" fmla="*/ 195764 w 3939907"/>
                  <a:gd name="connsiteY1" fmla="*/ 373717 h 1548279"/>
                  <a:gd name="connsiteX2" fmla="*/ 3232343 w 3939907"/>
                  <a:gd name="connsiteY2" fmla="*/ 363885 h 1548279"/>
                  <a:gd name="connsiteX3" fmla="*/ 3637468 w 3939907"/>
                  <a:gd name="connsiteY3" fmla="*/ 0 h 1548279"/>
                  <a:gd name="connsiteX4" fmla="*/ 3519231 w 3939907"/>
                  <a:gd name="connsiteY4" fmla="*/ 373717 h 1548279"/>
                  <a:gd name="connsiteX5" fmla="*/ 3744143 w 3939907"/>
                  <a:gd name="connsiteY5" fmla="*/ 373717 h 1548279"/>
                  <a:gd name="connsiteX6" fmla="*/ 3939907 w 3939907"/>
                  <a:gd name="connsiteY6" fmla="*/ 569481 h 1548279"/>
                  <a:gd name="connsiteX7" fmla="*/ 3939907 w 3939907"/>
                  <a:gd name="connsiteY7" fmla="*/ 569477 h 1548279"/>
                  <a:gd name="connsiteX8" fmla="*/ 3939907 w 3939907"/>
                  <a:gd name="connsiteY8" fmla="*/ 569477 h 1548279"/>
                  <a:gd name="connsiteX9" fmla="*/ 3939907 w 3939907"/>
                  <a:gd name="connsiteY9" fmla="*/ 863118 h 1548279"/>
                  <a:gd name="connsiteX10" fmla="*/ 3939907 w 3939907"/>
                  <a:gd name="connsiteY10" fmla="*/ 1352515 h 1548279"/>
                  <a:gd name="connsiteX11" fmla="*/ 3744143 w 3939907"/>
                  <a:gd name="connsiteY11" fmla="*/ 1548279 h 1548279"/>
                  <a:gd name="connsiteX12" fmla="*/ 3283256 w 3939907"/>
                  <a:gd name="connsiteY12" fmla="*/ 1548279 h 1548279"/>
                  <a:gd name="connsiteX13" fmla="*/ 2298279 w 3939907"/>
                  <a:gd name="connsiteY13" fmla="*/ 1548279 h 1548279"/>
                  <a:gd name="connsiteX14" fmla="*/ 2298279 w 3939907"/>
                  <a:gd name="connsiteY14" fmla="*/ 1548279 h 1548279"/>
                  <a:gd name="connsiteX15" fmla="*/ 195764 w 3939907"/>
                  <a:gd name="connsiteY15" fmla="*/ 1548279 h 1548279"/>
                  <a:gd name="connsiteX16" fmla="*/ 0 w 3939907"/>
                  <a:gd name="connsiteY16" fmla="*/ 1352515 h 1548279"/>
                  <a:gd name="connsiteX17" fmla="*/ 0 w 3939907"/>
                  <a:gd name="connsiteY17" fmla="*/ 863118 h 1548279"/>
                  <a:gd name="connsiteX18" fmla="*/ 0 w 3939907"/>
                  <a:gd name="connsiteY18" fmla="*/ 569477 h 1548279"/>
                  <a:gd name="connsiteX19" fmla="*/ 0 w 3939907"/>
                  <a:gd name="connsiteY19" fmla="*/ 569477 h 1548279"/>
                  <a:gd name="connsiteX20" fmla="*/ 0 w 3939907"/>
                  <a:gd name="connsiteY20" fmla="*/ 569481 h 1548279"/>
                  <a:gd name="connsiteX0" fmla="*/ 0 w 3939907"/>
                  <a:gd name="connsiteY0" fmla="*/ 750456 h 1729254"/>
                  <a:gd name="connsiteX1" fmla="*/ 195764 w 3939907"/>
                  <a:gd name="connsiteY1" fmla="*/ 554692 h 1729254"/>
                  <a:gd name="connsiteX2" fmla="*/ 3232343 w 3939907"/>
                  <a:gd name="connsiteY2" fmla="*/ 544860 h 1729254"/>
                  <a:gd name="connsiteX3" fmla="*/ 3799393 w 3939907"/>
                  <a:gd name="connsiteY3" fmla="*/ 0 h 1729254"/>
                  <a:gd name="connsiteX4" fmla="*/ 3519231 w 3939907"/>
                  <a:gd name="connsiteY4" fmla="*/ 554692 h 1729254"/>
                  <a:gd name="connsiteX5" fmla="*/ 3744143 w 3939907"/>
                  <a:gd name="connsiteY5" fmla="*/ 554692 h 1729254"/>
                  <a:gd name="connsiteX6" fmla="*/ 3939907 w 3939907"/>
                  <a:gd name="connsiteY6" fmla="*/ 750456 h 1729254"/>
                  <a:gd name="connsiteX7" fmla="*/ 3939907 w 3939907"/>
                  <a:gd name="connsiteY7" fmla="*/ 750452 h 1729254"/>
                  <a:gd name="connsiteX8" fmla="*/ 3939907 w 3939907"/>
                  <a:gd name="connsiteY8" fmla="*/ 750452 h 1729254"/>
                  <a:gd name="connsiteX9" fmla="*/ 3939907 w 3939907"/>
                  <a:gd name="connsiteY9" fmla="*/ 1044093 h 1729254"/>
                  <a:gd name="connsiteX10" fmla="*/ 3939907 w 3939907"/>
                  <a:gd name="connsiteY10" fmla="*/ 1533490 h 1729254"/>
                  <a:gd name="connsiteX11" fmla="*/ 3744143 w 3939907"/>
                  <a:gd name="connsiteY11" fmla="*/ 1729254 h 1729254"/>
                  <a:gd name="connsiteX12" fmla="*/ 3283256 w 3939907"/>
                  <a:gd name="connsiteY12" fmla="*/ 1729254 h 1729254"/>
                  <a:gd name="connsiteX13" fmla="*/ 2298279 w 3939907"/>
                  <a:gd name="connsiteY13" fmla="*/ 1729254 h 1729254"/>
                  <a:gd name="connsiteX14" fmla="*/ 2298279 w 3939907"/>
                  <a:gd name="connsiteY14" fmla="*/ 1729254 h 1729254"/>
                  <a:gd name="connsiteX15" fmla="*/ 195764 w 3939907"/>
                  <a:gd name="connsiteY15" fmla="*/ 1729254 h 1729254"/>
                  <a:gd name="connsiteX16" fmla="*/ 0 w 3939907"/>
                  <a:gd name="connsiteY16" fmla="*/ 1533490 h 1729254"/>
                  <a:gd name="connsiteX17" fmla="*/ 0 w 3939907"/>
                  <a:gd name="connsiteY17" fmla="*/ 1044093 h 1729254"/>
                  <a:gd name="connsiteX18" fmla="*/ 0 w 3939907"/>
                  <a:gd name="connsiteY18" fmla="*/ 750452 h 1729254"/>
                  <a:gd name="connsiteX19" fmla="*/ 0 w 3939907"/>
                  <a:gd name="connsiteY19" fmla="*/ 750452 h 1729254"/>
                  <a:gd name="connsiteX20" fmla="*/ 0 w 3939907"/>
                  <a:gd name="connsiteY20" fmla="*/ 750456 h 1729254"/>
                  <a:gd name="connsiteX0" fmla="*/ 0 w 3939907"/>
                  <a:gd name="connsiteY0" fmla="*/ 750456 h 1729254"/>
                  <a:gd name="connsiteX1" fmla="*/ 195764 w 3939907"/>
                  <a:gd name="connsiteY1" fmla="*/ 554692 h 1729254"/>
                  <a:gd name="connsiteX2" fmla="*/ 3232343 w 3939907"/>
                  <a:gd name="connsiteY2" fmla="*/ 544860 h 1729254"/>
                  <a:gd name="connsiteX3" fmla="*/ 3799393 w 3939907"/>
                  <a:gd name="connsiteY3" fmla="*/ 0 h 1729254"/>
                  <a:gd name="connsiteX4" fmla="*/ 3519231 w 3939907"/>
                  <a:gd name="connsiteY4" fmla="*/ 554692 h 1729254"/>
                  <a:gd name="connsiteX5" fmla="*/ 3744143 w 3939907"/>
                  <a:gd name="connsiteY5" fmla="*/ 554692 h 1729254"/>
                  <a:gd name="connsiteX6" fmla="*/ 3939907 w 3939907"/>
                  <a:gd name="connsiteY6" fmla="*/ 750456 h 1729254"/>
                  <a:gd name="connsiteX7" fmla="*/ 3939907 w 3939907"/>
                  <a:gd name="connsiteY7" fmla="*/ 750452 h 1729254"/>
                  <a:gd name="connsiteX8" fmla="*/ 3939907 w 3939907"/>
                  <a:gd name="connsiteY8" fmla="*/ 750452 h 1729254"/>
                  <a:gd name="connsiteX9" fmla="*/ 3939907 w 3939907"/>
                  <a:gd name="connsiteY9" fmla="*/ 1044093 h 1729254"/>
                  <a:gd name="connsiteX10" fmla="*/ 3939907 w 3939907"/>
                  <a:gd name="connsiteY10" fmla="*/ 1533490 h 1729254"/>
                  <a:gd name="connsiteX11" fmla="*/ 3744143 w 3939907"/>
                  <a:gd name="connsiteY11" fmla="*/ 1729254 h 1729254"/>
                  <a:gd name="connsiteX12" fmla="*/ 3283256 w 3939907"/>
                  <a:gd name="connsiteY12" fmla="*/ 1729254 h 1729254"/>
                  <a:gd name="connsiteX13" fmla="*/ 2298279 w 3939907"/>
                  <a:gd name="connsiteY13" fmla="*/ 1729254 h 1729254"/>
                  <a:gd name="connsiteX14" fmla="*/ 2298279 w 3939907"/>
                  <a:gd name="connsiteY14" fmla="*/ 1729254 h 1729254"/>
                  <a:gd name="connsiteX15" fmla="*/ 195764 w 3939907"/>
                  <a:gd name="connsiteY15" fmla="*/ 1729254 h 1729254"/>
                  <a:gd name="connsiteX16" fmla="*/ 0 w 3939907"/>
                  <a:gd name="connsiteY16" fmla="*/ 1533490 h 1729254"/>
                  <a:gd name="connsiteX17" fmla="*/ 0 w 3939907"/>
                  <a:gd name="connsiteY17" fmla="*/ 1044093 h 1729254"/>
                  <a:gd name="connsiteX18" fmla="*/ 0 w 3939907"/>
                  <a:gd name="connsiteY18" fmla="*/ 750452 h 1729254"/>
                  <a:gd name="connsiteX19" fmla="*/ 0 w 3939907"/>
                  <a:gd name="connsiteY19" fmla="*/ 750452 h 1729254"/>
                  <a:gd name="connsiteX20" fmla="*/ 0 w 3939907"/>
                  <a:gd name="connsiteY20" fmla="*/ 750456 h 1729254"/>
                  <a:gd name="connsiteX0" fmla="*/ 0 w 3939907"/>
                  <a:gd name="connsiteY0" fmla="*/ 750456 h 1729254"/>
                  <a:gd name="connsiteX1" fmla="*/ 195764 w 3939907"/>
                  <a:gd name="connsiteY1" fmla="*/ 554692 h 1729254"/>
                  <a:gd name="connsiteX2" fmla="*/ 3232343 w 3939907"/>
                  <a:gd name="connsiteY2" fmla="*/ 544860 h 1729254"/>
                  <a:gd name="connsiteX3" fmla="*/ 3799393 w 3939907"/>
                  <a:gd name="connsiteY3" fmla="*/ 0 h 1729254"/>
                  <a:gd name="connsiteX4" fmla="*/ 3519231 w 3939907"/>
                  <a:gd name="connsiteY4" fmla="*/ 554692 h 1729254"/>
                  <a:gd name="connsiteX5" fmla="*/ 3744143 w 3939907"/>
                  <a:gd name="connsiteY5" fmla="*/ 554692 h 1729254"/>
                  <a:gd name="connsiteX6" fmla="*/ 3939907 w 3939907"/>
                  <a:gd name="connsiteY6" fmla="*/ 750456 h 1729254"/>
                  <a:gd name="connsiteX7" fmla="*/ 3939907 w 3939907"/>
                  <a:gd name="connsiteY7" fmla="*/ 750452 h 1729254"/>
                  <a:gd name="connsiteX8" fmla="*/ 3939907 w 3939907"/>
                  <a:gd name="connsiteY8" fmla="*/ 750452 h 1729254"/>
                  <a:gd name="connsiteX9" fmla="*/ 3939907 w 3939907"/>
                  <a:gd name="connsiteY9" fmla="*/ 1044093 h 1729254"/>
                  <a:gd name="connsiteX10" fmla="*/ 3939907 w 3939907"/>
                  <a:gd name="connsiteY10" fmla="*/ 1533490 h 1729254"/>
                  <a:gd name="connsiteX11" fmla="*/ 3744143 w 3939907"/>
                  <a:gd name="connsiteY11" fmla="*/ 1729254 h 1729254"/>
                  <a:gd name="connsiteX12" fmla="*/ 3283256 w 3939907"/>
                  <a:gd name="connsiteY12" fmla="*/ 1729254 h 1729254"/>
                  <a:gd name="connsiteX13" fmla="*/ 2298279 w 3939907"/>
                  <a:gd name="connsiteY13" fmla="*/ 1729254 h 1729254"/>
                  <a:gd name="connsiteX14" fmla="*/ 2298279 w 3939907"/>
                  <a:gd name="connsiteY14" fmla="*/ 1729254 h 1729254"/>
                  <a:gd name="connsiteX15" fmla="*/ 195764 w 3939907"/>
                  <a:gd name="connsiteY15" fmla="*/ 1729254 h 1729254"/>
                  <a:gd name="connsiteX16" fmla="*/ 0 w 3939907"/>
                  <a:gd name="connsiteY16" fmla="*/ 1533490 h 1729254"/>
                  <a:gd name="connsiteX17" fmla="*/ 0 w 3939907"/>
                  <a:gd name="connsiteY17" fmla="*/ 1044093 h 1729254"/>
                  <a:gd name="connsiteX18" fmla="*/ 0 w 3939907"/>
                  <a:gd name="connsiteY18" fmla="*/ 750452 h 1729254"/>
                  <a:gd name="connsiteX19" fmla="*/ 0 w 3939907"/>
                  <a:gd name="connsiteY19" fmla="*/ 750452 h 1729254"/>
                  <a:gd name="connsiteX20" fmla="*/ 0 w 3939907"/>
                  <a:gd name="connsiteY20" fmla="*/ 750456 h 1729254"/>
                  <a:gd name="connsiteX0" fmla="*/ 0 w 3939907"/>
                  <a:gd name="connsiteY0" fmla="*/ 750456 h 1729254"/>
                  <a:gd name="connsiteX1" fmla="*/ 195764 w 3939907"/>
                  <a:gd name="connsiteY1" fmla="*/ 554692 h 1729254"/>
                  <a:gd name="connsiteX2" fmla="*/ 3232343 w 3939907"/>
                  <a:gd name="connsiteY2" fmla="*/ 544860 h 1729254"/>
                  <a:gd name="connsiteX3" fmla="*/ 3799393 w 3939907"/>
                  <a:gd name="connsiteY3" fmla="*/ 0 h 1729254"/>
                  <a:gd name="connsiteX4" fmla="*/ 3519231 w 3939907"/>
                  <a:gd name="connsiteY4" fmla="*/ 554692 h 1729254"/>
                  <a:gd name="connsiteX5" fmla="*/ 3744143 w 3939907"/>
                  <a:gd name="connsiteY5" fmla="*/ 554692 h 1729254"/>
                  <a:gd name="connsiteX6" fmla="*/ 3939907 w 3939907"/>
                  <a:gd name="connsiteY6" fmla="*/ 750456 h 1729254"/>
                  <a:gd name="connsiteX7" fmla="*/ 3939907 w 3939907"/>
                  <a:gd name="connsiteY7" fmla="*/ 750452 h 1729254"/>
                  <a:gd name="connsiteX8" fmla="*/ 3939907 w 3939907"/>
                  <a:gd name="connsiteY8" fmla="*/ 750452 h 1729254"/>
                  <a:gd name="connsiteX9" fmla="*/ 3939907 w 3939907"/>
                  <a:gd name="connsiteY9" fmla="*/ 1044093 h 1729254"/>
                  <a:gd name="connsiteX10" fmla="*/ 3939907 w 3939907"/>
                  <a:gd name="connsiteY10" fmla="*/ 1533490 h 1729254"/>
                  <a:gd name="connsiteX11" fmla="*/ 3744143 w 3939907"/>
                  <a:gd name="connsiteY11" fmla="*/ 1729254 h 1729254"/>
                  <a:gd name="connsiteX12" fmla="*/ 3283256 w 3939907"/>
                  <a:gd name="connsiteY12" fmla="*/ 1729254 h 1729254"/>
                  <a:gd name="connsiteX13" fmla="*/ 2298279 w 3939907"/>
                  <a:gd name="connsiteY13" fmla="*/ 1729254 h 1729254"/>
                  <a:gd name="connsiteX14" fmla="*/ 2298279 w 3939907"/>
                  <a:gd name="connsiteY14" fmla="*/ 1729254 h 1729254"/>
                  <a:gd name="connsiteX15" fmla="*/ 195764 w 3939907"/>
                  <a:gd name="connsiteY15" fmla="*/ 1729254 h 1729254"/>
                  <a:gd name="connsiteX16" fmla="*/ 0 w 3939907"/>
                  <a:gd name="connsiteY16" fmla="*/ 1533490 h 1729254"/>
                  <a:gd name="connsiteX17" fmla="*/ 0 w 3939907"/>
                  <a:gd name="connsiteY17" fmla="*/ 1044093 h 1729254"/>
                  <a:gd name="connsiteX18" fmla="*/ 0 w 3939907"/>
                  <a:gd name="connsiteY18" fmla="*/ 750452 h 1729254"/>
                  <a:gd name="connsiteX19" fmla="*/ 0 w 3939907"/>
                  <a:gd name="connsiteY19" fmla="*/ 750452 h 1729254"/>
                  <a:gd name="connsiteX20" fmla="*/ 0 w 3939907"/>
                  <a:gd name="connsiteY20" fmla="*/ 750456 h 1729254"/>
                  <a:gd name="connsiteX0" fmla="*/ 0 w 3939907"/>
                  <a:gd name="connsiteY0" fmla="*/ 636156 h 1614954"/>
                  <a:gd name="connsiteX1" fmla="*/ 195764 w 3939907"/>
                  <a:gd name="connsiteY1" fmla="*/ 440392 h 1614954"/>
                  <a:gd name="connsiteX2" fmla="*/ 3232343 w 3939907"/>
                  <a:gd name="connsiteY2" fmla="*/ 430560 h 1614954"/>
                  <a:gd name="connsiteX3" fmla="*/ 3704143 w 3939907"/>
                  <a:gd name="connsiteY3" fmla="*/ 0 h 1614954"/>
                  <a:gd name="connsiteX4" fmla="*/ 3519231 w 3939907"/>
                  <a:gd name="connsiteY4" fmla="*/ 440392 h 1614954"/>
                  <a:gd name="connsiteX5" fmla="*/ 3744143 w 3939907"/>
                  <a:gd name="connsiteY5" fmla="*/ 440392 h 1614954"/>
                  <a:gd name="connsiteX6" fmla="*/ 3939907 w 3939907"/>
                  <a:gd name="connsiteY6" fmla="*/ 636156 h 1614954"/>
                  <a:gd name="connsiteX7" fmla="*/ 3939907 w 3939907"/>
                  <a:gd name="connsiteY7" fmla="*/ 636152 h 1614954"/>
                  <a:gd name="connsiteX8" fmla="*/ 3939907 w 3939907"/>
                  <a:gd name="connsiteY8" fmla="*/ 636152 h 1614954"/>
                  <a:gd name="connsiteX9" fmla="*/ 3939907 w 3939907"/>
                  <a:gd name="connsiteY9" fmla="*/ 929793 h 1614954"/>
                  <a:gd name="connsiteX10" fmla="*/ 3939907 w 3939907"/>
                  <a:gd name="connsiteY10" fmla="*/ 1419190 h 1614954"/>
                  <a:gd name="connsiteX11" fmla="*/ 3744143 w 3939907"/>
                  <a:gd name="connsiteY11" fmla="*/ 1614954 h 1614954"/>
                  <a:gd name="connsiteX12" fmla="*/ 3283256 w 3939907"/>
                  <a:gd name="connsiteY12" fmla="*/ 1614954 h 1614954"/>
                  <a:gd name="connsiteX13" fmla="*/ 2298279 w 3939907"/>
                  <a:gd name="connsiteY13" fmla="*/ 1614954 h 1614954"/>
                  <a:gd name="connsiteX14" fmla="*/ 2298279 w 3939907"/>
                  <a:gd name="connsiteY14" fmla="*/ 1614954 h 1614954"/>
                  <a:gd name="connsiteX15" fmla="*/ 195764 w 3939907"/>
                  <a:gd name="connsiteY15" fmla="*/ 1614954 h 1614954"/>
                  <a:gd name="connsiteX16" fmla="*/ 0 w 3939907"/>
                  <a:gd name="connsiteY16" fmla="*/ 1419190 h 1614954"/>
                  <a:gd name="connsiteX17" fmla="*/ 0 w 3939907"/>
                  <a:gd name="connsiteY17" fmla="*/ 929793 h 1614954"/>
                  <a:gd name="connsiteX18" fmla="*/ 0 w 3939907"/>
                  <a:gd name="connsiteY18" fmla="*/ 636152 h 1614954"/>
                  <a:gd name="connsiteX19" fmla="*/ 0 w 3939907"/>
                  <a:gd name="connsiteY19" fmla="*/ 636152 h 1614954"/>
                  <a:gd name="connsiteX20" fmla="*/ 0 w 3939907"/>
                  <a:gd name="connsiteY20" fmla="*/ 636156 h 1614954"/>
                  <a:gd name="connsiteX0" fmla="*/ 0 w 3952875"/>
                  <a:gd name="connsiteY0" fmla="*/ 636156 h 1614954"/>
                  <a:gd name="connsiteX1" fmla="*/ 195764 w 3952875"/>
                  <a:gd name="connsiteY1" fmla="*/ 440392 h 1614954"/>
                  <a:gd name="connsiteX2" fmla="*/ 3232343 w 3952875"/>
                  <a:gd name="connsiteY2" fmla="*/ 430560 h 1614954"/>
                  <a:gd name="connsiteX3" fmla="*/ 3704143 w 3952875"/>
                  <a:gd name="connsiteY3" fmla="*/ 0 h 1614954"/>
                  <a:gd name="connsiteX4" fmla="*/ 3519231 w 3952875"/>
                  <a:gd name="connsiteY4" fmla="*/ 440392 h 1614954"/>
                  <a:gd name="connsiteX5" fmla="*/ 3744143 w 3952875"/>
                  <a:gd name="connsiteY5" fmla="*/ 440392 h 1614954"/>
                  <a:gd name="connsiteX6" fmla="*/ 3939907 w 3952875"/>
                  <a:gd name="connsiteY6" fmla="*/ 636156 h 1614954"/>
                  <a:gd name="connsiteX7" fmla="*/ 3939907 w 3952875"/>
                  <a:gd name="connsiteY7" fmla="*/ 636152 h 1614954"/>
                  <a:gd name="connsiteX8" fmla="*/ 3939907 w 3952875"/>
                  <a:gd name="connsiteY8" fmla="*/ 636152 h 1614954"/>
                  <a:gd name="connsiteX9" fmla="*/ 3952875 w 3952875"/>
                  <a:gd name="connsiteY9" fmla="*/ 767845 h 1614954"/>
                  <a:gd name="connsiteX10" fmla="*/ 3939907 w 3952875"/>
                  <a:gd name="connsiteY10" fmla="*/ 929793 h 1614954"/>
                  <a:gd name="connsiteX11" fmla="*/ 3939907 w 3952875"/>
                  <a:gd name="connsiteY11" fmla="*/ 1419190 h 1614954"/>
                  <a:gd name="connsiteX12" fmla="*/ 3744143 w 3952875"/>
                  <a:gd name="connsiteY12" fmla="*/ 1614954 h 1614954"/>
                  <a:gd name="connsiteX13" fmla="*/ 3283256 w 3952875"/>
                  <a:gd name="connsiteY13" fmla="*/ 1614954 h 1614954"/>
                  <a:gd name="connsiteX14" fmla="*/ 2298279 w 3952875"/>
                  <a:gd name="connsiteY14" fmla="*/ 1614954 h 1614954"/>
                  <a:gd name="connsiteX15" fmla="*/ 2298279 w 3952875"/>
                  <a:gd name="connsiteY15" fmla="*/ 1614954 h 1614954"/>
                  <a:gd name="connsiteX16" fmla="*/ 195764 w 3952875"/>
                  <a:gd name="connsiteY16" fmla="*/ 1614954 h 1614954"/>
                  <a:gd name="connsiteX17" fmla="*/ 0 w 3952875"/>
                  <a:gd name="connsiteY17" fmla="*/ 1419190 h 1614954"/>
                  <a:gd name="connsiteX18" fmla="*/ 0 w 3952875"/>
                  <a:gd name="connsiteY18" fmla="*/ 929793 h 1614954"/>
                  <a:gd name="connsiteX19" fmla="*/ 0 w 3952875"/>
                  <a:gd name="connsiteY19" fmla="*/ 636152 h 1614954"/>
                  <a:gd name="connsiteX20" fmla="*/ 0 w 3952875"/>
                  <a:gd name="connsiteY20" fmla="*/ 636152 h 1614954"/>
                  <a:gd name="connsiteX21" fmla="*/ 0 w 3952875"/>
                  <a:gd name="connsiteY21" fmla="*/ 636156 h 1614954"/>
                  <a:gd name="connsiteX0" fmla="*/ 0 w 4086225"/>
                  <a:gd name="connsiteY0" fmla="*/ 636156 h 1614954"/>
                  <a:gd name="connsiteX1" fmla="*/ 195764 w 4086225"/>
                  <a:gd name="connsiteY1" fmla="*/ 440392 h 1614954"/>
                  <a:gd name="connsiteX2" fmla="*/ 3232343 w 4086225"/>
                  <a:gd name="connsiteY2" fmla="*/ 430560 h 1614954"/>
                  <a:gd name="connsiteX3" fmla="*/ 3704143 w 4086225"/>
                  <a:gd name="connsiteY3" fmla="*/ 0 h 1614954"/>
                  <a:gd name="connsiteX4" fmla="*/ 3519231 w 4086225"/>
                  <a:gd name="connsiteY4" fmla="*/ 440392 h 1614954"/>
                  <a:gd name="connsiteX5" fmla="*/ 3744143 w 4086225"/>
                  <a:gd name="connsiteY5" fmla="*/ 440392 h 1614954"/>
                  <a:gd name="connsiteX6" fmla="*/ 3939907 w 4086225"/>
                  <a:gd name="connsiteY6" fmla="*/ 636156 h 1614954"/>
                  <a:gd name="connsiteX7" fmla="*/ 3939907 w 4086225"/>
                  <a:gd name="connsiteY7" fmla="*/ 636152 h 1614954"/>
                  <a:gd name="connsiteX8" fmla="*/ 3939907 w 4086225"/>
                  <a:gd name="connsiteY8" fmla="*/ 636152 h 1614954"/>
                  <a:gd name="connsiteX9" fmla="*/ 4086225 w 4086225"/>
                  <a:gd name="connsiteY9" fmla="*/ 777370 h 1614954"/>
                  <a:gd name="connsiteX10" fmla="*/ 3939907 w 4086225"/>
                  <a:gd name="connsiteY10" fmla="*/ 929793 h 1614954"/>
                  <a:gd name="connsiteX11" fmla="*/ 3939907 w 4086225"/>
                  <a:gd name="connsiteY11" fmla="*/ 1419190 h 1614954"/>
                  <a:gd name="connsiteX12" fmla="*/ 3744143 w 4086225"/>
                  <a:gd name="connsiteY12" fmla="*/ 1614954 h 1614954"/>
                  <a:gd name="connsiteX13" fmla="*/ 3283256 w 4086225"/>
                  <a:gd name="connsiteY13" fmla="*/ 1614954 h 1614954"/>
                  <a:gd name="connsiteX14" fmla="*/ 2298279 w 4086225"/>
                  <a:gd name="connsiteY14" fmla="*/ 1614954 h 1614954"/>
                  <a:gd name="connsiteX15" fmla="*/ 2298279 w 4086225"/>
                  <a:gd name="connsiteY15" fmla="*/ 1614954 h 1614954"/>
                  <a:gd name="connsiteX16" fmla="*/ 195764 w 4086225"/>
                  <a:gd name="connsiteY16" fmla="*/ 1614954 h 1614954"/>
                  <a:gd name="connsiteX17" fmla="*/ 0 w 4086225"/>
                  <a:gd name="connsiteY17" fmla="*/ 1419190 h 1614954"/>
                  <a:gd name="connsiteX18" fmla="*/ 0 w 4086225"/>
                  <a:gd name="connsiteY18" fmla="*/ 929793 h 1614954"/>
                  <a:gd name="connsiteX19" fmla="*/ 0 w 4086225"/>
                  <a:gd name="connsiteY19" fmla="*/ 636152 h 1614954"/>
                  <a:gd name="connsiteX20" fmla="*/ 0 w 4086225"/>
                  <a:gd name="connsiteY20" fmla="*/ 636152 h 1614954"/>
                  <a:gd name="connsiteX21" fmla="*/ 0 w 4086225"/>
                  <a:gd name="connsiteY21" fmla="*/ 636156 h 1614954"/>
                  <a:gd name="connsiteX0" fmla="*/ 0 w 4086225"/>
                  <a:gd name="connsiteY0" fmla="*/ 636156 h 1614954"/>
                  <a:gd name="connsiteX1" fmla="*/ 195764 w 4086225"/>
                  <a:gd name="connsiteY1" fmla="*/ 440392 h 1614954"/>
                  <a:gd name="connsiteX2" fmla="*/ 3232343 w 4086225"/>
                  <a:gd name="connsiteY2" fmla="*/ 430560 h 1614954"/>
                  <a:gd name="connsiteX3" fmla="*/ 3704143 w 4086225"/>
                  <a:gd name="connsiteY3" fmla="*/ 0 h 1614954"/>
                  <a:gd name="connsiteX4" fmla="*/ 3519231 w 4086225"/>
                  <a:gd name="connsiteY4" fmla="*/ 440392 h 1614954"/>
                  <a:gd name="connsiteX5" fmla="*/ 3744143 w 4086225"/>
                  <a:gd name="connsiteY5" fmla="*/ 440392 h 1614954"/>
                  <a:gd name="connsiteX6" fmla="*/ 3939907 w 4086225"/>
                  <a:gd name="connsiteY6" fmla="*/ 636156 h 1614954"/>
                  <a:gd name="connsiteX7" fmla="*/ 3939907 w 4086225"/>
                  <a:gd name="connsiteY7" fmla="*/ 636152 h 1614954"/>
                  <a:gd name="connsiteX8" fmla="*/ 3939907 w 4086225"/>
                  <a:gd name="connsiteY8" fmla="*/ 636152 h 1614954"/>
                  <a:gd name="connsiteX9" fmla="*/ 4086225 w 4086225"/>
                  <a:gd name="connsiteY9" fmla="*/ 777370 h 1614954"/>
                  <a:gd name="connsiteX10" fmla="*/ 3939907 w 4086225"/>
                  <a:gd name="connsiteY10" fmla="*/ 929793 h 1614954"/>
                  <a:gd name="connsiteX11" fmla="*/ 3939907 w 4086225"/>
                  <a:gd name="connsiteY11" fmla="*/ 1419190 h 1614954"/>
                  <a:gd name="connsiteX12" fmla="*/ 3744143 w 4086225"/>
                  <a:gd name="connsiteY12" fmla="*/ 1614954 h 1614954"/>
                  <a:gd name="connsiteX13" fmla="*/ 3283256 w 4086225"/>
                  <a:gd name="connsiteY13" fmla="*/ 1614954 h 1614954"/>
                  <a:gd name="connsiteX14" fmla="*/ 2298279 w 4086225"/>
                  <a:gd name="connsiteY14" fmla="*/ 1614954 h 1614954"/>
                  <a:gd name="connsiteX15" fmla="*/ 2298279 w 4086225"/>
                  <a:gd name="connsiteY15" fmla="*/ 1614954 h 1614954"/>
                  <a:gd name="connsiteX16" fmla="*/ 195764 w 4086225"/>
                  <a:gd name="connsiteY16" fmla="*/ 1614954 h 1614954"/>
                  <a:gd name="connsiteX17" fmla="*/ 0 w 4086225"/>
                  <a:gd name="connsiteY17" fmla="*/ 1419190 h 1614954"/>
                  <a:gd name="connsiteX18" fmla="*/ 0 w 4086225"/>
                  <a:gd name="connsiteY18" fmla="*/ 929793 h 1614954"/>
                  <a:gd name="connsiteX19" fmla="*/ 0 w 4086225"/>
                  <a:gd name="connsiteY19" fmla="*/ 636152 h 1614954"/>
                  <a:gd name="connsiteX20" fmla="*/ 0 w 4086225"/>
                  <a:gd name="connsiteY20" fmla="*/ 636152 h 1614954"/>
                  <a:gd name="connsiteX21" fmla="*/ 0 w 4086225"/>
                  <a:gd name="connsiteY21" fmla="*/ 636156 h 1614954"/>
                  <a:gd name="connsiteX0" fmla="*/ 0 w 4086225"/>
                  <a:gd name="connsiteY0" fmla="*/ 636156 h 1614954"/>
                  <a:gd name="connsiteX1" fmla="*/ 195764 w 4086225"/>
                  <a:gd name="connsiteY1" fmla="*/ 440392 h 1614954"/>
                  <a:gd name="connsiteX2" fmla="*/ 3232343 w 4086225"/>
                  <a:gd name="connsiteY2" fmla="*/ 430560 h 1614954"/>
                  <a:gd name="connsiteX3" fmla="*/ 3704143 w 4086225"/>
                  <a:gd name="connsiteY3" fmla="*/ 0 h 1614954"/>
                  <a:gd name="connsiteX4" fmla="*/ 3519231 w 4086225"/>
                  <a:gd name="connsiteY4" fmla="*/ 440392 h 1614954"/>
                  <a:gd name="connsiteX5" fmla="*/ 3744143 w 4086225"/>
                  <a:gd name="connsiteY5" fmla="*/ 440392 h 1614954"/>
                  <a:gd name="connsiteX6" fmla="*/ 3939907 w 4086225"/>
                  <a:gd name="connsiteY6" fmla="*/ 636156 h 1614954"/>
                  <a:gd name="connsiteX7" fmla="*/ 3939907 w 4086225"/>
                  <a:gd name="connsiteY7" fmla="*/ 636152 h 1614954"/>
                  <a:gd name="connsiteX8" fmla="*/ 3939907 w 4086225"/>
                  <a:gd name="connsiteY8" fmla="*/ 636152 h 1614954"/>
                  <a:gd name="connsiteX9" fmla="*/ 4086225 w 4086225"/>
                  <a:gd name="connsiteY9" fmla="*/ 777370 h 1614954"/>
                  <a:gd name="connsiteX10" fmla="*/ 3939907 w 4086225"/>
                  <a:gd name="connsiteY10" fmla="*/ 929793 h 1614954"/>
                  <a:gd name="connsiteX11" fmla="*/ 3939907 w 4086225"/>
                  <a:gd name="connsiteY11" fmla="*/ 1419190 h 1614954"/>
                  <a:gd name="connsiteX12" fmla="*/ 3744143 w 4086225"/>
                  <a:gd name="connsiteY12" fmla="*/ 1614954 h 1614954"/>
                  <a:gd name="connsiteX13" fmla="*/ 3283256 w 4086225"/>
                  <a:gd name="connsiteY13" fmla="*/ 1614954 h 1614954"/>
                  <a:gd name="connsiteX14" fmla="*/ 2298279 w 4086225"/>
                  <a:gd name="connsiteY14" fmla="*/ 1614954 h 1614954"/>
                  <a:gd name="connsiteX15" fmla="*/ 2298279 w 4086225"/>
                  <a:gd name="connsiteY15" fmla="*/ 1614954 h 1614954"/>
                  <a:gd name="connsiteX16" fmla="*/ 195764 w 4086225"/>
                  <a:gd name="connsiteY16" fmla="*/ 1614954 h 1614954"/>
                  <a:gd name="connsiteX17" fmla="*/ 0 w 4086225"/>
                  <a:gd name="connsiteY17" fmla="*/ 1419190 h 1614954"/>
                  <a:gd name="connsiteX18" fmla="*/ 0 w 4086225"/>
                  <a:gd name="connsiteY18" fmla="*/ 929793 h 1614954"/>
                  <a:gd name="connsiteX19" fmla="*/ 0 w 4086225"/>
                  <a:gd name="connsiteY19" fmla="*/ 636152 h 1614954"/>
                  <a:gd name="connsiteX20" fmla="*/ 0 w 4086225"/>
                  <a:gd name="connsiteY20" fmla="*/ 636152 h 1614954"/>
                  <a:gd name="connsiteX21" fmla="*/ 0 w 4086225"/>
                  <a:gd name="connsiteY21" fmla="*/ 636156 h 1614954"/>
                  <a:gd name="connsiteX0" fmla="*/ 0 w 4086225"/>
                  <a:gd name="connsiteY0" fmla="*/ 205596 h 1184394"/>
                  <a:gd name="connsiteX1" fmla="*/ 195764 w 4086225"/>
                  <a:gd name="connsiteY1" fmla="*/ 9832 h 1184394"/>
                  <a:gd name="connsiteX2" fmla="*/ 3232343 w 4086225"/>
                  <a:gd name="connsiteY2" fmla="*/ 0 h 1184394"/>
                  <a:gd name="connsiteX3" fmla="*/ 3519231 w 4086225"/>
                  <a:gd name="connsiteY3" fmla="*/ 9832 h 1184394"/>
                  <a:gd name="connsiteX4" fmla="*/ 3744143 w 4086225"/>
                  <a:gd name="connsiteY4" fmla="*/ 9832 h 1184394"/>
                  <a:gd name="connsiteX5" fmla="*/ 3939907 w 4086225"/>
                  <a:gd name="connsiteY5" fmla="*/ 205596 h 1184394"/>
                  <a:gd name="connsiteX6" fmla="*/ 3939907 w 4086225"/>
                  <a:gd name="connsiteY6" fmla="*/ 205592 h 1184394"/>
                  <a:gd name="connsiteX7" fmla="*/ 3939907 w 4086225"/>
                  <a:gd name="connsiteY7" fmla="*/ 205592 h 1184394"/>
                  <a:gd name="connsiteX8" fmla="*/ 4086225 w 4086225"/>
                  <a:gd name="connsiteY8" fmla="*/ 346810 h 1184394"/>
                  <a:gd name="connsiteX9" fmla="*/ 3939907 w 4086225"/>
                  <a:gd name="connsiteY9" fmla="*/ 499233 h 1184394"/>
                  <a:gd name="connsiteX10" fmla="*/ 3939907 w 4086225"/>
                  <a:gd name="connsiteY10" fmla="*/ 988630 h 1184394"/>
                  <a:gd name="connsiteX11" fmla="*/ 3744143 w 4086225"/>
                  <a:gd name="connsiteY11" fmla="*/ 1184394 h 1184394"/>
                  <a:gd name="connsiteX12" fmla="*/ 3283256 w 4086225"/>
                  <a:gd name="connsiteY12" fmla="*/ 1184394 h 1184394"/>
                  <a:gd name="connsiteX13" fmla="*/ 2298279 w 4086225"/>
                  <a:gd name="connsiteY13" fmla="*/ 1184394 h 1184394"/>
                  <a:gd name="connsiteX14" fmla="*/ 2298279 w 4086225"/>
                  <a:gd name="connsiteY14" fmla="*/ 1184394 h 1184394"/>
                  <a:gd name="connsiteX15" fmla="*/ 195764 w 4086225"/>
                  <a:gd name="connsiteY15" fmla="*/ 1184394 h 1184394"/>
                  <a:gd name="connsiteX16" fmla="*/ 0 w 4086225"/>
                  <a:gd name="connsiteY16" fmla="*/ 988630 h 1184394"/>
                  <a:gd name="connsiteX17" fmla="*/ 0 w 4086225"/>
                  <a:gd name="connsiteY17" fmla="*/ 499233 h 1184394"/>
                  <a:gd name="connsiteX18" fmla="*/ 0 w 4086225"/>
                  <a:gd name="connsiteY18" fmla="*/ 205592 h 1184394"/>
                  <a:gd name="connsiteX19" fmla="*/ 0 w 4086225"/>
                  <a:gd name="connsiteY19" fmla="*/ 205592 h 1184394"/>
                  <a:gd name="connsiteX20" fmla="*/ 0 w 4086225"/>
                  <a:gd name="connsiteY20" fmla="*/ 205596 h 1184394"/>
                  <a:gd name="connsiteX0" fmla="*/ 0 w 4086225"/>
                  <a:gd name="connsiteY0" fmla="*/ 214038 h 1192836"/>
                  <a:gd name="connsiteX1" fmla="*/ 195764 w 4086225"/>
                  <a:gd name="connsiteY1" fmla="*/ 18274 h 1192836"/>
                  <a:gd name="connsiteX2" fmla="*/ 3232343 w 4086225"/>
                  <a:gd name="connsiteY2" fmla="*/ 8442 h 1192836"/>
                  <a:gd name="connsiteX3" fmla="*/ 3744143 w 4086225"/>
                  <a:gd name="connsiteY3" fmla="*/ 18274 h 1192836"/>
                  <a:gd name="connsiteX4" fmla="*/ 3939907 w 4086225"/>
                  <a:gd name="connsiteY4" fmla="*/ 214038 h 1192836"/>
                  <a:gd name="connsiteX5" fmla="*/ 3939907 w 4086225"/>
                  <a:gd name="connsiteY5" fmla="*/ 214034 h 1192836"/>
                  <a:gd name="connsiteX6" fmla="*/ 3939907 w 4086225"/>
                  <a:gd name="connsiteY6" fmla="*/ 214034 h 1192836"/>
                  <a:gd name="connsiteX7" fmla="*/ 4086225 w 4086225"/>
                  <a:gd name="connsiteY7" fmla="*/ 355252 h 1192836"/>
                  <a:gd name="connsiteX8" fmla="*/ 3939907 w 4086225"/>
                  <a:gd name="connsiteY8" fmla="*/ 507675 h 1192836"/>
                  <a:gd name="connsiteX9" fmla="*/ 3939907 w 4086225"/>
                  <a:gd name="connsiteY9" fmla="*/ 997072 h 1192836"/>
                  <a:gd name="connsiteX10" fmla="*/ 3744143 w 4086225"/>
                  <a:gd name="connsiteY10" fmla="*/ 1192836 h 1192836"/>
                  <a:gd name="connsiteX11" fmla="*/ 3283256 w 4086225"/>
                  <a:gd name="connsiteY11" fmla="*/ 1192836 h 1192836"/>
                  <a:gd name="connsiteX12" fmla="*/ 2298279 w 4086225"/>
                  <a:gd name="connsiteY12" fmla="*/ 1192836 h 1192836"/>
                  <a:gd name="connsiteX13" fmla="*/ 2298279 w 4086225"/>
                  <a:gd name="connsiteY13" fmla="*/ 1192836 h 1192836"/>
                  <a:gd name="connsiteX14" fmla="*/ 195764 w 4086225"/>
                  <a:gd name="connsiteY14" fmla="*/ 1192836 h 1192836"/>
                  <a:gd name="connsiteX15" fmla="*/ 0 w 4086225"/>
                  <a:gd name="connsiteY15" fmla="*/ 997072 h 1192836"/>
                  <a:gd name="connsiteX16" fmla="*/ 0 w 4086225"/>
                  <a:gd name="connsiteY16" fmla="*/ 507675 h 1192836"/>
                  <a:gd name="connsiteX17" fmla="*/ 0 w 4086225"/>
                  <a:gd name="connsiteY17" fmla="*/ 214034 h 1192836"/>
                  <a:gd name="connsiteX18" fmla="*/ 0 w 4086225"/>
                  <a:gd name="connsiteY18" fmla="*/ 214034 h 1192836"/>
                  <a:gd name="connsiteX19" fmla="*/ 0 w 4086225"/>
                  <a:gd name="connsiteY19" fmla="*/ 214038 h 1192836"/>
                  <a:gd name="connsiteX0" fmla="*/ 0 w 4086225"/>
                  <a:gd name="connsiteY0" fmla="*/ 195764 h 1174562"/>
                  <a:gd name="connsiteX1" fmla="*/ 195764 w 4086225"/>
                  <a:gd name="connsiteY1" fmla="*/ 0 h 1174562"/>
                  <a:gd name="connsiteX2" fmla="*/ 3744143 w 4086225"/>
                  <a:gd name="connsiteY2" fmla="*/ 0 h 1174562"/>
                  <a:gd name="connsiteX3" fmla="*/ 3939907 w 4086225"/>
                  <a:gd name="connsiteY3" fmla="*/ 195764 h 1174562"/>
                  <a:gd name="connsiteX4" fmla="*/ 3939907 w 4086225"/>
                  <a:gd name="connsiteY4" fmla="*/ 195760 h 1174562"/>
                  <a:gd name="connsiteX5" fmla="*/ 3939907 w 4086225"/>
                  <a:gd name="connsiteY5" fmla="*/ 195760 h 1174562"/>
                  <a:gd name="connsiteX6" fmla="*/ 4086225 w 4086225"/>
                  <a:gd name="connsiteY6" fmla="*/ 336978 h 1174562"/>
                  <a:gd name="connsiteX7" fmla="*/ 3939907 w 4086225"/>
                  <a:gd name="connsiteY7" fmla="*/ 489401 h 1174562"/>
                  <a:gd name="connsiteX8" fmla="*/ 3939907 w 4086225"/>
                  <a:gd name="connsiteY8" fmla="*/ 978798 h 1174562"/>
                  <a:gd name="connsiteX9" fmla="*/ 3744143 w 4086225"/>
                  <a:gd name="connsiteY9" fmla="*/ 1174562 h 1174562"/>
                  <a:gd name="connsiteX10" fmla="*/ 3283256 w 4086225"/>
                  <a:gd name="connsiteY10" fmla="*/ 1174562 h 1174562"/>
                  <a:gd name="connsiteX11" fmla="*/ 2298279 w 4086225"/>
                  <a:gd name="connsiteY11" fmla="*/ 1174562 h 1174562"/>
                  <a:gd name="connsiteX12" fmla="*/ 2298279 w 4086225"/>
                  <a:gd name="connsiteY12" fmla="*/ 1174562 h 1174562"/>
                  <a:gd name="connsiteX13" fmla="*/ 195764 w 4086225"/>
                  <a:gd name="connsiteY13" fmla="*/ 1174562 h 1174562"/>
                  <a:gd name="connsiteX14" fmla="*/ 0 w 4086225"/>
                  <a:gd name="connsiteY14" fmla="*/ 978798 h 1174562"/>
                  <a:gd name="connsiteX15" fmla="*/ 0 w 4086225"/>
                  <a:gd name="connsiteY15" fmla="*/ 489401 h 1174562"/>
                  <a:gd name="connsiteX16" fmla="*/ 0 w 4086225"/>
                  <a:gd name="connsiteY16" fmla="*/ 195760 h 1174562"/>
                  <a:gd name="connsiteX17" fmla="*/ 0 w 4086225"/>
                  <a:gd name="connsiteY17" fmla="*/ 195760 h 1174562"/>
                  <a:gd name="connsiteX18" fmla="*/ 0 w 4086225"/>
                  <a:gd name="connsiteY18" fmla="*/ 195764 h 1174562"/>
                  <a:gd name="connsiteX0" fmla="*/ 0 w 4171950"/>
                  <a:gd name="connsiteY0" fmla="*/ 195764 h 1174562"/>
                  <a:gd name="connsiteX1" fmla="*/ 195764 w 4171950"/>
                  <a:gd name="connsiteY1" fmla="*/ 0 h 1174562"/>
                  <a:gd name="connsiteX2" fmla="*/ 3744143 w 4171950"/>
                  <a:gd name="connsiteY2" fmla="*/ 0 h 1174562"/>
                  <a:gd name="connsiteX3" fmla="*/ 3939907 w 4171950"/>
                  <a:gd name="connsiteY3" fmla="*/ 195764 h 1174562"/>
                  <a:gd name="connsiteX4" fmla="*/ 3939907 w 4171950"/>
                  <a:gd name="connsiteY4" fmla="*/ 195760 h 1174562"/>
                  <a:gd name="connsiteX5" fmla="*/ 3939907 w 4171950"/>
                  <a:gd name="connsiteY5" fmla="*/ 195760 h 1174562"/>
                  <a:gd name="connsiteX6" fmla="*/ 4171950 w 4171950"/>
                  <a:gd name="connsiteY6" fmla="*/ 127428 h 1174562"/>
                  <a:gd name="connsiteX7" fmla="*/ 3939907 w 4171950"/>
                  <a:gd name="connsiteY7" fmla="*/ 489401 h 1174562"/>
                  <a:gd name="connsiteX8" fmla="*/ 3939907 w 4171950"/>
                  <a:gd name="connsiteY8" fmla="*/ 978798 h 1174562"/>
                  <a:gd name="connsiteX9" fmla="*/ 3744143 w 4171950"/>
                  <a:gd name="connsiteY9" fmla="*/ 1174562 h 1174562"/>
                  <a:gd name="connsiteX10" fmla="*/ 3283256 w 4171950"/>
                  <a:gd name="connsiteY10" fmla="*/ 1174562 h 1174562"/>
                  <a:gd name="connsiteX11" fmla="*/ 2298279 w 4171950"/>
                  <a:gd name="connsiteY11" fmla="*/ 1174562 h 1174562"/>
                  <a:gd name="connsiteX12" fmla="*/ 2298279 w 4171950"/>
                  <a:gd name="connsiteY12" fmla="*/ 1174562 h 1174562"/>
                  <a:gd name="connsiteX13" fmla="*/ 195764 w 4171950"/>
                  <a:gd name="connsiteY13" fmla="*/ 1174562 h 1174562"/>
                  <a:gd name="connsiteX14" fmla="*/ 0 w 4171950"/>
                  <a:gd name="connsiteY14" fmla="*/ 978798 h 1174562"/>
                  <a:gd name="connsiteX15" fmla="*/ 0 w 4171950"/>
                  <a:gd name="connsiteY15" fmla="*/ 489401 h 1174562"/>
                  <a:gd name="connsiteX16" fmla="*/ 0 w 4171950"/>
                  <a:gd name="connsiteY16" fmla="*/ 195760 h 1174562"/>
                  <a:gd name="connsiteX17" fmla="*/ 0 w 4171950"/>
                  <a:gd name="connsiteY17" fmla="*/ 195760 h 1174562"/>
                  <a:gd name="connsiteX18" fmla="*/ 0 w 4171950"/>
                  <a:gd name="connsiteY18" fmla="*/ 195764 h 1174562"/>
                  <a:gd name="connsiteX0" fmla="*/ 0 w 4171950"/>
                  <a:gd name="connsiteY0" fmla="*/ 195764 h 1174562"/>
                  <a:gd name="connsiteX1" fmla="*/ 195764 w 4171950"/>
                  <a:gd name="connsiteY1" fmla="*/ 0 h 1174562"/>
                  <a:gd name="connsiteX2" fmla="*/ 3744143 w 4171950"/>
                  <a:gd name="connsiteY2" fmla="*/ 0 h 1174562"/>
                  <a:gd name="connsiteX3" fmla="*/ 3939907 w 4171950"/>
                  <a:gd name="connsiteY3" fmla="*/ 195764 h 1174562"/>
                  <a:gd name="connsiteX4" fmla="*/ 3939907 w 4171950"/>
                  <a:gd name="connsiteY4" fmla="*/ 195760 h 1174562"/>
                  <a:gd name="connsiteX5" fmla="*/ 3939907 w 4171950"/>
                  <a:gd name="connsiteY5" fmla="*/ 195760 h 1174562"/>
                  <a:gd name="connsiteX6" fmla="*/ 4171950 w 4171950"/>
                  <a:gd name="connsiteY6" fmla="*/ 127428 h 1174562"/>
                  <a:gd name="connsiteX7" fmla="*/ 3939907 w 4171950"/>
                  <a:gd name="connsiteY7" fmla="*/ 489401 h 1174562"/>
                  <a:gd name="connsiteX8" fmla="*/ 3939907 w 4171950"/>
                  <a:gd name="connsiteY8" fmla="*/ 978798 h 1174562"/>
                  <a:gd name="connsiteX9" fmla="*/ 3744143 w 4171950"/>
                  <a:gd name="connsiteY9" fmla="*/ 1174562 h 1174562"/>
                  <a:gd name="connsiteX10" fmla="*/ 3283256 w 4171950"/>
                  <a:gd name="connsiteY10" fmla="*/ 1174562 h 1174562"/>
                  <a:gd name="connsiteX11" fmla="*/ 2298279 w 4171950"/>
                  <a:gd name="connsiteY11" fmla="*/ 1174562 h 1174562"/>
                  <a:gd name="connsiteX12" fmla="*/ 2298279 w 4171950"/>
                  <a:gd name="connsiteY12" fmla="*/ 1174562 h 1174562"/>
                  <a:gd name="connsiteX13" fmla="*/ 195764 w 4171950"/>
                  <a:gd name="connsiteY13" fmla="*/ 1174562 h 1174562"/>
                  <a:gd name="connsiteX14" fmla="*/ 0 w 4171950"/>
                  <a:gd name="connsiteY14" fmla="*/ 978798 h 1174562"/>
                  <a:gd name="connsiteX15" fmla="*/ 0 w 4171950"/>
                  <a:gd name="connsiteY15" fmla="*/ 489401 h 1174562"/>
                  <a:gd name="connsiteX16" fmla="*/ 0 w 4171950"/>
                  <a:gd name="connsiteY16" fmla="*/ 195760 h 1174562"/>
                  <a:gd name="connsiteX17" fmla="*/ 0 w 4171950"/>
                  <a:gd name="connsiteY17" fmla="*/ 195760 h 1174562"/>
                  <a:gd name="connsiteX18" fmla="*/ 0 w 4171950"/>
                  <a:gd name="connsiteY18" fmla="*/ 195764 h 1174562"/>
                  <a:gd name="connsiteX0" fmla="*/ 0 w 4171950"/>
                  <a:gd name="connsiteY0" fmla="*/ 195764 h 1174562"/>
                  <a:gd name="connsiteX1" fmla="*/ 195764 w 4171950"/>
                  <a:gd name="connsiteY1" fmla="*/ 0 h 1174562"/>
                  <a:gd name="connsiteX2" fmla="*/ 3744143 w 4171950"/>
                  <a:gd name="connsiteY2" fmla="*/ 0 h 1174562"/>
                  <a:gd name="connsiteX3" fmla="*/ 3939907 w 4171950"/>
                  <a:gd name="connsiteY3" fmla="*/ 195764 h 1174562"/>
                  <a:gd name="connsiteX4" fmla="*/ 3939907 w 4171950"/>
                  <a:gd name="connsiteY4" fmla="*/ 195760 h 1174562"/>
                  <a:gd name="connsiteX5" fmla="*/ 3939907 w 4171950"/>
                  <a:gd name="connsiteY5" fmla="*/ 195760 h 1174562"/>
                  <a:gd name="connsiteX6" fmla="*/ 4171950 w 4171950"/>
                  <a:gd name="connsiteY6" fmla="*/ 127428 h 1174562"/>
                  <a:gd name="connsiteX7" fmla="*/ 3939907 w 4171950"/>
                  <a:gd name="connsiteY7" fmla="*/ 489401 h 1174562"/>
                  <a:gd name="connsiteX8" fmla="*/ 3939907 w 4171950"/>
                  <a:gd name="connsiteY8" fmla="*/ 978798 h 1174562"/>
                  <a:gd name="connsiteX9" fmla="*/ 3744143 w 4171950"/>
                  <a:gd name="connsiteY9" fmla="*/ 1174562 h 1174562"/>
                  <a:gd name="connsiteX10" fmla="*/ 3283256 w 4171950"/>
                  <a:gd name="connsiteY10" fmla="*/ 1174562 h 1174562"/>
                  <a:gd name="connsiteX11" fmla="*/ 2298279 w 4171950"/>
                  <a:gd name="connsiteY11" fmla="*/ 1174562 h 1174562"/>
                  <a:gd name="connsiteX12" fmla="*/ 2298279 w 4171950"/>
                  <a:gd name="connsiteY12" fmla="*/ 1174562 h 1174562"/>
                  <a:gd name="connsiteX13" fmla="*/ 195764 w 4171950"/>
                  <a:gd name="connsiteY13" fmla="*/ 1174562 h 1174562"/>
                  <a:gd name="connsiteX14" fmla="*/ 0 w 4171950"/>
                  <a:gd name="connsiteY14" fmla="*/ 978798 h 1174562"/>
                  <a:gd name="connsiteX15" fmla="*/ 0 w 4171950"/>
                  <a:gd name="connsiteY15" fmla="*/ 489401 h 1174562"/>
                  <a:gd name="connsiteX16" fmla="*/ 0 w 4171950"/>
                  <a:gd name="connsiteY16" fmla="*/ 195760 h 1174562"/>
                  <a:gd name="connsiteX17" fmla="*/ 0 w 4171950"/>
                  <a:gd name="connsiteY17" fmla="*/ 195760 h 1174562"/>
                  <a:gd name="connsiteX18" fmla="*/ 0 w 4171950"/>
                  <a:gd name="connsiteY18" fmla="*/ 195764 h 1174562"/>
                  <a:gd name="connsiteX0" fmla="*/ 0 w 4171950"/>
                  <a:gd name="connsiteY0" fmla="*/ 195764 h 1174562"/>
                  <a:gd name="connsiteX1" fmla="*/ 195764 w 4171950"/>
                  <a:gd name="connsiteY1" fmla="*/ 0 h 1174562"/>
                  <a:gd name="connsiteX2" fmla="*/ 3744143 w 4171950"/>
                  <a:gd name="connsiteY2" fmla="*/ 0 h 1174562"/>
                  <a:gd name="connsiteX3" fmla="*/ 3939907 w 4171950"/>
                  <a:gd name="connsiteY3" fmla="*/ 195764 h 1174562"/>
                  <a:gd name="connsiteX4" fmla="*/ 3939907 w 4171950"/>
                  <a:gd name="connsiteY4" fmla="*/ 195760 h 1174562"/>
                  <a:gd name="connsiteX5" fmla="*/ 3939907 w 4171950"/>
                  <a:gd name="connsiteY5" fmla="*/ 195760 h 1174562"/>
                  <a:gd name="connsiteX6" fmla="*/ 4171950 w 4171950"/>
                  <a:gd name="connsiteY6" fmla="*/ 127428 h 1174562"/>
                  <a:gd name="connsiteX7" fmla="*/ 3939907 w 4171950"/>
                  <a:gd name="connsiteY7" fmla="*/ 489401 h 1174562"/>
                  <a:gd name="connsiteX8" fmla="*/ 3939907 w 4171950"/>
                  <a:gd name="connsiteY8" fmla="*/ 978798 h 1174562"/>
                  <a:gd name="connsiteX9" fmla="*/ 3744143 w 4171950"/>
                  <a:gd name="connsiteY9" fmla="*/ 1174562 h 1174562"/>
                  <a:gd name="connsiteX10" fmla="*/ 3283256 w 4171950"/>
                  <a:gd name="connsiteY10" fmla="*/ 1174562 h 1174562"/>
                  <a:gd name="connsiteX11" fmla="*/ 2298279 w 4171950"/>
                  <a:gd name="connsiteY11" fmla="*/ 1174562 h 1174562"/>
                  <a:gd name="connsiteX12" fmla="*/ 2298279 w 4171950"/>
                  <a:gd name="connsiteY12" fmla="*/ 1174562 h 1174562"/>
                  <a:gd name="connsiteX13" fmla="*/ 195764 w 4171950"/>
                  <a:gd name="connsiteY13" fmla="*/ 1174562 h 1174562"/>
                  <a:gd name="connsiteX14" fmla="*/ 0 w 4171950"/>
                  <a:gd name="connsiteY14" fmla="*/ 978798 h 1174562"/>
                  <a:gd name="connsiteX15" fmla="*/ 0 w 4171950"/>
                  <a:gd name="connsiteY15" fmla="*/ 489401 h 1174562"/>
                  <a:gd name="connsiteX16" fmla="*/ 0 w 4171950"/>
                  <a:gd name="connsiteY16" fmla="*/ 195760 h 1174562"/>
                  <a:gd name="connsiteX17" fmla="*/ 0 w 4171950"/>
                  <a:gd name="connsiteY17" fmla="*/ 195760 h 1174562"/>
                  <a:gd name="connsiteX18" fmla="*/ 0 w 4171950"/>
                  <a:gd name="connsiteY18" fmla="*/ 195764 h 1174562"/>
                  <a:gd name="connsiteX0" fmla="*/ 0 w 4095750"/>
                  <a:gd name="connsiteY0" fmla="*/ 195764 h 1174562"/>
                  <a:gd name="connsiteX1" fmla="*/ 195764 w 4095750"/>
                  <a:gd name="connsiteY1" fmla="*/ 0 h 1174562"/>
                  <a:gd name="connsiteX2" fmla="*/ 3744143 w 4095750"/>
                  <a:gd name="connsiteY2" fmla="*/ 0 h 1174562"/>
                  <a:gd name="connsiteX3" fmla="*/ 3939907 w 4095750"/>
                  <a:gd name="connsiteY3" fmla="*/ 195764 h 1174562"/>
                  <a:gd name="connsiteX4" fmla="*/ 3939907 w 4095750"/>
                  <a:gd name="connsiteY4" fmla="*/ 195760 h 1174562"/>
                  <a:gd name="connsiteX5" fmla="*/ 3939907 w 4095750"/>
                  <a:gd name="connsiteY5" fmla="*/ 195760 h 1174562"/>
                  <a:gd name="connsiteX6" fmla="*/ 4095750 w 4095750"/>
                  <a:gd name="connsiteY6" fmla="*/ 222678 h 1174562"/>
                  <a:gd name="connsiteX7" fmla="*/ 3939907 w 4095750"/>
                  <a:gd name="connsiteY7" fmla="*/ 489401 h 1174562"/>
                  <a:gd name="connsiteX8" fmla="*/ 3939907 w 4095750"/>
                  <a:gd name="connsiteY8" fmla="*/ 978798 h 1174562"/>
                  <a:gd name="connsiteX9" fmla="*/ 3744143 w 4095750"/>
                  <a:gd name="connsiteY9" fmla="*/ 1174562 h 1174562"/>
                  <a:gd name="connsiteX10" fmla="*/ 3283256 w 4095750"/>
                  <a:gd name="connsiteY10" fmla="*/ 1174562 h 1174562"/>
                  <a:gd name="connsiteX11" fmla="*/ 2298279 w 4095750"/>
                  <a:gd name="connsiteY11" fmla="*/ 1174562 h 1174562"/>
                  <a:gd name="connsiteX12" fmla="*/ 2298279 w 4095750"/>
                  <a:gd name="connsiteY12" fmla="*/ 1174562 h 1174562"/>
                  <a:gd name="connsiteX13" fmla="*/ 195764 w 4095750"/>
                  <a:gd name="connsiteY13" fmla="*/ 1174562 h 1174562"/>
                  <a:gd name="connsiteX14" fmla="*/ 0 w 4095750"/>
                  <a:gd name="connsiteY14" fmla="*/ 978798 h 1174562"/>
                  <a:gd name="connsiteX15" fmla="*/ 0 w 4095750"/>
                  <a:gd name="connsiteY15" fmla="*/ 489401 h 1174562"/>
                  <a:gd name="connsiteX16" fmla="*/ 0 w 4095750"/>
                  <a:gd name="connsiteY16" fmla="*/ 195760 h 1174562"/>
                  <a:gd name="connsiteX17" fmla="*/ 0 w 4095750"/>
                  <a:gd name="connsiteY17" fmla="*/ 195760 h 1174562"/>
                  <a:gd name="connsiteX18" fmla="*/ 0 w 4095750"/>
                  <a:gd name="connsiteY18" fmla="*/ 195764 h 1174562"/>
                  <a:gd name="connsiteX0" fmla="*/ 0 w 4095750"/>
                  <a:gd name="connsiteY0" fmla="*/ 195764 h 1174562"/>
                  <a:gd name="connsiteX1" fmla="*/ 195764 w 4095750"/>
                  <a:gd name="connsiteY1" fmla="*/ 0 h 1174562"/>
                  <a:gd name="connsiteX2" fmla="*/ 3744143 w 4095750"/>
                  <a:gd name="connsiteY2" fmla="*/ 0 h 1174562"/>
                  <a:gd name="connsiteX3" fmla="*/ 3939907 w 4095750"/>
                  <a:gd name="connsiteY3" fmla="*/ 195764 h 1174562"/>
                  <a:gd name="connsiteX4" fmla="*/ 3939907 w 4095750"/>
                  <a:gd name="connsiteY4" fmla="*/ 195760 h 1174562"/>
                  <a:gd name="connsiteX5" fmla="*/ 3939907 w 4095750"/>
                  <a:gd name="connsiteY5" fmla="*/ 195760 h 1174562"/>
                  <a:gd name="connsiteX6" fmla="*/ 4095750 w 4095750"/>
                  <a:gd name="connsiteY6" fmla="*/ 222678 h 1174562"/>
                  <a:gd name="connsiteX7" fmla="*/ 3939907 w 4095750"/>
                  <a:gd name="connsiteY7" fmla="*/ 489401 h 1174562"/>
                  <a:gd name="connsiteX8" fmla="*/ 3939907 w 4095750"/>
                  <a:gd name="connsiteY8" fmla="*/ 978798 h 1174562"/>
                  <a:gd name="connsiteX9" fmla="*/ 3744143 w 4095750"/>
                  <a:gd name="connsiteY9" fmla="*/ 1174562 h 1174562"/>
                  <a:gd name="connsiteX10" fmla="*/ 3283256 w 4095750"/>
                  <a:gd name="connsiteY10" fmla="*/ 1174562 h 1174562"/>
                  <a:gd name="connsiteX11" fmla="*/ 2298279 w 4095750"/>
                  <a:gd name="connsiteY11" fmla="*/ 1174562 h 1174562"/>
                  <a:gd name="connsiteX12" fmla="*/ 2298279 w 4095750"/>
                  <a:gd name="connsiteY12" fmla="*/ 1174562 h 1174562"/>
                  <a:gd name="connsiteX13" fmla="*/ 195764 w 4095750"/>
                  <a:gd name="connsiteY13" fmla="*/ 1174562 h 1174562"/>
                  <a:gd name="connsiteX14" fmla="*/ 0 w 4095750"/>
                  <a:gd name="connsiteY14" fmla="*/ 978798 h 1174562"/>
                  <a:gd name="connsiteX15" fmla="*/ 0 w 4095750"/>
                  <a:gd name="connsiteY15" fmla="*/ 489401 h 1174562"/>
                  <a:gd name="connsiteX16" fmla="*/ 0 w 4095750"/>
                  <a:gd name="connsiteY16" fmla="*/ 195760 h 1174562"/>
                  <a:gd name="connsiteX17" fmla="*/ 0 w 4095750"/>
                  <a:gd name="connsiteY17" fmla="*/ 195760 h 1174562"/>
                  <a:gd name="connsiteX18" fmla="*/ 0 w 4095750"/>
                  <a:gd name="connsiteY18" fmla="*/ 195764 h 1174562"/>
                  <a:gd name="connsiteX0" fmla="*/ 0 w 4095750"/>
                  <a:gd name="connsiteY0" fmla="*/ 195764 h 1174562"/>
                  <a:gd name="connsiteX1" fmla="*/ 195764 w 4095750"/>
                  <a:gd name="connsiteY1" fmla="*/ 0 h 1174562"/>
                  <a:gd name="connsiteX2" fmla="*/ 3744143 w 4095750"/>
                  <a:gd name="connsiteY2" fmla="*/ 0 h 1174562"/>
                  <a:gd name="connsiteX3" fmla="*/ 3939907 w 4095750"/>
                  <a:gd name="connsiteY3" fmla="*/ 195764 h 1174562"/>
                  <a:gd name="connsiteX4" fmla="*/ 3939907 w 4095750"/>
                  <a:gd name="connsiteY4" fmla="*/ 195760 h 1174562"/>
                  <a:gd name="connsiteX5" fmla="*/ 3939907 w 4095750"/>
                  <a:gd name="connsiteY5" fmla="*/ 195760 h 1174562"/>
                  <a:gd name="connsiteX6" fmla="*/ 4095750 w 4095750"/>
                  <a:gd name="connsiteY6" fmla="*/ 222678 h 1174562"/>
                  <a:gd name="connsiteX7" fmla="*/ 3939907 w 4095750"/>
                  <a:gd name="connsiteY7" fmla="*/ 489401 h 1174562"/>
                  <a:gd name="connsiteX8" fmla="*/ 3939907 w 4095750"/>
                  <a:gd name="connsiteY8" fmla="*/ 978798 h 1174562"/>
                  <a:gd name="connsiteX9" fmla="*/ 3744143 w 4095750"/>
                  <a:gd name="connsiteY9" fmla="*/ 1174562 h 1174562"/>
                  <a:gd name="connsiteX10" fmla="*/ 3283256 w 4095750"/>
                  <a:gd name="connsiteY10" fmla="*/ 1174562 h 1174562"/>
                  <a:gd name="connsiteX11" fmla="*/ 2298279 w 4095750"/>
                  <a:gd name="connsiteY11" fmla="*/ 1174562 h 1174562"/>
                  <a:gd name="connsiteX12" fmla="*/ 2298279 w 4095750"/>
                  <a:gd name="connsiteY12" fmla="*/ 1174562 h 1174562"/>
                  <a:gd name="connsiteX13" fmla="*/ 195764 w 4095750"/>
                  <a:gd name="connsiteY13" fmla="*/ 1174562 h 1174562"/>
                  <a:gd name="connsiteX14" fmla="*/ 0 w 4095750"/>
                  <a:gd name="connsiteY14" fmla="*/ 978798 h 1174562"/>
                  <a:gd name="connsiteX15" fmla="*/ 0 w 4095750"/>
                  <a:gd name="connsiteY15" fmla="*/ 489401 h 1174562"/>
                  <a:gd name="connsiteX16" fmla="*/ 0 w 4095750"/>
                  <a:gd name="connsiteY16" fmla="*/ 195760 h 1174562"/>
                  <a:gd name="connsiteX17" fmla="*/ 0 w 4095750"/>
                  <a:gd name="connsiteY17" fmla="*/ 195760 h 1174562"/>
                  <a:gd name="connsiteX18" fmla="*/ 0 w 4095750"/>
                  <a:gd name="connsiteY18" fmla="*/ 195764 h 117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095750" h="1174562">
                    <a:moveTo>
                      <a:pt x="0" y="195764"/>
                    </a:moveTo>
                    <a:cubicBezTo>
                      <a:pt x="0" y="87647"/>
                      <a:pt x="87647" y="0"/>
                      <a:pt x="195764" y="0"/>
                    </a:cubicBezTo>
                    <a:lnTo>
                      <a:pt x="3744143" y="0"/>
                    </a:lnTo>
                    <a:cubicBezTo>
                      <a:pt x="3852260" y="0"/>
                      <a:pt x="3939907" y="87647"/>
                      <a:pt x="3939907" y="195764"/>
                    </a:cubicBezTo>
                    <a:lnTo>
                      <a:pt x="3939907" y="195760"/>
                    </a:lnTo>
                    <a:lnTo>
                      <a:pt x="3939907" y="195760"/>
                    </a:lnTo>
                    <a:cubicBezTo>
                      <a:pt x="3988680" y="242833"/>
                      <a:pt x="3989827" y="261330"/>
                      <a:pt x="4095750" y="222678"/>
                    </a:cubicBezTo>
                    <a:cubicBezTo>
                      <a:pt x="3970777" y="340161"/>
                      <a:pt x="3988680" y="438593"/>
                      <a:pt x="3939907" y="489401"/>
                    </a:cubicBezTo>
                    <a:lnTo>
                      <a:pt x="3939907" y="978798"/>
                    </a:lnTo>
                    <a:cubicBezTo>
                      <a:pt x="3939907" y="1086915"/>
                      <a:pt x="3852260" y="1174562"/>
                      <a:pt x="3744143" y="1174562"/>
                    </a:cubicBezTo>
                    <a:lnTo>
                      <a:pt x="3283256" y="1174562"/>
                    </a:lnTo>
                    <a:lnTo>
                      <a:pt x="2298279" y="1174562"/>
                    </a:lnTo>
                    <a:lnTo>
                      <a:pt x="2298279" y="1174562"/>
                    </a:lnTo>
                    <a:lnTo>
                      <a:pt x="195764" y="1174562"/>
                    </a:lnTo>
                    <a:cubicBezTo>
                      <a:pt x="87647" y="1174562"/>
                      <a:pt x="0" y="1086915"/>
                      <a:pt x="0" y="978798"/>
                    </a:cubicBezTo>
                    <a:lnTo>
                      <a:pt x="0" y="489401"/>
                    </a:lnTo>
                    <a:lnTo>
                      <a:pt x="0" y="195760"/>
                    </a:lnTo>
                    <a:lnTo>
                      <a:pt x="0" y="195760"/>
                    </a:lnTo>
                    <a:lnTo>
                      <a:pt x="0" y="195764"/>
                    </a:lnTo>
                    <a:close/>
                  </a:path>
                </a:pathLst>
              </a:cu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Query"/>
              <p:cNvSpPr txBox="1"/>
              <p:nvPr/>
            </p:nvSpPr>
            <p:spPr>
              <a:xfrm>
                <a:off x="5327402" y="2934956"/>
                <a:ext cx="3755836" cy="941796"/>
              </a:xfrm>
              <a:prstGeom prst="rect">
                <a:avLst/>
              </a:prstGeom>
              <a:noFill/>
            </p:spPr>
            <p:txBody>
              <a:bodyPr wrap="none" lIns="0" tIns="0" rIns="0" bIns="0" rtlCol="0" anchor="t" anchorCtr="0">
                <a:spAutoFit/>
              </a:bodyPr>
              <a:lstStyle/>
              <a:p>
                <a:pPr>
                  <a:lnSpc>
                    <a:spcPct val="90000"/>
                  </a:lnSpc>
                </a:pPr>
                <a:r>
                  <a:rPr lang="en-US" sz="1700" b="1" spc="-50" dirty="0" smtClean="0">
                    <a:latin typeface="Consolas" panose="020B0609020204030204" pitchFamily="49" charset="0"/>
                    <a:cs typeface="Consolas" panose="020B0609020204030204" pitchFamily="49" charset="0"/>
                  </a:rPr>
                  <a:t>From</a:t>
                </a:r>
                <a:r>
                  <a:rPr lang="en-US" sz="1700" spc="-50" dirty="0" smtClean="0">
                    <a:latin typeface="Consolas" panose="020B0609020204030204" pitchFamily="49" charset="0"/>
                    <a:cs typeface="Consolas" panose="020B0609020204030204" pitchFamily="49" charset="0"/>
                  </a:rPr>
                  <a:t> </a:t>
                </a:r>
                <a:r>
                  <a:rPr lang="en-US" sz="1700" spc="-50" dirty="0" smtClean="0">
                    <a:solidFill>
                      <a:srgbClr val="2F2364"/>
                    </a:solidFill>
                    <a:latin typeface="Consolas" panose="020B0609020204030204" pitchFamily="49" charset="0"/>
                    <a:cs typeface="Consolas" panose="020B0609020204030204" pitchFamily="49" charset="0"/>
                  </a:rPr>
                  <a:t>a</a:t>
                </a:r>
                <a:r>
                  <a:rPr lang="en-US" sz="1700" spc="-50" dirty="0" smtClean="0">
                    <a:latin typeface="Consolas" panose="020B0609020204030204" pitchFamily="49" charset="0"/>
                    <a:cs typeface="Consolas" panose="020B0609020204030204" pitchFamily="49" charset="0"/>
                  </a:rPr>
                  <a:t> </a:t>
                </a:r>
                <a:r>
                  <a:rPr lang="en-US" sz="1700" b="1" spc="-50" dirty="0" smtClean="0">
                    <a:latin typeface="Consolas" panose="020B0609020204030204" pitchFamily="49" charset="0"/>
                    <a:cs typeface="Consolas" panose="020B0609020204030204" pitchFamily="49" charset="0"/>
                  </a:rPr>
                  <a:t>In</a:t>
                </a:r>
                <a:r>
                  <a:rPr lang="en-US" sz="1700" spc="-50" dirty="0" smtClean="0">
                    <a:latin typeface="Consolas" panose="020B0609020204030204" pitchFamily="49" charset="0"/>
                    <a:cs typeface="Consolas" panose="020B0609020204030204" pitchFamily="49" charset="0"/>
                  </a:rPr>
                  <a:t> </a:t>
                </a:r>
                <a:r>
                  <a:rPr lang="en-US" sz="1700" spc="-50" dirty="0" smtClean="0">
                    <a:solidFill>
                      <a:srgbClr val="2F2364"/>
                    </a:solidFill>
                    <a:latin typeface="Consolas" panose="020B0609020204030204" pitchFamily="49" charset="0"/>
                    <a:cs typeface="Consolas" panose="020B0609020204030204" pitchFamily="49" charset="0"/>
                  </a:rPr>
                  <a:t>A</a:t>
                </a:r>
              </a:p>
              <a:p>
                <a:pPr>
                  <a:lnSpc>
                    <a:spcPct val="90000"/>
                  </a:lnSpc>
                </a:pPr>
                <a:r>
                  <a:rPr lang="en-US" sz="1700" spc="-50" dirty="0">
                    <a:latin typeface="Consolas" panose="020B0609020204030204" pitchFamily="49" charset="0"/>
                    <a:cs typeface="Consolas" panose="020B0609020204030204" pitchFamily="49" charset="0"/>
                  </a:rPr>
                  <a:t> </a:t>
                </a:r>
                <a:r>
                  <a:rPr lang="en-US" sz="1700" spc="-50" dirty="0" smtClean="0">
                    <a:latin typeface="Consolas" panose="020B0609020204030204" pitchFamily="49" charset="0"/>
                    <a:cs typeface="Consolas" panose="020B0609020204030204" pitchFamily="49" charset="0"/>
                  </a:rPr>
                  <a:t> </a:t>
                </a:r>
                <a:r>
                  <a:rPr lang="en-US" sz="1700" b="1" spc="-50" dirty="0" smtClean="0">
                    <a:latin typeface="Consolas" panose="020B0609020204030204" pitchFamily="49" charset="0"/>
                    <a:cs typeface="Consolas" panose="020B0609020204030204" pitchFamily="49" charset="0"/>
                  </a:rPr>
                  <a:t>Join</a:t>
                </a:r>
                <a:r>
                  <a:rPr lang="en-US" sz="1700" spc="-50" dirty="0" smtClean="0">
                    <a:latin typeface="Consolas" panose="020B0609020204030204" pitchFamily="49" charset="0"/>
                    <a:cs typeface="Consolas" panose="020B0609020204030204" pitchFamily="49" charset="0"/>
                  </a:rPr>
                  <a:t> </a:t>
                </a:r>
                <a:r>
                  <a:rPr lang="en-US" sz="1700" spc="-50" dirty="0" smtClean="0">
                    <a:solidFill>
                      <a:srgbClr val="23642F"/>
                    </a:solidFill>
                    <a:latin typeface="Consolas" panose="020B0609020204030204" pitchFamily="49" charset="0"/>
                    <a:cs typeface="Consolas" panose="020B0609020204030204" pitchFamily="49" charset="0"/>
                  </a:rPr>
                  <a:t>b</a:t>
                </a:r>
                <a:r>
                  <a:rPr lang="en-US" sz="1700" spc="-50" dirty="0" smtClean="0">
                    <a:latin typeface="Consolas" panose="020B0609020204030204" pitchFamily="49" charset="0"/>
                    <a:cs typeface="Consolas" panose="020B0609020204030204" pitchFamily="49" charset="0"/>
                  </a:rPr>
                  <a:t> </a:t>
                </a:r>
                <a:r>
                  <a:rPr lang="en-US" sz="1700" b="1" spc="-50" dirty="0" smtClean="0">
                    <a:latin typeface="Consolas" panose="020B0609020204030204" pitchFamily="49" charset="0"/>
                    <a:cs typeface="Consolas" panose="020B0609020204030204" pitchFamily="49" charset="0"/>
                  </a:rPr>
                  <a:t>In</a:t>
                </a:r>
                <a:r>
                  <a:rPr lang="en-US" sz="1700" spc="-50" dirty="0" smtClean="0">
                    <a:latin typeface="Consolas" panose="020B0609020204030204" pitchFamily="49" charset="0"/>
                    <a:cs typeface="Consolas" panose="020B0609020204030204" pitchFamily="49" charset="0"/>
                  </a:rPr>
                  <a:t> </a:t>
                </a:r>
                <a:r>
                  <a:rPr lang="en-US" sz="1700" spc="-50" dirty="0" smtClean="0">
                    <a:solidFill>
                      <a:srgbClr val="23642F"/>
                    </a:solidFill>
                    <a:latin typeface="Consolas" panose="020B0609020204030204" pitchFamily="49" charset="0"/>
                    <a:cs typeface="Consolas" panose="020B0609020204030204" pitchFamily="49" charset="0"/>
                  </a:rPr>
                  <a:t>B</a:t>
                </a:r>
                <a:r>
                  <a:rPr lang="en-US" sz="1700" spc="-50" dirty="0" smtClean="0">
                    <a:latin typeface="Consolas" panose="020B0609020204030204" pitchFamily="49" charset="0"/>
                    <a:cs typeface="Consolas" panose="020B0609020204030204" pitchFamily="49" charset="0"/>
                  </a:rPr>
                  <a:t> </a:t>
                </a:r>
                <a:r>
                  <a:rPr lang="en-US" sz="1700" b="1" spc="-50" dirty="0" smtClean="0">
                    <a:latin typeface="Consolas" panose="020B0609020204030204" pitchFamily="49" charset="0"/>
                    <a:cs typeface="Consolas" panose="020B0609020204030204" pitchFamily="49" charset="0"/>
                  </a:rPr>
                  <a:t>On</a:t>
                </a:r>
                <a:r>
                  <a:rPr lang="en-US" sz="1700" spc="-50" dirty="0" smtClean="0">
                    <a:latin typeface="Consolas" panose="020B0609020204030204" pitchFamily="49" charset="0"/>
                    <a:cs typeface="Consolas" panose="020B0609020204030204" pitchFamily="49" charset="0"/>
                  </a:rPr>
                  <a:t> </a:t>
                </a:r>
                <a:r>
                  <a:rPr lang="en-US" sz="1700" spc="-50" dirty="0" smtClean="0">
                    <a:solidFill>
                      <a:srgbClr val="2F2364"/>
                    </a:solidFill>
                    <a:latin typeface="Consolas" panose="020B0609020204030204" pitchFamily="49" charset="0"/>
                    <a:cs typeface="Consolas" panose="020B0609020204030204" pitchFamily="49" charset="0"/>
                  </a:rPr>
                  <a:t>a</a:t>
                </a:r>
                <a:r>
                  <a:rPr lang="en-US" sz="1700" spc="-50" dirty="0" smtClean="0">
                    <a:latin typeface="Consolas" panose="020B0609020204030204" pitchFamily="49" charset="0"/>
                    <a:cs typeface="Consolas" panose="020B0609020204030204" pitchFamily="49" charset="0"/>
                  </a:rPr>
                  <a:t> </a:t>
                </a:r>
                <a:r>
                  <a:rPr lang="en-US" sz="1700" b="1" spc="-50" dirty="0" smtClean="0">
                    <a:latin typeface="Consolas" panose="020B0609020204030204" pitchFamily="49" charset="0"/>
                    <a:cs typeface="Consolas" panose="020B0609020204030204" pitchFamily="49" charset="0"/>
                  </a:rPr>
                  <a:t>-&gt;</a:t>
                </a:r>
                <a:r>
                  <a:rPr lang="en-US" sz="1700" spc="-50" dirty="0" smtClean="0">
                    <a:latin typeface="Consolas" panose="020B0609020204030204" pitchFamily="49" charset="0"/>
                    <a:cs typeface="Consolas" panose="020B0609020204030204" pitchFamily="49" charset="0"/>
                  </a:rPr>
                  <a:t> </a:t>
                </a:r>
                <a:r>
                  <a:rPr lang="en-US" sz="1700" spc="-50" dirty="0" smtClean="0">
                    <a:solidFill>
                      <a:srgbClr val="23642F"/>
                    </a:solidFill>
                    <a:latin typeface="Consolas" panose="020B0609020204030204" pitchFamily="49" charset="0"/>
                    <a:cs typeface="Consolas" panose="020B0609020204030204" pitchFamily="49" charset="0"/>
                  </a:rPr>
                  <a:t>b</a:t>
                </a:r>
              </a:p>
              <a:p>
                <a:pPr>
                  <a:lnSpc>
                    <a:spcPct val="90000"/>
                  </a:lnSpc>
                </a:pPr>
                <a:r>
                  <a:rPr lang="en-US" sz="1700" spc="-50" dirty="0" smtClean="0">
                    <a:latin typeface="Consolas" panose="020B0609020204030204" pitchFamily="49" charset="0"/>
                    <a:cs typeface="Consolas" panose="020B0609020204030204" pitchFamily="49" charset="0"/>
                  </a:rPr>
                  <a:t>  </a:t>
                </a:r>
                <a:r>
                  <a:rPr lang="en-US" sz="1700" b="1" spc="-50" dirty="0" err="1" smtClean="0">
                    <a:latin typeface="Consolas" panose="020B0609020204030204" pitchFamily="49" charset="0"/>
                    <a:cs typeface="Consolas" panose="020B0609020204030204" pitchFamily="49" charset="0"/>
                  </a:rPr>
                  <a:t>GroupBy</a:t>
                </a:r>
                <a:r>
                  <a:rPr lang="en-US" sz="1700" spc="-50" dirty="0" smtClean="0">
                    <a:latin typeface="Consolas" panose="020B0609020204030204" pitchFamily="49" charset="0"/>
                    <a:cs typeface="Consolas" panose="020B0609020204030204" pitchFamily="49" charset="0"/>
                  </a:rPr>
                  <a:t> </a:t>
                </a:r>
                <a:r>
                  <a:rPr lang="en-US" sz="1700" spc="-50" dirty="0" err="1" smtClean="0">
                    <a:solidFill>
                      <a:srgbClr val="2F2364"/>
                    </a:solidFill>
                    <a:latin typeface="Consolas" panose="020B0609020204030204" pitchFamily="49" charset="0"/>
                    <a:cs typeface="Consolas" panose="020B0609020204030204" pitchFamily="49" charset="0"/>
                  </a:rPr>
                  <a:t>a.procName</a:t>
                </a:r>
                <a:endParaRPr lang="en-US" sz="1700" spc="-50" dirty="0" smtClean="0">
                  <a:solidFill>
                    <a:srgbClr val="2F2364"/>
                  </a:solidFill>
                  <a:latin typeface="Consolas" panose="020B0609020204030204" pitchFamily="49" charset="0"/>
                  <a:cs typeface="Consolas" panose="020B0609020204030204" pitchFamily="49" charset="0"/>
                </a:endParaRPr>
              </a:p>
              <a:p>
                <a:pPr>
                  <a:lnSpc>
                    <a:spcPct val="90000"/>
                  </a:lnSpc>
                </a:pPr>
                <a:r>
                  <a:rPr lang="en-US" sz="1700" spc="-50" dirty="0" smtClean="0">
                    <a:solidFill>
                      <a:srgbClr val="23642F"/>
                    </a:solidFill>
                    <a:latin typeface="Consolas" panose="020B0609020204030204" pitchFamily="49" charset="0"/>
                    <a:cs typeface="Consolas" panose="020B0609020204030204" pitchFamily="49" charset="0"/>
                  </a:rPr>
                  <a:t>  </a:t>
                </a:r>
                <a:r>
                  <a:rPr lang="en-US" sz="1700" b="1" spc="-50" dirty="0" smtClean="0">
                    <a:latin typeface="Consolas" panose="020B0609020204030204" pitchFamily="49" charset="0"/>
                    <a:cs typeface="Consolas" panose="020B0609020204030204" pitchFamily="49" charset="0"/>
                  </a:rPr>
                  <a:t>Select</a:t>
                </a:r>
                <a:r>
                  <a:rPr lang="en-US" sz="1700" spc="-50" dirty="0" smtClean="0">
                    <a:latin typeface="Consolas" panose="020B0609020204030204" pitchFamily="49" charset="0"/>
                    <a:cs typeface="Consolas" panose="020B0609020204030204" pitchFamily="49" charset="0"/>
                  </a:rPr>
                  <a:t> </a:t>
                </a:r>
                <a:r>
                  <a:rPr lang="en-US" sz="1700" spc="-50" dirty="0" err="1" smtClean="0">
                    <a:solidFill>
                      <a:srgbClr val="2F2364"/>
                    </a:solidFill>
                    <a:latin typeface="Consolas" panose="020B0609020204030204" pitchFamily="49" charset="0"/>
                    <a:cs typeface="Consolas" panose="020B0609020204030204" pitchFamily="49" charset="0"/>
                  </a:rPr>
                  <a:t>a.procName</a:t>
                </a:r>
                <a:r>
                  <a:rPr lang="en-US" sz="1700" spc="-50" dirty="0" smtClean="0">
                    <a:latin typeface="Consolas" panose="020B0609020204030204" pitchFamily="49" charset="0"/>
                    <a:cs typeface="Consolas" panose="020B0609020204030204" pitchFamily="49" charset="0"/>
                  </a:rPr>
                  <a:t>,</a:t>
                </a:r>
                <a:r>
                  <a:rPr lang="en-US" sz="1700" spc="-50" dirty="0" smtClean="0">
                    <a:solidFill>
                      <a:srgbClr val="23642F"/>
                    </a:solidFill>
                    <a:latin typeface="Consolas" panose="020B0609020204030204" pitchFamily="49" charset="0"/>
                    <a:cs typeface="Consolas" panose="020B0609020204030204" pitchFamily="49" charset="0"/>
                  </a:rPr>
                  <a:t> </a:t>
                </a:r>
                <a:r>
                  <a:rPr lang="en-US" sz="1700" b="1" spc="-50" dirty="0" smtClean="0">
                    <a:latin typeface="Consolas" panose="020B0609020204030204" pitchFamily="49" charset="0"/>
                    <a:cs typeface="Consolas" panose="020B0609020204030204" pitchFamily="49" charset="0"/>
                  </a:rPr>
                  <a:t>SUM(</a:t>
                </a:r>
                <a:r>
                  <a:rPr lang="en-US" sz="1700" spc="-50" dirty="0" err="1" smtClean="0">
                    <a:solidFill>
                      <a:srgbClr val="23642F"/>
                    </a:solidFill>
                    <a:latin typeface="Consolas" panose="020B0609020204030204" pitchFamily="49" charset="0"/>
                    <a:cs typeface="Consolas" panose="020B0609020204030204" pitchFamily="49" charset="0"/>
                  </a:rPr>
                  <a:t>b.delta</a:t>
                </a:r>
                <a:r>
                  <a:rPr lang="en-US" sz="1700" b="1" spc="-50" dirty="0" smtClean="0">
                    <a:latin typeface="Consolas" panose="020B0609020204030204" pitchFamily="49" charset="0"/>
                    <a:cs typeface="Consolas" panose="020B0609020204030204" pitchFamily="49" charset="0"/>
                  </a:rPr>
                  <a:t>)</a:t>
                </a:r>
              </a:p>
            </p:txBody>
          </p:sp>
        </p:grpSp>
        <p:sp>
          <p:nvSpPr>
            <p:cNvPr id="136" name="Rounded Rectangle 135"/>
            <p:cNvSpPr/>
            <p:nvPr/>
          </p:nvSpPr>
          <p:spPr>
            <a:xfrm>
              <a:off x="5793623" y="4596704"/>
              <a:ext cx="2667000" cy="819058"/>
            </a:xfrm>
            <a:prstGeom prst="roundRect">
              <a:avLst>
                <a:gd name="adj" fmla="val 18490"/>
              </a:avLst>
            </a:prstGeom>
            <a:solidFill>
              <a:srgbClr val="E1E1FF"/>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r>
                <a:rPr lang="en-US" sz="1600" b="1" dirty="0" smtClean="0">
                  <a:solidFill>
                    <a:schemeClr val="tx1"/>
                  </a:solidFill>
                  <a:cs typeface="Consolas" panose="020B0609020204030204" pitchFamily="49" charset="0"/>
                </a:rPr>
                <a:t>Advice A1</a:t>
              </a:r>
            </a:p>
            <a:p>
              <a:r>
                <a:rPr lang="en-US" sz="1600" b="1" dirty="0" smtClean="0">
                  <a:solidFill>
                    <a:schemeClr val="tx1"/>
                  </a:solidFill>
                  <a:latin typeface="+mj-lt"/>
                  <a:cs typeface="Consolas" panose="020B0609020204030204" pitchFamily="49" charset="0"/>
                </a:rPr>
                <a:t>OBSERVE</a:t>
              </a:r>
              <a:r>
                <a:rPr lang="en-US" sz="1600" dirty="0">
                  <a:solidFill>
                    <a:schemeClr val="tx1"/>
                  </a:solidFill>
                  <a:latin typeface="Consolas" panose="020B0609020204030204" pitchFamily="49" charset="0"/>
                  <a:cs typeface="Consolas" panose="020B0609020204030204" pitchFamily="49" charset="0"/>
                </a:rPr>
                <a:t>	</a:t>
              </a:r>
              <a:r>
                <a:rPr lang="en-US" sz="1600" dirty="0" err="1" smtClean="0">
                  <a:solidFill>
                    <a:schemeClr val="tx1"/>
                  </a:solidFill>
                  <a:latin typeface="Consolas" panose="020B0609020204030204" pitchFamily="49" charset="0"/>
                  <a:cs typeface="Consolas" panose="020B0609020204030204" pitchFamily="49" charset="0"/>
                </a:rPr>
                <a:t>procName</a:t>
              </a:r>
              <a:endParaRPr lang="en-US" sz="1600" dirty="0" smtClean="0">
                <a:solidFill>
                  <a:schemeClr val="tx1"/>
                </a:solidFill>
                <a:latin typeface="Consolas" panose="020B0609020204030204" pitchFamily="49" charset="0"/>
                <a:cs typeface="Consolas" panose="020B0609020204030204" pitchFamily="49" charset="0"/>
              </a:endParaRPr>
            </a:p>
            <a:p>
              <a:r>
                <a:rPr lang="en-US" sz="1600" b="1" dirty="0" smtClean="0">
                  <a:solidFill>
                    <a:schemeClr val="tx1"/>
                  </a:solidFill>
                  <a:latin typeface="+mj-lt"/>
                  <a:cs typeface="Consolas" panose="020B0609020204030204" pitchFamily="49" charset="0"/>
                </a:rPr>
                <a:t>PACK</a:t>
              </a:r>
              <a:r>
                <a:rPr lang="en-US" sz="1600" dirty="0" smtClean="0">
                  <a:solidFill>
                    <a:schemeClr val="tx1"/>
                  </a:solidFill>
                  <a:latin typeface="Consolas" panose="020B0609020204030204" pitchFamily="49" charset="0"/>
                  <a:cs typeface="Consolas" panose="020B0609020204030204" pitchFamily="49" charset="0"/>
                </a:rPr>
                <a:t>	</a:t>
              </a:r>
              <a:r>
                <a:rPr lang="en-US" sz="1600" dirty="0" err="1" smtClean="0">
                  <a:solidFill>
                    <a:schemeClr val="tx1"/>
                  </a:solidFill>
                  <a:latin typeface="Consolas" panose="020B0609020204030204" pitchFamily="49" charset="0"/>
                  <a:cs typeface="Consolas" panose="020B0609020204030204" pitchFamily="49" charset="0"/>
                </a:rPr>
                <a:t>procName</a:t>
              </a:r>
              <a:endParaRPr lang="en-US" sz="1600" b="1" dirty="0" smtClean="0">
                <a:solidFill>
                  <a:schemeClr val="tx1"/>
                </a:solidFill>
                <a:latin typeface="+mj-lt"/>
                <a:cs typeface="Consolas" panose="020B0609020204030204" pitchFamily="49" charset="0"/>
              </a:endParaRPr>
            </a:p>
          </p:txBody>
        </p:sp>
        <p:sp>
          <p:nvSpPr>
            <p:cNvPr id="137" name="Rounded Rectangle 136"/>
            <p:cNvSpPr/>
            <p:nvPr/>
          </p:nvSpPr>
          <p:spPr>
            <a:xfrm>
              <a:off x="5793623" y="5548419"/>
              <a:ext cx="3201971" cy="1132017"/>
            </a:xfrm>
            <a:prstGeom prst="roundRect">
              <a:avLst>
                <a:gd name="adj" fmla="val 18490"/>
              </a:avLst>
            </a:prstGeom>
            <a:solidFill>
              <a:srgbClr val="E1E1FF"/>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r>
                <a:rPr lang="en-US" sz="1600" b="1" dirty="0" smtClean="0">
                  <a:solidFill>
                    <a:schemeClr val="tx1"/>
                  </a:solidFill>
                  <a:cs typeface="Consolas" panose="020B0609020204030204" pitchFamily="49" charset="0"/>
                </a:rPr>
                <a:t>Advice B1</a:t>
              </a:r>
            </a:p>
            <a:p>
              <a:r>
                <a:rPr lang="en-US" sz="1600" b="1" dirty="0" smtClean="0">
                  <a:solidFill>
                    <a:schemeClr val="tx1"/>
                  </a:solidFill>
                  <a:latin typeface="+mj-lt"/>
                  <a:cs typeface="Consolas" panose="020B0609020204030204" pitchFamily="49" charset="0"/>
                </a:rPr>
                <a:t>OBSERVE</a:t>
              </a:r>
              <a:r>
                <a:rPr lang="en-US" sz="1600" dirty="0">
                  <a:solidFill>
                    <a:schemeClr val="tx1"/>
                  </a:solidFill>
                  <a:latin typeface="Consolas" panose="020B0609020204030204" pitchFamily="49" charset="0"/>
                  <a:cs typeface="Consolas" panose="020B0609020204030204" pitchFamily="49" charset="0"/>
                </a:rPr>
                <a:t>	</a:t>
              </a:r>
              <a:r>
                <a:rPr lang="en-US" sz="1600" dirty="0" smtClean="0">
                  <a:solidFill>
                    <a:schemeClr val="tx1"/>
                  </a:solidFill>
                  <a:latin typeface="Consolas" panose="020B0609020204030204" pitchFamily="49" charset="0"/>
                  <a:cs typeface="Consolas" panose="020B0609020204030204" pitchFamily="49" charset="0"/>
                </a:rPr>
                <a:t>delta</a:t>
              </a:r>
            </a:p>
            <a:p>
              <a:r>
                <a:rPr lang="en-US" sz="1600" b="1" dirty="0" smtClean="0">
                  <a:solidFill>
                    <a:schemeClr val="tx1"/>
                  </a:solidFill>
                  <a:latin typeface="+mj-lt"/>
                  <a:cs typeface="Consolas" panose="020B0609020204030204" pitchFamily="49" charset="0"/>
                </a:rPr>
                <a:t>UNPACK</a:t>
              </a:r>
              <a:r>
                <a:rPr lang="en-US" sz="1600" dirty="0" smtClean="0">
                  <a:solidFill>
                    <a:schemeClr val="tx1"/>
                  </a:solidFill>
                  <a:latin typeface="Consolas" panose="020B0609020204030204" pitchFamily="49" charset="0"/>
                  <a:cs typeface="Consolas" panose="020B0609020204030204" pitchFamily="49" charset="0"/>
                </a:rPr>
                <a:t>	</a:t>
              </a:r>
              <a:r>
                <a:rPr lang="en-US" sz="1600" dirty="0" err="1" smtClean="0">
                  <a:solidFill>
                    <a:schemeClr val="tx1"/>
                  </a:solidFill>
                  <a:latin typeface="Consolas" panose="020B0609020204030204" pitchFamily="49" charset="0"/>
                  <a:cs typeface="Consolas" panose="020B0609020204030204" pitchFamily="49" charset="0"/>
                </a:rPr>
                <a:t>procName</a:t>
              </a:r>
              <a:endParaRPr lang="en-US" sz="1600" dirty="0" smtClean="0">
                <a:solidFill>
                  <a:schemeClr val="tx1"/>
                </a:solidFill>
                <a:latin typeface="Consolas" panose="020B0609020204030204" pitchFamily="49" charset="0"/>
                <a:cs typeface="Consolas" panose="020B0609020204030204" pitchFamily="49" charset="0"/>
              </a:endParaRPr>
            </a:p>
            <a:p>
              <a:r>
                <a:rPr lang="en-US" sz="1600" b="1" dirty="0" smtClean="0">
                  <a:solidFill>
                    <a:schemeClr val="tx1"/>
                  </a:solidFill>
                  <a:latin typeface="+mj-lt"/>
                  <a:cs typeface="Consolas" panose="020B0609020204030204" pitchFamily="49" charset="0"/>
                </a:rPr>
                <a:t>EMIT</a:t>
              </a:r>
              <a:r>
                <a:rPr lang="en-US" sz="1600" dirty="0" smtClean="0">
                  <a:solidFill>
                    <a:schemeClr val="tx1"/>
                  </a:solidFill>
                  <a:latin typeface="Consolas" panose="020B0609020204030204" pitchFamily="49" charset="0"/>
                  <a:cs typeface="Consolas" panose="020B0609020204030204" pitchFamily="49" charset="0"/>
                </a:rPr>
                <a:t> 	</a:t>
              </a:r>
              <a:r>
                <a:rPr lang="en-US" sz="1600" dirty="0" err="1" smtClean="0">
                  <a:solidFill>
                    <a:schemeClr val="tx1"/>
                  </a:solidFill>
                  <a:latin typeface="Consolas" panose="020B0609020204030204" pitchFamily="49" charset="0"/>
                  <a:cs typeface="Consolas" panose="020B0609020204030204" pitchFamily="49" charset="0"/>
                </a:rPr>
                <a:t>procName</a:t>
              </a:r>
              <a:r>
                <a:rPr lang="en-US" sz="1600" b="1" dirty="0" smtClean="0">
                  <a:solidFill>
                    <a:schemeClr val="tx1"/>
                  </a:solidFill>
                  <a:latin typeface="+mj-lt"/>
                  <a:cs typeface="Consolas" panose="020B0609020204030204" pitchFamily="49" charset="0"/>
                </a:rPr>
                <a:t>, SUM(</a:t>
              </a:r>
              <a:r>
                <a:rPr lang="en-US" sz="1600" dirty="0" smtClean="0">
                  <a:solidFill>
                    <a:schemeClr val="tx1"/>
                  </a:solidFill>
                  <a:latin typeface="Consolas" panose="020B0609020204030204" pitchFamily="49" charset="0"/>
                  <a:cs typeface="Consolas" panose="020B0609020204030204" pitchFamily="49" charset="0"/>
                </a:rPr>
                <a:t>delta</a:t>
              </a:r>
              <a:r>
                <a:rPr lang="en-US" sz="1600" b="1" dirty="0" smtClean="0">
                  <a:solidFill>
                    <a:schemeClr val="tx1"/>
                  </a:solidFill>
                  <a:latin typeface="+mj-lt"/>
                  <a:cs typeface="Consolas" panose="020B0609020204030204" pitchFamily="49" charset="0"/>
                </a:rPr>
                <a:t>)</a:t>
              </a:r>
            </a:p>
          </p:txBody>
        </p:sp>
        <p:sp>
          <p:nvSpPr>
            <p:cNvPr id="138" name="Tracepoint 3"/>
            <p:cNvSpPr/>
            <p:nvPr/>
          </p:nvSpPr>
          <p:spPr>
            <a:xfrm>
              <a:off x="8218938" y="4554875"/>
              <a:ext cx="304800" cy="304800"/>
            </a:xfrm>
            <a:prstGeom prst="ellipse">
              <a:avLst/>
            </a:prstGeom>
            <a:solidFill>
              <a:srgbClr val="FFE1E1"/>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A</a:t>
              </a:r>
              <a:endParaRPr lang="en-US" b="1" dirty="0">
                <a:solidFill>
                  <a:schemeClr val="tx1"/>
                </a:solidFill>
              </a:endParaRPr>
            </a:p>
          </p:txBody>
        </p:sp>
        <p:sp>
          <p:nvSpPr>
            <p:cNvPr id="139" name="Tracepoint 3"/>
            <p:cNvSpPr/>
            <p:nvPr/>
          </p:nvSpPr>
          <p:spPr>
            <a:xfrm>
              <a:off x="8753110" y="5500392"/>
              <a:ext cx="304800" cy="304800"/>
            </a:xfrm>
            <a:prstGeom prst="ellipse">
              <a:avLst/>
            </a:prstGeom>
            <a:solidFill>
              <a:srgbClr val="FFE1E1"/>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B</a:t>
              </a:r>
              <a:endParaRPr lang="en-US" b="1" dirty="0">
                <a:solidFill>
                  <a:schemeClr val="tx1"/>
                </a:solidFill>
              </a:endParaRPr>
            </a:p>
          </p:txBody>
        </p:sp>
      </p:grpSp>
      <p:sp>
        <p:nvSpPr>
          <p:cNvPr id="123" name="TextBox 122"/>
          <p:cNvSpPr txBox="1"/>
          <p:nvPr/>
        </p:nvSpPr>
        <p:spPr>
          <a:xfrm>
            <a:off x="190500" y="2792990"/>
            <a:ext cx="3458835" cy="563231"/>
          </a:xfrm>
          <a:prstGeom prst="rect">
            <a:avLst/>
          </a:prstGeom>
          <a:noFill/>
        </p:spPr>
        <p:txBody>
          <a:bodyPr wrap="square" rtlCol="0">
            <a:spAutoFit/>
          </a:bodyPr>
          <a:lstStyle/>
          <a:p>
            <a:pPr>
              <a:lnSpc>
                <a:spcPct val="85000"/>
              </a:lnSpc>
            </a:pPr>
            <a:r>
              <a:rPr lang="en-US" sz="3600" dirty="0" smtClean="0"/>
              <a:t>Query Results</a:t>
            </a:r>
          </a:p>
        </p:txBody>
      </p:sp>
      <p:sp>
        <p:nvSpPr>
          <p:cNvPr id="126" name="Rectangle 125"/>
          <p:cNvSpPr/>
          <p:nvPr/>
        </p:nvSpPr>
        <p:spPr>
          <a:xfrm>
            <a:off x="42184" y="3589112"/>
            <a:ext cx="4720316" cy="1600438"/>
          </a:xfrm>
          <a:prstGeom prst="rect">
            <a:avLst/>
          </a:prstGeom>
        </p:spPr>
        <p:txBody>
          <a:bodyPr wrap="square">
            <a:spAutoFit/>
          </a:bodyPr>
          <a:lstStyle/>
          <a:p>
            <a:r>
              <a:rPr lang="en-US" sz="2000" dirty="0" smtClean="0"/>
              <a:t>Tuples are accumulated locally in PT Agent</a:t>
            </a:r>
          </a:p>
          <a:p>
            <a:endParaRPr lang="en-US" sz="2000" dirty="0"/>
          </a:p>
          <a:p>
            <a:r>
              <a:rPr lang="en-US" sz="2000" dirty="0" smtClean="0"/>
              <a:t>Periodically reported back to user</a:t>
            </a:r>
          </a:p>
          <a:p>
            <a:r>
              <a:rPr lang="en-US" dirty="0" smtClean="0"/>
              <a:t>  e.g., every second</a:t>
            </a:r>
            <a:endParaRPr lang="en-US" sz="2000" dirty="0"/>
          </a:p>
          <a:p>
            <a:endParaRPr lang="en-US" sz="2000" dirty="0" smtClean="0">
              <a:cs typeface="Inconsolata"/>
            </a:endParaRPr>
          </a:p>
        </p:txBody>
      </p:sp>
      <p:sp>
        <p:nvSpPr>
          <p:cNvPr id="31" name="Green Tenant"/>
          <p:cNvSpPr/>
          <p:nvPr/>
        </p:nvSpPr>
        <p:spPr>
          <a:xfrm>
            <a:off x="1295742" y="404444"/>
            <a:ext cx="475862" cy="556102"/>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bg2"/>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nvGrpSpPr>
          <p:cNvPr id="194" name="Group 193"/>
          <p:cNvGrpSpPr/>
          <p:nvPr/>
        </p:nvGrpSpPr>
        <p:grpSpPr>
          <a:xfrm>
            <a:off x="2409805" y="476498"/>
            <a:ext cx="2440458" cy="1194898"/>
            <a:chOff x="2028805" y="476498"/>
            <a:chExt cx="2440458" cy="1194898"/>
          </a:xfrm>
        </p:grpSpPr>
        <p:sp>
          <p:nvSpPr>
            <p:cNvPr id="5" name="Process A"/>
            <p:cNvSpPr/>
            <p:nvPr/>
          </p:nvSpPr>
          <p:spPr>
            <a:xfrm>
              <a:off x="2028805" y="476498"/>
              <a:ext cx="2440458" cy="984940"/>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nvGrpSpPr>
            <p:cNvPr id="17" name="PT Agent A"/>
            <p:cNvGrpSpPr/>
            <p:nvPr/>
          </p:nvGrpSpPr>
          <p:grpSpPr>
            <a:xfrm>
              <a:off x="2110275" y="1202254"/>
              <a:ext cx="1074956" cy="469142"/>
              <a:chOff x="2626646" y="3779254"/>
              <a:chExt cx="1074956" cy="469142"/>
            </a:xfrm>
          </p:grpSpPr>
          <p:sp>
            <p:nvSpPr>
              <p:cNvPr id="18" name="Rectangle 17"/>
              <p:cNvSpPr/>
              <p:nvPr/>
            </p:nvSpPr>
            <p:spPr>
              <a:xfrm>
                <a:off x="2703536" y="3779254"/>
                <a:ext cx="998066" cy="331980"/>
              </a:xfrm>
              <a:prstGeom prst="rect">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91440" bIns="0" rtlCol="0" anchor="t" anchorCtr="0"/>
              <a:lstStyle/>
              <a:p>
                <a:pPr algn="r"/>
                <a:r>
                  <a:rPr lang="en-US" dirty="0" smtClean="0">
                    <a:solidFill>
                      <a:schemeClr val="tx1"/>
                    </a:solidFill>
                  </a:rPr>
                  <a:t>PT Agent</a:t>
                </a:r>
                <a:endParaRPr lang="en-US" dirty="0">
                  <a:solidFill>
                    <a:schemeClr val="tx1"/>
                  </a:solidFill>
                </a:endParaRPr>
              </a:p>
            </p:txBody>
          </p:sp>
          <p:grpSp>
            <p:nvGrpSpPr>
              <p:cNvPr id="19" name="Group 18"/>
              <p:cNvGrpSpPr/>
              <p:nvPr/>
            </p:nvGrpSpPr>
            <p:grpSpPr>
              <a:xfrm rot="878394">
                <a:off x="2626646" y="3986085"/>
                <a:ext cx="442659" cy="262311"/>
                <a:chOff x="2015326" y="3161328"/>
                <a:chExt cx="442659" cy="262311"/>
              </a:xfrm>
            </p:grpSpPr>
            <p:sp>
              <p:nvSpPr>
                <p:cNvPr id="20" name="Freeform 19"/>
                <p:cNvSpPr/>
                <p:nvPr/>
              </p:nvSpPr>
              <p:spPr>
                <a:xfrm>
                  <a:off x="2015326" y="3198159"/>
                  <a:ext cx="207804" cy="225480"/>
                </a:xfrm>
                <a:custGeom>
                  <a:avLst/>
                  <a:gdLst>
                    <a:gd name="connsiteX0" fmla="*/ 250470 w 278551"/>
                    <a:gd name="connsiteY0" fmla="*/ 185740 h 302245"/>
                    <a:gd name="connsiteX1" fmla="*/ 278551 w 278551"/>
                    <a:gd name="connsiteY1" fmla="*/ 212135 h 302245"/>
                    <a:gd name="connsiteX2" fmla="*/ 261752 w 278551"/>
                    <a:gd name="connsiteY2" fmla="*/ 241233 h 302245"/>
                    <a:gd name="connsiteX3" fmla="*/ 225317 w 278551"/>
                    <a:gd name="connsiteY3" fmla="*/ 230252 h 302245"/>
                    <a:gd name="connsiteX4" fmla="*/ 247440 w 278551"/>
                    <a:gd name="connsiteY4" fmla="*/ 199863 h 302245"/>
                    <a:gd name="connsiteX5" fmla="*/ 139274 w 278551"/>
                    <a:gd name="connsiteY5" fmla="*/ 84295 h 302245"/>
                    <a:gd name="connsiteX6" fmla="*/ 196885 w 278551"/>
                    <a:gd name="connsiteY6" fmla="*/ 113100 h 302245"/>
                    <a:gd name="connsiteX7" fmla="*/ 196884 w 278551"/>
                    <a:gd name="connsiteY7" fmla="*/ 114931 h 302245"/>
                    <a:gd name="connsiteX8" fmla="*/ 141702 w 278551"/>
                    <a:gd name="connsiteY8" fmla="*/ 86497 h 302245"/>
                    <a:gd name="connsiteX9" fmla="*/ 91232 w 278551"/>
                    <a:gd name="connsiteY9" fmla="*/ 110971 h 302245"/>
                    <a:gd name="connsiteX10" fmla="*/ 90180 w 278551"/>
                    <a:gd name="connsiteY10" fmla="*/ 108843 h 302245"/>
                    <a:gd name="connsiteX11" fmla="*/ 93907 w 278551"/>
                    <a:gd name="connsiteY11" fmla="*/ 56612 h 302245"/>
                    <a:gd name="connsiteX12" fmla="*/ 77529 w 278551"/>
                    <a:gd name="connsiteY12" fmla="*/ 83250 h 302245"/>
                    <a:gd name="connsiteX13" fmla="*/ 90180 w 278551"/>
                    <a:gd name="connsiteY13" fmla="*/ 108843 h 302245"/>
                    <a:gd name="connsiteX14" fmla="*/ 81665 w 278551"/>
                    <a:gd name="connsiteY14" fmla="*/ 113100 h 302245"/>
                    <a:gd name="connsiteX15" fmla="*/ 81665 w 278551"/>
                    <a:gd name="connsiteY15" fmla="*/ 189144 h 302245"/>
                    <a:gd name="connsiteX16" fmla="*/ 139274 w 278551"/>
                    <a:gd name="connsiteY16" fmla="*/ 217949 h 302245"/>
                    <a:gd name="connsiteX17" fmla="*/ 196884 w 278551"/>
                    <a:gd name="connsiteY17" fmla="*/ 189144 h 302245"/>
                    <a:gd name="connsiteX18" fmla="*/ 196884 w 278551"/>
                    <a:gd name="connsiteY18" fmla="*/ 114931 h 302245"/>
                    <a:gd name="connsiteX19" fmla="*/ 198958 w 278551"/>
                    <a:gd name="connsiteY19" fmla="*/ 115999 h 302245"/>
                    <a:gd name="connsiteX20" fmla="*/ 198034 w 278551"/>
                    <a:gd name="connsiteY20" fmla="*/ 192038 h 302245"/>
                    <a:gd name="connsiteX21" fmla="*/ 144208 w 278551"/>
                    <a:gd name="connsiteY21" fmla="*/ 218139 h 302245"/>
                    <a:gd name="connsiteX22" fmla="*/ 155568 w 278551"/>
                    <a:gd name="connsiteY22" fmla="*/ 241121 h 302245"/>
                    <a:gd name="connsiteX23" fmla="*/ 182697 w 278551"/>
                    <a:gd name="connsiteY23" fmla="*/ 246757 h 302245"/>
                    <a:gd name="connsiteX24" fmla="*/ 166987 w 278551"/>
                    <a:gd name="connsiteY24" fmla="*/ 255827 h 302245"/>
                    <a:gd name="connsiteX25" fmla="*/ 156075 w 278551"/>
                    <a:gd name="connsiteY25" fmla="*/ 302245 h 302245"/>
                    <a:gd name="connsiteX26" fmla="*/ 122476 w 278551"/>
                    <a:gd name="connsiteY26" fmla="*/ 302245 h 302245"/>
                    <a:gd name="connsiteX27" fmla="*/ 111565 w 278551"/>
                    <a:gd name="connsiteY27" fmla="*/ 255827 h 302245"/>
                    <a:gd name="connsiteX28" fmla="*/ 62455 w 278551"/>
                    <a:gd name="connsiteY28" fmla="*/ 227473 h 302245"/>
                    <a:gd name="connsiteX29" fmla="*/ 16799 w 278551"/>
                    <a:gd name="connsiteY29" fmla="*/ 241233 h 302245"/>
                    <a:gd name="connsiteX30" fmla="*/ 0 w 278551"/>
                    <a:gd name="connsiteY30" fmla="*/ 212135 h 302245"/>
                    <a:gd name="connsiteX31" fmla="*/ 34743 w 278551"/>
                    <a:gd name="connsiteY31" fmla="*/ 179476 h 302245"/>
                    <a:gd name="connsiteX32" fmla="*/ 34743 w 278551"/>
                    <a:gd name="connsiteY32" fmla="*/ 122768 h 302245"/>
                    <a:gd name="connsiteX33" fmla="*/ 0 w 278551"/>
                    <a:gd name="connsiteY33" fmla="*/ 90110 h 302245"/>
                    <a:gd name="connsiteX34" fmla="*/ 16799 w 278551"/>
                    <a:gd name="connsiteY34" fmla="*/ 61012 h 302245"/>
                    <a:gd name="connsiteX35" fmla="*/ 62454 w 278551"/>
                    <a:gd name="connsiteY35" fmla="*/ 74772 h 302245"/>
                    <a:gd name="connsiteX36" fmla="*/ 122476 w 278551"/>
                    <a:gd name="connsiteY36" fmla="*/ 0 h 302245"/>
                    <a:gd name="connsiteX37" fmla="*/ 156075 w 278551"/>
                    <a:gd name="connsiteY37" fmla="*/ 0 h 302245"/>
                    <a:gd name="connsiteX38" fmla="*/ 165987 w 278551"/>
                    <a:gd name="connsiteY38" fmla="*/ 42169 h 302245"/>
                    <a:gd name="connsiteX39" fmla="*/ 142303 w 278551"/>
                    <a:gd name="connsiteY39" fmla="*/ 37087 h 302245"/>
                    <a:gd name="connsiteX40" fmla="*/ 112428 w 278551"/>
                    <a:gd name="connsiteY40" fmla="*/ 42742 h 30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78551" h="302245">
                      <a:moveTo>
                        <a:pt x="250470" y="185740"/>
                      </a:moveTo>
                      <a:lnTo>
                        <a:pt x="278551" y="212135"/>
                      </a:lnTo>
                      <a:lnTo>
                        <a:pt x="261752" y="241233"/>
                      </a:lnTo>
                      <a:lnTo>
                        <a:pt x="225317" y="230252"/>
                      </a:lnTo>
                      <a:lnTo>
                        <a:pt x="247440" y="199863"/>
                      </a:lnTo>
                      <a:close/>
                      <a:moveTo>
                        <a:pt x="139274" y="84295"/>
                      </a:moveTo>
                      <a:lnTo>
                        <a:pt x="196885" y="113100"/>
                      </a:lnTo>
                      <a:lnTo>
                        <a:pt x="196884" y="114931"/>
                      </a:lnTo>
                      <a:lnTo>
                        <a:pt x="141702" y="86497"/>
                      </a:lnTo>
                      <a:lnTo>
                        <a:pt x="91232" y="110971"/>
                      </a:lnTo>
                      <a:lnTo>
                        <a:pt x="90180" y="108843"/>
                      </a:lnTo>
                      <a:close/>
                      <a:moveTo>
                        <a:pt x="93907" y="56612"/>
                      </a:moveTo>
                      <a:lnTo>
                        <a:pt x="77529" y="83250"/>
                      </a:lnTo>
                      <a:lnTo>
                        <a:pt x="90180" y="108843"/>
                      </a:lnTo>
                      <a:lnTo>
                        <a:pt x="81665" y="113100"/>
                      </a:lnTo>
                      <a:lnTo>
                        <a:pt x="81665" y="189144"/>
                      </a:lnTo>
                      <a:lnTo>
                        <a:pt x="139274" y="217949"/>
                      </a:lnTo>
                      <a:lnTo>
                        <a:pt x="196884" y="189144"/>
                      </a:lnTo>
                      <a:lnTo>
                        <a:pt x="196884" y="114931"/>
                      </a:lnTo>
                      <a:lnTo>
                        <a:pt x="198958" y="115999"/>
                      </a:lnTo>
                      <a:lnTo>
                        <a:pt x="198034" y="192038"/>
                      </a:lnTo>
                      <a:lnTo>
                        <a:pt x="144208" y="218139"/>
                      </a:lnTo>
                      <a:lnTo>
                        <a:pt x="155568" y="241121"/>
                      </a:lnTo>
                      <a:lnTo>
                        <a:pt x="182697" y="246757"/>
                      </a:lnTo>
                      <a:lnTo>
                        <a:pt x="166987" y="255827"/>
                      </a:lnTo>
                      <a:lnTo>
                        <a:pt x="156075" y="302245"/>
                      </a:lnTo>
                      <a:lnTo>
                        <a:pt x="122476" y="302245"/>
                      </a:lnTo>
                      <a:lnTo>
                        <a:pt x="111565" y="255827"/>
                      </a:lnTo>
                      <a:cubicBezTo>
                        <a:pt x="92967" y="250905"/>
                        <a:pt x="76016" y="241118"/>
                        <a:pt x="62455" y="227473"/>
                      </a:cubicBezTo>
                      <a:lnTo>
                        <a:pt x="16799" y="241233"/>
                      </a:lnTo>
                      <a:lnTo>
                        <a:pt x="0" y="212135"/>
                      </a:lnTo>
                      <a:lnTo>
                        <a:pt x="34743" y="179476"/>
                      </a:lnTo>
                      <a:cubicBezTo>
                        <a:pt x="29707" y="160909"/>
                        <a:pt x="29707" y="141335"/>
                        <a:pt x="34743" y="122768"/>
                      </a:cubicBezTo>
                      <a:lnTo>
                        <a:pt x="0" y="90110"/>
                      </a:lnTo>
                      <a:lnTo>
                        <a:pt x="16799" y="61012"/>
                      </a:lnTo>
                      <a:lnTo>
                        <a:pt x="62454" y="74772"/>
                      </a:lnTo>
                      <a:close/>
                      <a:moveTo>
                        <a:pt x="122476" y="0"/>
                      </a:moveTo>
                      <a:lnTo>
                        <a:pt x="156075" y="0"/>
                      </a:lnTo>
                      <a:lnTo>
                        <a:pt x="165987" y="42169"/>
                      </a:lnTo>
                      <a:lnTo>
                        <a:pt x="142303" y="37087"/>
                      </a:lnTo>
                      <a:lnTo>
                        <a:pt x="112428" y="42742"/>
                      </a:lnTo>
                      <a:close/>
                    </a:path>
                  </a:pathLst>
                </a:custGeom>
                <a:solidFill>
                  <a:schemeClr val="bg1"/>
                </a:solidFill>
                <a:ln w="19050">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1" name="Freeform 20"/>
                <p:cNvSpPr/>
                <p:nvPr/>
              </p:nvSpPr>
              <p:spPr>
                <a:xfrm rot="20021754">
                  <a:off x="2054359" y="3161328"/>
                  <a:ext cx="403626" cy="168587"/>
                </a:xfrm>
                <a:custGeom>
                  <a:avLst/>
                  <a:gdLst>
                    <a:gd name="connsiteX0" fmla="*/ 99307 w 541041"/>
                    <a:gd name="connsiteY0" fmla="*/ 54263 h 225982"/>
                    <a:gd name="connsiteX1" fmla="*/ 136175 w 541041"/>
                    <a:gd name="connsiteY1" fmla="*/ 104206 h 225982"/>
                    <a:gd name="connsiteX2" fmla="*/ 103289 w 541041"/>
                    <a:gd name="connsiteY2" fmla="*/ 170735 h 225982"/>
                    <a:gd name="connsiteX3" fmla="*/ 38879 w 541041"/>
                    <a:gd name="connsiteY3" fmla="*/ 171028 h 225982"/>
                    <a:gd name="connsiteX4" fmla="*/ 0 w 541041"/>
                    <a:gd name="connsiteY4" fmla="*/ 119677 h 225982"/>
                    <a:gd name="connsiteX5" fmla="*/ 33698 w 541041"/>
                    <a:gd name="connsiteY5" fmla="*/ 51507 h 225982"/>
                    <a:gd name="connsiteX6" fmla="*/ 43218 w 541041"/>
                    <a:gd name="connsiteY6" fmla="*/ 51464 h 225982"/>
                    <a:gd name="connsiteX7" fmla="*/ 43218 w 541041"/>
                    <a:gd name="connsiteY7" fmla="*/ 53838 h 225982"/>
                    <a:gd name="connsiteX8" fmla="*/ 504723 w 541041"/>
                    <a:gd name="connsiteY8" fmla="*/ 53019 h 225982"/>
                    <a:gd name="connsiteX9" fmla="*/ 541041 w 541041"/>
                    <a:gd name="connsiteY9" fmla="*/ 107811 h 225982"/>
                    <a:gd name="connsiteX10" fmla="*/ 481576 w 541041"/>
                    <a:gd name="connsiteY10" fmla="*/ 167276 h 225982"/>
                    <a:gd name="connsiteX11" fmla="*/ 171988 w 541041"/>
                    <a:gd name="connsiteY11" fmla="*/ 167276 h 225982"/>
                    <a:gd name="connsiteX12" fmla="*/ 143860 w 541041"/>
                    <a:gd name="connsiteY12" fmla="*/ 202747 h 225982"/>
                    <a:gd name="connsiteX13" fmla="*/ 99545 w 541041"/>
                    <a:gd name="connsiteY13" fmla="*/ 225955 h 225982"/>
                    <a:gd name="connsiteX14" fmla="*/ 99000 w 541041"/>
                    <a:gd name="connsiteY14" fmla="*/ 225982 h 225982"/>
                    <a:gd name="connsiteX15" fmla="*/ 66761 w 541041"/>
                    <a:gd name="connsiteY15" fmla="*/ 217441 h 225982"/>
                    <a:gd name="connsiteX16" fmla="*/ 43218 w 541041"/>
                    <a:gd name="connsiteY16" fmla="*/ 199021 h 225982"/>
                    <a:gd name="connsiteX17" fmla="*/ 43218 w 541041"/>
                    <a:gd name="connsiteY17" fmla="*/ 173385 h 225982"/>
                    <a:gd name="connsiteX18" fmla="*/ 103037 w 541041"/>
                    <a:gd name="connsiteY18" fmla="*/ 173839 h 225982"/>
                    <a:gd name="connsiteX19" fmla="*/ 137561 w 541041"/>
                    <a:gd name="connsiteY19" fmla="*/ 106083 h 225982"/>
                    <a:gd name="connsiteX20" fmla="*/ 136175 w 541041"/>
                    <a:gd name="connsiteY20" fmla="*/ 104206 h 225982"/>
                    <a:gd name="connsiteX21" fmla="*/ 136987 w 541041"/>
                    <a:gd name="connsiteY21" fmla="*/ 102565 h 225982"/>
                    <a:gd name="connsiteX22" fmla="*/ 98106 w 541041"/>
                    <a:gd name="connsiteY22" fmla="*/ 51213 h 225982"/>
                    <a:gd name="connsiteX23" fmla="*/ 43218 w 541041"/>
                    <a:gd name="connsiteY23" fmla="*/ 51464 h 225982"/>
                    <a:gd name="connsiteX24" fmla="*/ 43218 w 541041"/>
                    <a:gd name="connsiteY24" fmla="*/ 22915 h 225982"/>
                    <a:gd name="connsiteX25" fmla="*/ 77964 w 541041"/>
                    <a:gd name="connsiteY25" fmla="*/ 1110 h 225982"/>
                    <a:gd name="connsiteX26" fmla="*/ 85046 w 541041"/>
                    <a:gd name="connsiteY26" fmla="*/ 0 h 225982"/>
                    <a:gd name="connsiteX27" fmla="*/ 121741 w 541041"/>
                    <a:gd name="connsiteY27" fmla="*/ 10236 h 225982"/>
                    <a:gd name="connsiteX28" fmla="*/ 157909 w 541041"/>
                    <a:gd name="connsiteY28" fmla="*/ 38916 h 225982"/>
                    <a:gd name="connsiteX29" fmla="*/ 163138 w 541041"/>
                    <a:gd name="connsiteY29" fmla="*/ 48346 h 225982"/>
                    <a:gd name="connsiteX30" fmla="*/ 481576 w 541041"/>
                    <a:gd name="connsiteY30" fmla="*/ 48346 h 225982"/>
                    <a:gd name="connsiteX31" fmla="*/ 504723 w 541041"/>
                    <a:gd name="connsiteY31" fmla="*/ 53019 h 22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41041" h="225982">
                      <a:moveTo>
                        <a:pt x="99307" y="54263"/>
                      </a:moveTo>
                      <a:lnTo>
                        <a:pt x="136175" y="104206"/>
                      </a:lnTo>
                      <a:lnTo>
                        <a:pt x="103289" y="170735"/>
                      </a:lnTo>
                      <a:lnTo>
                        <a:pt x="38879" y="171028"/>
                      </a:lnTo>
                      <a:lnTo>
                        <a:pt x="0" y="119677"/>
                      </a:lnTo>
                      <a:lnTo>
                        <a:pt x="33698" y="51507"/>
                      </a:lnTo>
                      <a:lnTo>
                        <a:pt x="43218" y="51464"/>
                      </a:lnTo>
                      <a:lnTo>
                        <a:pt x="43218" y="53838"/>
                      </a:lnTo>
                      <a:close/>
                      <a:moveTo>
                        <a:pt x="504723" y="53019"/>
                      </a:moveTo>
                      <a:cubicBezTo>
                        <a:pt x="526066" y="62046"/>
                        <a:pt x="541041" y="83180"/>
                        <a:pt x="541041" y="107811"/>
                      </a:cubicBezTo>
                      <a:cubicBezTo>
                        <a:pt x="541041" y="140653"/>
                        <a:pt x="514418" y="167276"/>
                        <a:pt x="481576" y="167276"/>
                      </a:cubicBezTo>
                      <a:lnTo>
                        <a:pt x="171988" y="167276"/>
                      </a:lnTo>
                      <a:lnTo>
                        <a:pt x="143860" y="202747"/>
                      </a:lnTo>
                      <a:cubicBezTo>
                        <a:pt x="130861" y="213683"/>
                        <a:pt x="115692" y="221548"/>
                        <a:pt x="99545" y="225955"/>
                      </a:cubicBezTo>
                      <a:lnTo>
                        <a:pt x="99000" y="225982"/>
                      </a:lnTo>
                      <a:lnTo>
                        <a:pt x="66761" y="217441"/>
                      </a:lnTo>
                      <a:lnTo>
                        <a:pt x="43218" y="199021"/>
                      </a:lnTo>
                      <a:lnTo>
                        <a:pt x="43218" y="173385"/>
                      </a:lnTo>
                      <a:lnTo>
                        <a:pt x="103037" y="173839"/>
                      </a:lnTo>
                      <a:lnTo>
                        <a:pt x="137561" y="106083"/>
                      </a:lnTo>
                      <a:lnTo>
                        <a:pt x="136175" y="104206"/>
                      </a:lnTo>
                      <a:lnTo>
                        <a:pt x="136987" y="102565"/>
                      </a:lnTo>
                      <a:lnTo>
                        <a:pt x="98106" y="51213"/>
                      </a:lnTo>
                      <a:lnTo>
                        <a:pt x="43218" y="51464"/>
                      </a:lnTo>
                      <a:lnTo>
                        <a:pt x="43218" y="22915"/>
                      </a:lnTo>
                      <a:lnTo>
                        <a:pt x="77964" y="1110"/>
                      </a:lnTo>
                      <a:lnTo>
                        <a:pt x="85046" y="0"/>
                      </a:lnTo>
                      <a:lnTo>
                        <a:pt x="121741" y="10236"/>
                      </a:lnTo>
                      <a:cubicBezTo>
                        <a:pt x="136041" y="17522"/>
                        <a:pt x="148188" y="27361"/>
                        <a:pt x="157909" y="38916"/>
                      </a:cubicBezTo>
                      <a:lnTo>
                        <a:pt x="163138" y="48346"/>
                      </a:lnTo>
                      <a:lnTo>
                        <a:pt x="481576" y="48346"/>
                      </a:lnTo>
                      <a:cubicBezTo>
                        <a:pt x="489787" y="48346"/>
                        <a:pt x="497608" y="50010"/>
                        <a:pt x="504723" y="53019"/>
                      </a:cubicBezTo>
                      <a:close/>
                    </a:path>
                  </a:pathLst>
                </a:cu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22" name="Hexagon 21"/>
                <p:cNvSpPr/>
                <p:nvPr/>
              </p:nvSpPr>
              <p:spPr>
                <a:xfrm rot="16200000">
                  <a:off x="2067787" y="3266584"/>
                  <a:ext cx="102880" cy="89052"/>
                </a:xfrm>
                <a:prstGeom prst="hexagon">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grpSp>
      </p:grpSp>
      <p:grpSp>
        <p:nvGrpSpPr>
          <p:cNvPr id="195" name="Group 194"/>
          <p:cNvGrpSpPr/>
          <p:nvPr/>
        </p:nvGrpSpPr>
        <p:grpSpPr>
          <a:xfrm>
            <a:off x="5521305" y="516046"/>
            <a:ext cx="2745258" cy="1454951"/>
            <a:chOff x="5140305" y="516046"/>
            <a:chExt cx="2745258" cy="1454951"/>
          </a:xfrm>
        </p:grpSpPr>
        <p:grpSp>
          <p:nvGrpSpPr>
            <p:cNvPr id="41" name="Process B"/>
            <p:cNvGrpSpPr/>
            <p:nvPr/>
          </p:nvGrpSpPr>
          <p:grpSpPr>
            <a:xfrm flipH="1">
              <a:off x="5140305" y="516046"/>
              <a:ext cx="2745258" cy="1234786"/>
              <a:chOff x="5785070" y="298924"/>
              <a:chExt cx="2745258" cy="1700610"/>
            </a:xfrm>
          </p:grpSpPr>
          <p:sp>
            <p:nvSpPr>
              <p:cNvPr id="32" name="Process B3"/>
              <p:cNvSpPr/>
              <p:nvPr/>
            </p:nvSpPr>
            <p:spPr>
              <a:xfrm>
                <a:off x="5785070" y="298924"/>
                <a:ext cx="2440458" cy="1395810"/>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39" name="Process B2"/>
              <p:cNvSpPr/>
              <p:nvPr/>
            </p:nvSpPr>
            <p:spPr>
              <a:xfrm>
                <a:off x="5937470" y="451324"/>
                <a:ext cx="2440458" cy="1395810"/>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40" name="Process B1"/>
              <p:cNvSpPr/>
              <p:nvPr/>
            </p:nvSpPr>
            <p:spPr>
              <a:xfrm>
                <a:off x="6089870" y="603724"/>
                <a:ext cx="2440458" cy="1395810"/>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grpSp>
          <p:nvGrpSpPr>
            <p:cNvPr id="33" name="PT Agent B"/>
            <p:cNvGrpSpPr/>
            <p:nvPr/>
          </p:nvGrpSpPr>
          <p:grpSpPr>
            <a:xfrm>
              <a:off x="5247478" y="1501855"/>
              <a:ext cx="1074956" cy="469142"/>
              <a:chOff x="2626646" y="3779254"/>
              <a:chExt cx="1074956" cy="469142"/>
            </a:xfrm>
          </p:grpSpPr>
          <p:sp>
            <p:nvSpPr>
              <p:cNvPr id="34" name="Text"/>
              <p:cNvSpPr/>
              <p:nvPr/>
            </p:nvSpPr>
            <p:spPr>
              <a:xfrm>
                <a:off x="2703536" y="3779254"/>
                <a:ext cx="998066" cy="331980"/>
              </a:xfrm>
              <a:prstGeom prst="rect">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91440" bIns="0" rtlCol="0" anchor="t" anchorCtr="0"/>
              <a:lstStyle/>
              <a:p>
                <a:pPr algn="r"/>
                <a:r>
                  <a:rPr lang="en-US" dirty="0" smtClean="0">
                    <a:solidFill>
                      <a:schemeClr val="tx1"/>
                    </a:solidFill>
                  </a:rPr>
                  <a:t>PT Agent</a:t>
                </a:r>
                <a:endParaRPr lang="en-US" dirty="0">
                  <a:solidFill>
                    <a:schemeClr val="tx1"/>
                  </a:solidFill>
                </a:endParaRPr>
              </a:p>
            </p:txBody>
          </p:sp>
          <p:grpSp>
            <p:nvGrpSpPr>
              <p:cNvPr id="35" name="Group 34"/>
              <p:cNvGrpSpPr/>
              <p:nvPr/>
            </p:nvGrpSpPr>
            <p:grpSpPr>
              <a:xfrm rot="878394">
                <a:off x="2626646" y="3986085"/>
                <a:ext cx="442659" cy="262311"/>
                <a:chOff x="2015326" y="3161328"/>
                <a:chExt cx="442659" cy="262311"/>
              </a:xfrm>
            </p:grpSpPr>
            <p:sp>
              <p:nvSpPr>
                <p:cNvPr id="36" name="Freeform 35"/>
                <p:cNvSpPr/>
                <p:nvPr/>
              </p:nvSpPr>
              <p:spPr>
                <a:xfrm>
                  <a:off x="2015326" y="3198159"/>
                  <a:ext cx="207804" cy="225480"/>
                </a:xfrm>
                <a:custGeom>
                  <a:avLst/>
                  <a:gdLst>
                    <a:gd name="connsiteX0" fmla="*/ 250470 w 278551"/>
                    <a:gd name="connsiteY0" fmla="*/ 185740 h 302245"/>
                    <a:gd name="connsiteX1" fmla="*/ 278551 w 278551"/>
                    <a:gd name="connsiteY1" fmla="*/ 212135 h 302245"/>
                    <a:gd name="connsiteX2" fmla="*/ 261752 w 278551"/>
                    <a:gd name="connsiteY2" fmla="*/ 241233 h 302245"/>
                    <a:gd name="connsiteX3" fmla="*/ 225317 w 278551"/>
                    <a:gd name="connsiteY3" fmla="*/ 230252 h 302245"/>
                    <a:gd name="connsiteX4" fmla="*/ 247440 w 278551"/>
                    <a:gd name="connsiteY4" fmla="*/ 199863 h 302245"/>
                    <a:gd name="connsiteX5" fmla="*/ 139274 w 278551"/>
                    <a:gd name="connsiteY5" fmla="*/ 84295 h 302245"/>
                    <a:gd name="connsiteX6" fmla="*/ 196885 w 278551"/>
                    <a:gd name="connsiteY6" fmla="*/ 113100 h 302245"/>
                    <a:gd name="connsiteX7" fmla="*/ 196884 w 278551"/>
                    <a:gd name="connsiteY7" fmla="*/ 114931 h 302245"/>
                    <a:gd name="connsiteX8" fmla="*/ 141702 w 278551"/>
                    <a:gd name="connsiteY8" fmla="*/ 86497 h 302245"/>
                    <a:gd name="connsiteX9" fmla="*/ 91232 w 278551"/>
                    <a:gd name="connsiteY9" fmla="*/ 110971 h 302245"/>
                    <a:gd name="connsiteX10" fmla="*/ 90180 w 278551"/>
                    <a:gd name="connsiteY10" fmla="*/ 108843 h 302245"/>
                    <a:gd name="connsiteX11" fmla="*/ 93907 w 278551"/>
                    <a:gd name="connsiteY11" fmla="*/ 56612 h 302245"/>
                    <a:gd name="connsiteX12" fmla="*/ 77529 w 278551"/>
                    <a:gd name="connsiteY12" fmla="*/ 83250 h 302245"/>
                    <a:gd name="connsiteX13" fmla="*/ 90180 w 278551"/>
                    <a:gd name="connsiteY13" fmla="*/ 108843 h 302245"/>
                    <a:gd name="connsiteX14" fmla="*/ 81665 w 278551"/>
                    <a:gd name="connsiteY14" fmla="*/ 113100 h 302245"/>
                    <a:gd name="connsiteX15" fmla="*/ 81665 w 278551"/>
                    <a:gd name="connsiteY15" fmla="*/ 189144 h 302245"/>
                    <a:gd name="connsiteX16" fmla="*/ 139274 w 278551"/>
                    <a:gd name="connsiteY16" fmla="*/ 217949 h 302245"/>
                    <a:gd name="connsiteX17" fmla="*/ 196884 w 278551"/>
                    <a:gd name="connsiteY17" fmla="*/ 189144 h 302245"/>
                    <a:gd name="connsiteX18" fmla="*/ 196884 w 278551"/>
                    <a:gd name="connsiteY18" fmla="*/ 114931 h 302245"/>
                    <a:gd name="connsiteX19" fmla="*/ 198958 w 278551"/>
                    <a:gd name="connsiteY19" fmla="*/ 115999 h 302245"/>
                    <a:gd name="connsiteX20" fmla="*/ 198034 w 278551"/>
                    <a:gd name="connsiteY20" fmla="*/ 192038 h 302245"/>
                    <a:gd name="connsiteX21" fmla="*/ 144208 w 278551"/>
                    <a:gd name="connsiteY21" fmla="*/ 218139 h 302245"/>
                    <a:gd name="connsiteX22" fmla="*/ 155568 w 278551"/>
                    <a:gd name="connsiteY22" fmla="*/ 241121 h 302245"/>
                    <a:gd name="connsiteX23" fmla="*/ 182697 w 278551"/>
                    <a:gd name="connsiteY23" fmla="*/ 246757 h 302245"/>
                    <a:gd name="connsiteX24" fmla="*/ 166987 w 278551"/>
                    <a:gd name="connsiteY24" fmla="*/ 255827 h 302245"/>
                    <a:gd name="connsiteX25" fmla="*/ 156075 w 278551"/>
                    <a:gd name="connsiteY25" fmla="*/ 302245 h 302245"/>
                    <a:gd name="connsiteX26" fmla="*/ 122476 w 278551"/>
                    <a:gd name="connsiteY26" fmla="*/ 302245 h 302245"/>
                    <a:gd name="connsiteX27" fmla="*/ 111565 w 278551"/>
                    <a:gd name="connsiteY27" fmla="*/ 255827 h 302245"/>
                    <a:gd name="connsiteX28" fmla="*/ 62455 w 278551"/>
                    <a:gd name="connsiteY28" fmla="*/ 227473 h 302245"/>
                    <a:gd name="connsiteX29" fmla="*/ 16799 w 278551"/>
                    <a:gd name="connsiteY29" fmla="*/ 241233 h 302245"/>
                    <a:gd name="connsiteX30" fmla="*/ 0 w 278551"/>
                    <a:gd name="connsiteY30" fmla="*/ 212135 h 302245"/>
                    <a:gd name="connsiteX31" fmla="*/ 34743 w 278551"/>
                    <a:gd name="connsiteY31" fmla="*/ 179476 h 302245"/>
                    <a:gd name="connsiteX32" fmla="*/ 34743 w 278551"/>
                    <a:gd name="connsiteY32" fmla="*/ 122768 h 302245"/>
                    <a:gd name="connsiteX33" fmla="*/ 0 w 278551"/>
                    <a:gd name="connsiteY33" fmla="*/ 90110 h 302245"/>
                    <a:gd name="connsiteX34" fmla="*/ 16799 w 278551"/>
                    <a:gd name="connsiteY34" fmla="*/ 61012 h 302245"/>
                    <a:gd name="connsiteX35" fmla="*/ 62454 w 278551"/>
                    <a:gd name="connsiteY35" fmla="*/ 74772 h 302245"/>
                    <a:gd name="connsiteX36" fmla="*/ 122476 w 278551"/>
                    <a:gd name="connsiteY36" fmla="*/ 0 h 302245"/>
                    <a:gd name="connsiteX37" fmla="*/ 156075 w 278551"/>
                    <a:gd name="connsiteY37" fmla="*/ 0 h 302245"/>
                    <a:gd name="connsiteX38" fmla="*/ 165987 w 278551"/>
                    <a:gd name="connsiteY38" fmla="*/ 42169 h 302245"/>
                    <a:gd name="connsiteX39" fmla="*/ 142303 w 278551"/>
                    <a:gd name="connsiteY39" fmla="*/ 37087 h 302245"/>
                    <a:gd name="connsiteX40" fmla="*/ 112428 w 278551"/>
                    <a:gd name="connsiteY40" fmla="*/ 42742 h 30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78551" h="302245">
                      <a:moveTo>
                        <a:pt x="250470" y="185740"/>
                      </a:moveTo>
                      <a:lnTo>
                        <a:pt x="278551" y="212135"/>
                      </a:lnTo>
                      <a:lnTo>
                        <a:pt x="261752" y="241233"/>
                      </a:lnTo>
                      <a:lnTo>
                        <a:pt x="225317" y="230252"/>
                      </a:lnTo>
                      <a:lnTo>
                        <a:pt x="247440" y="199863"/>
                      </a:lnTo>
                      <a:close/>
                      <a:moveTo>
                        <a:pt x="139274" y="84295"/>
                      </a:moveTo>
                      <a:lnTo>
                        <a:pt x="196885" y="113100"/>
                      </a:lnTo>
                      <a:lnTo>
                        <a:pt x="196884" y="114931"/>
                      </a:lnTo>
                      <a:lnTo>
                        <a:pt x="141702" y="86497"/>
                      </a:lnTo>
                      <a:lnTo>
                        <a:pt x="91232" y="110971"/>
                      </a:lnTo>
                      <a:lnTo>
                        <a:pt x="90180" y="108843"/>
                      </a:lnTo>
                      <a:close/>
                      <a:moveTo>
                        <a:pt x="93907" y="56612"/>
                      </a:moveTo>
                      <a:lnTo>
                        <a:pt x="77529" y="83250"/>
                      </a:lnTo>
                      <a:lnTo>
                        <a:pt x="90180" y="108843"/>
                      </a:lnTo>
                      <a:lnTo>
                        <a:pt x="81665" y="113100"/>
                      </a:lnTo>
                      <a:lnTo>
                        <a:pt x="81665" y="189144"/>
                      </a:lnTo>
                      <a:lnTo>
                        <a:pt x="139274" y="217949"/>
                      </a:lnTo>
                      <a:lnTo>
                        <a:pt x="196884" y="189144"/>
                      </a:lnTo>
                      <a:lnTo>
                        <a:pt x="196884" y="114931"/>
                      </a:lnTo>
                      <a:lnTo>
                        <a:pt x="198958" y="115999"/>
                      </a:lnTo>
                      <a:lnTo>
                        <a:pt x="198034" y="192038"/>
                      </a:lnTo>
                      <a:lnTo>
                        <a:pt x="144208" y="218139"/>
                      </a:lnTo>
                      <a:lnTo>
                        <a:pt x="155568" y="241121"/>
                      </a:lnTo>
                      <a:lnTo>
                        <a:pt x="182697" y="246757"/>
                      </a:lnTo>
                      <a:lnTo>
                        <a:pt x="166987" y="255827"/>
                      </a:lnTo>
                      <a:lnTo>
                        <a:pt x="156075" y="302245"/>
                      </a:lnTo>
                      <a:lnTo>
                        <a:pt x="122476" y="302245"/>
                      </a:lnTo>
                      <a:lnTo>
                        <a:pt x="111565" y="255827"/>
                      </a:lnTo>
                      <a:cubicBezTo>
                        <a:pt x="92967" y="250905"/>
                        <a:pt x="76016" y="241118"/>
                        <a:pt x="62455" y="227473"/>
                      </a:cubicBezTo>
                      <a:lnTo>
                        <a:pt x="16799" y="241233"/>
                      </a:lnTo>
                      <a:lnTo>
                        <a:pt x="0" y="212135"/>
                      </a:lnTo>
                      <a:lnTo>
                        <a:pt x="34743" y="179476"/>
                      </a:lnTo>
                      <a:cubicBezTo>
                        <a:pt x="29707" y="160909"/>
                        <a:pt x="29707" y="141335"/>
                        <a:pt x="34743" y="122768"/>
                      </a:cubicBezTo>
                      <a:lnTo>
                        <a:pt x="0" y="90110"/>
                      </a:lnTo>
                      <a:lnTo>
                        <a:pt x="16799" y="61012"/>
                      </a:lnTo>
                      <a:lnTo>
                        <a:pt x="62454" y="74772"/>
                      </a:lnTo>
                      <a:close/>
                      <a:moveTo>
                        <a:pt x="122476" y="0"/>
                      </a:moveTo>
                      <a:lnTo>
                        <a:pt x="156075" y="0"/>
                      </a:lnTo>
                      <a:lnTo>
                        <a:pt x="165987" y="42169"/>
                      </a:lnTo>
                      <a:lnTo>
                        <a:pt x="142303" y="37087"/>
                      </a:lnTo>
                      <a:lnTo>
                        <a:pt x="112428" y="42742"/>
                      </a:lnTo>
                      <a:close/>
                    </a:path>
                  </a:pathLst>
                </a:custGeom>
                <a:solidFill>
                  <a:schemeClr val="bg1"/>
                </a:solidFill>
                <a:ln w="19050">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37" name="Freeform 36"/>
                <p:cNvSpPr/>
                <p:nvPr/>
              </p:nvSpPr>
              <p:spPr>
                <a:xfrm rot="20021754">
                  <a:off x="2054359" y="3161328"/>
                  <a:ext cx="403626" cy="168587"/>
                </a:xfrm>
                <a:custGeom>
                  <a:avLst/>
                  <a:gdLst>
                    <a:gd name="connsiteX0" fmla="*/ 99307 w 541041"/>
                    <a:gd name="connsiteY0" fmla="*/ 54263 h 225982"/>
                    <a:gd name="connsiteX1" fmla="*/ 136175 w 541041"/>
                    <a:gd name="connsiteY1" fmla="*/ 104206 h 225982"/>
                    <a:gd name="connsiteX2" fmla="*/ 103289 w 541041"/>
                    <a:gd name="connsiteY2" fmla="*/ 170735 h 225982"/>
                    <a:gd name="connsiteX3" fmla="*/ 38879 w 541041"/>
                    <a:gd name="connsiteY3" fmla="*/ 171028 h 225982"/>
                    <a:gd name="connsiteX4" fmla="*/ 0 w 541041"/>
                    <a:gd name="connsiteY4" fmla="*/ 119677 h 225982"/>
                    <a:gd name="connsiteX5" fmla="*/ 33698 w 541041"/>
                    <a:gd name="connsiteY5" fmla="*/ 51507 h 225982"/>
                    <a:gd name="connsiteX6" fmla="*/ 43218 w 541041"/>
                    <a:gd name="connsiteY6" fmla="*/ 51464 h 225982"/>
                    <a:gd name="connsiteX7" fmla="*/ 43218 w 541041"/>
                    <a:gd name="connsiteY7" fmla="*/ 53838 h 225982"/>
                    <a:gd name="connsiteX8" fmla="*/ 504723 w 541041"/>
                    <a:gd name="connsiteY8" fmla="*/ 53019 h 225982"/>
                    <a:gd name="connsiteX9" fmla="*/ 541041 w 541041"/>
                    <a:gd name="connsiteY9" fmla="*/ 107811 h 225982"/>
                    <a:gd name="connsiteX10" fmla="*/ 481576 w 541041"/>
                    <a:gd name="connsiteY10" fmla="*/ 167276 h 225982"/>
                    <a:gd name="connsiteX11" fmla="*/ 171988 w 541041"/>
                    <a:gd name="connsiteY11" fmla="*/ 167276 h 225982"/>
                    <a:gd name="connsiteX12" fmla="*/ 143860 w 541041"/>
                    <a:gd name="connsiteY12" fmla="*/ 202747 h 225982"/>
                    <a:gd name="connsiteX13" fmla="*/ 99545 w 541041"/>
                    <a:gd name="connsiteY13" fmla="*/ 225955 h 225982"/>
                    <a:gd name="connsiteX14" fmla="*/ 99000 w 541041"/>
                    <a:gd name="connsiteY14" fmla="*/ 225982 h 225982"/>
                    <a:gd name="connsiteX15" fmla="*/ 66761 w 541041"/>
                    <a:gd name="connsiteY15" fmla="*/ 217441 h 225982"/>
                    <a:gd name="connsiteX16" fmla="*/ 43218 w 541041"/>
                    <a:gd name="connsiteY16" fmla="*/ 199021 h 225982"/>
                    <a:gd name="connsiteX17" fmla="*/ 43218 w 541041"/>
                    <a:gd name="connsiteY17" fmla="*/ 173385 h 225982"/>
                    <a:gd name="connsiteX18" fmla="*/ 103037 w 541041"/>
                    <a:gd name="connsiteY18" fmla="*/ 173839 h 225982"/>
                    <a:gd name="connsiteX19" fmla="*/ 137561 w 541041"/>
                    <a:gd name="connsiteY19" fmla="*/ 106083 h 225982"/>
                    <a:gd name="connsiteX20" fmla="*/ 136175 w 541041"/>
                    <a:gd name="connsiteY20" fmla="*/ 104206 h 225982"/>
                    <a:gd name="connsiteX21" fmla="*/ 136987 w 541041"/>
                    <a:gd name="connsiteY21" fmla="*/ 102565 h 225982"/>
                    <a:gd name="connsiteX22" fmla="*/ 98106 w 541041"/>
                    <a:gd name="connsiteY22" fmla="*/ 51213 h 225982"/>
                    <a:gd name="connsiteX23" fmla="*/ 43218 w 541041"/>
                    <a:gd name="connsiteY23" fmla="*/ 51464 h 225982"/>
                    <a:gd name="connsiteX24" fmla="*/ 43218 w 541041"/>
                    <a:gd name="connsiteY24" fmla="*/ 22915 h 225982"/>
                    <a:gd name="connsiteX25" fmla="*/ 77964 w 541041"/>
                    <a:gd name="connsiteY25" fmla="*/ 1110 h 225982"/>
                    <a:gd name="connsiteX26" fmla="*/ 85046 w 541041"/>
                    <a:gd name="connsiteY26" fmla="*/ 0 h 225982"/>
                    <a:gd name="connsiteX27" fmla="*/ 121741 w 541041"/>
                    <a:gd name="connsiteY27" fmla="*/ 10236 h 225982"/>
                    <a:gd name="connsiteX28" fmla="*/ 157909 w 541041"/>
                    <a:gd name="connsiteY28" fmla="*/ 38916 h 225982"/>
                    <a:gd name="connsiteX29" fmla="*/ 163138 w 541041"/>
                    <a:gd name="connsiteY29" fmla="*/ 48346 h 225982"/>
                    <a:gd name="connsiteX30" fmla="*/ 481576 w 541041"/>
                    <a:gd name="connsiteY30" fmla="*/ 48346 h 225982"/>
                    <a:gd name="connsiteX31" fmla="*/ 504723 w 541041"/>
                    <a:gd name="connsiteY31" fmla="*/ 53019 h 22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41041" h="225982">
                      <a:moveTo>
                        <a:pt x="99307" y="54263"/>
                      </a:moveTo>
                      <a:lnTo>
                        <a:pt x="136175" y="104206"/>
                      </a:lnTo>
                      <a:lnTo>
                        <a:pt x="103289" y="170735"/>
                      </a:lnTo>
                      <a:lnTo>
                        <a:pt x="38879" y="171028"/>
                      </a:lnTo>
                      <a:lnTo>
                        <a:pt x="0" y="119677"/>
                      </a:lnTo>
                      <a:lnTo>
                        <a:pt x="33698" y="51507"/>
                      </a:lnTo>
                      <a:lnTo>
                        <a:pt x="43218" y="51464"/>
                      </a:lnTo>
                      <a:lnTo>
                        <a:pt x="43218" y="53838"/>
                      </a:lnTo>
                      <a:close/>
                      <a:moveTo>
                        <a:pt x="504723" y="53019"/>
                      </a:moveTo>
                      <a:cubicBezTo>
                        <a:pt x="526066" y="62046"/>
                        <a:pt x="541041" y="83180"/>
                        <a:pt x="541041" y="107811"/>
                      </a:cubicBezTo>
                      <a:cubicBezTo>
                        <a:pt x="541041" y="140653"/>
                        <a:pt x="514418" y="167276"/>
                        <a:pt x="481576" y="167276"/>
                      </a:cubicBezTo>
                      <a:lnTo>
                        <a:pt x="171988" y="167276"/>
                      </a:lnTo>
                      <a:lnTo>
                        <a:pt x="143860" y="202747"/>
                      </a:lnTo>
                      <a:cubicBezTo>
                        <a:pt x="130861" y="213683"/>
                        <a:pt x="115692" y="221548"/>
                        <a:pt x="99545" y="225955"/>
                      </a:cubicBezTo>
                      <a:lnTo>
                        <a:pt x="99000" y="225982"/>
                      </a:lnTo>
                      <a:lnTo>
                        <a:pt x="66761" y="217441"/>
                      </a:lnTo>
                      <a:lnTo>
                        <a:pt x="43218" y="199021"/>
                      </a:lnTo>
                      <a:lnTo>
                        <a:pt x="43218" y="173385"/>
                      </a:lnTo>
                      <a:lnTo>
                        <a:pt x="103037" y="173839"/>
                      </a:lnTo>
                      <a:lnTo>
                        <a:pt x="137561" y="106083"/>
                      </a:lnTo>
                      <a:lnTo>
                        <a:pt x="136175" y="104206"/>
                      </a:lnTo>
                      <a:lnTo>
                        <a:pt x="136987" y="102565"/>
                      </a:lnTo>
                      <a:lnTo>
                        <a:pt x="98106" y="51213"/>
                      </a:lnTo>
                      <a:lnTo>
                        <a:pt x="43218" y="51464"/>
                      </a:lnTo>
                      <a:lnTo>
                        <a:pt x="43218" y="22915"/>
                      </a:lnTo>
                      <a:lnTo>
                        <a:pt x="77964" y="1110"/>
                      </a:lnTo>
                      <a:lnTo>
                        <a:pt x="85046" y="0"/>
                      </a:lnTo>
                      <a:lnTo>
                        <a:pt x="121741" y="10236"/>
                      </a:lnTo>
                      <a:cubicBezTo>
                        <a:pt x="136041" y="17522"/>
                        <a:pt x="148188" y="27361"/>
                        <a:pt x="157909" y="38916"/>
                      </a:cubicBezTo>
                      <a:lnTo>
                        <a:pt x="163138" y="48346"/>
                      </a:lnTo>
                      <a:lnTo>
                        <a:pt x="481576" y="48346"/>
                      </a:lnTo>
                      <a:cubicBezTo>
                        <a:pt x="489787" y="48346"/>
                        <a:pt x="497608" y="50010"/>
                        <a:pt x="504723" y="53019"/>
                      </a:cubicBezTo>
                      <a:close/>
                    </a:path>
                  </a:pathLst>
                </a:cu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38" name="Hexagon 37"/>
                <p:cNvSpPr/>
                <p:nvPr/>
              </p:nvSpPr>
              <p:spPr>
                <a:xfrm rot="16200000">
                  <a:off x="2067787" y="3266584"/>
                  <a:ext cx="102880" cy="89052"/>
                </a:xfrm>
                <a:prstGeom prst="hexagon">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dirty="0"/>
                </a:p>
              </p:txBody>
            </p:sp>
          </p:grpSp>
        </p:grpSp>
      </p:grpSp>
      <p:sp>
        <p:nvSpPr>
          <p:cNvPr id="43" name="Yellow Tenant"/>
          <p:cNvSpPr/>
          <p:nvPr/>
        </p:nvSpPr>
        <p:spPr>
          <a:xfrm>
            <a:off x="1448142" y="556844"/>
            <a:ext cx="475862" cy="556102"/>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bg2"/>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45" name="Yellow Workload"/>
          <p:cNvSpPr/>
          <p:nvPr/>
        </p:nvSpPr>
        <p:spPr>
          <a:xfrm>
            <a:off x="2200035" y="877522"/>
            <a:ext cx="6451600" cy="399484"/>
          </a:xfrm>
          <a:custGeom>
            <a:avLst/>
            <a:gdLst>
              <a:gd name="connsiteX0" fmla="*/ 0 w 6604000"/>
              <a:gd name="connsiteY0" fmla="*/ 0 h 673100"/>
              <a:gd name="connsiteX1" fmla="*/ 2514600 w 6604000"/>
              <a:gd name="connsiteY1" fmla="*/ 0 h 673100"/>
              <a:gd name="connsiteX2" fmla="*/ 3060700 w 6604000"/>
              <a:gd name="connsiteY2" fmla="*/ 673100 h 673100"/>
              <a:gd name="connsiteX3" fmla="*/ 6604000 w 6604000"/>
              <a:gd name="connsiteY3" fmla="*/ 673100 h 673100"/>
            </a:gdLst>
            <a:ahLst/>
            <a:cxnLst>
              <a:cxn ang="0">
                <a:pos x="connsiteX0" y="connsiteY0"/>
              </a:cxn>
              <a:cxn ang="0">
                <a:pos x="connsiteX1" y="connsiteY1"/>
              </a:cxn>
              <a:cxn ang="0">
                <a:pos x="connsiteX2" y="connsiteY2"/>
              </a:cxn>
              <a:cxn ang="0">
                <a:pos x="connsiteX3" y="connsiteY3"/>
              </a:cxn>
            </a:cxnLst>
            <a:rect l="l" t="t" r="r" b="b"/>
            <a:pathLst>
              <a:path w="6604000" h="673100">
                <a:moveTo>
                  <a:pt x="0" y="0"/>
                </a:moveTo>
                <a:lnTo>
                  <a:pt x="2514600" y="0"/>
                </a:lnTo>
                <a:lnTo>
                  <a:pt x="3060700" y="673100"/>
                </a:lnTo>
                <a:lnTo>
                  <a:pt x="6604000" y="673100"/>
                </a:lnTo>
              </a:path>
            </a:pathLst>
          </a:custGeom>
          <a:noFill/>
          <a:ln w="57150">
            <a:solidFill>
              <a:schemeClr val="accent3"/>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Blue Tenant"/>
          <p:cNvSpPr/>
          <p:nvPr/>
        </p:nvSpPr>
        <p:spPr>
          <a:xfrm>
            <a:off x="1600542" y="709244"/>
            <a:ext cx="475862" cy="556102"/>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bg2"/>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46" name="Blue Workload"/>
          <p:cNvSpPr/>
          <p:nvPr/>
        </p:nvSpPr>
        <p:spPr>
          <a:xfrm>
            <a:off x="2352435" y="979122"/>
            <a:ext cx="6299200" cy="399484"/>
          </a:xfrm>
          <a:custGeom>
            <a:avLst/>
            <a:gdLst>
              <a:gd name="connsiteX0" fmla="*/ 0 w 6604000"/>
              <a:gd name="connsiteY0" fmla="*/ 0 h 673100"/>
              <a:gd name="connsiteX1" fmla="*/ 2514600 w 6604000"/>
              <a:gd name="connsiteY1" fmla="*/ 0 h 673100"/>
              <a:gd name="connsiteX2" fmla="*/ 3060700 w 6604000"/>
              <a:gd name="connsiteY2" fmla="*/ 673100 h 673100"/>
              <a:gd name="connsiteX3" fmla="*/ 6604000 w 6604000"/>
              <a:gd name="connsiteY3" fmla="*/ 673100 h 673100"/>
            </a:gdLst>
            <a:ahLst/>
            <a:cxnLst>
              <a:cxn ang="0">
                <a:pos x="connsiteX0" y="connsiteY0"/>
              </a:cxn>
              <a:cxn ang="0">
                <a:pos x="connsiteX1" y="connsiteY1"/>
              </a:cxn>
              <a:cxn ang="0">
                <a:pos x="connsiteX2" y="connsiteY2"/>
              </a:cxn>
              <a:cxn ang="0">
                <a:pos x="connsiteX3" y="connsiteY3"/>
              </a:cxn>
            </a:cxnLst>
            <a:rect l="l" t="t" r="r" b="b"/>
            <a:pathLst>
              <a:path w="6604000" h="673100">
                <a:moveTo>
                  <a:pt x="0" y="0"/>
                </a:moveTo>
                <a:lnTo>
                  <a:pt x="2514600" y="0"/>
                </a:lnTo>
                <a:lnTo>
                  <a:pt x="3060700" y="673100"/>
                </a:lnTo>
                <a:lnTo>
                  <a:pt x="6604000" y="673100"/>
                </a:lnTo>
              </a:path>
            </a:pathLst>
          </a:custGeom>
          <a:noFill/>
          <a:ln w="57150">
            <a:solidFill>
              <a:schemeClr val="accent3"/>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6" name="Instrumented System"/>
          <p:cNvGrpSpPr/>
          <p:nvPr/>
        </p:nvGrpSpPr>
        <p:grpSpPr>
          <a:xfrm>
            <a:off x="2409805" y="-45532"/>
            <a:ext cx="6633414" cy="369332"/>
            <a:chOff x="2028805" y="-25868"/>
            <a:chExt cx="6633414" cy="369332"/>
          </a:xfrm>
        </p:grpSpPr>
        <p:cxnSp>
          <p:nvCxnSpPr>
            <p:cNvPr id="170" name="Straight Connector 169"/>
            <p:cNvCxnSpPr/>
            <p:nvPr/>
          </p:nvCxnSpPr>
          <p:spPr>
            <a:xfrm>
              <a:off x="2055612" y="294968"/>
              <a:ext cx="660660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71" name="TextBox 170"/>
            <p:cNvSpPr txBox="1"/>
            <p:nvPr/>
          </p:nvSpPr>
          <p:spPr>
            <a:xfrm>
              <a:off x="2028805" y="-25868"/>
              <a:ext cx="2180853" cy="369332"/>
            </a:xfrm>
            <a:prstGeom prst="rect">
              <a:avLst/>
            </a:prstGeom>
            <a:noFill/>
          </p:spPr>
          <p:txBody>
            <a:bodyPr wrap="none" rtlCol="0">
              <a:spAutoFit/>
            </a:bodyPr>
            <a:lstStyle/>
            <a:p>
              <a:r>
                <a:rPr lang="en-US" dirty="0" smtClean="0"/>
                <a:t>Instrumented System</a:t>
              </a:r>
              <a:endParaRPr lang="en-US" dirty="0"/>
            </a:p>
          </p:txBody>
        </p:sp>
        <p:sp>
          <p:nvSpPr>
            <p:cNvPr id="173" name="TextBox 172"/>
            <p:cNvSpPr txBox="1"/>
            <p:nvPr/>
          </p:nvSpPr>
          <p:spPr>
            <a:xfrm>
              <a:off x="4222190" y="-25868"/>
              <a:ext cx="370614" cy="369332"/>
            </a:xfrm>
            <a:prstGeom prst="rect">
              <a:avLst/>
            </a:prstGeom>
            <a:noFill/>
          </p:spPr>
          <p:txBody>
            <a:bodyPr wrap="none" rtlCol="0">
              <a:spAutoFit/>
            </a:bodyPr>
            <a:lstStyle/>
            <a:p>
              <a:r>
                <a:rPr lang="en-US" dirty="0" smtClean="0"/>
                <a:t>(+</a:t>
              </a:r>
              <a:endParaRPr lang="en-US" dirty="0"/>
            </a:p>
          </p:txBody>
        </p:sp>
        <p:sp>
          <p:nvSpPr>
            <p:cNvPr id="182" name="Freeform 181"/>
            <p:cNvSpPr/>
            <p:nvPr/>
          </p:nvSpPr>
          <p:spPr>
            <a:xfrm flipH="1">
              <a:off x="4521318" y="48908"/>
              <a:ext cx="268369" cy="219780"/>
            </a:xfrm>
            <a:custGeom>
              <a:avLst/>
              <a:gdLst>
                <a:gd name="connsiteX0" fmla="*/ 205184 w 1161142"/>
                <a:gd name="connsiteY0" fmla="*/ 225311 h 1009083"/>
                <a:gd name="connsiteX1" fmla="*/ 130631 w 1161142"/>
                <a:gd name="connsiteY1" fmla="*/ 225311 h 1009083"/>
                <a:gd name="connsiteX2" fmla="*/ 0 w 1161142"/>
                <a:gd name="connsiteY2" fmla="*/ 355942 h 1009083"/>
                <a:gd name="connsiteX3" fmla="*/ 0 w 1161142"/>
                <a:gd name="connsiteY3" fmla="*/ 878452 h 1009083"/>
                <a:gd name="connsiteX4" fmla="*/ 130631 w 1161142"/>
                <a:gd name="connsiteY4" fmla="*/ 1009083 h 1009083"/>
                <a:gd name="connsiteX5" fmla="*/ 205184 w 1161142"/>
                <a:gd name="connsiteY5" fmla="*/ 1009083 h 1009083"/>
                <a:gd name="connsiteX6" fmla="*/ 1030511 w 1161142"/>
                <a:gd name="connsiteY6" fmla="*/ 225311 h 1009083"/>
                <a:gd name="connsiteX7" fmla="*/ 955958 w 1161142"/>
                <a:gd name="connsiteY7" fmla="*/ 225311 h 1009083"/>
                <a:gd name="connsiteX8" fmla="*/ 955958 w 1161142"/>
                <a:gd name="connsiteY8" fmla="*/ 1009083 h 1009083"/>
                <a:gd name="connsiteX9" fmla="*/ 1030511 w 1161142"/>
                <a:gd name="connsiteY9" fmla="*/ 1009083 h 1009083"/>
                <a:gd name="connsiteX10" fmla="*/ 1161142 w 1161142"/>
                <a:gd name="connsiteY10" fmla="*/ 878452 h 1009083"/>
                <a:gd name="connsiteX11" fmla="*/ 1161142 w 1161142"/>
                <a:gd name="connsiteY11" fmla="*/ 355942 h 1009083"/>
                <a:gd name="connsiteX12" fmla="*/ 1030511 w 1161142"/>
                <a:gd name="connsiteY12" fmla="*/ 225311 h 1009083"/>
                <a:gd name="connsiteX13" fmla="*/ 580571 w 1161142"/>
                <a:gd name="connsiteY13" fmla="*/ 76200 h 1009083"/>
                <a:gd name="connsiteX14" fmla="*/ 729682 w 1161142"/>
                <a:gd name="connsiteY14" fmla="*/ 225311 h 1009083"/>
                <a:gd name="connsiteX15" fmla="*/ 431460 w 1161142"/>
                <a:gd name="connsiteY15" fmla="*/ 225311 h 1009083"/>
                <a:gd name="connsiteX16" fmla="*/ 580571 w 1161142"/>
                <a:gd name="connsiteY16" fmla="*/ 76200 h 1009083"/>
                <a:gd name="connsiteX17" fmla="*/ 580571 w 1161142"/>
                <a:gd name="connsiteY17" fmla="*/ 0 h 1009083"/>
                <a:gd name="connsiteX18" fmla="*/ 355260 w 1161142"/>
                <a:gd name="connsiteY18" fmla="*/ 225311 h 1009083"/>
                <a:gd name="connsiteX19" fmla="*/ 290704 w 1161142"/>
                <a:gd name="connsiteY19" fmla="*/ 225311 h 1009083"/>
                <a:gd name="connsiteX20" fmla="*/ 290704 w 1161142"/>
                <a:gd name="connsiteY20" fmla="*/ 1009083 h 1009083"/>
                <a:gd name="connsiteX21" fmla="*/ 870438 w 1161142"/>
                <a:gd name="connsiteY21" fmla="*/ 1009083 h 1009083"/>
                <a:gd name="connsiteX22" fmla="*/ 870438 w 1161142"/>
                <a:gd name="connsiteY22" fmla="*/ 225311 h 1009083"/>
                <a:gd name="connsiteX23" fmla="*/ 805882 w 1161142"/>
                <a:gd name="connsiteY23" fmla="*/ 225311 h 1009083"/>
                <a:gd name="connsiteX24" fmla="*/ 580571 w 1161142"/>
                <a:gd name="connsiteY24" fmla="*/ 0 h 100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61142" h="1009083">
                  <a:moveTo>
                    <a:pt x="205184" y="225311"/>
                  </a:moveTo>
                  <a:lnTo>
                    <a:pt x="130631" y="225311"/>
                  </a:lnTo>
                  <a:cubicBezTo>
                    <a:pt x="58485" y="225311"/>
                    <a:pt x="0" y="283796"/>
                    <a:pt x="0" y="355942"/>
                  </a:cubicBezTo>
                  <a:lnTo>
                    <a:pt x="0" y="878452"/>
                  </a:lnTo>
                  <a:cubicBezTo>
                    <a:pt x="0" y="950598"/>
                    <a:pt x="58485" y="1009083"/>
                    <a:pt x="130631" y="1009083"/>
                  </a:cubicBezTo>
                  <a:lnTo>
                    <a:pt x="205184" y="1009083"/>
                  </a:lnTo>
                  <a:close/>
                  <a:moveTo>
                    <a:pt x="1030511" y="225311"/>
                  </a:moveTo>
                  <a:lnTo>
                    <a:pt x="955958" y="225311"/>
                  </a:lnTo>
                  <a:lnTo>
                    <a:pt x="955958" y="1009083"/>
                  </a:lnTo>
                  <a:lnTo>
                    <a:pt x="1030511" y="1009083"/>
                  </a:lnTo>
                  <a:cubicBezTo>
                    <a:pt x="1102657" y="1009083"/>
                    <a:pt x="1161142" y="950598"/>
                    <a:pt x="1161142" y="878452"/>
                  </a:cubicBezTo>
                  <a:lnTo>
                    <a:pt x="1161142" y="355942"/>
                  </a:lnTo>
                  <a:cubicBezTo>
                    <a:pt x="1161142" y="283796"/>
                    <a:pt x="1102657" y="225311"/>
                    <a:pt x="1030511" y="225311"/>
                  </a:cubicBezTo>
                  <a:close/>
                  <a:moveTo>
                    <a:pt x="580571" y="76200"/>
                  </a:moveTo>
                  <a:cubicBezTo>
                    <a:pt x="662923" y="76200"/>
                    <a:pt x="729682" y="142959"/>
                    <a:pt x="729682" y="225311"/>
                  </a:cubicBezTo>
                  <a:lnTo>
                    <a:pt x="431460" y="225311"/>
                  </a:lnTo>
                  <a:cubicBezTo>
                    <a:pt x="431460" y="142959"/>
                    <a:pt x="498219" y="76200"/>
                    <a:pt x="580571" y="76200"/>
                  </a:cubicBezTo>
                  <a:close/>
                  <a:moveTo>
                    <a:pt x="580571" y="0"/>
                  </a:moveTo>
                  <a:cubicBezTo>
                    <a:pt x="456135" y="0"/>
                    <a:pt x="355260" y="100875"/>
                    <a:pt x="355260" y="225311"/>
                  </a:cubicBezTo>
                  <a:lnTo>
                    <a:pt x="290704" y="225311"/>
                  </a:lnTo>
                  <a:lnTo>
                    <a:pt x="290704" y="1009083"/>
                  </a:lnTo>
                  <a:lnTo>
                    <a:pt x="870438" y="1009083"/>
                  </a:lnTo>
                  <a:lnTo>
                    <a:pt x="870438" y="225311"/>
                  </a:lnTo>
                  <a:lnTo>
                    <a:pt x="805882" y="225311"/>
                  </a:lnTo>
                  <a:cubicBezTo>
                    <a:pt x="805882" y="100875"/>
                    <a:pt x="705007" y="0"/>
                    <a:pt x="580571"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83" name="TextBox 182"/>
            <p:cNvSpPr txBox="1"/>
            <p:nvPr/>
          </p:nvSpPr>
          <p:spPr>
            <a:xfrm>
              <a:off x="4706823" y="-25868"/>
              <a:ext cx="1132746" cy="369332"/>
            </a:xfrm>
            <a:prstGeom prst="rect">
              <a:avLst/>
            </a:prstGeom>
            <a:noFill/>
          </p:spPr>
          <p:txBody>
            <a:bodyPr wrap="none" rtlCol="0">
              <a:spAutoFit/>
            </a:bodyPr>
            <a:lstStyle/>
            <a:p>
              <a:r>
                <a:rPr lang="en-US" dirty="0" smtClean="0"/>
                <a:t> Baggage, </a:t>
              </a:r>
              <a:endParaRPr lang="en-US" dirty="0"/>
            </a:p>
          </p:txBody>
        </p:sp>
        <p:grpSp>
          <p:nvGrpSpPr>
            <p:cNvPr id="177" name="Group 176"/>
            <p:cNvGrpSpPr/>
            <p:nvPr/>
          </p:nvGrpSpPr>
          <p:grpSpPr>
            <a:xfrm>
              <a:off x="5905195" y="53952"/>
              <a:ext cx="351612" cy="209692"/>
              <a:chOff x="7760681" y="2437731"/>
              <a:chExt cx="456050" cy="271976"/>
            </a:xfrm>
          </p:grpSpPr>
          <p:sp>
            <p:nvSpPr>
              <p:cNvPr id="179" name="Freeform 178"/>
              <p:cNvSpPr/>
              <p:nvPr/>
            </p:nvSpPr>
            <p:spPr>
              <a:xfrm>
                <a:off x="7760681" y="2484227"/>
                <a:ext cx="207804" cy="225480"/>
              </a:xfrm>
              <a:custGeom>
                <a:avLst/>
                <a:gdLst>
                  <a:gd name="connsiteX0" fmla="*/ 250470 w 278551"/>
                  <a:gd name="connsiteY0" fmla="*/ 185740 h 302245"/>
                  <a:gd name="connsiteX1" fmla="*/ 278551 w 278551"/>
                  <a:gd name="connsiteY1" fmla="*/ 212135 h 302245"/>
                  <a:gd name="connsiteX2" fmla="*/ 261752 w 278551"/>
                  <a:gd name="connsiteY2" fmla="*/ 241233 h 302245"/>
                  <a:gd name="connsiteX3" fmla="*/ 225317 w 278551"/>
                  <a:gd name="connsiteY3" fmla="*/ 230252 h 302245"/>
                  <a:gd name="connsiteX4" fmla="*/ 247440 w 278551"/>
                  <a:gd name="connsiteY4" fmla="*/ 199863 h 302245"/>
                  <a:gd name="connsiteX5" fmla="*/ 139274 w 278551"/>
                  <a:gd name="connsiteY5" fmla="*/ 84295 h 302245"/>
                  <a:gd name="connsiteX6" fmla="*/ 196885 w 278551"/>
                  <a:gd name="connsiteY6" fmla="*/ 113100 h 302245"/>
                  <a:gd name="connsiteX7" fmla="*/ 196884 w 278551"/>
                  <a:gd name="connsiteY7" fmla="*/ 114931 h 302245"/>
                  <a:gd name="connsiteX8" fmla="*/ 141702 w 278551"/>
                  <a:gd name="connsiteY8" fmla="*/ 86497 h 302245"/>
                  <a:gd name="connsiteX9" fmla="*/ 91232 w 278551"/>
                  <a:gd name="connsiteY9" fmla="*/ 110971 h 302245"/>
                  <a:gd name="connsiteX10" fmla="*/ 90180 w 278551"/>
                  <a:gd name="connsiteY10" fmla="*/ 108843 h 302245"/>
                  <a:gd name="connsiteX11" fmla="*/ 93907 w 278551"/>
                  <a:gd name="connsiteY11" fmla="*/ 56612 h 302245"/>
                  <a:gd name="connsiteX12" fmla="*/ 77529 w 278551"/>
                  <a:gd name="connsiteY12" fmla="*/ 83250 h 302245"/>
                  <a:gd name="connsiteX13" fmla="*/ 90180 w 278551"/>
                  <a:gd name="connsiteY13" fmla="*/ 108843 h 302245"/>
                  <a:gd name="connsiteX14" fmla="*/ 81665 w 278551"/>
                  <a:gd name="connsiteY14" fmla="*/ 113100 h 302245"/>
                  <a:gd name="connsiteX15" fmla="*/ 81665 w 278551"/>
                  <a:gd name="connsiteY15" fmla="*/ 189144 h 302245"/>
                  <a:gd name="connsiteX16" fmla="*/ 139274 w 278551"/>
                  <a:gd name="connsiteY16" fmla="*/ 217949 h 302245"/>
                  <a:gd name="connsiteX17" fmla="*/ 196884 w 278551"/>
                  <a:gd name="connsiteY17" fmla="*/ 189144 h 302245"/>
                  <a:gd name="connsiteX18" fmla="*/ 196884 w 278551"/>
                  <a:gd name="connsiteY18" fmla="*/ 114931 h 302245"/>
                  <a:gd name="connsiteX19" fmla="*/ 198958 w 278551"/>
                  <a:gd name="connsiteY19" fmla="*/ 115999 h 302245"/>
                  <a:gd name="connsiteX20" fmla="*/ 198034 w 278551"/>
                  <a:gd name="connsiteY20" fmla="*/ 192038 h 302245"/>
                  <a:gd name="connsiteX21" fmla="*/ 144208 w 278551"/>
                  <a:gd name="connsiteY21" fmla="*/ 218139 h 302245"/>
                  <a:gd name="connsiteX22" fmla="*/ 155568 w 278551"/>
                  <a:gd name="connsiteY22" fmla="*/ 241121 h 302245"/>
                  <a:gd name="connsiteX23" fmla="*/ 182697 w 278551"/>
                  <a:gd name="connsiteY23" fmla="*/ 246757 h 302245"/>
                  <a:gd name="connsiteX24" fmla="*/ 166987 w 278551"/>
                  <a:gd name="connsiteY24" fmla="*/ 255827 h 302245"/>
                  <a:gd name="connsiteX25" fmla="*/ 156075 w 278551"/>
                  <a:gd name="connsiteY25" fmla="*/ 302245 h 302245"/>
                  <a:gd name="connsiteX26" fmla="*/ 122476 w 278551"/>
                  <a:gd name="connsiteY26" fmla="*/ 302245 h 302245"/>
                  <a:gd name="connsiteX27" fmla="*/ 111565 w 278551"/>
                  <a:gd name="connsiteY27" fmla="*/ 255827 h 302245"/>
                  <a:gd name="connsiteX28" fmla="*/ 62455 w 278551"/>
                  <a:gd name="connsiteY28" fmla="*/ 227473 h 302245"/>
                  <a:gd name="connsiteX29" fmla="*/ 16799 w 278551"/>
                  <a:gd name="connsiteY29" fmla="*/ 241233 h 302245"/>
                  <a:gd name="connsiteX30" fmla="*/ 0 w 278551"/>
                  <a:gd name="connsiteY30" fmla="*/ 212135 h 302245"/>
                  <a:gd name="connsiteX31" fmla="*/ 34743 w 278551"/>
                  <a:gd name="connsiteY31" fmla="*/ 179476 h 302245"/>
                  <a:gd name="connsiteX32" fmla="*/ 34743 w 278551"/>
                  <a:gd name="connsiteY32" fmla="*/ 122768 h 302245"/>
                  <a:gd name="connsiteX33" fmla="*/ 0 w 278551"/>
                  <a:gd name="connsiteY33" fmla="*/ 90110 h 302245"/>
                  <a:gd name="connsiteX34" fmla="*/ 16799 w 278551"/>
                  <a:gd name="connsiteY34" fmla="*/ 61012 h 302245"/>
                  <a:gd name="connsiteX35" fmla="*/ 62454 w 278551"/>
                  <a:gd name="connsiteY35" fmla="*/ 74772 h 302245"/>
                  <a:gd name="connsiteX36" fmla="*/ 122476 w 278551"/>
                  <a:gd name="connsiteY36" fmla="*/ 0 h 302245"/>
                  <a:gd name="connsiteX37" fmla="*/ 156075 w 278551"/>
                  <a:gd name="connsiteY37" fmla="*/ 0 h 302245"/>
                  <a:gd name="connsiteX38" fmla="*/ 165987 w 278551"/>
                  <a:gd name="connsiteY38" fmla="*/ 42169 h 302245"/>
                  <a:gd name="connsiteX39" fmla="*/ 142303 w 278551"/>
                  <a:gd name="connsiteY39" fmla="*/ 37087 h 302245"/>
                  <a:gd name="connsiteX40" fmla="*/ 112428 w 278551"/>
                  <a:gd name="connsiteY40" fmla="*/ 42742 h 30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78551" h="302245">
                    <a:moveTo>
                      <a:pt x="250470" y="185740"/>
                    </a:moveTo>
                    <a:lnTo>
                      <a:pt x="278551" y="212135"/>
                    </a:lnTo>
                    <a:lnTo>
                      <a:pt x="261752" y="241233"/>
                    </a:lnTo>
                    <a:lnTo>
                      <a:pt x="225317" y="230252"/>
                    </a:lnTo>
                    <a:lnTo>
                      <a:pt x="247440" y="199863"/>
                    </a:lnTo>
                    <a:close/>
                    <a:moveTo>
                      <a:pt x="139274" y="84295"/>
                    </a:moveTo>
                    <a:lnTo>
                      <a:pt x="196885" y="113100"/>
                    </a:lnTo>
                    <a:lnTo>
                      <a:pt x="196884" y="114931"/>
                    </a:lnTo>
                    <a:lnTo>
                      <a:pt x="141702" y="86497"/>
                    </a:lnTo>
                    <a:lnTo>
                      <a:pt x="91232" y="110971"/>
                    </a:lnTo>
                    <a:lnTo>
                      <a:pt x="90180" y="108843"/>
                    </a:lnTo>
                    <a:close/>
                    <a:moveTo>
                      <a:pt x="93907" y="56612"/>
                    </a:moveTo>
                    <a:lnTo>
                      <a:pt x="77529" y="83250"/>
                    </a:lnTo>
                    <a:lnTo>
                      <a:pt x="90180" y="108843"/>
                    </a:lnTo>
                    <a:lnTo>
                      <a:pt x="81665" y="113100"/>
                    </a:lnTo>
                    <a:lnTo>
                      <a:pt x="81665" y="189144"/>
                    </a:lnTo>
                    <a:lnTo>
                      <a:pt x="139274" y="217949"/>
                    </a:lnTo>
                    <a:lnTo>
                      <a:pt x="196884" y="189144"/>
                    </a:lnTo>
                    <a:lnTo>
                      <a:pt x="196884" y="114931"/>
                    </a:lnTo>
                    <a:lnTo>
                      <a:pt x="198958" y="115999"/>
                    </a:lnTo>
                    <a:lnTo>
                      <a:pt x="198034" y="192038"/>
                    </a:lnTo>
                    <a:lnTo>
                      <a:pt x="144208" y="218139"/>
                    </a:lnTo>
                    <a:lnTo>
                      <a:pt x="155568" y="241121"/>
                    </a:lnTo>
                    <a:lnTo>
                      <a:pt x="182697" y="246757"/>
                    </a:lnTo>
                    <a:lnTo>
                      <a:pt x="166987" y="255827"/>
                    </a:lnTo>
                    <a:lnTo>
                      <a:pt x="156075" y="302245"/>
                    </a:lnTo>
                    <a:lnTo>
                      <a:pt x="122476" y="302245"/>
                    </a:lnTo>
                    <a:lnTo>
                      <a:pt x="111565" y="255827"/>
                    </a:lnTo>
                    <a:cubicBezTo>
                      <a:pt x="92967" y="250905"/>
                      <a:pt x="76016" y="241118"/>
                      <a:pt x="62455" y="227473"/>
                    </a:cubicBezTo>
                    <a:lnTo>
                      <a:pt x="16799" y="241233"/>
                    </a:lnTo>
                    <a:lnTo>
                      <a:pt x="0" y="212135"/>
                    </a:lnTo>
                    <a:lnTo>
                      <a:pt x="34743" y="179476"/>
                    </a:lnTo>
                    <a:cubicBezTo>
                      <a:pt x="29707" y="160909"/>
                      <a:pt x="29707" y="141335"/>
                      <a:pt x="34743" y="122768"/>
                    </a:cubicBezTo>
                    <a:lnTo>
                      <a:pt x="0" y="90110"/>
                    </a:lnTo>
                    <a:lnTo>
                      <a:pt x="16799" y="61012"/>
                    </a:lnTo>
                    <a:lnTo>
                      <a:pt x="62454" y="74772"/>
                    </a:lnTo>
                    <a:close/>
                    <a:moveTo>
                      <a:pt x="122476" y="0"/>
                    </a:moveTo>
                    <a:lnTo>
                      <a:pt x="156075" y="0"/>
                    </a:lnTo>
                    <a:lnTo>
                      <a:pt x="165987" y="42169"/>
                    </a:lnTo>
                    <a:lnTo>
                      <a:pt x="142303" y="37087"/>
                    </a:lnTo>
                    <a:lnTo>
                      <a:pt x="112428" y="42742"/>
                    </a:lnTo>
                    <a:close/>
                  </a:path>
                </a:pathLst>
              </a:custGeom>
              <a:solidFill>
                <a:schemeClr val="bg1"/>
              </a:solidFill>
              <a:ln w="19050">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80" name="Freeform 179"/>
              <p:cNvSpPr/>
              <p:nvPr/>
            </p:nvSpPr>
            <p:spPr>
              <a:xfrm rot="20021754">
                <a:off x="7797455" y="2437731"/>
                <a:ext cx="419276" cy="175124"/>
              </a:xfrm>
              <a:custGeom>
                <a:avLst/>
                <a:gdLst>
                  <a:gd name="connsiteX0" fmla="*/ 99307 w 541041"/>
                  <a:gd name="connsiteY0" fmla="*/ 54263 h 225982"/>
                  <a:gd name="connsiteX1" fmla="*/ 136175 w 541041"/>
                  <a:gd name="connsiteY1" fmla="*/ 104206 h 225982"/>
                  <a:gd name="connsiteX2" fmla="*/ 103289 w 541041"/>
                  <a:gd name="connsiteY2" fmla="*/ 170735 h 225982"/>
                  <a:gd name="connsiteX3" fmla="*/ 38879 w 541041"/>
                  <a:gd name="connsiteY3" fmla="*/ 171028 h 225982"/>
                  <a:gd name="connsiteX4" fmla="*/ 0 w 541041"/>
                  <a:gd name="connsiteY4" fmla="*/ 119677 h 225982"/>
                  <a:gd name="connsiteX5" fmla="*/ 33698 w 541041"/>
                  <a:gd name="connsiteY5" fmla="*/ 51507 h 225982"/>
                  <a:gd name="connsiteX6" fmla="*/ 43218 w 541041"/>
                  <a:gd name="connsiteY6" fmla="*/ 51464 h 225982"/>
                  <a:gd name="connsiteX7" fmla="*/ 43218 w 541041"/>
                  <a:gd name="connsiteY7" fmla="*/ 53838 h 225982"/>
                  <a:gd name="connsiteX8" fmla="*/ 504723 w 541041"/>
                  <a:gd name="connsiteY8" fmla="*/ 53019 h 225982"/>
                  <a:gd name="connsiteX9" fmla="*/ 541041 w 541041"/>
                  <a:gd name="connsiteY9" fmla="*/ 107811 h 225982"/>
                  <a:gd name="connsiteX10" fmla="*/ 481576 w 541041"/>
                  <a:gd name="connsiteY10" fmla="*/ 167276 h 225982"/>
                  <a:gd name="connsiteX11" fmla="*/ 171988 w 541041"/>
                  <a:gd name="connsiteY11" fmla="*/ 167276 h 225982"/>
                  <a:gd name="connsiteX12" fmla="*/ 143860 w 541041"/>
                  <a:gd name="connsiteY12" fmla="*/ 202747 h 225982"/>
                  <a:gd name="connsiteX13" fmla="*/ 99545 w 541041"/>
                  <a:gd name="connsiteY13" fmla="*/ 225955 h 225982"/>
                  <a:gd name="connsiteX14" fmla="*/ 99000 w 541041"/>
                  <a:gd name="connsiteY14" fmla="*/ 225982 h 225982"/>
                  <a:gd name="connsiteX15" fmla="*/ 66761 w 541041"/>
                  <a:gd name="connsiteY15" fmla="*/ 217441 h 225982"/>
                  <a:gd name="connsiteX16" fmla="*/ 43218 w 541041"/>
                  <a:gd name="connsiteY16" fmla="*/ 199021 h 225982"/>
                  <a:gd name="connsiteX17" fmla="*/ 43218 w 541041"/>
                  <a:gd name="connsiteY17" fmla="*/ 173385 h 225982"/>
                  <a:gd name="connsiteX18" fmla="*/ 103037 w 541041"/>
                  <a:gd name="connsiteY18" fmla="*/ 173839 h 225982"/>
                  <a:gd name="connsiteX19" fmla="*/ 137561 w 541041"/>
                  <a:gd name="connsiteY19" fmla="*/ 106083 h 225982"/>
                  <a:gd name="connsiteX20" fmla="*/ 136175 w 541041"/>
                  <a:gd name="connsiteY20" fmla="*/ 104206 h 225982"/>
                  <a:gd name="connsiteX21" fmla="*/ 136987 w 541041"/>
                  <a:gd name="connsiteY21" fmla="*/ 102565 h 225982"/>
                  <a:gd name="connsiteX22" fmla="*/ 98106 w 541041"/>
                  <a:gd name="connsiteY22" fmla="*/ 51213 h 225982"/>
                  <a:gd name="connsiteX23" fmla="*/ 43218 w 541041"/>
                  <a:gd name="connsiteY23" fmla="*/ 51464 h 225982"/>
                  <a:gd name="connsiteX24" fmla="*/ 43218 w 541041"/>
                  <a:gd name="connsiteY24" fmla="*/ 22915 h 225982"/>
                  <a:gd name="connsiteX25" fmla="*/ 77964 w 541041"/>
                  <a:gd name="connsiteY25" fmla="*/ 1110 h 225982"/>
                  <a:gd name="connsiteX26" fmla="*/ 85046 w 541041"/>
                  <a:gd name="connsiteY26" fmla="*/ 0 h 225982"/>
                  <a:gd name="connsiteX27" fmla="*/ 121741 w 541041"/>
                  <a:gd name="connsiteY27" fmla="*/ 10236 h 225982"/>
                  <a:gd name="connsiteX28" fmla="*/ 157909 w 541041"/>
                  <a:gd name="connsiteY28" fmla="*/ 38916 h 225982"/>
                  <a:gd name="connsiteX29" fmla="*/ 163138 w 541041"/>
                  <a:gd name="connsiteY29" fmla="*/ 48346 h 225982"/>
                  <a:gd name="connsiteX30" fmla="*/ 481576 w 541041"/>
                  <a:gd name="connsiteY30" fmla="*/ 48346 h 225982"/>
                  <a:gd name="connsiteX31" fmla="*/ 504723 w 541041"/>
                  <a:gd name="connsiteY31" fmla="*/ 53019 h 22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41041" h="225982">
                    <a:moveTo>
                      <a:pt x="99307" y="54263"/>
                    </a:moveTo>
                    <a:lnTo>
                      <a:pt x="136175" y="104206"/>
                    </a:lnTo>
                    <a:lnTo>
                      <a:pt x="103289" y="170735"/>
                    </a:lnTo>
                    <a:lnTo>
                      <a:pt x="38879" y="171028"/>
                    </a:lnTo>
                    <a:lnTo>
                      <a:pt x="0" y="119677"/>
                    </a:lnTo>
                    <a:lnTo>
                      <a:pt x="33698" y="51507"/>
                    </a:lnTo>
                    <a:lnTo>
                      <a:pt x="43218" y="51464"/>
                    </a:lnTo>
                    <a:lnTo>
                      <a:pt x="43218" y="53838"/>
                    </a:lnTo>
                    <a:close/>
                    <a:moveTo>
                      <a:pt x="504723" y="53019"/>
                    </a:moveTo>
                    <a:cubicBezTo>
                      <a:pt x="526066" y="62046"/>
                      <a:pt x="541041" y="83180"/>
                      <a:pt x="541041" y="107811"/>
                    </a:cubicBezTo>
                    <a:cubicBezTo>
                      <a:pt x="541041" y="140653"/>
                      <a:pt x="514418" y="167276"/>
                      <a:pt x="481576" y="167276"/>
                    </a:cubicBezTo>
                    <a:lnTo>
                      <a:pt x="171988" y="167276"/>
                    </a:lnTo>
                    <a:lnTo>
                      <a:pt x="143860" y="202747"/>
                    </a:lnTo>
                    <a:cubicBezTo>
                      <a:pt x="130861" y="213683"/>
                      <a:pt x="115692" y="221548"/>
                      <a:pt x="99545" y="225955"/>
                    </a:cubicBezTo>
                    <a:lnTo>
                      <a:pt x="99000" y="225982"/>
                    </a:lnTo>
                    <a:lnTo>
                      <a:pt x="66761" y="217441"/>
                    </a:lnTo>
                    <a:lnTo>
                      <a:pt x="43218" y="199021"/>
                    </a:lnTo>
                    <a:lnTo>
                      <a:pt x="43218" y="173385"/>
                    </a:lnTo>
                    <a:lnTo>
                      <a:pt x="103037" y="173839"/>
                    </a:lnTo>
                    <a:lnTo>
                      <a:pt x="137561" y="106083"/>
                    </a:lnTo>
                    <a:lnTo>
                      <a:pt x="136175" y="104206"/>
                    </a:lnTo>
                    <a:lnTo>
                      <a:pt x="136987" y="102565"/>
                    </a:lnTo>
                    <a:lnTo>
                      <a:pt x="98106" y="51213"/>
                    </a:lnTo>
                    <a:lnTo>
                      <a:pt x="43218" y="51464"/>
                    </a:lnTo>
                    <a:lnTo>
                      <a:pt x="43218" y="22915"/>
                    </a:lnTo>
                    <a:lnTo>
                      <a:pt x="77964" y="1110"/>
                    </a:lnTo>
                    <a:lnTo>
                      <a:pt x="85046" y="0"/>
                    </a:lnTo>
                    <a:lnTo>
                      <a:pt x="121741" y="10236"/>
                    </a:lnTo>
                    <a:cubicBezTo>
                      <a:pt x="136041" y="17522"/>
                      <a:pt x="148188" y="27361"/>
                      <a:pt x="157909" y="38916"/>
                    </a:cubicBezTo>
                    <a:lnTo>
                      <a:pt x="163138" y="48346"/>
                    </a:lnTo>
                    <a:lnTo>
                      <a:pt x="481576" y="48346"/>
                    </a:lnTo>
                    <a:cubicBezTo>
                      <a:pt x="489787" y="48346"/>
                      <a:pt x="497608" y="50010"/>
                      <a:pt x="504723" y="53019"/>
                    </a:cubicBezTo>
                    <a:close/>
                  </a:path>
                </a:pathLst>
              </a:cu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81" name="Hexagon 180"/>
              <p:cNvSpPr/>
              <p:nvPr/>
            </p:nvSpPr>
            <p:spPr>
              <a:xfrm rot="16200000">
                <a:off x="7813142" y="2552652"/>
                <a:ext cx="102880" cy="89052"/>
              </a:xfrm>
              <a:prstGeom prst="hexagon">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sp>
          <p:nvSpPr>
            <p:cNvPr id="178" name="TextBox 177"/>
            <p:cNvSpPr txBox="1"/>
            <p:nvPr/>
          </p:nvSpPr>
          <p:spPr>
            <a:xfrm>
              <a:off x="6191989" y="-25868"/>
              <a:ext cx="1090107" cy="369332"/>
            </a:xfrm>
            <a:prstGeom prst="rect">
              <a:avLst/>
            </a:prstGeom>
            <a:noFill/>
          </p:spPr>
          <p:txBody>
            <a:bodyPr wrap="none" rtlCol="0">
              <a:spAutoFit/>
            </a:bodyPr>
            <a:lstStyle/>
            <a:p>
              <a:r>
                <a:rPr lang="en-US" dirty="0"/>
                <a:t>PT </a:t>
              </a:r>
              <a:r>
                <a:rPr lang="en-US" dirty="0" smtClean="0"/>
                <a:t>Agent)</a:t>
              </a:r>
              <a:endParaRPr lang="en-US" dirty="0"/>
            </a:p>
          </p:txBody>
        </p:sp>
        <p:sp>
          <p:nvSpPr>
            <p:cNvPr id="176" name="TextBox 175"/>
            <p:cNvSpPr txBox="1"/>
            <p:nvPr/>
          </p:nvSpPr>
          <p:spPr>
            <a:xfrm>
              <a:off x="5651894" y="-25868"/>
              <a:ext cx="300082" cy="369332"/>
            </a:xfrm>
            <a:prstGeom prst="rect">
              <a:avLst/>
            </a:prstGeom>
            <a:noFill/>
          </p:spPr>
          <p:txBody>
            <a:bodyPr wrap="none" rtlCol="0">
              <a:spAutoFit/>
            </a:bodyPr>
            <a:lstStyle/>
            <a:p>
              <a:r>
                <a:rPr lang="en-US" dirty="0"/>
                <a:t>+</a:t>
              </a:r>
            </a:p>
          </p:txBody>
        </p:sp>
      </p:grpSp>
      <p:sp>
        <p:nvSpPr>
          <p:cNvPr id="204" name="Tracepoint 2"/>
          <p:cNvSpPr/>
          <p:nvPr/>
        </p:nvSpPr>
        <p:spPr>
          <a:xfrm>
            <a:off x="7544219" y="1377126"/>
            <a:ext cx="304800" cy="304800"/>
          </a:xfrm>
          <a:prstGeom prst="ellipse">
            <a:avLst/>
          </a:prstGeom>
          <a:solidFill>
            <a:schemeClr val="bg2">
              <a:lumMod val="90000"/>
            </a:schemeClr>
          </a:solidFill>
          <a:ln w="19050">
            <a:solidFill>
              <a:schemeClr val="bg2">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Tracepoint 3"/>
          <p:cNvSpPr/>
          <p:nvPr/>
        </p:nvSpPr>
        <p:spPr>
          <a:xfrm>
            <a:off x="3754692" y="942277"/>
            <a:ext cx="304800" cy="304800"/>
          </a:xfrm>
          <a:prstGeom prst="ellipse">
            <a:avLst/>
          </a:prstGeom>
          <a:solidFill>
            <a:schemeClr val="bg2">
              <a:lumMod val="90000"/>
            </a:schemeClr>
          </a:solidFill>
          <a:ln w="19050">
            <a:solidFill>
              <a:schemeClr val="bg2">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Tracepoint 2"/>
          <p:cNvSpPr/>
          <p:nvPr/>
        </p:nvSpPr>
        <p:spPr>
          <a:xfrm>
            <a:off x="4246723" y="942277"/>
            <a:ext cx="304800" cy="304800"/>
          </a:xfrm>
          <a:prstGeom prst="ellipse">
            <a:avLst/>
          </a:prstGeom>
          <a:solidFill>
            <a:schemeClr val="bg2">
              <a:lumMod val="90000"/>
            </a:schemeClr>
          </a:solidFill>
          <a:ln w="19050">
            <a:solidFill>
              <a:schemeClr val="bg2">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PT User"/>
          <p:cNvSpPr/>
          <p:nvPr/>
        </p:nvSpPr>
        <p:spPr>
          <a:xfrm>
            <a:off x="4523021" y="2823248"/>
            <a:ext cx="475862" cy="556102"/>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r>
              <a:rPr lang="en-US" sz="2000" b="1" dirty="0" smtClean="0"/>
              <a:t>PT</a:t>
            </a:r>
            <a:endParaRPr lang="en-US" sz="2000" b="1" dirty="0"/>
          </a:p>
        </p:txBody>
      </p:sp>
      <p:grpSp>
        <p:nvGrpSpPr>
          <p:cNvPr id="81" name="Query User -&gt; FE"/>
          <p:cNvGrpSpPr/>
          <p:nvPr/>
        </p:nvGrpSpPr>
        <p:grpSpPr>
          <a:xfrm>
            <a:off x="3987250" y="2349484"/>
            <a:ext cx="836855" cy="838017"/>
            <a:chOff x="3606250" y="2005362"/>
            <a:chExt cx="836855" cy="838017"/>
          </a:xfrm>
        </p:grpSpPr>
        <p:sp>
          <p:nvSpPr>
            <p:cNvPr id="82" name="Arrow"/>
            <p:cNvSpPr/>
            <p:nvPr/>
          </p:nvSpPr>
          <p:spPr>
            <a:xfrm>
              <a:off x="3827623" y="2380883"/>
              <a:ext cx="317196" cy="441418"/>
            </a:xfrm>
            <a:custGeom>
              <a:avLst/>
              <a:gdLst>
                <a:gd name="connsiteX0" fmla="*/ 190500 w 190500"/>
                <a:gd name="connsiteY0" fmla="*/ 698500 h 698500"/>
                <a:gd name="connsiteX1" fmla="*/ 38100 w 190500"/>
                <a:gd name="connsiteY1" fmla="*/ 393700 h 698500"/>
                <a:gd name="connsiteX2" fmla="*/ 0 w 190500"/>
                <a:gd name="connsiteY2" fmla="*/ 0 h 698500"/>
              </a:gdLst>
              <a:ahLst/>
              <a:cxnLst>
                <a:cxn ang="0">
                  <a:pos x="connsiteX0" y="connsiteY0"/>
                </a:cxn>
                <a:cxn ang="0">
                  <a:pos x="connsiteX1" y="connsiteY1"/>
                </a:cxn>
                <a:cxn ang="0">
                  <a:pos x="connsiteX2" y="connsiteY2"/>
                </a:cxn>
              </a:cxnLst>
              <a:rect l="l" t="t" r="r" b="b"/>
              <a:pathLst>
                <a:path w="190500" h="698500">
                  <a:moveTo>
                    <a:pt x="190500" y="698500"/>
                  </a:moveTo>
                  <a:cubicBezTo>
                    <a:pt x="130175" y="604308"/>
                    <a:pt x="69850" y="510117"/>
                    <a:pt x="38100" y="393700"/>
                  </a:cubicBezTo>
                  <a:cubicBezTo>
                    <a:pt x="6350" y="277283"/>
                    <a:pt x="3175" y="138641"/>
                    <a:pt x="0" y="0"/>
                  </a:cubicBezTo>
                </a:path>
              </a:pathLst>
            </a:custGeom>
            <a:noFill/>
            <a:ln w="19050">
              <a:solidFill>
                <a:schemeClr val="tx1"/>
              </a:solidFill>
              <a:prstDash val="sysDot"/>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Label"/>
            <p:cNvSpPr/>
            <p:nvPr/>
          </p:nvSpPr>
          <p:spPr>
            <a:xfrm rot="2804405">
              <a:off x="3605669" y="2005943"/>
              <a:ext cx="838017" cy="836855"/>
            </a:xfrm>
            <a:custGeom>
              <a:avLst/>
              <a:gdLst>
                <a:gd name="connsiteX0" fmla="*/ 0 w 4136325"/>
                <a:gd name="connsiteY0" fmla="*/ 0 h 923330"/>
                <a:gd name="connsiteX1" fmla="*/ 4136325 w 4136325"/>
                <a:gd name="connsiteY1" fmla="*/ 0 h 923330"/>
                <a:gd name="connsiteX2" fmla="*/ 4136325 w 4136325"/>
                <a:gd name="connsiteY2" fmla="*/ 923330 h 923330"/>
                <a:gd name="connsiteX3" fmla="*/ 0 w 4136325"/>
                <a:gd name="connsiteY3" fmla="*/ 923330 h 923330"/>
                <a:gd name="connsiteX4" fmla="*/ 0 w 4136325"/>
                <a:gd name="connsiteY4" fmla="*/ 0 h 923330"/>
                <a:gd name="connsiteX0" fmla="*/ 0 w 4136325"/>
                <a:gd name="connsiteY0" fmla="*/ 347976 h 1271306"/>
                <a:gd name="connsiteX1" fmla="*/ 3852075 w 4136325"/>
                <a:gd name="connsiteY1" fmla="*/ 0 h 1271306"/>
                <a:gd name="connsiteX2" fmla="*/ 4136325 w 4136325"/>
                <a:gd name="connsiteY2" fmla="*/ 1271306 h 1271306"/>
                <a:gd name="connsiteX3" fmla="*/ 0 w 4136325"/>
                <a:gd name="connsiteY3" fmla="*/ 1271306 h 1271306"/>
                <a:gd name="connsiteX4" fmla="*/ 0 w 4136325"/>
                <a:gd name="connsiteY4" fmla="*/ 347976 h 1271306"/>
                <a:gd name="connsiteX0" fmla="*/ 0 w 4136325"/>
                <a:gd name="connsiteY0" fmla="*/ 520695 h 1444025"/>
                <a:gd name="connsiteX1" fmla="*/ 3531683 w 4136325"/>
                <a:gd name="connsiteY1" fmla="*/ 0 h 1444025"/>
                <a:gd name="connsiteX2" fmla="*/ 4136325 w 4136325"/>
                <a:gd name="connsiteY2" fmla="*/ 1444025 h 1444025"/>
                <a:gd name="connsiteX3" fmla="*/ 0 w 4136325"/>
                <a:gd name="connsiteY3" fmla="*/ 1444025 h 1444025"/>
                <a:gd name="connsiteX4" fmla="*/ 0 w 4136325"/>
                <a:gd name="connsiteY4" fmla="*/ 520695 h 1444025"/>
                <a:gd name="connsiteX0" fmla="*/ 0 w 4136325"/>
                <a:gd name="connsiteY0" fmla="*/ 0 h 923330"/>
                <a:gd name="connsiteX1" fmla="*/ 2786017 w 4136325"/>
                <a:gd name="connsiteY1" fmla="*/ 49315 h 923330"/>
                <a:gd name="connsiteX2" fmla="*/ 4136325 w 4136325"/>
                <a:gd name="connsiteY2" fmla="*/ 923330 h 923330"/>
                <a:gd name="connsiteX3" fmla="*/ 0 w 4136325"/>
                <a:gd name="connsiteY3" fmla="*/ 923330 h 923330"/>
                <a:gd name="connsiteX4" fmla="*/ 0 w 4136325"/>
                <a:gd name="connsiteY4" fmla="*/ 0 h 923330"/>
                <a:gd name="connsiteX0" fmla="*/ 0 w 4136325"/>
                <a:gd name="connsiteY0" fmla="*/ 636172 h 1559502"/>
                <a:gd name="connsiteX1" fmla="*/ 3237910 w 4136325"/>
                <a:gd name="connsiteY1" fmla="*/ 0 h 1559502"/>
                <a:gd name="connsiteX2" fmla="*/ 4136325 w 4136325"/>
                <a:gd name="connsiteY2" fmla="*/ 1559502 h 1559502"/>
                <a:gd name="connsiteX3" fmla="*/ 0 w 4136325"/>
                <a:gd name="connsiteY3" fmla="*/ 1559502 h 1559502"/>
                <a:gd name="connsiteX4" fmla="*/ 0 w 4136325"/>
                <a:gd name="connsiteY4" fmla="*/ 636172 h 1559502"/>
                <a:gd name="connsiteX0" fmla="*/ 0 w 4136325"/>
                <a:gd name="connsiteY0" fmla="*/ 1332843 h 2256173"/>
                <a:gd name="connsiteX1" fmla="*/ 3237910 w 4136325"/>
                <a:gd name="connsiteY1" fmla="*/ 696671 h 2256173"/>
                <a:gd name="connsiteX2" fmla="*/ 4136325 w 4136325"/>
                <a:gd name="connsiteY2" fmla="*/ 2256173 h 2256173"/>
                <a:gd name="connsiteX3" fmla="*/ 0 w 4136325"/>
                <a:gd name="connsiteY3" fmla="*/ 2256173 h 2256173"/>
                <a:gd name="connsiteX4" fmla="*/ 0 w 4136325"/>
                <a:gd name="connsiteY4" fmla="*/ 1332843 h 2256173"/>
                <a:gd name="connsiteX0" fmla="*/ 0 w 4136325"/>
                <a:gd name="connsiteY0" fmla="*/ 1862158 h 2785488"/>
                <a:gd name="connsiteX1" fmla="*/ 3237910 w 4136325"/>
                <a:gd name="connsiteY1" fmla="*/ 1225986 h 2785488"/>
                <a:gd name="connsiteX2" fmla="*/ 4136325 w 4136325"/>
                <a:gd name="connsiteY2" fmla="*/ 2785488 h 2785488"/>
                <a:gd name="connsiteX3" fmla="*/ 0 w 4136325"/>
                <a:gd name="connsiteY3" fmla="*/ 2785488 h 2785488"/>
                <a:gd name="connsiteX4" fmla="*/ 0 w 4136325"/>
                <a:gd name="connsiteY4" fmla="*/ 1862158 h 2785488"/>
                <a:gd name="connsiteX0" fmla="*/ 0 w 4136325"/>
                <a:gd name="connsiteY0" fmla="*/ 5753169 h 6676499"/>
                <a:gd name="connsiteX1" fmla="*/ 2307839 w 4136325"/>
                <a:gd name="connsiteY1" fmla="*/ 389248 h 6676499"/>
                <a:gd name="connsiteX2" fmla="*/ 4136325 w 4136325"/>
                <a:gd name="connsiteY2" fmla="*/ 6676499 h 6676499"/>
                <a:gd name="connsiteX3" fmla="*/ 0 w 4136325"/>
                <a:gd name="connsiteY3" fmla="*/ 6676499 h 6676499"/>
                <a:gd name="connsiteX4" fmla="*/ 0 w 4136325"/>
                <a:gd name="connsiteY4" fmla="*/ 5753169 h 6676499"/>
                <a:gd name="connsiteX0" fmla="*/ 0 w 4136325"/>
                <a:gd name="connsiteY0" fmla="*/ 6332577 h 7255907"/>
                <a:gd name="connsiteX1" fmla="*/ 2307839 w 4136325"/>
                <a:gd name="connsiteY1" fmla="*/ 968656 h 7255907"/>
                <a:gd name="connsiteX2" fmla="*/ 4136325 w 4136325"/>
                <a:gd name="connsiteY2" fmla="*/ 7255907 h 7255907"/>
                <a:gd name="connsiteX3" fmla="*/ 0 w 4136325"/>
                <a:gd name="connsiteY3" fmla="*/ 7255907 h 7255907"/>
                <a:gd name="connsiteX4" fmla="*/ 0 w 4136325"/>
                <a:gd name="connsiteY4" fmla="*/ 6332577 h 7255907"/>
                <a:gd name="connsiteX0" fmla="*/ 0 w 4136325"/>
                <a:gd name="connsiteY0" fmla="*/ 8493468 h 9416798"/>
                <a:gd name="connsiteX1" fmla="*/ 2112251 w 4136325"/>
                <a:gd name="connsiteY1" fmla="*/ 795245 h 9416798"/>
                <a:gd name="connsiteX2" fmla="*/ 4136325 w 4136325"/>
                <a:gd name="connsiteY2" fmla="*/ 9416798 h 9416798"/>
                <a:gd name="connsiteX3" fmla="*/ 0 w 4136325"/>
                <a:gd name="connsiteY3" fmla="*/ 9416798 h 9416798"/>
                <a:gd name="connsiteX4" fmla="*/ 0 w 4136325"/>
                <a:gd name="connsiteY4" fmla="*/ 8493468 h 9416798"/>
                <a:gd name="connsiteX0" fmla="*/ 0 w 4441973"/>
                <a:gd name="connsiteY0" fmla="*/ 14348549 h 15271879"/>
                <a:gd name="connsiteX1" fmla="*/ 2112251 w 4441973"/>
                <a:gd name="connsiteY1" fmla="*/ 6650326 h 15271879"/>
                <a:gd name="connsiteX2" fmla="*/ 4086159 w 4441973"/>
                <a:gd name="connsiteY2" fmla="*/ 204397 h 15271879"/>
                <a:gd name="connsiteX3" fmla="*/ 4136325 w 4441973"/>
                <a:gd name="connsiteY3" fmla="*/ 15271879 h 15271879"/>
                <a:gd name="connsiteX4" fmla="*/ 0 w 4441973"/>
                <a:gd name="connsiteY4" fmla="*/ 15271879 h 15271879"/>
                <a:gd name="connsiteX5" fmla="*/ 0 w 4441973"/>
                <a:gd name="connsiteY5" fmla="*/ 14348549 h 15271879"/>
                <a:gd name="connsiteX0" fmla="*/ 0 w 4184088"/>
                <a:gd name="connsiteY0" fmla="*/ 7982667 h 8905997"/>
                <a:gd name="connsiteX1" fmla="*/ 2112251 w 4184088"/>
                <a:gd name="connsiteY1" fmla="*/ 284444 h 8905997"/>
                <a:gd name="connsiteX2" fmla="*/ 4136325 w 4184088"/>
                <a:gd name="connsiteY2" fmla="*/ 8905997 h 8905997"/>
                <a:gd name="connsiteX3" fmla="*/ 0 w 4184088"/>
                <a:gd name="connsiteY3" fmla="*/ 8905997 h 8905997"/>
                <a:gd name="connsiteX4" fmla="*/ 0 w 4184088"/>
                <a:gd name="connsiteY4" fmla="*/ 7982667 h 8905997"/>
                <a:gd name="connsiteX0" fmla="*/ 0 w 4184088"/>
                <a:gd name="connsiteY0" fmla="*/ 8621549 h 8621549"/>
                <a:gd name="connsiteX1" fmla="*/ 2112251 w 4184088"/>
                <a:gd name="connsiteY1" fmla="*/ -4 h 8621549"/>
                <a:gd name="connsiteX2" fmla="*/ 4136325 w 4184088"/>
                <a:gd name="connsiteY2" fmla="*/ 8621549 h 8621549"/>
                <a:gd name="connsiteX3" fmla="*/ 0 w 4184088"/>
                <a:gd name="connsiteY3" fmla="*/ 8621549 h 8621549"/>
                <a:gd name="connsiteX0" fmla="*/ 0 w 4182940"/>
                <a:gd name="connsiteY0" fmla="*/ 8621549 h 8621549"/>
                <a:gd name="connsiteX1" fmla="*/ 2112251 w 4182940"/>
                <a:gd name="connsiteY1" fmla="*/ -4 h 8621549"/>
                <a:gd name="connsiteX2" fmla="*/ 4136325 w 4182940"/>
                <a:gd name="connsiteY2" fmla="*/ 8621549 h 8621549"/>
                <a:gd name="connsiteX3" fmla="*/ 0 w 4182940"/>
                <a:gd name="connsiteY3" fmla="*/ 8621549 h 8621549"/>
              </a:gdLst>
              <a:ahLst/>
              <a:cxnLst>
                <a:cxn ang="0">
                  <a:pos x="connsiteX0" y="connsiteY0"/>
                </a:cxn>
                <a:cxn ang="0">
                  <a:pos x="connsiteX1" y="connsiteY1"/>
                </a:cxn>
                <a:cxn ang="0">
                  <a:pos x="connsiteX2" y="connsiteY2"/>
                </a:cxn>
                <a:cxn ang="0">
                  <a:pos x="connsiteX3" y="connsiteY3"/>
                </a:cxn>
              </a:cxnLst>
              <a:rect l="l" t="t" r="r" b="b"/>
              <a:pathLst>
                <a:path w="4182940" h="8621549">
                  <a:moveTo>
                    <a:pt x="0" y="8621549"/>
                  </a:moveTo>
                  <a:lnTo>
                    <a:pt x="2112251" y="-4"/>
                  </a:lnTo>
                  <a:cubicBezTo>
                    <a:pt x="2751597" y="2701520"/>
                    <a:pt x="4488367" y="7184624"/>
                    <a:pt x="4136325" y="8621549"/>
                  </a:cubicBezTo>
                  <a:lnTo>
                    <a:pt x="0" y="8621549"/>
                  </a:lnTo>
                  <a:close/>
                </a:path>
              </a:pathLst>
            </a:custGeom>
            <a:noFill/>
          </p:spPr>
          <p:txBody>
            <a:bodyPr wrap="none" lIns="91440" tIns="45720" rIns="91440" bIns="45720">
              <a:prstTxWarp prst="textArchDown">
                <a:avLst>
                  <a:gd name="adj" fmla="val 3008235"/>
                </a:avLst>
              </a:prstTxWarp>
              <a:spAutoFit/>
            </a:bodyPr>
            <a:lstStyle/>
            <a:p>
              <a:pPr algn="ctr"/>
              <a:r>
                <a:rPr lang="en-US" sz="4800" b="0" cap="none" spc="0" dirty="0" smtClean="0">
                  <a:ln w="0"/>
                  <a:solidFill>
                    <a:schemeClr val="tx1"/>
                  </a:solidFill>
                </a:rPr>
                <a:t>Query</a:t>
              </a:r>
              <a:endParaRPr lang="en-US" sz="4800" b="0" cap="none" spc="0" dirty="0">
                <a:ln w="0"/>
                <a:solidFill>
                  <a:schemeClr val="tx1"/>
                </a:solidFill>
              </a:endParaRPr>
            </a:p>
          </p:txBody>
        </p:sp>
      </p:grpSp>
      <p:sp>
        <p:nvSpPr>
          <p:cNvPr id="84" name="PivotTracingFrontEnd"/>
          <p:cNvSpPr txBox="1"/>
          <p:nvPr/>
        </p:nvSpPr>
        <p:spPr>
          <a:xfrm>
            <a:off x="4137897" y="2303616"/>
            <a:ext cx="1246110" cy="433965"/>
          </a:xfrm>
          <a:prstGeom prst="rect">
            <a:avLst/>
          </a:prstGeom>
          <a:solidFill>
            <a:schemeClr val="bg1"/>
          </a:solidFill>
          <a:ln w="28575">
            <a:solidFill>
              <a:schemeClr val="tx1"/>
            </a:solidFill>
          </a:ln>
        </p:spPr>
        <p:txBody>
          <a:bodyPr wrap="none" lIns="27432" tIns="45720" rIns="27432" bIns="0" rtlCol="0">
            <a:spAutoFit/>
          </a:bodyPr>
          <a:lstStyle/>
          <a:p>
            <a:pPr algn="ctr">
              <a:lnSpc>
                <a:spcPct val="70000"/>
              </a:lnSpc>
            </a:pPr>
            <a:r>
              <a:rPr lang="en-US" dirty="0" smtClean="0"/>
              <a:t>Pivot Tracing</a:t>
            </a:r>
          </a:p>
          <a:p>
            <a:pPr algn="ctr">
              <a:lnSpc>
                <a:spcPct val="70000"/>
              </a:lnSpc>
            </a:pPr>
            <a:r>
              <a:rPr lang="en-US" dirty="0" smtClean="0"/>
              <a:t>Front End</a:t>
            </a:r>
            <a:endParaRPr lang="en-US" dirty="0"/>
          </a:p>
        </p:txBody>
      </p:sp>
      <p:grpSp>
        <p:nvGrpSpPr>
          <p:cNvPr id="95" name="Advice FE -&gt; B"/>
          <p:cNvGrpSpPr/>
          <p:nvPr/>
        </p:nvGrpSpPr>
        <p:grpSpPr>
          <a:xfrm>
            <a:off x="5061721" y="1731775"/>
            <a:ext cx="1569892" cy="836855"/>
            <a:chOff x="4680721" y="1387653"/>
            <a:chExt cx="1569892" cy="836855"/>
          </a:xfrm>
        </p:grpSpPr>
        <p:sp>
          <p:nvSpPr>
            <p:cNvPr id="96" name="Arrow"/>
            <p:cNvSpPr/>
            <p:nvPr/>
          </p:nvSpPr>
          <p:spPr>
            <a:xfrm flipH="1">
              <a:off x="5003007" y="1501436"/>
              <a:ext cx="853770" cy="645807"/>
            </a:xfrm>
            <a:custGeom>
              <a:avLst/>
              <a:gdLst>
                <a:gd name="connsiteX0" fmla="*/ 1327041 w 1423557"/>
                <a:gd name="connsiteY0" fmla="*/ 1143000 h 1143000"/>
                <a:gd name="connsiteX1" fmla="*/ 1327041 w 1423557"/>
                <a:gd name="connsiteY1" fmla="*/ 571500 h 1143000"/>
                <a:gd name="connsiteX2" fmla="*/ 1339741 w 1423557"/>
                <a:gd name="connsiteY2" fmla="*/ 266700 h 1143000"/>
                <a:gd name="connsiteX3" fmla="*/ 158641 w 1423557"/>
                <a:gd name="connsiteY3" fmla="*/ 241300 h 1143000"/>
                <a:gd name="connsiteX4" fmla="*/ 44341 w 1423557"/>
                <a:gd name="connsiteY4" fmla="*/ 0 h 1143000"/>
                <a:gd name="connsiteX0" fmla="*/ 1282700 w 1387675"/>
                <a:gd name="connsiteY0" fmla="*/ 1143000 h 1143000"/>
                <a:gd name="connsiteX1" fmla="*/ 1282700 w 1387675"/>
                <a:gd name="connsiteY1" fmla="*/ 571500 h 1143000"/>
                <a:gd name="connsiteX2" fmla="*/ 1295400 w 1387675"/>
                <a:gd name="connsiteY2" fmla="*/ 266700 h 1143000"/>
                <a:gd name="connsiteX3" fmla="*/ 0 w 1387675"/>
                <a:gd name="connsiteY3" fmla="*/ 0 h 1143000"/>
                <a:gd name="connsiteX0" fmla="*/ 1282700 w 1387675"/>
                <a:gd name="connsiteY0" fmla="*/ 1143000 h 1143000"/>
                <a:gd name="connsiteX1" fmla="*/ 1282700 w 1387675"/>
                <a:gd name="connsiteY1" fmla="*/ 571500 h 1143000"/>
                <a:gd name="connsiteX2" fmla="*/ 1295400 w 1387675"/>
                <a:gd name="connsiteY2" fmla="*/ 266700 h 1143000"/>
                <a:gd name="connsiteX3" fmla="*/ 0 w 1387675"/>
                <a:gd name="connsiteY3" fmla="*/ 0 h 1143000"/>
                <a:gd name="connsiteX0" fmla="*/ 1282700 w 1377479"/>
                <a:gd name="connsiteY0" fmla="*/ 1143000 h 1143000"/>
                <a:gd name="connsiteX1" fmla="*/ 1282700 w 1377479"/>
                <a:gd name="connsiteY1" fmla="*/ 571500 h 1143000"/>
                <a:gd name="connsiteX2" fmla="*/ 0 w 1377479"/>
                <a:gd name="connsiteY2" fmla="*/ 0 h 1143000"/>
                <a:gd name="connsiteX0" fmla="*/ 1282700 w 1282703"/>
                <a:gd name="connsiteY0" fmla="*/ 1143000 h 1143000"/>
                <a:gd name="connsiteX1" fmla="*/ 1282700 w 1282703"/>
                <a:gd name="connsiteY1" fmla="*/ 571500 h 1143000"/>
                <a:gd name="connsiteX2" fmla="*/ 0 w 1282703"/>
                <a:gd name="connsiteY2" fmla="*/ 0 h 1143000"/>
                <a:gd name="connsiteX0" fmla="*/ 1282785 w 1282787"/>
                <a:gd name="connsiteY0" fmla="*/ 1143000 h 1143000"/>
                <a:gd name="connsiteX1" fmla="*/ 1282785 w 1282787"/>
                <a:gd name="connsiteY1" fmla="*/ 571500 h 1143000"/>
                <a:gd name="connsiteX2" fmla="*/ 85 w 1282787"/>
                <a:gd name="connsiteY2" fmla="*/ 0 h 1143000"/>
                <a:gd name="connsiteX0" fmla="*/ 1266036 w 1359573"/>
                <a:gd name="connsiteY0" fmla="*/ 1104900 h 1104900"/>
                <a:gd name="connsiteX1" fmla="*/ 1266036 w 1359573"/>
                <a:gd name="connsiteY1" fmla="*/ 533400 h 1104900"/>
                <a:gd name="connsiteX2" fmla="*/ 104 w 1359573"/>
                <a:gd name="connsiteY2" fmla="*/ 0 h 1104900"/>
                <a:gd name="connsiteX0" fmla="*/ 1265932 w 1359469"/>
                <a:gd name="connsiteY0" fmla="*/ 1104900 h 1104900"/>
                <a:gd name="connsiteX1" fmla="*/ 1265932 w 1359469"/>
                <a:gd name="connsiteY1" fmla="*/ 533400 h 1104900"/>
                <a:gd name="connsiteX2" fmla="*/ 0 w 1359469"/>
                <a:gd name="connsiteY2" fmla="*/ 0 h 1104900"/>
                <a:gd name="connsiteX0" fmla="*/ 1265932 w 1353300"/>
                <a:gd name="connsiteY0" fmla="*/ 1104900 h 1104900"/>
                <a:gd name="connsiteX1" fmla="*/ 1257548 w 1353300"/>
                <a:gd name="connsiteY1" fmla="*/ 381000 h 1104900"/>
                <a:gd name="connsiteX2" fmla="*/ 0 w 1353300"/>
                <a:gd name="connsiteY2" fmla="*/ 0 h 1104900"/>
                <a:gd name="connsiteX0" fmla="*/ 1265932 w 1265932"/>
                <a:gd name="connsiteY0" fmla="*/ 1104900 h 1104900"/>
                <a:gd name="connsiteX1" fmla="*/ 1257548 w 1265932"/>
                <a:gd name="connsiteY1" fmla="*/ 381000 h 1104900"/>
                <a:gd name="connsiteX2" fmla="*/ 0 w 1265932"/>
                <a:gd name="connsiteY2" fmla="*/ 0 h 1104900"/>
                <a:gd name="connsiteX0" fmla="*/ 1265932 w 1265932"/>
                <a:gd name="connsiteY0" fmla="*/ 1104900 h 1104900"/>
                <a:gd name="connsiteX1" fmla="*/ 1257548 w 1265932"/>
                <a:gd name="connsiteY1" fmla="*/ 381000 h 1104900"/>
                <a:gd name="connsiteX2" fmla="*/ 0 w 1265932"/>
                <a:gd name="connsiteY2" fmla="*/ 0 h 1104900"/>
                <a:gd name="connsiteX0" fmla="*/ 1265932 w 1265932"/>
                <a:gd name="connsiteY0" fmla="*/ 1104900 h 1104900"/>
                <a:gd name="connsiteX1" fmla="*/ 1257548 w 1265932"/>
                <a:gd name="connsiteY1" fmla="*/ 381000 h 1104900"/>
                <a:gd name="connsiteX2" fmla="*/ 0 w 1265932"/>
                <a:gd name="connsiteY2" fmla="*/ 0 h 1104900"/>
                <a:gd name="connsiteX0" fmla="*/ 1240780 w 1345086"/>
                <a:gd name="connsiteY0" fmla="*/ 800100 h 800100"/>
                <a:gd name="connsiteX1" fmla="*/ 1257548 w 1345086"/>
                <a:gd name="connsiteY1" fmla="*/ 381000 h 800100"/>
                <a:gd name="connsiteX2" fmla="*/ 0 w 1345086"/>
                <a:gd name="connsiteY2" fmla="*/ 0 h 800100"/>
                <a:gd name="connsiteX0" fmla="*/ 1240780 w 1257552"/>
                <a:gd name="connsiteY0" fmla="*/ 800100 h 800100"/>
                <a:gd name="connsiteX1" fmla="*/ 1257548 w 1257552"/>
                <a:gd name="connsiteY1" fmla="*/ 381000 h 800100"/>
                <a:gd name="connsiteX2" fmla="*/ 0 w 1257552"/>
                <a:gd name="connsiteY2" fmla="*/ 0 h 800100"/>
                <a:gd name="connsiteX0" fmla="*/ 1265932 w 1353300"/>
                <a:gd name="connsiteY0" fmla="*/ 804862 h 804862"/>
                <a:gd name="connsiteX1" fmla="*/ 1257548 w 1353300"/>
                <a:gd name="connsiteY1" fmla="*/ 381000 h 804862"/>
                <a:gd name="connsiteX2" fmla="*/ 0 w 1353300"/>
                <a:gd name="connsiteY2" fmla="*/ 0 h 804862"/>
                <a:gd name="connsiteX0" fmla="*/ 1265932 w 1265932"/>
                <a:gd name="connsiteY0" fmla="*/ 804862 h 804862"/>
                <a:gd name="connsiteX1" fmla="*/ 1257548 w 1265932"/>
                <a:gd name="connsiteY1" fmla="*/ 381000 h 804862"/>
                <a:gd name="connsiteX2" fmla="*/ 0 w 1265932"/>
                <a:gd name="connsiteY2" fmla="*/ 0 h 804862"/>
                <a:gd name="connsiteX0" fmla="*/ 1265932 w 1265932"/>
                <a:gd name="connsiteY0" fmla="*/ 804862 h 804862"/>
                <a:gd name="connsiteX1" fmla="*/ 1257548 w 1265932"/>
                <a:gd name="connsiteY1" fmla="*/ 381000 h 804862"/>
                <a:gd name="connsiteX2" fmla="*/ 0 w 1265932"/>
                <a:gd name="connsiteY2" fmla="*/ 0 h 804862"/>
                <a:gd name="connsiteX0" fmla="*/ 1265932 w 1265932"/>
                <a:gd name="connsiteY0" fmla="*/ 804862 h 804862"/>
                <a:gd name="connsiteX1" fmla="*/ 1260692 w 1265932"/>
                <a:gd name="connsiteY1" fmla="*/ 352425 h 804862"/>
                <a:gd name="connsiteX2" fmla="*/ 0 w 1265932"/>
                <a:gd name="connsiteY2" fmla="*/ 0 h 804862"/>
                <a:gd name="connsiteX0" fmla="*/ 515238 w 1266907"/>
                <a:gd name="connsiteY0" fmla="*/ 1097938 h 1097938"/>
                <a:gd name="connsiteX1" fmla="*/ 1260692 w 1266907"/>
                <a:gd name="connsiteY1" fmla="*/ 352425 h 1097938"/>
                <a:gd name="connsiteX2" fmla="*/ 0 w 1266907"/>
                <a:gd name="connsiteY2" fmla="*/ 0 h 1097938"/>
                <a:gd name="connsiteX0" fmla="*/ 515238 w 515238"/>
                <a:gd name="connsiteY0" fmla="*/ 1097938 h 1097938"/>
                <a:gd name="connsiteX1" fmla="*/ 0 w 515238"/>
                <a:gd name="connsiteY1" fmla="*/ 0 h 1097938"/>
                <a:gd name="connsiteX0" fmla="*/ 515238 w 515238"/>
                <a:gd name="connsiteY0" fmla="*/ 1097938 h 1097938"/>
                <a:gd name="connsiteX1" fmla="*/ 0 w 515238"/>
                <a:gd name="connsiteY1" fmla="*/ 0 h 1097938"/>
                <a:gd name="connsiteX0" fmla="*/ 515238 w 515238"/>
                <a:gd name="connsiteY0" fmla="*/ 1097938 h 1097938"/>
                <a:gd name="connsiteX1" fmla="*/ 0 w 515238"/>
                <a:gd name="connsiteY1" fmla="*/ 0 h 1097938"/>
              </a:gdLst>
              <a:ahLst/>
              <a:cxnLst>
                <a:cxn ang="0">
                  <a:pos x="connsiteX0" y="connsiteY0"/>
                </a:cxn>
                <a:cxn ang="0">
                  <a:pos x="connsiteX1" y="connsiteY1"/>
                </a:cxn>
              </a:cxnLst>
              <a:rect l="l" t="t" r="r" b="b"/>
              <a:pathLst>
                <a:path w="515238" h="1097938">
                  <a:moveTo>
                    <a:pt x="515238" y="1097938"/>
                  </a:moveTo>
                  <a:cubicBezTo>
                    <a:pt x="157753" y="1095375"/>
                    <a:pt x="16964" y="963856"/>
                    <a:pt x="0" y="0"/>
                  </a:cubicBezTo>
                </a:path>
              </a:pathLst>
            </a:custGeom>
            <a:noFill/>
            <a:ln w="19050">
              <a:solidFill>
                <a:schemeClr val="tx1"/>
              </a:solidFill>
              <a:prstDash val="sysDot"/>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Label"/>
            <p:cNvSpPr/>
            <p:nvPr/>
          </p:nvSpPr>
          <p:spPr>
            <a:xfrm rot="20144558">
              <a:off x="4680721" y="1387653"/>
              <a:ext cx="1569892" cy="836855"/>
            </a:xfrm>
            <a:custGeom>
              <a:avLst/>
              <a:gdLst>
                <a:gd name="connsiteX0" fmla="*/ 0 w 4136325"/>
                <a:gd name="connsiteY0" fmla="*/ 0 h 923330"/>
                <a:gd name="connsiteX1" fmla="*/ 4136325 w 4136325"/>
                <a:gd name="connsiteY1" fmla="*/ 0 h 923330"/>
                <a:gd name="connsiteX2" fmla="*/ 4136325 w 4136325"/>
                <a:gd name="connsiteY2" fmla="*/ 923330 h 923330"/>
                <a:gd name="connsiteX3" fmla="*/ 0 w 4136325"/>
                <a:gd name="connsiteY3" fmla="*/ 923330 h 923330"/>
                <a:gd name="connsiteX4" fmla="*/ 0 w 4136325"/>
                <a:gd name="connsiteY4" fmla="*/ 0 h 923330"/>
                <a:gd name="connsiteX0" fmla="*/ 0 w 4136325"/>
                <a:gd name="connsiteY0" fmla="*/ 347976 h 1271306"/>
                <a:gd name="connsiteX1" fmla="*/ 3852075 w 4136325"/>
                <a:gd name="connsiteY1" fmla="*/ 0 h 1271306"/>
                <a:gd name="connsiteX2" fmla="*/ 4136325 w 4136325"/>
                <a:gd name="connsiteY2" fmla="*/ 1271306 h 1271306"/>
                <a:gd name="connsiteX3" fmla="*/ 0 w 4136325"/>
                <a:gd name="connsiteY3" fmla="*/ 1271306 h 1271306"/>
                <a:gd name="connsiteX4" fmla="*/ 0 w 4136325"/>
                <a:gd name="connsiteY4" fmla="*/ 347976 h 1271306"/>
                <a:gd name="connsiteX0" fmla="*/ 0 w 4136325"/>
                <a:gd name="connsiteY0" fmla="*/ 520695 h 1444025"/>
                <a:gd name="connsiteX1" fmla="*/ 3531683 w 4136325"/>
                <a:gd name="connsiteY1" fmla="*/ 0 h 1444025"/>
                <a:gd name="connsiteX2" fmla="*/ 4136325 w 4136325"/>
                <a:gd name="connsiteY2" fmla="*/ 1444025 h 1444025"/>
                <a:gd name="connsiteX3" fmla="*/ 0 w 4136325"/>
                <a:gd name="connsiteY3" fmla="*/ 1444025 h 1444025"/>
                <a:gd name="connsiteX4" fmla="*/ 0 w 4136325"/>
                <a:gd name="connsiteY4" fmla="*/ 520695 h 1444025"/>
                <a:gd name="connsiteX0" fmla="*/ 0 w 4136325"/>
                <a:gd name="connsiteY0" fmla="*/ 0 h 923330"/>
                <a:gd name="connsiteX1" fmla="*/ 2786017 w 4136325"/>
                <a:gd name="connsiteY1" fmla="*/ 49315 h 923330"/>
                <a:gd name="connsiteX2" fmla="*/ 4136325 w 4136325"/>
                <a:gd name="connsiteY2" fmla="*/ 923330 h 923330"/>
                <a:gd name="connsiteX3" fmla="*/ 0 w 4136325"/>
                <a:gd name="connsiteY3" fmla="*/ 923330 h 923330"/>
                <a:gd name="connsiteX4" fmla="*/ 0 w 4136325"/>
                <a:gd name="connsiteY4" fmla="*/ 0 h 923330"/>
                <a:gd name="connsiteX0" fmla="*/ 0 w 4136325"/>
                <a:gd name="connsiteY0" fmla="*/ 636172 h 1559502"/>
                <a:gd name="connsiteX1" fmla="*/ 3237910 w 4136325"/>
                <a:gd name="connsiteY1" fmla="*/ 0 h 1559502"/>
                <a:gd name="connsiteX2" fmla="*/ 4136325 w 4136325"/>
                <a:gd name="connsiteY2" fmla="*/ 1559502 h 1559502"/>
                <a:gd name="connsiteX3" fmla="*/ 0 w 4136325"/>
                <a:gd name="connsiteY3" fmla="*/ 1559502 h 1559502"/>
                <a:gd name="connsiteX4" fmla="*/ 0 w 4136325"/>
                <a:gd name="connsiteY4" fmla="*/ 636172 h 1559502"/>
                <a:gd name="connsiteX0" fmla="*/ 0 w 4136325"/>
                <a:gd name="connsiteY0" fmla="*/ 1332843 h 2256173"/>
                <a:gd name="connsiteX1" fmla="*/ 3237910 w 4136325"/>
                <a:gd name="connsiteY1" fmla="*/ 696671 h 2256173"/>
                <a:gd name="connsiteX2" fmla="*/ 4136325 w 4136325"/>
                <a:gd name="connsiteY2" fmla="*/ 2256173 h 2256173"/>
                <a:gd name="connsiteX3" fmla="*/ 0 w 4136325"/>
                <a:gd name="connsiteY3" fmla="*/ 2256173 h 2256173"/>
                <a:gd name="connsiteX4" fmla="*/ 0 w 4136325"/>
                <a:gd name="connsiteY4" fmla="*/ 1332843 h 2256173"/>
                <a:gd name="connsiteX0" fmla="*/ 0 w 4136325"/>
                <a:gd name="connsiteY0" fmla="*/ 1862158 h 2785488"/>
                <a:gd name="connsiteX1" fmla="*/ 3237910 w 4136325"/>
                <a:gd name="connsiteY1" fmla="*/ 1225986 h 2785488"/>
                <a:gd name="connsiteX2" fmla="*/ 4136325 w 4136325"/>
                <a:gd name="connsiteY2" fmla="*/ 2785488 h 2785488"/>
                <a:gd name="connsiteX3" fmla="*/ 0 w 4136325"/>
                <a:gd name="connsiteY3" fmla="*/ 2785488 h 2785488"/>
                <a:gd name="connsiteX4" fmla="*/ 0 w 4136325"/>
                <a:gd name="connsiteY4" fmla="*/ 1862158 h 2785488"/>
                <a:gd name="connsiteX0" fmla="*/ 0 w 4136325"/>
                <a:gd name="connsiteY0" fmla="*/ 5753169 h 6676499"/>
                <a:gd name="connsiteX1" fmla="*/ 2307839 w 4136325"/>
                <a:gd name="connsiteY1" fmla="*/ 389248 h 6676499"/>
                <a:gd name="connsiteX2" fmla="*/ 4136325 w 4136325"/>
                <a:gd name="connsiteY2" fmla="*/ 6676499 h 6676499"/>
                <a:gd name="connsiteX3" fmla="*/ 0 w 4136325"/>
                <a:gd name="connsiteY3" fmla="*/ 6676499 h 6676499"/>
                <a:gd name="connsiteX4" fmla="*/ 0 w 4136325"/>
                <a:gd name="connsiteY4" fmla="*/ 5753169 h 6676499"/>
                <a:gd name="connsiteX0" fmla="*/ 0 w 4136325"/>
                <a:gd name="connsiteY0" fmla="*/ 6332577 h 7255907"/>
                <a:gd name="connsiteX1" fmla="*/ 2307839 w 4136325"/>
                <a:gd name="connsiteY1" fmla="*/ 968656 h 7255907"/>
                <a:gd name="connsiteX2" fmla="*/ 4136325 w 4136325"/>
                <a:gd name="connsiteY2" fmla="*/ 7255907 h 7255907"/>
                <a:gd name="connsiteX3" fmla="*/ 0 w 4136325"/>
                <a:gd name="connsiteY3" fmla="*/ 7255907 h 7255907"/>
                <a:gd name="connsiteX4" fmla="*/ 0 w 4136325"/>
                <a:gd name="connsiteY4" fmla="*/ 6332577 h 7255907"/>
                <a:gd name="connsiteX0" fmla="*/ 0 w 4136325"/>
                <a:gd name="connsiteY0" fmla="*/ 8493468 h 9416798"/>
                <a:gd name="connsiteX1" fmla="*/ 2112251 w 4136325"/>
                <a:gd name="connsiteY1" fmla="*/ 795245 h 9416798"/>
                <a:gd name="connsiteX2" fmla="*/ 4136325 w 4136325"/>
                <a:gd name="connsiteY2" fmla="*/ 9416798 h 9416798"/>
                <a:gd name="connsiteX3" fmla="*/ 0 w 4136325"/>
                <a:gd name="connsiteY3" fmla="*/ 9416798 h 9416798"/>
                <a:gd name="connsiteX4" fmla="*/ 0 w 4136325"/>
                <a:gd name="connsiteY4" fmla="*/ 8493468 h 9416798"/>
                <a:gd name="connsiteX0" fmla="*/ 0 w 4441973"/>
                <a:gd name="connsiteY0" fmla="*/ 14348549 h 15271879"/>
                <a:gd name="connsiteX1" fmla="*/ 2112251 w 4441973"/>
                <a:gd name="connsiteY1" fmla="*/ 6650326 h 15271879"/>
                <a:gd name="connsiteX2" fmla="*/ 4086159 w 4441973"/>
                <a:gd name="connsiteY2" fmla="*/ 204397 h 15271879"/>
                <a:gd name="connsiteX3" fmla="*/ 4136325 w 4441973"/>
                <a:gd name="connsiteY3" fmla="*/ 15271879 h 15271879"/>
                <a:gd name="connsiteX4" fmla="*/ 0 w 4441973"/>
                <a:gd name="connsiteY4" fmla="*/ 15271879 h 15271879"/>
                <a:gd name="connsiteX5" fmla="*/ 0 w 4441973"/>
                <a:gd name="connsiteY5" fmla="*/ 14348549 h 15271879"/>
                <a:gd name="connsiteX0" fmla="*/ 0 w 4184088"/>
                <a:gd name="connsiteY0" fmla="*/ 7982667 h 8905997"/>
                <a:gd name="connsiteX1" fmla="*/ 2112251 w 4184088"/>
                <a:gd name="connsiteY1" fmla="*/ 284444 h 8905997"/>
                <a:gd name="connsiteX2" fmla="*/ 4136325 w 4184088"/>
                <a:gd name="connsiteY2" fmla="*/ 8905997 h 8905997"/>
                <a:gd name="connsiteX3" fmla="*/ 0 w 4184088"/>
                <a:gd name="connsiteY3" fmla="*/ 8905997 h 8905997"/>
                <a:gd name="connsiteX4" fmla="*/ 0 w 4184088"/>
                <a:gd name="connsiteY4" fmla="*/ 7982667 h 8905997"/>
                <a:gd name="connsiteX0" fmla="*/ 0 w 4184088"/>
                <a:gd name="connsiteY0" fmla="*/ 8621549 h 8621549"/>
                <a:gd name="connsiteX1" fmla="*/ 2112251 w 4184088"/>
                <a:gd name="connsiteY1" fmla="*/ -4 h 8621549"/>
                <a:gd name="connsiteX2" fmla="*/ 4136325 w 4184088"/>
                <a:gd name="connsiteY2" fmla="*/ 8621549 h 8621549"/>
                <a:gd name="connsiteX3" fmla="*/ 0 w 4184088"/>
                <a:gd name="connsiteY3" fmla="*/ 8621549 h 8621549"/>
                <a:gd name="connsiteX0" fmla="*/ 0 w 4182940"/>
                <a:gd name="connsiteY0" fmla="*/ 8621549 h 8621549"/>
                <a:gd name="connsiteX1" fmla="*/ 2112251 w 4182940"/>
                <a:gd name="connsiteY1" fmla="*/ -4 h 8621549"/>
                <a:gd name="connsiteX2" fmla="*/ 4136325 w 4182940"/>
                <a:gd name="connsiteY2" fmla="*/ 8621549 h 8621549"/>
                <a:gd name="connsiteX3" fmla="*/ 0 w 4182940"/>
                <a:gd name="connsiteY3" fmla="*/ 8621549 h 8621549"/>
              </a:gdLst>
              <a:ahLst/>
              <a:cxnLst>
                <a:cxn ang="0">
                  <a:pos x="connsiteX0" y="connsiteY0"/>
                </a:cxn>
                <a:cxn ang="0">
                  <a:pos x="connsiteX1" y="connsiteY1"/>
                </a:cxn>
                <a:cxn ang="0">
                  <a:pos x="connsiteX2" y="connsiteY2"/>
                </a:cxn>
                <a:cxn ang="0">
                  <a:pos x="connsiteX3" y="connsiteY3"/>
                </a:cxn>
              </a:cxnLst>
              <a:rect l="l" t="t" r="r" b="b"/>
              <a:pathLst>
                <a:path w="4182940" h="8621549">
                  <a:moveTo>
                    <a:pt x="0" y="8621549"/>
                  </a:moveTo>
                  <a:lnTo>
                    <a:pt x="2112251" y="-4"/>
                  </a:lnTo>
                  <a:cubicBezTo>
                    <a:pt x="2751597" y="2701520"/>
                    <a:pt x="4488367" y="7184624"/>
                    <a:pt x="4136325" y="8621549"/>
                  </a:cubicBezTo>
                  <a:lnTo>
                    <a:pt x="0" y="8621549"/>
                  </a:lnTo>
                  <a:close/>
                </a:path>
              </a:pathLst>
            </a:custGeom>
            <a:noFill/>
          </p:spPr>
          <p:txBody>
            <a:bodyPr wrap="none" lIns="91440" tIns="45720" rIns="91440" bIns="45720">
              <a:prstTxWarp prst="textArchDown">
                <a:avLst>
                  <a:gd name="adj" fmla="val 1667357"/>
                </a:avLst>
              </a:prstTxWarp>
              <a:spAutoFit/>
            </a:bodyPr>
            <a:lstStyle/>
            <a:p>
              <a:pPr algn="ctr"/>
              <a:r>
                <a:rPr lang="en-US" b="0" cap="none" spc="0" dirty="0" smtClean="0">
                  <a:ln w="0"/>
                  <a:solidFill>
                    <a:schemeClr val="tx1"/>
                  </a:solidFill>
                </a:rPr>
                <a:t>Advice B1</a:t>
              </a:r>
              <a:endParaRPr lang="en-US" b="0" cap="none" spc="0" dirty="0">
                <a:ln w="0"/>
                <a:solidFill>
                  <a:schemeClr val="tx1"/>
                </a:solidFill>
              </a:endParaRPr>
            </a:p>
          </p:txBody>
        </p:sp>
      </p:grpSp>
      <p:grpSp>
        <p:nvGrpSpPr>
          <p:cNvPr id="98" name="Advice FE -&gt; A"/>
          <p:cNvGrpSpPr/>
          <p:nvPr/>
        </p:nvGrpSpPr>
        <p:grpSpPr>
          <a:xfrm>
            <a:off x="2881540" y="1522511"/>
            <a:ext cx="1569892" cy="1111747"/>
            <a:chOff x="2500540" y="1178389"/>
            <a:chExt cx="1569892" cy="1111747"/>
          </a:xfrm>
        </p:grpSpPr>
        <p:sp>
          <p:nvSpPr>
            <p:cNvPr id="99" name="Arrow"/>
            <p:cNvSpPr/>
            <p:nvPr/>
          </p:nvSpPr>
          <p:spPr>
            <a:xfrm>
              <a:off x="2657235" y="1178389"/>
              <a:ext cx="1059961" cy="1012453"/>
            </a:xfrm>
            <a:custGeom>
              <a:avLst/>
              <a:gdLst>
                <a:gd name="connsiteX0" fmla="*/ 1327041 w 1423557"/>
                <a:gd name="connsiteY0" fmla="*/ 1143000 h 1143000"/>
                <a:gd name="connsiteX1" fmla="*/ 1327041 w 1423557"/>
                <a:gd name="connsiteY1" fmla="*/ 571500 h 1143000"/>
                <a:gd name="connsiteX2" fmla="*/ 1339741 w 1423557"/>
                <a:gd name="connsiteY2" fmla="*/ 266700 h 1143000"/>
                <a:gd name="connsiteX3" fmla="*/ 158641 w 1423557"/>
                <a:gd name="connsiteY3" fmla="*/ 241300 h 1143000"/>
                <a:gd name="connsiteX4" fmla="*/ 44341 w 1423557"/>
                <a:gd name="connsiteY4" fmla="*/ 0 h 1143000"/>
                <a:gd name="connsiteX0" fmla="*/ 1282700 w 1387675"/>
                <a:gd name="connsiteY0" fmla="*/ 1143000 h 1143000"/>
                <a:gd name="connsiteX1" fmla="*/ 1282700 w 1387675"/>
                <a:gd name="connsiteY1" fmla="*/ 571500 h 1143000"/>
                <a:gd name="connsiteX2" fmla="*/ 1295400 w 1387675"/>
                <a:gd name="connsiteY2" fmla="*/ 266700 h 1143000"/>
                <a:gd name="connsiteX3" fmla="*/ 0 w 1387675"/>
                <a:gd name="connsiteY3" fmla="*/ 0 h 1143000"/>
                <a:gd name="connsiteX0" fmla="*/ 1282700 w 1387675"/>
                <a:gd name="connsiteY0" fmla="*/ 1143000 h 1143000"/>
                <a:gd name="connsiteX1" fmla="*/ 1282700 w 1387675"/>
                <a:gd name="connsiteY1" fmla="*/ 571500 h 1143000"/>
                <a:gd name="connsiteX2" fmla="*/ 1295400 w 1387675"/>
                <a:gd name="connsiteY2" fmla="*/ 266700 h 1143000"/>
                <a:gd name="connsiteX3" fmla="*/ 0 w 1387675"/>
                <a:gd name="connsiteY3" fmla="*/ 0 h 1143000"/>
                <a:gd name="connsiteX0" fmla="*/ 1282700 w 1377479"/>
                <a:gd name="connsiteY0" fmla="*/ 1143000 h 1143000"/>
                <a:gd name="connsiteX1" fmla="*/ 1282700 w 1377479"/>
                <a:gd name="connsiteY1" fmla="*/ 571500 h 1143000"/>
                <a:gd name="connsiteX2" fmla="*/ 0 w 1377479"/>
                <a:gd name="connsiteY2" fmla="*/ 0 h 1143000"/>
                <a:gd name="connsiteX0" fmla="*/ 1282700 w 1282703"/>
                <a:gd name="connsiteY0" fmla="*/ 1143000 h 1143000"/>
                <a:gd name="connsiteX1" fmla="*/ 1282700 w 1282703"/>
                <a:gd name="connsiteY1" fmla="*/ 571500 h 1143000"/>
                <a:gd name="connsiteX2" fmla="*/ 0 w 1282703"/>
                <a:gd name="connsiteY2" fmla="*/ 0 h 1143000"/>
                <a:gd name="connsiteX0" fmla="*/ 1282785 w 1282787"/>
                <a:gd name="connsiteY0" fmla="*/ 1143000 h 1143000"/>
                <a:gd name="connsiteX1" fmla="*/ 1282785 w 1282787"/>
                <a:gd name="connsiteY1" fmla="*/ 571500 h 1143000"/>
                <a:gd name="connsiteX2" fmla="*/ 85 w 1282787"/>
                <a:gd name="connsiteY2" fmla="*/ 0 h 1143000"/>
                <a:gd name="connsiteX0" fmla="*/ 1282785 w 1282787"/>
                <a:gd name="connsiteY0" fmla="*/ 1143000 h 1143000"/>
                <a:gd name="connsiteX1" fmla="*/ 1282785 w 1282787"/>
                <a:gd name="connsiteY1" fmla="*/ 571500 h 1143000"/>
                <a:gd name="connsiteX2" fmla="*/ 85 w 1282787"/>
                <a:gd name="connsiteY2" fmla="*/ 0 h 1143000"/>
                <a:gd name="connsiteX0" fmla="*/ 1282700 w 1282700"/>
                <a:gd name="connsiteY0" fmla="*/ 1143000 h 1143000"/>
                <a:gd name="connsiteX1" fmla="*/ 0 w 1282700"/>
                <a:gd name="connsiteY1" fmla="*/ 0 h 1143000"/>
                <a:gd name="connsiteX0" fmla="*/ 1059961 w 1059961"/>
                <a:gd name="connsiteY0" fmla="*/ 1400907 h 1400907"/>
                <a:gd name="connsiteX1" fmla="*/ 0 w 1059961"/>
                <a:gd name="connsiteY1" fmla="*/ 0 h 1400907"/>
                <a:gd name="connsiteX0" fmla="*/ 1059961 w 1059961"/>
                <a:gd name="connsiteY0" fmla="*/ 1400907 h 1400907"/>
                <a:gd name="connsiteX1" fmla="*/ 0 w 1059961"/>
                <a:gd name="connsiteY1" fmla="*/ 0 h 1400907"/>
                <a:gd name="connsiteX0" fmla="*/ 1059961 w 1059961"/>
                <a:gd name="connsiteY0" fmla="*/ 1400907 h 1400907"/>
                <a:gd name="connsiteX1" fmla="*/ 0 w 1059961"/>
                <a:gd name="connsiteY1" fmla="*/ 0 h 1400907"/>
              </a:gdLst>
              <a:ahLst/>
              <a:cxnLst>
                <a:cxn ang="0">
                  <a:pos x="connsiteX0" y="connsiteY0"/>
                </a:cxn>
                <a:cxn ang="0">
                  <a:pos x="connsiteX1" y="connsiteY1"/>
                </a:cxn>
              </a:cxnLst>
              <a:rect l="l" t="t" r="r" b="b"/>
              <a:pathLst>
                <a:path w="1059961" h="1400907">
                  <a:moveTo>
                    <a:pt x="1059961" y="1400907"/>
                  </a:moveTo>
                  <a:cubicBezTo>
                    <a:pt x="190826" y="1391138"/>
                    <a:pt x="13351" y="1029677"/>
                    <a:pt x="0" y="0"/>
                  </a:cubicBezTo>
                </a:path>
              </a:pathLst>
            </a:custGeom>
            <a:noFill/>
            <a:ln w="19050">
              <a:solidFill>
                <a:schemeClr val="tx1"/>
              </a:solidFill>
              <a:prstDash val="sysDot"/>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Label"/>
            <p:cNvSpPr/>
            <p:nvPr/>
          </p:nvSpPr>
          <p:spPr>
            <a:xfrm rot="870311">
              <a:off x="2500540" y="1453281"/>
              <a:ext cx="1569892" cy="836855"/>
            </a:xfrm>
            <a:custGeom>
              <a:avLst/>
              <a:gdLst>
                <a:gd name="connsiteX0" fmla="*/ 0 w 4136325"/>
                <a:gd name="connsiteY0" fmla="*/ 0 h 923330"/>
                <a:gd name="connsiteX1" fmla="*/ 4136325 w 4136325"/>
                <a:gd name="connsiteY1" fmla="*/ 0 h 923330"/>
                <a:gd name="connsiteX2" fmla="*/ 4136325 w 4136325"/>
                <a:gd name="connsiteY2" fmla="*/ 923330 h 923330"/>
                <a:gd name="connsiteX3" fmla="*/ 0 w 4136325"/>
                <a:gd name="connsiteY3" fmla="*/ 923330 h 923330"/>
                <a:gd name="connsiteX4" fmla="*/ 0 w 4136325"/>
                <a:gd name="connsiteY4" fmla="*/ 0 h 923330"/>
                <a:gd name="connsiteX0" fmla="*/ 0 w 4136325"/>
                <a:gd name="connsiteY0" fmla="*/ 347976 h 1271306"/>
                <a:gd name="connsiteX1" fmla="*/ 3852075 w 4136325"/>
                <a:gd name="connsiteY1" fmla="*/ 0 h 1271306"/>
                <a:gd name="connsiteX2" fmla="*/ 4136325 w 4136325"/>
                <a:gd name="connsiteY2" fmla="*/ 1271306 h 1271306"/>
                <a:gd name="connsiteX3" fmla="*/ 0 w 4136325"/>
                <a:gd name="connsiteY3" fmla="*/ 1271306 h 1271306"/>
                <a:gd name="connsiteX4" fmla="*/ 0 w 4136325"/>
                <a:gd name="connsiteY4" fmla="*/ 347976 h 1271306"/>
                <a:gd name="connsiteX0" fmla="*/ 0 w 4136325"/>
                <a:gd name="connsiteY0" fmla="*/ 520695 h 1444025"/>
                <a:gd name="connsiteX1" fmla="*/ 3531683 w 4136325"/>
                <a:gd name="connsiteY1" fmla="*/ 0 h 1444025"/>
                <a:gd name="connsiteX2" fmla="*/ 4136325 w 4136325"/>
                <a:gd name="connsiteY2" fmla="*/ 1444025 h 1444025"/>
                <a:gd name="connsiteX3" fmla="*/ 0 w 4136325"/>
                <a:gd name="connsiteY3" fmla="*/ 1444025 h 1444025"/>
                <a:gd name="connsiteX4" fmla="*/ 0 w 4136325"/>
                <a:gd name="connsiteY4" fmla="*/ 520695 h 1444025"/>
                <a:gd name="connsiteX0" fmla="*/ 0 w 4136325"/>
                <a:gd name="connsiteY0" fmla="*/ 0 h 923330"/>
                <a:gd name="connsiteX1" fmla="*/ 2786017 w 4136325"/>
                <a:gd name="connsiteY1" fmla="*/ 49315 h 923330"/>
                <a:gd name="connsiteX2" fmla="*/ 4136325 w 4136325"/>
                <a:gd name="connsiteY2" fmla="*/ 923330 h 923330"/>
                <a:gd name="connsiteX3" fmla="*/ 0 w 4136325"/>
                <a:gd name="connsiteY3" fmla="*/ 923330 h 923330"/>
                <a:gd name="connsiteX4" fmla="*/ 0 w 4136325"/>
                <a:gd name="connsiteY4" fmla="*/ 0 h 923330"/>
                <a:gd name="connsiteX0" fmla="*/ 0 w 4136325"/>
                <a:gd name="connsiteY0" fmla="*/ 636172 h 1559502"/>
                <a:gd name="connsiteX1" fmla="*/ 3237910 w 4136325"/>
                <a:gd name="connsiteY1" fmla="*/ 0 h 1559502"/>
                <a:gd name="connsiteX2" fmla="*/ 4136325 w 4136325"/>
                <a:gd name="connsiteY2" fmla="*/ 1559502 h 1559502"/>
                <a:gd name="connsiteX3" fmla="*/ 0 w 4136325"/>
                <a:gd name="connsiteY3" fmla="*/ 1559502 h 1559502"/>
                <a:gd name="connsiteX4" fmla="*/ 0 w 4136325"/>
                <a:gd name="connsiteY4" fmla="*/ 636172 h 1559502"/>
                <a:gd name="connsiteX0" fmla="*/ 0 w 4136325"/>
                <a:gd name="connsiteY0" fmla="*/ 1332843 h 2256173"/>
                <a:gd name="connsiteX1" fmla="*/ 3237910 w 4136325"/>
                <a:gd name="connsiteY1" fmla="*/ 696671 h 2256173"/>
                <a:gd name="connsiteX2" fmla="*/ 4136325 w 4136325"/>
                <a:gd name="connsiteY2" fmla="*/ 2256173 h 2256173"/>
                <a:gd name="connsiteX3" fmla="*/ 0 w 4136325"/>
                <a:gd name="connsiteY3" fmla="*/ 2256173 h 2256173"/>
                <a:gd name="connsiteX4" fmla="*/ 0 w 4136325"/>
                <a:gd name="connsiteY4" fmla="*/ 1332843 h 2256173"/>
                <a:gd name="connsiteX0" fmla="*/ 0 w 4136325"/>
                <a:gd name="connsiteY0" fmla="*/ 1862158 h 2785488"/>
                <a:gd name="connsiteX1" fmla="*/ 3237910 w 4136325"/>
                <a:gd name="connsiteY1" fmla="*/ 1225986 h 2785488"/>
                <a:gd name="connsiteX2" fmla="*/ 4136325 w 4136325"/>
                <a:gd name="connsiteY2" fmla="*/ 2785488 h 2785488"/>
                <a:gd name="connsiteX3" fmla="*/ 0 w 4136325"/>
                <a:gd name="connsiteY3" fmla="*/ 2785488 h 2785488"/>
                <a:gd name="connsiteX4" fmla="*/ 0 w 4136325"/>
                <a:gd name="connsiteY4" fmla="*/ 1862158 h 2785488"/>
                <a:gd name="connsiteX0" fmla="*/ 0 w 4136325"/>
                <a:gd name="connsiteY0" fmla="*/ 5753169 h 6676499"/>
                <a:gd name="connsiteX1" fmla="*/ 2307839 w 4136325"/>
                <a:gd name="connsiteY1" fmla="*/ 389248 h 6676499"/>
                <a:gd name="connsiteX2" fmla="*/ 4136325 w 4136325"/>
                <a:gd name="connsiteY2" fmla="*/ 6676499 h 6676499"/>
                <a:gd name="connsiteX3" fmla="*/ 0 w 4136325"/>
                <a:gd name="connsiteY3" fmla="*/ 6676499 h 6676499"/>
                <a:gd name="connsiteX4" fmla="*/ 0 w 4136325"/>
                <a:gd name="connsiteY4" fmla="*/ 5753169 h 6676499"/>
                <a:gd name="connsiteX0" fmla="*/ 0 w 4136325"/>
                <a:gd name="connsiteY0" fmla="*/ 6332577 h 7255907"/>
                <a:gd name="connsiteX1" fmla="*/ 2307839 w 4136325"/>
                <a:gd name="connsiteY1" fmla="*/ 968656 h 7255907"/>
                <a:gd name="connsiteX2" fmla="*/ 4136325 w 4136325"/>
                <a:gd name="connsiteY2" fmla="*/ 7255907 h 7255907"/>
                <a:gd name="connsiteX3" fmla="*/ 0 w 4136325"/>
                <a:gd name="connsiteY3" fmla="*/ 7255907 h 7255907"/>
                <a:gd name="connsiteX4" fmla="*/ 0 w 4136325"/>
                <a:gd name="connsiteY4" fmla="*/ 6332577 h 7255907"/>
                <a:gd name="connsiteX0" fmla="*/ 0 w 4136325"/>
                <a:gd name="connsiteY0" fmla="*/ 8493468 h 9416798"/>
                <a:gd name="connsiteX1" fmla="*/ 2112251 w 4136325"/>
                <a:gd name="connsiteY1" fmla="*/ 795245 h 9416798"/>
                <a:gd name="connsiteX2" fmla="*/ 4136325 w 4136325"/>
                <a:gd name="connsiteY2" fmla="*/ 9416798 h 9416798"/>
                <a:gd name="connsiteX3" fmla="*/ 0 w 4136325"/>
                <a:gd name="connsiteY3" fmla="*/ 9416798 h 9416798"/>
                <a:gd name="connsiteX4" fmla="*/ 0 w 4136325"/>
                <a:gd name="connsiteY4" fmla="*/ 8493468 h 9416798"/>
                <a:gd name="connsiteX0" fmla="*/ 0 w 4441973"/>
                <a:gd name="connsiteY0" fmla="*/ 14348549 h 15271879"/>
                <a:gd name="connsiteX1" fmla="*/ 2112251 w 4441973"/>
                <a:gd name="connsiteY1" fmla="*/ 6650326 h 15271879"/>
                <a:gd name="connsiteX2" fmla="*/ 4086159 w 4441973"/>
                <a:gd name="connsiteY2" fmla="*/ 204397 h 15271879"/>
                <a:gd name="connsiteX3" fmla="*/ 4136325 w 4441973"/>
                <a:gd name="connsiteY3" fmla="*/ 15271879 h 15271879"/>
                <a:gd name="connsiteX4" fmla="*/ 0 w 4441973"/>
                <a:gd name="connsiteY4" fmla="*/ 15271879 h 15271879"/>
                <a:gd name="connsiteX5" fmla="*/ 0 w 4441973"/>
                <a:gd name="connsiteY5" fmla="*/ 14348549 h 15271879"/>
                <a:gd name="connsiteX0" fmla="*/ 0 w 4184088"/>
                <a:gd name="connsiteY0" fmla="*/ 7982667 h 8905997"/>
                <a:gd name="connsiteX1" fmla="*/ 2112251 w 4184088"/>
                <a:gd name="connsiteY1" fmla="*/ 284444 h 8905997"/>
                <a:gd name="connsiteX2" fmla="*/ 4136325 w 4184088"/>
                <a:gd name="connsiteY2" fmla="*/ 8905997 h 8905997"/>
                <a:gd name="connsiteX3" fmla="*/ 0 w 4184088"/>
                <a:gd name="connsiteY3" fmla="*/ 8905997 h 8905997"/>
                <a:gd name="connsiteX4" fmla="*/ 0 w 4184088"/>
                <a:gd name="connsiteY4" fmla="*/ 7982667 h 8905997"/>
                <a:gd name="connsiteX0" fmla="*/ 0 w 4184088"/>
                <a:gd name="connsiteY0" fmla="*/ 8621549 h 8621549"/>
                <a:gd name="connsiteX1" fmla="*/ 2112251 w 4184088"/>
                <a:gd name="connsiteY1" fmla="*/ -4 h 8621549"/>
                <a:gd name="connsiteX2" fmla="*/ 4136325 w 4184088"/>
                <a:gd name="connsiteY2" fmla="*/ 8621549 h 8621549"/>
                <a:gd name="connsiteX3" fmla="*/ 0 w 4184088"/>
                <a:gd name="connsiteY3" fmla="*/ 8621549 h 8621549"/>
                <a:gd name="connsiteX0" fmla="*/ 0 w 4182940"/>
                <a:gd name="connsiteY0" fmla="*/ 8621549 h 8621549"/>
                <a:gd name="connsiteX1" fmla="*/ 2112251 w 4182940"/>
                <a:gd name="connsiteY1" fmla="*/ -4 h 8621549"/>
                <a:gd name="connsiteX2" fmla="*/ 4136325 w 4182940"/>
                <a:gd name="connsiteY2" fmla="*/ 8621549 h 8621549"/>
                <a:gd name="connsiteX3" fmla="*/ 0 w 4182940"/>
                <a:gd name="connsiteY3" fmla="*/ 8621549 h 8621549"/>
              </a:gdLst>
              <a:ahLst/>
              <a:cxnLst>
                <a:cxn ang="0">
                  <a:pos x="connsiteX0" y="connsiteY0"/>
                </a:cxn>
                <a:cxn ang="0">
                  <a:pos x="connsiteX1" y="connsiteY1"/>
                </a:cxn>
                <a:cxn ang="0">
                  <a:pos x="connsiteX2" y="connsiteY2"/>
                </a:cxn>
                <a:cxn ang="0">
                  <a:pos x="connsiteX3" y="connsiteY3"/>
                </a:cxn>
              </a:cxnLst>
              <a:rect l="l" t="t" r="r" b="b"/>
              <a:pathLst>
                <a:path w="4182940" h="8621549">
                  <a:moveTo>
                    <a:pt x="0" y="8621549"/>
                  </a:moveTo>
                  <a:lnTo>
                    <a:pt x="2112251" y="-4"/>
                  </a:lnTo>
                  <a:cubicBezTo>
                    <a:pt x="2751597" y="2701520"/>
                    <a:pt x="4488367" y="7184624"/>
                    <a:pt x="4136325" y="8621549"/>
                  </a:cubicBezTo>
                  <a:lnTo>
                    <a:pt x="0" y="8621549"/>
                  </a:lnTo>
                  <a:close/>
                </a:path>
              </a:pathLst>
            </a:custGeom>
            <a:noFill/>
          </p:spPr>
          <p:txBody>
            <a:bodyPr wrap="none" lIns="91440" tIns="45720" rIns="91440" bIns="45720">
              <a:prstTxWarp prst="textArchDown">
                <a:avLst>
                  <a:gd name="adj" fmla="val 1667357"/>
                </a:avLst>
              </a:prstTxWarp>
              <a:spAutoFit/>
            </a:bodyPr>
            <a:lstStyle/>
            <a:p>
              <a:pPr algn="ctr"/>
              <a:r>
                <a:rPr lang="en-US" b="0" cap="none" spc="0" dirty="0" smtClean="0">
                  <a:ln w="0"/>
                  <a:solidFill>
                    <a:schemeClr val="tx1"/>
                  </a:solidFill>
                </a:rPr>
                <a:t>Advice A1</a:t>
              </a:r>
              <a:endParaRPr lang="en-US" b="0" cap="none" spc="0" dirty="0">
                <a:ln w="0"/>
                <a:solidFill>
                  <a:schemeClr val="tx1"/>
                </a:solidFill>
              </a:endParaRPr>
            </a:p>
          </p:txBody>
        </p:sp>
      </p:grpSp>
      <p:sp>
        <p:nvSpPr>
          <p:cNvPr id="87" name="Green Workload"/>
          <p:cNvSpPr/>
          <p:nvPr/>
        </p:nvSpPr>
        <p:spPr>
          <a:xfrm>
            <a:off x="2047635" y="758857"/>
            <a:ext cx="6604000" cy="399484"/>
          </a:xfrm>
          <a:custGeom>
            <a:avLst/>
            <a:gdLst>
              <a:gd name="connsiteX0" fmla="*/ 0 w 6604000"/>
              <a:gd name="connsiteY0" fmla="*/ 0 h 673100"/>
              <a:gd name="connsiteX1" fmla="*/ 2514600 w 6604000"/>
              <a:gd name="connsiteY1" fmla="*/ 0 h 673100"/>
              <a:gd name="connsiteX2" fmla="*/ 3060700 w 6604000"/>
              <a:gd name="connsiteY2" fmla="*/ 673100 h 673100"/>
              <a:gd name="connsiteX3" fmla="*/ 6604000 w 6604000"/>
              <a:gd name="connsiteY3" fmla="*/ 673100 h 673100"/>
            </a:gdLst>
            <a:ahLst/>
            <a:cxnLst>
              <a:cxn ang="0">
                <a:pos x="connsiteX0" y="connsiteY0"/>
              </a:cxn>
              <a:cxn ang="0">
                <a:pos x="connsiteX1" y="connsiteY1"/>
              </a:cxn>
              <a:cxn ang="0">
                <a:pos x="connsiteX2" y="connsiteY2"/>
              </a:cxn>
              <a:cxn ang="0">
                <a:pos x="connsiteX3" y="connsiteY3"/>
              </a:cxn>
            </a:cxnLst>
            <a:rect l="l" t="t" r="r" b="b"/>
            <a:pathLst>
              <a:path w="6604000" h="673100">
                <a:moveTo>
                  <a:pt x="0" y="0"/>
                </a:moveTo>
                <a:lnTo>
                  <a:pt x="2514600" y="0"/>
                </a:lnTo>
                <a:lnTo>
                  <a:pt x="3060700" y="673100"/>
                </a:lnTo>
                <a:lnTo>
                  <a:pt x="6604000" y="673100"/>
                </a:lnTo>
              </a:path>
            </a:pathLst>
          </a:custGeom>
          <a:noFill/>
          <a:ln w="57150">
            <a:solidFill>
              <a:srgbClr val="A5A5A5"/>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Tracepoint 4"/>
          <p:cNvSpPr/>
          <p:nvPr/>
        </p:nvSpPr>
        <p:spPr>
          <a:xfrm>
            <a:off x="7204732" y="810021"/>
            <a:ext cx="304800" cy="304800"/>
          </a:xfrm>
          <a:prstGeom prst="ellipse">
            <a:avLst/>
          </a:prstGeom>
          <a:solidFill>
            <a:schemeClr val="bg2">
              <a:lumMod val="90000"/>
            </a:schemeClr>
          </a:solidFill>
          <a:ln w="19050">
            <a:solidFill>
              <a:schemeClr val="bg2">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Tracepoint 3"/>
          <p:cNvSpPr/>
          <p:nvPr/>
        </p:nvSpPr>
        <p:spPr>
          <a:xfrm>
            <a:off x="7540577" y="1022502"/>
            <a:ext cx="304800" cy="304800"/>
          </a:xfrm>
          <a:prstGeom prst="ellipse">
            <a:avLst/>
          </a:prstGeom>
          <a:solidFill>
            <a:schemeClr val="bg2">
              <a:lumMod val="90000"/>
            </a:schemeClr>
          </a:solidFill>
          <a:ln w="19050">
            <a:solidFill>
              <a:schemeClr val="bg2">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Tracepoint 5"/>
          <p:cNvSpPr/>
          <p:nvPr/>
        </p:nvSpPr>
        <p:spPr>
          <a:xfrm>
            <a:off x="3758334" y="590584"/>
            <a:ext cx="304800" cy="304800"/>
          </a:xfrm>
          <a:prstGeom prst="ellipse">
            <a:avLst/>
          </a:prstGeom>
          <a:solidFill>
            <a:schemeClr val="bg2">
              <a:lumMod val="90000"/>
            </a:schemeClr>
          </a:solidFill>
          <a:ln w="19050">
            <a:solidFill>
              <a:schemeClr val="bg2">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Tracepoint 4"/>
          <p:cNvSpPr/>
          <p:nvPr/>
        </p:nvSpPr>
        <p:spPr>
          <a:xfrm>
            <a:off x="4246723" y="589866"/>
            <a:ext cx="304800" cy="304800"/>
          </a:xfrm>
          <a:prstGeom prst="ellipse">
            <a:avLst/>
          </a:prstGeom>
          <a:solidFill>
            <a:schemeClr val="bg2">
              <a:lumMod val="90000"/>
            </a:schemeClr>
          </a:solidFill>
          <a:ln w="19050">
            <a:solidFill>
              <a:schemeClr val="bg2">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Green Workload"/>
          <p:cNvSpPr/>
          <p:nvPr/>
        </p:nvSpPr>
        <p:spPr>
          <a:xfrm>
            <a:off x="2047635" y="758459"/>
            <a:ext cx="6604000" cy="399484"/>
          </a:xfrm>
          <a:custGeom>
            <a:avLst/>
            <a:gdLst>
              <a:gd name="connsiteX0" fmla="*/ 0 w 6604000"/>
              <a:gd name="connsiteY0" fmla="*/ 0 h 673100"/>
              <a:gd name="connsiteX1" fmla="*/ 2514600 w 6604000"/>
              <a:gd name="connsiteY1" fmla="*/ 0 h 673100"/>
              <a:gd name="connsiteX2" fmla="*/ 3060700 w 6604000"/>
              <a:gd name="connsiteY2" fmla="*/ 673100 h 673100"/>
              <a:gd name="connsiteX3" fmla="*/ 6604000 w 6604000"/>
              <a:gd name="connsiteY3" fmla="*/ 673100 h 673100"/>
            </a:gdLst>
            <a:ahLst/>
            <a:cxnLst>
              <a:cxn ang="0">
                <a:pos x="connsiteX0" y="connsiteY0"/>
              </a:cxn>
              <a:cxn ang="0">
                <a:pos x="connsiteX1" y="connsiteY1"/>
              </a:cxn>
              <a:cxn ang="0">
                <a:pos x="connsiteX2" y="connsiteY2"/>
              </a:cxn>
              <a:cxn ang="0">
                <a:pos x="connsiteX3" y="connsiteY3"/>
              </a:cxn>
            </a:cxnLst>
            <a:rect l="l" t="t" r="r" b="b"/>
            <a:pathLst>
              <a:path w="6604000" h="673100">
                <a:moveTo>
                  <a:pt x="0" y="0"/>
                </a:moveTo>
                <a:lnTo>
                  <a:pt x="2514600" y="0"/>
                </a:lnTo>
                <a:lnTo>
                  <a:pt x="3060700" y="673100"/>
                </a:lnTo>
                <a:lnTo>
                  <a:pt x="6604000" y="673100"/>
                </a:lnTo>
              </a:path>
            </a:pathLst>
          </a:custGeom>
          <a:noFill/>
          <a:ln w="57150">
            <a:solidFill>
              <a:srgbClr val="70AD47"/>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p:nvPr/>
        </p:nvGrpSpPr>
        <p:grpSpPr>
          <a:xfrm>
            <a:off x="3203569" y="546805"/>
            <a:ext cx="4373939" cy="947683"/>
            <a:chOff x="2822569" y="546805"/>
            <a:chExt cx="4373939" cy="947683"/>
          </a:xfrm>
        </p:grpSpPr>
        <p:sp>
          <p:nvSpPr>
            <p:cNvPr id="205" name="Tracepoint 1"/>
            <p:cNvSpPr/>
            <p:nvPr/>
          </p:nvSpPr>
          <p:spPr>
            <a:xfrm>
              <a:off x="6827374" y="1164645"/>
              <a:ext cx="304800" cy="304800"/>
            </a:xfrm>
            <a:prstGeom prst="ellipse">
              <a:avLst/>
            </a:prstGeom>
            <a:solidFill>
              <a:srgbClr val="E1E1FF"/>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Tracepoint 1"/>
            <p:cNvSpPr/>
            <p:nvPr/>
          </p:nvSpPr>
          <p:spPr>
            <a:xfrm>
              <a:off x="2884757" y="600109"/>
              <a:ext cx="304800" cy="304800"/>
            </a:xfrm>
            <a:prstGeom prst="ellipse">
              <a:avLst/>
            </a:prstGeom>
            <a:solidFill>
              <a:srgbClr val="E1E1FF"/>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7" name="Group 236"/>
            <p:cNvGrpSpPr/>
            <p:nvPr/>
          </p:nvGrpSpPr>
          <p:grpSpPr>
            <a:xfrm>
              <a:off x="2822569" y="546805"/>
              <a:ext cx="4373939" cy="947683"/>
              <a:chOff x="2822569" y="546805"/>
              <a:chExt cx="4373939" cy="947683"/>
            </a:xfrm>
          </p:grpSpPr>
          <p:sp>
            <p:nvSpPr>
              <p:cNvPr id="235" name="TextBox 234"/>
              <p:cNvSpPr txBox="1"/>
              <p:nvPr/>
            </p:nvSpPr>
            <p:spPr>
              <a:xfrm>
                <a:off x="2822569" y="546805"/>
                <a:ext cx="441146" cy="369332"/>
              </a:xfrm>
              <a:prstGeom prst="rect">
                <a:avLst/>
              </a:prstGeom>
              <a:noFill/>
            </p:spPr>
            <p:txBody>
              <a:bodyPr wrap="none" rtlCol="0">
                <a:spAutoFit/>
              </a:bodyPr>
              <a:lstStyle/>
              <a:p>
                <a:pPr algn="ctr"/>
                <a:r>
                  <a:rPr lang="en-US" b="1" dirty="0" smtClean="0"/>
                  <a:t>A1</a:t>
                </a:r>
                <a:endParaRPr lang="en-US" b="1" dirty="0"/>
              </a:p>
            </p:txBody>
          </p:sp>
          <p:sp>
            <p:nvSpPr>
              <p:cNvPr id="236" name="TextBox 235"/>
              <p:cNvSpPr txBox="1"/>
              <p:nvPr/>
            </p:nvSpPr>
            <p:spPr>
              <a:xfrm>
                <a:off x="6764980" y="1125156"/>
                <a:ext cx="431528" cy="369332"/>
              </a:xfrm>
              <a:prstGeom prst="rect">
                <a:avLst/>
              </a:prstGeom>
              <a:noFill/>
            </p:spPr>
            <p:txBody>
              <a:bodyPr wrap="none" rtlCol="0">
                <a:spAutoFit/>
              </a:bodyPr>
              <a:lstStyle/>
              <a:p>
                <a:pPr algn="ctr"/>
                <a:r>
                  <a:rPr lang="en-US" b="1" dirty="0" smtClean="0"/>
                  <a:t>B1</a:t>
                </a:r>
                <a:endParaRPr lang="en-US" b="1" dirty="0"/>
              </a:p>
            </p:txBody>
          </p:sp>
        </p:grpSp>
      </p:grpSp>
      <p:sp>
        <p:nvSpPr>
          <p:cNvPr id="91" name="Yellow Tenant"/>
          <p:cNvSpPr/>
          <p:nvPr/>
        </p:nvSpPr>
        <p:spPr>
          <a:xfrm>
            <a:off x="1449564" y="556844"/>
            <a:ext cx="475862" cy="556102"/>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bg2"/>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86" name="Green Tenant"/>
          <p:cNvSpPr/>
          <p:nvPr/>
        </p:nvSpPr>
        <p:spPr>
          <a:xfrm>
            <a:off x="1305111" y="404444"/>
            <a:ext cx="475862" cy="556102"/>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rgbClr val="70AD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92" name="Freeform 91"/>
          <p:cNvSpPr/>
          <p:nvPr/>
        </p:nvSpPr>
        <p:spPr>
          <a:xfrm flipH="1">
            <a:off x="1930824" y="385900"/>
            <a:ext cx="272422" cy="449159"/>
          </a:xfrm>
          <a:custGeom>
            <a:avLst/>
            <a:gdLst>
              <a:gd name="connsiteX0" fmla="*/ 132677 w 272422"/>
              <a:gd name="connsiteY0" fmla="*/ 284899 h 449159"/>
              <a:gd name="connsiteX1" fmla="*/ 50547 w 272422"/>
              <a:gd name="connsiteY1" fmla="*/ 367029 h 449159"/>
              <a:gd name="connsiteX2" fmla="*/ 132677 w 272422"/>
              <a:gd name="connsiteY2" fmla="*/ 449159 h 449159"/>
              <a:gd name="connsiteX3" fmla="*/ 214807 w 272422"/>
              <a:gd name="connsiteY3" fmla="*/ 367029 h 449159"/>
              <a:gd name="connsiteX4" fmla="*/ 132677 w 272422"/>
              <a:gd name="connsiteY4" fmla="*/ 284899 h 449159"/>
              <a:gd name="connsiteX5" fmla="*/ 48139 w 272422"/>
              <a:gd name="connsiteY5" fmla="*/ 52862 h 449159"/>
              <a:gd name="connsiteX6" fmla="*/ 30648 w 272422"/>
              <a:gd name="connsiteY6" fmla="*/ 52862 h 449159"/>
              <a:gd name="connsiteX7" fmla="*/ 0 w 272422"/>
              <a:gd name="connsiteY7" fmla="*/ 83510 h 449159"/>
              <a:gd name="connsiteX8" fmla="*/ 0 w 272422"/>
              <a:gd name="connsiteY8" fmla="*/ 206099 h 449159"/>
              <a:gd name="connsiteX9" fmla="*/ 30648 w 272422"/>
              <a:gd name="connsiteY9" fmla="*/ 236747 h 449159"/>
              <a:gd name="connsiteX10" fmla="*/ 48139 w 272422"/>
              <a:gd name="connsiteY10" fmla="*/ 236747 h 449159"/>
              <a:gd name="connsiteX11" fmla="*/ 241774 w 272422"/>
              <a:gd name="connsiteY11" fmla="*/ 52862 h 449159"/>
              <a:gd name="connsiteX12" fmla="*/ 224283 w 272422"/>
              <a:gd name="connsiteY12" fmla="*/ 52862 h 449159"/>
              <a:gd name="connsiteX13" fmla="*/ 224283 w 272422"/>
              <a:gd name="connsiteY13" fmla="*/ 236747 h 449159"/>
              <a:gd name="connsiteX14" fmla="*/ 241774 w 272422"/>
              <a:gd name="connsiteY14" fmla="*/ 236747 h 449159"/>
              <a:gd name="connsiteX15" fmla="*/ 272422 w 272422"/>
              <a:gd name="connsiteY15" fmla="*/ 206099 h 449159"/>
              <a:gd name="connsiteX16" fmla="*/ 272422 w 272422"/>
              <a:gd name="connsiteY16" fmla="*/ 83510 h 449159"/>
              <a:gd name="connsiteX17" fmla="*/ 241774 w 272422"/>
              <a:gd name="connsiteY17" fmla="*/ 52862 h 449159"/>
              <a:gd name="connsiteX18" fmla="*/ 136211 w 272422"/>
              <a:gd name="connsiteY18" fmla="*/ 17878 h 449159"/>
              <a:gd name="connsiteX19" fmla="*/ 171195 w 272422"/>
              <a:gd name="connsiteY19" fmla="*/ 52862 h 449159"/>
              <a:gd name="connsiteX20" fmla="*/ 101227 w 272422"/>
              <a:gd name="connsiteY20" fmla="*/ 52862 h 449159"/>
              <a:gd name="connsiteX21" fmla="*/ 136211 w 272422"/>
              <a:gd name="connsiteY21" fmla="*/ 17878 h 449159"/>
              <a:gd name="connsiteX22" fmla="*/ 136211 w 272422"/>
              <a:gd name="connsiteY22" fmla="*/ 0 h 449159"/>
              <a:gd name="connsiteX23" fmla="*/ 83350 w 272422"/>
              <a:gd name="connsiteY23" fmla="*/ 52862 h 449159"/>
              <a:gd name="connsiteX24" fmla="*/ 68204 w 272422"/>
              <a:gd name="connsiteY24" fmla="*/ 52862 h 449159"/>
              <a:gd name="connsiteX25" fmla="*/ 68204 w 272422"/>
              <a:gd name="connsiteY25" fmla="*/ 236747 h 449159"/>
              <a:gd name="connsiteX26" fmla="*/ 204218 w 272422"/>
              <a:gd name="connsiteY26" fmla="*/ 236747 h 449159"/>
              <a:gd name="connsiteX27" fmla="*/ 204218 w 272422"/>
              <a:gd name="connsiteY27" fmla="*/ 52862 h 449159"/>
              <a:gd name="connsiteX28" fmla="*/ 189073 w 272422"/>
              <a:gd name="connsiteY28" fmla="*/ 52862 h 449159"/>
              <a:gd name="connsiteX29" fmla="*/ 136211 w 272422"/>
              <a:gd name="connsiteY29" fmla="*/ 0 h 449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72422" h="449159">
                <a:moveTo>
                  <a:pt x="132677" y="284899"/>
                </a:moveTo>
                <a:cubicBezTo>
                  <a:pt x="87318" y="284899"/>
                  <a:pt x="50547" y="321670"/>
                  <a:pt x="50547" y="367029"/>
                </a:cubicBezTo>
                <a:cubicBezTo>
                  <a:pt x="50547" y="412388"/>
                  <a:pt x="87318" y="449159"/>
                  <a:pt x="132677" y="449159"/>
                </a:cubicBezTo>
                <a:cubicBezTo>
                  <a:pt x="178036" y="449159"/>
                  <a:pt x="214807" y="412388"/>
                  <a:pt x="214807" y="367029"/>
                </a:cubicBezTo>
                <a:cubicBezTo>
                  <a:pt x="214807" y="321670"/>
                  <a:pt x="178036" y="284899"/>
                  <a:pt x="132677" y="284899"/>
                </a:cubicBezTo>
                <a:close/>
                <a:moveTo>
                  <a:pt x="48139" y="52862"/>
                </a:moveTo>
                <a:lnTo>
                  <a:pt x="30648" y="52862"/>
                </a:lnTo>
                <a:cubicBezTo>
                  <a:pt x="13722" y="52862"/>
                  <a:pt x="0" y="66583"/>
                  <a:pt x="0" y="83510"/>
                </a:cubicBezTo>
                <a:lnTo>
                  <a:pt x="0" y="206099"/>
                </a:lnTo>
                <a:cubicBezTo>
                  <a:pt x="0" y="223026"/>
                  <a:pt x="13722" y="236747"/>
                  <a:pt x="30648" y="236747"/>
                </a:cubicBezTo>
                <a:lnTo>
                  <a:pt x="48139" y="236747"/>
                </a:lnTo>
                <a:close/>
                <a:moveTo>
                  <a:pt x="241774" y="52862"/>
                </a:moveTo>
                <a:lnTo>
                  <a:pt x="224283" y="52862"/>
                </a:lnTo>
                <a:lnTo>
                  <a:pt x="224283" y="236747"/>
                </a:lnTo>
                <a:lnTo>
                  <a:pt x="241774" y="236747"/>
                </a:lnTo>
                <a:cubicBezTo>
                  <a:pt x="258701" y="236747"/>
                  <a:pt x="272422" y="223026"/>
                  <a:pt x="272422" y="206099"/>
                </a:cubicBezTo>
                <a:lnTo>
                  <a:pt x="272422" y="83510"/>
                </a:lnTo>
                <a:cubicBezTo>
                  <a:pt x="272422" y="66583"/>
                  <a:pt x="258701" y="52862"/>
                  <a:pt x="241774" y="52862"/>
                </a:cubicBezTo>
                <a:close/>
                <a:moveTo>
                  <a:pt x="136211" y="17878"/>
                </a:moveTo>
                <a:cubicBezTo>
                  <a:pt x="155532" y="17878"/>
                  <a:pt x="171195" y="33540"/>
                  <a:pt x="171195" y="52862"/>
                </a:cubicBezTo>
                <a:lnTo>
                  <a:pt x="101227" y="52862"/>
                </a:lnTo>
                <a:cubicBezTo>
                  <a:pt x="101227" y="33540"/>
                  <a:pt x="116890" y="17878"/>
                  <a:pt x="136211" y="17878"/>
                </a:cubicBezTo>
                <a:close/>
                <a:moveTo>
                  <a:pt x="136211" y="0"/>
                </a:moveTo>
                <a:cubicBezTo>
                  <a:pt x="107016" y="0"/>
                  <a:pt x="83350" y="23667"/>
                  <a:pt x="83350" y="52862"/>
                </a:cubicBezTo>
                <a:lnTo>
                  <a:pt x="68204" y="52862"/>
                </a:lnTo>
                <a:lnTo>
                  <a:pt x="68204" y="236747"/>
                </a:lnTo>
                <a:lnTo>
                  <a:pt x="204218" y="236747"/>
                </a:lnTo>
                <a:lnTo>
                  <a:pt x="204218" y="52862"/>
                </a:lnTo>
                <a:lnTo>
                  <a:pt x="189073" y="52862"/>
                </a:lnTo>
                <a:cubicBezTo>
                  <a:pt x="189073" y="23667"/>
                  <a:pt x="165406" y="0"/>
                  <a:pt x="136211" y="0"/>
                </a:cubicBezTo>
                <a:close/>
              </a:path>
            </a:pathLst>
          </a:custGeom>
          <a:solidFill>
            <a:srgbClr val="70AD4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60"/>
          </a:p>
        </p:txBody>
      </p:sp>
      <p:sp>
        <p:nvSpPr>
          <p:cNvPr id="101" name="Rounded Rectangle 100"/>
          <p:cNvSpPr/>
          <p:nvPr/>
        </p:nvSpPr>
        <p:spPr>
          <a:xfrm>
            <a:off x="2998359" y="906476"/>
            <a:ext cx="908733" cy="167974"/>
          </a:xfrm>
          <a:prstGeom prst="roundRect">
            <a:avLst>
              <a:gd name="adj" fmla="val 50000"/>
            </a:avLst>
          </a:prstGeom>
          <a:solidFill>
            <a:schemeClr val="bg1"/>
          </a:solidFill>
          <a:ln>
            <a:solidFill>
              <a:srgbClr val="6158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err="1" smtClean="0">
                <a:solidFill>
                  <a:srgbClr val="2F2364"/>
                </a:solidFill>
                <a:latin typeface="Consolas" panose="020B0609020204030204" pitchFamily="49" charset="0"/>
                <a:cs typeface="Consolas" panose="020B0609020204030204" pitchFamily="49" charset="0"/>
              </a:rPr>
              <a:t>procName</a:t>
            </a:r>
            <a:endParaRPr lang="en-US" sz="1200" dirty="0">
              <a:solidFill>
                <a:srgbClr val="2F2364"/>
              </a:solidFill>
              <a:latin typeface="Consolas" panose="020B0609020204030204" pitchFamily="49" charset="0"/>
              <a:cs typeface="Consolas" panose="020B0609020204030204" pitchFamily="49" charset="0"/>
            </a:endParaRPr>
          </a:p>
        </p:txBody>
      </p:sp>
      <p:cxnSp>
        <p:nvCxnSpPr>
          <p:cNvPr id="102" name="Straight Arrow Connector 101"/>
          <p:cNvCxnSpPr/>
          <p:nvPr/>
        </p:nvCxnSpPr>
        <p:spPr>
          <a:xfrm flipV="1">
            <a:off x="3430220" y="621336"/>
            <a:ext cx="0" cy="357786"/>
          </a:xfrm>
          <a:prstGeom prst="straightConnector1">
            <a:avLst/>
          </a:prstGeom>
          <a:ln w="38100">
            <a:solidFill>
              <a:srgbClr val="615889"/>
            </a:solidFill>
            <a:tailEnd type="triangle" w="med" len="med"/>
          </a:ln>
        </p:spPr>
        <p:style>
          <a:lnRef idx="1">
            <a:schemeClr val="accent1"/>
          </a:lnRef>
          <a:fillRef idx="0">
            <a:schemeClr val="accent1"/>
          </a:fillRef>
          <a:effectRef idx="0">
            <a:schemeClr val="accent1"/>
          </a:effectRef>
          <a:fontRef idx="minor">
            <a:schemeClr val="tx1"/>
          </a:fontRef>
        </p:style>
      </p:cxnSp>
      <p:sp>
        <p:nvSpPr>
          <p:cNvPr id="103" name="Freeform 102"/>
          <p:cNvSpPr/>
          <p:nvPr/>
        </p:nvSpPr>
        <p:spPr>
          <a:xfrm>
            <a:off x="7294967" y="1180399"/>
            <a:ext cx="129224" cy="207646"/>
          </a:xfrm>
          <a:custGeom>
            <a:avLst/>
            <a:gdLst>
              <a:gd name="connsiteX0" fmla="*/ 0 w 53340"/>
              <a:gd name="connsiteY0" fmla="*/ 205752 h 205752"/>
              <a:gd name="connsiteX1" fmla="*/ 30480 w 53340"/>
              <a:gd name="connsiteY1" fmla="*/ 12 h 205752"/>
              <a:gd name="connsiteX2" fmla="*/ 53340 w 53340"/>
              <a:gd name="connsiteY2" fmla="*/ 198132 h 205752"/>
              <a:gd name="connsiteX0" fmla="*/ 15957 w 91334"/>
              <a:gd name="connsiteY0" fmla="*/ 205749 h 205749"/>
              <a:gd name="connsiteX1" fmla="*/ 46437 w 91334"/>
              <a:gd name="connsiteY1" fmla="*/ 9 h 205749"/>
              <a:gd name="connsiteX2" fmla="*/ 69297 w 91334"/>
              <a:gd name="connsiteY2" fmla="*/ 198129 h 205749"/>
              <a:gd name="connsiteX0" fmla="*/ 0 w 53340"/>
              <a:gd name="connsiteY0" fmla="*/ 205741 h 207646"/>
              <a:gd name="connsiteX1" fmla="*/ 30480 w 53340"/>
              <a:gd name="connsiteY1" fmla="*/ 1 h 207646"/>
              <a:gd name="connsiteX2" fmla="*/ 53340 w 53340"/>
              <a:gd name="connsiteY2" fmla="*/ 207646 h 207646"/>
              <a:gd name="connsiteX0" fmla="*/ 22145 w 103781"/>
              <a:gd name="connsiteY0" fmla="*/ 205741 h 207646"/>
              <a:gd name="connsiteX1" fmla="*/ 52625 w 103781"/>
              <a:gd name="connsiteY1" fmla="*/ 1 h 207646"/>
              <a:gd name="connsiteX2" fmla="*/ 75485 w 103781"/>
              <a:gd name="connsiteY2" fmla="*/ 207646 h 207646"/>
              <a:gd name="connsiteX0" fmla="*/ 0 w 77153"/>
              <a:gd name="connsiteY0" fmla="*/ 205741 h 207646"/>
              <a:gd name="connsiteX1" fmla="*/ 54293 w 77153"/>
              <a:gd name="connsiteY1" fmla="*/ 1 h 207646"/>
              <a:gd name="connsiteX2" fmla="*/ 77153 w 77153"/>
              <a:gd name="connsiteY2" fmla="*/ 207646 h 207646"/>
              <a:gd name="connsiteX0" fmla="*/ 0 w 91623"/>
              <a:gd name="connsiteY0" fmla="*/ 205741 h 207646"/>
              <a:gd name="connsiteX1" fmla="*/ 54293 w 91623"/>
              <a:gd name="connsiteY1" fmla="*/ 1 h 207646"/>
              <a:gd name="connsiteX2" fmla="*/ 77153 w 91623"/>
              <a:gd name="connsiteY2" fmla="*/ 207646 h 207646"/>
              <a:gd name="connsiteX0" fmla="*/ 5549 w 97172"/>
              <a:gd name="connsiteY0" fmla="*/ 205741 h 207646"/>
              <a:gd name="connsiteX1" fmla="*/ 59842 w 97172"/>
              <a:gd name="connsiteY1" fmla="*/ 1 h 207646"/>
              <a:gd name="connsiteX2" fmla="*/ 82702 w 97172"/>
              <a:gd name="connsiteY2" fmla="*/ 207646 h 207646"/>
              <a:gd name="connsiteX0" fmla="*/ 16645 w 129224"/>
              <a:gd name="connsiteY0" fmla="*/ 205741 h 207646"/>
              <a:gd name="connsiteX1" fmla="*/ 70938 w 129224"/>
              <a:gd name="connsiteY1" fmla="*/ 1 h 207646"/>
              <a:gd name="connsiteX2" fmla="*/ 93798 w 129224"/>
              <a:gd name="connsiteY2" fmla="*/ 207646 h 207646"/>
            </a:gdLst>
            <a:ahLst/>
            <a:cxnLst>
              <a:cxn ang="0">
                <a:pos x="connsiteX0" y="connsiteY0"/>
              </a:cxn>
              <a:cxn ang="0">
                <a:pos x="connsiteX1" y="connsiteY1"/>
              </a:cxn>
              <a:cxn ang="0">
                <a:pos x="connsiteX2" y="connsiteY2"/>
              </a:cxn>
            </a:cxnLst>
            <a:rect l="l" t="t" r="r" b="b"/>
            <a:pathLst>
              <a:path w="129224" h="207646">
                <a:moveTo>
                  <a:pt x="16645" y="205741"/>
                </a:moveTo>
                <a:cubicBezTo>
                  <a:pt x="-8278" y="103506"/>
                  <a:pt x="-15740" y="-316"/>
                  <a:pt x="70938" y="1"/>
                </a:cubicBezTo>
                <a:cubicBezTo>
                  <a:pt x="157616" y="318"/>
                  <a:pt x="132057" y="103189"/>
                  <a:pt x="93798" y="207646"/>
                </a:cubicBezTo>
              </a:path>
            </a:pathLst>
          </a:custGeom>
          <a:noFill/>
          <a:ln w="38100">
            <a:solidFill>
              <a:srgbClr val="4472C4"/>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04" name="Rounded Rectangle 103"/>
          <p:cNvSpPr/>
          <p:nvPr/>
        </p:nvSpPr>
        <p:spPr>
          <a:xfrm>
            <a:off x="6918278" y="1411785"/>
            <a:ext cx="908733" cy="167974"/>
          </a:xfrm>
          <a:prstGeom prst="roundRect">
            <a:avLst>
              <a:gd name="adj" fmla="val 50000"/>
            </a:avLst>
          </a:prstGeom>
          <a:solidFill>
            <a:schemeClr val="bg1"/>
          </a:solidFill>
          <a:ln>
            <a:solidFill>
              <a:srgbClr val="23642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rgbClr val="23642F"/>
                </a:solidFill>
                <a:latin typeface="Consolas" panose="020B0609020204030204" pitchFamily="49" charset="0"/>
                <a:cs typeface="Consolas" panose="020B0609020204030204" pitchFamily="49" charset="0"/>
              </a:rPr>
              <a:t>delta</a:t>
            </a:r>
            <a:endParaRPr lang="en-US" sz="1200" dirty="0">
              <a:solidFill>
                <a:srgbClr val="23642F"/>
              </a:solidFill>
              <a:latin typeface="Consolas" panose="020B0609020204030204" pitchFamily="49" charset="0"/>
              <a:cs typeface="Consolas" panose="020B0609020204030204" pitchFamily="49" charset="0"/>
            </a:endParaRPr>
          </a:p>
        </p:txBody>
      </p:sp>
      <p:sp>
        <p:nvSpPr>
          <p:cNvPr id="117" name="Rounded Rectangle 116"/>
          <p:cNvSpPr/>
          <p:nvPr/>
        </p:nvSpPr>
        <p:spPr>
          <a:xfrm>
            <a:off x="6924580" y="1589130"/>
            <a:ext cx="908733" cy="167974"/>
          </a:xfrm>
          <a:prstGeom prst="roundRect">
            <a:avLst>
              <a:gd name="adj" fmla="val 50000"/>
            </a:avLst>
          </a:prstGeom>
          <a:solidFill>
            <a:schemeClr val="bg1"/>
          </a:solidFill>
          <a:ln>
            <a:solidFill>
              <a:srgbClr val="6158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err="1" smtClean="0">
                <a:solidFill>
                  <a:srgbClr val="2F2364"/>
                </a:solidFill>
                <a:latin typeface="Consolas" panose="020B0609020204030204" pitchFamily="49" charset="0"/>
                <a:cs typeface="Consolas" panose="020B0609020204030204" pitchFamily="49" charset="0"/>
              </a:rPr>
              <a:t>procName</a:t>
            </a:r>
            <a:endParaRPr lang="en-US" sz="1200" dirty="0">
              <a:solidFill>
                <a:srgbClr val="2F2364"/>
              </a:solidFill>
              <a:latin typeface="Consolas" panose="020B0609020204030204" pitchFamily="49" charset="0"/>
              <a:cs typeface="Consolas" panose="020B0609020204030204" pitchFamily="49" charset="0"/>
            </a:endParaRPr>
          </a:p>
        </p:txBody>
      </p:sp>
      <p:grpSp>
        <p:nvGrpSpPr>
          <p:cNvPr id="8" name="Group 7"/>
          <p:cNvGrpSpPr/>
          <p:nvPr/>
        </p:nvGrpSpPr>
        <p:grpSpPr>
          <a:xfrm>
            <a:off x="6929282" y="1411372"/>
            <a:ext cx="915035" cy="345319"/>
            <a:chOff x="6548282" y="1411372"/>
            <a:chExt cx="915035" cy="345319"/>
          </a:xfrm>
        </p:grpSpPr>
        <p:sp>
          <p:nvSpPr>
            <p:cNvPr id="118" name="Rounded Rectangle 117"/>
            <p:cNvSpPr/>
            <p:nvPr/>
          </p:nvSpPr>
          <p:spPr>
            <a:xfrm>
              <a:off x="6548282" y="1411372"/>
              <a:ext cx="908733" cy="167974"/>
            </a:xfrm>
            <a:prstGeom prst="roundRect">
              <a:avLst>
                <a:gd name="adj" fmla="val 50000"/>
              </a:avLst>
            </a:prstGeom>
            <a:solidFill>
              <a:schemeClr val="bg1"/>
            </a:solidFill>
            <a:ln>
              <a:solidFill>
                <a:srgbClr val="23642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rgbClr val="23642F"/>
                  </a:solidFill>
                  <a:latin typeface="Consolas" panose="020B0609020204030204" pitchFamily="49" charset="0"/>
                  <a:cs typeface="Consolas" panose="020B0609020204030204" pitchFamily="49" charset="0"/>
                </a:rPr>
                <a:t>delta</a:t>
              </a:r>
              <a:endParaRPr lang="en-US" sz="1200" dirty="0">
                <a:solidFill>
                  <a:srgbClr val="23642F"/>
                </a:solidFill>
                <a:latin typeface="Consolas" panose="020B0609020204030204" pitchFamily="49" charset="0"/>
                <a:cs typeface="Consolas" panose="020B0609020204030204" pitchFamily="49" charset="0"/>
              </a:endParaRPr>
            </a:p>
          </p:txBody>
        </p:sp>
        <p:sp>
          <p:nvSpPr>
            <p:cNvPr id="119" name="Rounded Rectangle 118"/>
            <p:cNvSpPr/>
            <p:nvPr/>
          </p:nvSpPr>
          <p:spPr>
            <a:xfrm>
              <a:off x="6554584" y="1588717"/>
              <a:ext cx="908733" cy="167974"/>
            </a:xfrm>
            <a:prstGeom prst="roundRect">
              <a:avLst>
                <a:gd name="adj" fmla="val 50000"/>
              </a:avLst>
            </a:prstGeom>
            <a:solidFill>
              <a:schemeClr val="bg1"/>
            </a:solidFill>
            <a:ln>
              <a:solidFill>
                <a:srgbClr val="6158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err="1" smtClean="0">
                  <a:solidFill>
                    <a:srgbClr val="2F2364"/>
                  </a:solidFill>
                  <a:latin typeface="Consolas" panose="020B0609020204030204" pitchFamily="49" charset="0"/>
                  <a:cs typeface="Consolas" panose="020B0609020204030204" pitchFamily="49" charset="0"/>
                </a:rPr>
                <a:t>procName</a:t>
              </a:r>
              <a:endParaRPr lang="en-US" sz="1200" dirty="0">
                <a:solidFill>
                  <a:srgbClr val="2F2364"/>
                </a:solidFill>
                <a:latin typeface="Consolas" panose="020B0609020204030204" pitchFamily="49" charset="0"/>
                <a:cs typeface="Consolas" panose="020B0609020204030204" pitchFamily="49" charset="0"/>
              </a:endParaRPr>
            </a:p>
          </p:txBody>
        </p:sp>
      </p:grpSp>
      <p:sp>
        <p:nvSpPr>
          <p:cNvPr id="9" name="Rectangle 8"/>
          <p:cNvSpPr/>
          <p:nvPr/>
        </p:nvSpPr>
        <p:spPr>
          <a:xfrm>
            <a:off x="2244679" y="867080"/>
            <a:ext cx="786177" cy="246221"/>
          </a:xfrm>
          <a:prstGeom prst="rect">
            <a:avLst/>
          </a:prstGeom>
          <a:solidFill>
            <a:srgbClr val="E1E1FF"/>
          </a:solidFill>
        </p:spPr>
        <p:txBody>
          <a:bodyPr wrap="none" lIns="0" tIns="0" rIns="0" bIns="0">
            <a:spAutoFit/>
          </a:bodyPr>
          <a:lstStyle/>
          <a:p>
            <a:r>
              <a:rPr lang="en-US" sz="1600" b="1" dirty="0">
                <a:cs typeface="Consolas" panose="020B0609020204030204" pitchFamily="49" charset="0"/>
              </a:rPr>
              <a:t>OBSERVE</a:t>
            </a:r>
            <a:endParaRPr lang="en-US" sz="1600" dirty="0"/>
          </a:p>
        </p:txBody>
      </p:sp>
      <p:sp>
        <p:nvSpPr>
          <p:cNvPr id="120" name="Rectangle 119"/>
          <p:cNvSpPr/>
          <p:nvPr/>
        </p:nvSpPr>
        <p:spPr>
          <a:xfrm>
            <a:off x="3595325" y="628762"/>
            <a:ext cx="438903" cy="246221"/>
          </a:xfrm>
          <a:prstGeom prst="rect">
            <a:avLst/>
          </a:prstGeom>
          <a:solidFill>
            <a:srgbClr val="E1E1FF"/>
          </a:solidFill>
        </p:spPr>
        <p:txBody>
          <a:bodyPr wrap="none" lIns="0" tIns="0" rIns="0" bIns="0">
            <a:spAutoFit/>
          </a:bodyPr>
          <a:lstStyle/>
          <a:p>
            <a:r>
              <a:rPr lang="en-US" sz="1600" b="1" dirty="0" smtClean="0">
                <a:cs typeface="Consolas" panose="020B0609020204030204" pitchFamily="49" charset="0"/>
              </a:rPr>
              <a:t>PACK</a:t>
            </a:r>
            <a:endParaRPr lang="en-US" sz="1600" dirty="0"/>
          </a:p>
        </p:txBody>
      </p:sp>
      <p:sp>
        <p:nvSpPr>
          <p:cNvPr id="121" name="Rectangle 120"/>
          <p:cNvSpPr/>
          <p:nvPr/>
        </p:nvSpPr>
        <p:spPr>
          <a:xfrm>
            <a:off x="6122880" y="1384713"/>
            <a:ext cx="786177" cy="246221"/>
          </a:xfrm>
          <a:prstGeom prst="rect">
            <a:avLst/>
          </a:prstGeom>
          <a:solidFill>
            <a:srgbClr val="E1E1FF"/>
          </a:solidFill>
        </p:spPr>
        <p:txBody>
          <a:bodyPr wrap="none" lIns="0" tIns="0" rIns="0" bIns="0">
            <a:spAutoFit/>
          </a:bodyPr>
          <a:lstStyle/>
          <a:p>
            <a:r>
              <a:rPr lang="en-US" sz="1600" b="1" dirty="0">
                <a:cs typeface="Consolas" panose="020B0609020204030204" pitchFamily="49" charset="0"/>
              </a:rPr>
              <a:t>OBSERVE</a:t>
            </a:r>
            <a:endParaRPr lang="en-US" sz="1600" dirty="0"/>
          </a:p>
        </p:txBody>
      </p:sp>
      <p:sp>
        <p:nvSpPr>
          <p:cNvPr id="124" name="Rectangle 123"/>
          <p:cNvSpPr/>
          <p:nvPr/>
        </p:nvSpPr>
        <p:spPr>
          <a:xfrm>
            <a:off x="7524417" y="1138492"/>
            <a:ext cx="708207" cy="246221"/>
          </a:xfrm>
          <a:prstGeom prst="rect">
            <a:avLst/>
          </a:prstGeom>
          <a:solidFill>
            <a:srgbClr val="E1E1FF"/>
          </a:solidFill>
        </p:spPr>
        <p:txBody>
          <a:bodyPr wrap="none" lIns="0" tIns="0" rIns="0" bIns="0">
            <a:spAutoFit/>
          </a:bodyPr>
          <a:lstStyle/>
          <a:p>
            <a:r>
              <a:rPr lang="en-US" sz="1600" b="1" dirty="0" smtClean="0">
                <a:cs typeface="Consolas" panose="020B0609020204030204" pitchFamily="49" charset="0"/>
              </a:rPr>
              <a:t>UNPACK</a:t>
            </a:r>
            <a:endParaRPr lang="en-US" sz="1600" dirty="0"/>
          </a:p>
        </p:txBody>
      </p:sp>
      <p:sp>
        <p:nvSpPr>
          <p:cNvPr id="125" name="Rectangle 124"/>
          <p:cNvSpPr/>
          <p:nvPr/>
        </p:nvSpPr>
        <p:spPr>
          <a:xfrm>
            <a:off x="6742996" y="1819967"/>
            <a:ext cx="434414" cy="246221"/>
          </a:xfrm>
          <a:prstGeom prst="rect">
            <a:avLst/>
          </a:prstGeom>
          <a:solidFill>
            <a:srgbClr val="E1E1FF"/>
          </a:solidFill>
        </p:spPr>
        <p:txBody>
          <a:bodyPr wrap="none" lIns="0" tIns="0" rIns="0" bIns="0">
            <a:spAutoFit/>
          </a:bodyPr>
          <a:lstStyle/>
          <a:p>
            <a:r>
              <a:rPr lang="en-US" sz="1600" b="1" dirty="0" smtClean="0">
                <a:cs typeface="Consolas" panose="020B0609020204030204" pitchFamily="49" charset="0"/>
              </a:rPr>
              <a:t>EMIT</a:t>
            </a:r>
            <a:endParaRPr lang="en-US" sz="1600" dirty="0"/>
          </a:p>
        </p:txBody>
      </p:sp>
      <p:grpSp>
        <p:nvGrpSpPr>
          <p:cNvPr id="88" name="Tuples B -&gt; FE"/>
          <p:cNvGrpSpPr/>
          <p:nvPr/>
        </p:nvGrpSpPr>
        <p:grpSpPr>
          <a:xfrm>
            <a:off x="4658832" y="1817082"/>
            <a:ext cx="1546244" cy="1569451"/>
            <a:chOff x="4277832" y="1472960"/>
            <a:chExt cx="1546244" cy="1569451"/>
          </a:xfrm>
        </p:grpSpPr>
        <p:sp>
          <p:nvSpPr>
            <p:cNvPr id="89" name="Arrow"/>
            <p:cNvSpPr/>
            <p:nvPr/>
          </p:nvSpPr>
          <p:spPr>
            <a:xfrm>
              <a:off x="4677503" y="1472960"/>
              <a:ext cx="1045383" cy="481791"/>
            </a:xfrm>
            <a:custGeom>
              <a:avLst/>
              <a:gdLst>
                <a:gd name="connsiteX0" fmla="*/ 1359877 w 1359877"/>
                <a:gd name="connsiteY0" fmla="*/ 0 h 797169"/>
                <a:gd name="connsiteX1" fmla="*/ 715108 w 1359877"/>
                <a:gd name="connsiteY1" fmla="*/ 351692 h 797169"/>
                <a:gd name="connsiteX2" fmla="*/ 0 w 1359877"/>
                <a:gd name="connsiteY2" fmla="*/ 797169 h 797169"/>
                <a:gd name="connsiteX0" fmla="*/ 1359877 w 1359883"/>
                <a:gd name="connsiteY0" fmla="*/ 0 h 797169"/>
                <a:gd name="connsiteX1" fmla="*/ 715108 w 1359883"/>
                <a:gd name="connsiteY1" fmla="*/ 351692 h 797169"/>
                <a:gd name="connsiteX2" fmla="*/ 0 w 1359883"/>
                <a:gd name="connsiteY2" fmla="*/ 797169 h 797169"/>
                <a:gd name="connsiteX0" fmla="*/ 1359882 w 1359888"/>
                <a:gd name="connsiteY0" fmla="*/ 0 h 797169"/>
                <a:gd name="connsiteX1" fmla="*/ 715113 w 1359888"/>
                <a:gd name="connsiteY1" fmla="*/ 351692 h 797169"/>
                <a:gd name="connsiteX2" fmla="*/ 5 w 1359888"/>
                <a:gd name="connsiteY2" fmla="*/ 797169 h 797169"/>
                <a:gd name="connsiteX0" fmla="*/ 1359885 w 1359895"/>
                <a:gd name="connsiteY0" fmla="*/ 0 h 797169"/>
                <a:gd name="connsiteX1" fmla="*/ 715116 w 1359895"/>
                <a:gd name="connsiteY1" fmla="*/ 351692 h 797169"/>
                <a:gd name="connsiteX2" fmla="*/ 8 w 1359895"/>
                <a:gd name="connsiteY2" fmla="*/ 797169 h 797169"/>
              </a:gdLst>
              <a:ahLst/>
              <a:cxnLst>
                <a:cxn ang="0">
                  <a:pos x="connsiteX0" y="connsiteY0"/>
                </a:cxn>
                <a:cxn ang="0">
                  <a:pos x="connsiteX1" y="connsiteY1"/>
                </a:cxn>
                <a:cxn ang="0">
                  <a:pos x="connsiteX2" y="connsiteY2"/>
                </a:cxn>
              </a:cxnLst>
              <a:rect l="l" t="t" r="r" b="b"/>
              <a:pathLst>
                <a:path w="1359895" h="797169">
                  <a:moveTo>
                    <a:pt x="1359885" y="0"/>
                  </a:moveTo>
                  <a:cubicBezTo>
                    <a:pt x="1361838" y="414215"/>
                    <a:pt x="1082439" y="347785"/>
                    <a:pt x="715116" y="351692"/>
                  </a:cubicBezTo>
                  <a:cubicBezTo>
                    <a:pt x="347793" y="355599"/>
                    <a:pt x="-1946" y="253999"/>
                    <a:pt x="8" y="797169"/>
                  </a:cubicBezTo>
                </a:path>
              </a:pathLst>
            </a:custGeom>
            <a:noFill/>
            <a:ln w="19050">
              <a:solidFill>
                <a:schemeClr val="tx1"/>
              </a:solidFill>
              <a:prstDash val="sysDot"/>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Label"/>
            <p:cNvSpPr/>
            <p:nvPr/>
          </p:nvSpPr>
          <p:spPr>
            <a:xfrm rot="20888064">
              <a:off x="4277832" y="1587931"/>
              <a:ext cx="1546244" cy="1454480"/>
            </a:xfrm>
            <a:custGeom>
              <a:avLst/>
              <a:gdLst>
                <a:gd name="connsiteX0" fmla="*/ 0 w 4136325"/>
                <a:gd name="connsiteY0" fmla="*/ 0 h 923330"/>
                <a:gd name="connsiteX1" fmla="*/ 4136325 w 4136325"/>
                <a:gd name="connsiteY1" fmla="*/ 0 h 923330"/>
                <a:gd name="connsiteX2" fmla="*/ 4136325 w 4136325"/>
                <a:gd name="connsiteY2" fmla="*/ 923330 h 923330"/>
                <a:gd name="connsiteX3" fmla="*/ 0 w 4136325"/>
                <a:gd name="connsiteY3" fmla="*/ 923330 h 923330"/>
                <a:gd name="connsiteX4" fmla="*/ 0 w 4136325"/>
                <a:gd name="connsiteY4" fmla="*/ 0 h 923330"/>
                <a:gd name="connsiteX0" fmla="*/ 0 w 4136325"/>
                <a:gd name="connsiteY0" fmla="*/ 347976 h 1271306"/>
                <a:gd name="connsiteX1" fmla="*/ 3852075 w 4136325"/>
                <a:gd name="connsiteY1" fmla="*/ 0 h 1271306"/>
                <a:gd name="connsiteX2" fmla="*/ 4136325 w 4136325"/>
                <a:gd name="connsiteY2" fmla="*/ 1271306 h 1271306"/>
                <a:gd name="connsiteX3" fmla="*/ 0 w 4136325"/>
                <a:gd name="connsiteY3" fmla="*/ 1271306 h 1271306"/>
                <a:gd name="connsiteX4" fmla="*/ 0 w 4136325"/>
                <a:gd name="connsiteY4" fmla="*/ 347976 h 1271306"/>
                <a:gd name="connsiteX0" fmla="*/ 0 w 4136325"/>
                <a:gd name="connsiteY0" fmla="*/ 520695 h 1444025"/>
                <a:gd name="connsiteX1" fmla="*/ 3531683 w 4136325"/>
                <a:gd name="connsiteY1" fmla="*/ 0 h 1444025"/>
                <a:gd name="connsiteX2" fmla="*/ 4136325 w 4136325"/>
                <a:gd name="connsiteY2" fmla="*/ 1444025 h 1444025"/>
                <a:gd name="connsiteX3" fmla="*/ 0 w 4136325"/>
                <a:gd name="connsiteY3" fmla="*/ 1444025 h 1444025"/>
                <a:gd name="connsiteX4" fmla="*/ 0 w 4136325"/>
                <a:gd name="connsiteY4" fmla="*/ 520695 h 1444025"/>
                <a:gd name="connsiteX0" fmla="*/ 0 w 4136325"/>
                <a:gd name="connsiteY0" fmla="*/ 0 h 923330"/>
                <a:gd name="connsiteX1" fmla="*/ 2786017 w 4136325"/>
                <a:gd name="connsiteY1" fmla="*/ 49315 h 923330"/>
                <a:gd name="connsiteX2" fmla="*/ 4136325 w 4136325"/>
                <a:gd name="connsiteY2" fmla="*/ 923330 h 923330"/>
                <a:gd name="connsiteX3" fmla="*/ 0 w 4136325"/>
                <a:gd name="connsiteY3" fmla="*/ 923330 h 923330"/>
                <a:gd name="connsiteX4" fmla="*/ 0 w 4136325"/>
                <a:gd name="connsiteY4" fmla="*/ 0 h 923330"/>
                <a:gd name="connsiteX0" fmla="*/ 0 w 4136325"/>
                <a:gd name="connsiteY0" fmla="*/ 636172 h 1559502"/>
                <a:gd name="connsiteX1" fmla="*/ 3237910 w 4136325"/>
                <a:gd name="connsiteY1" fmla="*/ 0 h 1559502"/>
                <a:gd name="connsiteX2" fmla="*/ 4136325 w 4136325"/>
                <a:gd name="connsiteY2" fmla="*/ 1559502 h 1559502"/>
                <a:gd name="connsiteX3" fmla="*/ 0 w 4136325"/>
                <a:gd name="connsiteY3" fmla="*/ 1559502 h 1559502"/>
                <a:gd name="connsiteX4" fmla="*/ 0 w 4136325"/>
                <a:gd name="connsiteY4" fmla="*/ 636172 h 1559502"/>
                <a:gd name="connsiteX0" fmla="*/ 0 w 4136325"/>
                <a:gd name="connsiteY0" fmla="*/ 1332843 h 2256173"/>
                <a:gd name="connsiteX1" fmla="*/ 3237910 w 4136325"/>
                <a:gd name="connsiteY1" fmla="*/ 696671 h 2256173"/>
                <a:gd name="connsiteX2" fmla="*/ 4136325 w 4136325"/>
                <a:gd name="connsiteY2" fmla="*/ 2256173 h 2256173"/>
                <a:gd name="connsiteX3" fmla="*/ 0 w 4136325"/>
                <a:gd name="connsiteY3" fmla="*/ 2256173 h 2256173"/>
                <a:gd name="connsiteX4" fmla="*/ 0 w 4136325"/>
                <a:gd name="connsiteY4" fmla="*/ 1332843 h 2256173"/>
                <a:gd name="connsiteX0" fmla="*/ 0 w 4136325"/>
                <a:gd name="connsiteY0" fmla="*/ 1862158 h 2785488"/>
                <a:gd name="connsiteX1" fmla="*/ 3237910 w 4136325"/>
                <a:gd name="connsiteY1" fmla="*/ 1225986 h 2785488"/>
                <a:gd name="connsiteX2" fmla="*/ 4136325 w 4136325"/>
                <a:gd name="connsiteY2" fmla="*/ 2785488 h 2785488"/>
                <a:gd name="connsiteX3" fmla="*/ 0 w 4136325"/>
                <a:gd name="connsiteY3" fmla="*/ 2785488 h 2785488"/>
                <a:gd name="connsiteX4" fmla="*/ 0 w 4136325"/>
                <a:gd name="connsiteY4" fmla="*/ 1862158 h 2785488"/>
                <a:gd name="connsiteX0" fmla="*/ 0 w 4136325"/>
                <a:gd name="connsiteY0" fmla="*/ 5753169 h 6676499"/>
                <a:gd name="connsiteX1" fmla="*/ 2307839 w 4136325"/>
                <a:gd name="connsiteY1" fmla="*/ 389248 h 6676499"/>
                <a:gd name="connsiteX2" fmla="*/ 4136325 w 4136325"/>
                <a:gd name="connsiteY2" fmla="*/ 6676499 h 6676499"/>
                <a:gd name="connsiteX3" fmla="*/ 0 w 4136325"/>
                <a:gd name="connsiteY3" fmla="*/ 6676499 h 6676499"/>
                <a:gd name="connsiteX4" fmla="*/ 0 w 4136325"/>
                <a:gd name="connsiteY4" fmla="*/ 5753169 h 6676499"/>
                <a:gd name="connsiteX0" fmla="*/ 0 w 4136325"/>
                <a:gd name="connsiteY0" fmla="*/ 6332577 h 7255907"/>
                <a:gd name="connsiteX1" fmla="*/ 2307839 w 4136325"/>
                <a:gd name="connsiteY1" fmla="*/ 968656 h 7255907"/>
                <a:gd name="connsiteX2" fmla="*/ 4136325 w 4136325"/>
                <a:gd name="connsiteY2" fmla="*/ 7255907 h 7255907"/>
                <a:gd name="connsiteX3" fmla="*/ 0 w 4136325"/>
                <a:gd name="connsiteY3" fmla="*/ 7255907 h 7255907"/>
                <a:gd name="connsiteX4" fmla="*/ 0 w 4136325"/>
                <a:gd name="connsiteY4" fmla="*/ 6332577 h 7255907"/>
                <a:gd name="connsiteX0" fmla="*/ 0 w 4136325"/>
                <a:gd name="connsiteY0" fmla="*/ 8493468 h 9416798"/>
                <a:gd name="connsiteX1" fmla="*/ 2112251 w 4136325"/>
                <a:gd name="connsiteY1" fmla="*/ 795245 h 9416798"/>
                <a:gd name="connsiteX2" fmla="*/ 4136325 w 4136325"/>
                <a:gd name="connsiteY2" fmla="*/ 9416798 h 9416798"/>
                <a:gd name="connsiteX3" fmla="*/ 0 w 4136325"/>
                <a:gd name="connsiteY3" fmla="*/ 9416798 h 9416798"/>
                <a:gd name="connsiteX4" fmla="*/ 0 w 4136325"/>
                <a:gd name="connsiteY4" fmla="*/ 8493468 h 9416798"/>
                <a:gd name="connsiteX0" fmla="*/ 0 w 4441973"/>
                <a:gd name="connsiteY0" fmla="*/ 14348549 h 15271879"/>
                <a:gd name="connsiteX1" fmla="*/ 2112251 w 4441973"/>
                <a:gd name="connsiteY1" fmla="*/ 6650326 h 15271879"/>
                <a:gd name="connsiteX2" fmla="*/ 4086159 w 4441973"/>
                <a:gd name="connsiteY2" fmla="*/ 204397 h 15271879"/>
                <a:gd name="connsiteX3" fmla="*/ 4136325 w 4441973"/>
                <a:gd name="connsiteY3" fmla="*/ 15271879 h 15271879"/>
                <a:gd name="connsiteX4" fmla="*/ 0 w 4441973"/>
                <a:gd name="connsiteY4" fmla="*/ 15271879 h 15271879"/>
                <a:gd name="connsiteX5" fmla="*/ 0 w 4441973"/>
                <a:gd name="connsiteY5" fmla="*/ 14348549 h 15271879"/>
                <a:gd name="connsiteX0" fmla="*/ 0 w 4184088"/>
                <a:gd name="connsiteY0" fmla="*/ 7982667 h 8905997"/>
                <a:gd name="connsiteX1" fmla="*/ 2112251 w 4184088"/>
                <a:gd name="connsiteY1" fmla="*/ 284444 h 8905997"/>
                <a:gd name="connsiteX2" fmla="*/ 4136325 w 4184088"/>
                <a:gd name="connsiteY2" fmla="*/ 8905997 h 8905997"/>
                <a:gd name="connsiteX3" fmla="*/ 0 w 4184088"/>
                <a:gd name="connsiteY3" fmla="*/ 8905997 h 8905997"/>
                <a:gd name="connsiteX4" fmla="*/ 0 w 4184088"/>
                <a:gd name="connsiteY4" fmla="*/ 7982667 h 8905997"/>
                <a:gd name="connsiteX0" fmla="*/ 0 w 4184088"/>
                <a:gd name="connsiteY0" fmla="*/ 8621549 h 8621549"/>
                <a:gd name="connsiteX1" fmla="*/ 2112251 w 4184088"/>
                <a:gd name="connsiteY1" fmla="*/ -4 h 8621549"/>
                <a:gd name="connsiteX2" fmla="*/ 4136325 w 4184088"/>
                <a:gd name="connsiteY2" fmla="*/ 8621549 h 8621549"/>
                <a:gd name="connsiteX3" fmla="*/ 0 w 4184088"/>
                <a:gd name="connsiteY3" fmla="*/ 8621549 h 8621549"/>
                <a:gd name="connsiteX0" fmla="*/ 0 w 4182940"/>
                <a:gd name="connsiteY0" fmla="*/ 8621549 h 8621549"/>
                <a:gd name="connsiteX1" fmla="*/ 2112251 w 4182940"/>
                <a:gd name="connsiteY1" fmla="*/ -4 h 8621549"/>
                <a:gd name="connsiteX2" fmla="*/ 4136325 w 4182940"/>
                <a:gd name="connsiteY2" fmla="*/ 8621549 h 8621549"/>
                <a:gd name="connsiteX3" fmla="*/ 0 w 4182940"/>
                <a:gd name="connsiteY3" fmla="*/ 8621549 h 8621549"/>
              </a:gdLst>
              <a:ahLst/>
              <a:cxnLst>
                <a:cxn ang="0">
                  <a:pos x="connsiteX0" y="connsiteY0"/>
                </a:cxn>
                <a:cxn ang="0">
                  <a:pos x="connsiteX1" y="connsiteY1"/>
                </a:cxn>
                <a:cxn ang="0">
                  <a:pos x="connsiteX2" y="connsiteY2"/>
                </a:cxn>
                <a:cxn ang="0">
                  <a:pos x="connsiteX3" y="connsiteY3"/>
                </a:cxn>
              </a:cxnLst>
              <a:rect l="l" t="t" r="r" b="b"/>
              <a:pathLst>
                <a:path w="4182940" h="8621549">
                  <a:moveTo>
                    <a:pt x="0" y="8621549"/>
                  </a:moveTo>
                  <a:lnTo>
                    <a:pt x="2112251" y="-4"/>
                  </a:lnTo>
                  <a:cubicBezTo>
                    <a:pt x="2751597" y="2701520"/>
                    <a:pt x="4488367" y="7184624"/>
                    <a:pt x="4136325" y="8621549"/>
                  </a:cubicBezTo>
                  <a:lnTo>
                    <a:pt x="0" y="8621549"/>
                  </a:lnTo>
                  <a:close/>
                </a:path>
              </a:pathLst>
            </a:custGeom>
            <a:noFill/>
          </p:spPr>
          <p:txBody>
            <a:bodyPr wrap="none" lIns="91440" tIns="45720" rIns="91440" bIns="45720">
              <a:prstTxWarp prst="textArchUp">
                <a:avLst>
                  <a:gd name="adj" fmla="val 12254288"/>
                </a:avLst>
              </a:prstTxWarp>
              <a:spAutoFit/>
            </a:bodyPr>
            <a:lstStyle/>
            <a:p>
              <a:pPr algn="ctr"/>
              <a:r>
                <a:rPr lang="en-US" sz="1600" b="0" cap="none" spc="0" dirty="0" smtClean="0">
                  <a:ln w="0"/>
                  <a:solidFill>
                    <a:schemeClr val="tx1"/>
                  </a:solidFill>
                </a:rPr>
                <a:t>Tuples</a:t>
              </a:r>
              <a:endParaRPr lang="en-US" sz="1600" b="0" cap="none" spc="0" dirty="0">
                <a:ln w="0"/>
                <a:solidFill>
                  <a:schemeClr val="tx1"/>
                </a:solidFill>
              </a:endParaRPr>
            </a:p>
          </p:txBody>
        </p:sp>
      </p:grpSp>
      <p:grpSp>
        <p:nvGrpSpPr>
          <p:cNvPr id="105" name="Tuples A -&gt; FE"/>
          <p:cNvGrpSpPr/>
          <p:nvPr/>
        </p:nvGrpSpPr>
        <p:grpSpPr>
          <a:xfrm>
            <a:off x="3246874" y="1539428"/>
            <a:ext cx="1546244" cy="1573326"/>
            <a:chOff x="2865874" y="1195306"/>
            <a:chExt cx="1546244" cy="1573326"/>
          </a:xfrm>
        </p:grpSpPr>
        <p:sp>
          <p:nvSpPr>
            <p:cNvPr id="106" name="A -&gt; Tuples"/>
            <p:cNvSpPr/>
            <p:nvPr/>
          </p:nvSpPr>
          <p:spPr>
            <a:xfrm>
              <a:off x="3001111" y="1195306"/>
              <a:ext cx="1080228" cy="759446"/>
            </a:xfrm>
            <a:custGeom>
              <a:avLst/>
              <a:gdLst>
                <a:gd name="connsiteX0" fmla="*/ 0 w 1678014"/>
                <a:gd name="connsiteY0" fmla="*/ 0 h 1137139"/>
                <a:gd name="connsiteX1" fmla="*/ 633046 w 1678014"/>
                <a:gd name="connsiteY1" fmla="*/ 222739 h 1137139"/>
                <a:gd name="connsiteX2" fmla="*/ 1512277 w 1678014"/>
                <a:gd name="connsiteY2" fmla="*/ 445477 h 1137139"/>
                <a:gd name="connsiteX3" fmla="*/ 1676400 w 1678014"/>
                <a:gd name="connsiteY3" fmla="*/ 1137139 h 1137139"/>
                <a:gd name="connsiteX0" fmla="*/ 0 w 1678014"/>
                <a:gd name="connsiteY0" fmla="*/ 0 h 1137139"/>
                <a:gd name="connsiteX1" fmla="*/ 1512277 w 1678014"/>
                <a:gd name="connsiteY1" fmla="*/ 445477 h 1137139"/>
                <a:gd name="connsiteX2" fmla="*/ 1676400 w 1678014"/>
                <a:gd name="connsiteY2" fmla="*/ 1137139 h 1137139"/>
                <a:gd name="connsiteX0" fmla="*/ 0 w 1676400"/>
                <a:gd name="connsiteY0" fmla="*/ 0 h 1137139"/>
                <a:gd name="connsiteX1" fmla="*/ 1512277 w 1676400"/>
                <a:gd name="connsiteY1" fmla="*/ 445477 h 1137139"/>
                <a:gd name="connsiteX2" fmla="*/ 1676400 w 1676400"/>
                <a:gd name="connsiteY2" fmla="*/ 1137139 h 1137139"/>
                <a:gd name="connsiteX0" fmla="*/ 1 w 1676401"/>
                <a:gd name="connsiteY0" fmla="*/ 0 h 1137139"/>
                <a:gd name="connsiteX1" fmla="*/ 1512278 w 1676401"/>
                <a:gd name="connsiteY1" fmla="*/ 445477 h 1137139"/>
                <a:gd name="connsiteX2" fmla="*/ 1676401 w 1676401"/>
                <a:gd name="connsiteY2" fmla="*/ 1137139 h 1137139"/>
              </a:gdLst>
              <a:ahLst/>
              <a:cxnLst>
                <a:cxn ang="0">
                  <a:pos x="connsiteX0" y="connsiteY0"/>
                </a:cxn>
                <a:cxn ang="0">
                  <a:pos x="connsiteX1" y="connsiteY1"/>
                </a:cxn>
                <a:cxn ang="0">
                  <a:pos x="connsiteX2" y="connsiteY2"/>
                </a:cxn>
              </a:cxnLst>
              <a:rect l="l" t="t" r="r" b="b"/>
              <a:pathLst>
                <a:path w="1676401" h="1137139">
                  <a:moveTo>
                    <a:pt x="1" y="0"/>
                  </a:moveTo>
                  <a:cubicBezTo>
                    <a:pt x="-1464" y="338992"/>
                    <a:pt x="1232878" y="255954"/>
                    <a:pt x="1512278" y="445477"/>
                  </a:cubicBezTo>
                  <a:cubicBezTo>
                    <a:pt x="1686170" y="597877"/>
                    <a:pt x="1669562" y="668216"/>
                    <a:pt x="1676401" y="1137139"/>
                  </a:cubicBezTo>
                </a:path>
              </a:pathLst>
            </a:custGeom>
            <a:noFill/>
            <a:ln w="19050">
              <a:solidFill>
                <a:schemeClr val="tx1"/>
              </a:solidFill>
              <a:prstDash val="sysDot"/>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Rectangle 129"/>
            <p:cNvSpPr/>
            <p:nvPr/>
          </p:nvSpPr>
          <p:spPr>
            <a:xfrm rot="2063905">
              <a:off x="2865874" y="1314152"/>
              <a:ext cx="1546244" cy="1454480"/>
            </a:xfrm>
            <a:custGeom>
              <a:avLst/>
              <a:gdLst>
                <a:gd name="connsiteX0" fmla="*/ 0 w 4136325"/>
                <a:gd name="connsiteY0" fmla="*/ 0 h 923330"/>
                <a:gd name="connsiteX1" fmla="*/ 4136325 w 4136325"/>
                <a:gd name="connsiteY1" fmla="*/ 0 h 923330"/>
                <a:gd name="connsiteX2" fmla="*/ 4136325 w 4136325"/>
                <a:gd name="connsiteY2" fmla="*/ 923330 h 923330"/>
                <a:gd name="connsiteX3" fmla="*/ 0 w 4136325"/>
                <a:gd name="connsiteY3" fmla="*/ 923330 h 923330"/>
                <a:gd name="connsiteX4" fmla="*/ 0 w 4136325"/>
                <a:gd name="connsiteY4" fmla="*/ 0 h 923330"/>
                <a:gd name="connsiteX0" fmla="*/ 0 w 4136325"/>
                <a:gd name="connsiteY0" fmla="*/ 347976 h 1271306"/>
                <a:gd name="connsiteX1" fmla="*/ 3852075 w 4136325"/>
                <a:gd name="connsiteY1" fmla="*/ 0 h 1271306"/>
                <a:gd name="connsiteX2" fmla="*/ 4136325 w 4136325"/>
                <a:gd name="connsiteY2" fmla="*/ 1271306 h 1271306"/>
                <a:gd name="connsiteX3" fmla="*/ 0 w 4136325"/>
                <a:gd name="connsiteY3" fmla="*/ 1271306 h 1271306"/>
                <a:gd name="connsiteX4" fmla="*/ 0 w 4136325"/>
                <a:gd name="connsiteY4" fmla="*/ 347976 h 1271306"/>
                <a:gd name="connsiteX0" fmla="*/ 0 w 4136325"/>
                <a:gd name="connsiteY0" fmla="*/ 520695 h 1444025"/>
                <a:gd name="connsiteX1" fmla="*/ 3531683 w 4136325"/>
                <a:gd name="connsiteY1" fmla="*/ 0 h 1444025"/>
                <a:gd name="connsiteX2" fmla="*/ 4136325 w 4136325"/>
                <a:gd name="connsiteY2" fmla="*/ 1444025 h 1444025"/>
                <a:gd name="connsiteX3" fmla="*/ 0 w 4136325"/>
                <a:gd name="connsiteY3" fmla="*/ 1444025 h 1444025"/>
                <a:gd name="connsiteX4" fmla="*/ 0 w 4136325"/>
                <a:gd name="connsiteY4" fmla="*/ 520695 h 1444025"/>
                <a:gd name="connsiteX0" fmla="*/ 0 w 4136325"/>
                <a:gd name="connsiteY0" fmla="*/ 0 h 923330"/>
                <a:gd name="connsiteX1" fmla="*/ 2786017 w 4136325"/>
                <a:gd name="connsiteY1" fmla="*/ 49315 h 923330"/>
                <a:gd name="connsiteX2" fmla="*/ 4136325 w 4136325"/>
                <a:gd name="connsiteY2" fmla="*/ 923330 h 923330"/>
                <a:gd name="connsiteX3" fmla="*/ 0 w 4136325"/>
                <a:gd name="connsiteY3" fmla="*/ 923330 h 923330"/>
                <a:gd name="connsiteX4" fmla="*/ 0 w 4136325"/>
                <a:gd name="connsiteY4" fmla="*/ 0 h 923330"/>
                <a:gd name="connsiteX0" fmla="*/ 0 w 4136325"/>
                <a:gd name="connsiteY0" fmla="*/ 636172 h 1559502"/>
                <a:gd name="connsiteX1" fmla="*/ 3237910 w 4136325"/>
                <a:gd name="connsiteY1" fmla="*/ 0 h 1559502"/>
                <a:gd name="connsiteX2" fmla="*/ 4136325 w 4136325"/>
                <a:gd name="connsiteY2" fmla="*/ 1559502 h 1559502"/>
                <a:gd name="connsiteX3" fmla="*/ 0 w 4136325"/>
                <a:gd name="connsiteY3" fmla="*/ 1559502 h 1559502"/>
                <a:gd name="connsiteX4" fmla="*/ 0 w 4136325"/>
                <a:gd name="connsiteY4" fmla="*/ 636172 h 1559502"/>
                <a:gd name="connsiteX0" fmla="*/ 0 w 4136325"/>
                <a:gd name="connsiteY0" fmla="*/ 1332843 h 2256173"/>
                <a:gd name="connsiteX1" fmla="*/ 3237910 w 4136325"/>
                <a:gd name="connsiteY1" fmla="*/ 696671 h 2256173"/>
                <a:gd name="connsiteX2" fmla="*/ 4136325 w 4136325"/>
                <a:gd name="connsiteY2" fmla="*/ 2256173 h 2256173"/>
                <a:gd name="connsiteX3" fmla="*/ 0 w 4136325"/>
                <a:gd name="connsiteY3" fmla="*/ 2256173 h 2256173"/>
                <a:gd name="connsiteX4" fmla="*/ 0 w 4136325"/>
                <a:gd name="connsiteY4" fmla="*/ 1332843 h 2256173"/>
                <a:gd name="connsiteX0" fmla="*/ 0 w 4136325"/>
                <a:gd name="connsiteY0" fmla="*/ 1862158 h 2785488"/>
                <a:gd name="connsiteX1" fmla="*/ 3237910 w 4136325"/>
                <a:gd name="connsiteY1" fmla="*/ 1225986 h 2785488"/>
                <a:gd name="connsiteX2" fmla="*/ 4136325 w 4136325"/>
                <a:gd name="connsiteY2" fmla="*/ 2785488 h 2785488"/>
                <a:gd name="connsiteX3" fmla="*/ 0 w 4136325"/>
                <a:gd name="connsiteY3" fmla="*/ 2785488 h 2785488"/>
                <a:gd name="connsiteX4" fmla="*/ 0 w 4136325"/>
                <a:gd name="connsiteY4" fmla="*/ 1862158 h 2785488"/>
                <a:gd name="connsiteX0" fmla="*/ 0 w 4136325"/>
                <a:gd name="connsiteY0" fmla="*/ 5753169 h 6676499"/>
                <a:gd name="connsiteX1" fmla="*/ 2307839 w 4136325"/>
                <a:gd name="connsiteY1" fmla="*/ 389248 h 6676499"/>
                <a:gd name="connsiteX2" fmla="*/ 4136325 w 4136325"/>
                <a:gd name="connsiteY2" fmla="*/ 6676499 h 6676499"/>
                <a:gd name="connsiteX3" fmla="*/ 0 w 4136325"/>
                <a:gd name="connsiteY3" fmla="*/ 6676499 h 6676499"/>
                <a:gd name="connsiteX4" fmla="*/ 0 w 4136325"/>
                <a:gd name="connsiteY4" fmla="*/ 5753169 h 6676499"/>
                <a:gd name="connsiteX0" fmla="*/ 0 w 4136325"/>
                <a:gd name="connsiteY0" fmla="*/ 6332577 h 7255907"/>
                <a:gd name="connsiteX1" fmla="*/ 2307839 w 4136325"/>
                <a:gd name="connsiteY1" fmla="*/ 968656 h 7255907"/>
                <a:gd name="connsiteX2" fmla="*/ 4136325 w 4136325"/>
                <a:gd name="connsiteY2" fmla="*/ 7255907 h 7255907"/>
                <a:gd name="connsiteX3" fmla="*/ 0 w 4136325"/>
                <a:gd name="connsiteY3" fmla="*/ 7255907 h 7255907"/>
                <a:gd name="connsiteX4" fmla="*/ 0 w 4136325"/>
                <a:gd name="connsiteY4" fmla="*/ 6332577 h 7255907"/>
                <a:gd name="connsiteX0" fmla="*/ 0 w 4136325"/>
                <a:gd name="connsiteY0" fmla="*/ 8493468 h 9416798"/>
                <a:gd name="connsiteX1" fmla="*/ 2112251 w 4136325"/>
                <a:gd name="connsiteY1" fmla="*/ 795245 h 9416798"/>
                <a:gd name="connsiteX2" fmla="*/ 4136325 w 4136325"/>
                <a:gd name="connsiteY2" fmla="*/ 9416798 h 9416798"/>
                <a:gd name="connsiteX3" fmla="*/ 0 w 4136325"/>
                <a:gd name="connsiteY3" fmla="*/ 9416798 h 9416798"/>
                <a:gd name="connsiteX4" fmla="*/ 0 w 4136325"/>
                <a:gd name="connsiteY4" fmla="*/ 8493468 h 9416798"/>
                <a:gd name="connsiteX0" fmla="*/ 0 w 4441973"/>
                <a:gd name="connsiteY0" fmla="*/ 14348549 h 15271879"/>
                <a:gd name="connsiteX1" fmla="*/ 2112251 w 4441973"/>
                <a:gd name="connsiteY1" fmla="*/ 6650326 h 15271879"/>
                <a:gd name="connsiteX2" fmla="*/ 4086159 w 4441973"/>
                <a:gd name="connsiteY2" fmla="*/ 204397 h 15271879"/>
                <a:gd name="connsiteX3" fmla="*/ 4136325 w 4441973"/>
                <a:gd name="connsiteY3" fmla="*/ 15271879 h 15271879"/>
                <a:gd name="connsiteX4" fmla="*/ 0 w 4441973"/>
                <a:gd name="connsiteY4" fmla="*/ 15271879 h 15271879"/>
                <a:gd name="connsiteX5" fmla="*/ 0 w 4441973"/>
                <a:gd name="connsiteY5" fmla="*/ 14348549 h 15271879"/>
                <a:gd name="connsiteX0" fmla="*/ 0 w 4184088"/>
                <a:gd name="connsiteY0" fmla="*/ 7982667 h 8905997"/>
                <a:gd name="connsiteX1" fmla="*/ 2112251 w 4184088"/>
                <a:gd name="connsiteY1" fmla="*/ 284444 h 8905997"/>
                <a:gd name="connsiteX2" fmla="*/ 4136325 w 4184088"/>
                <a:gd name="connsiteY2" fmla="*/ 8905997 h 8905997"/>
                <a:gd name="connsiteX3" fmla="*/ 0 w 4184088"/>
                <a:gd name="connsiteY3" fmla="*/ 8905997 h 8905997"/>
                <a:gd name="connsiteX4" fmla="*/ 0 w 4184088"/>
                <a:gd name="connsiteY4" fmla="*/ 7982667 h 8905997"/>
                <a:gd name="connsiteX0" fmla="*/ 0 w 4184088"/>
                <a:gd name="connsiteY0" fmla="*/ 8621549 h 8621549"/>
                <a:gd name="connsiteX1" fmla="*/ 2112251 w 4184088"/>
                <a:gd name="connsiteY1" fmla="*/ -4 h 8621549"/>
                <a:gd name="connsiteX2" fmla="*/ 4136325 w 4184088"/>
                <a:gd name="connsiteY2" fmla="*/ 8621549 h 8621549"/>
                <a:gd name="connsiteX3" fmla="*/ 0 w 4184088"/>
                <a:gd name="connsiteY3" fmla="*/ 8621549 h 8621549"/>
                <a:gd name="connsiteX0" fmla="*/ 0 w 4182940"/>
                <a:gd name="connsiteY0" fmla="*/ 8621549 h 8621549"/>
                <a:gd name="connsiteX1" fmla="*/ 2112251 w 4182940"/>
                <a:gd name="connsiteY1" fmla="*/ -4 h 8621549"/>
                <a:gd name="connsiteX2" fmla="*/ 4136325 w 4182940"/>
                <a:gd name="connsiteY2" fmla="*/ 8621549 h 8621549"/>
                <a:gd name="connsiteX3" fmla="*/ 0 w 4182940"/>
                <a:gd name="connsiteY3" fmla="*/ 8621549 h 8621549"/>
              </a:gdLst>
              <a:ahLst/>
              <a:cxnLst>
                <a:cxn ang="0">
                  <a:pos x="connsiteX0" y="connsiteY0"/>
                </a:cxn>
                <a:cxn ang="0">
                  <a:pos x="connsiteX1" y="connsiteY1"/>
                </a:cxn>
                <a:cxn ang="0">
                  <a:pos x="connsiteX2" y="connsiteY2"/>
                </a:cxn>
                <a:cxn ang="0">
                  <a:pos x="connsiteX3" y="connsiteY3"/>
                </a:cxn>
              </a:cxnLst>
              <a:rect l="l" t="t" r="r" b="b"/>
              <a:pathLst>
                <a:path w="4182940" h="8621549">
                  <a:moveTo>
                    <a:pt x="0" y="8621549"/>
                  </a:moveTo>
                  <a:lnTo>
                    <a:pt x="2112251" y="-4"/>
                  </a:lnTo>
                  <a:cubicBezTo>
                    <a:pt x="2751597" y="2701520"/>
                    <a:pt x="4488367" y="7184624"/>
                    <a:pt x="4136325" y="8621549"/>
                  </a:cubicBezTo>
                  <a:lnTo>
                    <a:pt x="0" y="8621549"/>
                  </a:lnTo>
                  <a:close/>
                </a:path>
              </a:pathLst>
            </a:custGeom>
            <a:noFill/>
          </p:spPr>
          <p:txBody>
            <a:bodyPr wrap="none" lIns="91440" tIns="45720" rIns="91440" bIns="45720">
              <a:prstTxWarp prst="textArchUp">
                <a:avLst>
                  <a:gd name="adj" fmla="val 12254288"/>
                </a:avLst>
              </a:prstTxWarp>
              <a:spAutoFit/>
            </a:bodyPr>
            <a:lstStyle/>
            <a:p>
              <a:pPr algn="ctr"/>
              <a:r>
                <a:rPr lang="en-US" sz="1600" b="0" cap="none" spc="0" dirty="0" smtClean="0">
                  <a:ln w="0"/>
                  <a:solidFill>
                    <a:schemeClr val="tx1"/>
                  </a:solidFill>
                </a:rPr>
                <a:t>Tuples</a:t>
              </a:r>
              <a:endParaRPr lang="en-US" sz="1600" b="0" cap="none" spc="0" dirty="0">
                <a:ln w="0"/>
                <a:solidFill>
                  <a:schemeClr val="tx1"/>
                </a:solidFill>
              </a:endParaRPr>
            </a:p>
          </p:txBody>
        </p:sp>
      </p:grpSp>
      <p:grpSp>
        <p:nvGrpSpPr>
          <p:cNvPr id="108" name="Tuples FE -&gt; User"/>
          <p:cNvGrpSpPr/>
          <p:nvPr/>
        </p:nvGrpSpPr>
        <p:grpSpPr>
          <a:xfrm>
            <a:off x="4448812" y="2287077"/>
            <a:ext cx="891053" cy="897650"/>
            <a:chOff x="4067812" y="1942955"/>
            <a:chExt cx="891053" cy="897650"/>
          </a:xfrm>
        </p:grpSpPr>
        <p:sp>
          <p:nvSpPr>
            <p:cNvPr id="109" name="Arrow"/>
            <p:cNvSpPr/>
            <p:nvPr/>
          </p:nvSpPr>
          <p:spPr>
            <a:xfrm flipH="1">
              <a:off x="4629342" y="2380883"/>
              <a:ext cx="329523" cy="459722"/>
            </a:xfrm>
            <a:custGeom>
              <a:avLst/>
              <a:gdLst>
                <a:gd name="connsiteX0" fmla="*/ 190500 w 190500"/>
                <a:gd name="connsiteY0" fmla="*/ 698500 h 698500"/>
                <a:gd name="connsiteX1" fmla="*/ 38100 w 190500"/>
                <a:gd name="connsiteY1" fmla="*/ 393700 h 698500"/>
                <a:gd name="connsiteX2" fmla="*/ 0 w 190500"/>
                <a:gd name="connsiteY2" fmla="*/ 0 h 698500"/>
              </a:gdLst>
              <a:ahLst/>
              <a:cxnLst>
                <a:cxn ang="0">
                  <a:pos x="connsiteX0" y="connsiteY0"/>
                </a:cxn>
                <a:cxn ang="0">
                  <a:pos x="connsiteX1" y="connsiteY1"/>
                </a:cxn>
                <a:cxn ang="0">
                  <a:pos x="connsiteX2" y="connsiteY2"/>
                </a:cxn>
              </a:cxnLst>
              <a:rect l="l" t="t" r="r" b="b"/>
              <a:pathLst>
                <a:path w="190500" h="698500">
                  <a:moveTo>
                    <a:pt x="190500" y="698500"/>
                  </a:moveTo>
                  <a:cubicBezTo>
                    <a:pt x="130175" y="604308"/>
                    <a:pt x="69850" y="510117"/>
                    <a:pt x="38100" y="393700"/>
                  </a:cubicBezTo>
                  <a:cubicBezTo>
                    <a:pt x="6350" y="277283"/>
                    <a:pt x="3175" y="138641"/>
                    <a:pt x="0" y="0"/>
                  </a:cubicBezTo>
                </a:path>
              </a:pathLst>
            </a:custGeom>
            <a:noFill/>
            <a:ln w="19050">
              <a:solidFill>
                <a:schemeClr val="tx1"/>
              </a:solidFill>
              <a:prstDash val="sysDot"/>
              <a:headEnd type="triangle" w="lg" len="lg"/>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Label"/>
            <p:cNvSpPr/>
            <p:nvPr/>
          </p:nvSpPr>
          <p:spPr>
            <a:xfrm rot="18321122">
              <a:off x="4067231" y="1943536"/>
              <a:ext cx="838017" cy="836855"/>
            </a:xfrm>
            <a:custGeom>
              <a:avLst/>
              <a:gdLst>
                <a:gd name="connsiteX0" fmla="*/ 0 w 4136325"/>
                <a:gd name="connsiteY0" fmla="*/ 0 h 923330"/>
                <a:gd name="connsiteX1" fmla="*/ 4136325 w 4136325"/>
                <a:gd name="connsiteY1" fmla="*/ 0 h 923330"/>
                <a:gd name="connsiteX2" fmla="*/ 4136325 w 4136325"/>
                <a:gd name="connsiteY2" fmla="*/ 923330 h 923330"/>
                <a:gd name="connsiteX3" fmla="*/ 0 w 4136325"/>
                <a:gd name="connsiteY3" fmla="*/ 923330 h 923330"/>
                <a:gd name="connsiteX4" fmla="*/ 0 w 4136325"/>
                <a:gd name="connsiteY4" fmla="*/ 0 h 923330"/>
                <a:gd name="connsiteX0" fmla="*/ 0 w 4136325"/>
                <a:gd name="connsiteY0" fmla="*/ 347976 h 1271306"/>
                <a:gd name="connsiteX1" fmla="*/ 3852075 w 4136325"/>
                <a:gd name="connsiteY1" fmla="*/ 0 h 1271306"/>
                <a:gd name="connsiteX2" fmla="*/ 4136325 w 4136325"/>
                <a:gd name="connsiteY2" fmla="*/ 1271306 h 1271306"/>
                <a:gd name="connsiteX3" fmla="*/ 0 w 4136325"/>
                <a:gd name="connsiteY3" fmla="*/ 1271306 h 1271306"/>
                <a:gd name="connsiteX4" fmla="*/ 0 w 4136325"/>
                <a:gd name="connsiteY4" fmla="*/ 347976 h 1271306"/>
                <a:gd name="connsiteX0" fmla="*/ 0 w 4136325"/>
                <a:gd name="connsiteY0" fmla="*/ 520695 h 1444025"/>
                <a:gd name="connsiteX1" fmla="*/ 3531683 w 4136325"/>
                <a:gd name="connsiteY1" fmla="*/ 0 h 1444025"/>
                <a:gd name="connsiteX2" fmla="*/ 4136325 w 4136325"/>
                <a:gd name="connsiteY2" fmla="*/ 1444025 h 1444025"/>
                <a:gd name="connsiteX3" fmla="*/ 0 w 4136325"/>
                <a:gd name="connsiteY3" fmla="*/ 1444025 h 1444025"/>
                <a:gd name="connsiteX4" fmla="*/ 0 w 4136325"/>
                <a:gd name="connsiteY4" fmla="*/ 520695 h 1444025"/>
                <a:gd name="connsiteX0" fmla="*/ 0 w 4136325"/>
                <a:gd name="connsiteY0" fmla="*/ 0 h 923330"/>
                <a:gd name="connsiteX1" fmla="*/ 2786017 w 4136325"/>
                <a:gd name="connsiteY1" fmla="*/ 49315 h 923330"/>
                <a:gd name="connsiteX2" fmla="*/ 4136325 w 4136325"/>
                <a:gd name="connsiteY2" fmla="*/ 923330 h 923330"/>
                <a:gd name="connsiteX3" fmla="*/ 0 w 4136325"/>
                <a:gd name="connsiteY3" fmla="*/ 923330 h 923330"/>
                <a:gd name="connsiteX4" fmla="*/ 0 w 4136325"/>
                <a:gd name="connsiteY4" fmla="*/ 0 h 923330"/>
                <a:gd name="connsiteX0" fmla="*/ 0 w 4136325"/>
                <a:gd name="connsiteY0" fmla="*/ 636172 h 1559502"/>
                <a:gd name="connsiteX1" fmla="*/ 3237910 w 4136325"/>
                <a:gd name="connsiteY1" fmla="*/ 0 h 1559502"/>
                <a:gd name="connsiteX2" fmla="*/ 4136325 w 4136325"/>
                <a:gd name="connsiteY2" fmla="*/ 1559502 h 1559502"/>
                <a:gd name="connsiteX3" fmla="*/ 0 w 4136325"/>
                <a:gd name="connsiteY3" fmla="*/ 1559502 h 1559502"/>
                <a:gd name="connsiteX4" fmla="*/ 0 w 4136325"/>
                <a:gd name="connsiteY4" fmla="*/ 636172 h 1559502"/>
                <a:gd name="connsiteX0" fmla="*/ 0 w 4136325"/>
                <a:gd name="connsiteY0" fmla="*/ 1332843 h 2256173"/>
                <a:gd name="connsiteX1" fmla="*/ 3237910 w 4136325"/>
                <a:gd name="connsiteY1" fmla="*/ 696671 h 2256173"/>
                <a:gd name="connsiteX2" fmla="*/ 4136325 w 4136325"/>
                <a:gd name="connsiteY2" fmla="*/ 2256173 h 2256173"/>
                <a:gd name="connsiteX3" fmla="*/ 0 w 4136325"/>
                <a:gd name="connsiteY3" fmla="*/ 2256173 h 2256173"/>
                <a:gd name="connsiteX4" fmla="*/ 0 w 4136325"/>
                <a:gd name="connsiteY4" fmla="*/ 1332843 h 2256173"/>
                <a:gd name="connsiteX0" fmla="*/ 0 w 4136325"/>
                <a:gd name="connsiteY0" fmla="*/ 1862158 h 2785488"/>
                <a:gd name="connsiteX1" fmla="*/ 3237910 w 4136325"/>
                <a:gd name="connsiteY1" fmla="*/ 1225986 h 2785488"/>
                <a:gd name="connsiteX2" fmla="*/ 4136325 w 4136325"/>
                <a:gd name="connsiteY2" fmla="*/ 2785488 h 2785488"/>
                <a:gd name="connsiteX3" fmla="*/ 0 w 4136325"/>
                <a:gd name="connsiteY3" fmla="*/ 2785488 h 2785488"/>
                <a:gd name="connsiteX4" fmla="*/ 0 w 4136325"/>
                <a:gd name="connsiteY4" fmla="*/ 1862158 h 2785488"/>
                <a:gd name="connsiteX0" fmla="*/ 0 w 4136325"/>
                <a:gd name="connsiteY0" fmla="*/ 5753169 h 6676499"/>
                <a:gd name="connsiteX1" fmla="*/ 2307839 w 4136325"/>
                <a:gd name="connsiteY1" fmla="*/ 389248 h 6676499"/>
                <a:gd name="connsiteX2" fmla="*/ 4136325 w 4136325"/>
                <a:gd name="connsiteY2" fmla="*/ 6676499 h 6676499"/>
                <a:gd name="connsiteX3" fmla="*/ 0 w 4136325"/>
                <a:gd name="connsiteY3" fmla="*/ 6676499 h 6676499"/>
                <a:gd name="connsiteX4" fmla="*/ 0 w 4136325"/>
                <a:gd name="connsiteY4" fmla="*/ 5753169 h 6676499"/>
                <a:gd name="connsiteX0" fmla="*/ 0 w 4136325"/>
                <a:gd name="connsiteY0" fmla="*/ 6332577 h 7255907"/>
                <a:gd name="connsiteX1" fmla="*/ 2307839 w 4136325"/>
                <a:gd name="connsiteY1" fmla="*/ 968656 h 7255907"/>
                <a:gd name="connsiteX2" fmla="*/ 4136325 w 4136325"/>
                <a:gd name="connsiteY2" fmla="*/ 7255907 h 7255907"/>
                <a:gd name="connsiteX3" fmla="*/ 0 w 4136325"/>
                <a:gd name="connsiteY3" fmla="*/ 7255907 h 7255907"/>
                <a:gd name="connsiteX4" fmla="*/ 0 w 4136325"/>
                <a:gd name="connsiteY4" fmla="*/ 6332577 h 7255907"/>
                <a:gd name="connsiteX0" fmla="*/ 0 w 4136325"/>
                <a:gd name="connsiteY0" fmla="*/ 8493468 h 9416798"/>
                <a:gd name="connsiteX1" fmla="*/ 2112251 w 4136325"/>
                <a:gd name="connsiteY1" fmla="*/ 795245 h 9416798"/>
                <a:gd name="connsiteX2" fmla="*/ 4136325 w 4136325"/>
                <a:gd name="connsiteY2" fmla="*/ 9416798 h 9416798"/>
                <a:gd name="connsiteX3" fmla="*/ 0 w 4136325"/>
                <a:gd name="connsiteY3" fmla="*/ 9416798 h 9416798"/>
                <a:gd name="connsiteX4" fmla="*/ 0 w 4136325"/>
                <a:gd name="connsiteY4" fmla="*/ 8493468 h 9416798"/>
                <a:gd name="connsiteX0" fmla="*/ 0 w 4441973"/>
                <a:gd name="connsiteY0" fmla="*/ 14348549 h 15271879"/>
                <a:gd name="connsiteX1" fmla="*/ 2112251 w 4441973"/>
                <a:gd name="connsiteY1" fmla="*/ 6650326 h 15271879"/>
                <a:gd name="connsiteX2" fmla="*/ 4086159 w 4441973"/>
                <a:gd name="connsiteY2" fmla="*/ 204397 h 15271879"/>
                <a:gd name="connsiteX3" fmla="*/ 4136325 w 4441973"/>
                <a:gd name="connsiteY3" fmla="*/ 15271879 h 15271879"/>
                <a:gd name="connsiteX4" fmla="*/ 0 w 4441973"/>
                <a:gd name="connsiteY4" fmla="*/ 15271879 h 15271879"/>
                <a:gd name="connsiteX5" fmla="*/ 0 w 4441973"/>
                <a:gd name="connsiteY5" fmla="*/ 14348549 h 15271879"/>
                <a:gd name="connsiteX0" fmla="*/ 0 w 4184088"/>
                <a:gd name="connsiteY0" fmla="*/ 7982667 h 8905997"/>
                <a:gd name="connsiteX1" fmla="*/ 2112251 w 4184088"/>
                <a:gd name="connsiteY1" fmla="*/ 284444 h 8905997"/>
                <a:gd name="connsiteX2" fmla="*/ 4136325 w 4184088"/>
                <a:gd name="connsiteY2" fmla="*/ 8905997 h 8905997"/>
                <a:gd name="connsiteX3" fmla="*/ 0 w 4184088"/>
                <a:gd name="connsiteY3" fmla="*/ 8905997 h 8905997"/>
                <a:gd name="connsiteX4" fmla="*/ 0 w 4184088"/>
                <a:gd name="connsiteY4" fmla="*/ 7982667 h 8905997"/>
                <a:gd name="connsiteX0" fmla="*/ 0 w 4184088"/>
                <a:gd name="connsiteY0" fmla="*/ 8621549 h 8621549"/>
                <a:gd name="connsiteX1" fmla="*/ 2112251 w 4184088"/>
                <a:gd name="connsiteY1" fmla="*/ -4 h 8621549"/>
                <a:gd name="connsiteX2" fmla="*/ 4136325 w 4184088"/>
                <a:gd name="connsiteY2" fmla="*/ 8621549 h 8621549"/>
                <a:gd name="connsiteX3" fmla="*/ 0 w 4184088"/>
                <a:gd name="connsiteY3" fmla="*/ 8621549 h 8621549"/>
                <a:gd name="connsiteX0" fmla="*/ 0 w 4182940"/>
                <a:gd name="connsiteY0" fmla="*/ 8621549 h 8621549"/>
                <a:gd name="connsiteX1" fmla="*/ 2112251 w 4182940"/>
                <a:gd name="connsiteY1" fmla="*/ -4 h 8621549"/>
                <a:gd name="connsiteX2" fmla="*/ 4136325 w 4182940"/>
                <a:gd name="connsiteY2" fmla="*/ 8621549 h 8621549"/>
                <a:gd name="connsiteX3" fmla="*/ 0 w 4182940"/>
                <a:gd name="connsiteY3" fmla="*/ 8621549 h 8621549"/>
              </a:gdLst>
              <a:ahLst/>
              <a:cxnLst>
                <a:cxn ang="0">
                  <a:pos x="connsiteX0" y="connsiteY0"/>
                </a:cxn>
                <a:cxn ang="0">
                  <a:pos x="connsiteX1" y="connsiteY1"/>
                </a:cxn>
                <a:cxn ang="0">
                  <a:pos x="connsiteX2" y="connsiteY2"/>
                </a:cxn>
                <a:cxn ang="0">
                  <a:pos x="connsiteX3" y="connsiteY3"/>
                </a:cxn>
              </a:cxnLst>
              <a:rect l="l" t="t" r="r" b="b"/>
              <a:pathLst>
                <a:path w="4182940" h="8621549">
                  <a:moveTo>
                    <a:pt x="0" y="8621549"/>
                  </a:moveTo>
                  <a:lnTo>
                    <a:pt x="2112251" y="-4"/>
                  </a:lnTo>
                  <a:cubicBezTo>
                    <a:pt x="2751597" y="2701520"/>
                    <a:pt x="4488367" y="7184624"/>
                    <a:pt x="4136325" y="8621549"/>
                  </a:cubicBezTo>
                  <a:lnTo>
                    <a:pt x="0" y="8621549"/>
                  </a:lnTo>
                  <a:close/>
                </a:path>
              </a:pathLst>
            </a:custGeom>
            <a:noFill/>
          </p:spPr>
          <p:txBody>
            <a:bodyPr wrap="none" lIns="91440" tIns="45720" rIns="91440" bIns="45720">
              <a:prstTxWarp prst="textArchDown">
                <a:avLst>
                  <a:gd name="adj" fmla="val 3008235"/>
                </a:avLst>
              </a:prstTxWarp>
              <a:spAutoFit/>
            </a:bodyPr>
            <a:lstStyle/>
            <a:p>
              <a:pPr algn="ctr"/>
              <a:r>
                <a:rPr lang="en-US" sz="1050" b="0" cap="none" spc="0" dirty="0" smtClean="0">
                  <a:ln w="0"/>
                  <a:solidFill>
                    <a:schemeClr val="tx1"/>
                  </a:solidFill>
                </a:rPr>
                <a:t>Tuples</a:t>
              </a:r>
              <a:endParaRPr lang="en-US" sz="1050" b="0" cap="none" spc="0" dirty="0">
                <a:ln w="0"/>
                <a:solidFill>
                  <a:schemeClr val="tx1"/>
                </a:solidFill>
              </a:endParaRPr>
            </a:p>
          </p:txBody>
        </p:sp>
      </p:grpSp>
      <p:sp>
        <p:nvSpPr>
          <p:cNvPr id="145" name="Rectangle 144"/>
          <p:cNvSpPr/>
          <p:nvPr/>
        </p:nvSpPr>
        <p:spPr>
          <a:xfrm>
            <a:off x="42184" y="3589112"/>
            <a:ext cx="4720316" cy="1569660"/>
          </a:xfrm>
          <a:prstGeom prst="rect">
            <a:avLst/>
          </a:prstGeom>
        </p:spPr>
        <p:txBody>
          <a:bodyPr wrap="square">
            <a:spAutoFit/>
          </a:bodyPr>
          <a:lstStyle/>
          <a:p>
            <a:r>
              <a:rPr lang="en-US" sz="2000" dirty="0" smtClean="0"/>
              <a:t>Baggage explicitly follows execution</a:t>
            </a:r>
          </a:p>
          <a:p>
            <a:endParaRPr lang="en-US" sz="2000" dirty="0"/>
          </a:p>
          <a:p>
            <a:r>
              <a:rPr lang="en-US" sz="2000" dirty="0" smtClean="0"/>
              <a:t>Evaluated inline during a request</a:t>
            </a:r>
          </a:p>
          <a:p>
            <a:r>
              <a:rPr lang="en-US" sz="1600" dirty="0" smtClean="0"/>
              <a:t>  (no </a:t>
            </a:r>
            <a:r>
              <a:rPr lang="en-US" sz="1600" dirty="0"/>
              <a:t>global aggregation </a:t>
            </a:r>
            <a:r>
              <a:rPr lang="en-US" sz="1600" dirty="0" smtClean="0"/>
              <a:t>needed)</a:t>
            </a:r>
          </a:p>
          <a:p>
            <a:endParaRPr lang="en-US" sz="2000" dirty="0" smtClean="0">
              <a:cs typeface="Inconsolata"/>
            </a:endParaRPr>
          </a:p>
        </p:txBody>
      </p:sp>
      <p:grpSp>
        <p:nvGrpSpPr>
          <p:cNvPr id="127" name="Group 126"/>
          <p:cNvGrpSpPr/>
          <p:nvPr/>
        </p:nvGrpSpPr>
        <p:grpSpPr>
          <a:xfrm>
            <a:off x="424425" y="2792990"/>
            <a:ext cx="2609890" cy="567399"/>
            <a:chOff x="6446059" y="2996301"/>
            <a:chExt cx="2609890" cy="567399"/>
          </a:xfrm>
        </p:grpSpPr>
        <p:sp>
          <p:nvSpPr>
            <p:cNvPr id="128" name="TextBox 127"/>
            <p:cNvSpPr txBox="1"/>
            <p:nvPr/>
          </p:nvSpPr>
          <p:spPr>
            <a:xfrm>
              <a:off x="6446059" y="2996301"/>
              <a:ext cx="2107244" cy="567399"/>
            </a:xfrm>
            <a:prstGeom prst="rect">
              <a:avLst/>
            </a:prstGeom>
            <a:noFill/>
          </p:spPr>
          <p:txBody>
            <a:bodyPr wrap="none" rtlCol="0">
              <a:spAutoFit/>
            </a:bodyPr>
            <a:lstStyle/>
            <a:p>
              <a:pPr>
                <a:lnSpc>
                  <a:spcPct val="85000"/>
                </a:lnSpc>
              </a:pPr>
              <a:r>
                <a:rPr lang="en-US" sz="3600" dirty="0" smtClean="0"/>
                <a:t>Evaluating</a:t>
              </a:r>
            </a:p>
          </p:txBody>
        </p:sp>
        <p:grpSp>
          <p:nvGrpSpPr>
            <p:cNvPr id="129" name="Group 128"/>
            <p:cNvGrpSpPr/>
            <p:nvPr/>
          </p:nvGrpSpPr>
          <p:grpSpPr>
            <a:xfrm>
              <a:off x="8588190" y="3071647"/>
              <a:ext cx="467759" cy="416707"/>
              <a:chOff x="5140574" y="306456"/>
              <a:chExt cx="467759" cy="416707"/>
            </a:xfrm>
          </p:grpSpPr>
          <p:sp>
            <p:nvSpPr>
              <p:cNvPr id="130" name="Freeform 129"/>
              <p:cNvSpPr/>
              <p:nvPr/>
            </p:nvSpPr>
            <p:spPr>
              <a:xfrm rot="5400000">
                <a:off x="5204201" y="319030"/>
                <a:ext cx="340506" cy="467759"/>
              </a:xfrm>
              <a:custGeom>
                <a:avLst/>
                <a:gdLst>
                  <a:gd name="connsiteX0" fmla="*/ 1 w 284694"/>
                  <a:gd name="connsiteY0" fmla="*/ 0 h 391089"/>
                  <a:gd name="connsiteX1" fmla="*/ 284694 w 284694"/>
                  <a:gd name="connsiteY1" fmla="*/ 0 h 391089"/>
                  <a:gd name="connsiteX2" fmla="*/ 142348 w 284694"/>
                  <a:gd name="connsiteY2" fmla="*/ 195544 h 391089"/>
                  <a:gd name="connsiteX3" fmla="*/ 0 w 284694"/>
                  <a:gd name="connsiteY3" fmla="*/ 391089 h 391089"/>
                  <a:gd name="connsiteX4" fmla="*/ 142347 w 284694"/>
                  <a:gd name="connsiteY4" fmla="*/ 195545 h 391089"/>
                  <a:gd name="connsiteX5" fmla="*/ 284693 w 284694"/>
                  <a:gd name="connsiteY5" fmla="*/ 391089 h 391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4694" h="391089">
                    <a:moveTo>
                      <a:pt x="1" y="0"/>
                    </a:moveTo>
                    <a:lnTo>
                      <a:pt x="284694" y="0"/>
                    </a:lnTo>
                    <a:lnTo>
                      <a:pt x="142348" y="195544"/>
                    </a:lnTo>
                    <a:close/>
                    <a:moveTo>
                      <a:pt x="0" y="391089"/>
                    </a:moveTo>
                    <a:lnTo>
                      <a:pt x="142347" y="195545"/>
                    </a:lnTo>
                    <a:lnTo>
                      <a:pt x="284693" y="391089"/>
                    </a:lnTo>
                    <a:close/>
                  </a:path>
                </a:pathLst>
              </a:cu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1" name="Straight Arrow Connector 130"/>
              <p:cNvCxnSpPr/>
              <p:nvPr/>
            </p:nvCxnSpPr>
            <p:spPr>
              <a:xfrm>
                <a:off x="5180144" y="306456"/>
                <a:ext cx="388620" cy="0"/>
              </a:xfrm>
              <a:prstGeom prst="straightConnector1">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grpSp>
      <p:sp>
        <p:nvSpPr>
          <p:cNvPr id="2" name="Slide Number Placeholder 1"/>
          <p:cNvSpPr>
            <a:spLocks noGrp="1"/>
          </p:cNvSpPr>
          <p:nvPr>
            <p:ph type="sldNum" sz="quarter" idx="12"/>
          </p:nvPr>
        </p:nvSpPr>
        <p:spPr/>
        <p:txBody>
          <a:bodyPr/>
          <a:lstStyle/>
          <a:p>
            <a:fld id="{D431E30F-8439-471B-9257-EDD8E85CDBC8}" type="slidenum">
              <a:rPr lang="en-US" smtClean="0"/>
              <a:t>29</a:t>
            </a:fld>
            <a:endParaRPr lang="en-US"/>
          </a:p>
        </p:txBody>
      </p:sp>
      <p:sp>
        <p:nvSpPr>
          <p:cNvPr id="3" name="Rectangle 2"/>
          <p:cNvSpPr/>
          <p:nvPr/>
        </p:nvSpPr>
        <p:spPr>
          <a:xfrm>
            <a:off x="5561507" y="4477349"/>
            <a:ext cx="3231805" cy="990066"/>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p:cNvSpPr/>
          <p:nvPr/>
        </p:nvSpPr>
        <p:spPr>
          <a:xfrm>
            <a:off x="5654196" y="5457353"/>
            <a:ext cx="3489804" cy="1264124"/>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36097467"/>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27"/>
                                            </p:tgtEl>
                                            <p:attrNameLst>
                                              <p:attrName>style.visibility</p:attrName>
                                            </p:attrNameLst>
                                          </p:cBhvr>
                                          <p:to>
                                            <p:strVal val="visible"/>
                                          </p:to>
                                        </p:set>
                                        <p:animEffect transition="in" filter="fade">
                                          <p:cBhvr>
                                            <p:cTn id="7" dur="500"/>
                                            <p:tgtEl>
                                              <p:spTgt spid="127"/>
                                            </p:tgtEl>
                                          </p:cBhvr>
                                        </p:animEffect>
                                      </p:childTnLst>
                                    </p:cTn>
                                  </p:par>
                                </p:childTnLst>
                              </p:cTn>
                            </p:par>
                            <p:par>
                              <p:cTn id="8" fill="hold">
                                <p:stCondLst>
                                  <p:cond delay="500"/>
                                </p:stCondLst>
                                <p:childTnLst>
                                  <p:par>
                                    <p:cTn id="9" presetID="10" presetClass="exit" presetSubtype="0" fill="hold" grpId="0" nodeType="afterEffect">
                                      <p:stCondLst>
                                        <p:cond delay="0"/>
                                      </p:stCondLst>
                                      <p:childTnLst>
                                        <p:animEffect transition="out" filter="fade">
                                          <p:cBhvr>
                                            <p:cTn id="10" dur="500"/>
                                            <p:tgtEl>
                                              <p:spTgt spid="31"/>
                                            </p:tgtEl>
                                          </p:cBhvr>
                                        </p:animEffect>
                                        <p:set>
                                          <p:cBhvr>
                                            <p:cTn id="11" dur="1" fill="hold">
                                              <p:stCondLst>
                                                <p:cond delay="499"/>
                                              </p:stCondLst>
                                            </p:cTn>
                                            <p:tgtEl>
                                              <p:spTgt spid="31"/>
                                            </p:tgtEl>
                                            <p:attrNameLst>
                                              <p:attrName>style.visibility</p:attrName>
                                            </p:attrNameLst>
                                          </p:cBhvr>
                                          <p:to>
                                            <p:strVal val="hidden"/>
                                          </p:to>
                                        </p:set>
                                      </p:childTnLst>
                                    </p:cTn>
                                  </p:par>
                                  <p:par>
                                    <p:cTn id="12" presetID="10" presetClass="exit" presetSubtype="0" fill="hold" grpId="0" nodeType="withEffect">
                                      <p:stCondLst>
                                        <p:cond delay="0"/>
                                      </p:stCondLst>
                                      <p:childTnLst>
                                        <p:animEffect transition="out" filter="fade">
                                          <p:cBhvr>
                                            <p:cTn id="13" dur="500"/>
                                            <p:tgtEl>
                                              <p:spTgt spid="87"/>
                                            </p:tgtEl>
                                          </p:cBhvr>
                                        </p:animEffect>
                                        <p:set>
                                          <p:cBhvr>
                                            <p:cTn id="14" dur="1" fill="hold">
                                              <p:stCondLst>
                                                <p:cond delay="499"/>
                                              </p:stCondLst>
                                            </p:cTn>
                                            <p:tgtEl>
                                              <p:spTgt spid="87"/>
                                            </p:tgtEl>
                                            <p:attrNameLst>
                                              <p:attrName>style.visibility</p:attrName>
                                            </p:attrNameLst>
                                          </p:cBhvr>
                                          <p:to>
                                            <p:strVal val="hidden"/>
                                          </p:to>
                                        </p:set>
                                      </p:childTnLst>
                                    </p:cTn>
                                  </p:par>
                                  <p:par>
                                    <p:cTn id="15" presetID="10" presetClass="entr" presetSubtype="0" fill="hold" grpId="0" nodeType="withEffect">
                                      <p:stCondLst>
                                        <p:cond delay="0"/>
                                      </p:stCondLst>
                                      <p:childTnLst>
                                        <p:set>
                                          <p:cBhvr>
                                            <p:cTn id="16" dur="1" fill="hold">
                                              <p:stCondLst>
                                                <p:cond delay="0"/>
                                              </p:stCondLst>
                                            </p:cTn>
                                            <p:tgtEl>
                                              <p:spTgt spid="86"/>
                                            </p:tgtEl>
                                            <p:attrNameLst>
                                              <p:attrName>style.visibility</p:attrName>
                                            </p:attrNameLst>
                                          </p:cBhvr>
                                          <p:to>
                                            <p:strVal val="visible"/>
                                          </p:to>
                                        </p:set>
                                        <p:animEffect transition="in" filter="fade">
                                          <p:cBhvr>
                                            <p:cTn id="17" dur="500"/>
                                            <p:tgtEl>
                                              <p:spTgt spid="8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42"/>
                                            </p:tgtEl>
                                            <p:attrNameLst>
                                              <p:attrName>style.visibility</p:attrName>
                                            </p:attrNameLst>
                                          </p:cBhvr>
                                          <p:to>
                                            <p:strVal val="visible"/>
                                          </p:to>
                                        </p:set>
                                        <p:animEffect transition="in" filter="fade">
                                          <p:cBhvr>
                                            <p:cTn id="20" dur="500"/>
                                            <p:tgtEl>
                                              <p:spTgt spid="4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1"/>
                                            </p:tgtEl>
                                            <p:attrNameLst>
                                              <p:attrName>style.visibility</p:attrName>
                                            </p:attrNameLst>
                                          </p:cBhvr>
                                          <p:to>
                                            <p:strVal val="visible"/>
                                          </p:to>
                                        </p:set>
                                        <p:animEffect transition="in" filter="fade">
                                          <p:cBhvr>
                                            <p:cTn id="23" dur="500"/>
                                            <p:tgtEl>
                                              <p:spTgt spid="91"/>
                                            </p:tgtEl>
                                          </p:cBhvr>
                                        </p:animEffect>
                                      </p:childTnLst>
                                    </p:cTn>
                                  </p:par>
                                  <p:par>
                                    <p:cTn id="24" presetID="7" presetClass="emph" presetSubtype="2" fill="hold" nodeType="withEffect">
                                      <p:stCondLst>
                                        <p:cond delay="0"/>
                                      </p:stCondLst>
                                      <p:childTnLst>
                                        <p:animClr clrSpc="rgb" dir="cw">
                                          <p:cBhvr>
                                            <p:cTn id="25" dur="500" fill="hold"/>
                                            <p:tgtEl>
                                              <p:spTgt spid="91"/>
                                            </p:tgtEl>
                                            <p:attrNameLst>
                                              <p:attrName>stroke.color</p:attrName>
                                            </p:attrNameLst>
                                          </p:cBhvr>
                                          <p:to>
                                            <a:srgbClr val="E7E6E6"/>
                                          </p:to>
                                        </p:animClr>
                                        <p:set>
                                          <p:cBhvr>
                                            <p:cTn id="26" dur="500" fill="hold"/>
                                            <p:tgtEl>
                                              <p:spTgt spid="91"/>
                                            </p:tgtEl>
                                            <p:attrNameLst>
                                              <p:attrName>stroke.on</p:attrName>
                                            </p:attrNameLst>
                                          </p:cBhvr>
                                          <p:to>
                                            <p:strVal val="true"/>
                                          </p:to>
                                        </p:set>
                                      </p:childTnLst>
                                    </p:cTn>
                                  </p:par>
                                  <p:par>
                                    <p:cTn id="27" presetID="7" presetClass="emph" presetSubtype="2" fill="hold" nodeType="withEffect">
                                      <p:stCondLst>
                                        <p:cond delay="0"/>
                                      </p:stCondLst>
                                      <p:childTnLst>
                                        <p:animClr clrSpc="rgb" dir="cw">
                                          <p:cBhvr>
                                            <p:cTn id="28" dur="500" fill="hold"/>
                                            <p:tgtEl>
                                              <p:spTgt spid="44"/>
                                            </p:tgtEl>
                                            <p:attrNameLst>
                                              <p:attrName>stroke.color</p:attrName>
                                            </p:attrNameLst>
                                          </p:cBhvr>
                                          <p:to>
                                            <a:srgbClr val="E7E6E6"/>
                                          </p:to>
                                        </p:animClr>
                                        <p:set>
                                          <p:cBhvr>
                                            <p:cTn id="29" dur="500" fill="hold"/>
                                            <p:tgtEl>
                                              <p:spTgt spid="44"/>
                                            </p:tgtEl>
                                            <p:attrNameLst>
                                              <p:attrName>stroke.on</p:attrName>
                                            </p:attrNameLst>
                                          </p:cBhvr>
                                          <p:to>
                                            <p:strVal val="true"/>
                                          </p:to>
                                        </p:se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92"/>
                                            </p:tgtEl>
                                            <p:attrNameLst>
                                              <p:attrName>style.visibility</p:attrName>
                                            </p:attrNameLst>
                                          </p:cBhvr>
                                          <p:to>
                                            <p:strVal val="visible"/>
                                          </p:to>
                                        </p:set>
                                        <p:animEffect transition="in" filter="fade">
                                          <p:cBhvr>
                                            <p:cTn id="34" dur="500"/>
                                            <p:tgtEl>
                                              <p:spTgt spid="92"/>
                                            </p:tgtEl>
                                          </p:cBhvr>
                                        </p:animEffect>
                                      </p:childTnLst>
                                    </p:cTn>
                                  </p:par>
                                </p:childTnLst>
                              </p:cTn>
                            </p:par>
                            <p:par>
                              <p:cTn id="35" fill="hold">
                                <p:stCondLst>
                                  <p:cond delay="500"/>
                                </p:stCondLst>
                                <p:childTnLst>
                                  <p:par>
                                    <p:cTn id="36" presetID="0" presetClass="path" presetSubtype="0" fill="hold" grpId="1" nodeType="afterEffect">
                                      <p:stCondLst>
                                        <p:cond delay="0"/>
                                      </p:stCondLst>
                                      <p:childTnLst>
                                        <p:animMotion origin="layout" path="M -1.66667E-6 1.11111E-6 L 0.14827 0.00301 " pathEditMode="relative" rAng="0" ptsTypes="AA">
                                          <p:cBhvr>
                                            <p:cTn id="37" dur="1000" fill="hold"/>
                                            <p:tgtEl>
                                              <p:spTgt spid="92"/>
                                            </p:tgtEl>
                                            <p:attrNameLst>
                                              <p:attrName>ppt_x</p:attrName>
                                              <p:attrName>ppt_y</p:attrName>
                                            </p:attrNameLst>
                                          </p:cBhvr>
                                          <p:rCtr x="7413" y="139"/>
                                        </p:animMotion>
                                      </p:childTnLst>
                                    </p:cTn>
                                  </p:par>
                                </p:childTnLst>
                              </p:cTn>
                            </p:par>
                            <p:par>
                              <p:cTn id="38" fill="hold">
                                <p:stCondLst>
                                  <p:cond delay="1500"/>
                                </p:stCondLst>
                                <p:childTnLst>
                                  <p:par>
                                    <p:cTn id="39" presetID="10" presetClass="entr" presetSubtype="0" fill="hold" grpId="0" nodeType="afterEffect">
                                      <p:stCondLst>
                                        <p:cond delay="0"/>
                                      </p:stCondLst>
                                      <p:childTnLst>
                                        <p:set>
                                          <p:cBhvr>
                                            <p:cTn id="40" dur="1" fill="hold">
                                              <p:stCondLst>
                                                <p:cond delay="0"/>
                                              </p:stCondLst>
                                            </p:cTn>
                                            <p:tgtEl>
                                              <p:spTgt spid="111"/>
                                            </p:tgtEl>
                                            <p:attrNameLst>
                                              <p:attrName>style.visibility</p:attrName>
                                            </p:attrNameLst>
                                          </p:cBhvr>
                                          <p:to>
                                            <p:strVal val="visible"/>
                                          </p:to>
                                        </p:set>
                                        <p:animEffect transition="in" filter="fade">
                                          <p:cBhvr>
                                            <p:cTn id="41" dur="500"/>
                                            <p:tgtEl>
                                              <p:spTgt spid="111"/>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9"/>
                                            </p:tgtEl>
                                            <p:attrNameLst>
                                              <p:attrName>style.visibility</p:attrName>
                                            </p:attrNameLst>
                                          </p:cBhvr>
                                          <p:to>
                                            <p:strVal val="visible"/>
                                          </p:to>
                                        </p:set>
                                      </p:childTnLst>
                                    </p:cTn>
                                  </p:par>
                                  <p:par>
                                    <p:cTn id="46" presetID="14" presetClass="entr" presetSubtype="10" fill="hold" grpId="0" nodeType="withEffect">
                                      <p:stCondLst>
                                        <p:cond delay="0"/>
                                      </p:stCondLst>
                                      <p:childTnLst>
                                        <p:set>
                                          <p:cBhvr>
                                            <p:cTn id="47" dur="1" fill="hold">
                                              <p:stCondLst>
                                                <p:cond delay="0"/>
                                              </p:stCondLst>
                                            </p:cTn>
                                            <p:tgtEl>
                                              <p:spTgt spid="101"/>
                                            </p:tgtEl>
                                            <p:attrNameLst>
                                              <p:attrName>style.visibility</p:attrName>
                                            </p:attrNameLst>
                                          </p:cBhvr>
                                          <p:to>
                                            <p:strVal val="visible"/>
                                          </p:to>
                                        </p:set>
                                        <p:animEffect transition="in" filter="randombar(horizontal)">
                                          <p:cBhvr>
                                            <p:cTn id="48" dur="500"/>
                                            <p:tgtEl>
                                              <p:spTgt spid="101"/>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nodeType="clickEffect">
                                      <p:stCondLst>
                                        <p:cond delay="0"/>
                                      </p:stCondLst>
                                      <p:childTnLst>
                                        <p:set>
                                          <p:cBhvr>
                                            <p:cTn id="52" dur="1" fill="hold">
                                              <p:stCondLst>
                                                <p:cond delay="0"/>
                                              </p:stCondLst>
                                            </p:cTn>
                                            <p:tgtEl>
                                              <p:spTgt spid="102"/>
                                            </p:tgtEl>
                                            <p:attrNameLst>
                                              <p:attrName>style.visibility</p:attrName>
                                            </p:attrNameLst>
                                          </p:cBhvr>
                                          <p:to>
                                            <p:strVal val="visible"/>
                                          </p:to>
                                        </p:set>
                                        <p:animEffect transition="in" filter="wipe(down)">
                                          <p:cBhvr>
                                            <p:cTn id="53" dur="500"/>
                                            <p:tgtEl>
                                              <p:spTgt spid="102"/>
                                            </p:tgtEl>
                                          </p:cBhvr>
                                        </p:animEffect>
                                      </p:childTnLst>
                                    </p:cTn>
                                  </p:par>
                                  <p:par>
                                    <p:cTn id="54" presetID="1" presetClass="entr" presetSubtype="0" fill="hold" grpId="0" nodeType="withEffect">
                                      <p:stCondLst>
                                        <p:cond delay="0"/>
                                      </p:stCondLst>
                                      <p:childTnLst>
                                        <p:set>
                                          <p:cBhvr>
                                            <p:cTn id="55" dur="1" fill="hold">
                                              <p:stCondLst>
                                                <p:cond delay="0"/>
                                              </p:stCondLst>
                                            </p:cTn>
                                            <p:tgtEl>
                                              <p:spTgt spid="120"/>
                                            </p:tgtEl>
                                            <p:attrNameLst>
                                              <p:attrName>style.visibility</p:attrName>
                                            </p:attrNameLst>
                                          </p:cBhvr>
                                          <p:to>
                                            <p:strVal val="visible"/>
                                          </p:to>
                                        </p:set>
                                      </p:childTnLst>
                                    </p:cTn>
                                  </p:par>
                                  <p:par>
                                    <p:cTn id="56" presetID="1" presetClass="exit" presetSubtype="0" fill="hold" grpId="1" nodeType="withEffect">
                                      <p:stCondLst>
                                        <p:cond delay="0"/>
                                      </p:stCondLst>
                                      <p:childTnLst>
                                        <p:set>
                                          <p:cBhvr>
                                            <p:cTn id="57" dur="1" fill="hold">
                                              <p:stCondLst>
                                                <p:cond delay="0"/>
                                              </p:stCondLst>
                                            </p:cTn>
                                            <p:tgtEl>
                                              <p:spTgt spid="9"/>
                                            </p:tgtEl>
                                            <p:attrNameLst>
                                              <p:attrName>style.visibility</p:attrName>
                                            </p:attrNameLst>
                                          </p:cBhvr>
                                          <p:to>
                                            <p:strVal val="hidden"/>
                                          </p:to>
                                        </p:set>
                                      </p:childTnLst>
                                    </p:cTn>
                                  </p:par>
                                  <p:par>
                                    <p:cTn id="58" presetID="0" presetClass="path" presetSubtype="0" fill="hold" grpId="1" nodeType="withEffect">
                                      <p:stCondLst>
                                        <p:cond delay="0"/>
                                      </p:stCondLst>
                                      <p:childTnLst>
                                        <p:animMotion origin="layout" path="M -4.16667E-6 -4.44444E-6 L 0.00018 -0.09444 " pathEditMode="relative" rAng="0" ptsTypes="AA">
                                          <p:cBhvr>
                                            <p:cTn id="59" dur="500" fill="hold"/>
                                            <p:tgtEl>
                                              <p:spTgt spid="101"/>
                                            </p:tgtEl>
                                            <p:attrNameLst>
                                              <p:attrName>ppt_x</p:attrName>
                                              <p:attrName>ppt_y</p:attrName>
                                            </p:attrNameLst>
                                          </p:cBhvr>
                                          <p:rCtr x="0" y="-4722"/>
                                        </p:animMotion>
                                      </p:childTnLst>
                                    </p:cTn>
                                  </p:par>
                                </p:childTnLst>
                              </p:cTn>
                            </p:par>
                            <p:par>
                              <p:cTn id="60" fill="hold">
                                <p:stCondLst>
                                  <p:cond delay="500"/>
                                </p:stCondLst>
                                <p:childTnLst>
                                  <p:par>
                                    <p:cTn id="61" presetID="22" presetClass="exit" presetSubtype="4" fill="hold" nodeType="afterEffect">
                                      <p:stCondLst>
                                        <p:cond delay="0"/>
                                      </p:stCondLst>
                                      <p:childTnLst>
                                        <p:animEffect transition="out" filter="wipe(down)">
                                          <p:cBhvr>
                                            <p:cTn id="62" dur="500"/>
                                            <p:tgtEl>
                                              <p:spTgt spid="102"/>
                                            </p:tgtEl>
                                          </p:cBhvr>
                                        </p:animEffect>
                                        <p:set>
                                          <p:cBhvr>
                                            <p:cTn id="63" dur="1" fill="hold">
                                              <p:stCondLst>
                                                <p:cond delay="499"/>
                                              </p:stCondLst>
                                            </p:cTn>
                                            <p:tgtEl>
                                              <p:spTgt spid="102"/>
                                            </p:tgtEl>
                                            <p:attrNameLst>
                                              <p:attrName>style.visibility</p:attrName>
                                            </p:attrNameLst>
                                          </p:cBhvr>
                                          <p:to>
                                            <p:strVal val="hidden"/>
                                          </p:to>
                                        </p:set>
                                      </p:childTnLst>
                                    </p:cTn>
                                  </p:par>
                                </p:childTnLst>
                              </p:cTn>
                            </p:par>
                          </p:childTnLst>
                        </p:cTn>
                      </p:par>
                      <p:par>
                        <p:cTn id="64" fill="hold">
                          <p:stCondLst>
                            <p:cond delay="indefinite"/>
                          </p:stCondLst>
                          <p:childTnLst>
                            <p:par>
                              <p:cTn id="65" fill="hold">
                                <p:stCondLst>
                                  <p:cond delay="0"/>
                                </p:stCondLst>
                                <p:childTnLst>
                                  <p:par>
                                    <p:cTn id="66" presetID="10" presetClass="exit" presetSubtype="0" fill="hold" grpId="1" nodeType="clickEffect">
                                      <p:stCondLst>
                                        <p:cond delay="0"/>
                                      </p:stCondLst>
                                      <p:childTnLst>
                                        <p:animEffect transition="out" filter="fade">
                                          <p:cBhvr>
                                            <p:cTn id="67" dur="500"/>
                                            <p:tgtEl>
                                              <p:spTgt spid="111"/>
                                            </p:tgtEl>
                                          </p:cBhvr>
                                        </p:animEffect>
                                        <p:set>
                                          <p:cBhvr>
                                            <p:cTn id="68" dur="1" fill="hold">
                                              <p:stCondLst>
                                                <p:cond delay="499"/>
                                              </p:stCondLst>
                                            </p:cTn>
                                            <p:tgtEl>
                                              <p:spTgt spid="111"/>
                                            </p:tgtEl>
                                            <p:attrNameLst>
                                              <p:attrName>style.visibility</p:attrName>
                                            </p:attrNameLst>
                                          </p:cBhvr>
                                          <p:to>
                                            <p:strVal val="hidden"/>
                                          </p:to>
                                        </p:set>
                                      </p:childTnLst>
                                    </p:cTn>
                                  </p:par>
                                  <p:par>
                                    <p:cTn id="69" presetID="1" presetClass="exit" presetSubtype="0" fill="hold" grpId="1" nodeType="withEffect">
                                      <p:stCondLst>
                                        <p:cond delay="0"/>
                                      </p:stCondLst>
                                      <p:childTnLst>
                                        <p:set>
                                          <p:cBhvr>
                                            <p:cTn id="70" dur="1" fill="hold">
                                              <p:stCondLst>
                                                <p:cond delay="0"/>
                                              </p:stCondLst>
                                            </p:cTn>
                                            <p:tgtEl>
                                              <p:spTgt spid="120"/>
                                            </p:tgtEl>
                                            <p:attrNameLst>
                                              <p:attrName>style.visibility</p:attrName>
                                            </p:attrNameLst>
                                          </p:cBhvr>
                                          <p:to>
                                            <p:strVal val="hidden"/>
                                          </p:to>
                                        </p:set>
                                      </p:childTnLst>
                                    </p:cTn>
                                  </p:par>
                                  <p:par>
                                    <p:cTn id="71" presetID="0" presetClass="path" presetSubtype="0" fill="hold" grpId="2" nodeType="withEffect">
                                      <p:stCondLst>
                                        <p:cond delay="0"/>
                                      </p:stCondLst>
                                      <p:childTnLst>
                                        <p:animMotion origin="layout" path="M 0.14827 0.00301 L 0.27222 0.00301 L 0.3316 0.0669 L 0.57847 0.0669 " pathEditMode="relative" rAng="0" ptsTypes="AAAA">
                                          <p:cBhvr>
                                            <p:cTn id="72" dur="1500" fill="hold"/>
                                            <p:tgtEl>
                                              <p:spTgt spid="92"/>
                                            </p:tgtEl>
                                            <p:attrNameLst>
                                              <p:attrName>ppt_x</p:attrName>
                                              <p:attrName>ppt_y</p:attrName>
                                            </p:attrNameLst>
                                          </p:cBhvr>
                                          <p:rCtr x="21510" y="3194"/>
                                        </p:animMotion>
                                      </p:childTnLst>
                                    </p:cTn>
                                  </p:par>
                                  <p:par>
                                    <p:cTn id="73" presetID="0" presetClass="path" presetSubtype="0" fill="hold" grpId="2" nodeType="withEffect">
                                      <p:stCondLst>
                                        <p:cond delay="0"/>
                                      </p:stCondLst>
                                      <p:childTnLst>
                                        <p:animMotion origin="layout" path="M -0.00329 -0.09421 L 0.11858 -0.09421 L 0.17691 -0.03194 L 0.42379 -0.03194 " pathEditMode="relative" rAng="0" ptsTypes="AAAA">
                                          <p:cBhvr>
                                            <p:cTn id="74" dur="1500" fill="hold"/>
                                            <p:tgtEl>
                                              <p:spTgt spid="101"/>
                                            </p:tgtEl>
                                            <p:attrNameLst>
                                              <p:attrName>ppt_x</p:attrName>
                                              <p:attrName>ppt_y</p:attrName>
                                            </p:attrNameLst>
                                          </p:cBhvr>
                                          <p:rCtr x="21354" y="3102"/>
                                        </p:animMotion>
                                      </p:childTnLst>
                                    </p:cTn>
                                  </p:par>
                                </p:childTnLst>
                              </p:cTn>
                            </p:par>
                            <p:par>
                              <p:cTn id="75" fill="hold">
                                <p:stCondLst>
                                  <p:cond delay="1500"/>
                                </p:stCondLst>
                                <p:childTnLst>
                                  <p:par>
                                    <p:cTn id="76" presetID="10" presetClass="entr" presetSubtype="0" fill="hold" grpId="0" nodeType="afterEffect">
                                      <p:stCondLst>
                                        <p:cond delay="0"/>
                                      </p:stCondLst>
                                      <p:childTnLst>
                                        <p:set>
                                          <p:cBhvr>
                                            <p:cTn id="77" dur="1" fill="hold">
                                              <p:stCondLst>
                                                <p:cond delay="0"/>
                                              </p:stCondLst>
                                            </p:cTn>
                                            <p:tgtEl>
                                              <p:spTgt spid="3"/>
                                            </p:tgtEl>
                                            <p:attrNameLst>
                                              <p:attrName>style.visibility</p:attrName>
                                            </p:attrNameLst>
                                          </p:cBhvr>
                                          <p:to>
                                            <p:strVal val="visible"/>
                                          </p:to>
                                        </p:set>
                                        <p:animEffect transition="in" filter="fade">
                                          <p:cBhvr>
                                            <p:cTn id="78" dur="500"/>
                                            <p:tgtEl>
                                              <p:spTgt spid="3"/>
                                            </p:tgtEl>
                                          </p:cBhvr>
                                        </p:animEffect>
                                      </p:childTnLst>
                                    </p:cTn>
                                  </p:par>
                                </p:childTnLst>
                              </p:cTn>
                            </p:par>
                          </p:childTnLst>
                        </p:cTn>
                      </p:par>
                      <p:par>
                        <p:cTn id="79" fill="hold">
                          <p:stCondLst>
                            <p:cond delay="indefinite"/>
                          </p:stCondLst>
                          <p:childTnLst>
                            <p:par>
                              <p:cTn id="80" fill="hold">
                                <p:stCondLst>
                                  <p:cond delay="0"/>
                                </p:stCondLst>
                                <p:childTnLst>
                                  <p:par>
                                    <p:cTn id="81" presetID="14" presetClass="entr" presetSubtype="10" fill="hold" grpId="0" nodeType="clickEffect">
                                      <p:stCondLst>
                                        <p:cond delay="0"/>
                                      </p:stCondLst>
                                      <p:childTnLst>
                                        <p:set>
                                          <p:cBhvr>
                                            <p:cTn id="82" dur="1" fill="hold">
                                              <p:stCondLst>
                                                <p:cond delay="0"/>
                                              </p:stCondLst>
                                            </p:cTn>
                                            <p:tgtEl>
                                              <p:spTgt spid="104"/>
                                            </p:tgtEl>
                                            <p:attrNameLst>
                                              <p:attrName>style.visibility</p:attrName>
                                            </p:attrNameLst>
                                          </p:cBhvr>
                                          <p:to>
                                            <p:strVal val="visible"/>
                                          </p:to>
                                        </p:set>
                                        <p:animEffect transition="in" filter="randombar(horizontal)">
                                          <p:cBhvr>
                                            <p:cTn id="83" dur="500"/>
                                            <p:tgtEl>
                                              <p:spTgt spid="104"/>
                                            </p:tgtEl>
                                          </p:cBhvr>
                                        </p:animEffect>
                                      </p:childTnLst>
                                    </p:cTn>
                                  </p:par>
                                  <p:par>
                                    <p:cTn id="84" presetID="1" presetClass="entr" presetSubtype="0" fill="hold" grpId="0" nodeType="withEffect">
                                      <p:stCondLst>
                                        <p:cond delay="0"/>
                                      </p:stCondLst>
                                      <p:childTnLst>
                                        <p:set>
                                          <p:cBhvr>
                                            <p:cTn id="85" dur="1" fill="hold">
                                              <p:stCondLst>
                                                <p:cond delay="0"/>
                                              </p:stCondLst>
                                            </p:cTn>
                                            <p:tgtEl>
                                              <p:spTgt spid="121"/>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grpId="0" nodeType="clickEffect">
                                      <p:stCondLst>
                                        <p:cond delay="0"/>
                                      </p:stCondLst>
                                      <p:childTnLst>
                                        <p:set>
                                          <p:cBhvr>
                                            <p:cTn id="89" dur="1" fill="hold">
                                              <p:stCondLst>
                                                <p:cond delay="0"/>
                                              </p:stCondLst>
                                            </p:cTn>
                                            <p:tgtEl>
                                              <p:spTgt spid="124"/>
                                            </p:tgtEl>
                                            <p:attrNameLst>
                                              <p:attrName>style.visibility</p:attrName>
                                            </p:attrNameLst>
                                          </p:cBhvr>
                                          <p:to>
                                            <p:strVal val="visible"/>
                                          </p:to>
                                        </p:set>
                                      </p:childTnLst>
                                    </p:cTn>
                                  </p:par>
                                  <p:par>
                                    <p:cTn id="90" presetID="1" presetClass="exit" presetSubtype="0" fill="hold" grpId="1" nodeType="withEffect">
                                      <p:stCondLst>
                                        <p:cond delay="0"/>
                                      </p:stCondLst>
                                      <p:childTnLst>
                                        <p:set>
                                          <p:cBhvr>
                                            <p:cTn id="91" dur="1" fill="hold">
                                              <p:stCondLst>
                                                <p:cond delay="0"/>
                                              </p:stCondLst>
                                            </p:cTn>
                                            <p:tgtEl>
                                              <p:spTgt spid="121"/>
                                            </p:tgtEl>
                                            <p:attrNameLst>
                                              <p:attrName>style.visibility</p:attrName>
                                            </p:attrNameLst>
                                          </p:cBhvr>
                                          <p:to>
                                            <p:strVal val="hidden"/>
                                          </p:to>
                                        </p:set>
                                      </p:childTnLst>
                                    </p:cTn>
                                  </p:par>
                                  <p:par>
                                    <p:cTn id="92" presetID="10" presetClass="entr" presetSubtype="0" fill="hold" grpId="0" nodeType="withEffect">
                                      <p:stCondLst>
                                        <p:cond delay="0"/>
                                      </p:stCondLst>
                                      <p:childTnLst>
                                        <p:set>
                                          <p:cBhvr>
                                            <p:cTn id="93" dur="1" fill="hold">
                                              <p:stCondLst>
                                                <p:cond delay="0"/>
                                              </p:stCondLst>
                                            </p:cTn>
                                            <p:tgtEl>
                                              <p:spTgt spid="103"/>
                                            </p:tgtEl>
                                            <p:attrNameLst>
                                              <p:attrName>style.visibility</p:attrName>
                                            </p:attrNameLst>
                                          </p:cBhvr>
                                          <p:to>
                                            <p:strVal val="visible"/>
                                          </p:to>
                                        </p:set>
                                        <p:animEffect transition="in" filter="fade">
                                          <p:cBhvr>
                                            <p:cTn id="94" dur="500"/>
                                            <p:tgtEl>
                                              <p:spTgt spid="103"/>
                                            </p:tgtEl>
                                          </p:cBhvr>
                                        </p:animEffect>
                                      </p:childTnLst>
                                    </p:cTn>
                                  </p:par>
                                </p:childTnLst>
                              </p:cTn>
                            </p:par>
                            <p:par>
                              <p:cTn id="95" fill="hold">
                                <p:stCondLst>
                                  <p:cond delay="500"/>
                                </p:stCondLst>
                                <p:childTnLst>
                                  <p:par>
                                    <p:cTn id="96" presetID="14" presetClass="entr" presetSubtype="10" fill="hold" grpId="0" nodeType="afterEffect">
                                      <p:stCondLst>
                                        <p:cond delay="0"/>
                                      </p:stCondLst>
                                      <p:childTnLst>
                                        <p:set>
                                          <p:cBhvr>
                                            <p:cTn id="97" dur="1" fill="hold">
                                              <p:stCondLst>
                                                <p:cond delay="0"/>
                                              </p:stCondLst>
                                            </p:cTn>
                                            <p:tgtEl>
                                              <p:spTgt spid="117"/>
                                            </p:tgtEl>
                                            <p:attrNameLst>
                                              <p:attrName>style.visibility</p:attrName>
                                            </p:attrNameLst>
                                          </p:cBhvr>
                                          <p:to>
                                            <p:strVal val="visible"/>
                                          </p:to>
                                        </p:set>
                                        <p:animEffect transition="in" filter="randombar(horizontal)">
                                          <p:cBhvr>
                                            <p:cTn id="98" dur="500"/>
                                            <p:tgtEl>
                                              <p:spTgt spid="117"/>
                                            </p:tgtEl>
                                          </p:cBhvr>
                                        </p:animEffect>
                                      </p:childTnLst>
                                    </p:cTn>
                                  </p:par>
                                  <p:par>
                                    <p:cTn id="99" presetID="0" presetClass="path" presetSubtype="0" fill="hold" grpId="1" nodeType="withEffect">
                                      <p:stCondLst>
                                        <p:cond delay="0"/>
                                      </p:stCondLst>
                                      <p:childTnLst>
                                        <p:animMotion origin="layout" path="M -0.00138 -0.13125 L -4.44444E-6 -0.00046 " pathEditMode="relative" rAng="0" ptsTypes="AA">
                                          <p:cBhvr>
                                            <p:cTn id="100" dur="1000" fill="hold"/>
                                            <p:tgtEl>
                                              <p:spTgt spid="117"/>
                                            </p:tgtEl>
                                            <p:attrNameLst>
                                              <p:attrName>ppt_x</p:attrName>
                                              <p:attrName>ppt_y</p:attrName>
                                            </p:attrNameLst>
                                          </p:cBhvr>
                                          <p:rCtr x="69" y="6528"/>
                                        </p:animMotion>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125"/>
                                            </p:tgtEl>
                                            <p:attrNameLst>
                                              <p:attrName>style.visibility</p:attrName>
                                            </p:attrNameLst>
                                          </p:cBhvr>
                                          <p:to>
                                            <p:strVal val="visible"/>
                                          </p:to>
                                        </p:set>
                                      </p:childTnLst>
                                    </p:cTn>
                                  </p:par>
                                </p:childTnLst>
                              </p:cTn>
                            </p:par>
                            <p:par>
                              <p:cTn id="105" fill="hold">
                                <p:stCondLst>
                                  <p:cond delay="0"/>
                                </p:stCondLst>
                                <p:childTnLst>
                                  <p:par>
                                    <p:cTn id="106" presetID="1" presetClass="exit" presetSubtype="0" fill="hold" grpId="1" nodeType="afterEffect">
                                      <p:stCondLst>
                                        <p:cond delay="0"/>
                                      </p:stCondLst>
                                      <p:childTnLst>
                                        <p:set>
                                          <p:cBhvr>
                                            <p:cTn id="107" dur="1" fill="hold">
                                              <p:stCondLst>
                                                <p:cond delay="0"/>
                                              </p:stCondLst>
                                            </p:cTn>
                                            <p:tgtEl>
                                              <p:spTgt spid="124"/>
                                            </p:tgtEl>
                                            <p:attrNameLst>
                                              <p:attrName>style.visibility</p:attrName>
                                            </p:attrNameLst>
                                          </p:cBhvr>
                                          <p:to>
                                            <p:strVal val="hidden"/>
                                          </p:to>
                                        </p:set>
                                      </p:childTnLst>
                                    </p:cTn>
                                  </p:par>
                                  <p:par>
                                    <p:cTn id="108" presetID="1" presetClass="exit" presetSubtype="0" fill="hold" grpId="2" nodeType="withEffect">
                                      <p:stCondLst>
                                        <p:cond delay="0"/>
                                      </p:stCondLst>
                                      <p:childTnLst>
                                        <p:set>
                                          <p:cBhvr>
                                            <p:cTn id="109" dur="1" fill="hold">
                                              <p:stCondLst>
                                                <p:cond delay="0"/>
                                              </p:stCondLst>
                                            </p:cTn>
                                            <p:tgtEl>
                                              <p:spTgt spid="117"/>
                                            </p:tgtEl>
                                            <p:attrNameLst>
                                              <p:attrName>style.visibility</p:attrName>
                                            </p:attrNameLst>
                                          </p:cBhvr>
                                          <p:to>
                                            <p:strVal val="hidden"/>
                                          </p:to>
                                        </p:set>
                                      </p:childTnLst>
                                    </p:cTn>
                                  </p:par>
                                  <p:par>
                                    <p:cTn id="110" presetID="1" presetClass="exit" presetSubtype="0" fill="hold" grpId="1" nodeType="withEffect">
                                      <p:stCondLst>
                                        <p:cond delay="0"/>
                                      </p:stCondLst>
                                      <p:childTnLst>
                                        <p:set>
                                          <p:cBhvr>
                                            <p:cTn id="111" dur="1" fill="hold">
                                              <p:stCondLst>
                                                <p:cond delay="0"/>
                                              </p:stCondLst>
                                            </p:cTn>
                                            <p:tgtEl>
                                              <p:spTgt spid="104"/>
                                            </p:tgtEl>
                                            <p:attrNameLst>
                                              <p:attrName>style.visibility</p:attrName>
                                            </p:attrNameLst>
                                          </p:cBhvr>
                                          <p:to>
                                            <p:strVal val="hidden"/>
                                          </p:to>
                                        </p:set>
                                      </p:childTnLst>
                                    </p:cTn>
                                  </p:par>
                                  <p:par>
                                    <p:cTn id="112" presetID="10" presetClass="exit" presetSubtype="0" fill="hold" grpId="1" nodeType="withEffect">
                                      <p:stCondLst>
                                        <p:cond delay="0"/>
                                      </p:stCondLst>
                                      <p:childTnLst>
                                        <p:animEffect transition="out" filter="fade">
                                          <p:cBhvr>
                                            <p:cTn id="113" dur="500"/>
                                            <p:tgtEl>
                                              <p:spTgt spid="103"/>
                                            </p:tgtEl>
                                          </p:cBhvr>
                                        </p:animEffect>
                                        <p:set>
                                          <p:cBhvr>
                                            <p:cTn id="114" dur="1" fill="hold">
                                              <p:stCondLst>
                                                <p:cond delay="499"/>
                                              </p:stCondLst>
                                            </p:cTn>
                                            <p:tgtEl>
                                              <p:spTgt spid="103"/>
                                            </p:tgtEl>
                                            <p:attrNameLst>
                                              <p:attrName>style.visibility</p:attrName>
                                            </p:attrNameLst>
                                          </p:cBhvr>
                                          <p:to>
                                            <p:strVal val="hidden"/>
                                          </p:to>
                                        </p:set>
                                      </p:childTnLst>
                                    </p:cTn>
                                  </p:par>
                                  <p:par>
                                    <p:cTn id="115" presetID="1" presetClass="entr" presetSubtype="0" fill="hold" nodeType="withEffect">
                                      <p:stCondLst>
                                        <p:cond delay="0"/>
                                      </p:stCondLst>
                                      <p:childTnLst>
                                        <p:set>
                                          <p:cBhvr>
                                            <p:cTn id="116" dur="1" fill="hold">
                                              <p:stCondLst>
                                                <p:cond delay="0"/>
                                              </p:stCondLst>
                                            </p:cTn>
                                            <p:tgtEl>
                                              <p:spTgt spid="8"/>
                                            </p:tgtEl>
                                            <p:attrNameLst>
                                              <p:attrName>style.visibility</p:attrName>
                                            </p:attrNameLst>
                                          </p:cBhvr>
                                          <p:to>
                                            <p:strVal val="visible"/>
                                          </p:to>
                                        </p:set>
                                      </p:childTnLst>
                                    </p:cTn>
                                  </p:par>
                                  <p:par>
                                    <p:cTn id="117" presetID="0" presetClass="path" presetSubtype="0" fill="hold" nodeType="withEffect" p14:presetBounceEnd="48000">
                                      <p:stCondLst>
                                        <p:cond delay="0"/>
                                      </p:stCondLst>
                                      <p:childTnLst>
                                        <p:animMotion origin="layout" path="M 0.00157 0.0037 L -0.11528 0.01296 " pathEditMode="relative" rAng="0" ptsTypes="AA" p14:bounceEnd="48000">
                                          <p:cBhvr>
                                            <p:cTn id="118" dur="1250" fill="hold"/>
                                            <p:tgtEl>
                                              <p:spTgt spid="8"/>
                                            </p:tgtEl>
                                            <p:attrNameLst>
                                              <p:attrName>ppt_x</p:attrName>
                                              <p:attrName>ppt_y</p:attrName>
                                            </p:attrNameLst>
                                          </p:cBhvr>
                                          <p:rCtr x="-5851" y="463"/>
                                        </p:animMotion>
                                      </p:childTnLst>
                                    </p:cTn>
                                  </p:par>
                                </p:childTnLst>
                              </p:cTn>
                            </p:par>
                          </p:childTnLst>
                        </p:cTn>
                      </p:par>
                      <p:par>
                        <p:cTn id="119" fill="hold">
                          <p:stCondLst>
                            <p:cond delay="indefinite"/>
                          </p:stCondLst>
                          <p:childTnLst>
                            <p:par>
                              <p:cTn id="120" fill="hold">
                                <p:stCondLst>
                                  <p:cond delay="0"/>
                                </p:stCondLst>
                                <p:childTnLst>
                                  <p:par>
                                    <p:cTn id="121" presetID="10" presetClass="exit" presetSubtype="0" fill="hold" grpId="1" nodeType="clickEffect">
                                      <p:stCondLst>
                                        <p:cond delay="0"/>
                                      </p:stCondLst>
                                      <p:childTnLst>
                                        <p:animEffect transition="out" filter="fade">
                                          <p:cBhvr>
                                            <p:cTn id="122" dur="500"/>
                                            <p:tgtEl>
                                              <p:spTgt spid="3"/>
                                            </p:tgtEl>
                                          </p:cBhvr>
                                        </p:animEffect>
                                        <p:set>
                                          <p:cBhvr>
                                            <p:cTn id="123" dur="1" fill="hold">
                                              <p:stCondLst>
                                                <p:cond delay="499"/>
                                              </p:stCondLst>
                                            </p:cTn>
                                            <p:tgtEl>
                                              <p:spTgt spid="3"/>
                                            </p:tgtEl>
                                            <p:attrNameLst>
                                              <p:attrName>style.visibility</p:attrName>
                                            </p:attrNameLst>
                                          </p:cBhvr>
                                          <p:to>
                                            <p:strVal val="hidden"/>
                                          </p:to>
                                        </p:set>
                                      </p:childTnLst>
                                    </p:cTn>
                                  </p:par>
                                  <p:par>
                                    <p:cTn id="124" presetID="0" presetClass="path" presetSubtype="0" fill="hold" grpId="3" nodeType="withEffect">
                                      <p:stCondLst>
                                        <p:cond delay="0"/>
                                      </p:stCondLst>
                                      <p:childTnLst>
                                        <p:animMotion origin="layout" path="M 0.57847 0.0669 L 0.72014 0.06319 " pathEditMode="relative" rAng="0" ptsTypes="AA">
                                          <p:cBhvr>
                                            <p:cTn id="125" dur="750" fill="hold"/>
                                            <p:tgtEl>
                                              <p:spTgt spid="92"/>
                                            </p:tgtEl>
                                            <p:attrNameLst>
                                              <p:attrName>ppt_x</p:attrName>
                                              <p:attrName>ppt_y</p:attrName>
                                            </p:attrNameLst>
                                          </p:cBhvr>
                                          <p:rCtr x="7083" y="-185"/>
                                        </p:animMotion>
                                      </p:childTnLst>
                                    </p:cTn>
                                  </p:par>
                                  <p:par>
                                    <p:cTn id="126" presetID="0" presetClass="path" presetSubtype="0" fill="hold" grpId="3" nodeType="withEffect">
                                      <p:stCondLst>
                                        <p:cond delay="0"/>
                                      </p:stCondLst>
                                      <p:childTnLst>
                                        <p:animMotion origin="layout" path="M 0.4224 -0.03055 L 0.56928 -0.03055 " pathEditMode="relative" rAng="0" ptsTypes="AA">
                                          <p:cBhvr>
                                            <p:cTn id="127" dur="750" fill="hold"/>
                                            <p:tgtEl>
                                              <p:spTgt spid="101"/>
                                            </p:tgtEl>
                                            <p:attrNameLst>
                                              <p:attrName>ppt_x</p:attrName>
                                              <p:attrName>ppt_y</p:attrName>
                                            </p:attrNameLst>
                                          </p:cBhvr>
                                          <p:rCtr x="7344" y="0"/>
                                        </p:animMotion>
                                      </p:childTnLst>
                                    </p:cTn>
                                  </p:par>
                                </p:childTnLst>
                              </p:cTn>
                            </p:par>
                            <p:par>
                              <p:cTn id="128" fill="hold">
                                <p:stCondLst>
                                  <p:cond delay="750"/>
                                </p:stCondLst>
                                <p:childTnLst>
                                  <p:par>
                                    <p:cTn id="129" presetID="10" presetClass="exit" presetSubtype="0" fill="hold" grpId="4" nodeType="afterEffect">
                                      <p:stCondLst>
                                        <p:cond delay="0"/>
                                      </p:stCondLst>
                                      <p:childTnLst>
                                        <p:animEffect transition="out" filter="fade">
                                          <p:cBhvr>
                                            <p:cTn id="130" dur="500"/>
                                            <p:tgtEl>
                                              <p:spTgt spid="92"/>
                                            </p:tgtEl>
                                          </p:cBhvr>
                                        </p:animEffect>
                                        <p:set>
                                          <p:cBhvr>
                                            <p:cTn id="131" dur="1" fill="hold">
                                              <p:stCondLst>
                                                <p:cond delay="499"/>
                                              </p:stCondLst>
                                            </p:cTn>
                                            <p:tgtEl>
                                              <p:spTgt spid="92"/>
                                            </p:tgtEl>
                                            <p:attrNameLst>
                                              <p:attrName>style.visibility</p:attrName>
                                            </p:attrNameLst>
                                          </p:cBhvr>
                                          <p:to>
                                            <p:strVal val="hidden"/>
                                          </p:to>
                                        </p:set>
                                      </p:childTnLst>
                                    </p:cTn>
                                  </p:par>
                                  <p:par>
                                    <p:cTn id="132" presetID="10" presetClass="exit" presetSubtype="0" fill="hold" grpId="4" nodeType="withEffect">
                                      <p:stCondLst>
                                        <p:cond delay="0"/>
                                      </p:stCondLst>
                                      <p:childTnLst>
                                        <p:animEffect transition="out" filter="fade">
                                          <p:cBhvr>
                                            <p:cTn id="133" dur="500"/>
                                            <p:tgtEl>
                                              <p:spTgt spid="101"/>
                                            </p:tgtEl>
                                          </p:cBhvr>
                                        </p:animEffect>
                                        <p:set>
                                          <p:cBhvr>
                                            <p:cTn id="134" dur="1" fill="hold">
                                              <p:stCondLst>
                                                <p:cond delay="499"/>
                                              </p:stCondLst>
                                            </p:cTn>
                                            <p:tgtEl>
                                              <p:spTgt spid="101"/>
                                            </p:tgtEl>
                                            <p:attrNameLst>
                                              <p:attrName>style.visibility</p:attrName>
                                            </p:attrNameLst>
                                          </p:cBhvr>
                                          <p:to>
                                            <p:strVal val="hidden"/>
                                          </p:to>
                                        </p:set>
                                      </p:childTnLst>
                                    </p:cTn>
                                  </p:par>
                                </p:childTnLst>
                              </p:cTn>
                            </p:par>
                            <p:par>
                              <p:cTn id="135" fill="hold">
                                <p:stCondLst>
                                  <p:cond delay="1250"/>
                                </p:stCondLst>
                                <p:childTnLst>
                                  <p:par>
                                    <p:cTn id="136" presetID="1" presetClass="exit" presetSubtype="0" fill="hold" grpId="1" nodeType="afterEffect">
                                      <p:stCondLst>
                                        <p:cond delay="0"/>
                                      </p:stCondLst>
                                      <p:childTnLst>
                                        <p:set>
                                          <p:cBhvr>
                                            <p:cTn id="137" dur="1" fill="hold">
                                              <p:stCondLst>
                                                <p:cond delay="0"/>
                                              </p:stCondLst>
                                            </p:cTn>
                                            <p:tgtEl>
                                              <p:spTgt spid="125"/>
                                            </p:tgtEl>
                                            <p:attrNameLst>
                                              <p:attrName>style.visibility</p:attrName>
                                            </p:attrNameLst>
                                          </p:cBhvr>
                                          <p:to>
                                            <p:strVal val="hidden"/>
                                          </p:to>
                                        </p:set>
                                      </p:childTnLst>
                                    </p:cTn>
                                  </p:par>
                                </p:childTnLst>
                              </p:cTn>
                            </p:par>
                            <p:par>
                              <p:cTn id="138" fill="hold">
                                <p:stCondLst>
                                  <p:cond delay="1250"/>
                                </p:stCondLst>
                                <p:childTnLst>
                                  <p:par>
                                    <p:cTn id="139" presetID="10" presetClass="entr" presetSubtype="0" fill="hold" nodeType="afterEffect">
                                      <p:stCondLst>
                                        <p:cond delay="0"/>
                                      </p:stCondLst>
                                      <p:childTnLst>
                                        <p:set>
                                          <p:cBhvr>
                                            <p:cTn id="140" dur="1" fill="hold">
                                              <p:stCondLst>
                                                <p:cond delay="0"/>
                                              </p:stCondLst>
                                            </p:cTn>
                                            <p:tgtEl>
                                              <p:spTgt spid="145">
                                                <p:txEl>
                                                  <p:pRg st="0" end="0"/>
                                                </p:txEl>
                                              </p:spTgt>
                                            </p:tgtEl>
                                            <p:attrNameLst>
                                              <p:attrName>style.visibility</p:attrName>
                                            </p:attrNameLst>
                                          </p:cBhvr>
                                          <p:to>
                                            <p:strVal val="visible"/>
                                          </p:to>
                                        </p:set>
                                        <p:animEffect transition="in" filter="fade">
                                          <p:cBhvr>
                                            <p:cTn id="141" dur="500"/>
                                            <p:tgtEl>
                                              <p:spTgt spid="145">
                                                <p:txEl>
                                                  <p:pRg st="0" end="0"/>
                                                </p:txEl>
                                              </p:spTgt>
                                            </p:tgtEl>
                                          </p:cBhvr>
                                        </p:animEffect>
                                      </p:childTnLst>
                                    </p:cTn>
                                  </p:par>
                                  <p:par>
                                    <p:cTn id="142" presetID="10" presetClass="entr" presetSubtype="0" fill="hold" nodeType="withEffect">
                                      <p:stCondLst>
                                        <p:cond delay="0"/>
                                      </p:stCondLst>
                                      <p:childTnLst>
                                        <p:set>
                                          <p:cBhvr>
                                            <p:cTn id="143" dur="1" fill="hold">
                                              <p:stCondLst>
                                                <p:cond delay="0"/>
                                              </p:stCondLst>
                                            </p:cTn>
                                            <p:tgtEl>
                                              <p:spTgt spid="145">
                                                <p:txEl>
                                                  <p:pRg st="2" end="2"/>
                                                </p:txEl>
                                              </p:spTgt>
                                            </p:tgtEl>
                                            <p:attrNameLst>
                                              <p:attrName>style.visibility</p:attrName>
                                            </p:attrNameLst>
                                          </p:cBhvr>
                                          <p:to>
                                            <p:strVal val="visible"/>
                                          </p:to>
                                        </p:set>
                                        <p:animEffect transition="in" filter="fade">
                                          <p:cBhvr>
                                            <p:cTn id="144" dur="500"/>
                                            <p:tgtEl>
                                              <p:spTgt spid="145">
                                                <p:txEl>
                                                  <p:pRg st="2" end="2"/>
                                                </p:txEl>
                                              </p:spTgt>
                                            </p:tgtEl>
                                          </p:cBhvr>
                                        </p:animEffect>
                                      </p:childTnLst>
                                    </p:cTn>
                                  </p:par>
                                  <p:par>
                                    <p:cTn id="145" presetID="10" presetClass="entr" presetSubtype="0" fill="hold" nodeType="withEffect">
                                      <p:stCondLst>
                                        <p:cond delay="0"/>
                                      </p:stCondLst>
                                      <p:childTnLst>
                                        <p:set>
                                          <p:cBhvr>
                                            <p:cTn id="146" dur="1" fill="hold">
                                              <p:stCondLst>
                                                <p:cond delay="0"/>
                                              </p:stCondLst>
                                            </p:cTn>
                                            <p:tgtEl>
                                              <p:spTgt spid="145">
                                                <p:txEl>
                                                  <p:pRg st="3" end="3"/>
                                                </p:txEl>
                                              </p:spTgt>
                                            </p:tgtEl>
                                            <p:attrNameLst>
                                              <p:attrName>style.visibility</p:attrName>
                                            </p:attrNameLst>
                                          </p:cBhvr>
                                          <p:to>
                                            <p:strVal val="visible"/>
                                          </p:to>
                                        </p:set>
                                        <p:animEffect transition="in" filter="fade">
                                          <p:cBhvr>
                                            <p:cTn id="147" dur="500"/>
                                            <p:tgtEl>
                                              <p:spTgt spid="145">
                                                <p:txEl>
                                                  <p:pRg st="3" end="3"/>
                                                </p:txEl>
                                              </p:spTgt>
                                            </p:tgtEl>
                                          </p:cBhvr>
                                        </p:animEffect>
                                      </p:childTnLst>
                                    </p:cTn>
                                  </p:par>
                                </p:childTnLst>
                              </p:cTn>
                            </p:par>
                          </p:childTnLst>
                        </p:cTn>
                      </p:par>
                      <p:par>
                        <p:cTn id="148" fill="hold">
                          <p:stCondLst>
                            <p:cond delay="indefinite"/>
                          </p:stCondLst>
                          <p:childTnLst>
                            <p:par>
                              <p:cTn id="149" fill="hold">
                                <p:stCondLst>
                                  <p:cond delay="0"/>
                                </p:stCondLst>
                                <p:childTnLst>
                                  <p:par>
                                    <p:cTn id="150" presetID="10" presetClass="exit" presetSubtype="0" fill="hold" grpId="0" nodeType="clickEffect">
                                      <p:stCondLst>
                                        <p:cond delay="0"/>
                                      </p:stCondLst>
                                      <p:childTnLst>
                                        <p:animEffect transition="out" filter="fade">
                                          <p:cBhvr>
                                            <p:cTn id="151" dur="500"/>
                                            <p:tgtEl>
                                              <p:spTgt spid="145">
                                                <p:txEl>
                                                  <p:pRg st="0" end="0"/>
                                                </p:txEl>
                                              </p:spTgt>
                                            </p:tgtEl>
                                          </p:cBhvr>
                                        </p:animEffect>
                                        <p:set>
                                          <p:cBhvr>
                                            <p:cTn id="152" dur="1" fill="hold">
                                              <p:stCondLst>
                                                <p:cond delay="499"/>
                                              </p:stCondLst>
                                            </p:cTn>
                                            <p:tgtEl>
                                              <p:spTgt spid="145">
                                                <p:txEl>
                                                  <p:pRg st="0" end="0"/>
                                                </p:txEl>
                                              </p:spTgt>
                                            </p:tgtEl>
                                            <p:attrNameLst>
                                              <p:attrName>style.visibility</p:attrName>
                                            </p:attrNameLst>
                                          </p:cBhvr>
                                          <p:to>
                                            <p:strVal val="hidden"/>
                                          </p:to>
                                        </p:set>
                                      </p:childTnLst>
                                    </p:cTn>
                                  </p:par>
                                  <p:par>
                                    <p:cTn id="153" presetID="10" presetClass="exit" presetSubtype="0" fill="hold" grpId="0" nodeType="withEffect">
                                      <p:stCondLst>
                                        <p:cond delay="0"/>
                                      </p:stCondLst>
                                      <p:childTnLst>
                                        <p:animEffect transition="out" filter="fade">
                                          <p:cBhvr>
                                            <p:cTn id="154" dur="500"/>
                                            <p:tgtEl>
                                              <p:spTgt spid="145">
                                                <p:txEl>
                                                  <p:pRg st="2" end="2"/>
                                                </p:txEl>
                                              </p:spTgt>
                                            </p:tgtEl>
                                          </p:cBhvr>
                                        </p:animEffect>
                                        <p:set>
                                          <p:cBhvr>
                                            <p:cTn id="155" dur="1" fill="hold">
                                              <p:stCondLst>
                                                <p:cond delay="499"/>
                                              </p:stCondLst>
                                            </p:cTn>
                                            <p:tgtEl>
                                              <p:spTgt spid="145">
                                                <p:txEl>
                                                  <p:pRg st="2" end="2"/>
                                                </p:txEl>
                                              </p:spTgt>
                                            </p:tgtEl>
                                            <p:attrNameLst>
                                              <p:attrName>style.visibility</p:attrName>
                                            </p:attrNameLst>
                                          </p:cBhvr>
                                          <p:to>
                                            <p:strVal val="hidden"/>
                                          </p:to>
                                        </p:set>
                                      </p:childTnLst>
                                    </p:cTn>
                                  </p:par>
                                  <p:par>
                                    <p:cTn id="156" presetID="10" presetClass="exit" presetSubtype="0" fill="hold" grpId="0" nodeType="withEffect">
                                      <p:stCondLst>
                                        <p:cond delay="0"/>
                                      </p:stCondLst>
                                      <p:childTnLst>
                                        <p:animEffect transition="out" filter="fade">
                                          <p:cBhvr>
                                            <p:cTn id="157" dur="500"/>
                                            <p:tgtEl>
                                              <p:spTgt spid="145">
                                                <p:txEl>
                                                  <p:pRg st="3" end="3"/>
                                                </p:txEl>
                                              </p:spTgt>
                                            </p:tgtEl>
                                          </p:cBhvr>
                                        </p:animEffect>
                                        <p:set>
                                          <p:cBhvr>
                                            <p:cTn id="158" dur="1" fill="hold">
                                              <p:stCondLst>
                                                <p:cond delay="499"/>
                                              </p:stCondLst>
                                            </p:cTn>
                                            <p:tgtEl>
                                              <p:spTgt spid="145">
                                                <p:txEl>
                                                  <p:pRg st="3" end="3"/>
                                                </p:txEl>
                                              </p:spTgt>
                                            </p:tgtEl>
                                            <p:attrNameLst>
                                              <p:attrName>style.visibility</p:attrName>
                                            </p:attrNameLst>
                                          </p:cBhvr>
                                          <p:to>
                                            <p:strVal val="hidden"/>
                                          </p:to>
                                        </p:set>
                                      </p:childTnLst>
                                    </p:cTn>
                                  </p:par>
                                  <p:par>
                                    <p:cTn id="159" presetID="10" presetClass="exit" presetSubtype="0" fill="hold" nodeType="withEffect">
                                      <p:stCondLst>
                                        <p:cond delay="0"/>
                                      </p:stCondLst>
                                      <p:childTnLst>
                                        <p:animEffect transition="out" filter="fade">
                                          <p:cBhvr>
                                            <p:cTn id="160" dur="500"/>
                                            <p:tgtEl>
                                              <p:spTgt spid="127"/>
                                            </p:tgtEl>
                                          </p:cBhvr>
                                        </p:animEffect>
                                        <p:set>
                                          <p:cBhvr>
                                            <p:cTn id="161" dur="1" fill="hold">
                                              <p:stCondLst>
                                                <p:cond delay="499"/>
                                              </p:stCondLst>
                                            </p:cTn>
                                            <p:tgtEl>
                                              <p:spTgt spid="127"/>
                                            </p:tgtEl>
                                            <p:attrNameLst>
                                              <p:attrName>style.visibility</p:attrName>
                                            </p:attrNameLst>
                                          </p:cBhvr>
                                          <p:to>
                                            <p:strVal val="hidden"/>
                                          </p:to>
                                        </p:set>
                                      </p:childTnLst>
                                    </p:cTn>
                                  </p:par>
                                </p:childTnLst>
                              </p:cTn>
                            </p:par>
                            <p:par>
                              <p:cTn id="162" fill="hold">
                                <p:stCondLst>
                                  <p:cond delay="500"/>
                                </p:stCondLst>
                                <p:childTnLst>
                                  <p:par>
                                    <p:cTn id="163" presetID="10" presetClass="entr" presetSubtype="0" fill="hold" grpId="0" nodeType="afterEffect">
                                      <p:stCondLst>
                                        <p:cond delay="0"/>
                                      </p:stCondLst>
                                      <p:childTnLst>
                                        <p:set>
                                          <p:cBhvr>
                                            <p:cTn id="164" dur="1" fill="hold">
                                              <p:stCondLst>
                                                <p:cond delay="0"/>
                                              </p:stCondLst>
                                            </p:cTn>
                                            <p:tgtEl>
                                              <p:spTgt spid="123"/>
                                            </p:tgtEl>
                                            <p:attrNameLst>
                                              <p:attrName>style.visibility</p:attrName>
                                            </p:attrNameLst>
                                          </p:cBhvr>
                                          <p:to>
                                            <p:strVal val="visible"/>
                                          </p:to>
                                        </p:set>
                                        <p:animEffect transition="in" filter="fade">
                                          <p:cBhvr>
                                            <p:cTn id="165" dur="500"/>
                                            <p:tgtEl>
                                              <p:spTgt spid="123"/>
                                            </p:tgtEl>
                                          </p:cBhvr>
                                        </p:animEffect>
                                      </p:childTnLst>
                                    </p:cTn>
                                  </p:par>
                                </p:childTnLst>
                              </p:cTn>
                            </p:par>
                            <p:par>
                              <p:cTn id="166" fill="hold">
                                <p:stCondLst>
                                  <p:cond delay="1000"/>
                                </p:stCondLst>
                                <p:childTnLst>
                                  <p:par>
                                    <p:cTn id="167" presetID="10" presetClass="entr" presetSubtype="0" fill="hold" nodeType="afterEffect">
                                      <p:stCondLst>
                                        <p:cond delay="0"/>
                                      </p:stCondLst>
                                      <p:childTnLst>
                                        <p:set>
                                          <p:cBhvr>
                                            <p:cTn id="168" dur="1" fill="hold">
                                              <p:stCondLst>
                                                <p:cond delay="0"/>
                                              </p:stCondLst>
                                            </p:cTn>
                                            <p:tgtEl>
                                              <p:spTgt spid="126">
                                                <p:txEl>
                                                  <p:pRg st="0" end="0"/>
                                                </p:txEl>
                                              </p:spTgt>
                                            </p:tgtEl>
                                            <p:attrNameLst>
                                              <p:attrName>style.visibility</p:attrName>
                                            </p:attrNameLst>
                                          </p:cBhvr>
                                          <p:to>
                                            <p:strVal val="visible"/>
                                          </p:to>
                                        </p:set>
                                        <p:animEffect transition="in" filter="fade">
                                          <p:cBhvr>
                                            <p:cTn id="169" dur="500"/>
                                            <p:tgtEl>
                                              <p:spTgt spid="126">
                                                <p:txEl>
                                                  <p:pRg st="0" end="0"/>
                                                </p:txEl>
                                              </p:spTgt>
                                            </p:tgtEl>
                                          </p:cBhvr>
                                        </p:animEffect>
                                      </p:childTnLst>
                                    </p:cTn>
                                  </p:par>
                                </p:childTnLst>
                              </p:cTn>
                            </p:par>
                            <p:par>
                              <p:cTn id="170" fill="hold">
                                <p:stCondLst>
                                  <p:cond delay="1500"/>
                                </p:stCondLst>
                                <p:childTnLst>
                                  <p:par>
                                    <p:cTn id="171" presetID="6" presetClass="emph" presetSubtype="0" repeatCount="2000" autoRev="1" fill="remove" nodeType="afterEffect">
                                      <p:stCondLst>
                                        <p:cond delay="500"/>
                                      </p:stCondLst>
                                      <p:childTnLst>
                                        <p:animScale>
                                          <p:cBhvr>
                                            <p:cTn id="172" dur="350" fill="hold"/>
                                            <p:tgtEl>
                                              <p:spTgt spid="8"/>
                                            </p:tgtEl>
                                          </p:cBhvr>
                                          <p:by x="150000" y="150000"/>
                                        </p:animScale>
                                      </p:childTnLst>
                                    </p:cTn>
                                  </p:par>
                                </p:childTnLst>
                              </p:cTn>
                            </p:par>
                            <p:par>
                              <p:cTn id="173" fill="hold">
                                <p:stCondLst>
                                  <p:cond delay="3400"/>
                                </p:stCondLst>
                                <p:childTnLst>
                                  <p:par>
                                    <p:cTn id="174" presetID="53" presetClass="exit" presetSubtype="32" fill="hold" nodeType="afterEffect">
                                      <p:stCondLst>
                                        <p:cond delay="0"/>
                                      </p:stCondLst>
                                      <p:childTnLst>
                                        <p:anim calcmode="lin" valueType="num">
                                          <p:cBhvr>
                                            <p:cTn id="175" dur="500"/>
                                            <p:tgtEl>
                                              <p:spTgt spid="8"/>
                                            </p:tgtEl>
                                            <p:attrNameLst>
                                              <p:attrName>ppt_w</p:attrName>
                                            </p:attrNameLst>
                                          </p:cBhvr>
                                          <p:tavLst>
                                            <p:tav tm="0">
                                              <p:val>
                                                <p:strVal val="ppt_w"/>
                                              </p:val>
                                            </p:tav>
                                            <p:tav tm="100000">
                                              <p:val>
                                                <p:fltVal val="0"/>
                                              </p:val>
                                            </p:tav>
                                          </p:tavLst>
                                        </p:anim>
                                        <p:anim calcmode="lin" valueType="num">
                                          <p:cBhvr>
                                            <p:cTn id="176" dur="500"/>
                                            <p:tgtEl>
                                              <p:spTgt spid="8"/>
                                            </p:tgtEl>
                                            <p:attrNameLst>
                                              <p:attrName>ppt_h</p:attrName>
                                            </p:attrNameLst>
                                          </p:cBhvr>
                                          <p:tavLst>
                                            <p:tav tm="0">
                                              <p:val>
                                                <p:strVal val="ppt_h"/>
                                              </p:val>
                                            </p:tav>
                                            <p:tav tm="100000">
                                              <p:val>
                                                <p:fltVal val="0"/>
                                              </p:val>
                                            </p:tav>
                                          </p:tavLst>
                                        </p:anim>
                                        <p:animEffect transition="out" filter="fade">
                                          <p:cBhvr>
                                            <p:cTn id="177" dur="500"/>
                                            <p:tgtEl>
                                              <p:spTgt spid="8"/>
                                            </p:tgtEl>
                                          </p:cBhvr>
                                        </p:animEffect>
                                        <p:set>
                                          <p:cBhvr>
                                            <p:cTn id="178" dur="1" fill="hold">
                                              <p:stCondLst>
                                                <p:cond delay="499"/>
                                              </p:stCondLst>
                                            </p:cTn>
                                            <p:tgtEl>
                                              <p:spTgt spid="8"/>
                                            </p:tgtEl>
                                            <p:attrNameLst>
                                              <p:attrName>style.visibility</p:attrName>
                                            </p:attrNameLst>
                                          </p:cBhvr>
                                          <p:to>
                                            <p:strVal val="hidden"/>
                                          </p:to>
                                        </p:set>
                                      </p:childTnLst>
                                    </p:cTn>
                                  </p:par>
                                </p:childTnLst>
                              </p:cTn>
                            </p:par>
                          </p:childTnLst>
                        </p:cTn>
                      </p:par>
                      <p:par>
                        <p:cTn id="179" fill="hold">
                          <p:stCondLst>
                            <p:cond delay="indefinite"/>
                          </p:stCondLst>
                          <p:childTnLst>
                            <p:par>
                              <p:cTn id="180" fill="hold">
                                <p:stCondLst>
                                  <p:cond delay="0"/>
                                </p:stCondLst>
                                <p:childTnLst>
                                  <p:par>
                                    <p:cTn id="181" presetID="10" presetClass="entr" presetSubtype="0" fill="hold" nodeType="clickEffect">
                                      <p:stCondLst>
                                        <p:cond delay="0"/>
                                      </p:stCondLst>
                                      <p:childTnLst>
                                        <p:set>
                                          <p:cBhvr>
                                            <p:cTn id="182" dur="1" fill="hold">
                                              <p:stCondLst>
                                                <p:cond delay="0"/>
                                              </p:stCondLst>
                                            </p:cTn>
                                            <p:tgtEl>
                                              <p:spTgt spid="126">
                                                <p:txEl>
                                                  <p:pRg st="2" end="2"/>
                                                </p:txEl>
                                              </p:spTgt>
                                            </p:tgtEl>
                                            <p:attrNameLst>
                                              <p:attrName>style.visibility</p:attrName>
                                            </p:attrNameLst>
                                          </p:cBhvr>
                                          <p:to>
                                            <p:strVal val="visible"/>
                                          </p:to>
                                        </p:set>
                                        <p:animEffect transition="in" filter="fade">
                                          <p:cBhvr>
                                            <p:cTn id="183" dur="500"/>
                                            <p:tgtEl>
                                              <p:spTgt spid="126">
                                                <p:txEl>
                                                  <p:pRg st="2" end="2"/>
                                                </p:txEl>
                                              </p:spTgt>
                                            </p:tgtEl>
                                          </p:cBhvr>
                                        </p:animEffect>
                                      </p:childTnLst>
                                    </p:cTn>
                                  </p:par>
                                  <p:par>
                                    <p:cTn id="184" presetID="10" presetClass="entr" presetSubtype="0" fill="hold" nodeType="withEffect">
                                      <p:stCondLst>
                                        <p:cond delay="0"/>
                                      </p:stCondLst>
                                      <p:childTnLst>
                                        <p:set>
                                          <p:cBhvr>
                                            <p:cTn id="185" dur="1" fill="hold">
                                              <p:stCondLst>
                                                <p:cond delay="0"/>
                                              </p:stCondLst>
                                            </p:cTn>
                                            <p:tgtEl>
                                              <p:spTgt spid="126">
                                                <p:txEl>
                                                  <p:pRg st="3" end="3"/>
                                                </p:txEl>
                                              </p:spTgt>
                                            </p:tgtEl>
                                            <p:attrNameLst>
                                              <p:attrName>style.visibility</p:attrName>
                                            </p:attrNameLst>
                                          </p:cBhvr>
                                          <p:to>
                                            <p:strVal val="visible"/>
                                          </p:to>
                                        </p:set>
                                        <p:animEffect transition="in" filter="fade">
                                          <p:cBhvr>
                                            <p:cTn id="186" dur="500"/>
                                            <p:tgtEl>
                                              <p:spTgt spid="126">
                                                <p:txEl>
                                                  <p:pRg st="3" end="3"/>
                                                </p:txEl>
                                              </p:spTgt>
                                            </p:tgtEl>
                                          </p:cBhvr>
                                        </p:animEffect>
                                      </p:childTnLst>
                                    </p:cTn>
                                  </p:par>
                                </p:childTnLst>
                              </p:cTn>
                            </p:par>
                            <p:par>
                              <p:cTn id="187" fill="hold">
                                <p:stCondLst>
                                  <p:cond delay="500"/>
                                </p:stCondLst>
                                <p:childTnLst>
                                  <p:par>
                                    <p:cTn id="188" presetID="22" presetClass="entr" presetSubtype="1" fill="hold" nodeType="afterEffect">
                                      <p:stCondLst>
                                        <p:cond delay="0"/>
                                      </p:stCondLst>
                                      <p:childTnLst>
                                        <p:set>
                                          <p:cBhvr>
                                            <p:cTn id="189" dur="1" fill="hold">
                                              <p:stCondLst>
                                                <p:cond delay="0"/>
                                              </p:stCondLst>
                                            </p:cTn>
                                            <p:tgtEl>
                                              <p:spTgt spid="88"/>
                                            </p:tgtEl>
                                            <p:attrNameLst>
                                              <p:attrName>style.visibility</p:attrName>
                                            </p:attrNameLst>
                                          </p:cBhvr>
                                          <p:to>
                                            <p:strVal val="visible"/>
                                          </p:to>
                                        </p:set>
                                        <p:animEffect transition="in" filter="wipe(up)">
                                          <p:cBhvr>
                                            <p:cTn id="190" dur="1000"/>
                                            <p:tgtEl>
                                              <p:spTgt spid="88"/>
                                            </p:tgtEl>
                                          </p:cBhvr>
                                        </p:animEffect>
                                      </p:childTnLst>
                                    </p:cTn>
                                  </p:par>
                                  <p:par>
                                    <p:cTn id="191" presetID="22" presetClass="entr" presetSubtype="1" fill="hold" nodeType="withEffect">
                                      <p:stCondLst>
                                        <p:cond delay="0"/>
                                      </p:stCondLst>
                                      <p:childTnLst>
                                        <p:set>
                                          <p:cBhvr>
                                            <p:cTn id="192" dur="1" fill="hold">
                                              <p:stCondLst>
                                                <p:cond delay="0"/>
                                              </p:stCondLst>
                                            </p:cTn>
                                            <p:tgtEl>
                                              <p:spTgt spid="105"/>
                                            </p:tgtEl>
                                            <p:attrNameLst>
                                              <p:attrName>style.visibility</p:attrName>
                                            </p:attrNameLst>
                                          </p:cBhvr>
                                          <p:to>
                                            <p:strVal val="visible"/>
                                          </p:to>
                                        </p:set>
                                        <p:animEffect transition="in" filter="wipe(up)">
                                          <p:cBhvr>
                                            <p:cTn id="193" dur="1000"/>
                                            <p:tgtEl>
                                              <p:spTgt spid="105"/>
                                            </p:tgtEl>
                                          </p:cBhvr>
                                        </p:animEffect>
                                      </p:childTnLst>
                                    </p:cTn>
                                  </p:par>
                                </p:childTnLst>
                              </p:cTn>
                            </p:par>
                            <p:par>
                              <p:cTn id="194" fill="hold">
                                <p:stCondLst>
                                  <p:cond delay="1500"/>
                                </p:stCondLst>
                                <p:childTnLst>
                                  <p:par>
                                    <p:cTn id="195" presetID="22" presetClass="entr" presetSubtype="1" fill="hold" nodeType="afterEffect">
                                      <p:stCondLst>
                                        <p:cond delay="0"/>
                                      </p:stCondLst>
                                      <p:childTnLst>
                                        <p:set>
                                          <p:cBhvr>
                                            <p:cTn id="196" dur="1" fill="hold">
                                              <p:stCondLst>
                                                <p:cond delay="0"/>
                                              </p:stCondLst>
                                            </p:cTn>
                                            <p:tgtEl>
                                              <p:spTgt spid="108"/>
                                            </p:tgtEl>
                                            <p:attrNameLst>
                                              <p:attrName>style.visibility</p:attrName>
                                            </p:attrNameLst>
                                          </p:cBhvr>
                                          <p:to>
                                            <p:strVal val="visible"/>
                                          </p:to>
                                        </p:set>
                                        <p:animEffect transition="in" filter="wipe(up)">
                                          <p:cBhvr>
                                            <p:cTn id="197" dur="10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 grpId="0"/>
          <p:bldP spid="31" grpId="0" animBg="1"/>
          <p:bldP spid="87" grpId="0" animBg="1"/>
          <p:bldP spid="42" grpId="0" animBg="1"/>
          <p:bldP spid="91" grpId="0" animBg="1"/>
          <p:bldP spid="86" grpId="0" animBg="1"/>
          <p:bldP spid="92" grpId="0" animBg="1"/>
          <p:bldP spid="92" grpId="1" animBg="1"/>
          <p:bldP spid="92" grpId="2" animBg="1"/>
          <p:bldP spid="92" grpId="3" animBg="1"/>
          <p:bldP spid="92" grpId="4" animBg="1"/>
          <p:bldP spid="101" grpId="0" animBg="1"/>
          <p:bldP spid="101" grpId="1" animBg="1"/>
          <p:bldP spid="101" grpId="2" animBg="1"/>
          <p:bldP spid="101" grpId="3" animBg="1"/>
          <p:bldP spid="101" grpId="4" animBg="1"/>
          <p:bldP spid="103" grpId="0" animBg="1"/>
          <p:bldP spid="103" grpId="1" animBg="1"/>
          <p:bldP spid="104" grpId="0" animBg="1"/>
          <p:bldP spid="104" grpId="1" animBg="1"/>
          <p:bldP spid="117" grpId="0" animBg="1"/>
          <p:bldP spid="117" grpId="1" animBg="1"/>
          <p:bldP spid="117" grpId="2" animBg="1"/>
          <p:bldP spid="9" grpId="0" animBg="1"/>
          <p:bldP spid="9" grpId="1" animBg="1"/>
          <p:bldP spid="120" grpId="0" animBg="1"/>
          <p:bldP spid="120" grpId="1" animBg="1"/>
          <p:bldP spid="121" grpId="0" animBg="1"/>
          <p:bldP spid="121" grpId="1" animBg="1"/>
          <p:bldP spid="124" grpId="0" animBg="1"/>
          <p:bldP spid="124" grpId="1" animBg="1"/>
          <p:bldP spid="125" grpId="0" animBg="1"/>
          <p:bldP spid="125" grpId="1" animBg="1"/>
          <p:bldP spid="145" grpId="0" build="allAtOnce"/>
          <p:bldP spid="3" grpId="0" animBg="1"/>
          <p:bldP spid="3" grpId="1" animBg="1"/>
          <p:bldP spid="111" grpId="0" animBg="1"/>
          <p:bldP spid="111" grpId="1"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27"/>
                                            </p:tgtEl>
                                            <p:attrNameLst>
                                              <p:attrName>style.visibility</p:attrName>
                                            </p:attrNameLst>
                                          </p:cBhvr>
                                          <p:to>
                                            <p:strVal val="visible"/>
                                          </p:to>
                                        </p:set>
                                        <p:animEffect transition="in" filter="fade">
                                          <p:cBhvr>
                                            <p:cTn id="7" dur="500"/>
                                            <p:tgtEl>
                                              <p:spTgt spid="127"/>
                                            </p:tgtEl>
                                          </p:cBhvr>
                                        </p:animEffect>
                                      </p:childTnLst>
                                    </p:cTn>
                                  </p:par>
                                </p:childTnLst>
                              </p:cTn>
                            </p:par>
                            <p:par>
                              <p:cTn id="8" fill="hold">
                                <p:stCondLst>
                                  <p:cond delay="500"/>
                                </p:stCondLst>
                                <p:childTnLst>
                                  <p:par>
                                    <p:cTn id="9" presetID="10" presetClass="exit" presetSubtype="0" fill="hold" grpId="0" nodeType="afterEffect">
                                      <p:stCondLst>
                                        <p:cond delay="0"/>
                                      </p:stCondLst>
                                      <p:childTnLst>
                                        <p:animEffect transition="out" filter="fade">
                                          <p:cBhvr>
                                            <p:cTn id="10" dur="500"/>
                                            <p:tgtEl>
                                              <p:spTgt spid="31"/>
                                            </p:tgtEl>
                                          </p:cBhvr>
                                        </p:animEffect>
                                        <p:set>
                                          <p:cBhvr>
                                            <p:cTn id="11" dur="1" fill="hold">
                                              <p:stCondLst>
                                                <p:cond delay="499"/>
                                              </p:stCondLst>
                                            </p:cTn>
                                            <p:tgtEl>
                                              <p:spTgt spid="31"/>
                                            </p:tgtEl>
                                            <p:attrNameLst>
                                              <p:attrName>style.visibility</p:attrName>
                                            </p:attrNameLst>
                                          </p:cBhvr>
                                          <p:to>
                                            <p:strVal val="hidden"/>
                                          </p:to>
                                        </p:set>
                                      </p:childTnLst>
                                    </p:cTn>
                                  </p:par>
                                  <p:par>
                                    <p:cTn id="12" presetID="10" presetClass="exit" presetSubtype="0" fill="hold" grpId="0" nodeType="withEffect">
                                      <p:stCondLst>
                                        <p:cond delay="0"/>
                                      </p:stCondLst>
                                      <p:childTnLst>
                                        <p:animEffect transition="out" filter="fade">
                                          <p:cBhvr>
                                            <p:cTn id="13" dur="500"/>
                                            <p:tgtEl>
                                              <p:spTgt spid="87"/>
                                            </p:tgtEl>
                                          </p:cBhvr>
                                        </p:animEffect>
                                        <p:set>
                                          <p:cBhvr>
                                            <p:cTn id="14" dur="1" fill="hold">
                                              <p:stCondLst>
                                                <p:cond delay="499"/>
                                              </p:stCondLst>
                                            </p:cTn>
                                            <p:tgtEl>
                                              <p:spTgt spid="87"/>
                                            </p:tgtEl>
                                            <p:attrNameLst>
                                              <p:attrName>style.visibility</p:attrName>
                                            </p:attrNameLst>
                                          </p:cBhvr>
                                          <p:to>
                                            <p:strVal val="hidden"/>
                                          </p:to>
                                        </p:set>
                                      </p:childTnLst>
                                    </p:cTn>
                                  </p:par>
                                  <p:par>
                                    <p:cTn id="15" presetID="10" presetClass="entr" presetSubtype="0" fill="hold" grpId="0" nodeType="withEffect">
                                      <p:stCondLst>
                                        <p:cond delay="0"/>
                                      </p:stCondLst>
                                      <p:childTnLst>
                                        <p:set>
                                          <p:cBhvr>
                                            <p:cTn id="16" dur="1" fill="hold">
                                              <p:stCondLst>
                                                <p:cond delay="0"/>
                                              </p:stCondLst>
                                            </p:cTn>
                                            <p:tgtEl>
                                              <p:spTgt spid="86"/>
                                            </p:tgtEl>
                                            <p:attrNameLst>
                                              <p:attrName>style.visibility</p:attrName>
                                            </p:attrNameLst>
                                          </p:cBhvr>
                                          <p:to>
                                            <p:strVal val="visible"/>
                                          </p:to>
                                        </p:set>
                                        <p:animEffect transition="in" filter="fade">
                                          <p:cBhvr>
                                            <p:cTn id="17" dur="500"/>
                                            <p:tgtEl>
                                              <p:spTgt spid="8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42"/>
                                            </p:tgtEl>
                                            <p:attrNameLst>
                                              <p:attrName>style.visibility</p:attrName>
                                            </p:attrNameLst>
                                          </p:cBhvr>
                                          <p:to>
                                            <p:strVal val="visible"/>
                                          </p:to>
                                        </p:set>
                                        <p:animEffect transition="in" filter="fade">
                                          <p:cBhvr>
                                            <p:cTn id="20" dur="500"/>
                                            <p:tgtEl>
                                              <p:spTgt spid="4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1"/>
                                            </p:tgtEl>
                                            <p:attrNameLst>
                                              <p:attrName>style.visibility</p:attrName>
                                            </p:attrNameLst>
                                          </p:cBhvr>
                                          <p:to>
                                            <p:strVal val="visible"/>
                                          </p:to>
                                        </p:set>
                                        <p:animEffect transition="in" filter="fade">
                                          <p:cBhvr>
                                            <p:cTn id="23" dur="500"/>
                                            <p:tgtEl>
                                              <p:spTgt spid="91"/>
                                            </p:tgtEl>
                                          </p:cBhvr>
                                        </p:animEffect>
                                      </p:childTnLst>
                                    </p:cTn>
                                  </p:par>
                                  <p:par>
                                    <p:cTn id="24" presetID="7" presetClass="emph" presetSubtype="2" fill="hold" nodeType="withEffect">
                                      <p:stCondLst>
                                        <p:cond delay="0"/>
                                      </p:stCondLst>
                                      <p:childTnLst>
                                        <p:animClr clrSpc="rgb" dir="cw">
                                          <p:cBhvr>
                                            <p:cTn id="25" dur="500" fill="hold"/>
                                            <p:tgtEl>
                                              <p:spTgt spid="91"/>
                                            </p:tgtEl>
                                            <p:attrNameLst>
                                              <p:attrName>stroke.color</p:attrName>
                                            </p:attrNameLst>
                                          </p:cBhvr>
                                          <p:to>
                                            <a:srgbClr val="E7E6E6"/>
                                          </p:to>
                                        </p:animClr>
                                        <p:set>
                                          <p:cBhvr>
                                            <p:cTn id="26" dur="500" fill="hold"/>
                                            <p:tgtEl>
                                              <p:spTgt spid="91"/>
                                            </p:tgtEl>
                                            <p:attrNameLst>
                                              <p:attrName>stroke.on</p:attrName>
                                            </p:attrNameLst>
                                          </p:cBhvr>
                                          <p:to>
                                            <p:strVal val="true"/>
                                          </p:to>
                                        </p:set>
                                      </p:childTnLst>
                                    </p:cTn>
                                  </p:par>
                                  <p:par>
                                    <p:cTn id="27" presetID="7" presetClass="emph" presetSubtype="2" fill="hold" nodeType="withEffect">
                                      <p:stCondLst>
                                        <p:cond delay="0"/>
                                      </p:stCondLst>
                                      <p:childTnLst>
                                        <p:animClr clrSpc="rgb" dir="cw">
                                          <p:cBhvr>
                                            <p:cTn id="28" dur="500" fill="hold"/>
                                            <p:tgtEl>
                                              <p:spTgt spid="44"/>
                                            </p:tgtEl>
                                            <p:attrNameLst>
                                              <p:attrName>stroke.color</p:attrName>
                                            </p:attrNameLst>
                                          </p:cBhvr>
                                          <p:to>
                                            <a:srgbClr val="E7E6E6"/>
                                          </p:to>
                                        </p:animClr>
                                        <p:set>
                                          <p:cBhvr>
                                            <p:cTn id="29" dur="500" fill="hold"/>
                                            <p:tgtEl>
                                              <p:spTgt spid="44"/>
                                            </p:tgtEl>
                                            <p:attrNameLst>
                                              <p:attrName>stroke.on</p:attrName>
                                            </p:attrNameLst>
                                          </p:cBhvr>
                                          <p:to>
                                            <p:strVal val="true"/>
                                          </p:to>
                                        </p:se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92"/>
                                            </p:tgtEl>
                                            <p:attrNameLst>
                                              <p:attrName>style.visibility</p:attrName>
                                            </p:attrNameLst>
                                          </p:cBhvr>
                                          <p:to>
                                            <p:strVal val="visible"/>
                                          </p:to>
                                        </p:set>
                                        <p:animEffect transition="in" filter="fade">
                                          <p:cBhvr>
                                            <p:cTn id="34" dur="500"/>
                                            <p:tgtEl>
                                              <p:spTgt spid="92"/>
                                            </p:tgtEl>
                                          </p:cBhvr>
                                        </p:animEffect>
                                      </p:childTnLst>
                                    </p:cTn>
                                  </p:par>
                                </p:childTnLst>
                              </p:cTn>
                            </p:par>
                            <p:par>
                              <p:cTn id="35" fill="hold">
                                <p:stCondLst>
                                  <p:cond delay="500"/>
                                </p:stCondLst>
                                <p:childTnLst>
                                  <p:par>
                                    <p:cTn id="36" presetID="0" presetClass="path" presetSubtype="0" fill="hold" grpId="1" nodeType="afterEffect">
                                      <p:stCondLst>
                                        <p:cond delay="0"/>
                                      </p:stCondLst>
                                      <p:childTnLst>
                                        <p:animMotion origin="layout" path="M -1.66667E-6 1.11111E-6 L 0.14827 0.00301 " pathEditMode="relative" rAng="0" ptsTypes="AA">
                                          <p:cBhvr>
                                            <p:cTn id="37" dur="1000" fill="hold"/>
                                            <p:tgtEl>
                                              <p:spTgt spid="92"/>
                                            </p:tgtEl>
                                            <p:attrNameLst>
                                              <p:attrName>ppt_x</p:attrName>
                                              <p:attrName>ppt_y</p:attrName>
                                            </p:attrNameLst>
                                          </p:cBhvr>
                                          <p:rCtr x="7413" y="139"/>
                                        </p:animMotion>
                                      </p:childTnLst>
                                    </p:cTn>
                                  </p:par>
                                </p:childTnLst>
                              </p:cTn>
                            </p:par>
                            <p:par>
                              <p:cTn id="38" fill="hold">
                                <p:stCondLst>
                                  <p:cond delay="1500"/>
                                </p:stCondLst>
                                <p:childTnLst>
                                  <p:par>
                                    <p:cTn id="39" presetID="10" presetClass="entr" presetSubtype="0" fill="hold" grpId="0" nodeType="afterEffect">
                                      <p:stCondLst>
                                        <p:cond delay="0"/>
                                      </p:stCondLst>
                                      <p:childTnLst>
                                        <p:set>
                                          <p:cBhvr>
                                            <p:cTn id="40" dur="1" fill="hold">
                                              <p:stCondLst>
                                                <p:cond delay="0"/>
                                              </p:stCondLst>
                                            </p:cTn>
                                            <p:tgtEl>
                                              <p:spTgt spid="111"/>
                                            </p:tgtEl>
                                            <p:attrNameLst>
                                              <p:attrName>style.visibility</p:attrName>
                                            </p:attrNameLst>
                                          </p:cBhvr>
                                          <p:to>
                                            <p:strVal val="visible"/>
                                          </p:to>
                                        </p:set>
                                        <p:animEffect transition="in" filter="fade">
                                          <p:cBhvr>
                                            <p:cTn id="41" dur="500"/>
                                            <p:tgtEl>
                                              <p:spTgt spid="111"/>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9"/>
                                            </p:tgtEl>
                                            <p:attrNameLst>
                                              <p:attrName>style.visibility</p:attrName>
                                            </p:attrNameLst>
                                          </p:cBhvr>
                                          <p:to>
                                            <p:strVal val="visible"/>
                                          </p:to>
                                        </p:set>
                                      </p:childTnLst>
                                    </p:cTn>
                                  </p:par>
                                  <p:par>
                                    <p:cTn id="46" presetID="14" presetClass="entr" presetSubtype="10" fill="hold" grpId="0" nodeType="withEffect">
                                      <p:stCondLst>
                                        <p:cond delay="0"/>
                                      </p:stCondLst>
                                      <p:childTnLst>
                                        <p:set>
                                          <p:cBhvr>
                                            <p:cTn id="47" dur="1" fill="hold">
                                              <p:stCondLst>
                                                <p:cond delay="0"/>
                                              </p:stCondLst>
                                            </p:cTn>
                                            <p:tgtEl>
                                              <p:spTgt spid="101"/>
                                            </p:tgtEl>
                                            <p:attrNameLst>
                                              <p:attrName>style.visibility</p:attrName>
                                            </p:attrNameLst>
                                          </p:cBhvr>
                                          <p:to>
                                            <p:strVal val="visible"/>
                                          </p:to>
                                        </p:set>
                                        <p:animEffect transition="in" filter="randombar(horizontal)">
                                          <p:cBhvr>
                                            <p:cTn id="48" dur="500"/>
                                            <p:tgtEl>
                                              <p:spTgt spid="101"/>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nodeType="clickEffect">
                                      <p:stCondLst>
                                        <p:cond delay="0"/>
                                      </p:stCondLst>
                                      <p:childTnLst>
                                        <p:set>
                                          <p:cBhvr>
                                            <p:cTn id="52" dur="1" fill="hold">
                                              <p:stCondLst>
                                                <p:cond delay="0"/>
                                              </p:stCondLst>
                                            </p:cTn>
                                            <p:tgtEl>
                                              <p:spTgt spid="102"/>
                                            </p:tgtEl>
                                            <p:attrNameLst>
                                              <p:attrName>style.visibility</p:attrName>
                                            </p:attrNameLst>
                                          </p:cBhvr>
                                          <p:to>
                                            <p:strVal val="visible"/>
                                          </p:to>
                                        </p:set>
                                        <p:animEffect transition="in" filter="wipe(down)">
                                          <p:cBhvr>
                                            <p:cTn id="53" dur="500"/>
                                            <p:tgtEl>
                                              <p:spTgt spid="102"/>
                                            </p:tgtEl>
                                          </p:cBhvr>
                                        </p:animEffect>
                                      </p:childTnLst>
                                    </p:cTn>
                                  </p:par>
                                  <p:par>
                                    <p:cTn id="54" presetID="1" presetClass="entr" presetSubtype="0" fill="hold" grpId="0" nodeType="withEffect">
                                      <p:stCondLst>
                                        <p:cond delay="0"/>
                                      </p:stCondLst>
                                      <p:childTnLst>
                                        <p:set>
                                          <p:cBhvr>
                                            <p:cTn id="55" dur="1" fill="hold">
                                              <p:stCondLst>
                                                <p:cond delay="0"/>
                                              </p:stCondLst>
                                            </p:cTn>
                                            <p:tgtEl>
                                              <p:spTgt spid="120"/>
                                            </p:tgtEl>
                                            <p:attrNameLst>
                                              <p:attrName>style.visibility</p:attrName>
                                            </p:attrNameLst>
                                          </p:cBhvr>
                                          <p:to>
                                            <p:strVal val="visible"/>
                                          </p:to>
                                        </p:set>
                                      </p:childTnLst>
                                    </p:cTn>
                                  </p:par>
                                  <p:par>
                                    <p:cTn id="56" presetID="1" presetClass="exit" presetSubtype="0" fill="hold" grpId="1" nodeType="withEffect">
                                      <p:stCondLst>
                                        <p:cond delay="0"/>
                                      </p:stCondLst>
                                      <p:childTnLst>
                                        <p:set>
                                          <p:cBhvr>
                                            <p:cTn id="57" dur="1" fill="hold">
                                              <p:stCondLst>
                                                <p:cond delay="0"/>
                                              </p:stCondLst>
                                            </p:cTn>
                                            <p:tgtEl>
                                              <p:spTgt spid="9"/>
                                            </p:tgtEl>
                                            <p:attrNameLst>
                                              <p:attrName>style.visibility</p:attrName>
                                            </p:attrNameLst>
                                          </p:cBhvr>
                                          <p:to>
                                            <p:strVal val="hidden"/>
                                          </p:to>
                                        </p:set>
                                      </p:childTnLst>
                                    </p:cTn>
                                  </p:par>
                                  <p:par>
                                    <p:cTn id="58" presetID="0" presetClass="path" presetSubtype="0" fill="hold" grpId="1" nodeType="withEffect">
                                      <p:stCondLst>
                                        <p:cond delay="0"/>
                                      </p:stCondLst>
                                      <p:childTnLst>
                                        <p:animMotion origin="layout" path="M -4.16667E-6 -4.44444E-6 L 0.00018 -0.09444 " pathEditMode="relative" rAng="0" ptsTypes="AA">
                                          <p:cBhvr>
                                            <p:cTn id="59" dur="500" fill="hold"/>
                                            <p:tgtEl>
                                              <p:spTgt spid="101"/>
                                            </p:tgtEl>
                                            <p:attrNameLst>
                                              <p:attrName>ppt_x</p:attrName>
                                              <p:attrName>ppt_y</p:attrName>
                                            </p:attrNameLst>
                                          </p:cBhvr>
                                          <p:rCtr x="0" y="-4722"/>
                                        </p:animMotion>
                                      </p:childTnLst>
                                    </p:cTn>
                                  </p:par>
                                </p:childTnLst>
                              </p:cTn>
                            </p:par>
                            <p:par>
                              <p:cTn id="60" fill="hold">
                                <p:stCondLst>
                                  <p:cond delay="500"/>
                                </p:stCondLst>
                                <p:childTnLst>
                                  <p:par>
                                    <p:cTn id="61" presetID="22" presetClass="exit" presetSubtype="4" fill="hold" nodeType="afterEffect">
                                      <p:stCondLst>
                                        <p:cond delay="0"/>
                                      </p:stCondLst>
                                      <p:childTnLst>
                                        <p:animEffect transition="out" filter="wipe(down)">
                                          <p:cBhvr>
                                            <p:cTn id="62" dur="500"/>
                                            <p:tgtEl>
                                              <p:spTgt spid="102"/>
                                            </p:tgtEl>
                                          </p:cBhvr>
                                        </p:animEffect>
                                        <p:set>
                                          <p:cBhvr>
                                            <p:cTn id="63" dur="1" fill="hold">
                                              <p:stCondLst>
                                                <p:cond delay="499"/>
                                              </p:stCondLst>
                                            </p:cTn>
                                            <p:tgtEl>
                                              <p:spTgt spid="102"/>
                                            </p:tgtEl>
                                            <p:attrNameLst>
                                              <p:attrName>style.visibility</p:attrName>
                                            </p:attrNameLst>
                                          </p:cBhvr>
                                          <p:to>
                                            <p:strVal val="hidden"/>
                                          </p:to>
                                        </p:set>
                                      </p:childTnLst>
                                    </p:cTn>
                                  </p:par>
                                </p:childTnLst>
                              </p:cTn>
                            </p:par>
                          </p:childTnLst>
                        </p:cTn>
                      </p:par>
                      <p:par>
                        <p:cTn id="64" fill="hold">
                          <p:stCondLst>
                            <p:cond delay="indefinite"/>
                          </p:stCondLst>
                          <p:childTnLst>
                            <p:par>
                              <p:cTn id="65" fill="hold">
                                <p:stCondLst>
                                  <p:cond delay="0"/>
                                </p:stCondLst>
                                <p:childTnLst>
                                  <p:par>
                                    <p:cTn id="66" presetID="10" presetClass="exit" presetSubtype="0" fill="hold" grpId="1" nodeType="clickEffect">
                                      <p:stCondLst>
                                        <p:cond delay="0"/>
                                      </p:stCondLst>
                                      <p:childTnLst>
                                        <p:animEffect transition="out" filter="fade">
                                          <p:cBhvr>
                                            <p:cTn id="67" dur="500"/>
                                            <p:tgtEl>
                                              <p:spTgt spid="111"/>
                                            </p:tgtEl>
                                          </p:cBhvr>
                                        </p:animEffect>
                                        <p:set>
                                          <p:cBhvr>
                                            <p:cTn id="68" dur="1" fill="hold">
                                              <p:stCondLst>
                                                <p:cond delay="499"/>
                                              </p:stCondLst>
                                            </p:cTn>
                                            <p:tgtEl>
                                              <p:spTgt spid="111"/>
                                            </p:tgtEl>
                                            <p:attrNameLst>
                                              <p:attrName>style.visibility</p:attrName>
                                            </p:attrNameLst>
                                          </p:cBhvr>
                                          <p:to>
                                            <p:strVal val="hidden"/>
                                          </p:to>
                                        </p:set>
                                      </p:childTnLst>
                                    </p:cTn>
                                  </p:par>
                                  <p:par>
                                    <p:cTn id="69" presetID="1" presetClass="exit" presetSubtype="0" fill="hold" grpId="1" nodeType="withEffect">
                                      <p:stCondLst>
                                        <p:cond delay="0"/>
                                      </p:stCondLst>
                                      <p:childTnLst>
                                        <p:set>
                                          <p:cBhvr>
                                            <p:cTn id="70" dur="1" fill="hold">
                                              <p:stCondLst>
                                                <p:cond delay="0"/>
                                              </p:stCondLst>
                                            </p:cTn>
                                            <p:tgtEl>
                                              <p:spTgt spid="120"/>
                                            </p:tgtEl>
                                            <p:attrNameLst>
                                              <p:attrName>style.visibility</p:attrName>
                                            </p:attrNameLst>
                                          </p:cBhvr>
                                          <p:to>
                                            <p:strVal val="hidden"/>
                                          </p:to>
                                        </p:set>
                                      </p:childTnLst>
                                    </p:cTn>
                                  </p:par>
                                  <p:par>
                                    <p:cTn id="71" presetID="0" presetClass="path" presetSubtype="0" fill="hold" grpId="2" nodeType="withEffect">
                                      <p:stCondLst>
                                        <p:cond delay="0"/>
                                      </p:stCondLst>
                                      <p:childTnLst>
                                        <p:animMotion origin="layout" path="M 0.14827 0.00301 L 0.27222 0.00301 L 0.3316 0.0669 L 0.57847 0.0669 " pathEditMode="relative" rAng="0" ptsTypes="AAAA">
                                          <p:cBhvr>
                                            <p:cTn id="72" dur="1500" fill="hold"/>
                                            <p:tgtEl>
                                              <p:spTgt spid="92"/>
                                            </p:tgtEl>
                                            <p:attrNameLst>
                                              <p:attrName>ppt_x</p:attrName>
                                              <p:attrName>ppt_y</p:attrName>
                                            </p:attrNameLst>
                                          </p:cBhvr>
                                          <p:rCtr x="21510" y="3194"/>
                                        </p:animMotion>
                                      </p:childTnLst>
                                    </p:cTn>
                                  </p:par>
                                  <p:par>
                                    <p:cTn id="73" presetID="0" presetClass="path" presetSubtype="0" fill="hold" grpId="2" nodeType="withEffect">
                                      <p:stCondLst>
                                        <p:cond delay="0"/>
                                      </p:stCondLst>
                                      <p:childTnLst>
                                        <p:animMotion origin="layout" path="M -0.00329 -0.09421 L 0.11858 -0.09421 L 0.17691 -0.03194 L 0.42379 -0.03194 " pathEditMode="relative" rAng="0" ptsTypes="AAAA">
                                          <p:cBhvr>
                                            <p:cTn id="74" dur="1500" fill="hold"/>
                                            <p:tgtEl>
                                              <p:spTgt spid="101"/>
                                            </p:tgtEl>
                                            <p:attrNameLst>
                                              <p:attrName>ppt_x</p:attrName>
                                              <p:attrName>ppt_y</p:attrName>
                                            </p:attrNameLst>
                                          </p:cBhvr>
                                          <p:rCtr x="21354" y="3102"/>
                                        </p:animMotion>
                                      </p:childTnLst>
                                    </p:cTn>
                                  </p:par>
                                </p:childTnLst>
                              </p:cTn>
                            </p:par>
                            <p:par>
                              <p:cTn id="75" fill="hold">
                                <p:stCondLst>
                                  <p:cond delay="1500"/>
                                </p:stCondLst>
                                <p:childTnLst>
                                  <p:par>
                                    <p:cTn id="76" presetID="10" presetClass="entr" presetSubtype="0" fill="hold" grpId="0" nodeType="afterEffect">
                                      <p:stCondLst>
                                        <p:cond delay="0"/>
                                      </p:stCondLst>
                                      <p:childTnLst>
                                        <p:set>
                                          <p:cBhvr>
                                            <p:cTn id="77" dur="1" fill="hold">
                                              <p:stCondLst>
                                                <p:cond delay="0"/>
                                              </p:stCondLst>
                                            </p:cTn>
                                            <p:tgtEl>
                                              <p:spTgt spid="3"/>
                                            </p:tgtEl>
                                            <p:attrNameLst>
                                              <p:attrName>style.visibility</p:attrName>
                                            </p:attrNameLst>
                                          </p:cBhvr>
                                          <p:to>
                                            <p:strVal val="visible"/>
                                          </p:to>
                                        </p:set>
                                        <p:animEffect transition="in" filter="fade">
                                          <p:cBhvr>
                                            <p:cTn id="78" dur="500"/>
                                            <p:tgtEl>
                                              <p:spTgt spid="3"/>
                                            </p:tgtEl>
                                          </p:cBhvr>
                                        </p:animEffect>
                                      </p:childTnLst>
                                    </p:cTn>
                                  </p:par>
                                </p:childTnLst>
                              </p:cTn>
                            </p:par>
                          </p:childTnLst>
                        </p:cTn>
                      </p:par>
                      <p:par>
                        <p:cTn id="79" fill="hold">
                          <p:stCondLst>
                            <p:cond delay="indefinite"/>
                          </p:stCondLst>
                          <p:childTnLst>
                            <p:par>
                              <p:cTn id="80" fill="hold">
                                <p:stCondLst>
                                  <p:cond delay="0"/>
                                </p:stCondLst>
                                <p:childTnLst>
                                  <p:par>
                                    <p:cTn id="81" presetID="14" presetClass="entr" presetSubtype="10" fill="hold" grpId="0" nodeType="clickEffect">
                                      <p:stCondLst>
                                        <p:cond delay="0"/>
                                      </p:stCondLst>
                                      <p:childTnLst>
                                        <p:set>
                                          <p:cBhvr>
                                            <p:cTn id="82" dur="1" fill="hold">
                                              <p:stCondLst>
                                                <p:cond delay="0"/>
                                              </p:stCondLst>
                                            </p:cTn>
                                            <p:tgtEl>
                                              <p:spTgt spid="104"/>
                                            </p:tgtEl>
                                            <p:attrNameLst>
                                              <p:attrName>style.visibility</p:attrName>
                                            </p:attrNameLst>
                                          </p:cBhvr>
                                          <p:to>
                                            <p:strVal val="visible"/>
                                          </p:to>
                                        </p:set>
                                        <p:animEffect transition="in" filter="randombar(horizontal)">
                                          <p:cBhvr>
                                            <p:cTn id="83" dur="500"/>
                                            <p:tgtEl>
                                              <p:spTgt spid="104"/>
                                            </p:tgtEl>
                                          </p:cBhvr>
                                        </p:animEffect>
                                      </p:childTnLst>
                                    </p:cTn>
                                  </p:par>
                                  <p:par>
                                    <p:cTn id="84" presetID="1" presetClass="entr" presetSubtype="0" fill="hold" grpId="0" nodeType="withEffect">
                                      <p:stCondLst>
                                        <p:cond delay="0"/>
                                      </p:stCondLst>
                                      <p:childTnLst>
                                        <p:set>
                                          <p:cBhvr>
                                            <p:cTn id="85" dur="1" fill="hold">
                                              <p:stCondLst>
                                                <p:cond delay="0"/>
                                              </p:stCondLst>
                                            </p:cTn>
                                            <p:tgtEl>
                                              <p:spTgt spid="121"/>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grpId="0" nodeType="clickEffect">
                                      <p:stCondLst>
                                        <p:cond delay="0"/>
                                      </p:stCondLst>
                                      <p:childTnLst>
                                        <p:set>
                                          <p:cBhvr>
                                            <p:cTn id="89" dur="1" fill="hold">
                                              <p:stCondLst>
                                                <p:cond delay="0"/>
                                              </p:stCondLst>
                                            </p:cTn>
                                            <p:tgtEl>
                                              <p:spTgt spid="124"/>
                                            </p:tgtEl>
                                            <p:attrNameLst>
                                              <p:attrName>style.visibility</p:attrName>
                                            </p:attrNameLst>
                                          </p:cBhvr>
                                          <p:to>
                                            <p:strVal val="visible"/>
                                          </p:to>
                                        </p:set>
                                      </p:childTnLst>
                                    </p:cTn>
                                  </p:par>
                                  <p:par>
                                    <p:cTn id="90" presetID="1" presetClass="exit" presetSubtype="0" fill="hold" grpId="1" nodeType="withEffect">
                                      <p:stCondLst>
                                        <p:cond delay="0"/>
                                      </p:stCondLst>
                                      <p:childTnLst>
                                        <p:set>
                                          <p:cBhvr>
                                            <p:cTn id="91" dur="1" fill="hold">
                                              <p:stCondLst>
                                                <p:cond delay="0"/>
                                              </p:stCondLst>
                                            </p:cTn>
                                            <p:tgtEl>
                                              <p:spTgt spid="121"/>
                                            </p:tgtEl>
                                            <p:attrNameLst>
                                              <p:attrName>style.visibility</p:attrName>
                                            </p:attrNameLst>
                                          </p:cBhvr>
                                          <p:to>
                                            <p:strVal val="hidden"/>
                                          </p:to>
                                        </p:set>
                                      </p:childTnLst>
                                    </p:cTn>
                                  </p:par>
                                  <p:par>
                                    <p:cTn id="92" presetID="10" presetClass="entr" presetSubtype="0" fill="hold" grpId="0" nodeType="withEffect">
                                      <p:stCondLst>
                                        <p:cond delay="0"/>
                                      </p:stCondLst>
                                      <p:childTnLst>
                                        <p:set>
                                          <p:cBhvr>
                                            <p:cTn id="93" dur="1" fill="hold">
                                              <p:stCondLst>
                                                <p:cond delay="0"/>
                                              </p:stCondLst>
                                            </p:cTn>
                                            <p:tgtEl>
                                              <p:spTgt spid="103"/>
                                            </p:tgtEl>
                                            <p:attrNameLst>
                                              <p:attrName>style.visibility</p:attrName>
                                            </p:attrNameLst>
                                          </p:cBhvr>
                                          <p:to>
                                            <p:strVal val="visible"/>
                                          </p:to>
                                        </p:set>
                                        <p:animEffect transition="in" filter="fade">
                                          <p:cBhvr>
                                            <p:cTn id="94" dur="500"/>
                                            <p:tgtEl>
                                              <p:spTgt spid="103"/>
                                            </p:tgtEl>
                                          </p:cBhvr>
                                        </p:animEffect>
                                      </p:childTnLst>
                                    </p:cTn>
                                  </p:par>
                                </p:childTnLst>
                              </p:cTn>
                            </p:par>
                            <p:par>
                              <p:cTn id="95" fill="hold">
                                <p:stCondLst>
                                  <p:cond delay="500"/>
                                </p:stCondLst>
                                <p:childTnLst>
                                  <p:par>
                                    <p:cTn id="96" presetID="14" presetClass="entr" presetSubtype="10" fill="hold" grpId="0" nodeType="afterEffect">
                                      <p:stCondLst>
                                        <p:cond delay="0"/>
                                      </p:stCondLst>
                                      <p:childTnLst>
                                        <p:set>
                                          <p:cBhvr>
                                            <p:cTn id="97" dur="1" fill="hold">
                                              <p:stCondLst>
                                                <p:cond delay="0"/>
                                              </p:stCondLst>
                                            </p:cTn>
                                            <p:tgtEl>
                                              <p:spTgt spid="117"/>
                                            </p:tgtEl>
                                            <p:attrNameLst>
                                              <p:attrName>style.visibility</p:attrName>
                                            </p:attrNameLst>
                                          </p:cBhvr>
                                          <p:to>
                                            <p:strVal val="visible"/>
                                          </p:to>
                                        </p:set>
                                        <p:animEffect transition="in" filter="randombar(horizontal)">
                                          <p:cBhvr>
                                            <p:cTn id="98" dur="500"/>
                                            <p:tgtEl>
                                              <p:spTgt spid="117"/>
                                            </p:tgtEl>
                                          </p:cBhvr>
                                        </p:animEffect>
                                      </p:childTnLst>
                                    </p:cTn>
                                  </p:par>
                                  <p:par>
                                    <p:cTn id="99" presetID="0" presetClass="path" presetSubtype="0" fill="hold" grpId="1" nodeType="withEffect">
                                      <p:stCondLst>
                                        <p:cond delay="0"/>
                                      </p:stCondLst>
                                      <p:childTnLst>
                                        <p:animMotion origin="layout" path="M -0.00138 -0.13125 L -4.44444E-6 -0.00046 " pathEditMode="relative" rAng="0" ptsTypes="AA">
                                          <p:cBhvr>
                                            <p:cTn id="100" dur="1000" fill="hold"/>
                                            <p:tgtEl>
                                              <p:spTgt spid="117"/>
                                            </p:tgtEl>
                                            <p:attrNameLst>
                                              <p:attrName>ppt_x</p:attrName>
                                              <p:attrName>ppt_y</p:attrName>
                                            </p:attrNameLst>
                                          </p:cBhvr>
                                          <p:rCtr x="69" y="6528"/>
                                        </p:animMotion>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125"/>
                                            </p:tgtEl>
                                            <p:attrNameLst>
                                              <p:attrName>style.visibility</p:attrName>
                                            </p:attrNameLst>
                                          </p:cBhvr>
                                          <p:to>
                                            <p:strVal val="visible"/>
                                          </p:to>
                                        </p:set>
                                      </p:childTnLst>
                                    </p:cTn>
                                  </p:par>
                                </p:childTnLst>
                              </p:cTn>
                            </p:par>
                            <p:par>
                              <p:cTn id="105" fill="hold">
                                <p:stCondLst>
                                  <p:cond delay="0"/>
                                </p:stCondLst>
                                <p:childTnLst>
                                  <p:par>
                                    <p:cTn id="106" presetID="1" presetClass="exit" presetSubtype="0" fill="hold" grpId="1" nodeType="afterEffect">
                                      <p:stCondLst>
                                        <p:cond delay="0"/>
                                      </p:stCondLst>
                                      <p:childTnLst>
                                        <p:set>
                                          <p:cBhvr>
                                            <p:cTn id="107" dur="1" fill="hold">
                                              <p:stCondLst>
                                                <p:cond delay="0"/>
                                              </p:stCondLst>
                                            </p:cTn>
                                            <p:tgtEl>
                                              <p:spTgt spid="124"/>
                                            </p:tgtEl>
                                            <p:attrNameLst>
                                              <p:attrName>style.visibility</p:attrName>
                                            </p:attrNameLst>
                                          </p:cBhvr>
                                          <p:to>
                                            <p:strVal val="hidden"/>
                                          </p:to>
                                        </p:set>
                                      </p:childTnLst>
                                    </p:cTn>
                                  </p:par>
                                  <p:par>
                                    <p:cTn id="108" presetID="1" presetClass="exit" presetSubtype="0" fill="hold" grpId="2" nodeType="withEffect">
                                      <p:stCondLst>
                                        <p:cond delay="0"/>
                                      </p:stCondLst>
                                      <p:childTnLst>
                                        <p:set>
                                          <p:cBhvr>
                                            <p:cTn id="109" dur="1" fill="hold">
                                              <p:stCondLst>
                                                <p:cond delay="0"/>
                                              </p:stCondLst>
                                            </p:cTn>
                                            <p:tgtEl>
                                              <p:spTgt spid="117"/>
                                            </p:tgtEl>
                                            <p:attrNameLst>
                                              <p:attrName>style.visibility</p:attrName>
                                            </p:attrNameLst>
                                          </p:cBhvr>
                                          <p:to>
                                            <p:strVal val="hidden"/>
                                          </p:to>
                                        </p:set>
                                      </p:childTnLst>
                                    </p:cTn>
                                  </p:par>
                                  <p:par>
                                    <p:cTn id="110" presetID="1" presetClass="exit" presetSubtype="0" fill="hold" grpId="1" nodeType="withEffect">
                                      <p:stCondLst>
                                        <p:cond delay="0"/>
                                      </p:stCondLst>
                                      <p:childTnLst>
                                        <p:set>
                                          <p:cBhvr>
                                            <p:cTn id="111" dur="1" fill="hold">
                                              <p:stCondLst>
                                                <p:cond delay="0"/>
                                              </p:stCondLst>
                                            </p:cTn>
                                            <p:tgtEl>
                                              <p:spTgt spid="104"/>
                                            </p:tgtEl>
                                            <p:attrNameLst>
                                              <p:attrName>style.visibility</p:attrName>
                                            </p:attrNameLst>
                                          </p:cBhvr>
                                          <p:to>
                                            <p:strVal val="hidden"/>
                                          </p:to>
                                        </p:set>
                                      </p:childTnLst>
                                    </p:cTn>
                                  </p:par>
                                  <p:par>
                                    <p:cTn id="112" presetID="10" presetClass="exit" presetSubtype="0" fill="hold" grpId="1" nodeType="withEffect">
                                      <p:stCondLst>
                                        <p:cond delay="0"/>
                                      </p:stCondLst>
                                      <p:childTnLst>
                                        <p:animEffect transition="out" filter="fade">
                                          <p:cBhvr>
                                            <p:cTn id="113" dur="500"/>
                                            <p:tgtEl>
                                              <p:spTgt spid="103"/>
                                            </p:tgtEl>
                                          </p:cBhvr>
                                        </p:animEffect>
                                        <p:set>
                                          <p:cBhvr>
                                            <p:cTn id="114" dur="1" fill="hold">
                                              <p:stCondLst>
                                                <p:cond delay="499"/>
                                              </p:stCondLst>
                                            </p:cTn>
                                            <p:tgtEl>
                                              <p:spTgt spid="103"/>
                                            </p:tgtEl>
                                            <p:attrNameLst>
                                              <p:attrName>style.visibility</p:attrName>
                                            </p:attrNameLst>
                                          </p:cBhvr>
                                          <p:to>
                                            <p:strVal val="hidden"/>
                                          </p:to>
                                        </p:set>
                                      </p:childTnLst>
                                    </p:cTn>
                                  </p:par>
                                  <p:par>
                                    <p:cTn id="115" presetID="1" presetClass="entr" presetSubtype="0" fill="hold" nodeType="withEffect">
                                      <p:stCondLst>
                                        <p:cond delay="0"/>
                                      </p:stCondLst>
                                      <p:childTnLst>
                                        <p:set>
                                          <p:cBhvr>
                                            <p:cTn id="116" dur="1" fill="hold">
                                              <p:stCondLst>
                                                <p:cond delay="0"/>
                                              </p:stCondLst>
                                            </p:cTn>
                                            <p:tgtEl>
                                              <p:spTgt spid="8"/>
                                            </p:tgtEl>
                                            <p:attrNameLst>
                                              <p:attrName>style.visibility</p:attrName>
                                            </p:attrNameLst>
                                          </p:cBhvr>
                                          <p:to>
                                            <p:strVal val="visible"/>
                                          </p:to>
                                        </p:set>
                                      </p:childTnLst>
                                    </p:cTn>
                                  </p:par>
                                  <p:par>
                                    <p:cTn id="117" presetID="0" presetClass="path" presetSubtype="0" fill="hold" nodeType="withEffect">
                                      <p:stCondLst>
                                        <p:cond delay="0"/>
                                      </p:stCondLst>
                                      <p:childTnLst>
                                        <p:animMotion origin="layout" path="M 0.00157 0.0037 L -0.11528 0.01296 " pathEditMode="relative" rAng="0" ptsTypes="AA">
                                          <p:cBhvr>
                                            <p:cTn id="118" dur="1250" fill="hold"/>
                                            <p:tgtEl>
                                              <p:spTgt spid="8"/>
                                            </p:tgtEl>
                                            <p:attrNameLst>
                                              <p:attrName>ppt_x</p:attrName>
                                              <p:attrName>ppt_y</p:attrName>
                                            </p:attrNameLst>
                                          </p:cBhvr>
                                          <p:rCtr x="-5851" y="463"/>
                                        </p:animMotion>
                                      </p:childTnLst>
                                    </p:cTn>
                                  </p:par>
                                </p:childTnLst>
                              </p:cTn>
                            </p:par>
                          </p:childTnLst>
                        </p:cTn>
                      </p:par>
                      <p:par>
                        <p:cTn id="119" fill="hold">
                          <p:stCondLst>
                            <p:cond delay="indefinite"/>
                          </p:stCondLst>
                          <p:childTnLst>
                            <p:par>
                              <p:cTn id="120" fill="hold">
                                <p:stCondLst>
                                  <p:cond delay="0"/>
                                </p:stCondLst>
                                <p:childTnLst>
                                  <p:par>
                                    <p:cTn id="121" presetID="10" presetClass="exit" presetSubtype="0" fill="hold" grpId="1" nodeType="clickEffect">
                                      <p:stCondLst>
                                        <p:cond delay="0"/>
                                      </p:stCondLst>
                                      <p:childTnLst>
                                        <p:animEffect transition="out" filter="fade">
                                          <p:cBhvr>
                                            <p:cTn id="122" dur="500"/>
                                            <p:tgtEl>
                                              <p:spTgt spid="3"/>
                                            </p:tgtEl>
                                          </p:cBhvr>
                                        </p:animEffect>
                                        <p:set>
                                          <p:cBhvr>
                                            <p:cTn id="123" dur="1" fill="hold">
                                              <p:stCondLst>
                                                <p:cond delay="499"/>
                                              </p:stCondLst>
                                            </p:cTn>
                                            <p:tgtEl>
                                              <p:spTgt spid="3"/>
                                            </p:tgtEl>
                                            <p:attrNameLst>
                                              <p:attrName>style.visibility</p:attrName>
                                            </p:attrNameLst>
                                          </p:cBhvr>
                                          <p:to>
                                            <p:strVal val="hidden"/>
                                          </p:to>
                                        </p:set>
                                      </p:childTnLst>
                                    </p:cTn>
                                  </p:par>
                                  <p:par>
                                    <p:cTn id="124" presetID="0" presetClass="path" presetSubtype="0" fill="hold" grpId="3" nodeType="withEffect">
                                      <p:stCondLst>
                                        <p:cond delay="0"/>
                                      </p:stCondLst>
                                      <p:childTnLst>
                                        <p:animMotion origin="layout" path="M 0.57847 0.0669 L 0.72014 0.06319 " pathEditMode="relative" rAng="0" ptsTypes="AA">
                                          <p:cBhvr>
                                            <p:cTn id="125" dur="750" fill="hold"/>
                                            <p:tgtEl>
                                              <p:spTgt spid="92"/>
                                            </p:tgtEl>
                                            <p:attrNameLst>
                                              <p:attrName>ppt_x</p:attrName>
                                              <p:attrName>ppt_y</p:attrName>
                                            </p:attrNameLst>
                                          </p:cBhvr>
                                          <p:rCtr x="7083" y="-185"/>
                                        </p:animMotion>
                                      </p:childTnLst>
                                    </p:cTn>
                                  </p:par>
                                  <p:par>
                                    <p:cTn id="126" presetID="0" presetClass="path" presetSubtype="0" fill="hold" grpId="3" nodeType="withEffect">
                                      <p:stCondLst>
                                        <p:cond delay="0"/>
                                      </p:stCondLst>
                                      <p:childTnLst>
                                        <p:animMotion origin="layout" path="M 0.4224 -0.03055 L 0.56928 -0.03055 " pathEditMode="relative" rAng="0" ptsTypes="AA">
                                          <p:cBhvr>
                                            <p:cTn id="127" dur="750" fill="hold"/>
                                            <p:tgtEl>
                                              <p:spTgt spid="101"/>
                                            </p:tgtEl>
                                            <p:attrNameLst>
                                              <p:attrName>ppt_x</p:attrName>
                                              <p:attrName>ppt_y</p:attrName>
                                            </p:attrNameLst>
                                          </p:cBhvr>
                                          <p:rCtr x="7344" y="0"/>
                                        </p:animMotion>
                                      </p:childTnLst>
                                    </p:cTn>
                                  </p:par>
                                </p:childTnLst>
                              </p:cTn>
                            </p:par>
                            <p:par>
                              <p:cTn id="128" fill="hold">
                                <p:stCondLst>
                                  <p:cond delay="750"/>
                                </p:stCondLst>
                                <p:childTnLst>
                                  <p:par>
                                    <p:cTn id="129" presetID="10" presetClass="exit" presetSubtype="0" fill="hold" grpId="4" nodeType="afterEffect">
                                      <p:stCondLst>
                                        <p:cond delay="0"/>
                                      </p:stCondLst>
                                      <p:childTnLst>
                                        <p:animEffect transition="out" filter="fade">
                                          <p:cBhvr>
                                            <p:cTn id="130" dur="500"/>
                                            <p:tgtEl>
                                              <p:spTgt spid="92"/>
                                            </p:tgtEl>
                                          </p:cBhvr>
                                        </p:animEffect>
                                        <p:set>
                                          <p:cBhvr>
                                            <p:cTn id="131" dur="1" fill="hold">
                                              <p:stCondLst>
                                                <p:cond delay="499"/>
                                              </p:stCondLst>
                                            </p:cTn>
                                            <p:tgtEl>
                                              <p:spTgt spid="92"/>
                                            </p:tgtEl>
                                            <p:attrNameLst>
                                              <p:attrName>style.visibility</p:attrName>
                                            </p:attrNameLst>
                                          </p:cBhvr>
                                          <p:to>
                                            <p:strVal val="hidden"/>
                                          </p:to>
                                        </p:set>
                                      </p:childTnLst>
                                    </p:cTn>
                                  </p:par>
                                  <p:par>
                                    <p:cTn id="132" presetID="10" presetClass="exit" presetSubtype="0" fill="hold" grpId="4" nodeType="withEffect">
                                      <p:stCondLst>
                                        <p:cond delay="0"/>
                                      </p:stCondLst>
                                      <p:childTnLst>
                                        <p:animEffect transition="out" filter="fade">
                                          <p:cBhvr>
                                            <p:cTn id="133" dur="500"/>
                                            <p:tgtEl>
                                              <p:spTgt spid="101"/>
                                            </p:tgtEl>
                                          </p:cBhvr>
                                        </p:animEffect>
                                        <p:set>
                                          <p:cBhvr>
                                            <p:cTn id="134" dur="1" fill="hold">
                                              <p:stCondLst>
                                                <p:cond delay="499"/>
                                              </p:stCondLst>
                                            </p:cTn>
                                            <p:tgtEl>
                                              <p:spTgt spid="101"/>
                                            </p:tgtEl>
                                            <p:attrNameLst>
                                              <p:attrName>style.visibility</p:attrName>
                                            </p:attrNameLst>
                                          </p:cBhvr>
                                          <p:to>
                                            <p:strVal val="hidden"/>
                                          </p:to>
                                        </p:set>
                                      </p:childTnLst>
                                    </p:cTn>
                                  </p:par>
                                </p:childTnLst>
                              </p:cTn>
                            </p:par>
                            <p:par>
                              <p:cTn id="135" fill="hold">
                                <p:stCondLst>
                                  <p:cond delay="1250"/>
                                </p:stCondLst>
                                <p:childTnLst>
                                  <p:par>
                                    <p:cTn id="136" presetID="1" presetClass="exit" presetSubtype="0" fill="hold" grpId="1" nodeType="afterEffect">
                                      <p:stCondLst>
                                        <p:cond delay="0"/>
                                      </p:stCondLst>
                                      <p:childTnLst>
                                        <p:set>
                                          <p:cBhvr>
                                            <p:cTn id="137" dur="1" fill="hold">
                                              <p:stCondLst>
                                                <p:cond delay="0"/>
                                              </p:stCondLst>
                                            </p:cTn>
                                            <p:tgtEl>
                                              <p:spTgt spid="125"/>
                                            </p:tgtEl>
                                            <p:attrNameLst>
                                              <p:attrName>style.visibility</p:attrName>
                                            </p:attrNameLst>
                                          </p:cBhvr>
                                          <p:to>
                                            <p:strVal val="hidden"/>
                                          </p:to>
                                        </p:set>
                                      </p:childTnLst>
                                    </p:cTn>
                                  </p:par>
                                </p:childTnLst>
                              </p:cTn>
                            </p:par>
                            <p:par>
                              <p:cTn id="138" fill="hold">
                                <p:stCondLst>
                                  <p:cond delay="1250"/>
                                </p:stCondLst>
                                <p:childTnLst>
                                  <p:par>
                                    <p:cTn id="139" presetID="10" presetClass="entr" presetSubtype="0" fill="hold" nodeType="afterEffect">
                                      <p:stCondLst>
                                        <p:cond delay="0"/>
                                      </p:stCondLst>
                                      <p:childTnLst>
                                        <p:set>
                                          <p:cBhvr>
                                            <p:cTn id="140" dur="1" fill="hold">
                                              <p:stCondLst>
                                                <p:cond delay="0"/>
                                              </p:stCondLst>
                                            </p:cTn>
                                            <p:tgtEl>
                                              <p:spTgt spid="145">
                                                <p:txEl>
                                                  <p:pRg st="0" end="0"/>
                                                </p:txEl>
                                              </p:spTgt>
                                            </p:tgtEl>
                                            <p:attrNameLst>
                                              <p:attrName>style.visibility</p:attrName>
                                            </p:attrNameLst>
                                          </p:cBhvr>
                                          <p:to>
                                            <p:strVal val="visible"/>
                                          </p:to>
                                        </p:set>
                                        <p:animEffect transition="in" filter="fade">
                                          <p:cBhvr>
                                            <p:cTn id="141" dur="500"/>
                                            <p:tgtEl>
                                              <p:spTgt spid="145">
                                                <p:txEl>
                                                  <p:pRg st="0" end="0"/>
                                                </p:txEl>
                                              </p:spTgt>
                                            </p:tgtEl>
                                          </p:cBhvr>
                                        </p:animEffect>
                                      </p:childTnLst>
                                    </p:cTn>
                                  </p:par>
                                  <p:par>
                                    <p:cTn id="142" presetID="10" presetClass="entr" presetSubtype="0" fill="hold" nodeType="withEffect">
                                      <p:stCondLst>
                                        <p:cond delay="0"/>
                                      </p:stCondLst>
                                      <p:childTnLst>
                                        <p:set>
                                          <p:cBhvr>
                                            <p:cTn id="143" dur="1" fill="hold">
                                              <p:stCondLst>
                                                <p:cond delay="0"/>
                                              </p:stCondLst>
                                            </p:cTn>
                                            <p:tgtEl>
                                              <p:spTgt spid="145">
                                                <p:txEl>
                                                  <p:pRg st="2" end="2"/>
                                                </p:txEl>
                                              </p:spTgt>
                                            </p:tgtEl>
                                            <p:attrNameLst>
                                              <p:attrName>style.visibility</p:attrName>
                                            </p:attrNameLst>
                                          </p:cBhvr>
                                          <p:to>
                                            <p:strVal val="visible"/>
                                          </p:to>
                                        </p:set>
                                        <p:animEffect transition="in" filter="fade">
                                          <p:cBhvr>
                                            <p:cTn id="144" dur="500"/>
                                            <p:tgtEl>
                                              <p:spTgt spid="145">
                                                <p:txEl>
                                                  <p:pRg st="2" end="2"/>
                                                </p:txEl>
                                              </p:spTgt>
                                            </p:tgtEl>
                                          </p:cBhvr>
                                        </p:animEffect>
                                      </p:childTnLst>
                                    </p:cTn>
                                  </p:par>
                                  <p:par>
                                    <p:cTn id="145" presetID="10" presetClass="entr" presetSubtype="0" fill="hold" nodeType="withEffect">
                                      <p:stCondLst>
                                        <p:cond delay="0"/>
                                      </p:stCondLst>
                                      <p:childTnLst>
                                        <p:set>
                                          <p:cBhvr>
                                            <p:cTn id="146" dur="1" fill="hold">
                                              <p:stCondLst>
                                                <p:cond delay="0"/>
                                              </p:stCondLst>
                                            </p:cTn>
                                            <p:tgtEl>
                                              <p:spTgt spid="145">
                                                <p:txEl>
                                                  <p:pRg st="3" end="3"/>
                                                </p:txEl>
                                              </p:spTgt>
                                            </p:tgtEl>
                                            <p:attrNameLst>
                                              <p:attrName>style.visibility</p:attrName>
                                            </p:attrNameLst>
                                          </p:cBhvr>
                                          <p:to>
                                            <p:strVal val="visible"/>
                                          </p:to>
                                        </p:set>
                                        <p:animEffect transition="in" filter="fade">
                                          <p:cBhvr>
                                            <p:cTn id="147" dur="500"/>
                                            <p:tgtEl>
                                              <p:spTgt spid="145">
                                                <p:txEl>
                                                  <p:pRg st="3" end="3"/>
                                                </p:txEl>
                                              </p:spTgt>
                                            </p:tgtEl>
                                          </p:cBhvr>
                                        </p:animEffect>
                                      </p:childTnLst>
                                    </p:cTn>
                                  </p:par>
                                </p:childTnLst>
                              </p:cTn>
                            </p:par>
                          </p:childTnLst>
                        </p:cTn>
                      </p:par>
                      <p:par>
                        <p:cTn id="148" fill="hold">
                          <p:stCondLst>
                            <p:cond delay="indefinite"/>
                          </p:stCondLst>
                          <p:childTnLst>
                            <p:par>
                              <p:cTn id="149" fill="hold">
                                <p:stCondLst>
                                  <p:cond delay="0"/>
                                </p:stCondLst>
                                <p:childTnLst>
                                  <p:par>
                                    <p:cTn id="150" presetID="10" presetClass="exit" presetSubtype="0" fill="hold" grpId="0" nodeType="clickEffect">
                                      <p:stCondLst>
                                        <p:cond delay="0"/>
                                      </p:stCondLst>
                                      <p:childTnLst>
                                        <p:animEffect transition="out" filter="fade">
                                          <p:cBhvr>
                                            <p:cTn id="151" dur="500"/>
                                            <p:tgtEl>
                                              <p:spTgt spid="145">
                                                <p:txEl>
                                                  <p:pRg st="0" end="0"/>
                                                </p:txEl>
                                              </p:spTgt>
                                            </p:tgtEl>
                                          </p:cBhvr>
                                        </p:animEffect>
                                        <p:set>
                                          <p:cBhvr>
                                            <p:cTn id="152" dur="1" fill="hold">
                                              <p:stCondLst>
                                                <p:cond delay="499"/>
                                              </p:stCondLst>
                                            </p:cTn>
                                            <p:tgtEl>
                                              <p:spTgt spid="145">
                                                <p:txEl>
                                                  <p:pRg st="0" end="0"/>
                                                </p:txEl>
                                              </p:spTgt>
                                            </p:tgtEl>
                                            <p:attrNameLst>
                                              <p:attrName>style.visibility</p:attrName>
                                            </p:attrNameLst>
                                          </p:cBhvr>
                                          <p:to>
                                            <p:strVal val="hidden"/>
                                          </p:to>
                                        </p:set>
                                      </p:childTnLst>
                                    </p:cTn>
                                  </p:par>
                                  <p:par>
                                    <p:cTn id="153" presetID="10" presetClass="exit" presetSubtype="0" fill="hold" grpId="0" nodeType="withEffect">
                                      <p:stCondLst>
                                        <p:cond delay="0"/>
                                      </p:stCondLst>
                                      <p:childTnLst>
                                        <p:animEffect transition="out" filter="fade">
                                          <p:cBhvr>
                                            <p:cTn id="154" dur="500"/>
                                            <p:tgtEl>
                                              <p:spTgt spid="145">
                                                <p:txEl>
                                                  <p:pRg st="2" end="2"/>
                                                </p:txEl>
                                              </p:spTgt>
                                            </p:tgtEl>
                                          </p:cBhvr>
                                        </p:animEffect>
                                        <p:set>
                                          <p:cBhvr>
                                            <p:cTn id="155" dur="1" fill="hold">
                                              <p:stCondLst>
                                                <p:cond delay="499"/>
                                              </p:stCondLst>
                                            </p:cTn>
                                            <p:tgtEl>
                                              <p:spTgt spid="145">
                                                <p:txEl>
                                                  <p:pRg st="2" end="2"/>
                                                </p:txEl>
                                              </p:spTgt>
                                            </p:tgtEl>
                                            <p:attrNameLst>
                                              <p:attrName>style.visibility</p:attrName>
                                            </p:attrNameLst>
                                          </p:cBhvr>
                                          <p:to>
                                            <p:strVal val="hidden"/>
                                          </p:to>
                                        </p:set>
                                      </p:childTnLst>
                                    </p:cTn>
                                  </p:par>
                                  <p:par>
                                    <p:cTn id="156" presetID="10" presetClass="exit" presetSubtype="0" fill="hold" grpId="0" nodeType="withEffect">
                                      <p:stCondLst>
                                        <p:cond delay="0"/>
                                      </p:stCondLst>
                                      <p:childTnLst>
                                        <p:animEffect transition="out" filter="fade">
                                          <p:cBhvr>
                                            <p:cTn id="157" dur="500"/>
                                            <p:tgtEl>
                                              <p:spTgt spid="145">
                                                <p:txEl>
                                                  <p:pRg st="3" end="3"/>
                                                </p:txEl>
                                              </p:spTgt>
                                            </p:tgtEl>
                                          </p:cBhvr>
                                        </p:animEffect>
                                        <p:set>
                                          <p:cBhvr>
                                            <p:cTn id="158" dur="1" fill="hold">
                                              <p:stCondLst>
                                                <p:cond delay="499"/>
                                              </p:stCondLst>
                                            </p:cTn>
                                            <p:tgtEl>
                                              <p:spTgt spid="145">
                                                <p:txEl>
                                                  <p:pRg st="3" end="3"/>
                                                </p:txEl>
                                              </p:spTgt>
                                            </p:tgtEl>
                                            <p:attrNameLst>
                                              <p:attrName>style.visibility</p:attrName>
                                            </p:attrNameLst>
                                          </p:cBhvr>
                                          <p:to>
                                            <p:strVal val="hidden"/>
                                          </p:to>
                                        </p:set>
                                      </p:childTnLst>
                                    </p:cTn>
                                  </p:par>
                                  <p:par>
                                    <p:cTn id="159" presetID="10" presetClass="exit" presetSubtype="0" fill="hold" nodeType="withEffect">
                                      <p:stCondLst>
                                        <p:cond delay="0"/>
                                      </p:stCondLst>
                                      <p:childTnLst>
                                        <p:animEffect transition="out" filter="fade">
                                          <p:cBhvr>
                                            <p:cTn id="160" dur="500"/>
                                            <p:tgtEl>
                                              <p:spTgt spid="127"/>
                                            </p:tgtEl>
                                          </p:cBhvr>
                                        </p:animEffect>
                                        <p:set>
                                          <p:cBhvr>
                                            <p:cTn id="161" dur="1" fill="hold">
                                              <p:stCondLst>
                                                <p:cond delay="499"/>
                                              </p:stCondLst>
                                            </p:cTn>
                                            <p:tgtEl>
                                              <p:spTgt spid="127"/>
                                            </p:tgtEl>
                                            <p:attrNameLst>
                                              <p:attrName>style.visibility</p:attrName>
                                            </p:attrNameLst>
                                          </p:cBhvr>
                                          <p:to>
                                            <p:strVal val="hidden"/>
                                          </p:to>
                                        </p:set>
                                      </p:childTnLst>
                                    </p:cTn>
                                  </p:par>
                                </p:childTnLst>
                              </p:cTn>
                            </p:par>
                            <p:par>
                              <p:cTn id="162" fill="hold">
                                <p:stCondLst>
                                  <p:cond delay="500"/>
                                </p:stCondLst>
                                <p:childTnLst>
                                  <p:par>
                                    <p:cTn id="163" presetID="10" presetClass="entr" presetSubtype="0" fill="hold" grpId="0" nodeType="afterEffect">
                                      <p:stCondLst>
                                        <p:cond delay="0"/>
                                      </p:stCondLst>
                                      <p:childTnLst>
                                        <p:set>
                                          <p:cBhvr>
                                            <p:cTn id="164" dur="1" fill="hold">
                                              <p:stCondLst>
                                                <p:cond delay="0"/>
                                              </p:stCondLst>
                                            </p:cTn>
                                            <p:tgtEl>
                                              <p:spTgt spid="123"/>
                                            </p:tgtEl>
                                            <p:attrNameLst>
                                              <p:attrName>style.visibility</p:attrName>
                                            </p:attrNameLst>
                                          </p:cBhvr>
                                          <p:to>
                                            <p:strVal val="visible"/>
                                          </p:to>
                                        </p:set>
                                        <p:animEffect transition="in" filter="fade">
                                          <p:cBhvr>
                                            <p:cTn id="165" dur="500"/>
                                            <p:tgtEl>
                                              <p:spTgt spid="123"/>
                                            </p:tgtEl>
                                          </p:cBhvr>
                                        </p:animEffect>
                                      </p:childTnLst>
                                    </p:cTn>
                                  </p:par>
                                </p:childTnLst>
                              </p:cTn>
                            </p:par>
                            <p:par>
                              <p:cTn id="166" fill="hold">
                                <p:stCondLst>
                                  <p:cond delay="1000"/>
                                </p:stCondLst>
                                <p:childTnLst>
                                  <p:par>
                                    <p:cTn id="167" presetID="10" presetClass="entr" presetSubtype="0" fill="hold" nodeType="afterEffect">
                                      <p:stCondLst>
                                        <p:cond delay="0"/>
                                      </p:stCondLst>
                                      <p:childTnLst>
                                        <p:set>
                                          <p:cBhvr>
                                            <p:cTn id="168" dur="1" fill="hold">
                                              <p:stCondLst>
                                                <p:cond delay="0"/>
                                              </p:stCondLst>
                                            </p:cTn>
                                            <p:tgtEl>
                                              <p:spTgt spid="126">
                                                <p:txEl>
                                                  <p:pRg st="0" end="0"/>
                                                </p:txEl>
                                              </p:spTgt>
                                            </p:tgtEl>
                                            <p:attrNameLst>
                                              <p:attrName>style.visibility</p:attrName>
                                            </p:attrNameLst>
                                          </p:cBhvr>
                                          <p:to>
                                            <p:strVal val="visible"/>
                                          </p:to>
                                        </p:set>
                                        <p:animEffect transition="in" filter="fade">
                                          <p:cBhvr>
                                            <p:cTn id="169" dur="500"/>
                                            <p:tgtEl>
                                              <p:spTgt spid="126">
                                                <p:txEl>
                                                  <p:pRg st="0" end="0"/>
                                                </p:txEl>
                                              </p:spTgt>
                                            </p:tgtEl>
                                          </p:cBhvr>
                                        </p:animEffect>
                                      </p:childTnLst>
                                    </p:cTn>
                                  </p:par>
                                </p:childTnLst>
                              </p:cTn>
                            </p:par>
                            <p:par>
                              <p:cTn id="170" fill="hold">
                                <p:stCondLst>
                                  <p:cond delay="1500"/>
                                </p:stCondLst>
                                <p:childTnLst>
                                  <p:par>
                                    <p:cTn id="171" presetID="6" presetClass="emph" presetSubtype="0" repeatCount="2000" autoRev="1" fill="remove" nodeType="afterEffect">
                                      <p:stCondLst>
                                        <p:cond delay="500"/>
                                      </p:stCondLst>
                                      <p:childTnLst>
                                        <p:animScale>
                                          <p:cBhvr>
                                            <p:cTn id="172" dur="350" fill="hold"/>
                                            <p:tgtEl>
                                              <p:spTgt spid="8"/>
                                            </p:tgtEl>
                                          </p:cBhvr>
                                          <p:by x="150000" y="150000"/>
                                        </p:animScale>
                                      </p:childTnLst>
                                    </p:cTn>
                                  </p:par>
                                </p:childTnLst>
                              </p:cTn>
                            </p:par>
                            <p:par>
                              <p:cTn id="173" fill="hold">
                                <p:stCondLst>
                                  <p:cond delay="3400"/>
                                </p:stCondLst>
                                <p:childTnLst>
                                  <p:par>
                                    <p:cTn id="174" presetID="53" presetClass="exit" presetSubtype="32" fill="hold" nodeType="afterEffect">
                                      <p:stCondLst>
                                        <p:cond delay="0"/>
                                      </p:stCondLst>
                                      <p:childTnLst>
                                        <p:anim calcmode="lin" valueType="num">
                                          <p:cBhvr>
                                            <p:cTn id="175" dur="500"/>
                                            <p:tgtEl>
                                              <p:spTgt spid="8"/>
                                            </p:tgtEl>
                                            <p:attrNameLst>
                                              <p:attrName>ppt_w</p:attrName>
                                            </p:attrNameLst>
                                          </p:cBhvr>
                                          <p:tavLst>
                                            <p:tav tm="0">
                                              <p:val>
                                                <p:strVal val="ppt_w"/>
                                              </p:val>
                                            </p:tav>
                                            <p:tav tm="100000">
                                              <p:val>
                                                <p:fltVal val="0"/>
                                              </p:val>
                                            </p:tav>
                                          </p:tavLst>
                                        </p:anim>
                                        <p:anim calcmode="lin" valueType="num">
                                          <p:cBhvr>
                                            <p:cTn id="176" dur="500"/>
                                            <p:tgtEl>
                                              <p:spTgt spid="8"/>
                                            </p:tgtEl>
                                            <p:attrNameLst>
                                              <p:attrName>ppt_h</p:attrName>
                                            </p:attrNameLst>
                                          </p:cBhvr>
                                          <p:tavLst>
                                            <p:tav tm="0">
                                              <p:val>
                                                <p:strVal val="ppt_h"/>
                                              </p:val>
                                            </p:tav>
                                            <p:tav tm="100000">
                                              <p:val>
                                                <p:fltVal val="0"/>
                                              </p:val>
                                            </p:tav>
                                          </p:tavLst>
                                        </p:anim>
                                        <p:animEffect transition="out" filter="fade">
                                          <p:cBhvr>
                                            <p:cTn id="177" dur="500"/>
                                            <p:tgtEl>
                                              <p:spTgt spid="8"/>
                                            </p:tgtEl>
                                          </p:cBhvr>
                                        </p:animEffect>
                                        <p:set>
                                          <p:cBhvr>
                                            <p:cTn id="178" dur="1" fill="hold">
                                              <p:stCondLst>
                                                <p:cond delay="499"/>
                                              </p:stCondLst>
                                            </p:cTn>
                                            <p:tgtEl>
                                              <p:spTgt spid="8"/>
                                            </p:tgtEl>
                                            <p:attrNameLst>
                                              <p:attrName>style.visibility</p:attrName>
                                            </p:attrNameLst>
                                          </p:cBhvr>
                                          <p:to>
                                            <p:strVal val="hidden"/>
                                          </p:to>
                                        </p:set>
                                      </p:childTnLst>
                                    </p:cTn>
                                  </p:par>
                                </p:childTnLst>
                              </p:cTn>
                            </p:par>
                          </p:childTnLst>
                        </p:cTn>
                      </p:par>
                      <p:par>
                        <p:cTn id="179" fill="hold">
                          <p:stCondLst>
                            <p:cond delay="indefinite"/>
                          </p:stCondLst>
                          <p:childTnLst>
                            <p:par>
                              <p:cTn id="180" fill="hold">
                                <p:stCondLst>
                                  <p:cond delay="0"/>
                                </p:stCondLst>
                                <p:childTnLst>
                                  <p:par>
                                    <p:cTn id="181" presetID="10" presetClass="entr" presetSubtype="0" fill="hold" nodeType="clickEffect">
                                      <p:stCondLst>
                                        <p:cond delay="0"/>
                                      </p:stCondLst>
                                      <p:childTnLst>
                                        <p:set>
                                          <p:cBhvr>
                                            <p:cTn id="182" dur="1" fill="hold">
                                              <p:stCondLst>
                                                <p:cond delay="0"/>
                                              </p:stCondLst>
                                            </p:cTn>
                                            <p:tgtEl>
                                              <p:spTgt spid="126">
                                                <p:txEl>
                                                  <p:pRg st="2" end="2"/>
                                                </p:txEl>
                                              </p:spTgt>
                                            </p:tgtEl>
                                            <p:attrNameLst>
                                              <p:attrName>style.visibility</p:attrName>
                                            </p:attrNameLst>
                                          </p:cBhvr>
                                          <p:to>
                                            <p:strVal val="visible"/>
                                          </p:to>
                                        </p:set>
                                        <p:animEffect transition="in" filter="fade">
                                          <p:cBhvr>
                                            <p:cTn id="183" dur="500"/>
                                            <p:tgtEl>
                                              <p:spTgt spid="126">
                                                <p:txEl>
                                                  <p:pRg st="2" end="2"/>
                                                </p:txEl>
                                              </p:spTgt>
                                            </p:tgtEl>
                                          </p:cBhvr>
                                        </p:animEffect>
                                      </p:childTnLst>
                                    </p:cTn>
                                  </p:par>
                                  <p:par>
                                    <p:cTn id="184" presetID="10" presetClass="entr" presetSubtype="0" fill="hold" nodeType="withEffect">
                                      <p:stCondLst>
                                        <p:cond delay="0"/>
                                      </p:stCondLst>
                                      <p:childTnLst>
                                        <p:set>
                                          <p:cBhvr>
                                            <p:cTn id="185" dur="1" fill="hold">
                                              <p:stCondLst>
                                                <p:cond delay="0"/>
                                              </p:stCondLst>
                                            </p:cTn>
                                            <p:tgtEl>
                                              <p:spTgt spid="126">
                                                <p:txEl>
                                                  <p:pRg st="3" end="3"/>
                                                </p:txEl>
                                              </p:spTgt>
                                            </p:tgtEl>
                                            <p:attrNameLst>
                                              <p:attrName>style.visibility</p:attrName>
                                            </p:attrNameLst>
                                          </p:cBhvr>
                                          <p:to>
                                            <p:strVal val="visible"/>
                                          </p:to>
                                        </p:set>
                                        <p:animEffect transition="in" filter="fade">
                                          <p:cBhvr>
                                            <p:cTn id="186" dur="500"/>
                                            <p:tgtEl>
                                              <p:spTgt spid="126">
                                                <p:txEl>
                                                  <p:pRg st="3" end="3"/>
                                                </p:txEl>
                                              </p:spTgt>
                                            </p:tgtEl>
                                          </p:cBhvr>
                                        </p:animEffect>
                                      </p:childTnLst>
                                    </p:cTn>
                                  </p:par>
                                </p:childTnLst>
                              </p:cTn>
                            </p:par>
                            <p:par>
                              <p:cTn id="187" fill="hold">
                                <p:stCondLst>
                                  <p:cond delay="500"/>
                                </p:stCondLst>
                                <p:childTnLst>
                                  <p:par>
                                    <p:cTn id="188" presetID="22" presetClass="entr" presetSubtype="1" fill="hold" nodeType="afterEffect">
                                      <p:stCondLst>
                                        <p:cond delay="0"/>
                                      </p:stCondLst>
                                      <p:childTnLst>
                                        <p:set>
                                          <p:cBhvr>
                                            <p:cTn id="189" dur="1" fill="hold">
                                              <p:stCondLst>
                                                <p:cond delay="0"/>
                                              </p:stCondLst>
                                            </p:cTn>
                                            <p:tgtEl>
                                              <p:spTgt spid="88"/>
                                            </p:tgtEl>
                                            <p:attrNameLst>
                                              <p:attrName>style.visibility</p:attrName>
                                            </p:attrNameLst>
                                          </p:cBhvr>
                                          <p:to>
                                            <p:strVal val="visible"/>
                                          </p:to>
                                        </p:set>
                                        <p:animEffect transition="in" filter="wipe(up)">
                                          <p:cBhvr>
                                            <p:cTn id="190" dur="1000"/>
                                            <p:tgtEl>
                                              <p:spTgt spid="88"/>
                                            </p:tgtEl>
                                          </p:cBhvr>
                                        </p:animEffect>
                                      </p:childTnLst>
                                    </p:cTn>
                                  </p:par>
                                  <p:par>
                                    <p:cTn id="191" presetID="22" presetClass="entr" presetSubtype="1" fill="hold" nodeType="withEffect">
                                      <p:stCondLst>
                                        <p:cond delay="0"/>
                                      </p:stCondLst>
                                      <p:childTnLst>
                                        <p:set>
                                          <p:cBhvr>
                                            <p:cTn id="192" dur="1" fill="hold">
                                              <p:stCondLst>
                                                <p:cond delay="0"/>
                                              </p:stCondLst>
                                            </p:cTn>
                                            <p:tgtEl>
                                              <p:spTgt spid="105"/>
                                            </p:tgtEl>
                                            <p:attrNameLst>
                                              <p:attrName>style.visibility</p:attrName>
                                            </p:attrNameLst>
                                          </p:cBhvr>
                                          <p:to>
                                            <p:strVal val="visible"/>
                                          </p:to>
                                        </p:set>
                                        <p:animEffect transition="in" filter="wipe(up)">
                                          <p:cBhvr>
                                            <p:cTn id="193" dur="1000"/>
                                            <p:tgtEl>
                                              <p:spTgt spid="105"/>
                                            </p:tgtEl>
                                          </p:cBhvr>
                                        </p:animEffect>
                                      </p:childTnLst>
                                    </p:cTn>
                                  </p:par>
                                </p:childTnLst>
                              </p:cTn>
                            </p:par>
                            <p:par>
                              <p:cTn id="194" fill="hold">
                                <p:stCondLst>
                                  <p:cond delay="1500"/>
                                </p:stCondLst>
                                <p:childTnLst>
                                  <p:par>
                                    <p:cTn id="195" presetID="22" presetClass="entr" presetSubtype="1" fill="hold" nodeType="afterEffect">
                                      <p:stCondLst>
                                        <p:cond delay="0"/>
                                      </p:stCondLst>
                                      <p:childTnLst>
                                        <p:set>
                                          <p:cBhvr>
                                            <p:cTn id="196" dur="1" fill="hold">
                                              <p:stCondLst>
                                                <p:cond delay="0"/>
                                              </p:stCondLst>
                                            </p:cTn>
                                            <p:tgtEl>
                                              <p:spTgt spid="108"/>
                                            </p:tgtEl>
                                            <p:attrNameLst>
                                              <p:attrName>style.visibility</p:attrName>
                                            </p:attrNameLst>
                                          </p:cBhvr>
                                          <p:to>
                                            <p:strVal val="visible"/>
                                          </p:to>
                                        </p:set>
                                        <p:animEffect transition="in" filter="wipe(up)">
                                          <p:cBhvr>
                                            <p:cTn id="197" dur="10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 grpId="0"/>
          <p:bldP spid="31" grpId="0" animBg="1"/>
          <p:bldP spid="87" grpId="0" animBg="1"/>
          <p:bldP spid="42" grpId="0" animBg="1"/>
          <p:bldP spid="91" grpId="0" animBg="1"/>
          <p:bldP spid="86" grpId="0" animBg="1"/>
          <p:bldP spid="92" grpId="0" animBg="1"/>
          <p:bldP spid="92" grpId="1" animBg="1"/>
          <p:bldP spid="92" grpId="2" animBg="1"/>
          <p:bldP spid="92" grpId="3" animBg="1"/>
          <p:bldP spid="92" grpId="4" animBg="1"/>
          <p:bldP spid="101" grpId="0" animBg="1"/>
          <p:bldP spid="101" grpId="1" animBg="1"/>
          <p:bldP spid="101" grpId="2" animBg="1"/>
          <p:bldP spid="101" grpId="3" animBg="1"/>
          <p:bldP spid="101" grpId="4" animBg="1"/>
          <p:bldP spid="103" grpId="0" animBg="1"/>
          <p:bldP spid="103" grpId="1" animBg="1"/>
          <p:bldP spid="104" grpId="0" animBg="1"/>
          <p:bldP spid="104" grpId="1" animBg="1"/>
          <p:bldP spid="117" grpId="0" animBg="1"/>
          <p:bldP spid="117" grpId="1" animBg="1"/>
          <p:bldP spid="117" grpId="2" animBg="1"/>
          <p:bldP spid="9" grpId="0" animBg="1"/>
          <p:bldP spid="9" grpId="1" animBg="1"/>
          <p:bldP spid="120" grpId="0" animBg="1"/>
          <p:bldP spid="120" grpId="1" animBg="1"/>
          <p:bldP spid="121" grpId="0" animBg="1"/>
          <p:bldP spid="121" grpId="1" animBg="1"/>
          <p:bldP spid="124" grpId="0" animBg="1"/>
          <p:bldP spid="124" grpId="1" animBg="1"/>
          <p:bldP spid="125" grpId="0" animBg="1"/>
          <p:bldP spid="125" grpId="1" animBg="1"/>
          <p:bldP spid="145" grpId="0" build="allAtOnce"/>
          <p:bldP spid="3" grpId="0" animBg="1"/>
          <p:bldP spid="3" grpId="1" animBg="1"/>
          <p:bldP spid="111" grpId="0" animBg="1"/>
          <p:bldP spid="111" grpId="1" animBg="1"/>
        </p:bldLst>
      </p:timing>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ormAutofit/>
          </a:bodyPr>
          <a:lstStyle/>
          <a:p>
            <a:r>
              <a:rPr lang="en-US" dirty="0" smtClean="0"/>
              <a:t>Pivot Tracing</a:t>
            </a:r>
            <a:br>
              <a:rPr lang="en-US" dirty="0" smtClean="0"/>
            </a:br>
            <a:r>
              <a:rPr lang="en-US" sz="4400" dirty="0" smtClean="0"/>
              <a:t>Evaluation</a:t>
            </a:r>
            <a:endParaRPr lang="en-US" sz="4400" dirty="0"/>
          </a:p>
        </p:txBody>
      </p:sp>
      <p:sp>
        <p:nvSpPr>
          <p:cNvPr id="3" name="Slide Number Placeholder 2"/>
          <p:cNvSpPr>
            <a:spLocks noGrp="1"/>
          </p:cNvSpPr>
          <p:nvPr>
            <p:ph type="sldNum" sz="quarter" idx="12"/>
          </p:nvPr>
        </p:nvSpPr>
        <p:spPr/>
        <p:txBody>
          <a:bodyPr/>
          <a:lstStyle/>
          <a:p>
            <a:fld id="{D431E30F-8439-471B-9257-EDD8E85CDBC8}" type="slidenum">
              <a:rPr lang="en-US" smtClean="0"/>
              <a:t>30</a:t>
            </a:fld>
            <a:endParaRPr lang="en-US"/>
          </a:p>
        </p:txBody>
      </p:sp>
    </p:spTree>
    <p:extLst>
      <p:ext uri="{BB962C8B-B14F-4D97-AF65-F5344CB8AC3E}">
        <p14:creationId xmlns:p14="http://schemas.microsoft.com/office/powerpoint/2010/main" val="412507412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6275" y="98427"/>
            <a:ext cx="7886700" cy="1325563"/>
          </a:xfrm>
        </p:spPr>
        <p:txBody>
          <a:bodyPr/>
          <a:lstStyle/>
          <a:p>
            <a:r>
              <a:rPr lang="en-US" dirty="0" smtClean="0"/>
              <a:t>Java-Based Implementation</a:t>
            </a:r>
            <a:endParaRPr lang="en-US" dirty="0"/>
          </a:p>
        </p:txBody>
      </p:sp>
      <p:sp>
        <p:nvSpPr>
          <p:cNvPr id="3" name="Content Placeholder 2"/>
          <p:cNvSpPr>
            <a:spLocks noGrp="1"/>
          </p:cNvSpPr>
          <p:nvPr>
            <p:ph idx="1"/>
          </p:nvPr>
        </p:nvSpPr>
        <p:spPr>
          <a:xfrm>
            <a:off x="1326788" y="1462367"/>
            <a:ext cx="7886700" cy="5128933"/>
          </a:xfrm>
        </p:spPr>
        <p:txBody>
          <a:bodyPr>
            <a:normAutofit/>
          </a:bodyPr>
          <a:lstStyle/>
          <a:p>
            <a:pPr marL="457182" lvl="1" indent="0">
              <a:buNone/>
            </a:pPr>
            <a:r>
              <a:rPr lang="en-US" dirty="0" smtClean="0"/>
              <a:t>PT agent thread that runs inside each process</a:t>
            </a:r>
          </a:p>
          <a:p>
            <a:pPr lvl="2"/>
            <a:r>
              <a:rPr lang="en-US" dirty="0" err="1" smtClean="0"/>
              <a:t>Javassist</a:t>
            </a:r>
            <a:r>
              <a:rPr lang="en-US" dirty="0" smtClean="0"/>
              <a:t> for dynamic instrumentation</a:t>
            </a:r>
          </a:p>
          <a:p>
            <a:pPr lvl="2"/>
            <a:r>
              <a:rPr lang="en-US" dirty="0" err="1" smtClean="0"/>
              <a:t>PubSub</a:t>
            </a:r>
            <a:r>
              <a:rPr lang="en-US" dirty="0" smtClean="0"/>
              <a:t> to receive commands / send tuples</a:t>
            </a:r>
          </a:p>
          <a:p>
            <a:pPr marL="0" indent="0">
              <a:buNone/>
            </a:pPr>
            <a:endParaRPr lang="en-US" dirty="0" smtClean="0"/>
          </a:p>
          <a:p>
            <a:pPr marL="457182" lvl="1" indent="0">
              <a:buNone/>
            </a:pPr>
            <a:r>
              <a:rPr lang="en-US" dirty="0" smtClean="0"/>
              <a:t>Baggage library for use by instrumented system</a:t>
            </a:r>
          </a:p>
          <a:p>
            <a:pPr lvl="2"/>
            <a:r>
              <a:rPr lang="en-US" dirty="0" smtClean="0"/>
              <a:t>Data format specified using Protocol Buffers</a:t>
            </a:r>
          </a:p>
          <a:p>
            <a:pPr marL="914363" lvl="2" indent="0">
              <a:buNone/>
            </a:pPr>
            <a:endParaRPr lang="en-US" dirty="0" smtClean="0"/>
          </a:p>
          <a:p>
            <a:pPr marL="457182" lvl="1" indent="0">
              <a:buNone/>
            </a:pPr>
            <a:r>
              <a:rPr lang="en-US" dirty="0" smtClean="0"/>
              <a:t>Front-end client library</a:t>
            </a:r>
          </a:p>
          <a:p>
            <a:pPr lvl="2"/>
            <a:r>
              <a:rPr lang="en-US" dirty="0" smtClean="0"/>
              <a:t>Define </a:t>
            </a:r>
            <a:r>
              <a:rPr lang="en-US" dirty="0" err="1" smtClean="0"/>
              <a:t>tracepoints</a:t>
            </a:r>
            <a:r>
              <a:rPr lang="en-US" dirty="0" smtClean="0"/>
              <a:t> and write text queries</a:t>
            </a:r>
          </a:p>
          <a:p>
            <a:pPr lvl="2"/>
            <a:r>
              <a:rPr lang="en-US" dirty="0" smtClean="0"/>
              <a:t>Compile queries to advice </a:t>
            </a:r>
          </a:p>
          <a:p>
            <a:pPr lvl="2"/>
            <a:r>
              <a:rPr lang="en-US" dirty="0" smtClean="0"/>
              <a:t>Submit advice to PT agents</a:t>
            </a:r>
          </a:p>
        </p:txBody>
      </p:sp>
      <p:grpSp>
        <p:nvGrpSpPr>
          <p:cNvPr id="6" name="PT Agent A"/>
          <p:cNvGrpSpPr/>
          <p:nvPr/>
        </p:nvGrpSpPr>
        <p:grpSpPr>
          <a:xfrm>
            <a:off x="650998" y="1521297"/>
            <a:ext cx="1074956" cy="469142"/>
            <a:chOff x="2626646" y="3779254"/>
            <a:chExt cx="1074956" cy="469142"/>
          </a:xfrm>
        </p:grpSpPr>
        <p:sp>
          <p:nvSpPr>
            <p:cNvPr id="7" name="Rectangle 6"/>
            <p:cNvSpPr/>
            <p:nvPr/>
          </p:nvSpPr>
          <p:spPr>
            <a:xfrm>
              <a:off x="2703536" y="3779254"/>
              <a:ext cx="998066" cy="331980"/>
            </a:xfrm>
            <a:prstGeom prst="rect">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91440" bIns="0" rtlCol="0" anchor="t" anchorCtr="0"/>
            <a:lstStyle/>
            <a:p>
              <a:pPr algn="r"/>
              <a:r>
                <a:rPr lang="en-US" dirty="0" smtClean="0">
                  <a:solidFill>
                    <a:schemeClr val="tx1"/>
                  </a:solidFill>
                </a:rPr>
                <a:t>PT Agent</a:t>
              </a:r>
              <a:endParaRPr lang="en-US" dirty="0">
                <a:solidFill>
                  <a:schemeClr val="tx1"/>
                </a:solidFill>
              </a:endParaRPr>
            </a:p>
          </p:txBody>
        </p:sp>
        <p:grpSp>
          <p:nvGrpSpPr>
            <p:cNvPr id="8" name="Group 7"/>
            <p:cNvGrpSpPr/>
            <p:nvPr/>
          </p:nvGrpSpPr>
          <p:grpSpPr>
            <a:xfrm rot="878394">
              <a:off x="2626646" y="3986085"/>
              <a:ext cx="442659" cy="262311"/>
              <a:chOff x="2015326" y="3161328"/>
              <a:chExt cx="442659" cy="262311"/>
            </a:xfrm>
          </p:grpSpPr>
          <p:sp>
            <p:nvSpPr>
              <p:cNvPr id="9" name="Freeform 8"/>
              <p:cNvSpPr/>
              <p:nvPr/>
            </p:nvSpPr>
            <p:spPr>
              <a:xfrm>
                <a:off x="2015326" y="3198159"/>
                <a:ext cx="207804" cy="225480"/>
              </a:xfrm>
              <a:custGeom>
                <a:avLst/>
                <a:gdLst>
                  <a:gd name="connsiteX0" fmla="*/ 250470 w 278551"/>
                  <a:gd name="connsiteY0" fmla="*/ 185740 h 302245"/>
                  <a:gd name="connsiteX1" fmla="*/ 278551 w 278551"/>
                  <a:gd name="connsiteY1" fmla="*/ 212135 h 302245"/>
                  <a:gd name="connsiteX2" fmla="*/ 261752 w 278551"/>
                  <a:gd name="connsiteY2" fmla="*/ 241233 h 302245"/>
                  <a:gd name="connsiteX3" fmla="*/ 225317 w 278551"/>
                  <a:gd name="connsiteY3" fmla="*/ 230252 h 302245"/>
                  <a:gd name="connsiteX4" fmla="*/ 247440 w 278551"/>
                  <a:gd name="connsiteY4" fmla="*/ 199863 h 302245"/>
                  <a:gd name="connsiteX5" fmla="*/ 139274 w 278551"/>
                  <a:gd name="connsiteY5" fmla="*/ 84295 h 302245"/>
                  <a:gd name="connsiteX6" fmla="*/ 196885 w 278551"/>
                  <a:gd name="connsiteY6" fmla="*/ 113100 h 302245"/>
                  <a:gd name="connsiteX7" fmla="*/ 196884 w 278551"/>
                  <a:gd name="connsiteY7" fmla="*/ 114931 h 302245"/>
                  <a:gd name="connsiteX8" fmla="*/ 141702 w 278551"/>
                  <a:gd name="connsiteY8" fmla="*/ 86497 h 302245"/>
                  <a:gd name="connsiteX9" fmla="*/ 91232 w 278551"/>
                  <a:gd name="connsiteY9" fmla="*/ 110971 h 302245"/>
                  <a:gd name="connsiteX10" fmla="*/ 90180 w 278551"/>
                  <a:gd name="connsiteY10" fmla="*/ 108843 h 302245"/>
                  <a:gd name="connsiteX11" fmla="*/ 93907 w 278551"/>
                  <a:gd name="connsiteY11" fmla="*/ 56612 h 302245"/>
                  <a:gd name="connsiteX12" fmla="*/ 77529 w 278551"/>
                  <a:gd name="connsiteY12" fmla="*/ 83250 h 302245"/>
                  <a:gd name="connsiteX13" fmla="*/ 90180 w 278551"/>
                  <a:gd name="connsiteY13" fmla="*/ 108843 h 302245"/>
                  <a:gd name="connsiteX14" fmla="*/ 81665 w 278551"/>
                  <a:gd name="connsiteY14" fmla="*/ 113100 h 302245"/>
                  <a:gd name="connsiteX15" fmla="*/ 81665 w 278551"/>
                  <a:gd name="connsiteY15" fmla="*/ 189144 h 302245"/>
                  <a:gd name="connsiteX16" fmla="*/ 139274 w 278551"/>
                  <a:gd name="connsiteY16" fmla="*/ 217949 h 302245"/>
                  <a:gd name="connsiteX17" fmla="*/ 196884 w 278551"/>
                  <a:gd name="connsiteY17" fmla="*/ 189144 h 302245"/>
                  <a:gd name="connsiteX18" fmla="*/ 196884 w 278551"/>
                  <a:gd name="connsiteY18" fmla="*/ 114931 h 302245"/>
                  <a:gd name="connsiteX19" fmla="*/ 198958 w 278551"/>
                  <a:gd name="connsiteY19" fmla="*/ 115999 h 302245"/>
                  <a:gd name="connsiteX20" fmla="*/ 198034 w 278551"/>
                  <a:gd name="connsiteY20" fmla="*/ 192038 h 302245"/>
                  <a:gd name="connsiteX21" fmla="*/ 144208 w 278551"/>
                  <a:gd name="connsiteY21" fmla="*/ 218139 h 302245"/>
                  <a:gd name="connsiteX22" fmla="*/ 155568 w 278551"/>
                  <a:gd name="connsiteY22" fmla="*/ 241121 h 302245"/>
                  <a:gd name="connsiteX23" fmla="*/ 182697 w 278551"/>
                  <a:gd name="connsiteY23" fmla="*/ 246757 h 302245"/>
                  <a:gd name="connsiteX24" fmla="*/ 166987 w 278551"/>
                  <a:gd name="connsiteY24" fmla="*/ 255827 h 302245"/>
                  <a:gd name="connsiteX25" fmla="*/ 156075 w 278551"/>
                  <a:gd name="connsiteY25" fmla="*/ 302245 h 302245"/>
                  <a:gd name="connsiteX26" fmla="*/ 122476 w 278551"/>
                  <a:gd name="connsiteY26" fmla="*/ 302245 h 302245"/>
                  <a:gd name="connsiteX27" fmla="*/ 111565 w 278551"/>
                  <a:gd name="connsiteY27" fmla="*/ 255827 h 302245"/>
                  <a:gd name="connsiteX28" fmla="*/ 62455 w 278551"/>
                  <a:gd name="connsiteY28" fmla="*/ 227473 h 302245"/>
                  <a:gd name="connsiteX29" fmla="*/ 16799 w 278551"/>
                  <a:gd name="connsiteY29" fmla="*/ 241233 h 302245"/>
                  <a:gd name="connsiteX30" fmla="*/ 0 w 278551"/>
                  <a:gd name="connsiteY30" fmla="*/ 212135 h 302245"/>
                  <a:gd name="connsiteX31" fmla="*/ 34743 w 278551"/>
                  <a:gd name="connsiteY31" fmla="*/ 179476 h 302245"/>
                  <a:gd name="connsiteX32" fmla="*/ 34743 w 278551"/>
                  <a:gd name="connsiteY32" fmla="*/ 122768 h 302245"/>
                  <a:gd name="connsiteX33" fmla="*/ 0 w 278551"/>
                  <a:gd name="connsiteY33" fmla="*/ 90110 h 302245"/>
                  <a:gd name="connsiteX34" fmla="*/ 16799 w 278551"/>
                  <a:gd name="connsiteY34" fmla="*/ 61012 h 302245"/>
                  <a:gd name="connsiteX35" fmla="*/ 62454 w 278551"/>
                  <a:gd name="connsiteY35" fmla="*/ 74772 h 302245"/>
                  <a:gd name="connsiteX36" fmla="*/ 122476 w 278551"/>
                  <a:gd name="connsiteY36" fmla="*/ 0 h 302245"/>
                  <a:gd name="connsiteX37" fmla="*/ 156075 w 278551"/>
                  <a:gd name="connsiteY37" fmla="*/ 0 h 302245"/>
                  <a:gd name="connsiteX38" fmla="*/ 165987 w 278551"/>
                  <a:gd name="connsiteY38" fmla="*/ 42169 h 302245"/>
                  <a:gd name="connsiteX39" fmla="*/ 142303 w 278551"/>
                  <a:gd name="connsiteY39" fmla="*/ 37087 h 302245"/>
                  <a:gd name="connsiteX40" fmla="*/ 112428 w 278551"/>
                  <a:gd name="connsiteY40" fmla="*/ 42742 h 30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78551" h="302245">
                    <a:moveTo>
                      <a:pt x="250470" y="185740"/>
                    </a:moveTo>
                    <a:lnTo>
                      <a:pt x="278551" y="212135"/>
                    </a:lnTo>
                    <a:lnTo>
                      <a:pt x="261752" y="241233"/>
                    </a:lnTo>
                    <a:lnTo>
                      <a:pt x="225317" y="230252"/>
                    </a:lnTo>
                    <a:lnTo>
                      <a:pt x="247440" y="199863"/>
                    </a:lnTo>
                    <a:close/>
                    <a:moveTo>
                      <a:pt x="139274" y="84295"/>
                    </a:moveTo>
                    <a:lnTo>
                      <a:pt x="196885" y="113100"/>
                    </a:lnTo>
                    <a:lnTo>
                      <a:pt x="196884" y="114931"/>
                    </a:lnTo>
                    <a:lnTo>
                      <a:pt x="141702" y="86497"/>
                    </a:lnTo>
                    <a:lnTo>
                      <a:pt x="91232" y="110971"/>
                    </a:lnTo>
                    <a:lnTo>
                      <a:pt x="90180" y="108843"/>
                    </a:lnTo>
                    <a:close/>
                    <a:moveTo>
                      <a:pt x="93907" y="56612"/>
                    </a:moveTo>
                    <a:lnTo>
                      <a:pt x="77529" y="83250"/>
                    </a:lnTo>
                    <a:lnTo>
                      <a:pt x="90180" y="108843"/>
                    </a:lnTo>
                    <a:lnTo>
                      <a:pt x="81665" y="113100"/>
                    </a:lnTo>
                    <a:lnTo>
                      <a:pt x="81665" y="189144"/>
                    </a:lnTo>
                    <a:lnTo>
                      <a:pt x="139274" y="217949"/>
                    </a:lnTo>
                    <a:lnTo>
                      <a:pt x="196884" y="189144"/>
                    </a:lnTo>
                    <a:lnTo>
                      <a:pt x="196884" y="114931"/>
                    </a:lnTo>
                    <a:lnTo>
                      <a:pt x="198958" y="115999"/>
                    </a:lnTo>
                    <a:lnTo>
                      <a:pt x="198034" y="192038"/>
                    </a:lnTo>
                    <a:lnTo>
                      <a:pt x="144208" y="218139"/>
                    </a:lnTo>
                    <a:lnTo>
                      <a:pt x="155568" y="241121"/>
                    </a:lnTo>
                    <a:lnTo>
                      <a:pt x="182697" y="246757"/>
                    </a:lnTo>
                    <a:lnTo>
                      <a:pt x="166987" y="255827"/>
                    </a:lnTo>
                    <a:lnTo>
                      <a:pt x="156075" y="302245"/>
                    </a:lnTo>
                    <a:lnTo>
                      <a:pt x="122476" y="302245"/>
                    </a:lnTo>
                    <a:lnTo>
                      <a:pt x="111565" y="255827"/>
                    </a:lnTo>
                    <a:cubicBezTo>
                      <a:pt x="92967" y="250905"/>
                      <a:pt x="76016" y="241118"/>
                      <a:pt x="62455" y="227473"/>
                    </a:cubicBezTo>
                    <a:lnTo>
                      <a:pt x="16799" y="241233"/>
                    </a:lnTo>
                    <a:lnTo>
                      <a:pt x="0" y="212135"/>
                    </a:lnTo>
                    <a:lnTo>
                      <a:pt x="34743" y="179476"/>
                    </a:lnTo>
                    <a:cubicBezTo>
                      <a:pt x="29707" y="160909"/>
                      <a:pt x="29707" y="141335"/>
                      <a:pt x="34743" y="122768"/>
                    </a:cubicBezTo>
                    <a:lnTo>
                      <a:pt x="0" y="90110"/>
                    </a:lnTo>
                    <a:lnTo>
                      <a:pt x="16799" y="61012"/>
                    </a:lnTo>
                    <a:lnTo>
                      <a:pt x="62454" y="74772"/>
                    </a:lnTo>
                    <a:close/>
                    <a:moveTo>
                      <a:pt x="122476" y="0"/>
                    </a:moveTo>
                    <a:lnTo>
                      <a:pt x="156075" y="0"/>
                    </a:lnTo>
                    <a:lnTo>
                      <a:pt x="165987" y="42169"/>
                    </a:lnTo>
                    <a:lnTo>
                      <a:pt x="142303" y="37087"/>
                    </a:lnTo>
                    <a:lnTo>
                      <a:pt x="112428" y="42742"/>
                    </a:lnTo>
                    <a:close/>
                  </a:path>
                </a:pathLst>
              </a:custGeom>
              <a:solidFill>
                <a:schemeClr val="bg1"/>
              </a:solidFill>
              <a:ln w="19050">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0" name="Freeform 9"/>
              <p:cNvSpPr/>
              <p:nvPr/>
            </p:nvSpPr>
            <p:spPr>
              <a:xfrm rot="20021754">
                <a:off x="2054359" y="3161328"/>
                <a:ext cx="403626" cy="168587"/>
              </a:xfrm>
              <a:custGeom>
                <a:avLst/>
                <a:gdLst>
                  <a:gd name="connsiteX0" fmla="*/ 99307 w 541041"/>
                  <a:gd name="connsiteY0" fmla="*/ 54263 h 225982"/>
                  <a:gd name="connsiteX1" fmla="*/ 136175 w 541041"/>
                  <a:gd name="connsiteY1" fmla="*/ 104206 h 225982"/>
                  <a:gd name="connsiteX2" fmla="*/ 103289 w 541041"/>
                  <a:gd name="connsiteY2" fmla="*/ 170735 h 225982"/>
                  <a:gd name="connsiteX3" fmla="*/ 38879 w 541041"/>
                  <a:gd name="connsiteY3" fmla="*/ 171028 h 225982"/>
                  <a:gd name="connsiteX4" fmla="*/ 0 w 541041"/>
                  <a:gd name="connsiteY4" fmla="*/ 119677 h 225982"/>
                  <a:gd name="connsiteX5" fmla="*/ 33698 w 541041"/>
                  <a:gd name="connsiteY5" fmla="*/ 51507 h 225982"/>
                  <a:gd name="connsiteX6" fmla="*/ 43218 w 541041"/>
                  <a:gd name="connsiteY6" fmla="*/ 51464 h 225982"/>
                  <a:gd name="connsiteX7" fmla="*/ 43218 w 541041"/>
                  <a:gd name="connsiteY7" fmla="*/ 53838 h 225982"/>
                  <a:gd name="connsiteX8" fmla="*/ 504723 w 541041"/>
                  <a:gd name="connsiteY8" fmla="*/ 53019 h 225982"/>
                  <a:gd name="connsiteX9" fmla="*/ 541041 w 541041"/>
                  <a:gd name="connsiteY9" fmla="*/ 107811 h 225982"/>
                  <a:gd name="connsiteX10" fmla="*/ 481576 w 541041"/>
                  <a:gd name="connsiteY10" fmla="*/ 167276 h 225982"/>
                  <a:gd name="connsiteX11" fmla="*/ 171988 w 541041"/>
                  <a:gd name="connsiteY11" fmla="*/ 167276 h 225982"/>
                  <a:gd name="connsiteX12" fmla="*/ 143860 w 541041"/>
                  <a:gd name="connsiteY12" fmla="*/ 202747 h 225982"/>
                  <a:gd name="connsiteX13" fmla="*/ 99545 w 541041"/>
                  <a:gd name="connsiteY13" fmla="*/ 225955 h 225982"/>
                  <a:gd name="connsiteX14" fmla="*/ 99000 w 541041"/>
                  <a:gd name="connsiteY14" fmla="*/ 225982 h 225982"/>
                  <a:gd name="connsiteX15" fmla="*/ 66761 w 541041"/>
                  <a:gd name="connsiteY15" fmla="*/ 217441 h 225982"/>
                  <a:gd name="connsiteX16" fmla="*/ 43218 w 541041"/>
                  <a:gd name="connsiteY16" fmla="*/ 199021 h 225982"/>
                  <a:gd name="connsiteX17" fmla="*/ 43218 w 541041"/>
                  <a:gd name="connsiteY17" fmla="*/ 173385 h 225982"/>
                  <a:gd name="connsiteX18" fmla="*/ 103037 w 541041"/>
                  <a:gd name="connsiteY18" fmla="*/ 173839 h 225982"/>
                  <a:gd name="connsiteX19" fmla="*/ 137561 w 541041"/>
                  <a:gd name="connsiteY19" fmla="*/ 106083 h 225982"/>
                  <a:gd name="connsiteX20" fmla="*/ 136175 w 541041"/>
                  <a:gd name="connsiteY20" fmla="*/ 104206 h 225982"/>
                  <a:gd name="connsiteX21" fmla="*/ 136987 w 541041"/>
                  <a:gd name="connsiteY21" fmla="*/ 102565 h 225982"/>
                  <a:gd name="connsiteX22" fmla="*/ 98106 w 541041"/>
                  <a:gd name="connsiteY22" fmla="*/ 51213 h 225982"/>
                  <a:gd name="connsiteX23" fmla="*/ 43218 w 541041"/>
                  <a:gd name="connsiteY23" fmla="*/ 51464 h 225982"/>
                  <a:gd name="connsiteX24" fmla="*/ 43218 w 541041"/>
                  <a:gd name="connsiteY24" fmla="*/ 22915 h 225982"/>
                  <a:gd name="connsiteX25" fmla="*/ 77964 w 541041"/>
                  <a:gd name="connsiteY25" fmla="*/ 1110 h 225982"/>
                  <a:gd name="connsiteX26" fmla="*/ 85046 w 541041"/>
                  <a:gd name="connsiteY26" fmla="*/ 0 h 225982"/>
                  <a:gd name="connsiteX27" fmla="*/ 121741 w 541041"/>
                  <a:gd name="connsiteY27" fmla="*/ 10236 h 225982"/>
                  <a:gd name="connsiteX28" fmla="*/ 157909 w 541041"/>
                  <a:gd name="connsiteY28" fmla="*/ 38916 h 225982"/>
                  <a:gd name="connsiteX29" fmla="*/ 163138 w 541041"/>
                  <a:gd name="connsiteY29" fmla="*/ 48346 h 225982"/>
                  <a:gd name="connsiteX30" fmla="*/ 481576 w 541041"/>
                  <a:gd name="connsiteY30" fmla="*/ 48346 h 225982"/>
                  <a:gd name="connsiteX31" fmla="*/ 504723 w 541041"/>
                  <a:gd name="connsiteY31" fmla="*/ 53019 h 22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41041" h="225982">
                    <a:moveTo>
                      <a:pt x="99307" y="54263"/>
                    </a:moveTo>
                    <a:lnTo>
                      <a:pt x="136175" y="104206"/>
                    </a:lnTo>
                    <a:lnTo>
                      <a:pt x="103289" y="170735"/>
                    </a:lnTo>
                    <a:lnTo>
                      <a:pt x="38879" y="171028"/>
                    </a:lnTo>
                    <a:lnTo>
                      <a:pt x="0" y="119677"/>
                    </a:lnTo>
                    <a:lnTo>
                      <a:pt x="33698" y="51507"/>
                    </a:lnTo>
                    <a:lnTo>
                      <a:pt x="43218" y="51464"/>
                    </a:lnTo>
                    <a:lnTo>
                      <a:pt x="43218" y="53838"/>
                    </a:lnTo>
                    <a:close/>
                    <a:moveTo>
                      <a:pt x="504723" y="53019"/>
                    </a:moveTo>
                    <a:cubicBezTo>
                      <a:pt x="526066" y="62046"/>
                      <a:pt x="541041" y="83180"/>
                      <a:pt x="541041" y="107811"/>
                    </a:cubicBezTo>
                    <a:cubicBezTo>
                      <a:pt x="541041" y="140653"/>
                      <a:pt x="514418" y="167276"/>
                      <a:pt x="481576" y="167276"/>
                    </a:cubicBezTo>
                    <a:lnTo>
                      <a:pt x="171988" y="167276"/>
                    </a:lnTo>
                    <a:lnTo>
                      <a:pt x="143860" y="202747"/>
                    </a:lnTo>
                    <a:cubicBezTo>
                      <a:pt x="130861" y="213683"/>
                      <a:pt x="115692" y="221548"/>
                      <a:pt x="99545" y="225955"/>
                    </a:cubicBezTo>
                    <a:lnTo>
                      <a:pt x="99000" y="225982"/>
                    </a:lnTo>
                    <a:lnTo>
                      <a:pt x="66761" y="217441"/>
                    </a:lnTo>
                    <a:lnTo>
                      <a:pt x="43218" y="199021"/>
                    </a:lnTo>
                    <a:lnTo>
                      <a:pt x="43218" y="173385"/>
                    </a:lnTo>
                    <a:lnTo>
                      <a:pt x="103037" y="173839"/>
                    </a:lnTo>
                    <a:lnTo>
                      <a:pt x="137561" y="106083"/>
                    </a:lnTo>
                    <a:lnTo>
                      <a:pt x="136175" y="104206"/>
                    </a:lnTo>
                    <a:lnTo>
                      <a:pt x="136987" y="102565"/>
                    </a:lnTo>
                    <a:lnTo>
                      <a:pt x="98106" y="51213"/>
                    </a:lnTo>
                    <a:lnTo>
                      <a:pt x="43218" y="51464"/>
                    </a:lnTo>
                    <a:lnTo>
                      <a:pt x="43218" y="22915"/>
                    </a:lnTo>
                    <a:lnTo>
                      <a:pt x="77964" y="1110"/>
                    </a:lnTo>
                    <a:lnTo>
                      <a:pt x="85046" y="0"/>
                    </a:lnTo>
                    <a:lnTo>
                      <a:pt x="121741" y="10236"/>
                    </a:lnTo>
                    <a:cubicBezTo>
                      <a:pt x="136041" y="17522"/>
                      <a:pt x="148188" y="27361"/>
                      <a:pt x="157909" y="38916"/>
                    </a:cubicBezTo>
                    <a:lnTo>
                      <a:pt x="163138" y="48346"/>
                    </a:lnTo>
                    <a:lnTo>
                      <a:pt x="481576" y="48346"/>
                    </a:lnTo>
                    <a:cubicBezTo>
                      <a:pt x="489787" y="48346"/>
                      <a:pt x="497608" y="50010"/>
                      <a:pt x="504723" y="53019"/>
                    </a:cubicBezTo>
                    <a:close/>
                  </a:path>
                </a:pathLst>
              </a:cu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1" name="Hexagon 10"/>
              <p:cNvSpPr/>
              <p:nvPr/>
            </p:nvSpPr>
            <p:spPr>
              <a:xfrm rot="16200000">
                <a:off x="2067787" y="3266584"/>
                <a:ext cx="102880" cy="89052"/>
              </a:xfrm>
              <a:prstGeom prst="hexagon">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grpSp>
      <p:sp>
        <p:nvSpPr>
          <p:cNvPr id="27" name="Freeform 26"/>
          <p:cNvSpPr/>
          <p:nvPr/>
        </p:nvSpPr>
        <p:spPr>
          <a:xfrm flipH="1">
            <a:off x="891542" y="2931247"/>
            <a:ext cx="593869" cy="486346"/>
          </a:xfrm>
          <a:custGeom>
            <a:avLst/>
            <a:gdLst>
              <a:gd name="connsiteX0" fmla="*/ 205184 w 1161142"/>
              <a:gd name="connsiteY0" fmla="*/ 225311 h 1009083"/>
              <a:gd name="connsiteX1" fmla="*/ 130631 w 1161142"/>
              <a:gd name="connsiteY1" fmla="*/ 225311 h 1009083"/>
              <a:gd name="connsiteX2" fmla="*/ 0 w 1161142"/>
              <a:gd name="connsiteY2" fmla="*/ 355942 h 1009083"/>
              <a:gd name="connsiteX3" fmla="*/ 0 w 1161142"/>
              <a:gd name="connsiteY3" fmla="*/ 878452 h 1009083"/>
              <a:gd name="connsiteX4" fmla="*/ 130631 w 1161142"/>
              <a:gd name="connsiteY4" fmla="*/ 1009083 h 1009083"/>
              <a:gd name="connsiteX5" fmla="*/ 205184 w 1161142"/>
              <a:gd name="connsiteY5" fmla="*/ 1009083 h 1009083"/>
              <a:gd name="connsiteX6" fmla="*/ 1030511 w 1161142"/>
              <a:gd name="connsiteY6" fmla="*/ 225311 h 1009083"/>
              <a:gd name="connsiteX7" fmla="*/ 955958 w 1161142"/>
              <a:gd name="connsiteY7" fmla="*/ 225311 h 1009083"/>
              <a:gd name="connsiteX8" fmla="*/ 955958 w 1161142"/>
              <a:gd name="connsiteY8" fmla="*/ 1009083 h 1009083"/>
              <a:gd name="connsiteX9" fmla="*/ 1030511 w 1161142"/>
              <a:gd name="connsiteY9" fmla="*/ 1009083 h 1009083"/>
              <a:gd name="connsiteX10" fmla="*/ 1161142 w 1161142"/>
              <a:gd name="connsiteY10" fmla="*/ 878452 h 1009083"/>
              <a:gd name="connsiteX11" fmla="*/ 1161142 w 1161142"/>
              <a:gd name="connsiteY11" fmla="*/ 355942 h 1009083"/>
              <a:gd name="connsiteX12" fmla="*/ 1030511 w 1161142"/>
              <a:gd name="connsiteY12" fmla="*/ 225311 h 1009083"/>
              <a:gd name="connsiteX13" fmla="*/ 580571 w 1161142"/>
              <a:gd name="connsiteY13" fmla="*/ 76200 h 1009083"/>
              <a:gd name="connsiteX14" fmla="*/ 729682 w 1161142"/>
              <a:gd name="connsiteY14" fmla="*/ 225311 h 1009083"/>
              <a:gd name="connsiteX15" fmla="*/ 431460 w 1161142"/>
              <a:gd name="connsiteY15" fmla="*/ 225311 h 1009083"/>
              <a:gd name="connsiteX16" fmla="*/ 580571 w 1161142"/>
              <a:gd name="connsiteY16" fmla="*/ 76200 h 1009083"/>
              <a:gd name="connsiteX17" fmla="*/ 580571 w 1161142"/>
              <a:gd name="connsiteY17" fmla="*/ 0 h 1009083"/>
              <a:gd name="connsiteX18" fmla="*/ 355260 w 1161142"/>
              <a:gd name="connsiteY18" fmla="*/ 225311 h 1009083"/>
              <a:gd name="connsiteX19" fmla="*/ 290704 w 1161142"/>
              <a:gd name="connsiteY19" fmla="*/ 225311 h 1009083"/>
              <a:gd name="connsiteX20" fmla="*/ 290704 w 1161142"/>
              <a:gd name="connsiteY20" fmla="*/ 1009083 h 1009083"/>
              <a:gd name="connsiteX21" fmla="*/ 870438 w 1161142"/>
              <a:gd name="connsiteY21" fmla="*/ 1009083 h 1009083"/>
              <a:gd name="connsiteX22" fmla="*/ 870438 w 1161142"/>
              <a:gd name="connsiteY22" fmla="*/ 225311 h 1009083"/>
              <a:gd name="connsiteX23" fmla="*/ 805882 w 1161142"/>
              <a:gd name="connsiteY23" fmla="*/ 225311 h 1009083"/>
              <a:gd name="connsiteX24" fmla="*/ 580571 w 1161142"/>
              <a:gd name="connsiteY24" fmla="*/ 0 h 100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61142" h="1009083">
                <a:moveTo>
                  <a:pt x="205184" y="225311"/>
                </a:moveTo>
                <a:lnTo>
                  <a:pt x="130631" y="225311"/>
                </a:lnTo>
                <a:cubicBezTo>
                  <a:pt x="58485" y="225311"/>
                  <a:pt x="0" y="283796"/>
                  <a:pt x="0" y="355942"/>
                </a:cubicBezTo>
                <a:lnTo>
                  <a:pt x="0" y="878452"/>
                </a:lnTo>
                <a:cubicBezTo>
                  <a:pt x="0" y="950598"/>
                  <a:pt x="58485" y="1009083"/>
                  <a:pt x="130631" y="1009083"/>
                </a:cubicBezTo>
                <a:lnTo>
                  <a:pt x="205184" y="1009083"/>
                </a:lnTo>
                <a:close/>
                <a:moveTo>
                  <a:pt x="1030511" y="225311"/>
                </a:moveTo>
                <a:lnTo>
                  <a:pt x="955958" y="225311"/>
                </a:lnTo>
                <a:lnTo>
                  <a:pt x="955958" y="1009083"/>
                </a:lnTo>
                <a:lnTo>
                  <a:pt x="1030511" y="1009083"/>
                </a:lnTo>
                <a:cubicBezTo>
                  <a:pt x="1102657" y="1009083"/>
                  <a:pt x="1161142" y="950598"/>
                  <a:pt x="1161142" y="878452"/>
                </a:cubicBezTo>
                <a:lnTo>
                  <a:pt x="1161142" y="355942"/>
                </a:lnTo>
                <a:cubicBezTo>
                  <a:pt x="1161142" y="283796"/>
                  <a:pt x="1102657" y="225311"/>
                  <a:pt x="1030511" y="225311"/>
                </a:cubicBezTo>
                <a:close/>
                <a:moveTo>
                  <a:pt x="580571" y="76200"/>
                </a:moveTo>
                <a:cubicBezTo>
                  <a:pt x="662923" y="76200"/>
                  <a:pt x="729682" y="142959"/>
                  <a:pt x="729682" y="225311"/>
                </a:cubicBezTo>
                <a:lnTo>
                  <a:pt x="431460" y="225311"/>
                </a:lnTo>
                <a:cubicBezTo>
                  <a:pt x="431460" y="142959"/>
                  <a:pt x="498219" y="76200"/>
                  <a:pt x="580571" y="76200"/>
                </a:cubicBezTo>
                <a:close/>
                <a:moveTo>
                  <a:pt x="580571" y="0"/>
                </a:moveTo>
                <a:cubicBezTo>
                  <a:pt x="456135" y="0"/>
                  <a:pt x="355260" y="100875"/>
                  <a:pt x="355260" y="225311"/>
                </a:cubicBezTo>
                <a:lnTo>
                  <a:pt x="290704" y="225311"/>
                </a:lnTo>
                <a:lnTo>
                  <a:pt x="290704" y="1009083"/>
                </a:lnTo>
                <a:lnTo>
                  <a:pt x="870438" y="1009083"/>
                </a:lnTo>
                <a:lnTo>
                  <a:pt x="870438" y="225311"/>
                </a:lnTo>
                <a:lnTo>
                  <a:pt x="805882" y="225311"/>
                </a:lnTo>
                <a:cubicBezTo>
                  <a:pt x="805882" y="100875"/>
                  <a:pt x="705007" y="0"/>
                  <a:pt x="580571"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nvGrpSpPr>
          <p:cNvPr id="45" name="Group 44"/>
          <p:cNvGrpSpPr/>
          <p:nvPr/>
        </p:nvGrpSpPr>
        <p:grpSpPr>
          <a:xfrm>
            <a:off x="643356" y="4145488"/>
            <a:ext cx="1090242" cy="787796"/>
            <a:chOff x="-28547" y="5332823"/>
            <a:chExt cx="1586614" cy="1146468"/>
          </a:xfrm>
        </p:grpSpPr>
        <p:grpSp>
          <p:nvGrpSpPr>
            <p:cNvPr id="31" name="Group 30"/>
            <p:cNvGrpSpPr/>
            <p:nvPr/>
          </p:nvGrpSpPr>
          <p:grpSpPr>
            <a:xfrm>
              <a:off x="-28547" y="5332823"/>
              <a:ext cx="1586614" cy="725967"/>
              <a:chOff x="384821" y="2028737"/>
              <a:chExt cx="1586614" cy="725967"/>
            </a:xfrm>
          </p:grpSpPr>
          <p:sp>
            <p:nvSpPr>
              <p:cNvPr id="32" name="Rounded Rectangle 31"/>
              <p:cNvSpPr/>
              <p:nvPr/>
            </p:nvSpPr>
            <p:spPr>
              <a:xfrm>
                <a:off x="384821" y="2028737"/>
                <a:ext cx="1586614" cy="7259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nvGrpSpPr>
              <p:cNvPr id="33" name="Group 32"/>
              <p:cNvGrpSpPr/>
              <p:nvPr/>
            </p:nvGrpSpPr>
            <p:grpSpPr>
              <a:xfrm>
                <a:off x="457873" y="2061785"/>
                <a:ext cx="1462468" cy="663541"/>
                <a:chOff x="2520824" y="942277"/>
                <a:chExt cx="1462468" cy="663542"/>
              </a:xfrm>
            </p:grpSpPr>
            <p:pic>
              <p:nvPicPr>
                <p:cNvPr id="34" name="Picture 33"/>
                <p:cNvPicPr>
                  <a:picLocks noChangeAspect="1"/>
                </p:cNvPicPr>
                <p:nvPr/>
              </p:nvPicPr>
              <p:blipFill>
                <a:blip r:embed="rId3"/>
                <a:stretch>
                  <a:fillRect/>
                </a:stretch>
              </p:blipFill>
              <p:spPr>
                <a:xfrm>
                  <a:off x="2520824" y="1094677"/>
                  <a:ext cx="361360" cy="314271"/>
                </a:xfrm>
                <a:prstGeom prst="rect">
                  <a:avLst/>
                </a:prstGeom>
              </p:spPr>
            </p:pic>
            <p:grpSp>
              <p:nvGrpSpPr>
                <p:cNvPr id="35" name="Group 34"/>
                <p:cNvGrpSpPr/>
                <p:nvPr/>
              </p:nvGrpSpPr>
              <p:grpSpPr>
                <a:xfrm>
                  <a:off x="3372144" y="942277"/>
                  <a:ext cx="611148" cy="663542"/>
                  <a:chOff x="3372144" y="942277"/>
                  <a:chExt cx="611148" cy="663542"/>
                </a:xfrm>
              </p:grpSpPr>
              <p:grpSp>
                <p:nvGrpSpPr>
                  <p:cNvPr id="37" name="Group 36"/>
                  <p:cNvGrpSpPr/>
                  <p:nvPr/>
                </p:nvGrpSpPr>
                <p:grpSpPr>
                  <a:xfrm>
                    <a:off x="3678492" y="942277"/>
                    <a:ext cx="304800" cy="304800"/>
                    <a:chOff x="249913" y="289635"/>
                    <a:chExt cx="304800" cy="304800"/>
                  </a:xfrm>
                </p:grpSpPr>
                <p:sp>
                  <p:nvSpPr>
                    <p:cNvPr id="43" name="Tracepoint 5"/>
                    <p:cNvSpPr/>
                    <p:nvPr/>
                  </p:nvSpPr>
                  <p:spPr>
                    <a:xfrm>
                      <a:off x="249913" y="289635"/>
                      <a:ext cx="304800" cy="304800"/>
                    </a:xfrm>
                    <a:prstGeom prst="ellipse">
                      <a:avLst/>
                    </a:prstGeom>
                    <a:solidFill>
                      <a:srgbClr val="E1E1FF"/>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44" name="TextBox 43"/>
                    <p:cNvSpPr txBox="1"/>
                    <p:nvPr/>
                  </p:nvSpPr>
                  <p:spPr>
                    <a:xfrm>
                      <a:off x="276733" y="290092"/>
                      <a:ext cx="249613" cy="268742"/>
                    </a:xfrm>
                    <a:prstGeom prst="rect">
                      <a:avLst/>
                    </a:prstGeom>
                    <a:noFill/>
                  </p:spPr>
                  <p:txBody>
                    <a:bodyPr wrap="none" lIns="0" tIns="0" rIns="0" bIns="0" rtlCol="0" anchor="ctr" anchorCtr="0">
                      <a:spAutoFit/>
                    </a:bodyPr>
                    <a:lstStyle/>
                    <a:p>
                      <a:pPr algn="ctr"/>
                      <a:r>
                        <a:rPr lang="en-US" sz="1200" b="1" dirty="0" smtClean="0"/>
                        <a:t>A1</a:t>
                      </a:r>
                      <a:endParaRPr lang="en-US" sz="1200" b="1" dirty="0"/>
                    </a:p>
                  </p:txBody>
                </p:sp>
              </p:grpSp>
              <p:grpSp>
                <p:nvGrpSpPr>
                  <p:cNvPr id="38" name="Group 37"/>
                  <p:cNvGrpSpPr/>
                  <p:nvPr/>
                </p:nvGrpSpPr>
                <p:grpSpPr>
                  <a:xfrm>
                    <a:off x="3678492" y="1301019"/>
                    <a:ext cx="304800" cy="304800"/>
                    <a:chOff x="249913" y="289635"/>
                    <a:chExt cx="304800" cy="304800"/>
                  </a:xfrm>
                </p:grpSpPr>
                <p:sp>
                  <p:nvSpPr>
                    <p:cNvPr id="41" name="Tracepoint 5"/>
                    <p:cNvSpPr/>
                    <p:nvPr/>
                  </p:nvSpPr>
                  <p:spPr>
                    <a:xfrm>
                      <a:off x="249913" y="289635"/>
                      <a:ext cx="304800" cy="304800"/>
                    </a:xfrm>
                    <a:prstGeom prst="ellipse">
                      <a:avLst/>
                    </a:prstGeom>
                    <a:solidFill>
                      <a:srgbClr val="E1E1FF"/>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42" name="TextBox 41"/>
                    <p:cNvSpPr txBox="1"/>
                    <p:nvPr/>
                  </p:nvSpPr>
                  <p:spPr>
                    <a:xfrm>
                      <a:off x="281398" y="299618"/>
                      <a:ext cx="240281" cy="268743"/>
                    </a:xfrm>
                    <a:prstGeom prst="rect">
                      <a:avLst/>
                    </a:prstGeom>
                    <a:noFill/>
                  </p:spPr>
                  <p:txBody>
                    <a:bodyPr wrap="none" lIns="0" tIns="0" rIns="0" bIns="0" rtlCol="0" anchor="ctr" anchorCtr="0">
                      <a:spAutoFit/>
                    </a:bodyPr>
                    <a:lstStyle/>
                    <a:p>
                      <a:pPr algn="ctr"/>
                      <a:r>
                        <a:rPr lang="en-US" sz="1200" b="1" dirty="0"/>
                        <a:t>B</a:t>
                      </a:r>
                      <a:r>
                        <a:rPr lang="en-US" sz="1200" b="1" dirty="0" smtClean="0"/>
                        <a:t>1</a:t>
                      </a:r>
                      <a:endParaRPr lang="en-US" sz="1200" b="1" dirty="0"/>
                    </a:p>
                  </p:txBody>
                </p:sp>
              </p:grpSp>
              <p:sp>
                <p:nvSpPr>
                  <p:cNvPr id="39" name="Tracepoint 3"/>
                  <p:cNvSpPr/>
                  <p:nvPr/>
                </p:nvSpPr>
                <p:spPr>
                  <a:xfrm>
                    <a:off x="3373692" y="942277"/>
                    <a:ext cx="304800" cy="304800"/>
                  </a:xfrm>
                  <a:prstGeom prst="ellipse">
                    <a:avLst/>
                  </a:prstGeom>
                  <a:solidFill>
                    <a:srgbClr val="FFE1E1"/>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solidFill>
                          <a:schemeClr val="tx1"/>
                        </a:solidFill>
                      </a:rPr>
                      <a:t>A</a:t>
                    </a:r>
                    <a:endParaRPr lang="en-US" sz="1200" b="1" dirty="0">
                      <a:solidFill>
                        <a:schemeClr val="tx1"/>
                      </a:solidFill>
                    </a:endParaRPr>
                  </a:p>
                </p:txBody>
              </p:sp>
              <p:sp>
                <p:nvSpPr>
                  <p:cNvPr id="40" name="Tracepoint 3"/>
                  <p:cNvSpPr/>
                  <p:nvPr/>
                </p:nvSpPr>
                <p:spPr>
                  <a:xfrm>
                    <a:off x="3372144" y="1301019"/>
                    <a:ext cx="304800" cy="304800"/>
                  </a:xfrm>
                  <a:prstGeom prst="ellipse">
                    <a:avLst/>
                  </a:prstGeom>
                  <a:solidFill>
                    <a:srgbClr val="FFE1E1"/>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solidFill>
                          <a:schemeClr val="tx1"/>
                        </a:solidFill>
                      </a:rPr>
                      <a:t>B</a:t>
                    </a:r>
                    <a:endParaRPr lang="en-US" sz="1200" b="1" dirty="0">
                      <a:solidFill>
                        <a:schemeClr val="tx1"/>
                      </a:solidFill>
                    </a:endParaRPr>
                  </a:p>
                </p:txBody>
              </p:sp>
            </p:grpSp>
            <p:sp>
              <p:nvSpPr>
                <p:cNvPr id="36" name="Right Arrow 35"/>
                <p:cNvSpPr/>
                <p:nvPr/>
              </p:nvSpPr>
              <p:spPr>
                <a:xfrm>
                  <a:off x="2973310" y="1150572"/>
                  <a:ext cx="285750" cy="243282"/>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grpSp>
        <p:sp>
          <p:nvSpPr>
            <p:cNvPr id="30" name="PivotTracingFrontEnd"/>
            <p:cNvSpPr txBox="1"/>
            <p:nvPr/>
          </p:nvSpPr>
          <p:spPr>
            <a:xfrm>
              <a:off x="146841" y="6035867"/>
              <a:ext cx="1235839" cy="443424"/>
            </a:xfrm>
            <a:prstGeom prst="rect">
              <a:avLst/>
            </a:prstGeom>
            <a:solidFill>
              <a:schemeClr val="bg1"/>
            </a:solidFill>
            <a:ln w="28575">
              <a:solidFill>
                <a:schemeClr val="tx1"/>
              </a:solidFill>
            </a:ln>
          </p:spPr>
          <p:txBody>
            <a:bodyPr wrap="none" lIns="27432" tIns="45720" rIns="27432" bIns="0" rtlCol="0">
              <a:spAutoFit/>
            </a:bodyPr>
            <a:lstStyle/>
            <a:p>
              <a:pPr algn="ctr">
                <a:lnSpc>
                  <a:spcPct val="70000"/>
                </a:lnSpc>
              </a:pPr>
              <a:r>
                <a:rPr lang="en-US" sz="1200" dirty="0" smtClean="0"/>
                <a:t>Pivot Tracing</a:t>
              </a:r>
            </a:p>
            <a:p>
              <a:pPr algn="ctr">
                <a:lnSpc>
                  <a:spcPct val="70000"/>
                </a:lnSpc>
              </a:pPr>
              <a:r>
                <a:rPr lang="en-US" sz="1200" dirty="0" smtClean="0"/>
                <a:t>Front End</a:t>
              </a:r>
              <a:endParaRPr lang="en-US" sz="1200" dirty="0"/>
            </a:p>
          </p:txBody>
        </p:sp>
      </p:grpSp>
      <p:sp>
        <p:nvSpPr>
          <p:cNvPr id="4" name="Slide Number Placeholder 3"/>
          <p:cNvSpPr>
            <a:spLocks noGrp="1"/>
          </p:cNvSpPr>
          <p:nvPr>
            <p:ph type="sldNum" sz="quarter" idx="12"/>
          </p:nvPr>
        </p:nvSpPr>
        <p:spPr/>
        <p:txBody>
          <a:bodyPr/>
          <a:lstStyle/>
          <a:p>
            <a:fld id="{D431E30F-8439-471B-9257-EDD8E85CDBC8}" type="slidenum">
              <a:rPr lang="en-US" smtClean="0"/>
              <a:t>31</a:t>
            </a:fld>
            <a:endParaRPr lang="en-US"/>
          </a:p>
        </p:txBody>
      </p:sp>
    </p:spTree>
    <p:extLst>
      <p:ext uri="{BB962C8B-B14F-4D97-AF65-F5344CB8AC3E}">
        <p14:creationId xmlns:p14="http://schemas.microsoft.com/office/powerpoint/2010/main" val="437733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500"/>
                                        <p:tgtEl>
                                          <p:spTgt spid="3">
                                            <p:txEl>
                                              <p:p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500"/>
                                        <p:tgtEl>
                                          <p:spTgt spid="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fade">
                                      <p:cBhvr>
                                        <p:cTn id="21" dur="500"/>
                                        <p:tgtEl>
                                          <p:spTgt spid="27"/>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500"/>
                                        <p:tgtEl>
                                          <p:spTgt spid="3">
                                            <p:txEl>
                                              <p:pRg st="4" end="4"/>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5"/>
                                        </p:tgtEl>
                                        <p:attrNameLst>
                                          <p:attrName>style.visibility</p:attrName>
                                        </p:attrNameLst>
                                      </p:cBhvr>
                                      <p:to>
                                        <p:strVal val="visible"/>
                                      </p:to>
                                    </p:set>
                                    <p:animEffect transition="in" filter="fade">
                                      <p:cBhvr>
                                        <p:cTn id="32" dur="500"/>
                                        <p:tgtEl>
                                          <p:spTgt spid="45"/>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fade">
                                      <p:cBhvr>
                                        <p:cTn id="35" dur="500"/>
                                        <p:tgtEl>
                                          <p:spTgt spid="3">
                                            <p:txEl>
                                              <p:pRg st="7" end="7"/>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3">
                                            <p:txEl>
                                              <p:pRg st="8" end="8"/>
                                            </p:txEl>
                                          </p:spTgt>
                                        </p:tgtEl>
                                        <p:attrNameLst>
                                          <p:attrName>style.visibility</p:attrName>
                                        </p:attrNameLst>
                                      </p:cBhvr>
                                      <p:to>
                                        <p:strVal val="visible"/>
                                      </p:to>
                                    </p:set>
                                    <p:animEffect transition="in" filter="fade">
                                      <p:cBhvr>
                                        <p:cTn id="38" dur="500"/>
                                        <p:tgtEl>
                                          <p:spTgt spid="3">
                                            <p:txEl>
                                              <p:pRg st="8" end="8"/>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3">
                                            <p:txEl>
                                              <p:pRg st="9" end="9"/>
                                            </p:txEl>
                                          </p:spTgt>
                                        </p:tgtEl>
                                        <p:attrNameLst>
                                          <p:attrName>style.visibility</p:attrName>
                                        </p:attrNameLst>
                                      </p:cBhvr>
                                      <p:to>
                                        <p:strVal val="visible"/>
                                      </p:to>
                                    </p:set>
                                    <p:animEffect transition="in" filter="fade">
                                      <p:cBhvr>
                                        <p:cTn id="41" dur="500"/>
                                        <p:tgtEl>
                                          <p:spTgt spid="3">
                                            <p:txEl>
                                              <p:pRg st="9" end="9"/>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3">
                                            <p:txEl>
                                              <p:pRg st="10" end="10"/>
                                            </p:txEl>
                                          </p:spTgt>
                                        </p:tgtEl>
                                        <p:attrNameLst>
                                          <p:attrName>style.visibility</p:attrName>
                                        </p:attrNameLst>
                                      </p:cBhvr>
                                      <p:to>
                                        <p:strVal val="visible"/>
                                      </p:to>
                                    </p:set>
                                    <p:animEffect transition="in" filter="fade">
                                      <p:cBhvr>
                                        <p:cTn id="44"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Group 49"/>
          <p:cNvGrpSpPr/>
          <p:nvPr/>
        </p:nvGrpSpPr>
        <p:grpSpPr>
          <a:xfrm>
            <a:off x="1186072" y="886422"/>
            <a:ext cx="6633414" cy="2047776"/>
            <a:chOff x="1255293" y="1667472"/>
            <a:chExt cx="6633414" cy="2047776"/>
          </a:xfrm>
        </p:grpSpPr>
        <p:grpSp>
          <p:nvGrpSpPr>
            <p:cNvPr id="33" name="Instrumented System"/>
            <p:cNvGrpSpPr/>
            <p:nvPr/>
          </p:nvGrpSpPr>
          <p:grpSpPr>
            <a:xfrm>
              <a:off x="1255293" y="1667472"/>
              <a:ext cx="6633414" cy="369332"/>
              <a:chOff x="2028805" y="-25868"/>
              <a:chExt cx="6633414" cy="369332"/>
            </a:xfrm>
          </p:grpSpPr>
          <p:cxnSp>
            <p:nvCxnSpPr>
              <p:cNvPr id="34" name="Straight Connector 33"/>
              <p:cNvCxnSpPr/>
              <p:nvPr/>
            </p:nvCxnSpPr>
            <p:spPr>
              <a:xfrm>
                <a:off x="2055612" y="294968"/>
                <a:ext cx="660660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2028805" y="-25868"/>
                <a:ext cx="2184893" cy="369332"/>
              </a:xfrm>
              <a:prstGeom prst="rect">
                <a:avLst/>
              </a:prstGeom>
              <a:noFill/>
            </p:spPr>
            <p:txBody>
              <a:bodyPr wrap="none" rtlCol="0">
                <a:spAutoFit/>
              </a:bodyPr>
              <a:lstStyle/>
              <a:p>
                <a:r>
                  <a:rPr lang="en-US" dirty="0" smtClean="0"/>
                  <a:t>Pivot Tracing Enabled</a:t>
                </a:r>
                <a:endParaRPr lang="en-US" dirty="0"/>
              </a:p>
            </p:txBody>
          </p:sp>
          <p:sp>
            <p:nvSpPr>
              <p:cNvPr id="36" name="TextBox 35"/>
              <p:cNvSpPr txBox="1"/>
              <p:nvPr/>
            </p:nvSpPr>
            <p:spPr>
              <a:xfrm>
                <a:off x="4222190" y="-25868"/>
                <a:ext cx="370614" cy="369332"/>
              </a:xfrm>
              <a:prstGeom prst="rect">
                <a:avLst/>
              </a:prstGeom>
              <a:noFill/>
            </p:spPr>
            <p:txBody>
              <a:bodyPr wrap="none" rtlCol="0">
                <a:spAutoFit/>
              </a:bodyPr>
              <a:lstStyle/>
              <a:p>
                <a:r>
                  <a:rPr lang="en-US" dirty="0" smtClean="0"/>
                  <a:t>(+</a:t>
                </a:r>
                <a:endParaRPr lang="en-US" dirty="0"/>
              </a:p>
            </p:txBody>
          </p:sp>
          <p:sp>
            <p:nvSpPr>
              <p:cNvPr id="37" name="Freeform 36"/>
              <p:cNvSpPr/>
              <p:nvPr/>
            </p:nvSpPr>
            <p:spPr>
              <a:xfrm flipH="1">
                <a:off x="4521318" y="48908"/>
                <a:ext cx="268369" cy="219780"/>
              </a:xfrm>
              <a:custGeom>
                <a:avLst/>
                <a:gdLst>
                  <a:gd name="connsiteX0" fmla="*/ 205184 w 1161142"/>
                  <a:gd name="connsiteY0" fmla="*/ 225311 h 1009083"/>
                  <a:gd name="connsiteX1" fmla="*/ 130631 w 1161142"/>
                  <a:gd name="connsiteY1" fmla="*/ 225311 h 1009083"/>
                  <a:gd name="connsiteX2" fmla="*/ 0 w 1161142"/>
                  <a:gd name="connsiteY2" fmla="*/ 355942 h 1009083"/>
                  <a:gd name="connsiteX3" fmla="*/ 0 w 1161142"/>
                  <a:gd name="connsiteY3" fmla="*/ 878452 h 1009083"/>
                  <a:gd name="connsiteX4" fmla="*/ 130631 w 1161142"/>
                  <a:gd name="connsiteY4" fmla="*/ 1009083 h 1009083"/>
                  <a:gd name="connsiteX5" fmla="*/ 205184 w 1161142"/>
                  <a:gd name="connsiteY5" fmla="*/ 1009083 h 1009083"/>
                  <a:gd name="connsiteX6" fmla="*/ 1030511 w 1161142"/>
                  <a:gd name="connsiteY6" fmla="*/ 225311 h 1009083"/>
                  <a:gd name="connsiteX7" fmla="*/ 955958 w 1161142"/>
                  <a:gd name="connsiteY7" fmla="*/ 225311 h 1009083"/>
                  <a:gd name="connsiteX8" fmla="*/ 955958 w 1161142"/>
                  <a:gd name="connsiteY8" fmla="*/ 1009083 h 1009083"/>
                  <a:gd name="connsiteX9" fmla="*/ 1030511 w 1161142"/>
                  <a:gd name="connsiteY9" fmla="*/ 1009083 h 1009083"/>
                  <a:gd name="connsiteX10" fmla="*/ 1161142 w 1161142"/>
                  <a:gd name="connsiteY10" fmla="*/ 878452 h 1009083"/>
                  <a:gd name="connsiteX11" fmla="*/ 1161142 w 1161142"/>
                  <a:gd name="connsiteY11" fmla="*/ 355942 h 1009083"/>
                  <a:gd name="connsiteX12" fmla="*/ 1030511 w 1161142"/>
                  <a:gd name="connsiteY12" fmla="*/ 225311 h 1009083"/>
                  <a:gd name="connsiteX13" fmla="*/ 580571 w 1161142"/>
                  <a:gd name="connsiteY13" fmla="*/ 76200 h 1009083"/>
                  <a:gd name="connsiteX14" fmla="*/ 729682 w 1161142"/>
                  <a:gd name="connsiteY14" fmla="*/ 225311 h 1009083"/>
                  <a:gd name="connsiteX15" fmla="*/ 431460 w 1161142"/>
                  <a:gd name="connsiteY15" fmla="*/ 225311 h 1009083"/>
                  <a:gd name="connsiteX16" fmla="*/ 580571 w 1161142"/>
                  <a:gd name="connsiteY16" fmla="*/ 76200 h 1009083"/>
                  <a:gd name="connsiteX17" fmla="*/ 580571 w 1161142"/>
                  <a:gd name="connsiteY17" fmla="*/ 0 h 1009083"/>
                  <a:gd name="connsiteX18" fmla="*/ 355260 w 1161142"/>
                  <a:gd name="connsiteY18" fmla="*/ 225311 h 1009083"/>
                  <a:gd name="connsiteX19" fmla="*/ 290704 w 1161142"/>
                  <a:gd name="connsiteY19" fmla="*/ 225311 h 1009083"/>
                  <a:gd name="connsiteX20" fmla="*/ 290704 w 1161142"/>
                  <a:gd name="connsiteY20" fmla="*/ 1009083 h 1009083"/>
                  <a:gd name="connsiteX21" fmla="*/ 870438 w 1161142"/>
                  <a:gd name="connsiteY21" fmla="*/ 1009083 h 1009083"/>
                  <a:gd name="connsiteX22" fmla="*/ 870438 w 1161142"/>
                  <a:gd name="connsiteY22" fmla="*/ 225311 h 1009083"/>
                  <a:gd name="connsiteX23" fmla="*/ 805882 w 1161142"/>
                  <a:gd name="connsiteY23" fmla="*/ 225311 h 1009083"/>
                  <a:gd name="connsiteX24" fmla="*/ 580571 w 1161142"/>
                  <a:gd name="connsiteY24" fmla="*/ 0 h 100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61142" h="1009083">
                    <a:moveTo>
                      <a:pt x="205184" y="225311"/>
                    </a:moveTo>
                    <a:lnTo>
                      <a:pt x="130631" y="225311"/>
                    </a:lnTo>
                    <a:cubicBezTo>
                      <a:pt x="58485" y="225311"/>
                      <a:pt x="0" y="283796"/>
                      <a:pt x="0" y="355942"/>
                    </a:cubicBezTo>
                    <a:lnTo>
                      <a:pt x="0" y="878452"/>
                    </a:lnTo>
                    <a:cubicBezTo>
                      <a:pt x="0" y="950598"/>
                      <a:pt x="58485" y="1009083"/>
                      <a:pt x="130631" y="1009083"/>
                    </a:cubicBezTo>
                    <a:lnTo>
                      <a:pt x="205184" y="1009083"/>
                    </a:lnTo>
                    <a:close/>
                    <a:moveTo>
                      <a:pt x="1030511" y="225311"/>
                    </a:moveTo>
                    <a:lnTo>
                      <a:pt x="955958" y="225311"/>
                    </a:lnTo>
                    <a:lnTo>
                      <a:pt x="955958" y="1009083"/>
                    </a:lnTo>
                    <a:lnTo>
                      <a:pt x="1030511" y="1009083"/>
                    </a:lnTo>
                    <a:cubicBezTo>
                      <a:pt x="1102657" y="1009083"/>
                      <a:pt x="1161142" y="950598"/>
                      <a:pt x="1161142" y="878452"/>
                    </a:cubicBezTo>
                    <a:lnTo>
                      <a:pt x="1161142" y="355942"/>
                    </a:lnTo>
                    <a:cubicBezTo>
                      <a:pt x="1161142" y="283796"/>
                      <a:pt x="1102657" y="225311"/>
                      <a:pt x="1030511" y="225311"/>
                    </a:cubicBezTo>
                    <a:close/>
                    <a:moveTo>
                      <a:pt x="580571" y="76200"/>
                    </a:moveTo>
                    <a:cubicBezTo>
                      <a:pt x="662923" y="76200"/>
                      <a:pt x="729682" y="142959"/>
                      <a:pt x="729682" y="225311"/>
                    </a:cubicBezTo>
                    <a:lnTo>
                      <a:pt x="431460" y="225311"/>
                    </a:lnTo>
                    <a:cubicBezTo>
                      <a:pt x="431460" y="142959"/>
                      <a:pt x="498219" y="76200"/>
                      <a:pt x="580571" y="76200"/>
                    </a:cubicBezTo>
                    <a:close/>
                    <a:moveTo>
                      <a:pt x="580571" y="0"/>
                    </a:moveTo>
                    <a:cubicBezTo>
                      <a:pt x="456135" y="0"/>
                      <a:pt x="355260" y="100875"/>
                      <a:pt x="355260" y="225311"/>
                    </a:cubicBezTo>
                    <a:lnTo>
                      <a:pt x="290704" y="225311"/>
                    </a:lnTo>
                    <a:lnTo>
                      <a:pt x="290704" y="1009083"/>
                    </a:lnTo>
                    <a:lnTo>
                      <a:pt x="870438" y="1009083"/>
                    </a:lnTo>
                    <a:lnTo>
                      <a:pt x="870438" y="225311"/>
                    </a:lnTo>
                    <a:lnTo>
                      <a:pt x="805882" y="225311"/>
                    </a:lnTo>
                    <a:cubicBezTo>
                      <a:pt x="805882" y="100875"/>
                      <a:pt x="705007" y="0"/>
                      <a:pt x="580571"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38" name="TextBox 37"/>
              <p:cNvSpPr txBox="1"/>
              <p:nvPr/>
            </p:nvSpPr>
            <p:spPr>
              <a:xfrm>
                <a:off x="4706823" y="-25868"/>
                <a:ext cx="1132746" cy="369332"/>
              </a:xfrm>
              <a:prstGeom prst="rect">
                <a:avLst/>
              </a:prstGeom>
              <a:noFill/>
            </p:spPr>
            <p:txBody>
              <a:bodyPr wrap="none" rtlCol="0">
                <a:spAutoFit/>
              </a:bodyPr>
              <a:lstStyle/>
              <a:p>
                <a:r>
                  <a:rPr lang="en-US" dirty="0" smtClean="0"/>
                  <a:t> Baggage, </a:t>
                </a:r>
                <a:endParaRPr lang="en-US" dirty="0"/>
              </a:p>
            </p:txBody>
          </p:sp>
          <p:grpSp>
            <p:nvGrpSpPr>
              <p:cNvPr id="39" name="Group 38"/>
              <p:cNvGrpSpPr/>
              <p:nvPr/>
            </p:nvGrpSpPr>
            <p:grpSpPr>
              <a:xfrm>
                <a:off x="5905195" y="53952"/>
                <a:ext cx="351612" cy="209692"/>
                <a:chOff x="7760681" y="2437731"/>
                <a:chExt cx="456050" cy="271976"/>
              </a:xfrm>
            </p:grpSpPr>
            <p:sp>
              <p:nvSpPr>
                <p:cNvPr id="42" name="Freeform 41"/>
                <p:cNvSpPr/>
                <p:nvPr/>
              </p:nvSpPr>
              <p:spPr>
                <a:xfrm>
                  <a:off x="7760681" y="2484227"/>
                  <a:ext cx="207804" cy="225480"/>
                </a:xfrm>
                <a:custGeom>
                  <a:avLst/>
                  <a:gdLst>
                    <a:gd name="connsiteX0" fmla="*/ 250470 w 278551"/>
                    <a:gd name="connsiteY0" fmla="*/ 185740 h 302245"/>
                    <a:gd name="connsiteX1" fmla="*/ 278551 w 278551"/>
                    <a:gd name="connsiteY1" fmla="*/ 212135 h 302245"/>
                    <a:gd name="connsiteX2" fmla="*/ 261752 w 278551"/>
                    <a:gd name="connsiteY2" fmla="*/ 241233 h 302245"/>
                    <a:gd name="connsiteX3" fmla="*/ 225317 w 278551"/>
                    <a:gd name="connsiteY3" fmla="*/ 230252 h 302245"/>
                    <a:gd name="connsiteX4" fmla="*/ 247440 w 278551"/>
                    <a:gd name="connsiteY4" fmla="*/ 199863 h 302245"/>
                    <a:gd name="connsiteX5" fmla="*/ 139274 w 278551"/>
                    <a:gd name="connsiteY5" fmla="*/ 84295 h 302245"/>
                    <a:gd name="connsiteX6" fmla="*/ 196885 w 278551"/>
                    <a:gd name="connsiteY6" fmla="*/ 113100 h 302245"/>
                    <a:gd name="connsiteX7" fmla="*/ 196884 w 278551"/>
                    <a:gd name="connsiteY7" fmla="*/ 114931 h 302245"/>
                    <a:gd name="connsiteX8" fmla="*/ 141702 w 278551"/>
                    <a:gd name="connsiteY8" fmla="*/ 86497 h 302245"/>
                    <a:gd name="connsiteX9" fmla="*/ 91232 w 278551"/>
                    <a:gd name="connsiteY9" fmla="*/ 110971 h 302245"/>
                    <a:gd name="connsiteX10" fmla="*/ 90180 w 278551"/>
                    <a:gd name="connsiteY10" fmla="*/ 108843 h 302245"/>
                    <a:gd name="connsiteX11" fmla="*/ 93907 w 278551"/>
                    <a:gd name="connsiteY11" fmla="*/ 56612 h 302245"/>
                    <a:gd name="connsiteX12" fmla="*/ 77529 w 278551"/>
                    <a:gd name="connsiteY12" fmla="*/ 83250 h 302245"/>
                    <a:gd name="connsiteX13" fmla="*/ 90180 w 278551"/>
                    <a:gd name="connsiteY13" fmla="*/ 108843 h 302245"/>
                    <a:gd name="connsiteX14" fmla="*/ 81665 w 278551"/>
                    <a:gd name="connsiteY14" fmla="*/ 113100 h 302245"/>
                    <a:gd name="connsiteX15" fmla="*/ 81665 w 278551"/>
                    <a:gd name="connsiteY15" fmla="*/ 189144 h 302245"/>
                    <a:gd name="connsiteX16" fmla="*/ 139274 w 278551"/>
                    <a:gd name="connsiteY16" fmla="*/ 217949 h 302245"/>
                    <a:gd name="connsiteX17" fmla="*/ 196884 w 278551"/>
                    <a:gd name="connsiteY17" fmla="*/ 189144 h 302245"/>
                    <a:gd name="connsiteX18" fmla="*/ 196884 w 278551"/>
                    <a:gd name="connsiteY18" fmla="*/ 114931 h 302245"/>
                    <a:gd name="connsiteX19" fmla="*/ 198958 w 278551"/>
                    <a:gd name="connsiteY19" fmla="*/ 115999 h 302245"/>
                    <a:gd name="connsiteX20" fmla="*/ 198034 w 278551"/>
                    <a:gd name="connsiteY20" fmla="*/ 192038 h 302245"/>
                    <a:gd name="connsiteX21" fmla="*/ 144208 w 278551"/>
                    <a:gd name="connsiteY21" fmla="*/ 218139 h 302245"/>
                    <a:gd name="connsiteX22" fmla="*/ 155568 w 278551"/>
                    <a:gd name="connsiteY22" fmla="*/ 241121 h 302245"/>
                    <a:gd name="connsiteX23" fmla="*/ 182697 w 278551"/>
                    <a:gd name="connsiteY23" fmla="*/ 246757 h 302245"/>
                    <a:gd name="connsiteX24" fmla="*/ 166987 w 278551"/>
                    <a:gd name="connsiteY24" fmla="*/ 255827 h 302245"/>
                    <a:gd name="connsiteX25" fmla="*/ 156075 w 278551"/>
                    <a:gd name="connsiteY25" fmla="*/ 302245 h 302245"/>
                    <a:gd name="connsiteX26" fmla="*/ 122476 w 278551"/>
                    <a:gd name="connsiteY26" fmla="*/ 302245 h 302245"/>
                    <a:gd name="connsiteX27" fmla="*/ 111565 w 278551"/>
                    <a:gd name="connsiteY27" fmla="*/ 255827 h 302245"/>
                    <a:gd name="connsiteX28" fmla="*/ 62455 w 278551"/>
                    <a:gd name="connsiteY28" fmla="*/ 227473 h 302245"/>
                    <a:gd name="connsiteX29" fmla="*/ 16799 w 278551"/>
                    <a:gd name="connsiteY29" fmla="*/ 241233 h 302245"/>
                    <a:gd name="connsiteX30" fmla="*/ 0 w 278551"/>
                    <a:gd name="connsiteY30" fmla="*/ 212135 h 302245"/>
                    <a:gd name="connsiteX31" fmla="*/ 34743 w 278551"/>
                    <a:gd name="connsiteY31" fmla="*/ 179476 h 302245"/>
                    <a:gd name="connsiteX32" fmla="*/ 34743 w 278551"/>
                    <a:gd name="connsiteY32" fmla="*/ 122768 h 302245"/>
                    <a:gd name="connsiteX33" fmla="*/ 0 w 278551"/>
                    <a:gd name="connsiteY33" fmla="*/ 90110 h 302245"/>
                    <a:gd name="connsiteX34" fmla="*/ 16799 w 278551"/>
                    <a:gd name="connsiteY34" fmla="*/ 61012 h 302245"/>
                    <a:gd name="connsiteX35" fmla="*/ 62454 w 278551"/>
                    <a:gd name="connsiteY35" fmla="*/ 74772 h 302245"/>
                    <a:gd name="connsiteX36" fmla="*/ 122476 w 278551"/>
                    <a:gd name="connsiteY36" fmla="*/ 0 h 302245"/>
                    <a:gd name="connsiteX37" fmla="*/ 156075 w 278551"/>
                    <a:gd name="connsiteY37" fmla="*/ 0 h 302245"/>
                    <a:gd name="connsiteX38" fmla="*/ 165987 w 278551"/>
                    <a:gd name="connsiteY38" fmla="*/ 42169 h 302245"/>
                    <a:gd name="connsiteX39" fmla="*/ 142303 w 278551"/>
                    <a:gd name="connsiteY39" fmla="*/ 37087 h 302245"/>
                    <a:gd name="connsiteX40" fmla="*/ 112428 w 278551"/>
                    <a:gd name="connsiteY40" fmla="*/ 42742 h 30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78551" h="302245">
                      <a:moveTo>
                        <a:pt x="250470" y="185740"/>
                      </a:moveTo>
                      <a:lnTo>
                        <a:pt x="278551" y="212135"/>
                      </a:lnTo>
                      <a:lnTo>
                        <a:pt x="261752" y="241233"/>
                      </a:lnTo>
                      <a:lnTo>
                        <a:pt x="225317" y="230252"/>
                      </a:lnTo>
                      <a:lnTo>
                        <a:pt x="247440" y="199863"/>
                      </a:lnTo>
                      <a:close/>
                      <a:moveTo>
                        <a:pt x="139274" y="84295"/>
                      </a:moveTo>
                      <a:lnTo>
                        <a:pt x="196885" y="113100"/>
                      </a:lnTo>
                      <a:lnTo>
                        <a:pt x="196884" y="114931"/>
                      </a:lnTo>
                      <a:lnTo>
                        <a:pt x="141702" y="86497"/>
                      </a:lnTo>
                      <a:lnTo>
                        <a:pt x="91232" y="110971"/>
                      </a:lnTo>
                      <a:lnTo>
                        <a:pt x="90180" y="108843"/>
                      </a:lnTo>
                      <a:close/>
                      <a:moveTo>
                        <a:pt x="93907" y="56612"/>
                      </a:moveTo>
                      <a:lnTo>
                        <a:pt x="77529" y="83250"/>
                      </a:lnTo>
                      <a:lnTo>
                        <a:pt x="90180" y="108843"/>
                      </a:lnTo>
                      <a:lnTo>
                        <a:pt x="81665" y="113100"/>
                      </a:lnTo>
                      <a:lnTo>
                        <a:pt x="81665" y="189144"/>
                      </a:lnTo>
                      <a:lnTo>
                        <a:pt x="139274" y="217949"/>
                      </a:lnTo>
                      <a:lnTo>
                        <a:pt x="196884" y="189144"/>
                      </a:lnTo>
                      <a:lnTo>
                        <a:pt x="196884" y="114931"/>
                      </a:lnTo>
                      <a:lnTo>
                        <a:pt x="198958" y="115999"/>
                      </a:lnTo>
                      <a:lnTo>
                        <a:pt x="198034" y="192038"/>
                      </a:lnTo>
                      <a:lnTo>
                        <a:pt x="144208" y="218139"/>
                      </a:lnTo>
                      <a:lnTo>
                        <a:pt x="155568" y="241121"/>
                      </a:lnTo>
                      <a:lnTo>
                        <a:pt x="182697" y="246757"/>
                      </a:lnTo>
                      <a:lnTo>
                        <a:pt x="166987" y="255827"/>
                      </a:lnTo>
                      <a:lnTo>
                        <a:pt x="156075" y="302245"/>
                      </a:lnTo>
                      <a:lnTo>
                        <a:pt x="122476" y="302245"/>
                      </a:lnTo>
                      <a:lnTo>
                        <a:pt x="111565" y="255827"/>
                      </a:lnTo>
                      <a:cubicBezTo>
                        <a:pt x="92967" y="250905"/>
                        <a:pt x="76016" y="241118"/>
                        <a:pt x="62455" y="227473"/>
                      </a:cubicBezTo>
                      <a:lnTo>
                        <a:pt x="16799" y="241233"/>
                      </a:lnTo>
                      <a:lnTo>
                        <a:pt x="0" y="212135"/>
                      </a:lnTo>
                      <a:lnTo>
                        <a:pt x="34743" y="179476"/>
                      </a:lnTo>
                      <a:cubicBezTo>
                        <a:pt x="29707" y="160909"/>
                        <a:pt x="29707" y="141335"/>
                        <a:pt x="34743" y="122768"/>
                      </a:cubicBezTo>
                      <a:lnTo>
                        <a:pt x="0" y="90110"/>
                      </a:lnTo>
                      <a:lnTo>
                        <a:pt x="16799" y="61012"/>
                      </a:lnTo>
                      <a:lnTo>
                        <a:pt x="62454" y="74772"/>
                      </a:lnTo>
                      <a:close/>
                      <a:moveTo>
                        <a:pt x="122476" y="0"/>
                      </a:moveTo>
                      <a:lnTo>
                        <a:pt x="156075" y="0"/>
                      </a:lnTo>
                      <a:lnTo>
                        <a:pt x="165987" y="42169"/>
                      </a:lnTo>
                      <a:lnTo>
                        <a:pt x="142303" y="37087"/>
                      </a:lnTo>
                      <a:lnTo>
                        <a:pt x="112428" y="42742"/>
                      </a:lnTo>
                      <a:close/>
                    </a:path>
                  </a:pathLst>
                </a:custGeom>
                <a:solidFill>
                  <a:schemeClr val="bg1"/>
                </a:solidFill>
                <a:ln w="19050">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43" name="Freeform 42"/>
                <p:cNvSpPr/>
                <p:nvPr/>
              </p:nvSpPr>
              <p:spPr>
                <a:xfrm rot="20021754">
                  <a:off x="7797455" y="2437731"/>
                  <a:ext cx="419276" cy="175124"/>
                </a:xfrm>
                <a:custGeom>
                  <a:avLst/>
                  <a:gdLst>
                    <a:gd name="connsiteX0" fmla="*/ 99307 w 541041"/>
                    <a:gd name="connsiteY0" fmla="*/ 54263 h 225982"/>
                    <a:gd name="connsiteX1" fmla="*/ 136175 w 541041"/>
                    <a:gd name="connsiteY1" fmla="*/ 104206 h 225982"/>
                    <a:gd name="connsiteX2" fmla="*/ 103289 w 541041"/>
                    <a:gd name="connsiteY2" fmla="*/ 170735 h 225982"/>
                    <a:gd name="connsiteX3" fmla="*/ 38879 w 541041"/>
                    <a:gd name="connsiteY3" fmla="*/ 171028 h 225982"/>
                    <a:gd name="connsiteX4" fmla="*/ 0 w 541041"/>
                    <a:gd name="connsiteY4" fmla="*/ 119677 h 225982"/>
                    <a:gd name="connsiteX5" fmla="*/ 33698 w 541041"/>
                    <a:gd name="connsiteY5" fmla="*/ 51507 h 225982"/>
                    <a:gd name="connsiteX6" fmla="*/ 43218 w 541041"/>
                    <a:gd name="connsiteY6" fmla="*/ 51464 h 225982"/>
                    <a:gd name="connsiteX7" fmla="*/ 43218 w 541041"/>
                    <a:gd name="connsiteY7" fmla="*/ 53838 h 225982"/>
                    <a:gd name="connsiteX8" fmla="*/ 504723 w 541041"/>
                    <a:gd name="connsiteY8" fmla="*/ 53019 h 225982"/>
                    <a:gd name="connsiteX9" fmla="*/ 541041 w 541041"/>
                    <a:gd name="connsiteY9" fmla="*/ 107811 h 225982"/>
                    <a:gd name="connsiteX10" fmla="*/ 481576 w 541041"/>
                    <a:gd name="connsiteY10" fmla="*/ 167276 h 225982"/>
                    <a:gd name="connsiteX11" fmla="*/ 171988 w 541041"/>
                    <a:gd name="connsiteY11" fmla="*/ 167276 h 225982"/>
                    <a:gd name="connsiteX12" fmla="*/ 143860 w 541041"/>
                    <a:gd name="connsiteY12" fmla="*/ 202747 h 225982"/>
                    <a:gd name="connsiteX13" fmla="*/ 99545 w 541041"/>
                    <a:gd name="connsiteY13" fmla="*/ 225955 h 225982"/>
                    <a:gd name="connsiteX14" fmla="*/ 99000 w 541041"/>
                    <a:gd name="connsiteY14" fmla="*/ 225982 h 225982"/>
                    <a:gd name="connsiteX15" fmla="*/ 66761 w 541041"/>
                    <a:gd name="connsiteY15" fmla="*/ 217441 h 225982"/>
                    <a:gd name="connsiteX16" fmla="*/ 43218 w 541041"/>
                    <a:gd name="connsiteY16" fmla="*/ 199021 h 225982"/>
                    <a:gd name="connsiteX17" fmla="*/ 43218 w 541041"/>
                    <a:gd name="connsiteY17" fmla="*/ 173385 h 225982"/>
                    <a:gd name="connsiteX18" fmla="*/ 103037 w 541041"/>
                    <a:gd name="connsiteY18" fmla="*/ 173839 h 225982"/>
                    <a:gd name="connsiteX19" fmla="*/ 137561 w 541041"/>
                    <a:gd name="connsiteY19" fmla="*/ 106083 h 225982"/>
                    <a:gd name="connsiteX20" fmla="*/ 136175 w 541041"/>
                    <a:gd name="connsiteY20" fmla="*/ 104206 h 225982"/>
                    <a:gd name="connsiteX21" fmla="*/ 136987 w 541041"/>
                    <a:gd name="connsiteY21" fmla="*/ 102565 h 225982"/>
                    <a:gd name="connsiteX22" fmla="*/ 98106 w 541041"/>
                    <a:gd name="connsiteY22" fmla="*/ 51213 h 225982"/>
                    <a:gd name="connsiteX23" fmla="*/ 43218 w 541041"/>
                    <a:gd name="connsiteY23" fmla="*/ 51464 h 225982"/>
                    <a:gd name="connsiteX24" fmla="*/ 43218 w 541041"/>
                    <a:gd name="connsiteY24" fmla="*/ 22915 h 225982"/>
                    <a:gd name="connsiteX25" fmla="*/ 77964 w 541041"/>
                    <a:gd name="connsiteY25" fmla="*/ 1110 h 225982"/>
                    <a:gd name="connsiteX26" fmla="*/ 85046 w 541041"/>
                    <a:gd name="connsiteY26" fmla="*/ 0 h 225982"/>
                    <a:gd name="connsiteX27" fmla="*/ 121741 w 541041"/>
                    <a:gd name="connsiteY27" fmla="*/ 10236 h 225982"/>
                    <a:gd name="connsiteX28" fmla="*/ 157909 w 541041"/>
                    <a:gd name="connsiteY28" fmla="*/ 38916 h 225982"/>
                    <a:gd name="connsiteX29" fmla="*/ 163138 w 541041"/>
                    <a:gd name="connsiteY29" fmla="*/ 48346 h 225982"/>
                    <a:gd name="connsiteX30" fmla="*/ 481576 w 541041"/>
                    <a:gd name="connsiteY30" fmla="*/ 48346 h 225982"/>
                    <a:gd name="connsiteX31" fmla="*/ 504723 w 541041"/>
                    <a:gd name="connsiteY31" fmla="*/ 53019 h 22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41041" h="225982">
                      <a:moveTo>
                        <a:pt x="99307" y="54263"/>
                      </a:moveTo>
                      <a:lnTo>
                        <a:pt x="136175" y="104206"/>
                      </a:lnTo>
                      <a:lnTo>
                        <a:pt x="103289" y="170735"/>
                      </a:lnTo>
                      <a:lnTo>
                        <a:pt x="38879" y="171028"/>
                      </a:lnTo>
                      <a:lnTo>
                        <a:pt x="0" y="119677"/>
                      </a:lnTo>
                      <a:lnTo>
                        <a:pt x="33698" y="51507"/>
                      </a:lnTo>
                      <a:lnTo>
                        <a:pt x="43218" y="51464"/>
                      </a:lnTo>
                      <a:lnTo>
                        <a:pt x="43218" y="53838"/>
                      </a:lnTo>
                      <a:close/>
                      <a:moveTo>
                        <a:pt x="504723" y="53019"/>
                      </a:moveTo>
                      <a:cubicBezTo>
                        <a:pt x="526066" y="62046"/>
                        <a:pt x="541041" y="83180"/>
                        <a:pt x="541041" y="107811"/>
                      </a:cubicBezTo>
                      <a:cubicBezTo>
                        <a:pt x="541041" y="140653"/>
                        <a:pt x="514418" y="167276"/>
                        <a:pt x="481576" y="167276"/>
                      </a:cubicBezTo>
                      <a:lnTo>
                        <a:pt x="171988" y="167276"/>
                      </a:lnTo>
                      <a:lnTo>
                        <a:pt x="143860" y="202747"/>
                      </a:lnTo>
                      <a:cubicBezTo>
                        <a:pt x="130861" y="213683"/>
                        <a:pt x="115692" y="221548"/>
                        <a:pt x="99545" y="225955"/>
                      </a:cubicBezTo>
                      <a:lnTo>
                        <a:pt x="99000" y="225982"/>
                      </a:lnTo>
                      <a:lnTo>
                        <a:pt x="66761" y="217441"/>
                      </a:lnTo>
                      <a:lnTo>
                        <a:pt x="43218" y="199021"/>
                      </a:lnTo>
                      <a:lnTo>
                        <a:pt x="43218" y="173385"/>
                      </a:lnTo>
                      <a:lnTo>
                        <a:pt x="103037" y="173839"/>
                      </a:lnTo>
                      <a:lnTo>
                        <a:pt x="137561" y="106083"/>
                      </a:lnTo>
                      <a:lnTo>
                        <a:pt x="136175" y="104206"/>
                      </a:lnTo>
                      <a:lnTo>
                        <a:pt x="136987" y="102565"/>
                      </a:lnTo>
                      <a:lnTo>
                        <a:pt x="98106" y="51213"/>
                      </a:lnTo>
                      <a:lnTo>
                        <a:pt x="43218" y="51464"/>
                      </a:lnTo>
                      <a:lnTo>
                        <a:pt x="43218" y="22915"/>
                      </a:lnTo>
                      <a:lnTo>
                        <a:pt x="77964" y="1110"/>
                      </a:lnTo>
                      <a:lnTo>
                        <a:pt x="85046" y="0"/>
                      </a:lnTo>
                      <a:lnTo>
                        <a:pt x="121741" y="10236"/>
                      </a:lnTo>
                      <a:cubicBezTo>
                        <a:pt x="136041" y="17522"/>
                        <a:pt x="148188" y="27361"/>
                        <a:pt x="157909" y="38916"/>
                      </a:cubicBezTo>
                      <a:lnTo>
                        <a:pt x="163138" y="48346"/>
                      </a:lnTo>
                      <a:lnTo>
                        <a:pt x="481576" y="48346"/>
                      </a:lnTo>
                      <a:cubicBezTo>
                        <a:pt x="489787" y="48346"/>
                        <a:pt x="497608" y="50010"/>
                        <a:pt x="504723" y="53019"/>
                      </a:cubicBezTo>
                      <a:close/>
                    </a:path>
                  </a:pathLst>
                </a:cu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44" name="Hexagon 43"/>
                <p:cNvSpPr/>
                <p:nvPr/>
              </p:nvSpPr>
              <p:spPr>
                <a:xfrm rot="16200000">
                  <a:off x="7813142" y="2552652"/>
                  <a:ext cx="102880" cy="89052"/>
                </a:xfrm>
                <a:prstGeom prst="hexagon">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sp>
            <p:nvSpPr>
              <p:cNvPr id="40" name="TextBox 39"/>
              <p:cNvSpPr txBox="1"/>
              <p:nvPr/>
            </p:nvSpPr>
            <p:spPr>
              <a:xfrm>
                <a:off x="6191989" y="-25868"/>
                <a:ext cx="1090107" cy="369332"/>
              </a:xfrm>
              <a:prstGeom prst="rect">
                <a:avLst/>
              </a:prstGeom>
              <a:noFill/>
            </p:spPr>
            <p:txBody>
              <a:bodyPr wrap="none" rtlCol="0">
                <a:spAutoFit/>
              </a:bodyPr>
              <a:lstStyle/>
              <a:p>
                <a:r>
                  <a:rPr lang="en-US" dirty="0"/>
                  <a:t>PT </a:t>
                </a:r>
                <a:r>
                  <a:rPr lang="en-US" dirty="0" smtClean="0"/>
                  <a:t>Agent)</a:t>
                </a:r>
                <a:endParaRPr lang="en-US" dirty="0"/>
              </a:p>
            </p:txBody>
          </p:sp>
          <p:sp>
            <p:nvSpPr>
              <p:cNvPr id="41" name="TextBox 40"/>
              <p:cNvSpPr txBox="1"/>
              <p:nvPr/>
            </p:nvSpPr>
            <p:spPr>
              <a:xfrm>
                <a:off x="5651894" y="-25868"/>
                <a:ext cx="300082" cy="369332"/>
              </a:xfrm>
              <a:prstGeom prst="rect">
                <a:avLst/>
              </a:prstGeom>
              <a:noFill/>
            </p:spPr>
            <p:txBody>
              <a:bodyPr wrap="none" rtlCol="0">
                <a:spAutoFit/>
              </a:bodyPr>
              <a:lstStyle/>
              <a:p>
                <a:r>
                  <a:rPr lang="en-US" dirty="0"/>
                  <a:t>+</a:t>
                </a:r>
              </a:p>
            </p:txBody>
          </p:sp>
        </p:grpSp>
        <p:pic>
          <p:nvPicPr>
            <p:cNvPr id="1030" name="Picture 6" descr="http://www.lvlsvn.com/sites/default/files/styles/post_image/public/Untitled-1.png?itok=Tv_0WAw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13778" y="2303849"/>
              <a:ext cx="2052366" cy="995778"/>
            </a:xfrm>
            <a:prstGeom prst="rect">
              <a:avLst/>
            </a:prstGeom>
            <a:noFill/>
            <a:extLst>
              <a:ext uri="{909E8E84-426E-40DD-AFC4-6F175D3DCCD1}">
                <a14:hiddenFill xmlns:a14="http://schemas.microsoft.com/office/drawing/2010/main">
                  <a:solidFill>
                    <a:srgbClr val="FFFFFF"/>
                  </a:solidFill>
                </a14:hiddenFill>
              </a:ext>
            </a:extLst>
          </p:spPr>
        </p:pic>
        <p:grpSp>
          <p:nvGrpSpPr>
            <p:cNvPr id="48" name="Group 47"/>
            <p:cNvGrpSpPr/>
            <p:nvPr/>
          </p:nvGrpSpPr>
          <p:grpSpPr>
            <a:xfrm>
              <a:off x="3696260" y="2259646"/>
              <a:ext cx="3527033" cy="1455602"/>
              <a:chOff x="3696260" y="2259646"/>
              <a:chExt cx="3527033" cy="1455602"/>
            </a:xfrm>
          </p:grpSpPr>
          <p:sp>
            <p:nvSpPr>
              <p:cNvPr id="8" name="Rounded Rectangle 7"/>
              <p:cNvSpPr/>
              <p:nvPr/>
            </p:nvSpPr>
            <p:spPr>
              <a:xfrm>
                <a:off x="3696260" y="2259646"/>
                <a:ext cx="1109832" cy="767882"/>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sz="2160" dirty="0" err="1" smtClean="0">
                    <a:solidFill>
                      <a:schemeClr val="tx1"/>
                    </a:solidFill>
                  </a:rPr>
                  <a:t>HBase</a:t>
                </a:r>
                <a:endParaRPr lang="en-US" sz="2160" dirty="0">
                  <a:solidFill>
                    <a:schemeClr val="tx1"/>
                  </a:solidFill>
                </a:endParaRPr>
              </a:p>
            </p:txBody>
          </p:sp>
          <p:sp>
            <p:nvSpPr>
              <p:cNvPr id="9" name="Rounded Rectangle 8"/>
              <p:cNvSpPr/>
              <p:nvPr/>
            </p:nvSpPr>
            <p:spPr>
              <a:xfrm>
                <a:off x="4745347" y="2259646"/>
                <a:ext cx="1103003" cy="767882"/>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sz="2160" dirty="0" smtClean="0">
                    <a:solidFill>
                      <a:schemeClr val="tx1"/>
                    </a:solidFill>
                  </a:rPr>
                  <a:t>YARN</a:t>
                </a:r>
                <a:endParaRPr lang="en-US" sz="2160" dirty="0">
                  <a:solidFill>
                    <a:schemeClr val="tx1"/>
                  </a:solidFill>
                </a:endParaRPr>
              </a:p>
            </p:txBody>
          </p:sp>
          <p:sp>
            <p:nvSpPr>
              <p:cNvPr id="11" name="Rounded Rectangle 10"/>
              <p:cNvSpPr/>
              <p:nvPr/>
            </p:nvSpPr>
            <p:spPr>
              <a:xfrm>
                <a:off x="5739172" y="2404688"/>
                <a:ext cx="1484121" cy="573326"/>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sz="2160" dirty="0" err="1" smtClean="0">
                    <a:solidFill>
                      <a:schemeClr val="tx1"/>
                    </a:solidFill>
                  </a:rPr>
                  <a:t>ZooKeeper</a:t>
                </a:r>
                <a:endParaRPr lang="en-US" sz="2160" dirty="0" smtClean="0">
                  <a:solidFill>
                    <a:schemeClr val="tx1"/>
                  </a:solidFill>
                </a:endParaRPr>
              </a:p>
            </p:txBody>
          </p:sp>
          <p:sp>
            <p:nvSpPr>
              <p:cNvPr id="4" name="Rounded Rectangle 3"/>
              <p:cNvSpPr/>
              <p:nvPr/>
            </p:nvSpPr>
            <p:spPr>
              <a:xfrm>
                <a:off x="4114799" y="2952262"/>
                <a:ext cx="1159855" cy="762986"/>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sz="2160" dirty="0" smtClean="0">
                    <a:solidFill>
                      <a:schemeClr val="tx1"/>
                    </a:solidFill>
                  </a:rPr>
                  <a:t>HDFS</a:t>
                </a:r>
                <a:endParaRPr lang="en-US" sz="2160" dirty="0">
                  <a:solidFill>
                    <a:schemeClr val="tx1"/>
                  </a:solidFill>
                </a:endParaRPr>
              </a:p>
            </p:txBody>
          </p:sp>
          <p:sp>
            <p:nvSpPr>
              <p:cNvPr id="10" name="Rounded Rectangle 9"/>
              <p:cNvSpPr/>
              <p:nvPr/>
            </p:nvSpPr>
            <p:spPr>
              <a:xfrm>
                <a:off x="5242485" y="2961883"/>
                <a:ext cx="1807007" cy="613219"/>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sz="2160" dirty="0" err="1" smtClean="0">
                    <a:solidFill>
                      <a:schemeClr val="tx1"/>
                    </a:solidFill>
                  </a:rPr>
                  <a:t>MapReduce</a:t>
                </a:r>
                <a:endParaRPr lang="en-US" sz="2160" dirty="0">
                  <a:solidFill>
                    <a:schemeClr val="tx1"/>
                  </a:solidFill>
                </a:endParaRPr>
              </a:p>
            </p:txBody>
          </p:sp>
        </p:grpSp>
      </p:grpSp>
      <p:sp>
        <p:nvSpPr>
          <p:cNvPr id="88" name="Content Placeholder 2"/>
          <p:cNvSpPr>
            <a:spLocks noGrp="1"/>
          </p:cNvSpPr>
          <p:nvPr>
            <p:ph idx="1"/>
          </p:nvPr>
        </p:nvSpPr>
        <p:spPr>
          <a:xfrm>
            <a:off x="572832" y="3491393"/>
            <a:ext cx="7886700" cy="2221693"/>
          </a:xfrm>
        </p:spPr>
        <p:txBody>
          <a:bodyPr>
            <a:normAutofit/>
          </a:bodyPr>
          <a:lstStyle/>
          <a:p>
            <a:pPr marL="0" indent="0">
              <a:buNone/>
            </a:pPr>
            <a:r>
              <a:rPr lang="en-US" dirty="0" smtClean="0"/>
              <a:t>Adding Baggage: ~50-200 lines of code per system</a:t>
            </a:r>
          </a:p>
          <a:p>
            <a:pPr marL="457182" lvl="1" indent="0">
              <a:buNone/>
            </a:pPr>
            <a:endParaRPr lang="en-US" dirty="0" smtClean="0"/>
          </a:p>
          <a:p>
            <a:pPr marL="0" indent="0">
              <a:buNone/>
            </a:pPr>
            <a:r>
              <a:rPr lang="en-US" dirty="0" smtClean="0"/>
              <a:t>Primarily modifying execution boundaries:</a:t>
            </a:r>
            <a:endParaRPr lang="en-US" dirty="0"/>
          </a:p>
          <a:p>
            <a:pPr marL="914363" lvl="2" indent="0">
              <a:buNone/>
            </a:pPr>
            <a:r>
              <a:rPr lang="en-US" sz="2400" dirty="0" smtClean="0"/>
              <a:t>Thread</a:t>
            </a:r>
            <a:r>
              <a:rPr lang="en-US" sz="2400" dirty="0"/>
              <a:t>, Runnable, Callable, </a:t>
            </a:r>
            <a:r>
              <a:rPr lang="en-US" sz="2400" dirty="0" smtClean="0"/>
              <a:t>Queue</a:t>
            </a:r>
          </a:p>
          <a:p>
            <a:pPr marL="914363" lvl="2" indent="0">
              <a:buNone/>
            </a:pPr>
            <a:r>
              <a:rPr lang="en-US" sz="2400" dirty="0" smtClean="0"/>
              <a:t>RPC invocations</a:t>
            </a:r>
            <a:endParaRPr lang="en-US" dirty="0"/>
          </a:p>
          <a:p>
            <a:pPr marL="0" indent="0">
              <a:buNone/>
            </a:pPr>
            <a:endParaRPr lang="en-US" dirty="0" smtClean="0"/>
          </a:p>
        </p:txBody>
      </p:sp>
      <p:pic>
        <p:nvPicPr>
          <p:cNvPr id="89" name="Picture 88" descr="rubber stamp.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20446762">
            <a:off x="6569807" y="4751267"/>
            <a:ext cx="2499360" cy="877824"/>
          </a:xfrm>
          <a:prstGeom prst="rect">
            <a:avLst/>
          </a:prstGeom>
        </p:spPr>
      </p:pic>
      <p:sp>
        <p:nvSpPr>
          <p:cNvPr id="2" name="Slide Number Placeholder 1"/>
          <p:cNvSpPr>
            <a:spLocks noGrp="1"/>
          </p:cNvSpPr>
          <p:nvPr>
            <p:ph type="sldNum" sz="quarter" idx="12"/>
          </p:nvPr>
        </p:nvSpPr>
        <p:spPr/>
        <p:txBody>
          <a:bodyPr/>
          <a:lstStyle/>
          <a:p>
            <a:fld id="{D431E30F-8439-471B-9257-EDD8E85CDBC8}" type="slidenum">
              <a:rPr lang="en-US" smtClean="0"/>
              <a:t>32</a:t>
            </a:fld>
            <a:endParaRPr lang="en-US"/>
          </a:p>
        </p:txBody>
      </p:sp>
    </p:spTree>
    <p:extLst>
      <p:ext uri="{BB962C8B-B14F-4D97-AF65-F5344CB8AC3E}">
        <p14:creationId xmlns:p14="http://schemas.microsoft.com/office/powerpoint/2010/main" val="3365654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8">
                                            <p:txEl>
                                              <p:pRg st="0" end="0"/>
                                            </p:txEl>
                                          </p:spTgt>
                                        </p:tgtEl>
                                        <p:attrNameLst>
                                          <p:attrName>style.visibility</p:attrName>
                                        </p:attrNameLst>
                                      </p:cBhvr>
                                      <p:to>
                                        <p:strVal val="visible"/>
                                      </p:to>
                                    </p:set>
                                    <p:animEffect transition="in" filter="fade">
                                      <p:cBhvr>
                                        <p:cTn id="7" dur="500"/>
                                        <p:tgtEl>
                                          <p:spTgt spid="8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8">
                                            <p:txEl>
                                              <p:pRg st="2" end="2"/>
                                            </p:txEl>
                                          </p:spTgt>
                                        </p:tgtEl>
                                        <p:attrNameLst>
                                          <p:attrName>style.visibility</p:attrName>
                                        </p:attrNameLst>
                                      </p:cBhvr>
                                      <p:to>
                                        <p:strVal val="visible"/>
                                      </p:to>
                                    </p:set>
                                    <p:animEffect transition="in" filter="fade">
                                      <p:cBhvr>
                                        <p:cTn id="12" dur="500"/>
                                        <p:tgtEl>
                                          <p:spTgt spid="88">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88">
                                            <p:txEl>
                                              <p:pRg st="3" end="3"/>
                                            </p:txEl>
                                          </p:spTgt>
                                        </p:tgtEl>
                                        <p:attrNameLst>
                                          <p:attrName>style.visibility</p:attrName>
                                        </p:attrNameLst>
                                      </p:cBhvr>
                                      <p:to>
                                        <p:strVal val="visible"/>
                                      </p:to>
                                    </p:set>
                                    <p:animEffect transition="in" filter="fade">
                                      <p:cBhvr>
                                        <p:cTn id="15" dur="500"/>
                                        <p:tgtEl>
                                          <p:spTgt spid="88">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88">
                                            <p:txEl>
                                              <p:pRg st="4" end="4"/>
                                            </p:txEl>
                                          </p:spTgt>
                                        </p:tgtEl>
                                        <p:attrNameLst>
                                          <p:attrName>style.visibility</p:attrName>
                                        </p:attrNameLst>
                                      </p:cBhvr>
                                      <p:to>
                                        <p:strVal val="visible"/>
                                      </p:to>
                                    </p:set>
                                    <p:animEffect transition="in" filter="fade">
                                      <p:cBhvr>
                                        <p:cTn id="18" dur="500"/>
                                        <p:tgtEl>
                                          <p:spTgt spid="88">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Pivot Tracing Overheads</a:t>
            </a:r>
            <a:endParaRPr lang="en-US" dirty="0"/>
          </a:p>
        </p:txBody>
      </p:sp>
      <p:sp>
        <p:nvSpPr>
          <p:cNvPr id="3" name="Content Placeholder 2"/>
          <p:cNvSpPr>
            <a:spLocks noGrp="1"/>
          </p:cNvSpPr>
          <p:nvPr>
            <p:ph idx="1"/>
          </p:nvPr>
        </p:nvSpPr>
        <p:spPr>
          <a:xfrm>
            <a:off x="628650" y="1825625"/>
            <a:ext cx="8153400" cy="4351338"/>
          </a:xfrm>
        </p:spPr>
        <p:txBody>
          <a:bodyPr>
            <a:normAutofit/>
          </a:bodyPr>
          <a:lstStyle/>
          <a:p>
            <a:r>
              <a:rPr lang="en-US" dirty="0" smtClean="0"/>
              <a:t>Pivot Tracing Enabled</a:t>
            </a:r>
          </a:p>
          <a:p>
            <a:pPr marL="457182" lvl="1" indent="0">
              <a:buNone/>
            </a:pPr>
            <a:r>
              <a:rPr lang="en-US" dirty="0" smtClean="0"/>
              <a:t>Application level benchmarks: </a:t>
            </a:r>
            <a:r>
              <a:rPr lang="en-US" b="1" dirty="0" smtClean="0"/>
              <a:t>baseline</a:t>
            </a:r>
            <a:r>
              <a:rPr lang="en-US" dirty="0" smtClean="0"/>
              <a:t> 0.3% overhead</a:t>
            </a:r>
          </a:p>
          <a:p>
            <a:pPr marL="457182" lvl="1" indent="0">
              <a:buNone/>
            </a:pPr>
            <a:endParaRPr lang="en-US" dirty="0"/>
          </a:p>
          <a:p>
            <a:r>
              <a:rPr lang="en-US" dirty="0" smtClean="0"/>
              <a:t>No overhead for queries / </a:t>
            </a:r>
            <a:r>
              <a:rPr lang="en-US" dirty="0" err="1" smtClean="0"/>
              <a:t>tracepoints</a:t>
            </a:r>
            <a:r>
              <a:rPr lang="en-US" dirty="0" smtClean="0"/>
              <a:t> until installed</a:t>
            </a:r>
          </a:p>
          <a:p>
            <a:pPr marL="457182" lvl="1" indent="0">
              <a:buNone/>
            </a:pPr>
            <a:endParaRPr lang="en-US" dirty="0" smtClean="0"/>
          </a:p>
          <a:p>
            <a:r>
              <a:rPr lang="en-US" dirty="0" smtClean="0"/>
              <a:t>With queries from paper installed</a:t>
            </a:r>
          </a:p>
          <a:p>
            <a:pPr marL="457182" lvl="1" indent="0">
              <a:buNone/>
            </a:pPr>
            <a:r>
              <a:rPr lang="en-US" dirty="0" smtClean="0"/>
              <a:t>Application level benchmarks: max 14.3% overhead</a:t>
            </a:r>
          </a:p>
          <a:p>
            <a:pPr marL="457182" lvl="1" indent="0">
              <a:buNone/>
            </a:pPr>
            <a:r>
              <a:rPr lang="en-US" sz="2000" dirty="0" smtClean="0"/>
              <a:t>					(CPU-only lookups)</a:t>
            </a:r>
          </a:p>
          <a:p>
            <a:pPr marL="457182" lvl="1" indent="0">
              <a:buNone/>
            </a:pPr>
            <a:r>
              <a:rPr lang="en-US" dirty="0" smtClean="0"/>
              <a:t>Largest baggage size: ~137 bytes</a:t>
            </a:r>
            <a:endParaRPr lang="en-US" dirty="0"/>
          </a:p>
        </p:txBody>
      </p:sp>
      <p:grpSp>
        <p:nvGrpSpPr>
          <p:cNvPr id="10" name="Group 9"/>
          <p:cNvGrpSpPr/>
          <p:nvPr/>
        </p:nvGrpSpPr>
        <p:grpSpPr>
          <a:xfrm>
            <a:off x="4150982" y="1825625"/>
            <a:ext cx="3059906" cy="369332"/>
            <a:chOff x="3379457" y="886422"/>
            <a:chExt cx="3059906" cy="369332"/>
          </a:xfrm>
        </p:grpSpPr>
        <p:sp>
          <p:nvSpPr>
            <p:cNvPr id="4" name="TextBox 3"/>
            <p:cNvSpPr txBox="1"/>
            <p:nvPr/>
          </p:nvSpPr>
          <p:spPr>
            <a:xfrm>
              <a:off x="3379457" y="886422"/>
              <a:ext cx="370614" cy="369332"/>
            </a:xfrm>
            <a:prstGeom prst="rect">
              <a:avLst/>
            </a:prstGeom>
            <a:noFill/>
          </p:spPr>
          <p:txBody>
            <a:bodyPr wrap="none" rtlCol="0">
              <a:spAutoFit/>
            </a:bodyPr>
            <a:lstStyle/>
            <a:p>
              <a:r>
                <a:rPr lang="en-US" dirty="0" smtClean="0"/>
                <a:t>(+</a:t>
              </a:r>
              <a:endParaRPr lang="en-US" dirty="0"/>
            </a:p>
          </p:txBody>
        </p:sp>
        <p:sp>
          <p:nvSpPr>
            <p:cNvPr id="5" name="Freeform 4"/>
            <p:cNvSpPr/>
            <p:nvPr/>
          </p:nvSpPr>
          <p:spPr>
            <a:xfrm flipH="1">
              <a:off x="3678585" y="961198"/>
              <a:ext cx="268369" cy="219780"/>
            </a:xfrm>
            <a:custGeom>
              <a:avLst/>
              <a:gdLst>
                <a:gd name="connsiteX0" fmla="*/ 205184 w 1161142"/>
                <a:gd name="connsiteY0" fmla="*/ 225311 h 1009083"/>
                <a:gd name="connsiteX1" fmla="*/ 130631 w 1161142"/>
                <a:gd name="connsiteY1" fmla="*/ 225311 h 1009083"/>
                <a:gd name="connsiteX2" fmla="*/ 0 w 1161142"/>
                <a:gd name="connsiteY2" fmla="*/ 355942 h 1009083"/>
                <a:gd name="connsiteX3" fmla="*/ 0 w 1161142"/>
                <a:gd name="connsiteY3" fmla="*/ 878452 h 1009083"/>
                <a:gd name="connsiteX4" fmla="*/ 130631 w 1161142"/>
                <a:gd name="connsiteY4" fmla="*/ 1009083 h 1009083"/>
                <a:gd name="connsiteX5" fmla="*/ 205184 w 1161142"/>
                <a:gd name="connsiteY5" fmla="*/ 1009083 h 1009083"/>
                <a:gd name="connsiteX6" fmla="*/ 1030511 w 1161142"/>
                <a:gd name="connsiteY6" fmla="*/ 225311 h 1009083"/>
                <a:gd name="connsiteX7" fmla="*/ 955958 w 1161142"/>
                <a:gd name="connsiteY7" fmla="*/ 225311 h 1009083"/>
                <a:gd name="connsiteX8" fmla="*/ 955958 w 1161142"/>
                <a:gd name="connsiteY8" fmla="*/ 1009083 h 1009083"/>
                <a:gd name="connsiteX9" fmla="*/ 1030511 w 1161142"/>
                <a:gd name="connsiteY9" fmla="*/ 1009083 h 1009083"/>
                <a:gd name="connsiteX10" fmla="*/ 1161142 w 1161142"/>
                <a:gd name="connsiteY10" fmla="*/ 878452 h 1009083"/>
                <a:gd name="connsiteX11" fmla="*/ 1161142 w 1161142"/>
                <a:gd name="connsiteY11" fmla="*/ 355942 h 1009083"/>
                <a:gd name="connsiteX12" fmla="*/ 1030511 w 1161142"/>
                <a:gd name="connsiteY12" fmla="*/ 225311 h 1009083"/>
                <a:gd name="connsiteX13" fmla="*/ 580571 w 1161142"/>
                <a:gd name="connsiteY13" fmla="*/ 76200 h 1009083"/>
                <a:gd name="connsiteX14" fmla="*/ 729682 w 1161142"/>
                <a:gd name="connsiteY14" fmla="*/ 225311 h 1009083"/>
                <a:gd name="connsiteX15" fmla="*/ 431460 w 1161142"/>
                <a:gd name="connsiteY15" fmla="*/ 225311 h 1009083"/>
                <a:gd name="connsiteX16" fmla="*/ 580571 w 1161142"/>
                <a:gd name="connsiteY16" fmla="*/ 76200 h 1009083"/>
                <a:gd name="connsiteX17" fmla="*/ 580571 w 1161142"/>
                <a:gd name="connsiteY17" fmla="*/ 0 h 1009083"/>
                <a:gd name="connsiteX18" fmla="*/ 355260 w 1161142"/>
                <a:gd name="connsiteY18" fmla="*/ 225311 h 1009083"/>
                <a:gd name="connsiteX19" fmla="*/ 290704 w 1161142"/>
                <a:gd name="connsiteY19" fmla="*/ 225311 h 1009083"/>
                <a:gd name="connsiteX20" fmla="*/ 290704 w 1161142"/>
                <a:gd name="connsiteY20" fmla="*/ 1009083 h 1009083"/>
                <a:gd name="connsiteX21" fmla="*/ 870438 w 1161142"/>
                <a:gd name="connsiteY21" fmla="*/ 1009083 h 1009083"/>
                <a:gd name="connsiteX22" fmla="*/ 870438 w 1161142"/>
                <a:gd name="connsiteY22" fmla="*/ 225311 h 1009083"/>
                <a:gd name="connsiteX23" fmla="*/ 805882 w 1161142"/>
                <a:gd name="connsiteY23" fmla="*/ 225311 h 1009083"/>
                <a:gd name="connsiteX24" fmla="*/ 580571 w 1161142"/>
                <a:gd name="connsiteY24" fmla="*/ 0 h 100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61142" h="1009083">
                  <a:moveTo>
                    <a:pt x="205184" y="225311"/>
                  </a:moveTo>
                  <a:lnTo>
                    <a:pt x="130631" y="225311"/>
                  </a:lnTo>
                  <a:cubicBezTo>
                    <a:pt x="58485" y="225311"/>
                    <a:pt x="0" y="283796"/>
                    <a:pt x="0" y="355942"/>
                  </a:cubicBezTo>
                  <a:lnTo>
                    <a:pt x="0" y="878452"/>
                  </a:lnTo>
                  <a:cubicBezTo>
                    <a:pt x="0" y="950598"/>
                    <a:pt x="58485" y="1009083"/>
                    <a:pt x="130631" y="1009083"/>
                  </a:cubicBezTo>
                  <a:lnTo>
                    <a:pt x="205184" y="1009083"/>
                  </a:lnTo>
                  <a:close/>
                  <a:moveTo>
                    <a:pt x="1030511" y="225311"/>
                  </a:moveTo>
                  <a:lnTo>
                    <a:pt x="955958" y="225311"/>
                  </a:lnTo>
                  <a:lnTo>
                    <a:pt x="955958" y="1009083"/>
                  </a:lnTo>
                  <a:lnTo>
                    <a:pt x="1030511" y="1009083"/>
                  </a:lnTo>
                  <a:cubicBezTo>
                    <a:pt x="1102657" y="1009083"/>
                    <a:pt x="1161142" y="950598"/>
                    <a:pt x="1161142" y="878452"/>
                  </a:cubicBezTo>
                  <a:lnTo>
                    <a:pt x="1161142" y="355942"/>
                  </a:lnTo>
                  <a:cubicBezTo>
                    <a:pt x="1161142" y="283796"/>
                    <a:pt x="1102657" y="225311"/>
                    <a:pt x="1030511" y="225311"/>
                  </a:cubicBezTo>
                  <a:close/>
                  <a:moveTo>
                    <a:pt x="580571" y="76200"/>
                  </a:moveTo>
                  <a:cubicBezTo>
                    <a:pt x="662923" y="76200"/>
                    <a:pt x="729682" y="142959"/>
                    <a:pt x="729682" y="225311"/>
                  </a:cubicBezTo>
                  <a:lnTo>
                    <a:pt x="431460" y="225311"/>
                  </a:lnTo>
                  <a:cubicBezTo>
                    <a:pt x="431460" y="142959"/>
                    <a:pt x="498219" y="76200"/>
                    <a:pt x="580571" y="76200"/>
                  </a:cubicBezTo>
                  <a:close/>
                  <a:moveTo>
                    <a:pt x="580571" y="0"/>
                  </a:moveTo>
                  <a:cubicBezTo>
                    <a:pt x="456135" y="0"/>
                    <a:pt x="355260" y="100875"/>
                    <a:pt x="355260" y="225311"/>
                  </a:cubicBezTo>
                  <a:lnTo>
                    <a:pt x="290704" y="225311"/>
                  </a:lnTo>
                  <a:lnTo>
                    <a:pt x="290704" y="1009083"/>
                  </a:lnTo>
                  <a:lnTo>
                    <a:pt x="870438" y="1009083"/>
                  </a:lnTo>
                  <a:lnTo>
                    <a:pt x="870438" y="225311"/>
                  </a:lnTo>
                  <a:lnTo>
                    <a:pt x="805882" y="225311"/>
                  </a:lnTo>
                  <a:cubicBezTo>
                    <a:pt x="805882" y="100875"/>
                    <a:pt x="705007" y="0"/>
                    <a:pt x="580571"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6" name="TextBox 5"/>
            <p:cNvSpPr txBox="1"/>
            <p:nvPr/>
          </p:nvSpPr>
          <p:spPr>
            <a:xfrm>
              <a:off x="3864090" y="886422"/>
              <a:ext cx="1132746" cy="369332"/>
            </a:xfrm>
            <a:prstGeom prst="rect">
              <a:avLst/>
            </a:prstGeom>
            <a:noFill/>
          </p:spPr>
          <p:txBody>
            <a:bodyPr wrap="none" rtlCol="0">
              <a:spAutoFit/>
            </a:bodyPr>
            <a:lstStyle/>
            <a:p>
              <a:r>
                <a:rPr lang="en-US" dirty="0" smtClean="0"/>
                <a:t> Baggage, </a:t>
              </a:r>
              <a:endParaRPr lang="en-US" dirty="0"/>
            </a:p>
          </p:txBody>
        </p:sp>
        <p:sp>
          <p:nvSpPr>
            <p:cNvPr id="7" name="Freeform 6"/>
            <p:cNvSpPr/>
            <p:nvPr/>
          </p:nvSpPr>
          <p:spPr>
            <a:xfrm rot="20021754">
              <a:off x="5090815" y="966242"/>
              <a:ext cx="323259" cy="135020"/>
            </a:xfrm>
            <a:custGeom>
              <a:avLst/>
              <a:gdLst>
                <a:gd name="connsiteX0" fmla="*/ 99307 w 541041"/>
                <a:gd name="connsiteY0" fmla="*/ 54263 h 225982"/>
                <a:gd name="connsiteX1" fmla="*/ 136175 w 541041"/>
                <a:gd name="connsiteY1" fmla="*/ 104206 h 225982"/>
                <a:gd name="connsiteX2" fmla="*/ 103289 w 541041"/>
                <a:gd name="connsiteY2" fmla="*/ 170735 h 225982"/>
                <a:gd name="connsiteX3" fmla="*/ 38879 w 541041"/>
                <a:gd name="connsiteY3" fmla="*/ 171028 h 225982"/>
                <a:gd name="connsiteX4" fmla="*/ 0 w 541041"/>
                <a:gd name="connsiteY4" fmla="*/ 119677 h 225982"/>
                <a:gd name="connsiteX5" fmla="*/ 33698 w 541041"/>
                <a:gd name="connsiteY5" fmla="*/ 51507 h 225982"/>
                <a:gd name="connsiteX6" fmla="*/ 43218 w 541041"/>
                <a:gd name="connsiteY6" fmla="*/ 51464 h 225982"/>
                <a:gd name="connsiteX7" fmla="*/ 43218 w 541041"/>
                <a:gd name="connsiteY7" fmla="*/ 53838 h 225982"/>
                <a:gd name="connsiteX8" fmla="*/ 504723 w 541041"/>
                <a:gd name="connsiteY8" fmla="*/ 53019 h 225982"/>
                <a:gd name="connsiteX9" fmla="*/ 541041 w 541041"/>
                <a:gd name="connsiteY9" fmla="*/ 107811 h 225982"/>
                <a:gd name="connsiteX10" fmla="*/ 481576 w 541041"/>
                <a:gd name="connsiteY10" fmla="*/ 167276 h 225982"/>
                <a:gd name="connsiteX11" fmla="*/ 171988 w 541041"/>
                <a:gd name="connsiteY11" fmla="*/ 167276 h 225982"/>
                <a:gd name="connsiteX12" fmla="*/ 143860 w 541041"/>
                <a:gd name="connsiteY12" fmla="*/ 202747 h 225982"/>
                <a:gd name="connsiteX13" fmla="*/ 99545 w 541041"/>
                <a:gd name="connsiteY13" fmla="*/ 225955 h 225982"/>
                <a:gd name="connsiteX14" fmla="*/ 99000 w 541041"/>
                <a:gd name="connsiteY14" fmla="*/ 225982 h 225982"/>
                <a:gd name="connsiteX15" fmla="*/ 66761 w 541041"/>
                <a:gd name="connsiteY15" fmla="*/ 217441 h 225982"/>
                <a:gd name="connsiteX16" fmla="*/ 43218 w 541041"/>
                <a:gd name="connsiteY16" fmla="*/ 199021 h 225982"/>
                <a:gd name="connsiteX17" fmla="*/ 43218 w 541041"/>
                <a:gd name="connsiteY17" fmla="*/ 173385 h 225982"/>
                <a:gd name="connsiteX18" fmla="*/ 103037 w 541041"/>
                <a:gd name="connsiteY18" fmla="*/ 173839 h 225982"/>
                <a:gd name="connsiteX19" fmla="*/ 137561 w 541041"/>
                <a:gd name="connsiteY19" fmla="*/ 106083 h 225982"/>
                <a:gd name="connsiteX20" fmla="*/ 136175 w 541041"/>
                <a:gd name="connsiteY20" fmla="*/ 104206 h 225982"/>
                <a:gd name="connsiteX21" fmla="*/ 136987 w 541041"/>
                <a:gd name="connsiteY21" fmla="*/ 102565 h 225982"/>
                <a:gd name="connsiteX22" fmla="*/ 98106 w 541041"/>
                <a:gd name="connsiteY22" fmla="*/ 51213 h 225982"/>
                <a:gd name="connsiteX23" fmla="*/ 43218 w 541041"/>
                <a:gd name="connsiteY23" fmla="*/ 51464 h 225982"/>
                <a:gd name="connsiteX24" fmla="*/ 43218 w 541041"/>
                <a:gd name="connsiteY24" fmla="*/ 22915 h 225982"/>
                <a:gd name="connsiteX25" fmla="*/ 77964 w 541041"/>
                <a:gd name="connsiteY25" fmla="*/ 1110 h 225982"/>
                <a:gd name="connsiteX26" fmla="*/ 85046 w 541041"/>
                <a:gd name="connsiteY26" fmla="*/ 0 h 225982"/>
                <a:gd name="connsiteX27" fmla="*/ 121741 w 541041"/>
                <a:gd name="connsiteY27" fmla="*/ 10236 h 225982"/>
                <a:gd name="connsiteX28" fmla="*/ 157909 w 541041"/>
                <a:gd name="connsiteY28" fmla="*/ 38916 h 225982"/>
                <a:gd name="connsiteX29" fmla="*/ 163138 w 541041"/>
                <a:gd name="connsiteY29" fmla="*/ 48346 h 225982"/>
                <a:gd name="connsiteX30" fmla="*/ 481576 w 541041"/>
                <a:gd name="connsiteY30" fmla="*/ 48346 h 225982"/>
                <a:gd name="connsiteX31" fmla="*/ 504723 w 541041"/>
                <a:gd name="connsiteY31" fmla="*/ 53019 h 22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41041" h="225982">
                  <a:moveTo>
                    <a:pt x="99307" y="54263"/>
                  </a:moveTo>
                  <a:lnTo>
                    <a:pt x="136175" y="104206"/>
                  </a:lnTo>
                  <a:lnTo>
                    <a:pt x="103289" y="170735"/>
                  </a:lnTo>
                  <a:lnTo>
                    <a:pt x="38879" y="171028"/>
                  </a:lnTo>
                  <a:lnTo>
                    <a:pt x="0" y="119677"/>
                  </a:lnTo>
                  <a:lnTo>
                    <a:pt x="33698" y="51507"/>
                  </a:lnTo>
                  <a:lnTo>
                    <a:pt x="43218" y="51464"/>
                  </a:lnTo>
                  <a:lnTo>
                    <a:pt x="43218" y="53838"/>
                  </a:lnTo>
                  <a:close/>
                  <a:moveTo>
                    <a:pt x="504723" y="53019"/>
                  </a:moveTo>
                  <a:cubicBezTo>
                    <a:pt x="526066" y="62046"/>
                    <a:pt x="541041" y="83180"/>
                    <a:pt x="541041" y="107811"/>
                  </a:cubicBezTo>
                  <a:cubicBezTo>
                    <a:pt x="541041" y="140653"/>
                    <a:pt x="514418" y="167276"/>
                    <a:pt x="481576" y="167276"/>
                  </a:cubicBezTo>
                  <a:lnTo>
                    <a:pt x="171988" y="167276"/>
                  </a:lnTo>
                  <a:lnTo>
                    <a:pt x="143860" y="202747"/>
                  </a:lnTo>
                  <a:cubicBezTo>
                    <a:pt x="130861" y="213683"/>
                    <a:pt x="115692" y="221548"/>
                    <a:pt x="99545" y="225955"/>
                  </a:cubicBezTo>
                  <a:lnTo>
                    <a:pt x="99000" y="225982"/>
                  </a:lnTo>
                  <a:lnTo>
                    <a:pt x="66761" y="217441"/>
                  </a:lnTo>
                  <a:lnTo>
                    <a:pt x="43218" y="199021"/>
                  </a:lnTo>
                  <a:lnTo>
                    <a:pt x="43218" y="173385"/>
                  </a:lnTo>
                  <a:lnTo>
                    <a:pt x="103037" y="173839"/>
                  </a:lnTo>
                  <a:lnTo>
                    <a:pt x="137561" y="106083"/>
                  </a:lnTo>
                  <a:lnTo>
                    <a:pt x="136175" y="104206"/>
                  </a:lnTo>
                  <a:lnTo>
                    <a:pt x="136987" y="102565"/>
                  </a:lnTo>
                  <a:lnTo>
                    <a:pt x="98106" y="51213"/>
                  </a:lnTo>
                  <a:lnTo>
                    <a:pt x="43218" y="51464"/>
                  </a:lnTo>
                  <a:lnTo>
                    <a:pt x="43218" y="22915"/>
                  </a:lnTo>
                  <a:lnTo>
                    <a:pt x="77964" y="1110"/>
                  </a:lnTo>
                  <a:lnTo>
                    <a:pt x="85046" y="0"/>
                  </a:lnTo>
                  <a:lnTo>
                    <a:pt x="121741" y="10236"/>
                  </a:lnTo>
                  <a:cubicBezTo>
                    <a:pt x="136041" y="17522"/>
                    <a:pt x="148188" y="27361"/>
                    <a:pt x="157909" y="38916"/>
                  </a:cubicBezTo>
                  <a:lnTo>
                    <a:pt x="163138" y="48346"/>
                  </a:lnTo>
                  <a:lnTo>
                    <a:pt x="481576" y="48346"/>
                  </a:lnTo>
                  <a:cubicBezTo>
                    <a:pt x="489787" y="48346"/>
                    <a:pt x="497608" y="50010"/>
                    <a:pt x="504723" y="53019"/>
                  </a:cubicBezTo>
                  <a:close/>
                </a:path>
              </a:pathLst>
            </a:cu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8" name="TextBox 7"/>
            <p:cNvSpPr txBox="1"/>
            <p:nvPr/>
          </p:nvSpPr>
          <p:spPr>
            <a:xfrm>
              <a:off x="5349256" y="886422"/>
              <a:ext cx="1090107" cy="369332"/>
            </a:xfrm>
            <a:prstGeom prst="rect">
              <a:avLst/>
            </a:prstGeom>
            <a:noFill/>
          </p:spPr>
          <p:txBody>
            <a:bodyPr wrap="none" rtlCol="0">
              <a:spAutoFit/>
            </a:bodyPr>
            <a:lstStyle/>
            <a:p>
              <a:r>
                <a:rPr lang="en-US" dirty="0"/>
                <a:t>PT </a:t>
              </a:r>
              <a:r>
                <a:rPr lang="en-US" dirty="0" smtClean="0"/>
                <a:t>Agent)</a:t>
              </a:r>
              <a:endParaRPr lang="en-US" dirty="0"/>
            </a:p>
          </p:txBody>
        </p:sp>
        <p:sp>
          <p:nvSpPr>
            <p:cNvPr id="9" name="TextBox 8"/>
            <p:cNvSpPr txBox="1"/>
            <p:nvPr/>
          </p:nvSpPr>
          <p:spPr>
            <a:xfrm>
              <a:off x="4809161" y="886422"/>
              <a:ext cx="300082" cy="369332"/>
            </a:xfrm>
            <a:prstGeom prst="rect">
              <a:avLst/>
            </a:prstGeom>
            <a:noFill/>
          </p:spPr>
          <p:txBody>
            <a:bodyPr wrap="none" rtlCol="0">
              <a:spAutoFit/>
            </a:bodyPr>
            <a:lstStyle/>
            <a:p>
              <a:r>
                <a:rPr lang="en-US" dirty="0"/>
                <a:t>+</a:t>
              </a:r>
            </a:p>
          </p:txBody>
        </p:sp>
      </p:grpSp>
      <p:sp>
        <p:nvSpPr>
          <p:cNvPr id="11" name="Slide Number Placeholder 10"/>
          <p:cNvSpPr>
            <a:spLocks noGrp="1"/>
          </p:cNvSpPr>
          <p:nvPr>
            <p:ph type="sldNum" sz="quarter" idx="12"/>
          </p:nvPr>
        </p:nvSpPr>
        <p:spPr/>
        <p:txBody>
          <a:bodyPr/>
          <a:lstStyle/>
          <a:p>
            <a:fld id="{D431E30F-8439-471B-9257-EDD8E85CDBC8}" type="slidenum">
              <a:rPr lang="en-US" smtClean="0"/>
              <a:t>33</a:t>
            </a:fld>
            <a:endParaRPr lang="en-US"/>
          </a:p>
        </p:txBody>
      </p:sp>
    </p:spTree>
    <p:extLst>
      <p:ext uri="{BB962C8B-B14F-4D97-AF65-F5344CB8AC3E}">
        <p14:creationId xmlns:p14="http://schemas.microsoft.com/office/powerpoint/2010/main" val="3726348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fade">
                                      <p:cBhvr>
                                        <p:cTn id="12" dur="500"/>
                                        <p:tgtEl>
                                          <p:spTgt spid="3">
                                            <p:txEl>
                                              <p:pRg st="5" end="5"/>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Effect transition="in" filter="fade">
                                      <p:cBhvr>
                                        <p:cTn id="15" dur="500"/>
                                        <p:tgtEl>
                                          <p:spTgt spid="3">
                                            <p:txEl>
                                              <p:pRg st="6" end="6"/>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7" end="7"/>
                                            </p:txEl>
                                          </p:spTgt>
                                        </p:tgtEl>
                                        <p:attrNameLst>
                                          <p:attrName>style.visibility</p:attrName>
                                        </p:attrNameLst>
                                      </p:cBhvr>
                                      <p:to>
                                        <p:strVal val="visible"/>
                                      </p:to>
                                    </p:set>
                                    <p:animEffect transition="in" filter="fade">
                                      <p:cBhvr>
                                        <p:cTn id="18" dur="500"/>
                                        <p:tgtEl>
                                          <p:spTgt spid="3">
                                            <p:txEl>
                                              <p:pRg st="7" end="7"/>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Effect transition="in" filter="fade">
                                      <p:cBhvr>
                                        <p:cTn id="23"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Experiments</a:t>
            </a:r>
            <a:endParaRPr lang="en-US" dirty="0"/>
          </a:p>
        </p:txBody>
      </p:sp>
      <p:sp>
        <p:nvSpPr>
          <p:cNvPr id="3" name="Content Placeholder 2"/>
          <p:cNvSpPr>
            <a:spLocks noGrp="1"/>
          </p:cNvSpPr>
          <p:nvPr>
            <p:ph idx="1"/>
          </p:nvPr>
        </p:nvSpPr>
        <p:spPr/>
        <p:txBody>
          <a:bodyPr/>
          <a:lstStyle/>
          <a:p>
            <a:pPr marL="514350" indent="-514350">
              <a:buFont typeface="+mj-lt"/>
              <a:buAutoNum type="arabicPeriod"/>
            </a:pPr>
            <a:r>
              <a:rPr lang="en-US" dirty="0" smtClean="0"/>
              <a:t>Monitoring queries with various groupings</a:t>
            </a:r>
            <a:endParaRPr lang="en-US" dirty="0"/>
          </a:p>
        </p:txBody>
      </p:sp>
      <p:grpSp>
        <p:nvGrpSpPr>
          <p:cNvPr id="9" name="Group 8"/>
          <p:cNvGrpSpPr/>
          <p:nvPr/>
        </p:nvGrpSpPr>
        <p:grpSpPr>
          <a:xfrm>
            <a:off x="314325" y="2300059"/>
            <a:ext cx="8515350" cy="2217324"/>
            <a:chOff x="0" y="2347684"/>
            <a:chExt cx="8515350" cy="2217324"/>
          </a:xfrm>
        </p:grpSpPr>
        <p:pic>
          <p:nvPicPr>
            <p:cNvPr id="4" name="Picture 3" descr="fig1.pdf"/>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2812231"/>
              <a:ext cx="2019944" cy="1752777"/>
            </a:xfrm>
            <a:prstGeom prst="rect">
              <a:avLst/>
            </a:prstGeom>
          </p:spPr>
        </p:pic>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08080" y="2812231"/>
              <a:ext cx="2023991" cy="1752777"/>
            </a:xfrm>
            <a:prstGeom prst="rect">
              <a:avLst/>
            </a:prstGeom>
          </p:spPr>
        </p:pic>
        <p:pic>
          <p:nvPicPr>
            <p:cNvPr id="6" name="Picture 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220207" y="2562637"/>
              <a:ext cx="2068428" cy="2002371"/>
            </a:xfrm>
            <a:prstGeom prst="rect">
              <a:avLst/>
            </a:prstGeom>
          </p:spPr>
        </p:pic>
        <p:pic>
          <p:nvPicPr>
            <p:cNvPr id="7" name="Picture 6"/>
            <p:cNvPicPr>
              <a:picLocks noChangeAspect="1"/>
            </p:cNvPicPr>
            <p:nvPr/>
          </p:nvPicPr>
          <p:blipFill>
            <a:blip r:embed="rId6"/>
            <a:stretch>
              <a:fillRect/>
            </a:stretch>
          </p:blipFill>
          <p:spPr>
            <a:xfrm>
              <a:off x="6376772" y="2347684"/>
              <a:ext cx="2138578" cy="2217324"/>
            </a:xfrm>
            <a:prstGeom prst="rect">
              <a:avLst/>
            </a:prstGeom>
          </p:spPr>
        </p:pic>
      </p:grpSp>
      <p:pic>
        <p:nvPicPr>
          <p:cNvPr id="10" name="Picture 9"/>
          <p:cNvPicPr>
            <a:picLocks noChangeAspect="1"/>
          </p:cNvPicPr>
          <p:nvPr/>
        </p:nvPicPr>
        <p:blipFill rotWithShape="1">
          <a:blip r:embed="rId7"/>
          <a:srcRect l="1563" t="978" r="4687" b="1536"/>
          <a:stretch/>
        </p:blipFill>
        <p:spPr>
          <a:xfrm>
            <a:off x="476572" y="480026"/>
            <a:ext cx="847725" cy="1095763"/>
          </a:xfrm>
          <a:prstGeom prst="rect">
            <a:avLst/>
          </a:prstGeom>
          <a:ln>
            <a:solidFill>
              <a:schemeClr val="tx1"/>
            </a:solidFill>
          </a:ln>
          <a:effectLst>
            <a:outerShdw blurRad="50800" dist="38100" dir="2700000" algn="tl" rotWithShape="0">
              <a:prstClr val="black">
                <a:alpha val="40000"/>
              </a:prstClr>
            </a:outerShdw>
          </a:effectLst>
        </p:spPr>
      </p:pic>
      <p:sp>
        <p:nvSpPr>
          <p:cNvPr id="8" name="Slide Number Placeholder 7"/>
          <p:cNvSpPr>
            <a:spLocks noGrp="1"/>
          </p:cNvSpPr>
          <p:nvPr>
            <p:ph type="sldNum" sz="quarter" idx="12"/>
          </p:nvPr>
        </p:nvSpPr>
        <p:spPr/>
        <p:txBody>
          <a:bodyPr/>
          <a:lstStyle/>
          <a:p>
            <a:fld id="{D431E30F-8439-471B-9257-EDD8E85CDBC8}" type="slidenum">
              <a:rPr lang="en-US" smtClean="0"/>
              <a:t>34</a:t>
            </a:fld>
            <a:endParaRPr lang="en-US"/>
          </a:p>
        </p:txBody>
      </p:sp>
    </p:spTree>
    <p:extLst>
      <p:ext uri="{BB962C8B-B14F-4D97-AF65-F5344CB8AC3E}">
        <p14:creationId xmlns:p14="http://schemas.microsoft.com/office/powerpoint/2010/main" val="941363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514350" indent="-514350">
              <a:buFont typeface="+mj-lt"/>
              <a:buAutoNum type="arabicPeriod"/>
            </a:pPr>
            <a:r>
              <a:rPr lang="en-US" dirty="0" smtClean="0"/>
              <a:t>Monitoring queries with various groupings</a:t>
            </a:r>
          </a:p>
          <a:p>
            <a:pPr marL="514350" indent="-514350">
              <a:buFont typeface="+mj-lt"/>
              <a:buAutoNum type="arabicPeriod"/>
            </a:pPr>
            <a:endParaRPr lang="en-US" dirty="0"/>
          </a:p>
          <a:p>
            <a:pPr marL="514350" indent="-514350">
              <a:buFont typeface="+mj-lt"/>
              <a:buAutoNum type="arabicPeriod"/>
            </a:pPr>
            <a:r>
              <a:rPr lang="en-US" dirty="0" smtClean="0"/>
              <a:t>Decomposing request latencies</a:t>
            </a:r>
            <a:endParaRPr lang="en-US" dirty="0"/>
          </a:p>
        </p:txBody>
      </p:sp>
      <p:sp>
        <p:nvSpPr>
          <p:cNvPr id="12" name="Title 1"/>
          <p:cNvSpPr>
            <a:spLocks noGrp="1"/>
          </p:cNvSpPr>
          <p:nvPr>
            <p:ph type="title"/>
          </p:nvPr>
        </p:nvSpPr>
        <p:spPr>
          <a:xfrm>
            <a:off x="628650" y="365127"/>
            <a:ext cx="7886700" cy="1325563"/>
          </a:xfrm>
        </p:spPr>
        <p:txBody>
          <a:bodyPr/>
          <a:lstStyle/>
          <a:p>
            <a:r>
              <a:rPr lang="en-US" dirty="0" smtClean="0"/>
              <a:t>	Experiments</a:t>
            </a:r>
            <a:endParaRPr lang="en-US" dirty="0"/>
          </a:p>
        </p:txBody>
      </p:sp>
      <p:pic>
        <p:nvPicPr>
          <p:cNvPr id="13" name="Picture 12"/>
          <p:cNvPicPr>
            <a:picLocks noChangeAspect="1"/>
          </p:cNvPicPr>
          <p:nvPr/>
        </p:nvPicPr>
        <p:blipFill rotWithShape="1">
          <a:blip r:embed="rId3"/>
          <a:srcRect l="1563" t="978" r="4687" b="1536"/>
          <a:stretch/>
        </p:blipFill>
        <p:spPr>
          <a:xfrm>
            <a:off x="476572" y="480026"/>
            <a:ext cx="847725" cy="1095763"/>
          </a:xfrm>
          <a:prstGeom prst="rect">
            <a:avLst/>
          </a:prstGeom>
          <a:ln>
            <a:solidFill>
              <a:schemeClr val="tx1"/>
            </a:solidFill>
          </a:ln>
          <a:effectLst>
            <a:outerShdw blurRad="50800" dist="38100" dir="2700000" algn="tl" rotWithShape="0">
              <a:prstClr val="black">
                <a:alpha val="40000"/>
              </a:prstClr>
            </a:outerShdw>
          </a:effectLst>
        </p:spPr>
      </p:pic>
      <p:sp>
        <p:nvSpPr>
          <p:cNvPr id="2" name="Slide Number Placeholder 1"/>
          <p:cNvSpPr>
            <a:spLocks noGrp="1"/>
          </p:cNvSpPr>
          <p:nvPr>
            <p:ph type="sldNum" sz="quarter" idx="12"/>
          </p:nvPr>
        </p:nvSpPr>
        <p:spPr/>
        <p:txBody>
          <a:bodyPr/>
          <a:lstStyle/>
          <a:p>
            <a:fld id="{D431E30F-8439-471B-9257-EDD8E85CDBC8}" type="slidenum">
              <a:rPr lang="en-US" smtClean="0"/>
              <a:t>35</a:t>
            </a:fld>
            <a:endParaRPr lang="en-US"/>
          </a:p>
        </p:txBody>
      </p:sp>
    </p:spTree>
    <p:extLst>
      <p:ext uri="{BB962C8B-B14F-4D97-AF65-F5344CB8AC3E}">
        <p14:creationId xmlns:p14="http://schemas.microsoft.com/office/powerpoint/2010/main" val="17103456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514350" indent="-514350">
              <a:buFont typeface="+mj-lt"/>
              <a:buAutoNum type="arabicPeriod"/>
            </a:pPr>
            <a:r>
              <a:rPr lang="en-US" dirty="0" smtClean="0"/>
              <a:t>Monitoring queries with various groupings</a:t>
            </a:r>
          </a:p>
          <a:p>
            <a:pPr marL="514350" indent="-514350">
              <a:buFont typeface="+mj-lt"/>
              <a:buAutoNum type="arabicPeriod"/>
            </a:pPr>
            <a:endParaRPr lang="en-US" dirty="0"/>
          </a:p>
          <a:p>
            <a:pPr marL="514350" indent="-514350">
              <a:buFont typeface="+mj-lt"/>
              <a:buAutoNum type="arabicPeriod"/>
            </a:pPr>
            <a:r>
              <a:rPr lang="en-US" dirty="0" smtClean="0"/>
              <a:t>Decomposing request latencies</a:t>
            </a:r>
          </a:p>
          <a:p>
            <a:pPr marL="514350" indent="-514350">
              <a:buFont typeface="+mj-lt"/>
              <a:buAutoNum type="arabicPeriod"/>
            </a:pPr>
            <a:endParaRPr lang="en-US" dirty="0"/>
          </a:p>
          <a:p>
            <a:pPr marL="514350" indent="-514350">
              <a:buFont typeface="+mj-lt"/>
              <a:buAutoNum type="arabicPeriod"/>
            </a:pPr>
            <a:r>
              <a:rPr lang="en-US" dirty="0" smtClean="0"/>
              <a:t>Debugging recurring problems</a:t>
            </a:r>
            <a:endParaRPr lang="en-US" dirty="0"/>
          </a:p>
        </p:txBody>
      </p:sp>
      <p:sp>
        <p:nvSpPr>
          <p:cNvPr id="4" name="Rectangle 3"/>
          <p:cNvSpPr/>
          <p:nvPr/>
        </p:nvSpPr>
        <p:spPr>
          <a:xfrm>
            <a:off x="457200" y="1466850"/>
            <a:ext cx="8686800" cy="2295525"/>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p:cNvSpPr>
            <a:spLocks noGrp="1"/>
          </p:cNvSpPr>
          <p:nvPr>
            <p:ph type="title"/>
          </p:nvPr>
        </p:nvSpPr>
        <p:spPr>
          <a:xfrm>
            <a:off x="628650" y="365127"/>
            <a:ext cx="7886700" cy="1325563"/>
          </a:xfrm>
        </p:spPr>
        <p:txBody>
          <a:bodyPr/>
          <a:lstStyle/>
          <a:p>
            <a:r>
              <a:rPr lang="en-US" dirty="0" smtClean="0"/>
              <a:t>	Experiments</a:t>
            </a:r>
            <a:endParaRPr lang="en-US" dirty="0"/>
          </a:p>
        </p:txBody>
      </p:sp>
      <p:pic>
        <p:nvPicPr>
          <p:cNvPr id="12" name="Picture 11"/>
          <p:cNvPicPr>
            <a:picLocks noChangeAspect="1"/>
          </p:cNvPicPr>
          <p:nvPr/>
        </p:nvPicPr>
        <p:blipFill rotWithShape="1">
          <a:blip r:embed="rId3"/>
          <a:srcRect l="1563" t="978" r="4687" b="1536"/>
          <a:stretch/>
        </p:blipFill>
        <p:spPr>
          <a:xfrm>
            <a:off x="476572" y="480026"/>
            <a:ext cx="847725" cy="1095763"/>
          </a:xfrm>
          <a:prstGeom prst="rect">
            <a:avLst/>
          </a:prstGeom>
          <a:ln>
            <a:solidFill>
              <a:schemeClr val="tx1"/>
            </a:solidFill>
          </a:ln>
          <a:effectLst>
            <a:outerShdw blurRad="50800" dist="38100" dir="2700000" algn="tl" rotWithShape="0">
              <a:prstClr val="black">
                <a:alpha val="40000"/>
              </a:prstClr>
            </a:outerShdw>
          </a:effectLst>
        </p:spPr>
      </p:pic>
      <p:sp>
        <p:nvSpPr>
          <p:cNvPr id="2" name="Slide Number Placeholder 1"/>
          <p:cNvSpPr>
            <a:spLocks noGrp="1"/>
          </p:cNvSpPr>
          <p:nvPr>
            <p:ph type="sldNum" sz="quarter" idx="12"/>
          </p:nvPr>
        </p:nvSpPr>
        <p:spPr/>
        <p:txBody>
          <a:bodyPr/>
          <a:lstStyle/>
          <a:p>
            <a:fld id="{D431E30F-8439-471B-9257-EDD8E85CDBC8}" type="slidenum">
              <a:rPr lang="en-US" smtClean="0"/>
              <a:t>36</a:t>
            </a:fld>
            <a:endParaRPr lang="en-US"/>
          </a:p>
        </p:txBody>
      </p:sp>
    </p:spTree>
    <p:extLst>
      <p:ext uri="{BB962C8B-B14F-4D97-AF65-F5344CB8AC3E}">
        <p14:creationId xmlns:p14="http://schemas.microsoft.com/office/powerpoint/2010/main" val="1496979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Group 36"/>
          <p:cNvGrpSpPr/>
          <p:nvPr/>
        </p:nvGrpSpPr>
        <p:grpSpPr>
          <a:xfrm>
            <a:off x="5747685" y="839636"/>
            <a:ext cx="2649591" cy="1813150"/>
            <a:chOff x="628308" y="1501527"/>
            <a:chExt cx="1571966" cy="1075717"/>
          </a:xfrm>
        </p:grpSpPr>
        <p:sp>
          <p:nvSpPr>
            <p:cNvPr id="34" name="Rounded Rectangle 33"/>
            <p:cNvSpPr/>
            <p:nvPr/>
          </p:nvSpPr>
          <p:spPr>
            <a:xfrm>
              <a:off x="664389" y="1501527"/>
              <a:ext cx="1535885" cy="1075717"/>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3200" dirty="0" smtClean="0">
                <a:solidFill>
                  <a:schemeClr val="tx1"/>
                </a:solidFill>
              </a:endParaRPr>
            </a:p>
            <a:p>
              <a:pPr algn="r"/>
              <a:r>
                <a:rPr lang="en-US" sz="3200" dirty="0" smtClean="0">
                  <a:solidFill>
                    <a:schemeClr val="tx1"/>
                  </a:solidFill>
                </a:rPr>
                <a:t>HDFS </a:t>
              </a:r>
              <a:r>
                <a:rPr lang="en-US" sz="3200" dirty="0" err="1" smtClean="0">
                  <a:solidFill>
                    <a:schemeClr val="tx1"/>
                  </a:solidFill>
                </a:rPr>
                <a:t>NameNode</a:t>
              </a:r>
              <a:endParaRPr lang="en-US" sz="3200" dirty="0">
                <a:solidFill>
                  <a:schemeClr val="tx1"/>
                </a:solidFill>
              </a:endParaRPr>
            </a:p>
          </p:txBody>
        </p:sp>
        <p:pic>
          <p:nvPicPr>
            <p:cNvPr id="36" name="Picture 2" descr="https://cloud.google.com/hadoop/images/hadoop-elephant.png"/>
            <p:cNvPicPr>
              <a:picLocks noChangeAspect="1" noChangeArrowheads="1"/>
            </p:cNvPicPr>
            <p:nvPr/>
          </p:nvPicPr>
          <p:blipFill>
            <a:blip r:embed="rId3" cstate="print">
              <a:biLevel thresh="75000"/>
              <a:extLst>
                <a:ext uri="{28A0092B-C50C-407E-A947-70E740481C1C}">
                  <a14:useLocalDpi xmlns:a14="http://schemas.microsoft.com/office/drawing/2010/main" val="0"/>
                </a:ext>
              </a:extLst>
            </a:blip>
            <a:srcRect/>
            <a:stretch>
              <a:fillRect/>
            </a:stretch>
          </p:blipFill>
          <p:spPr bwMode="auto">
            <a:xfrm>
              <a:off x="628308" y="1801415"/>
              <a:ext cx="723524" cy="51721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5" name="Group 24"/>
          <p:cNvGrpSpPr/>
          <p:nvPr/>
        </p:nvGrpSpPr>
        <p:grpSpPr>
          <a:xfrm>
            <a:off x="-262880" y="4629149"/>
            <a:ext cx="10872522" cy="1580069"/>
            <a:chOff x="-262880" y="4629149"/>
            <a:chExt cx="10872522" cy="1580069"/>
          </a:xfrm>
        </p:grpSpPr>
        <p:grpSp>
          <p:nvGrpSpPr>
            <p:cNvPr id="2" name="Group 1"/>
            <p:cNvGrpSpPr/>
            <p:nvPr/>
          </p:nvGrpSpPr>
          <p:grpSpPr>
            <a:xfrm>
              <a:off x="-262880" y="4629149"/>
              <a:ext cx="2414322" cy="1580069"/>
              <a:chOff x="4661070" y="3943349"/>
              <a:chExt cx="2414322" cy="1580069"/>
            </a:xfrm>
          </p:grpSpPr>
          <p:sp>
            <p:nvSpPr>
              <p:cNvPr id="38" name="Rounded Rectangle 37"/>
              <p:cNvSpPr/>
              <p:nvPr/>
            </p:nvSpPr>
            <p:spPr>
              <a:xfrm>
                <a:off x="5192231" y="3943349"/>
                <a:ext cx="1883161" cy="1383813"/>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400" dirty="0" smtClean="0">
                  <a:solidFill>
                    <a:schemeClr val="tx1"/>
                  </a:solidFill>
                </a:endParaRPr>
              </a:p>
              <a:p>
                <a:pPr algn="r"/>
                <a:r>
                  <a:rPr lang="en-US" sz="2400" dirty="0" smtClean="0">
                    <a:solidFill>
                      <a:schemeClr val="tx1"/>
                    </a:solidFill>
                  </a:rPr>
                  <a:t>HDFS </a:t>
                </a:r>
                <a:r>
                  <a:rPr lang="en-US" sz="2400" dirty="0" err="1" smtClean="0">
                    <a:solidFill>
                      <a:schemeClr val="tx1"/>
                    </a:solidFill>
                  </a:rPr>
                  <a:t>DataNode</a:t>
                </a:r>
                <a:endParaRPr lang="en-US" sz="2400" dirty="0">
                  <a:solidFill>
                    <a:schemeClr val="tx1"/>
                  </a:solidFill>
                </a:endParaRPr>
              </a:p>
            </p:txBody>
          </p:sp>
          <p:pic>
            <p:nvPicPr>
              <p:cNvPr id="40" name="Picture 2" descr="https://cloud.google.com/hadoop/images/hadoop-elephant.png"/>
              <p:cNvPicPr>
                <a:picLocks noChangeAspect="1" noChangeArrowheads="1"/>
              </p:cNvPicPr>
              <p:nvPr/>
            </p:nvPicPr>
            <p:blipFill>
              <a:blip r:embed="rId4"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4661070" y="4635255"/>
                <a:ext cx="1148091" cy="88816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7" name="Group 56"/>
            <p:cNvGrpSpPr/>
            <p:nvPr/>
          </p:nvGrpSpPr>
          <p:grpSpPr>
            <a:xfrm>
              <a:off x="1851670" y="4629149"/>
              <a:ext cx="2414322" cy="1580069"/>
              <a:chOff x="4661070" y="3943349"/>
              <a:chExt cx="2414322" cy="1580069"/>
            </a:xfrm>
          </p:grpSpPr>
          <p:sp>
            <p:nvSpPr>
              <p:cNvPr id="58" name="Rounded Rectangle 57"/>
              <p:cNvSpPr/>
              <p:nvPr/>
            </p:nvSpPr>
            <p:spPr>
              <a:xfrm>
                <a:off x="5192231" y="3943349"/>
                <a:ext cx="1883161" cy="1383813"/>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400" dirty="0" smtClean="0">
                  <a:solidFill>
                    <a:schemeClr val="tx1"/>
                  </a:solidFill>
                </a:endParaRPr>
              </a:p>
              <a:p>
                <a:pPr algn="r"/>
                <a:r>
                  <a:rPr lang="en-US" sz="2400" dirty="0" smtClean="0">
                    <a:solidFill>
                      <a:schemeClr val="tx1"/>
                    </a:solidFill>
                  </a:rPr>
                  <a:t>HDFS </a:t>
                </a:r>
                <a:r>
                  <a:rPr lang="en-US" sz="2400" dirty="0" err="1" smtClean="0">
                    <a:solidFill>
                      <a:schemeClr val="tx1"/>
                    </a:solidFill>
                  </a:rPr>
                  <a:t>DataNode</a:t>
                </a:r>
                <a:endParaRPr lang="en-US" sz="2400" dirty="0">
                  <a:solidFill>
                    <a:schemeClr val="tx1"/>
                  </a:solidFill>
                </a:endParaRPr>
              </a:p>
            </p:txBody>
          </p:sp>
          <p:pic>
            <p:nvPicPr>
              <p:cNvPr id="59" name="Picture 2" descr="https://cloud.google.com/hadoop/images/hadoop-elephant.png"/>
              <p:cNvPicPr>
                <a:picLocks noChangeAspect="1" noChangeArrowheads="1"/>
              </p:cNvPicPr>
              <p:nvPr/>
            </p:nvPicPr>
            <p:blipFill>
              <a:blip r:embed="rId4"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4661070" y="4635255"/>
                <a:ext cx="1148091" cy="88816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0" name="Group 59"/>
            <p:cNvGrpSpPr/>
            <p:nvPr/>
          </p:nvGrpSpPr>
          <p:grpSpPr>
            <a:xfrm>
              <a:off x="3966220" y="4629149"/>
              <a:ext cx="2414322" cy="1580069"/>
              <a:chOff x="4661070" y="3943349"/>
              <a:chExt cx="2414322" cy="1580069"/>
            </a:xfrm>
          </p:grpSpPr>
          <p:sp>
            <p:nvSpPr>
              <p:cNvPr id="61" name="Rounded Rectangle 60"/>
              <p:cNvSpPr/>
              <p:nvPr/>
            </p:nvSpPr>
            <p:spPr>
              <a:xfrm>
                <a:off x="5192231" y="3943349"/>
                <a:ext cx="1883161" cy="1383813"/>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400" dirty="0" smtClean="0">
                  <a:solidFill>
                    <a:schemeClr val="tx1"/>
                  </a:solidFill>
                </a:endParaRPr>
              </a:p>
              <a:p>
                <a:pPr algn="r"/>
                <a:r>
                  <a:rPr lang="en-US" sz="2400" dirty="0" smtClean="0">
                    <a:solidFill>
                      <a:schemeClr val="tx1"/>
                    </a:solidFill>
                  </a:rPr>
                  <a:t>HDFS </a:t>
                </a:r>
                <a:r>
                  <a:rPr lang="en-US" sz="2400" dirty="0" err="1" smtClean="0">
                    <a:solidFill>
                      <a:schemeClr val="tx1"/>
                    </a:solidFill>
                  </a:rPr>
                  <a:t>DataNode</a:t>
                </a:r>
                <a:endParaRPr lang="en-US" sz="2400" dirty="0">
                  <a:solidFill>
                    <a:schemeClr val="tx1"/>
                  </a:solidFill>
                </a:endParaRPr>
              </a:p>
            </p:txBody>
          </p:sp>
          <p:pic>
            <p:nvPicPr>
              <p:cNvPr id="62" name="Picture 2" descr="https://cloud.google.com/hadoop/images/hadoop-elephant.png"/>
              <p:cNvPicPr>
                <a:picLocks noChangeAspect="1" noChangeArrowheads="1"/>
              </p:cNvPicPr>
              <p:nvPr/>
            </p:nvPicPr>
            <p:blipFill>
              <a:blip r:embed="rId4"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4661070" y="4635255"/>
                <a:ext cx="1148091" cy="88816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3" name="Group 62"/>
            <p:cNvGrpSpPr/>
            <p:nvPr/>
          </p:nvGrpSpPr>
          <p:grpSpPr>
            <a:xfrm>
              <a:off x="6080770" y="4629149"/>
              <a:ext cx="2414322" cy="1580069"/>
              <a:chOff x="4661070" y="3943349"/>
              <a:chExt cx="2414322" cy="1580069"/>
            </a:xfrm>
          </p:grpSpPr>
          <p:sp>
            <p:nvSpPr>
              <p:cNvPr id="66" name="Rounded Rectangle 65"/>
              <p:cNvSpPr/>
              <p:nvPr/>
            </p:nvSpPr>
            <p:spPr>
              <a:xfrm>
                <a:off x="5192231" y="3943349"/>
                <a:ext cx="1883161" cy="1383813"/>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400" dirty="0" smtClean="0">
                  <a:solidFill>
                    <a:schemeClr val="tx1"/>
                  </a:solidFill>
                </a:endParaRPr>
              </a:p>
              <a:p>
                <a:pPr algn="r"/>
                <a:r>
                  <a:rPr lang="en-US" sz="2400" dirty="0" smtClean="0">
                    <a:solidFill>
                      <a:schemeClr val="tx1"/>
                    </a:solidFill>
                  </a:rPr>
                  <a:t>HDFS </a:t>
                </a:r>
                <a:r>
                  <a:rPr lang="en-US" sz="2400" dirty="0" err="1" smtClean="0">
                    <a:solidFill>
                      <a:schemeClr val="tx1"/>
                    </a:solidFill>
                  </a:rPr>
                  <a:t>DataNode</a:t>
                </a:r>
                <a:endParaRPr lang="en-US" sz="2400" dirty="0">
                  <a:solidFill>
                    <a:schemeClr val="tx1"/>
                  </a:solidFill>
                </a:endParaRPr>
              </a:p>
            </p:txBody>
          </p:sp>
          <p:pic>
            <p:nvPicPr>
              <p:cNvPr id="69" name="Picture 2" descr="https://cloud.google.com/hadoop/images/hadoop-elephant.png"/>
              <p:cNvPicPr>
                <a:picLocks noChangeAspect="1" noChangeArrowheads="1"/>
              </p:cNvPicPr>
              <p:nvPr/>
            </p:nvPicPr>
            <p:blipFill>
              <a:blip r:embed="rId4"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4661070" y="4635255"/>
                <a:ext cx="1148091" cy="88816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71" name="Group 70"/>
            <p:cNvGrpSpPr/>
            <p:nvPr/>
          </p:nvGrpSpPr>
          <p:grpSpPr>
            <a:xfrm>
              <a:off x="8195320" y="4629149"/>
              <a:ext cx="2414322" cy="1580069"/>
              <a:chOff x="4661070" y="3943349"/>
              <a:chExt cx="2414322" cy="1580069"/>
            </a:xfrm>
          </p:grpSpPr>
          <p:sp>
            <p:nvSpPr>
              <p:cNvPr id="74" name="Rounded Rectangle 73"/>
              <p:cNvSpPr/>
              <p:nvPr/>
            </p:nvSpPr>
            <p:spPr>
              <a:xfrm>
                <a:off x="5192231" y="3943349"/>
                <a:ext cx="1883161" cy="1383813"/>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400" dirty="0" smtClean="0">
                  <a:solidFill>
                    <a:schemeClr val="tx1"/>
                  </a:solidFill>
                </a:endParaRPr>
              </a:p>
              <a:p>
                <a:pPr algn="r"/>
                <a:r>
                  <a:rPr lang="en-US" sz="2400" dirty="0" smtClean="0">
                    <a:solidFill>
                      <a:schemeClr val="tx1"/>
                    </a:solidFill>
                  </a:rPr>
                  <a:t>HDFS </a:t>
                </a:r>
                <a:r>
                  <a:rPr lang="en-US" sz="2400" dirty="0" err="1" smtClean="0">
                    <a:solidFill>
                      <a:schemeClr val="tx1"/>
                    </a:solidFill>
                  </a:rPr>
                  <a:t>DataNode</a:t>
                </a:r>
                <a:endParaRPr lang="en-US" sz="2400" dirty="0">
                  <a:solidFill>
                    <a:schemeClr val="tx1"/>
                  </a:solidFill>
                </a:endParaRPr>
              </a:p>
            </p:txBody>
          </p:sp>
          <p:pic>
            <p:nvPicPr>
              <p:cNvPr id="76" name="Picture 2" descr="https://cloud.google.com/hadoop/images/hadoop-elephant.png"/>
              <p:cNvPicPr>
                <a:picLocks noChangeAspect="1" noChangeArrowheads="1"/>
              </p:cNvPicPr>
              <p:nvPr/>
            </p:nvPicPr>
            <p:blipFill>
              <a:blip r:embed="rId4"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4661070" y="4635255"/>
                <a:ext cx="1148091" cy="888163"/>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3" name="TextBox 2"/>
          <p:cNvSpPr txBox="1"/>
          <p:nvPr/>
        </p:nvSpPr>
        <p:spPr>
          <a:xfrm rot="832001">
            <a:off x="7116182" y="249238"/>
            <a:ext cx="2124812" cy="369332"/>
          </a:xfrm>
          <a:prstGeom prst="rect">
            <a:avLst/>
          </a:prstGeom>
          <a:noFill/>
        </p:spPr>
        <p:txBody>
          <a:bodyPr wrap="none" rtlCol="0">
            <a:spAutoFit/>
          </a:bodyPr>
          <a:lstStyle/>
          <a:p>
            <a:r>
              <a:rPr lang="en-US" dirty="0" err="1" smtClean="0"/>
              <a:t>Filesystem</a:t>
            </a:r>
            <a:r>
              <a:rPr lang="en-US" dirty="0" smtClean="0"/>
              <a:t> Metadata</a:t>
            </a:r>
            <a:endParaRPr lang="en-US" dirty="0"/>
          </a:p>
        </p:txBody>
      </p:sp>
      <p:sp>
        <p:nvSpPr>
          <p:cNvPr id="79" name="TextBox 78"/>
          <p:cNvSpPr txBox="1"/>
          <p:nvPr/>
        </p:nvSpPr>
        <p:spPr>
          <a:xfrm>
            <a:off x="3341343" y="6488668"/>
            <a:ext cx="2461315" cy="369332"/>
          </a:xfrm>
          <a:prstGeom prst="rect">
            <a:avLst/>
          </a:prstGeom>
          <a:noFill/>
        </p:spPr>
        <p:txBody>
          <a:bodyPr wrap="none" rtlCol="0">
            <a:spAutoFit/>
          </a:bodyPr>
          <a:lstStyle/>
          <a:p>
            <a:r>
              <a:rPr lang="en-US" dirty="0" smtClean="0"/>
              <a:t>Replicated block storage</a:t>
            </a:r>
            <a:endParaRPr lang="en-US" dirty="0"/>
          </a:p>
        </p:txBody>
      </p:sp>
      <p:sp>
        <p:nvSpPr>
          <p:cNvPr id="4" name="Right Brace 3"/>
          <p:cNvSpPr/>
          <p:nvPr/>
        </p:nvSpPr>
        <p:spPr>
          <a:xfrm rot="5400000">
            <a:off x="4766751" y="2297874"/>
            <a:ext cx="365521" cy="8089888"/>
          </a:xfrm>
          <a:prstGeom prst="rightBrace">
            <a:avLst>
              <a:gd name="adj1" fmla="val 117778"/>
              <a:gd name="adj2" fmla="val 54239"/>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6" name="Straight Connector 5"/>
          <p:cNvCxnSpPr/>
          <p:nvPr/>
        </p:nvCxnSpPr>
        <p:spPr>
          <a:xfrm flipH="1">
            <a:off x="7553511" y="533400"/>
            <a:ext cx="390339" cy="209491"/>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grpSp>
        <p:nvGrpSpPr>
          <p:cNvPr id="9" name="Group 8"/>
          <p:cNvGrpSpPr/>
          <p:nvPr/>
        </p:nvGrpSpPr>
        <p:grpSpPr>
          <a:xfrm>
            <a:off x="1344156" y="638145"/>
            <a:ext cx="1330410" cy="1662474"/>
            <a:chOff x="800100" y="2648024"/>
            <a:chExt cx="510646" cy="638101"/>
          </a:xfrm>
        </p:grpSpPr>
        <p:sp>
          <p:nvSpPr>
            <p:cNvPr id="85" name="Freeform 84"/>
            <p:cNvSpPr/>
            <p:nvPr/>
          </p:nvSpPr>
          <p:spPr>
            <a:xfrm>
              <a:off x="800100" y="2652786"/>
              <a:ext cx="504825" cy="633339"/>
            </a:xfrm>
            <a:custGeom>
              <a:avLst/>
              <a:gdLst>
                <a:gd name="connsiteX0" fmla="*/ 0 w 504825"/>
                <a:gd name="connsiteY0" fmla="*/ 0 h 633339"/>
                <a:gd name="connsiteX1" fmla="*/ 307817 w 504825"/>
                <a:gd name="connsiteY1" fmla="*/ 0 h 633339"/>
                <a:gd name="connsiteX2" fmla="*/ 504825 w 504825"/>
                <a:gd name="connsiteY2" fmla="*/ 197008 h 633339"/>
                <a:gd name="connsiteX3" fmla="*/ 504825 w 504825"/>
                <a:gd name="connsiteY3" fmla="*/ 633339 h 633339"/>
                <a:gd name="connsiteX4" fmla="*/ 0 w 504825"/>
                <a:gd name="connsiteY4" fmla="*/ 633339 h 6333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825" h="633339">
                  <a:moveTo>
                    <a:pt x="0" y="0"/>
                  </a:moveTo>
                  <a:lnTo>
                    <a:pt x="307817" y="0"/>
                  </a:lnTo>
                  <a:lnTo>
                    <a:pt x="504825" y="197008"/>
                  </a:lnTo>
                  <a:lnTo>
                    <a:pt x="504825" y="633339"/>
                  </a:lnTo>
                  <a:lnTo>
                    <a:pt x="0" y="633339"/>
                  </a:lnTo>
                  <a:close/>
                </a:path>
              </a:pathLst>
            </a:custGeom>
            <a:solidFill>
              <a:schemeClr val="bg1"/>
            </a:solidFill>
            <a:ln w="57150">
              <a:solidFill>
                <a:schemeClr val="tx1"/>
              </a:solidFill>
            </a:ln>
            <a:effectLst>
              <a:outerShdw blurRad="50800" dist="38100" dir="2700000" sx="103000" sy="103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ctr"/>
              <a:r>
                <a:rPr lang="en-US" sz="6000" dirty="0" smtClean="0">
                  <a:solidFill>
                    <a:schemeClr val="tx1"/>
                  </a:solidFill>
                  <a:latin typeface="French Script MT" panose="03020402040607040605" pitchFamily="66" charset="0"/>
                </a:rPr>
                <a:t>File</a:t>
              </a:r>
              <a:endParaRPr lang="en-US" sz="4400" dirty="0">
                <a:solidFill>
                  <a:schemeClr val="tx1"/>
                </a:solidFill>
                <a:latin typeface="French Script MT" panose="03020402040607040605" pitchFamily="66" charset="0"/>
              </a:endParaRPr>
            </a:p>
          </p:txBody>
        </p:sp>
        <p:sp>
          <p:nvSpPr>
            <p:cNvPr id="87" name="Freeform 86"/>
            <p:cNvSpPr/>
            <p:nvPr/>
          </p:nvSpPr>
          <p:spPr>
            <a:xfrm rot="10800000">
              <a:off x="1113738" y="2648024"/>
              <a:ext cx="197008" cy="197008"/>
            </a:xfrm>
            <a:custGeom>
              <a:avLst/>
              <a:gdLst>
                <a:gd name="connsiteX0" fmla="*/ 0 w 197008"/>
                <a:gd name="connsiteY0" fmla="*/ 0 h 197008"/>
                <a:gd name="connsiteX1" fmla="*/ 197008 w 197008"/>
                <a:gd name="connsiteY1" fmla="*/ 0 h 197008"/>
                <a:gd name="connsiteX2" fmla="*/ 197008 w 197008"/>
                <a:gd name="connsiteY2" fmla="*/ 197008 h 197008"/>
              </a:gdLst>
              <a:ahLst/>
              <a:cxnLst>
                <a:cxn ang="0">
                  <a:pos x="connsiteX0" y="connsiteY0"/>
                </a:cxn>
                <a:cxn ang="0">
                  <a:pos x="connsiteX1" y="connsiteY1"/>
                </a:cxn>
                <a:cxn ang="0">
                  <a:pos x="connsiteX2" y="connsiteY2"/>
                </a:cxn>
              </a:cxnLst>
              <a:rect l="l" t="t" r="r" b="b"/>
              <a:pathLst>
                <a:path w="197008" h="197008">
                  <a:moveTo>
                    <a:pt x="0" y="0"/>
                  </a:moveTo>
                  <a:lnTo>
                    <a:pt x="197008" y="0"/>
                  </a:lnTo>
                  <a:lnTo>
                    <a:pt x="197008" y="197008"/>
                  </a:lnTo>
                  <a:close/>
                </a:path>
              </a:pathLst>
            </a:custGeom>
            <a:solidFill>
              <a:schemeClr val="bg1"/>
            </a:solidFill>
            <a:ln w="57150" cap="rnd">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a:p>
          </p:txBody>
        </p:sp>
      </p:grpSp>
      <p:grpSp>
        <p:nvGrpSpPr>
          <p:cNvPr id="14" name="Group 13"/>
          <p:cNvGrpSpPr/>
          <p:nvPr/>
        </p:nvGrpSpPr>
        <p:grpSpPr>
          <a:xfrm>
            <a:off x="5284274" y="733469"/>
            <a:ext cx="1788206" cy="295275"/>
            <a:chOff x="2421117" y="1171575"/>
            <a:chExt cx="1788206" cy="295275"/>
          </a:xfrm>
        </p:grpSpPr>
        <p:grpSp>
          <p:nvGrpSpPr>
            <p:cNvPr id="13" name="Group 12"/>
            <p:cNvGrpSpPr/>
            <p:nvPr/>
          </p:nvGrpSpPr>
          <p:grpSpPr>
            <a:xfrm>
              <a:off x="2421117" y="1171575"/>
              <a:ext cx="1788206" cy="295275"/>
              <a:chOff x="2421117" y="1171575"/>
              <a:chExt cx="1788206" cy="295275"/>
            </a:xfrm>
            <a:solidFill>
              <a:schemeClr val="bg1"/>
            </a:solidFill>
          </p:grpSpPr>
          <p:sp>
            <p:nvSpPr>
              <p:cNvPr id="89" name="Rectangle 88"/>
              <p:cNvSpPr/>
              <p:nvPr/>
            </p:nvSpPr>
            <p:spPr>
              <a:xfrm>
                <a:off x="2421117" y="1171575"/>
                <a:ext cx="914400" cy="295275"/>
              </a:xfrm>
              <a:prstGeom prst="rect">
                <a:avLst/>
              </a:prstGeom>
              <a:grp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91440" rIns="0" bIns="0" rtlCol="0" anchor="ctr"/>
              <a:lstStyle/>
              <a:p>
                <a:pPr algn="ctr">
                  <a:lnSpc>
                    <a:spcPct val="60000"/>
                  </a:lnSpc>
                </a:pPr>
                <a:r>
                  <a:rPr lang="en-US" sz="2400" dirty="0" smtClean="0">
                    <a:solidFill>
                      <a:schemeClr val="tx1"/>
                    </a:solidFill>
                    <a:latin typeface="French Script MT" panose="03020402040607040605" pitchFamily="66" charset="0"/>
                  </a:rPr>
                  <a:t>File</a:t>
                </a:r>
                <a:endParaRPr lang="en-US" dirty="0">
                  <a:solidFill>
                    <a:schemeClr val="tx1"/>
                  </a:solidFill>
                  <a:latin typeface="French Script MT" panose="03020402040607040605" pitchFamily="66" charset="0"/>
                </a:endParaRPr>
              </a:p>
            </p:txBody>
          </p:sp>
          <p:sp>
            <p:nvSpPr>
              <p:cNvPr id="11" name="Rectangle 10"/>
              <p:cNvSpPr/>
              <p:nvPr/>
            </p:nvSpPr>
            <p:spPr>
              <a:xfrm>
                <a:off x="3324411" y="1171575"/>
                <a:ext cx="295275" cy="295275"/>
              </a:xfrm>
              <a:prstGeom prst="rect">
                <a:avLst/>
              </a:prstGeom>
              <a:grp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45720" rIns="0" bIns="0" rtlCol="0" anchor="ctr"/>
              <a:lstStyle/>
              <a:p>
                <a:pPr algn="ctr">
                  <a:lnSpc>
                    <a:spcPct val="60000"/>
                  </a:lnSpc>
                </a:pPr>
                <a:r>
                  <a:rPr lang="en-US" sz="2000" b="1" dirty="0" smtClean="0">
                    <a:solidFill>
                      <a:schemeClr val="tx1"/>
                    </a:solidFill>
                  </a:rPr>
                  <a:t>2</a:t>
                </a:r>
                <a:endParaRPr lang="en-US" sz="2000" b="1" dirty="0">
                  <a:solidFill>
                    <a:schemeClr val="tx1"/>
                  </a:solidFill>
                </a:endParaRPr>
              </a:p>
            </p:txBody>
          </p:sp>
          <p:sp>
            <p:nvSpPr>
              <p:cNvPr id="91" name="Rectangle 90"/>
              <p:cNvSpPr/>
              <p:nvPr/>
            </p:nvSpPr>
            <p:spPr>
              <a:xfrm>
                <a:off x="3623881" y="1171575"/>
                <a:ext cx="295275" cy="295275"/>
              </a:xfrm>
              <a:prstGeom prst="rect">
                <a:avLst/>
              </a:prstGeom>
              <a:grp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45720" rIns="0" bIns="0" rtlCol="0" anchor="ctr"/>
              <a:lstStyle/>
              <a:p>
                <a:pPr algn="ctr">
                  <a:lnSpc>
                    <a:spcPct val="60000"/>
                  </a:lnSpc>
                </a:pPr>
                <a:r>
                  <a:rPr lang="en-US" sz="2000" b="1" dirty="0" smtClean="0">
                    <a:solidFill>
                      <a:schemeClr val="tx1"/>
                    </a:solidFill>
                  </a:rPr>
                  <a:t>3</a:t>
                </a:r>
                <a:endParaRPr lang="en-US" sz="3200" b="1" dirty="0">
                  <a:solidFill>
                    <a:schemeClr val="tx1"/>
                  </a:solidFill>
                </a:endParaRPr>
              </a:p>
            </p:txBody>
          </p:sp>
          <p:sp>
            <p:nvSpPr>
              <p:cNvPr id="92" name="Rectangle 91"/>
              <p:cNvSpPr/>
              <p:nvPr/>
            </p:nvSpPr>
            <p:spPr>
              <a:xfrm>
                <a:off x="3914048" y="1171575"/>
                <a:ext cx="295275" cy="295275"/>
              </a:xfrm>
              <a:prstGeom prst="rect">
                <a:avLst/>
              </a:prstGeom>
              <a:grp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45720" rIns="0" bIns="0" rtlCol="0" anchor="ctr"/>
              <a:lstStyle/>
              <a:p>
                <a:pPr algn="ctr">
                  <a:lnSpc>
                    <a:spcPct val="60000"/>
                  </a:lnSpc>
                </a:pPr>
                <a:r>
                  <a:rPr lang="en-US" sz="2000" b="1" dirty="0" smtClean="0">
                    <a:solidFill>
                      <a:schemeClr val="tx1"/>
                    </a:solidFill>
                  </a:rPr>
                  <a:t>5</a:t>
                </a:r>
                <a:endParaRPr lang="en-US" sz="3200" b="1" dirty="0">
                  <a:solidFill>
                    <a:schemeClr val="tx1"/>
                  </a:solidFill>
                </a:endParaRPr>
              </a:p>
            </p:txBody>
          </p:sp>
        </p:grpSp>
        <p:grpSp>
          <p:nvGrpSpPr>
            <p:cNvPr id="94" name="Group 93"/>
            <p:cNvGrpSpPr/>
            <p:nvPr/>
          </p:nvGrpSpPr>
          <p:grpSpPr>
            <a:xfrm>
              <a:off x="2454036" y="1211584"/>
              <a:ext cx="141771" cy="177157"/>
              <a:chOff x="800100" y="2648024"/>
              <a:chExt cx="510646" cy="638101"/>
            </a:xfrm>
          </p:grpSpPr>
          <p:sp>
            <p:nvSpPr>
              <p:cNvPr id="95" name="Freeform 94"/>
              <p:cNvSpPr/>
              <p:nvPr/>
            </p:nvSpPr>
            <p:spPr>
              <a:xfrm>
                <a:off x="800100" y="2652786"/>
                <a:ext cx="504825" cy="633339"/>
              </a:xfrm>
              <a:custGeom>
                <a:avLst/>
                <a:gdLst>
                  <a:gd name="connsiteX0" fmla="*/ 0 w 504825"/>
                  <a:gd name="connsiteY0" fmla="*/ 0 h 633339"/>
                  <a:gd name="connsiteX1" fmla="*/ 307817 w 504825"/>
                  <a:gd name="connsiteY1" fmla="*/ 0 h 633339"/>
                  <a:gd name="connsiteX2" fmla="*/ 504825 w 504825"/>
                  <a:gd name="connsiteY2" fmla="*/ 197008 h 633339"/>
                  <a:gd name="connsiteX3" fmla="*/ 504825 w 504825"/>
                  <a:gd name="connsiteY3" fmla="*/ 633339 h 633339"/>
                  <a:gd name="connsiteX4" fmla="*/ 0 w 504825"/>
                  <a:gd name="connsiteY4" fmla="*/ 633339 h 6333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825" h="633339">
                    <a:moveTo>
                      <a:pt x="0" y="0"/>
                    </a:moveTo>
                    <a:lnTo>
                      <a:pt x="307817" y="0"/>
                    </a:lnTo>
                    <a:lnTo>
                      <a:pt x="504825" y="197008"/>
                    </a:lnTo>
                    <a:lnTo>
                      <a:pt x="504825" y="633339"/>
                    </a:lnTo>
                    <a:lnTo>
                      <a:pt x="0" y="633339"/>
                    </a:lnTo>
                    <a:close/>
                  </a:path>
                </a:pathLst>
              </a:custGeom>
              <a:solidFill>
                <a:schemeClr val="bg1"/>
              </a:solidFill>
              <a:ln w="6350">
                <a:solidFill>
                  <a:schemeClr val="tx1"/>
                </a:solidFill>
              </a:ln>
              <a:effectLst>
                <a:outerShdw blurRad="50800" dist="38100" dir="2700000" sx="103000" sy="103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ctr"/>
                <a:endParaRPr lang="en-US" dirty="0">
                  <a:solidFill>
                    <a:schemeClr val="tx1"/>
                  </a:solidFill>
                  <a:latin typeface="French Script MT" panose="03020402040607040605" pitchFamily="66" charset="0"/>
                </a:endParaRPr>
              </a:p>
            </p:txBody>
          </p:sp>
          <p:sp>
            <p:nvSpPr>
              <p:cNvPr id="96" name="Freeform 95"/>
              <p:cNvSpPr/>
              <p:nvPr/>
            </p:nvSpPr>
            <p:spPr>
              <a:xfrm rot="10800000">
                <a:off x="1113738" y="2648024"/>
                <a:ext cx="197008" cy="197008"/>
              </a:xfrm>
              <a:custGeom>
                <a:avLst/>
                <a:gdLst>
                  <a:gd name="connsiteX0" fmla="*/ 0 w 197008"/>
                  <a:gd name="connsiteY0" fmla="*/ 0 h 197008"/>
                  <a:gd name="connsiteX1" fmla="*/ 197008 w 197008"/>
                  <a:gd name="connsiteY1" fmla="*/ 0 h 197008"/>
                  <a:gd name="connsiteX2" fmla="*/ 197008 w 197008"/>
                  <a:gd name="connsiteY2" fmla="*/ 197008 h 197008"/>
                </a:gdLst>
                <a:ahLst/>
                <a:cxnLst>
                  <a:cxn ang="0">
                    <a:pos x="connsiteX0" y="connsiteY0"/>
                  </a:cxn>
                  <a:cxn ang="0">
                    <a:pos x="connsiteX1" y="connsiteY1"/>
                  </a:cxn>
                  <a:cxn ang="0">
                    <a:pos x="connsiteX2" y="connsiteY2"/>
                  </a:cxn>
                </a:cxnLst>
                <a:rect l="l" t="t" r="r" b="b"/>
                <a:pathLst>
                  <a:path w="197008" h="197008">
                    <a:moveTo>
                      <a:pt x="0" y="0"/>
                    </a:moveTo>
                    <a:lnTo>
                      <a:pt x="197008" y="0"/>
                    </a:lnTo>
                    <a:lnTo>
                      <a:pt x="197008" y="197008"/>
                    </a:lnTo>
                    <a:close/>
                  </a:path>
                </a:pathLst>
              </a:custGeom>
              <a:solidFill>
                <a:schemeClr val="bg1"/>
              </a:solidFill>
              <a:ln w="6350" cap="rnd">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97" name="Group 96"/>
          <p:cNvGrpSpPr/>
          <p:nvPr/>
        </p:nvGrpSpPr>
        <p:grpSpPr>
          <a:xfrm>
            <a:off x="8994456" y="4342430"/>
            <a:ext cx="458899" cy="573438"/>
            <a:chOff x="800100" y="2648024"/>
            <a:chExt cx="510646" cy="638101"/>
          </a:xfrm>
        </p:grpSpPr>
        <p:sp>
          <p:nvSpPr>
            <p:cNvPr id="98" name="Freeform 97"/>
            <p:cNvSpPr/>
            <p:nvPr/>
          </p:nvSpPr>
          <p:spPr>
            <a:xfrm>
              <a:off x="800100" y="2652786"/>
              <a:ext cx="504825" cy="633339"/>
            </a:xfrm>
            <a:custGeom>
              <a:avLst/>
              <a:gdLst>
                <a:gd name="connsiteX0" fmla="*/ 0 w 504825"/>
                <a:gd name="connsiteY0" fmla="*/ 0 h 633339"/>
                <a:gd name="connsiteX1" fmla="*/ 307817 w 504825"/>
                <a:gd name="connsiteY1" fmla="*/ 0 h 633339"/>
                <a:gd name="connsiteX2" fmla="*/ 504825 w 504825"/>
                <a:gd name="connsiteY2" fmla="*/ 197008 h 633339"/>
                <a:gd name="connsiteX3" fmla="*/ 504825 w 504825"/>
                <a:gd name="connsiteY3" fmla="*/ 633339 h 633339"/>
                <a:gd name="connsiteX4" fmla="*/ 0 w 504825"/>
                <a:gd name="connsiteY4" fmla="*/ 633339 h 6333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825" h="633339">
                  <a:moveTo>
                    <a:pt x="0" y="0"/>
                  </a:moveTo>
                  <a:lnTo>
                    <a:pt x="307817" y="0"/>
                  </a:lnTo>
                  <a:lnTo>
                    <a:pt x="504825" y="197008"/>
                  </a:lnTo>
                  <a:lnTo>
                    <a:pt x="504825" y="633339"/>
                  </a:lnTo>
                  <a:lnTo>
                    <a:pt x="0" y="633339"/>
                  </a:lnTo>
                  <a:close/>
                </a:path>
              </a:pathLst>
            </a:custGeom>
            <a:solidFill>
              <a:schemeClr val="bg1"/>
            </a:solidFill>
            <a:ln w="38100">
              <a:solidFill>
                <a:schemeClr val="tx1"/>
              </a:solidFill>
            </a:ln>
            <a:effectLst>
              <a:outerShdw blurRad="50800" dist="38100" dir="2700000" sx="103000" sy="103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ctr"/>
              <a:r>
                <a:rPr lang="en-US" sz="2000" dirty="0" smtClean="0">
                  <a:solidFill>
                    <a:schemeClr val="tx1"/>
                  </a:solidFill>
                  <a:latin typeface="French Script MT" panose="03020402040607040605" pitchFamily="66" charset="0"/>
                </a:rPr>
                <a:t>File</a:t>
              </a:r>
              <a:endParaRPr lang="en-US" sz="1400" dirty="0">
                <a:solidFill>
                  <a:schemeClr val="tx1"/>
                </a:solidFill>
                <a:latin typeface="French Script MT" panose="03020402040607040605" pitchFamily="66" charset="0"/>
              </a:endParaRPr>
            </a:p>
          </p:txBody>
        </p:sp>
        <p:sp>
          <p:nvSpPr>
            <p:cNvPr id="99" name="Freeform 98"/>
            <p:cNvSpPr/>
            <p:nvPr/>
          </p:nvSpPr>
          <p:spPr>
            <a:xfrm rot="10800000">
              <a:off x="1113738" y="2648024"/>
              <a:ext cx="197008" cy="197008"/>
            </a:xfrm>
            <a:custGeom>
              <a:avLst/>
              <a:gdLst>
                <a:gd name="connsiteX0" fmla="*/ 0 w 197008"/>
                <a:gd name="connsiteY0" fmla="*/ 0 h 197008"/>
                <a:gd name="connsiteX1" fmla="*/ 197008 w 197008"/>
                <a:gd name="connsiteY1" fmla="*/ 0 h 197008"/>
                <a:gd name="connsiteX2" fmla="*/ 197008 w 197008"/>
                <a:gd name="connsiteY2" fmla="*/ 197008 h 197008"/>
              </a:gdLst>
              <a:ahLst/>
              <a:cxnLst>
                <a:cxn ang="0">
                  <a:pos x="connsiteX0" y="connsiteY0"/>
                </a:cxn>
                <a:cxn ang="0">
                  <a:pos x="connsiteX1" y="connsiteY1"/>
                </a:cxn>
                <a:cxn ang="0">
                  <a:pos x="connsiteX2" y="connsiteY2"/>
                </a:cxn>
              </a:cxnLst>
              <a:rect l="l" t="t" r="r" b="b"/>
              <a:pathLst>
                <a:path w="197008" h="197008">
                  <a:moveTo>
                    <a:pt x="0" y="0"/>
                  </a:moveTo>
                  <a:lnTo>
                    <a:pt x="197008" y="0"/>
                  </a:lnTo>
                  <a:lnTo>
                    <a:pt x="197008" y="197008"/>
                  </a:lnTo>
                  <a:close/>
                </a:path>
              </a:pathLst>
            </a:custGeom>
            <a:solidFill>
              <a:schemeClr val="bg1"/>
            </a:solidFill>
            <a:ln w="38100" cap="rnd">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grpSp>
      <p:grpSp>
        <p:nvGrpSpPr>
          <p:cNvPr id="104" name="Group 103"/>
          <p:cNvGrpSpPr/>
          <p:nvPr/>
        </p:nvGrpSpPr>
        <p:grpSpPr>
          <a:xfrm>
            <a:off x="2609786" y="4378294"/>
            <a:ext cx="458899" cy="573438"/>
            <a:chOff x="800100" y="2648024"/>
            <a:chExt cx="510646" cy="638101"/>
          </a:xfrm>
        </p:grpSpPr>
        <p:sp>
          <p:nvSpPr>
            <p:cNvPr id="105" name="Freeform 104"/>
            <p:cNvSpPr/>
            <p:nvPr/>
          </p:nvSpPr>
          <p:spPr>
            <a:xfrm>
              <a:off x="800100" y="2652786"/>
              <a:ext cx="504825" cy="633339"/>
            </a:xfrm>
            <a:custGeom>
              <a:avLst/>
              <a:gdLst>
                <a:gd name="connsiteX0" fmla="*/ 0 w 504825"/>
                <a:gd name="connsiteY0" fmla="*/ 0 h 633339"/>
                <a:gd name="connsiteX1" fmla="*/ 307817 w 504825"/>
                <a:gd name="connsiteY1" fmla="*/ 0 h 633339"/>
                <a:gd name="connsiteX2" fmla="*/ 504825 w 504825"/>
                <a:gd name="connsiteY2" fmla="*/ 197008 h 633339"/>
                <a:gd name="connsiteX3" fmla="*/ 504825 w 504825"/>
                <a:gd name="connsiteY3" fmla="*/ 633339 h 633339"/>
                <a:gd name="connsiteX4" fmla="*/ 0 w 504825"/>
                <a:gd name="connsiteY4" fmla="*/ 633339 h 6333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825" h="633339">
                  <a:moveTo>
                    <a:pt x="0" y="0"/>
                  </a:moveTo>
                  <a:lnTo>
                    <a:pt x="307817" y="0"/>
                  </a:lnTo>
                  <a:lnTo>
                    <a:pt x="504825" y="197008"/>
                  </a:lnTo>
                  <a:lnTo>
                    <a:pt x="504825" y="633339"/>
                  </a:lnTo>
                  <a:lnTo>
                    <a:pt x="0" y="633339"/>
                  </a:lnTo>
                  <a:close/>
                </a:path>
              </a:pathLst>
            </a:custGeom>
            <a:solidFill>
              <a:schemeClr val="bg1"/>
            </a:solidFill>
            <a:ln w="38100">
              <a:solidFill>
                <a:schemeClr val="tx1"/>
              </a:solidFill>
            </a:ln>
            <a:effectLst>
              <a:outerShdw blurRad="50800" dist="38100" dir="2700000" sx="103000" sy="103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ctr"/>
              <a:r>
                <a:rPr lang="en-US" sz="2000" dirty="0" smtClean="0">
                  <a:solidFill>
                    <a:schemeClr val="tx1"/>
                  </a:solidFill>
                  <a:latin typeface="French Script MT" panose="03020402040607040605" pitchFamily="66" charset="0"/>
                </a:rPr>
                <a:t>File</a:t>
              </a:r>
              <a:endParaRPr lang="en-US" sz="1400" dirty="0">
                <a:solidFill>
                  <a:schemeClr val="tx1"/>
                </a:solidFill>
                <a:latin typeface="French Script MT" panose="03020402040607040605" pitchFamily="66" charset="0"/>
              </a:endParaRPr>
            </a:p>
          </p:txBody>
        </p:sp>
        <p:sp>
          <p:nvSpPr>
            <p:cNvPr id="106" name="Freeform 105"/>
            <p:cNvSpPr/>
            <p:nvPr/>
          </p:nvSpPr>
          <p:spPr>
            <a:xfrm rot="10800000">
              <a:off x="1113738" y="2648024"/>
              <a:ext cx="197008" cy="197008"/>
            </a:xfrm>
            <a:custGeom>
              <a:avLst/>
              <a:gdLst>
                <a:gd name="connsiteX0" fmla="*/ 0 w 197008"/>
                <a:gd name="connsiteY0" fmla="*/ 0 h 197008"/>
                <a:gd name="connsiteX1" fmla="*/ 197008 w 197008"/>
                <a:gd name="connsiteY1" fmla="*/ 0 h 197008"/>
                <a:gd name="connsiteX2" fmla="*/ 197008 w 197008"/>
                <a:gd name="connsiteY2" fmla="*/ 197008 h 197008"/>
              </a:gdLst>
              <a:ahLst/>
              <a:cxnLst>
                <a:cxn ang="0">
                  <a:pos x="connsiteX0" y="connsiteY0"/>
                </a:cxn>
                <a:cxn ang="0">
                  <a:pos x="connsiteX1" y="connsiteY1"/>
                </a:cxn>
                <a:cxn ang="0">
                  <a:pos x="connsiteX2" y="connsiteY2"/>
                </a:cxn>
              </a:cxnLst>
              <a:rect l="l" t="t" r="r" b="b"/>
              <a:pathLst>
                <a:path w="197008" h="197008">
                  <a:moveTo>
                    <a:pt x="0" y="0"/>
                  </a:moveTo>
                  <a:lnTo>
                    <a:pt x="197008" y="0"/>
                  </a:lnTo>
                  <a:lnTo>
                    <a:pt x="197008" y="197008"/>
                  </a:lnTo>
                  <a:close/>
                </a:path>
              </a:pathLst>
            </a:custGeom>
            <a:solidFill>
              <a:schemeClr val="bg1"/>
            </a:solidFill>
            <a:ln w="38100" cap="rnd">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grpSp>
      <p:grpSp>
        <p:nvGrpSpPr>
          <p:cNvPr id="107" name="Group 106"/>
          <p:cNvGrpSpPr/>
          <p:nvPr/>
        </p:nvGrpSpPr>
        <p:grpSpPr>
          <a:xfrm>
            <a:off x="4720061" y="4378294"/>
            <a:ext cx="458899" cy="573438"/>
            <a:chOff x="800100" y="2648024"/>
            <a:chExt cx="510646" cy="638101"/>
          </a:xfrm>
        </p:grpSpPr>
        <p:sp>
          <p:nvSpPr>
            <p:cNvPr id="108" name="Freeform 107"/>
            <p:cNvSpPr/>
            <p:nvPr/>
          </p:nvSpPr>
          <p:spPr>
            <a:xfrm>
              <a:off x="800100" y="2652786"/>
              <a:ext cx="504825" cy="633339"/>
            </a:xfrm>
            <a:custGeom>
              <a:avLst/>
              <a:gdLst>
                <a:gd name="connsiteX0" fmla="*/ 0 w 504825"/>
                <a:gd name="connsiteY0" fmla="*/ 0 h 633339"/>
                <a:gd name="connsiteX1" fmla="*/ 307817 w 504825"/>
                <a:gd name="connsiteY1" fmla="*/ 0 h 633339"/>
                <a:gd name="connsiteX2" fmla="*/ 504825 w 504825"/>
                <a:gd name="connsiteY2" fmla="*/ 197008 h 633339"/>
                <a:gd name="connsiteX3" fmla="*/ 504825 w 504825"/>
                <a:gd name="connsiteY3" fmla="*/ 633339 h 633339"/>
                <a:gd name="connsiteX4" fmla="*/ 0 w 504825"/>
                <a:gd name="connsiteY4" fmla="*/ 633339 h 6333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825" h="633339">
                  <a:moveTo>
                    <a:pt x="0" y="0"/>
                  </a:moveTo>
                  <a:lnTo>
                    <a:pt x="307817" y="0"/>
                  </a:lnTo>
                  <a:lnTo>
                    <a:pt x="504825" y="197008"/>
                  </a:lnTo>
                  <a:lnTo>
                    <a:pt x="504825" y="633339"/>
                  </a:lnTo>
                  <a:lnTo>
                    <a:pt x="0" y="633339"/>
                  </a:lnTo>
                  <a:close/>
                </a:path>
              </a:pathLst>
            </a:custGeom>
            <a:solidFill>
              <a:schemeClr val="bg1"/>
            </a:solidFill>
            <a:ln w="38100">
              <a:solidFill>
                <a:schemeClr val="tx1"/>
              </a:solidFill>
            </a:ln>
            <a:effectLst>
              <a:outerShdw blurRad="50800" dist="38100" dir="2700000" sx="103000" sy="103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ctr"/>
              <a:r>
                <a:rPr lang="en-US" sz="2000" dirty="0" smtClean="0">
                  <a:solidFill>
                    <a:schemeClr val="tx1"/>
                  </a:solidFill>
                  <a:latin typeface="French Script MT" panose="03020402040607040605" pitchFamily="66" charset="0"/>
                </a:rPr>
                <a:t>File</a:t>
              </a:r>
              <a:endParaRPr lang="en-US" sz="1400" dirty="0">
                <a:solidFill>
                  <a:schemeClr val="tx1"/>
                </a:solidFill>
                <a:latin typeface="French Script MT" panose="03020402040607040605" pitchFamily="66" charset="0"/>
              </a:endParaRPr>
            </a:p>
          </p:txBody>
        </p:sp>
        <p:sp>
          <p:nvSpPr>
            <p:cNvPr id="109" name="Freeform 108"/>
            <p:cNvSpPr/>
            <p:nvPr/>
          </p:nvSpPr>
          <p:spPr>
            <a:xfrm rot="10800000">
              <a:off x="1113738" y="2648024"/>
              <a:ext cx="197008" cy="197008"/>
            </a:xfrm>
            <a:custGeom>
              <a:avLst/>
              <a:gdLst>
                <a:gd name="connsiteX0" fmla="*/ 0 w 197008"/>
                <a:gd name="connsiteY0" fmla="*/ 0 h 197008"/>
                <a:gd name="connsiteX1" fmla="*/ 197008 w 197008"/>
                <a:gd name="connsiteY1" fmla="*/ 0 h 197008"/>
                <a:gd name="connsiteX2" fmla="*/ 197008 w 197008"/>
                <a:gd name="connsiteY2" fmla="*/ 197008 h 197008"/>
              </a:gdLst>
              <a:ahLst/>
              <a:cxnLst>
                <a:cxn ang="0">
                  <a:pos x="connsiteX0" y="connsiteY0"/>
                </a:cxn>
                <a:cxn ang="0">
                  <a:pos x="connsiteX1" y="connsiteY1"/>
                </a:cxn>
                <a:cxn ang="0">
                  <a:pos x="connsiteX2" y="connsiteY2"/>
                </a:cxn>
              </a:cxnLst>
              <a:rect l="l" t="t" r="r" b="b"/>
              <a:pathLst>
                <a:path w="197008" h="197008">
                  <a:moveTo>
                    <a:pt x="0" y="0"/>
                  </a:moveTo>
                  <a:lnTo>
                    <a:pt x="197008" y="0"/>
                  </a:lnTo>
                  <a:lnTo>
                    <a:pt x="197008" y="197008"/>
                  </a:lnTo>
                  <a:close/>
                </a:path>
              </a:pathLst>
            </a:custGeom>
            <a:solidFill>
              <a:schemeClr val="bg1"/>
            </a:solidFill>
            <a:ln w="38100" cap="rnd">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grpSp>
      <p:grpSp>
        <p:nvGrpSpPr>
          <p:cNvPr id="111" name="Group 110"/>
          <p:cNvGrpSpPr/>
          <p:nvPr/>
        </p:nvGrpSpPr>
        <p:grpSpPr>
          <a:xfrm>
            <a:off x="708034" y="984478"/>
            <a:ext cx="1901752" cy="1118106"/>
            <a:chOff x="2700372" y="757348"/>
            <a:chExt cx="1901752" cy="1118106"/>
          </a:xfrm>
        </p:grpSpPr>
        <p:sp>
          <p:nvSpPr>
            <p:cNvPr id="112" name="Rounded Rectangle 111"/>
            <p:cNvSpPr/>
            <p:nvPr/>
          </p:nvSpPr>
          <p:spPr>
            <a:xfrm>
              <a:off x="2700372" y="757348"/>
              <a:ext cx="1901752" cy="1118106"/>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3200" dirty="0" smtClean="0">
                  <a:solidFill>
                    <a:schemeClr val="tx1"/>
                  </a:solidFill>
                </a:rPr>
                <a:t>Client</a:t>
              </a:r>
            </a:p>
            <a:p>
              <a:pPr algn="r"/>
              <a:endParaRPr lang="en-US" sz="3200" dirty="0">
                <a:solidFill>
                  <a:schemeClr val="tx1"/>
                </a:solidFill>
              </a:endParaRPr>
            </a:p>
          </p:txBody>
        </p:sp>
        <p:sp>
          <p:nvSpPr>
            <p:cNvPr id="113" name="Freeform 112"/>
            <p:cNvSpPr/>
            <p:nvPr/>
          </p:nvSpPr>
          <p:spPr>
            <a:xfrm>
              <a:off x="2910159" y="854093"/>
              <a:ext cx="445091" cy="518222"/>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grpSp>
        <p:nvGrpSpPr>
          <p:cNvPr id="20" name="Group 19"/>
          <p:cNvGrpSpPr/>
          <p:nvPr/>
        </p:nvGrpSpPr>
        <p:grpSpPr>
          <a:xfrm>
            <a:off x="2380845" y="1267264"/>
            <a:ext cx="3594100" cy="332181"/>
            <a:chOff x="2380845" y="1267264"/>
            <a:chExt cx="3594100" cy="332181"/>
          </a:xfrm>
        </p:grpSpPr>
        <p:sp>
          <p:nvSpPr>
            <p:cNvPr id="18" name="Freeform 17"/>
            <p:cNvSpPr/>
            <p:nvPr/>
          </p:nvSpPr>
          <p:spPr>
            <a:xfrm>
              <a:off x="2380845" y="1599445"/>
              <a:ext cx="3594100" cy="0"/>
            </a:xfrm>
            <a:custGeom>
              <a:avLst/>
              <a:gdLst>
                <a:gd name="connsiteX0" fmla="*/ 0 w 3594100"/>
                <a:gd name="connsiteY0" fmla="*/ 0 h 0"/>
                <a:gd name="connsiteX1" fmla="*/ 3594100 w 3594100"/>
                <a:gd name="connsiteY1" fmla="*/ 0 h 0"/>
              </a:gdLst>
              <a:ahLst/>
              <a:cxnLst>
                <a:cxn ang="0">
                  <a:pos x="connsiteX0" y="connsiteY0"/>
                </a:cxn>
                <a:cxn ang="0">
                  <a:pos x="connsiteX1" y="connsiteY1"/>
                </a:cxn>
              </a:cxnLst>
              <a:rect l="l" t="t" r="r" b="b"/>
              <a:pathLst>
                <a:path w="3594100">
                  <a:moveTo>
                    <a:pt x="0" y="0"/>
                  </a:moveTo>
                  <a:lnTo>
                    <a:pt x="3594100" y="0"/>
                  </a:lnTo>
                </a:path>
              </a:pathLst>
            </a:custGeom>
            <a:noFill/>
            <a:ln w="57150">
              <a:solidFill>
                <a:schemeClr val="accent6"/>
              </a:solidFill>
              <a:prstDash val="solid"/>
              <a:headEnd type="oval" w="sm" len="sm"/>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p:cNvGrpSpPr/>
            <p:nvPr/>
          </p:nvGrpSpPr>
          <p:grpSpPr>
            <a:xfrm>
              <a:off x="3776750" y="1267264"/>
              <a:ext cx="914400" cy="295275"/>
              <a:chOff x="5436674" y="885869"/>
              <a:chExt cx="914400" cy="295275"/>
            </a:xfrm>
          </p:grpSpPr>
          <p:sp>
            <p:nvSpPr>
              <p:cNvPr id="116" name="Rectangle 115"/>
              <p:cNvSpPr/>
              <p:nvPr/>
            </p:nvSpPr>
            <p:spPr>
              <a:xfrm>
                <a:off x="5436674" y="885869"/>
                <a:ext cx="914400" cy="295275"/>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91440" rIns="0" bIns="0" rtlCol="0" anchor="ctr"/>
              <a:lstStyle/>
              <a:p>
                <a:pPr algn="ctr">
                  <a:lnSpc>
                    <a:spcPct val="60000"/>
                  </a:lnSpc>
                </a:pPr>
                <a:r>
                  <a:rPr lang="en-US" sz="2400" dirty="0" smtClean="0">
                    <a:solidFill>
                      <a:schemeClr val="tx1"/>
                    </a:solidFill>
                    <a:latin typeface="French Script MT" panose="03020402040607040605" pitchFamily="66" charset="0"/>
                  </a:rPr>
                  <a:t>File</a:t>
                </a:r>
                <a:endParaRPr lang="en-US" dirty="0">
                  <a:solidFill>
                    <a:schemeClr val="tx1"/>
                  </a:solidFill>
                  <a:latin typeface="French Script MT" panose="03020402040607040605" pitchFamily="66" charset="0"/>
                </a:endParaRPr>
              </a:p>
            </p:txBody>
          </p:sp>
          <p:sp>
            <p:nvSpPr>
              <p:cNvPr id="117" name="Freeform 116"/>
              <p:cNvSpPr/>
              <p:nvPr/>
            </p:nvSpPr>
            <p:spPr>
              <a:xfrm>
                <a:off x="5469593" y="927200"/>
                <a:ext cx="140155" cy="175835"/>
              </a:xfrm>
              <a:custGeom>
                <a:avLst/>
                <a:gdLst>
                  <a:gd name="connsiteX0" fmla="*/ 0 w 504825"/>
                  <a:gd name="connsiteY0" fmla="*/ 0 h 633339"/>
                  <a:gd name="connsiteX1" fmla="*/ 307817 w 504825"/>
                  <a:gd name="connsiteY1" fmla="*/ 0 h 633339"/>
                  <a:gd name="connsiteX2" fmla="*/ 504825 w 504825"/>
                  <a:gd name="connsiteY2" fmla="*/ 197008 h 633339"/>
                  <a:gd name="connsiteX3" fmla="*/ 504825 w 504825"/>
                  <a:gd name="connsiteY3" fmla="*/ 633339 h 633339"/>
                  <a:gd name="connsiteX4" fmla="*/ 0 w 504825"/>
                  <a:gd name="connsiteY4" fmla="*/ 633339 h 6333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825" h="633339">
                    <a:moveTo>
                      <a:pt x="0" y="0"/>
                    </a:moveTo>
                    <a:lnTo>
                      <a:pt x="307817" y="0"/>
                    </a:lnTo>
                    <a:lnTo>
                      <a:pt x="504825" y="197008"/>
                    </a:lnTo>
                    <a:lnTo>
                      <a:pt x="504825" y="633339"/>
                    </a:lnTo>
                    <a:lnTo>
                      <a:pt x="0" y="633339"/>
                    </a:lnTo>
                    <a:close/>
                  </a:path>
                </a:pathLst>
              </a:custGeom>
              <a:solidFill>
                <a:schemeClr val="bg1"/>
              </a:solidFill>
              <a:ln w="6350">
                <a:solidFill>
                  <a:schemeClr val="tx1"/>
                </a:solidFill>
              </a:ln>
              <a:effectLst>
                <a:outerShdw blurRad="50800" dist="38100" dir="2700000" sx="103000" sy="103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ctr"/>
                <a:endParaRPr lang="en-US" dirty="0">
                  <a:solidFill>
                    <a:schemeClr val="tx1"/>
                  </a:solidFill>
                  <a:latin typeface="French Script MT" panose="03020402040607040605" pitchFamily="66" charset="0"/>
                </a:endParaRPr>
              </a:p>
            </p:txBody>
          </p:sp>
        </p:grpSp>
      </p:grpSp>
      <p:grpSp>
        <p:nvGrpSpPr>
          <p:cNvPr id="21" name="Group 20"/>
          <p:cNvGrpSpPr/>
          <p:nvPr/>
        </p:nvGrpSpPr>
        <p:grpSpPr>
          <a:xfrm>
            <a:off x="2208558" y="1929645"/>
            <a:ext cx="3594100" cy="320576"/>
            <a:chOff x="2208558" y="1929645"/>
            <a:chExt cx="3594100" cy="320576"/>
          </a:xfrm>
        </p:grpSpPr>
        <p:sp>
          <p:nvSpPr>
            <p:cNvPr id="114" name="Freeform 113"/>
            <p:cNvSpPr/>
            <p:nvPr/>
          </p:nvSpPr>
          <p:spPr>
            <a:xfrm flipH="1">
              <a:off x="2208558" y="1929645"/>
              <a:ext cx="3594100" cy="0"/>
            </a:xfrm>
            <a:custGeom>
              <a:avLst/>
              <a:gdLst>
                <a:gd name="connsiteX0" fmla="*/ 0 w 3594100"/>
                <a:gd name="connsiteY0" fmla="*/ 0 h 0"/>
                <a:gd name="connsiteX1" fmla="*/ 3594100 w 3594100"/>
                <a:gd name="connsiteY1" fmla="*/ 0 h 0"/>
              </a:gdLst>
              <a:ahLst/>
              <a:cxnLst>
                <a:cxn ang="0">
                  <a:pos x="connsiteX0" y="connsiteY0"/>
                </a:cxn>
                <a:cxn ang="0">
                  <a:pos x="connsiteX1" y="connsiteY1"/>
                </a:cxn>
              </a:cxnLst>
              <a:rect l="l" t="t" r="r" b="b"/>
              <a:pathLst>
                <a:path w="3594100">
                  <a:moveTo>
                    <a:pt x="0" y="0"/>
                  </a:moveTo>
                  <a:lnTo>
                    <a:pt x="3594100" y="0"/>
                  </a:lnTo>
                </a:path>
              </a:pathLst>
            </a:custGeom>
            <a:noFill/>
            <a:ln w="57150">
              <a:solidFill>
                <a:schemeClr val="accent6"/>
              </a:solidFill>
              <a:prstDash val="solid"/>
              <a:headEnd type="oval" w="sm" len="sm"/>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8" name="Group 117"/>
            <p:cNvGrpSpPr/>
            <p:nvPr/>
          </p:nvGrpSpPr>
          <p:grpSpPr>
            <a:xfrm>
              <a:off x="3348254" y="1954946"/>
              <a:ext cx="1788206" cy="295275"/>
              <a:chOff x="2421117" y="1171575"/>
              <a:chExt cx="1788206" cy="295275"/>
            </a:xfrm>
          </p:grpSpPr>
          <p:grpSp>
            <p:nvGrpSpPr>
              <p:cNvPr id="119" name="Group 118"/>
              <p:cNvGrpSpPr/>
              <p:nvPr/>
            </p:nvGrpSpPr>
            <p:grpSpPr>
              <a:xfrm>
                <a:off x="2421117" y="1171575"/>
                <a:ext cx="1788206" cy="295275"/>
                <a:chOff x="2421117" y="1171575"/>
                <a:chExt cx="1788206" cy="295275"/>
              </a:xfrm>
              <a:solidFill>
                <a:schemeClr val="bg1"/>
              </a:solidFill>
            </p:grpSpPr>
            <p:sp>
              <p:nvSpPr>
                <p:cNvPr id="123" name="Rectangle 122"/>
                <p:cNvSpPr/>
                <p:nvPr/>
              </p:nvSpPr>
              <p:spPr>
                <a:xfrm>
                  <a:off x="2421117" y="1171575"/>
                  <a:ext cx="914400" cy="295275"/>
                </a:xfrm>
                <a:prstGeom prst="rect">
                  <a:avLst/>
                </a:prstGeom>
                <a:grp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91440" rIns="0" bIns="0" rtlCol="0" anchor="ctr"/>
                <a:lstStyle/>
                <a:p>
                  <a:pPr algn="ctr">
                    <a:lnSpc>
                      <a:spcPct val="60000"/>
                    </a:lnSpc>
                  </a:pPr>
                  <a:r>
                    <a:rPr lang="en-US" sz="2400" dirty="0" smtClean="0">
                      <a:solidFill>
                        <a:schemeClr val="tx1"/>
                      </a:solidFill>
                      <a:latin typeface="French Script MT" panose="03020402040607040605" pitchFamily="66" charset="0"/>
                    </a:rPr>
                    <a:t>File</a:t>
                  </a:r>
                  <a:endParaRPr lang="en-US" dirty="0">
                    <a:solidFill>
                      <a:schemeClr val="tx1"/>
                    </a:solidFill>
                    <a:latin typeface="French Script MT" panose="03020402040607040605" pitchFamily="66" charset="0"/>
                  </a:endParaRPr>
                </a:p>
              </p:txBody>
            </p:sp>
            <p:sp>
              <p:nvSpPr>
                <p:cNvPr id="124" name="Rectangle 123"/>
                <p:cNvSpPr/>
                <p:nvPr/>
              </p:nvSpPr>
              <p:spPr>
                <a:xfrm>
                  <a:off x="3324411" y="1171575"/>
                  <a:ext cx="295275" cy="295275"/>
                </a:xfrm>
                <a:prstGeom prst="rect">
                  <a:avLst/>
                </a:prstGeom>
                <a:grp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45720" rIns="0" bIns="0" rtlCol="0" anchor="ctr"/>
                <a:lstStyle/>
                <a:p>
                  <a:pPr algn="ctr">
                    <a:lnSpc>
                      <a:spcPct val="60000"/>
                    </a:lnSpc>
                  </a:pPr>
                  <a:r>
                    <a:rPr lang="en-US" sz="2000" b="1" dirty="0" smtClean="0">
                      <a:solidFill>
                        <a:schemeClr val="tx1"/>
                      </a:solidFill>
                    </a:rPr>
                    <a:t>2</a:t>
                  </a:r>
                  <a:endParaRPr lang="en-US" sz="2000" b="1" dirty="0">
                    <a:solidFill>
                      <a:schemeClr val="tx1"/>
                    </a:solidFill>
                  </a:endParaRPr>
                </a:p>
              </p:txBody>
            </p:sp>
            <p:sp>
              <p:nvSpPr>
                <p:cNvPr id="125" name="Rectangle 124"/>
                <p:cNvSpPr/>
                <p:nvPr/>
              </p:nvSpPr>
              <p:spPr>
                <a:xfrm>
                  <a:off x="3623881" y="1171575"/>
                  <a:ext cx="295275" cy="295275"/>
                </a:xfrm>
                <a:prstGeom prst="rect">
                  <a:avLst/>
                </a:prstGeom>
                <a:grp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45720" rIns="0" bIns="0" rtlCol="0" anchor="ctr"/>
                <a:lstStyle/>
                <a:p>
                  <a:pPr algn="ctr">
                    <a:lnSpc>
                      <a:spcPct val="60000"/>
                    </a:lnSpc>
                  </a:pPr>
                  <a:r>
                    <a:rPr lang="en-US" sz="2000" b="1" dirty="0" smtClean="0">
                      <a:solidFill>
                        <a:schemeClr val="tx1"/>
                      </a:solidFill>
                    </a:rPr>
                    <a:t>3</a:t>
                  </a:r>
                  <a:endParaRPr lang="en-US" sz="3200" b="1" dirty="0">
                    <a:solidFill>
                      <a:schemeClr val="tx1"/>
                    </a:solidFill>
                  </a:endParaRPr>
                </a:p>
              </p:txBody>
            </p:sp>
            <p:sp>
              <p:nvSpPr>
                <p:cNvPr id="126" name="Rectangle 125"/>
                <p:cNvSpPr/>
                <p:nvPr/>
              </p:nvSpPr>
              <p:spPr>
                <a:xfrm>
                  <a:off x="3914048" y="1171575"/>
                  <a:ext cx="295275" cy="295275"/>
                </a:xfrm>
                <a:prstGeom prst="rect">
                  <a:avLst/>
                </a:prstGeom>
                <a:grp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45720" rIns="0" bIns="0" rtlCol="0" anchor="ctr"/>
                <a:lstStyle/>
                <a:p>
                  <a:pPr algn="ctr">
                    <a:lnSpc>
                      <a:spcPct val="60000"/>
                    </a:lnSpc>
                  </a:pPr>
                  <a:r>
                    <a:rPr lang="en-US" sz="2000" b="1" dirty="0" smtClean="0">
                      <a:solidFill>
                        <a:schemeClr val="tx1"/>
                      </a:solidFill>
                    </a:rPr>
                    <a:t>5</a:t>
                  </a:r>
                  <a:endParaRPr lang="en-US" sz="3200" b="1" dirty="0">
                    <a:solidFill>
                      <a:schemeClr val="tx1"/>
                    </a:solidFill>
                  </a:endParaRPr>
                </a:p>
              </p:txBody>
            </p:sp>
          </p:grpSp>
          <p:grpSp>
            <p:nvGrpSpPr>
              <p:cNvPr id="120" name="Group 119"/>
              <p:cNvGrpSpPr/>
              <p:nvPr/>
            </p:nvGrpSpPr>
            <p:grpSpPr>
              <a:xfrm>
                <a:off x="2454036" y="1211584"/>
                <a:ext cx="141771" cy="177157"/>
                <a:chOff x="800100" y="2648024"/>
                <a:chExt cx="510646" cy="638101"/>
              </a:xfrm>
            </p:grpSpPr>
            <p:sp>
              <p:nvSpPr>
                <p:cNvPr id="121" name="Freeform 120"/>
                <p:cNvSpPr/>
                <p:nvPr/>
              </p:nvSpPr>
              <p:spPr>
                <a:xfrm>
                  <a:off x="800100" y="2652786"/>
                  <a:ext cx="504825" cy="633339"/>
                </a:xfrm>
                <a:custGeom>
                  <a:avLst/>
                  <a:gdLst>
                    <a:gd name="connsiteX0" fmla="*/ 0 w 504825"/>
                    <a:gd name="connsiteY0" fmla="*/ 0 h 633339"/>
                    <a:gd name="connsiteX1" fmla="*/ 307817 w 504825"/>
                    <a:gd name="connsiteY1" fmla="*/ 0 h 633339"/>
                    <a:gd name="connsiteX2" fmla="*/ 504825 w 504825"/>
                    <a:gd name="connsiteY2" fmla="*/ 197008 h 633339"/>
                    <a:gd name="connsiteX3" fmla="*/ 504825 w 504825"/>
                    <a:gd name="connsiteY3" fmla="*/ 633339 h 633339"/>
                    <a:gd name="connsiteX4" fmla="*/ 0 w 504825"/>
                    <a:gd name="connsiteY4" fmla="*/ 633339 h 6333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825" h="633339">
                      <a:moveTo>
                        <a:pt x="0" y="0"/>
                      </a:moveTo>
                      <a:lnTo>
                        <a:pt x="307817" y="0"/>
                      </a:lnTo>
                      <a:lnTo>
                        <a:pt x="504825" y="197008"/>
                      </a:lnTo>
                      <a:lnTo>
                        <a:pt x="504825" y="633339"/>
                      </a:lnTo>
                      <a:lnTo>
                        <a:pt x="0" y="633339"/>
                      </a:lnTo>
                      <a:close/>
                    </a:path>
                  </a:pathLst>
                </a:custGeom>
                <a:solidFill>
                  <a:schemeClr val="bg1"/>
                </a:solidFill>
                <a:ln w="6350">
                  <a:solidFill>
                    <a:schemeClr val="tx1"/>
                  </a:solidFill>
                </a:ln>
                <a:effectLst>
                  <a:outerShdw blurRad="50800" dist="38100" dir="2700000" sx="103000" sy="103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ctr"/>
                  <a:endParaRPr lang="en-US" dirty="0">
                    <a:solidFill>
                      <a:schemeClr val="tx1"/>
                    </a:solidFill>
                    <a:latin typeface="French Script MT" panose="03020402040607040605" pitchFamily="66" charset="0"/>
                  </a:endParaRPr>
                </a:p>
              </p:txBody>
            </p:sp>
            <p:sp>
              <p:nvSpPr>
                <p:cNvPr id="122" name="Freeform 121"/>
                <p:cNvSpPr/>
                <p:nvPr/>
              </p:nvSpPr>
              <p:spPr>
                <a:xfrm rot="10800000">
                  <a:off x="1113738" y="2648024"/>
                  <a:ext cx="197008" cy="197008"/>
                </a:xfrm>
                <a:custGeom>
                  <a:avLst/>
                  <a:gdLst>
                    <a:gd name="connsiteX0" fmla="*/ 0 w 197008"/>
                    <a:gd name="connsiteY0" fmla="*/ 0 h 197008"/>
                    <a:gd name="connsiteX1" fmla="*/ 197008 w 197008"/>
                    <a:gd name="connsiteY1" fmla="*/ 0 h 197008"/>
                    <a:gd name="connsiteX2" fmla="*/ 197008 w 197008"/>
                    <a:gd name="connsiteY2" fmla="*/ 197008 h 197008"/>
                  </a:gdLst>
                  <a:ahLst/>
                  <a:cxnLst>
                    <a:cxn ang="0">
                      <a:pos x="connsiteX0" y="connsiteY0"/>
                    </a:cxn>
                    <a:cxn ang="0">
                      <a:pos x="connsiteX1" y="connsiteY1"/>
                    </a:cxn>
                    <a:cxn ang="0">
                      <a:pos x="connsiteX2" y="connsiteY2"/>
                    </a:cxn>
                  </a:cxnLst>
                  <a:rect l="l" t="t" r="r" b="b"/>
                  <a:pathLst>
                    <a:path w="197008" h="197008">
                      <a:moveTo>
                        <a:pt x="0" y="0"/>
                      </a:moveTo>
                      <a:lnTo>
                        <a:pt x="197008" y="0"/>
                      </a:lnTo>
                      <a:lnTo>
                        <a:pt x="197008" y="197008"/>
                      </a:lnTo>
                      <a:close/>
                    </a:path>
                  </a:pathLst>
                </a:custGeom>
                <a:solidFill>
                  <a:schemeClr val="bg1"/>
                </a:solidFill>
                <a:ln w="6350" cap="rnd">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23" name="Group 22"/>
          <p:cNvGrpSpPr/>
          <p:nvPr/>
        </p:nvGrpSpPr>
        <p:grpSpPr>
          <a:xfrm>
            <a:off x="2006983" y="1917336"/>
            <a:ext cx="3443430" cy="2836210"/>
            <a:chOff x="2006983" y="1917336"/>
            <a:chExt cx="3443430" cy="2836210"/>
          </a:xfrm>
        </p:grpSpPr>
        <p:sp>
          <p:nvSpPr>
            <p:cNvPr id="22" name="Freeform 21"/>
            <p:cNvSpPr/>
            <p:nvPr/>
          </p:nvSpPr>
          <p:spPr>
            <a:xfrm>
              <a:off x="2006983" y="1917336"/>
              <a:ext cx="3443430" cy="2836210"/>
            </a:xfrm>
            <a:custGeom>
              <a:avLst/>
              <a:gdLst>
                <a:gd name="connsiteX0" fmla="*/ 0 w 2235200"/>
                <a:gd name="connsiteY0" fmla="*/ 0 h 1993900"/>
                <a:gd name="connsiteX1" fmla="*/ 0 w 2235200"/>
                <a:gd name="connsiteY1" fmla="*/ 927100 h 1993900"/>
                <a:gd name="connsiteX2" fmla="*/ 2235200 w 2235200"/>
                <a:gd name="connsiteY2" fmla="*/ 927100 h 1993900"/>
                <a:gd name="connsiteX3" fmla="*/ 2235200 w 2235200"/>
                <a:gd name="connsiteY3" fmla="*/ 1993900 h 1993900"/>
                <a:gd name="connsiteX0" fmla="*/ 0 w 2235200"/>
                <a:gd name="connsiteY0" fmla="*/ 0 h 1993900"/>
                <a:gd name="connsiteX1" fmla="*/ 0 w 2235200"/>
                <a:gd name="connsiteY1" fmla="*/ 927100 h 1993900"/>
                <a:gd name="connsiteX2" fmla="*/ 2235200 w 2235200"/>
                <a:gd name="connsiteY2" fmla="*/ 1462798 h 1993900"/>
                <a:gd name="connsiteX3" fmla="*/ 2235200 w 2235200"/>
                <a:gd name="connsiteY3" fmla="*/ 1993900 h 1993900"/>
                <a:gd name="connsiteX0" fmla="*/ 0 w 2235200"/>
                <a:gd name="connsiteY0" fmla="*/ 0 h 1993900"/>
                <a:gd name="connsiteX1" fmla="*/ 156633 w 2235200"/>
                <a:gd name="connsiteY1" fmla="*/ 605681 h 1993900"/>
                <a:gd name="connsiteX2" fmla="*/ 2235200 w 2235200"/>
                <a:gd name="connsiteY2" fmla="*/ 1462798 h 1993900"/>
                <a:gd name="connsiteX3" fmla="*/ 2235200 w 2235200"/>
                <a:gd name="connsiteY3" fmla="*/ 1993900 h 1993900"/>
                <a:gd name="connsiteX0" fmla="*/ 0 w 2235200"/>
                <a:gd name="connsiteY0" fmla="*/ 0 h 1993900"/>
                <a:gd name="connsiteX1" fmla="*/ 156633 w 2235200"/>
                <a:gd name="connsiteY1" fmla="*/ 605681 h 1993900"/>
                <a:gd name="connsiteX2" fmla="*/ 2226956 w 2235200"/>
                <a:gd name="connsiteY2" fmla="*/ 1534224 h 1993900"/>
                <a:gd name="connsiteX3" fmla="*/ 2235200 w 2235200"/>
                <a:gd name="connsiteY3" fmla="*/ 1993900 h 1993900"/>
                <a:gd name="connsiteX0" fmla="*/ 0 w 2235200"/>
                <a:gd name="connsiteY0" fmla="*/ 0 h 1993900"/>
                <a:gd name="connsiteX1" fmla="*/ 156633 w 2235200"/>
                <a:gd name="connsiteY1" fmla="*/ 605681 h 1993900"/>
                <a:gd name="connsiteX2" fmla="*/ 2226956 w 2235200"/>
                <a:gd name="connsiteY2" fmla="*/ 1534224 h 1993900"/>
                <a:gd name="connsiteX3" fmla="*/ 2235200 w 2235200"/>
                <a:gd name="connsiteY3" fmla="*/ 1993900 h 1993900"/>
                <a:gd name="connsiteX0" fmla="*/ 0 w 2235200"/>
                <a:gd name="connsiteY0" fmla="*/ 0 h 1993900"/>
                <a:gd name="connsiteX1" fmla="*/ 8244 w 2235200"/>
                <a:gd name="connsiteY1" fmla="*/ 616395 h 1993900"/>
                <a:gd name="connsiteX2" fmla="*/ 2226956 w 2235200"/>
                <a:gd name="connsiteY2" fmla="*/ 1534224 h 1993900"/>
                <a:gd name="connsiteX3" fmla="*/ 2235200 w 2235200"/>
                <a:gd name="connsiteY3" fmla="*/ 1993900 h 1993900"/>
                <a:gd name="connsiteX0" fmla="*/ 0 w 2235200"/>
                <a:gd name="connsiteY0" fmla="*/ 0 h 1993900"/>
                <a:gd name="connsiteX1" fmla="*/ 8244 w 2235200"/>
                <a:gd name="connsiteY1" fmla="*/ 616395 h 1993900"/>
                <a:gd name="connsiteX2" fmla="*/ 2226956 w 2235200"/>
                <a:gd name="connsiteY2" fmla="*/ 1534224 h 1993900"/>
                <a:gd name="connsiteX3" fmla="*/ 2235200 w 2235200"/>
                <a:gd name="connsiteY3" fmla="*/ 1993900 h 1993900"/>
                <a:gd name="connsiteX0" fmla="*/ 0 w 2235200"/>
                <a:gd name="connsiteY0" fmla="*/ 0 h 1993900"/>
                <a:gd name="connsiteX1" fmla="*/ 8244 w 2235200"/>
                <a:gd name="connsiteY1" fmla="*/ 616395 h 1993900"/>
                <a:gd name="connsiteX2" fmla="*/ 2226956 w 2235200"/>
                <a:gd name="connsiteY2" fmla="*/ 1534224 h 1993900"/>
                <a:gd name="connsiteX3" fmla="*/ 2235200 w 2235200"/>
                <a:gd name="connsiteY3" fmla="*/ 1993900 h 1993900"/>
                <a:gd name="connsiteX0" fmla="*/ 0 w 2235200"/>
                <a:gd name="connsiteY0" fmla="*/ 0 h 1993900"/>
                <a:gd name="connsiteX1" fmla="*/ 8244 w 2235200"/>
                <a:gd name="connsiteY1" fmla="*/ 616395 h 1993900"/>
                <a:gd name="connsiteX2" fmla="*/ 2226956 w 2235200"/>
                <a:gd name="connsiteY2" fmla="*/ 1534224 h 1993900"/>
                <a:gd name="connsiteX3" fmla="*/ 2235200 w 2235200"/>
                <a:gd name="connsiteY3" fmla="*/ 1993900 h 1993900"/>
                <a:gd name="connsiteX0" fmla="*/ 0 w 2235200"/>
                <a:gd name="connsiteY0" fmla="*/ 0 h 1993900"/>
                <a:gd name="connsiteX1" fmla="*/ 8244 w 2235200"/>
                <a:gd name="connsiteY1" fmla="*/ 616395 h 1993900"/>
                <a:gd name="connsiteX2" fmla="*/ 2226956 w 2235200"/>
                <a:gd name="connsiteY2" fmla="*/ 1534224 h 1993900"/>
                <a:gd name="connsiteX3" fmla="*/ 2235200 w 2235200"/>
                <a:gd name="connsiteY3" fmla="*/ 1993900 h 1993900"/>
              </a:gdLst>
              <a:ahLst/>
              <a:cxnLst>
                <a:cxn ang="0">
                  <a:pos x="connsiteX0" y="connsiteY0"/>
                </a:cxn>
                <a:cxn ang="0">
                  <a:pos x="connsiteX1" y="connsiteY1"/>
                </a:cxn>
                <a:cxn ang="0">
                  <a:pos x="connsiteX2" y="connsiteY2"/>
                </a:cxn>
                <a:cxn ang="0">
                  <a:pos x="connsiteX3" y="connsiteY3"/>
                </a:cxn>
              </a:cxnLst>
              <a:rect l="l" t="t" r="r" b="b"/>
              <a:pathLst>
                <a:path w="2235200" h="1993900">
                  <a:moveTo>
                    <a:pt x="0" y="0"/>
                  </a:moveTo>
                  <a:lnTo>
                    <a:pt x="8244" y="616395"/>
                  </a:lnTo>
                  <a:cubicBezTo>
                    <a:pt x="15763" y="1429465"/>
                    <a:pt x="2224383" y="862221"/>
                    <a:pt x="2226956" y="1534224"/>
                  </a:cubicBezTo>
                  <a:lnTo>
                    <a:pt x="2235200" y="1993900"/>
                  </a:lnTo>
                </a:path>
              </a:pathLst>
            </a:custGeom>
            <a:noFill/>
            <a:ln w="57150">
              <a:solidFill>
                <a:schemeClr val="accent6"/>
              </a:solidFill>
              <a:prstDash val="solid"/>
              <a:headEnd type="oval" w="sm" len="sm"/>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ectangle 127"/>
            <p:cNvSpPr/>
            <p:nvPr/>
          </p:nvSpPr>
          <p:spPr>
            <a:xfrm>
              <a:off x="3319550" y="3568083"/>
              <a:ext cx="914400" cy="295275"/>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91440" rIns="0" bIns="0" rtlCol="0" anchor="ctr"/>
            <a:lstStyle/>
            <a:p>
              <a:pPr algn="ctr">
                <a:lnSpc>
                  <a:spcPct val="60000"/>
                </a:lnSpc>
              </a:pPr>
              <a:r>
                <a:rPr lang="en-US" sz="2400" dirty="0" smtClean="0">
                  <a:solidFill>
                    <a:schemeClr val="tx1"/>
                  </a:solidFill>
                  <a:latin typeface="French Script MT" panose="03020402040607040605" pitchFamily="66" charset="0"/>
                </a:rPr>
                <a:t>File</a:t>
              </a:r>
              <a:endParaRPr lang="en-US" dirty="0">
                <a:solidFill>
                  <a:schemeClr val="tx1"/>
                </a:solidFill>
                <a:latin typeface="French Script MT" panose="03020402040607040605" pitchFamily="66" charset="0"/>
              </a:endParaRPr>
            </a:p>
          </p:txBody>
        </p:sp>
      </p:grpSp>
      <p:grpSp>
        <p:nvGrpSpPr>
          <p:cNvPr id="24" name="Group 23"/>
          <p:cNvGrpSpPr/>
          <p:nvPr/>
        </p:nvGrpSpPr>
        <p:grpSpPr>
          <a:xfrm>
            <a:off x="2417929" y="1841012"/>
            <a:ext cx="3443430" cy="2836210"/>
            <a:chOff x="2417929" y="1841012"/>
            <a:chExt cx="3443430" cy="2836210"/>
          </a:xfrm>
        </p:grpSpPr>
        <p:sp>
          <p:nvSpPr>
            <p:cNvPr id="130" name="Freeform 129"/>
            <p:cNvSpPr/>
            <p:nvPr/>
          </p:nvSpPr>
          <p:spPr>
            <a:xfrm rot="10800000">
              <a:off x="2417929" y="1841012"/>
              <a:ext cx="3443430" cy="2836210"/>
            </a:xfrm>
            <a:custGeom>
              <a:avLst/>
              <a:gdLst>
                <a:gd name="connsiteX0" fmla="*/ 0 w 2235200"/>
                <a:gd name="connsiteY0" fmla="*/ 0 h 1993900"/>
                <a:gd name="connsiteX1" fmla="*/ 0 w 2235200"/>
                <a:gd name="connsiteY1" fmla="*/ 927100 h 1993900"/>
                <a:gd name="connsiteX2" fmla="*/ 2235200 w 2235200"/>
                <a:gd name="connsiteY2" fmla="*/ 927100 h 1993900"/>
                <a:gd name="connsiteX3" fmla="*/ 2235200 w 2235200"/>
                <a:gd name="connsiteY3" fmla="*/ 1993900 h 1993900"/>
                <a:gd name="connsiteX0" fmla="*/ 0 w 2235200"/>
                <a:gd name="connsiteY0" fmla="*/ 0 h 1993900"/>
                <a:gd name="connsiteX1" fmla="*/ 0 w 2235200"/>
                <a:gd name="connsiteY1" fmla="*/ 927100 h 1993900"/>
                <a:gd name="connsiteX2" fmla="*/ 2235200 w 2235200"/>
                <a:gd name="connsiteY2" fmla="*/ 1462798 h 1993900"/>
                <a:gd name="connsiteX3" fmla="*/ 2235200 w 2235200"/>
                <a:gd name="connsiteY3" fmla="*/ 1993900 h 1993900"/>
                <a:gd name="connsiteX0" fmla="*/ 0 w 2235200"/>
                <a:gd name="connsiteY0" fmla="*/ 0 h 1993900"/>
                <a:gd name="connsiteX1" fmla="*/ 156633 w 2235200"/>
                <a:gd name="connsiteY1" fmla="*/ 605681 h 1993900"/>
                <a:gd name="connsiteX2" fmla="*/ 2235200 w 2235200"/>
                <a:gd name="connsiteY2" fmla="*/ 1462798 h 1993900"/>
                <a:gd name="connsiteX3" fmla="*/ 2235200 w 2235200"/>
                <a:gd name="connsiteY3" fmla="*/ 1993900 h 1993900"/>
                <a:gd name="connsiteX0" fmla="*/ 0 w 2235200"/>
                <a:gd name="connsiteY0" fmla="*/ 0 h 1993900"/>
                <a:gd name="connsiteX1" fmla="*/ 156633 w 2235200"/>
                <a:gd name="connsiteY1" fmla="*/ 605681 h 1993900"/>
                <a:gd name="connsiteX2" fmla="*/ 2226956 w 2235200"/>
                <a:gd name="connsiteY2" fmla="*/ 1534224 h 1993900"/>
                <a:gd name="connsiteX3" fmla="*/ 2235200 w 2235200"/>
                <a:gd name="connsiteY3" fmla="*/ 1993900 h 1993900"/>
                <a:gd name="connsiteX0" fmla="*/ 0 w 2235200"/>
                <a:gd name="connsiteY0" fmla="*/ 0 h 1993900"/>
                <a:gd name="connsiteX1" fmla="*/ 156633 w 2235200"/>
                <a:gd name="connsiteY1" fmla="*/ 605681 h 1993900"/>
                <a:gd name="connsiteX2" fmla="*/ 2226956 w 2235200"/>
                <a:gd name="connsiteY2" fmla="*/ 1534224 h 1993900"/>
                <a:gd name="connsiteX3" fmla="*/ 2235200 w 2235200"/>
                <a:gd name="connsiteY3" fmla="*/ 1993900 h 1993900"/>
                <a:gd name="connsiteX0" fmla="*/ 0 w 2235200"/>
                <a:gd name="connsiteY0" fmla="*/ 0 h 1993900"/>
                <a:gd name="connsiteX1" fmla="*/ 8244 w 2235200"/>
                <a:gd name="connsiteY1" fmla="*/ 616395 h 1993900"/>
                <a:gd name="connsiteX2" fmla="*/ 2226956 w 2235200"/>
                <a:gd name="connsiteY2" fmla="*/ 1534224 h 1993900"/>
                <a:gd name="connsiteX3" fmla="*/ 2235200 w 2235200"/>
                <a:gd name="connsiteY3" fmla="*/ 1993900 h 1993900"/>
                <a:gd name="connsiteX0" fmla="*/ 0 w 2235200"/>
                <a:gd name="connsiteY0" fmla="*/ 0 h 1993900"/>
                <a:gd name="connsiteX1" fmla="*/ 8244 w 2235200"/>
                <a:gd name="connsiteY1" fmla="*/ 616395 h 1993900"/>
                <a:gd name="connsiteX2" fmla="*/ 2226956 w 2235200"/>
                <a:gd name="connsiteY2" fmla="*/ 1534224 h 1993900"/>
                <a:gd name="connsiteX3" fmla="*/ 2235200 w 2235200"/>
                <a:gd name="connsiteY3" fmla="*/ 1993900 h 1993900"/>
                <a:gd name="connsiteX0" fmla="*/ 0 w 2235200"/>
                <a:gd name="connsiteY0" fmla="*/ 0 h 1993900"/>
                <a:gd name="connsiteX1" fmla="*/ 8244 w 2235200"/>
                <a:gd name="connsiteY1" fmla="*/ 616395 h 1993900"/>
                <a:gd name="connsiteX2" fmla="*/ 2226956 w 2235200"/>
                <a:gd name="connsiteY2" fmla="*/ 1534224 h 1993900"/>
                <a:gd name="connsiteX3" fmla="*/ 2235200 w 2235200"/>
                <a:gd name="connsiteY3" fmla="*/ 1993900 h 1993900"/>
                <a:gd name="connsiteX0" fmla="*/ 0 w 2235200"/>
                <a:gd name="connsiteY0" fmla="*/ 0 h 1993900"/>
                <a:gd name="connsiteX1" fmla="*/ 8244 w 2235200"/>
                <a:gd name="connsiteY1" fmla="*/ 616395 h 1993900"/>
                <a:gd name="connsiteX2" fmla="*/ 2226956 w 2235200"/>
                <a:gd name="connsiteY2" fmla="*/ 1534224 h 1993900"/>
                <a:gd name="connsiteX3" fmla="*/ 2235200 w 2235200"/>
                <a:gd name="connsiteY3" fmla="*/ 1993900 h 1993900"/>
                <a:gd name="connsiteX0" fmla="*/ 0 w 2235200"/>
                <a:gd name="connsiteY0" fmla="*/ 0 h 1993900"/>
                <a:gd name="connsiteX1" fmla="*/ 8244 w 2235200"/>
                <a:gd name="connsiteY1" fmla="*/ 616395 h 1993900"/>
                <a:gd name="connsiteX2" fmla="*/ 2226956 w 2235200"/>
                <a:gd name="connsiteY2" fmla="*/ 1534224 h 1993900"/>
                <a:gd name="connsiteX3" fmla="*/ 2235200 w 2235200"/>
                <a:gd name="connsiteY3" fmla="*/ 1993900 h 1993900"/>
                <a:gd name="connsiteX0" fmla="*/ 0 w 2235200"/>
                <a:gd name="connsiteY0" fmla="*/ 0 h 1993900"/>
                <a:gd name="connsiteX1" fmla="*/ 8244 w 2235200"/>
                <a:gd name="connsiteY1" fmla="*/ 616395 h 1993900"/>
                <a:gd name="connsiteX2" fmla="*/ 2226956 w 2235200"/>
                <a:gd name="connsiteY2" fmla="*/ 1534224 h 1993900"/>
                <a:gd name="connsiteX3" fmla="*/ 2235200 w 2235200"/>
                <a:gd name="connsiteY3" fmla="*/ 1993900 h 1993900"/>
                <a:gd name="connsiteX0" fmla="*/ 0 w 2235200"/>
                <a:gd name="connsiteY0" fmla="*/ 0 h 1993900"/>
                <a:gd name="connsiteX1" fmla="*/ 8244 w 2235200"/>
                <a:gd name="connsiteY1" fmla="*/ 616395 h 1993900"/>
                <a:gd name="connsiteX2" fmla="*/ 2226956 w 2235200"/>
                <a:gd name="connsiteY2" fmla="*/ 1534224 h 1993900"/>
                <a:gd name="connsiteX3" fmla="*/ 2235200 w 2235200"/>
                <a:gd name="connsiteY3" fmla="*/ 1993900 h 1993900"/>
              </a:gdLst>
              <a:ahLst/>
              <a:cxnLst>
                <a:cxn ang="0">
                  <a:pos x="connsiteX0" y="connsiteY0"/>
                </a:cxn>
                <a:cxn ang="0">
                  <a:pos x="connsiteX1" y="connsiteY1"/>
                </a:cxn>
                <a:cxn ang="0">
                  <a:pos x="connsiteX2" y="connsiteY2"/>
                </a:cxn>
                <a:cxn ang="0">
                  <a:pos x="connsiteX3" y="connsiteY3"/>
                </a:cxn>
              </a:cxnLst>
              <a:rect l="l" t="t" r="r" b="b"/>
              <a:pathLst>
                <a:path w="2235200" h="1993900">
                  <a:moveTo>
                    <a:pt x="0" y="0"/>
                  </a:moveTo>
                  <a:lnTo>
                    <a:pt x="8244" y="616395"/>
                  </a:lnTo>
                  <a:cubicBezTo>
                    <a:pt x="159206" y="1600888"/>
                    <a:pt x="1873196" y="631871"/>
                    <a:pt x="2226956" y="1534224"/>
                  </a:cubicBezTo>
                  <a:lnTo>
                    <a:pt x="2235200" y="1993900"/>
                  </a:lnTo>
                </a:path>
              </a:pathLst>
            </a:custGeom>
            <a:noFill/>
            <a:ln w="57150">
              <a:solidFill>
                <a:schemeClr val="accent6"/>
              </a:solidFill>
              <a:prstDash val="solid"/>
              <a:headEnd type="oval" w="sm" len="sm"/>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2" name="Group 131"/>
            <p:cNvGrpSpPr/>
            <p:nvPr/>
          </p:nvGrpSpPr>
          <p:grpSpPr>
            <a:xfrm>
              <a:off x="4310815" y="2763499"/>
              <a:ext cx="458899" cy="573438"/>
              <a:chOff x="800100" y="2648024"/>
              <a:chExt cx="510646" cy="638101"/>
            </a:xfrm>
          </p:grpSpPr>
          <p:sp>
            <p:nvSpPr>
              <p:cNvPr id="133" name="Freeform 132"/>
              <p:cNvSpPr/>
              <p:nvPr/>
            </p:nvSpPr>
            <p:spPr>
              <a:xfrm>
                <a:off x="800100" y="2652786"/>
                <a:ext cx="504825" cy="633339"/>
              </a:xfrm>
              <a:custGeom>
                <a:avLst/>
                <a:gdLst>
                  <a:gd name="connsiteX0" fmla="*/ 0 w 504825"/>
                  <a:gd name="connsiteY0" fmla="*/ 0 h 633339"/>
                  <a:gd name="connsiteX1" fmla="*/ 307817 w 504825"/>
                  <a:gd name="connsiteY1" fmla="*/ 0 h 633339"/>
                  <a:gd name="connsiteX2" fmla="*/ 504825 w 504825"/>
                  <a:gd name="connsiteY2" fmla="*/ 197008 h 633339"/>
                  <a:gd name="connsiteX3" fmla="*/ 504825 w 504825"/>
                  <a:gd name="connsiteY3" fmla="*/ 633339 h 633339"/>
                  <a:gd name="connsiteX4" fmla="*/ 0 w 504825"/>
                  <a:gd name="connsiteY4" fmla="*/ 633339 h 6333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825" h="633339">
                    <a:moveTo>
                      <a:pt x="0" y="0"/>
                    </a:moveTo>
                    <a:lnTo>
                      <a:pt x="307817" y="0"/>
                    </a:lnTo>
                    <a:lnTo>
                      <a:pt x="504825" y="197008"/>
                    </a:lnTo>
                    <a:lnTo>
                      <a:pt x="504825" y="633339"/>
                    </a:lnTo>
                    <a:lnTo>
                      <a:pt x="0" y="633339"/>
                    </a:lnTo>
                    <a:close/>
                  </a:path>
                </a:pathLst>
              </a:custGeom>
              <a:solidFill>
                <a:schemeClr val="bg1"/>
              </a:solidFill>
              <a:ln w="38100">
                <a:solidFill>
                  <a:schemeClr val="tx1"/>
                </a:solidFill>
              </a:ln>
              <a:effectLst>
                <a:outerShdw blurRad="50800" dist="38100" dir="2700000" sx="103000" sy="103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ctr"/>
                <a:r>
                  <a:rPr lang="en-US" sz="2000" dirty="0" smtClean="0">
                    <a:solidFill>
                      <a:schemeClr val="tx1"/>
                    </a:solidFill>
                    <a:latin typeface="French Script MT" panose="03020402040607040605" pitchFamily="66" charset="0"/>
                  </a:rPr>
                  <a:t>File</a:t>
                </a:r>
                <a:endParaRPr lang="en-US" sz="1400" dirty="0">
                  <a:solidFill>
                    <a:schemeClr val="tx1"/>
                  </a:solidFill>
                  <a:latin typeface="French Script MT" panose="03020402040607040605" pitchFamily="66" charset="0"/>
                </a:endParaRPr>
              </a:p>
            </p:txBody>
          </p:sp>
          <p:sp>
            <p:nvSpPr>
              <p:cNvPr id="134" name="Freeform 133"/>
              <p:cNvSpPr/>
              <p:nvPr/>
            </p:nvSpPr>
            <p:spPr>
              <a:xfrm rot="10800000">
                <a:off x="1113738" y="2648024"/>
                <a:ext cx="197008" cy="197008"/>
              </a:xfrm>
              <a:custGeom>
                <a:avLst/>
                <a:gdLst>
                  <a:gd name="connsiteX0" fmla="*/ 0 w 197008"/>
                  <a:gd name="connsiteY0" fmla="*/ 0 h 197008"/>
                  <a:gd name="connsiteX1" fmla="*/ 197008 w 197008"/>
                  <a:gd name="connsiteY1" fmla="*/ 0 h 197008"/>
                  <a:gd name="connsiteX2" fmla="*/ 197008 w 197008"/>
                  <a:gd name="connsiteY2" fmla="*/ 197008 h 197008"/>
                </a:gdLst>
                <a:ahLst/>
                <a:cxnLst>
                  <a:cxn ang="0">
                    <a:pos x="connsiteX0" y="connsiteY0"/>
                  </a:cxn>
                  <a:cxn ang="0">
                    <a:pos x="connsiteX1" y="connsiteY1"/>
                  </a:cxn>
                  <a:cxn ang="0">
                    <a:pos x="connsiteX2" y="connsiteY2"/>
                  </a:cxn>
                </a:cxnLst>
                <a:rect l="l" t="t" r="r" b="b"/>
                <a:pathLst>
                  <a:path w="197008" h="197008">
                    <a:moveTo>
                      <a:pt x="0" y="0"/>
                    </a:moveTo>
                    <a:lnTo>
                      <a:pt x="197008" y="0"/>
                    </a:lnTo>
                    <a:lnTo>
                      <a:pt x="197008" y="197008"/>
                    </a:lnTo>
                    <a:close/>
                  </a:path>
                </a:pathLst>
              </a:custGeom>
              <a:solidFill>
                <a:schemeClr val="bg1"/>
              </a:solidFill>
              <a:ln w="38100" cap="rnd">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6" name="Rounded Rectangle 25"/>
          <p:cNvSpPr/>
          <p:nvPr/>
        </p:nvSpPr>
        <p:spPr>
          <a:xfrm>
            <a:off x="5468493" y="987833"/>
            <a:ext cx="2299491" cy="343799"/>
          </a:xfrm>
          <a:prstGeom prst="roundRect">
            <a:avLst/>
          </a:prstGeom>
          <a:solidFill>
            <a:srgbClr val="FFE1E1"/>
          </a:solidFill>
          <a:ln w="381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err="1" smtClean="0">
                <a:solidFill>
                  <a:schemeClr val="tx1"/>
                </a:solidFill>
                <a:latin typeface="Consolas" panose="020B0609020204030204" pitchFamily="49" charset="0"/>
                <a:cs typeface="Consolas" panose="020B0609020204030204" pitchFamily="49" charset="0"/>
              </a:rPr>
              <a:t>GetBlockLocations</a:t>
            </a:r>
            <a:endParaRPr lang="en-US" sz="1600" dirty="0">
              <a:solidFill>
                <a:schemeClr val="tx1"/>
              </a:solidFill>
              <a:latin typeface="Consolas" panose="020B0609020204030204" pitchFamily="49" charset="0"/>
              <a:cs typeface="Consolas" panose="020B0609020204030204" pitchFamily="49" charset="0"/>
            </a:endParaRPr>
          </a:p>
        </p:txBody>
      </p:sp>
      <p:sp>
        <p:nvSpPr>
          <p:cNvPr id="135" name="Rounded Rectangle 134"/>
          <p:cNvSpPr/>
          <p:nvPr/>
        </p:nvSpPr>
        <p:spPr>
          <a:xfrm>
            <a:off x="3986019" y="5046157"/>
            <a:ext cx="2510217" cy="343799"/>
          </a:xfrm>
          <a:prstGeom prst="roundRect">
            <a:avLst/>
          </a:prstGeom>
          <a:solidFill>
            <a:srgbClr val="FFE1E1"/>
          </a:solidFill>
          <a:ln w="381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err="1" smtClean="0">
                <a:solidFill>
                  <a:schemeClr val="tx1"/>
                </a:solidFill>
                <a:latin typeface="Consolas" panose="020B0609020204030204" pitchFamily="49" charset="0"/>
                <a:cs typeface="Consolas" panose="020B0609020204030204" pitchFamily="49" charset="0"/>
              </a:rPr>
              <a:t>DataTransferProtocol</a:t>
            </a:r>
            <a:endParaRPr lang="en-US" sz="1600" dirty="0">
              <a:solidFill>
                <a:schemeClr val="tx1"/>
              </a:solidFill>
              <a:latin typeface="Consolas" panose="020B0609020204030204" pitchFamily="49" charset="0"/>
              <a:cs typeface="Consolas" panose="020B0609020204030204" pitchFamily="49" charset="0"/>
            </a:endParaRPr>
          </a:p>
        </p:txBody>
      </p:sp>
      <p:grpSp>
        <p:nvGrpSpPr>
          <p:cNvPr id="75" name="Group 74"/>
          <p:cNvGrpSpPr/>
          <p:nvPr/>
        </p:nvGrpSpPr>
        <p:grpSpPr>
          <a:xfrm rot="20907350">
            <a:off x="62734" y="1855654"/>
            <a:ext cx="1885950" cy="2352675"/>
            <a:chOff x="6962775" y="2352675"/>
            <a:chExt cx="2181225" cy="2352675"/>
          </a:xfrm>
        </p:grpSpPr>
        <p:sp>
          <p:nvSpPr>
            <p:cNvPr id="77" name="Rounded Rectangle 76"/>
            <p:cNvSpPr/>
            <p:nvPr/>
          </p:nvSpPr>
          <p:spPr>
            <a:xfrm>
              <a:off x="6962775" y="2352675"/>
              <a:ext cx="2181225" cy="2352675"/>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nSpc>
                  <a:spcPct val="75000"/>
                </a:lnSpc>
              </a:pPr>
              <a:endParaRPr lang="en-US" sz="1600" dirty="0" smtClean="0">
                <a:solidFill>
                  <a:schemeClr val="tx1"/>
                </a:solidFill>
                <a:latin typeface="+mj-lt"/>
              </a:endParaRPr>
            </a:p>
            <a:p>
              <a:pPr>
                <a:lnSpc>
                  <a:spcPct val="75000"/>
                </a:lnSpc>
              </a:pPr>
              <a:endParaRPr lang="en-US" sz="1600" dirty="0">
                <a:solidFill>
                  <a:schemeClr val="tx1"/>
                </a:solidFill>
                <a:latin typeface="+mj-lt"/>
              </a:endParaRPr>
            </a:p>
            <a:p>
              <a:pPr>
                <a:lnSpc>
                  <a:spcPct val="75000"/>
                </a:lnSpc>
              </a:pPr>
              <a:endParaRPr lang="en-US" sz="1600" dirty="0" smtClean="0">
                <a:solidFill>
                  <a:schemeClr val="tx1"/>
                </a:solidFill>
                <a:latin typeface="+mj-lt"/>
              </a:endParaRPr>
            </a:p>
            <a:p>
              <a:pPr>
                <a:lnSpc>
                  <a:spcPct val="75000"/>
                </a:lnSpc>
              </a:pPr>
              <a:r>
                <a:rPr lang="en-US" sz="1600" dirty="0" smtClean="0">
                  <a:solidFill>
                    <a:schemeClr val="tx1"/>
                  </a:solidFill>
                  <a:latin typeface="+mj-lt"/>
                </a:rPr>
                <a:t>Same machine?</a:t>
              </a:r>
            </a:p>
            <a:p>
              <a:pPr>
                <a:lnSpc>
                  <a:spcPct val="75000"/>
                </a:lnSpc>
              </a:pPr>
              <a:r>
                <a:rPr lang="en-US" sz="1600" dirty="0">
                  <a:solidFill>
                    <a:schemeClr val="tx1"/>
                  </a:solidFill>
                  <a:latin typeface="+mj-lt"/>
                </a:rPr>
                <a:t> </a:t>
              </a:r>
              <a:r>
                <a:rPr lang="en-US" sz="1600" dirty="0" smtClean="0">
                  <a:solidFill>
                    <a:schemeClr val="tx1"/>
                  </a:solidFill>
                  <a:latin typeface="+mj-lt"/>
                </a:rPr>
                <a:t> -&gt; read local</a:t>
              </a:r>
            </a:p>
            <a:p>
              <a:pPr>
                <a:lnSpc>
                  <a:spcPct val="75000"/>
                </a:lnSpc>
              </a:pPr>
              <a:endParaRPr lang="en-US" sz="1600" dirty="0" smtClean="0">
                <a:solidFill>
                  <a:schemeClr val="tx1"/>
                </a:solidFill>
                <a:latin typeface="+mj-lt"/>
              </a:endParaRPr>
            </a:p>
            <a:p>
              <a:pPr>
                <a:lnSpc>
                  <a:spcPct val="75000"/>
                </a:lnSpc>
              </a:pPr>
              <a:r>
                <a:rPr lang="en-US" sz="1600" dirty="0" smtClean="0">
                  <a:solidFill>
                    <a:schemeClr val="tx1"/>
                  </a:solidFill>
                  <a:latin typeface="+mj-lt"/>
                </a:rPr>
                <a:t>Same rack?</a:t>
              </a:r>
            </a:p>
            <a:p>
              <a:pPr>
                <a:lnSpc>
                  <a:spcPct val="75000"/>
                </a:lnSpc>
              </a:pPr>
              <a:r>
                <a:rPr lang="en-US" sz="1600" dirty="0">
                  <a:solidFill>
                    <a:schemeClr val="tx1"/>
                  </a:solidFill>
                  <a:latin typeface="+mj-lt"/>
                </a:rPr>
                <a:t> </a:t>
              </a:r>
              <a:r>
                <a:rPr lang="en-US" sz="1600" dirty="0" smtClean="0">
                  <a:solidFill>
                    <a:schemeClr val="tx1"/>
                  </a:solidFill>
                  <a:latin typeface="+mj-lt"/>
                </a:rPr>
                <a:t> -&gt; read rack-local</a:t>
              </a:r>
            </a:p>
            <a:p>
              <a:pPr>
                <a:lnSpc>
                  <a:spcPct val="75000"/>
                </a:lnSpc>
              </a:pPr>
              <a:endParaRPr lang="en-US" sz="1600" dirty="0" smtClean="0">
                <a:solidFill>
                  <a:schemeClr val="tx1"/>
                </a:solidFill>
                <a:latin typeface="+mj-lt"/>
              </a:endParaRPr>
            </a:p>
            <a:p>
              <a:pPr>
                <a:lnSpc>
                  <a:spcPct val="75000"/>
                </a:lnSpc>
              </a:pPr>
              <a:r>
                <a:rPr lang="en-US" sz="1600" dirty="0" smtClean="0">
                  <a:solidFill>
                    <a:schemeClr val="tx1"/>
                  </a:solidFill>
                  <a:latin typeface="+mj-lt"/>
                </a:rPr>
                <a:t>Otherwise</a:t>
              </a:r>
            </a:p>
            <a:p>
              <a:pPr>
                <a:lnSpc>
                  <a:spcPct val="75000"/>
                </a:lnSpc>
              </a:pPr>
              <a:r>
                <a:rPr lang="en-US" sz="1600" dirty="0">
                  <a:solidFill>
                    <a:schemeClr val="tx1"/>
                  </a:solidFill>
                  <a:latin typeface="+mj-lt"/>
                </a:rPr>
                <a:t> </a:t>
              </a:r>
              <a:r>
                <a:rPr lang="en-US" sz="1600" dirty="0" smtClean="0">
                  <a:solidFill>
                    <a:schemeClr val="tx1"/>
                  </a:solidFill>
                  <a:latin typeface="+mj-lt"/>
                </a:rPr>
                <a:t>-&gt; select randomly</a:t>
              </a:r>
              <a:endParaRPr lang="en-US" sz="1600" dirty="0">
                <a:solidFill>
                  <a:schemeClr val="tx1"/>
                </a:solidFill>
                <a:latin typeface="+mj-lt"/>
              </a:endParaRPr>
            </a:p>
          </p:txBody>
        </p:sp>
        <p:sp>
          <p:nvSpPr>
            <p:cNvPr id="78" name="TextBox 77"/>
            <p:cNvSpPr txBox="1"/>
            <p:nvPr/>
          </p:nvSpPr>
          <p:spPr>
            <a:xfrm>
              <a:off x="7232393" y="2352675"/>
              <a:ext cx="1641988" cy="541046"/>
            </a:xfrm>
            <a:prstGeom prst="rect">
              <a:avLst/>
            </a:prstGeom>
            <a:noFill/>
          </p:spPr>
          <p:txBody>
            <a:bodyPr wrap="none" rtlCol="0">
              <a:spAutoFit/>
            </a:bodyPr>
            <a:lstStyle/>
            <a:p>
              <a:pPr algn="ctr">
                <a:lnSpc>
                  <a:spcPct val="80000"/>
                </a:lnSpc>
              </a:pPr>
              <a:r>
                <a:rPr lang="en-US" dirty="0" smtClean="0"/>
                <a:t>HDFS Replica </a:t>
              </a:r>
            </a:p>
            <a:p>
              <a:pPr algn="ctr">
                <a:lnSpc>
                  <a:spcPct val="80000"/>
                </a:lnSpc>
              </a:pPr>
              <a:r>
                <a:rPr lang="en-US" dirty="0" smtClean="0"/>
                <a:t>Selection Policy</a:t>
              </a:r>
              <a:endParaRPr lang="en-US" dirty="0"/>
            </a:p>
          </p:txBody>
        </p:sp>
        <p:cxnSp>
          <p:nvCxnSpPr>
            <p:cNvPr id="80" name="Straight Connector 79"/>
            <p:cNvCxnSpPr/>
            <p:nvPr/>
          </p:nvCxnSpPr>
          <p:spPr>
            <a:xfrm>
              <a:off x="6962775" y="2894231"/>
              <a:ext cx="21812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Slide Number Placeholder 7"/>
          <p:cNvSpPr>
            <a:spLocks noGrp="1"/>
          </p:cNvSpPr>
          <p:nvPr>
            <p:ph type="sldNum" sz="quarter" idx="12"/>
          </p:nvPr>
        </p:nvSpPr>
        <p:spPr/>
        <p:txBody>
          <a:bodyPr/>
          <a:lstStyle/>
          <a:p>
            <a:fld id="{D431E30F-8439-471B-9257-EDD8E85CDBC8}" type="slidenum">
              <a:rPr lang="en-US" smtClean="0"/>
              <a:t>37</a:t>
            </a:fld>
            <a:endParaRPr lang="en-US"/>
          </a:p>
        </p:txBody>
      </p:sp>
    </p:spTree>
    <p:extLst>
      <p:ext uri="{BB962C8B-B14F-4D97-AF65-F5344CB8AC3E}">
        <p14:creationId xmlns:p14="http://schemas.microsoft.com/office/powerpoint/2010/main" val="3146631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par>
                                <p:cTn id="12" presetID="10" presetClass="entr" presetSubtype="0" fill="hold"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wipe(left)">
                                      <p:cBhvr>
                                        <p:cTn id="19" dur="1000"/>
                                        <p:tgtEl>
                                          <p:spTgt spid="25"/>
                                        </p:tgtEl>
                                      </p:cBhvr>
                                    </p:animEffect>
                                  </p:childTnLst>
                                </p:cTn>
                              </p:par>
                            </p:childTnLst>
                          </p:cTn>
                        </p:par>
                        <p:par>
                          <p:cTn id="20" fill="hold">
                            <p:stCondLst>
                              <p:cond delay="1000"/>
                            </p:stCondLst>
                            <p:childTnLst>
                              <p:par>
                                <p:cTn id="21" presetID="10" presetClass="entr" presetSubtype="0" fill="hold" grpId="0" nodeType="after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500"/>
                                        <p:tgtEl>
                                          <p:spTgt spid="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79"/>
                                        </p:tgtEl>
                                        <p:attrNameLst>
                                          <p:attrName>style.visibility</p:attrName>
                                        </p:attrNameLst>
                                      </p:cBhvr>
                                      <p:to>
                                        <p:strVal val="visible"/>
                                      </p:to>
                                    </p:set>
                                    <p:animEffect transition="in" filter="fade">
                                      <p:cBhvr>
                                        <p:cTn id="26" dur="500"/>
                                        <p:tgtEl>
                                          <p:spTgt spid="7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04"/>
                                        </p:tgtEl>
                                        <p:attrNameLst>
                                          <p:attrName>style.visibility</p:attrName>
                                        </p:attrNameLst>
                                      </p:cBhvr>
                                      <p:to>
                                        <p:strVal val="visible"/>
                                      </p:to>
                                    </p:set>
                                    <p:animEffect transition="in" filter="fade">
                                      <p:cBhvr>
                                        <p:cTn id="36" dur="500"/>
                                        <p:tgtEl>
                                          <p:spTgt spid="104"/>
                                        </p:tgtEl>
                                      </p:cBhvr>
                                    </p:animEffect>
                                  </p:childTnLst>
                                </p:cTn>
                              </p:par>
                              <p:par>
                                <p:cTn id="37" presetID="10" presetClass="entr" presetSubtype="0" fill="hold" nodeType="withEffect">
                                  <p:stCondLst>
                                    <p:cond delay="0"/>
                                  </p:stCondLst>
                                  <p:childTnLst>
                                    <p:set>
                                      <p:cBhvr>
                                        <p:cTn id="38" dur="1" fill="hold">
                                          <p:stCondLst>
                                            <p:cond delay="0"/>
                                          </p:stCondLst>
                                        </p:cTn>
                                        <p:tgtEl>
                                          <p:spTgt spid="107"/>
                                        </p:tgtEl>
                                        <p:attrNameLst>
                                          <p:attrName>style.visibility</p:attrName>
                                        </p:attrNameLst>
                                      </p:cBhvr>
                                      <p:to>
                                        <p:strVal val="visible"/>
                                      </p:to>
                                    </p:set>
                                    <p:animEffect transition="in" filter="fade">
                                      <p:cBhvr>
                                        <p:cTn id="39" dur="500"/>
                                        <p:tgtEl>
                                          <p:spTgt spid="107"/>
                                        </p:tgtEl>
                                      </p:cBhvr>
                                    </p:animEffect>
                                  </p:childTnLst>
                                </p:cTn>
                              </p:par>
                              <p:par>
                                <p:cTn id="40" presetID="10" presetClass="entr" presetSubtype="0" fill="hold" nodeType="withEffect">
                                  <p:stCondLst>
                                    <p:cond delay="0"/>
                                  </p:stCondLst>
                                  <p:childTnLst>
                                    <p:set>
                                      <p:cBhvr>
                                        <p:cTn id="41" dur="1" fill="hold">
                                          <p:stCondLst>
                                            <p:cond delay="0"/>
                                          </p:stCondLst>
                                        </p:cTn>
                                        <p:tgtEl>
                                          <p:spTgt spid="97"/>
                                        </p:tgtEl>
                                        <p:attrNameLst>
                                          <p:attrName>style.visibility</p:attrName>
                                        </p:attrNameLst>
                                      </p:cBhvr>
                                      <p:to>
                                        <p:strVal val="visible"/>
                                      </p:to>
                                    </p:set>
                                    <p:animEffect transition="in" filter="fade">
                                      <p:cBhvr>
                                        <p:cTn id="42" dur="500"/>
                                        <p:tgtEl>
                                          <p:spTgt spid="97"/>
                                        </p:tgtEl>
                                      </p:cBhvr>
                                    </p:animEffect>
                                  </p:childTnLst>
                                </p:cTn>
                              </p:par>
                              <p:par>
                                <p:cTn id="43" presetID="0" presetClass="path" presetSubtype="0" decel="21000" fill="hold" nodeType="withEffect">
                                  <p:stCondLst>
                                    <p:cond delay="0"/>
                                  </p:stCondLst>
                                  <p:childTnLst>
                                    <p:animMotion origin="layout" path="M -0.09688 -0.46481 L -4.16667E-6 -2.22222E-6 " pathEditMode="relative" rAng="0" ptsTypes="AA">
                                      <p:cBhvr>
                                        <p:cTn id="44" dur="750" fill="hold"/>
                                        <p:tgtEl>
                                          <p:spTgt spid="104"/>
                                        </p:tgtEl>
                                        <p:attrNameLst>
                                          <p:attrName>ppt_x</p:attrName>
                                          <p:attrName>ppt_y</p:attrName>
                                        </p:attrNameLst>
                                      </p:cBhvr>
                                      <p:rCtr x="5069" y="23472"/>
                                    </p:animMotion>
                                  </p:childTnLst>
                                </p:cTn>
                              </p:par>
                              <p:par>
                                <p:cTn id="45" presetID="0" presetClass="path" presetSubtype="0" decel="21000" fill="hold" nodeType="withEffect">
                                  <p:stCondLst>
                                    <p:cond delay="0"/>
                                  </p:stCondLst>
                                  <p:childTnLst>
                                    <p:animMotion origin="layout" path="M -0.31337 -0.46157 L 0.00191 0.0051 " pathEditMode="relative" ptsTypes="AA">
                                      <p:cBhvr>
                                        <p:cTn id="46" dur="750" fill="hold"/>
                                        <p:tgtEl>
                                          <p:spTgt spid="107"/>
                                        </p:tgtEl>
                                        <p:attrNameLst>
                                          <p:attrName>ppt_x</p:attrName>
                                          <p:attrName>ppt_y</p:attrName>
                                        </p:attrNameLst>
                                      </p:cBhvr>
                                    </p:animMotion>
                                  </p:childTnLst>
                                </p:cTn>
                              </p:par>
                              <p:par>
                                <p:cTn id="47" presetID="0" presetClass="path" presetSubtype="0" decel="21000" fill="hold" nodeType="withEffect">
                                  <p:stCondLst>
                                    <p:cond delay="0"/>
                                  </p:stCondLst>
                                  <p:childTnLst>
                                    <p:animMotion origin="layout" path="M -0.76562 -0.44722 L 0.00243 0.00278 " pathEditMode="relative" ptsTypes="AA">
                                      <p:cBhvr>
                                        <p:cTn id="48" dur="750" fill="hold"/>
                                        <p:tgtEl>
                                          <p:spTgt spid="97"/>
                                        </p:tgtEl>
                                        <p:attrNameLst>
                                          <p:attrName>ppt_x</p:attrName>
                                          <p:attrName>ppt_y</p:attrName>
                                        </p:attrNameLst>
                                      </p:cBhvr>
                                    </p:animMotion>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500"/>
                                        <p:tgtEl>
                                          <p:spTgt spid="14"/>
                                        </p:tgtEl>
                                      </p:cBhvr>
                                    </p:animEffect>
                                  </p:childTnLst>
                                </p:cTn>
                              </p:par>
                              <p:par>
                                <p:cTn id="54" presetID="0" presetClass="path" presetSubtype="0" decel="19000" fill="hold" nodeType="withEffect">
                                  <p:stCondLst>
                                    <p:cond delay="0"/>
                                  </p:stCondLst>
                                  <p:childTnLst>
                                    <p:animMotion origin="layout" path="M -0.42013 0.0919 L 0.00209 0.00116 " pathEditMode="relative" ptsTypes="AA">
                                      <p:cBhvr>
                                        <p:cTn id="55" dur="750" fill="hold"/>
                                        <p:tgtEl>
                                          <p:spTgt spid="14"/>
                                        </p:tgtEl>
                                        <p:attrNameLst>
                                          <p:attrName>ppt_x</p:attrName>
                                          <p:attrName>ppt_y</p:attrName>
                                        </p:attrNameLst>
                                      </p:cBhvr>
                                    </p:animMotion>
                                  </p:childTnLst>
                                </p:cTn>
                              </p:par>
                            </p:childTnLst>
                          </p:cTn>
                        </p:par>
                      </p:childTnLst>
                    </p:cTn>
                  </p:par>
                  <p:par>
                    <p:cTn id="56" fill="hold">
                      <p:stCondLst>
                        <p:cond delay="indefinite"/>
                      </p:stCondLst>
                      <p:childTnLst>
                        <p:par>
                          <p:cTn id="57" fill="hold">
                            <p:stCondLst>
                              <p:cond delay="0"/>
                            </p:stCondLst>
                            <p:childTnLst>
                              <p:par>
                                <p:cTn id="58" presetID="10" presetClass="exit" presetSubtype="0" fill="hold" nodeType="clickEffect">
                                  <p:stCondLst>
                                    <p:cond delay="0"/>
                                  </p:stCondLst>
                                  <p:childTnLst>
                                    <p:animEffect transition="out" filter="fade">
                                      <p:cBhvr>
                                        <p:cTn id="59" dur="250"/>
                                        <p:tgtEl>
                                          <p:spTgt spid="9"/>
                                        </p:tgtEl>
                                      </p:cBhvr>
                                    </p:animEffect>
                                    <p:set>
                                      <p:cBhvr>
                                        <p:cTn id="60" dur="1" fill="hold">
                                          <p:stCondLst>
                                            <p:cond delay="249"/>
                                          </p:stCondLst>
                                        </p:cTn>
                                        <p:tgtEl>
                                          <p:spTgt spid="9"/>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111"/>
                                        </p:tgtEl>
                                        <p:attrNameLst>
                                          <p:attrName>style.visibility</p:attrName>
                                        </p:attrNameLst>
                                      </p:cBhvr>
                                      <p:to>
                                        <p:strVal val="visible"/>
                                      </p:to>
                                    </p:set>
                                    <p:animEffect transition="in" filter="fade">
                                      <p:cBhvr>
                                        <p:cTn id="65" dur="500"/>
                                        <p:tgtEl>
                                          <p:spTgt spid="111"/>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wipe(left)">
                                      <p:cBhvr>
                                        <p:cTn id="70" dur="500"/>
                                        <p:tgtEl>
                                          <p:spTgt spid="20"/>
                                        </p:tgtEl>
                                      </p:cBhvr>
                                    </p:animEffect>
                                  </p:childTnLst>
                                </p:cTn>
                              </p:par>
                            </p:childTnLst>
                          </p:cTn>
                        </p:par>
                        <p:par>
                          <p:cTn id="71" fill="hold">
                            <p:stCondLst>
                              <p:cond delay="500"/>
                            </p:stCondLst>
                            <p:childTnLst>
                              <p:par>
                                <p:cTn id="72" presetID="10" presetClass="entr" presetSubtype="0" fill="hold" grpId="0" nodeType="afterEffect">
                                  <p:stCondLst>
                                    <p:cond delay="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500"/>
                                        <p:tgtEl>
                                          <p:spTgt spid="26"/>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2" fill="hold" nodeType="clickEffect">
                                  <p:stCondLst>
                                    <p:cond delay="0"/>
                                  </p:stCondLst>
                                  <p:childTnLst>
                                    <p:set>
                                      <p:cBhvr>
                                        <p:cTn id="78" dur="1" fill="hold">
                                          <p:stCondLst>
                                            <p:cond delay="0"/>
                                          </p:stCondLst>
                                        </p:cTn>
                                        <p:tgtEl>
                                          <p:spTgt spid="21"/>
                                        </p:tgtEl>
                                        <p:attrNameLst>
                                          <p:attrName>style.visibility</p:attrName>
                                        </p:attrNameLst>
                                      </p:cBhvr>
                                      <p:to>
                                        <p:strVal val="visible"/>
                                      </p:to>
                                    </p:set>
                                    <p:animEffect transition="in" filter="wipe(right)">
                                      <p:cBhvr>
                                        <p:cTn id="79" dur="500"/>
                                        <p:tgtEl>
                                          <p:spTgt spid="21"/>
                                        </p:tgtEl>
                                      </p:cBhvr>
                                    </p:animEffect>
                                  </p:childTnLst>
                                </p:cTn>
                              </p:par>
                              <p:par>
                                <p:cTn id="80" presetID="10" presetClass="exit" presetSubtype="0" fill="hold" nodeType="withEffect">
                                  <p:stCondLst>
                                    <p:cond delay="0"/>
                                  </p:stCondLst>
                                  <p:childTnLst>
                                    <p:animEffect transition="out" filter="fade">
                                      <p:cBhvr>
                                        <p:cTn id="81" dur="500"/>
                                        <p:tgtEl>
                                          <p:spTgt spid="20"/>
                                        </p:tgtEl>
                                      </p:cBhvr>
                                    </p:animEffect>
                                    <p:set>
                                      <p:cBhvr>
                                        <p:cTn id="82" dur="1" fill="hold">
                                          <p:stCondLst>
                                            <p:cond delay="499"/>
                                          </p:stCondLst>
                                        </p:cTn>
                                        <p:tgtEl>
                                          <p:spTgt spid="20"/>
                                        </p:tgtEl>
                                        <p:attrNameLst>
                                          <p:attrName>style.visibility</p:attrName>
                                        </p:attrNameLst>
                                      </p:cBhvr>
                                      <p:to>
                                        <p:strVal val="hidden"/>
                                      </p:to>
                                    </p:se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75"/>
                                        </p:tgtEl>
                                        <p:attrNameLst>
                                          <p:attrName>style.visibility</p:attrName>
                                        </p:attrNameLst>
                                      </p:cBhvr>
                                      <p:to>
                                        <p:strVal val="visible"/>
                                      </p:to>
                                    </p:set>
                                    <p:animEffect transition="in" filter="fade">
                                      <p:cBhvr>
                                        <p:cTn id="87" dur="500"/>
                                        <p:tgtEl>
                                          <p:spTgt spid="75"/>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23"/>
                                        </p:tgtEl>
                                        <p:attrNameLst>
                                          <p:attrName>style.visibility</p:attrName>
                                        </p:attrNameLst>
                                      </p:cBhvr>
                                      <p:to>
                                        <p:strVal val="visible"/>
                                      </p:to>
                                    </p:set>
                                    <p:animEffect transition="in" filter="wipe(left)">
                                      <p:cBhvr>
                                        <p:cTn id="92" dur="750"/>
                                        <p:tgtEl>
                                          <p:spTgt spid="23"/>
                                        </p:tgtEl>
                                      </p:cBhvr>
                                    </p:animEffect>
                                  </p:childTnLst>
                                </p:cTn>
                              </p:par>
                              <p:par>
                                <p:cTn id="93" presetID="10" presetClass="exit" presetSubtype="0" fill="hold" nodeType="withEffect">
                                  <p:stCondLst>
                                    <p:cond delay="0"/>
                                  </p:stCondLst>
                                  <p:childTnLst>
                                    <p:animEffect transition="out" filter="fade">
                                      <p:cBhvr>
                                        <p:cTn id="94" dur="500"/>
                                        <p:tgtEl>
                                          <p:spTgt spid="21"/>
                                        </p:tgtEl>
                                      </p:cBhvr>
                                    </p:animEffect>
                                    <p:set>
                                      <p:cBhvr>
                                        <p:cTn id="95" dur="1" fill="hold">
                                          <p:stCondLst>
                                            <p:cond delay="499"/>
                                          </p:stCondLst>
                                        </p:cTn>
                                        <p:tgtEl>
                                          <p:spTgt spid="21"/>
                                        </p:tgtEl>
                                        <p:attrNameLst>
                                          <p:attrName>style.visibility</p:attrName>
                                        </p:attrNameLst>
                                      </p:cBhvr>
                                      <p:to>
                                        <p:strVal val="hidden"/>
                                      </p:to>
                                    </p:set>
                                  </p:childTnLst>
                                </p:cTn>
                              </p:par>
                            </p:childTnLst>
                          </p:cTn>
                        </p:par>
                        <p:par>
                          <p:cTn id="96" fill="hold">
                            <p:stCondLst>
                              <p:cond delay="750"/>
                            </p:stCondLst>
                            <p:childTnLst>
                              <p:par>
                                <p:cTn id="97" presetID="10" presetClass="entr" presetSubtype="0" fill="hold" grpId="0" nodeType="afterEffect">
                                  <p:stCondLst>
                                    <p:cond delay="0"/>
                                  </p:stCondLst>
                                  <p:childTnLst>
                                    <p:set>
                                      <p:cBhvr>
                                        <p:cTn id="98" dur="1" fill="hold">
                                          <p:stCondLst>
                                            <p:cond delay="0"/>
                                          </p:stCondLst>
                                        </p:cTn>
                                        <p:tgtEl>
                                          <p:spTgt spid="135"/>
                                        </p:tgtEl>
                                        <p:attrNameLst>
                                          <p:attrName>style.visibility</p:attrName>
                                        </p:attrNameLst>
                                      </p:cBhvr>
                                      <p:to>
                                        <p:strVal val="visible"/>
                                      </p:to>
                                    </p:set>
                                    <p:animEffect transition="in" filter="fade">
                                      <p:cBhvr>
                                        <p:cTn id="99" dur="500"/>
                                        <p:tgtEl>
                                          <p:spTgt spid="135"/>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2" fill="hold" nodeType="clickEffect">
                                  <p:stCondLst>
                                    <p:cond delay="0"/>
                                  </p:stCondLst>
                                  <p:childTnLst>
                                    <p:set>
                                      <p:cBhvr>
                                        <p:cTn id="103" dur="1" fill="hold">
                                          <p:stCondLst>
                                            <p:cond delay="0"/>
                                          </p:stCondLst>
                                        </p:cTn>
                                        <p:tgtEl>
                                          <p:spTgt spid="24"/>
                                        </p:tgtEl>
                                        <p:attrNameLst>
                                          <p:attrName>style.visibility</p:attrName>
                                        </p:attrNameLst>
                                      </p:cBhvr>
                                      <p:to>
                                        <p:strVal val="visible"/>
                                      </p:to>
                                    </p:set>
                                    <p:animEffect transition="in" filter="wipe(right)">
                                      <p:cBhvr>
                                        <p:cTn id="104" dur="750"/>
                                        <p:tgtEl>
                                          <p:spTgt spid="24"/>
                                        </p:tgtEl>
                                      </p:cBhvr>
                                    </p:animEffect>
                                  </p:childTnLst>
                                </p:cTn>
                              </p:par>
                              <p:par>
                                <p:cTn id="105" presetID="10" presetClass="exit" presetSubtype="0" fill="hold" nodeType="withEffect">
                                  <p:stCondLst>
                                    <p:cond delay="0"/>
                                  </p:stCondLst>
                                  <p:childTnLst>
                                    <p:animEffect transition="out" filter="fade">
                                      <p:cBhvr>
                                        <p:cTn id="106" dur="500"/>
                                        <p:tgtEl>
                                          <p:spTgt spid="23"/>
                                        </p:tgtEl>
                                      </p:cBhvr>
                                    </p:animEffect>
                                    <p:set>
                                      <p:cBhvr>
                                        <p:cTn id="107" dur="1" fill="hold">
                                          <p:stCondLst>
                                            <p:cond delay="499"/>
                                          </p:stCondLst>
                                        </p:cTn>
                                        <p:tgtEl>
                                          <p:spTgt spid="2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9" grpId="0"/>
      <p:bldP spid="4" grpId="0" animBg="1"/>
      <p:bldP spid="26" grpId="0" animBg="1"/>
      <p:bldP spid="135"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20"/>
          <p:cNvGrpSpPr/>
          <p:nvPr/>
        </p:nvGrpSpPr>
        <p:grpSpPr>
          <a:xfrm>
            <a:off x="943079" y="5310736"/>
            <a:ext cx="5248685" cy="830997"/>
            <a:chOff x="6111613" y="1793877"/>
            <a:chExt cx="5248685" cy="830997"/>
          </a:xfrm>
        </p:grpSpPr>
        <p:sp>
          <p:nvSpPr>
            <p:cNvPr id="117" name="Freeform 116"/>
            <p:cNvSpPr/>
            <p:nvPr/>
          </p:nvSpPr>
          <p:spPr>
            <a:xfrm>
              <a:off x="6111613" y="1817720"/>
              <a:ext cx="354246" cy="413979"/>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0" name="Rectangle 9"/>
            <p:cNvSpPr/>
            <p:nvPr/>
          </p:nvSpPr>
          <p:spPr>
            <a:xfrm>
              <a:off x="6583093" y="1793877"/>
              <a:ext cx="4777205" cy="830997"/>
            </a:xfrm>
            <a:prstGeom prst="rect">
              <a:avLst/>
            </a:prstGeom>
          </p:spPr>
          <p:txBody>
            <a:bodyPr wrap="none">
              <a:spAutoFit/>
            </a:bodyPr>
            <a:lstStyle/>
            <a:p>
              <a:r>
                <a:rPr lang="en-US" sz="2400" dirty="0"/>
                <a:t>Client Workload </a:t>
              </a:r>
              <a:r>
                <a:rPr lang="en-US" sz="2400" dirty="0" smtClean="0"/>
                <a:t>Generator</a:t>
              </a:r>
            </a:p>
            <a:p>
              <a:pPr marL="342900" indent="-342900">
                <a:buFont typeface="Arial" panose="020B0604020202020204" pitchFamily="34" charset="0"/>
                <a:buChar char="•"/>
              </a:pPr>
              <a:r>
                <a:rPr lang="en-US" sz="2400" dirty="0" smtClean="0"/>
                <a:t>Randomly read from large dataset</a:t>
              </a:r>
              <a:endParaRPr lang="en-US" sz="2400" dirty="0"/>
            </a:p>
          </p:txBody>
        </p:sp>
      </p:grpSp>
      <p:grpSp>
        <p:nvGrpSpPr>
          <p:cNvPr id="12" name="Group 11"/>
          <p:cNvGrpSpPr/>
          <p:nvPr/>
        </p:nvGrpSpPr>
        <p:grpSpPr>
          <a:xfrm>
            <a:off x="788530" y="6227331"/>
            <a:ext cx="2799546" cy="480119"/>
            <a:chOff x="5952923" y="2454637"/>
            <a:chExt cx="2799546" cy="480119"/>
          </a:xfrm>
        </p:grpSpPr>
        <p:sp>
          <p:nvSpPr>
            <p:cNvPr id="120" name="Rectangle 119"/>
            <p:cNvSpPr/>
            <p:nvPr/>
          </p:nvSpPr>
          <p:spPr>
            <a:xfrm>
              <a:off x="6583093" y="2463864"/>
              <a:ext cx="2169376" cy="461665"/>
            </a:xfrm>
            <a:prstGeom prst="rect">
              <a:avLst/>
            </a:prstGeom>
          </p:spPr>
          <p:txBody>
            <a:bodyPr wrap="none">
              <a:spAutoFit/>
            </a:bodyPr>
            <a:lstStyle/>
            <a:p>
              <a:r>
                <a:rPr lang="en-US" sz="2400" dirty="0" smtClean="0"/>
                <a:t>HDFS </a:t>
              </a:r>
              <a:r>
                <a:rPr lang="en-US" sz="2400" dirty="0" err="1" smtClean="0"/>
                <a:t>DataNode</a:t>
              </a:r>
              <a:endParaRPr lang="en-US" sz="2400" dirty="0"/>
            </a:p>
          </p:txBody>
        </p:sp>
        <p:pic>
          <p:nvPicPr>
            <p:cNvPr id="121" name="Picture 2" descr="https://cloud.google.com/hadoop/images/hadoop-elephant.png"/>
            <p:cNvPicPr>
              <a:picLocks noChangeAspect="1" noChangeArrowheads="1"/>
            </p:cNvPicPr>
            <p:nvPr/>
          </p:nvPicPr>
          <p:blipFill>
            <a:blip r:embed="rId3"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952923" y="2454637"/>
              <a:ext cx="671626" cy="480119"/>
            </a:xfrm>
            <a:prstGeom prst="rect">
              <a:avLst/>
            </a:prstGeom>
            <a:noFill/>
            <a:extLst>
              <a:ext uri="{909E8E84-426E-40DD-AFC4-6F175D3DCCD1}">
                <a14:hiddenFill xmlns:a14="http://schemas.microsoft.com/office/drawing/2010/main">
                  <a:solidFill>
                    <a:srgbClr val="FFFFFF"/>
                  </a:solidFill>
                </a14:hiddenFill>
              </a:ext>
            </a:extLst>
          </p:spPr>
        </p:pic>
      </p:grpSp>
      <p:sp>
        <p:nvSpPr>
          <p:cNvPr id="31" name="TextBox 30"/>
          <p:cNvSpPr txBox="1"/>
          <p:nvPr/>
        </p:nvSpPr>
        <p:spPr>
          <a:xfrm>
            <a:off x="1652183" y="4786339"/>
            <a:ext cx="2132443" cy="461665"/>
          </a:xfrm>
          <a:prstGeom prst="rect">
            <a:avLst/>
          </a:prstGeom>
          <a:noFill/>
        </p:spPr>
        <p:txBody>
          <a:bodyPr wrap="none" rtlCol="0">
            <a:spAutoFit/>
          </a:bodyPr>
          <a:lstStyle/>
          <a:p>
            <a:pPr algn="ctr"/>
            <a:r>
              <a:rPr lang="en-US" sz="2400" b="1" dirty="0" smtClean="0"/>
              <a:t>8 Worker Hosts</a:t>
            </a:r>
            <a:endParaRPr lang="en-US" sz="2400" dirty="0"/>
          </a:p>
        </p:txBody>
      </p:sp>
      <p:sp>
        <p:nvSpPr>
          <p:cNvPr id="133" name="Right Brace 132"/>
          <p:cNvSpPr/>
          <p:nvPr/>
        </p:nvSpPr>
        <p:spPr>
          <a:xfrm rot="5400000">
            <a:off x="2838674" y="1858628"/>
            <a:ext cx="365521" cy="5362882"/>
          </a:xfrm>
          <a:prstGeom prst="rightBrace">
            <a:avLst>
              <a:gd name="adj1" fmla="val 117778"/>
              <a:gd name="adj2" fmla="val 54239"/>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134" name="Group 133"/>
          <p:cNvGrpSpPr/>
          <p:nvPr/>
        </p:nvGrpSpPr>
        <p:grpSpPr>
          <a:xfrm>
            <a:off x="6951026" y="1634863"/>
            <a:ext cx="917575" cy="1485901"/>
            <a:chOff x="434975" y="1034688"/>
            <a:chExt cx="917575" cy="1485901"/>
          </a:xfrm>
        </p:grpSpPr>
        <p:sp>
          <p:nvSpPr>
            <p:cNvPr id="135" name="Rounded Rectangle 134"/>
            <p:cNvSpPr/>
            <p:nvPr/>
          </p:nvSpPr>
          <p:spPr>
            <a:xfrm>
              <a:off x="434975" y="1034688"/>
              <a:ext cx="917575" cy="1485901"/>
            </a:xfrm>
            <a:prstGeom prst="roundRect">
              <a:avLst>
                <a:gd name="adj" fmla="val 3932"/>
              </a:avLst>
            </a:prstGeom>
            <a:solidFill>
              <a:schemeClr val="bg1"/>
            </a:solidFill>
            <a:ln w="28575">
              <a:solidFill>
                <a:schemeClr val="bg1">
                  <a:lumMod val="65000"/>
                </a:schemeClr>
              </a:solidFill>
              <a:prstDash val="soli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38" name="Rounded Rectangle 137"/>
            <p:cNvSpPr/>
            <p:nvPr/>
          </p:nvSpPr>
          <p:spPr>
            <a:xfrm>
              <a:off x="542780" y="1200722"/>
              <a:ext cx="682915" cy="596681"/>
            </a:xfrm>
            <a:prstGeom prst="roundRect">
              <a:avLst/>
            </a:prstGeom>
            <a:solidFill>
              <a:srgbClr val="D0CECE"/>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160" dirty="0">
                <a:solidFill>
                  <a:schemeClr val="tx1"/>
                </a:solidFill>
              </a:endParaRPr>
            </a:p>
          </p:txBody>
        </p:sp>
        <p:pic>
          <p:nvPicPr>
            <p:cNvPr id="139" name="Picture 2" descr="https://cloud.google.com/hadoop/images/hadoop-elephant.png"/>
            <p:cNvPicPr>
              <a:picLocks noChangeAspect="1" noChangeArrowheads="1"/>
            </p:cNvPicPr>
            <p:nvPr/>
          </p:nvPicPr>
          <p:blipFill>
            <a:blip r:embed="rId3" cstate="print">
              <a:biLevel thresh="75000"/>
              <a:extLst>
                <a:ext uri="{28A0092B-C50C-407E-A947-70E740481C1C}">
                  <a14:useLocalDpi xmlns:a14="http://schemas.microsoft.com/office/drawing/2010/main" val="0"/>
                </a:ext>
              </a:extLst>
            </a:blip>
            <a:srcRect/>
            <a:stretch>
              <a:fillRect/>
            </a:stretch>
          </p:blipFill>
          <p:spPr bwMode="auto">
            <a:xfrm>
              <a:off x="522475" y="1235564"/>
              <a:ext cx="723524" cy="517219"/>
            </a:xfrm>
            <a:prstGeom prst="rect">
              <a:avLst/>
            </a:prstGeom>
            <a:noFill/>
            <a:ln w="28575">
              <a:noFill/>
            </a:ln>
            <a:extLst>
              <a:ext uri="{909E8E84-426E-40DD-AFC4-6F175D3DCCD1}">
                <a14:hiddenFill xmlns:a14="http://schemas.microsoft.com/office/drawing/2010/main">
                  <a:solidFill>
                    <a:srgbClr val="FFFFFF"/>
                  </a:solidFill>
                </a14:hiddenFill>
              </a:ext>
            </a:extLst>
          </p:spPr>
        </p:pic>
      </p:grpSp>
      <p:sp>
        <p:nvSpPr>
          <p:cNvPr id="140" name="Right Brace 139"/>
          <p:cNvSpPr/>
          <p:nvPr/>
        </p:nvSpPr>
        <p:spPr>
          <a:xfrm rot="5400000">
            <a:off x="7227054" y="2892244"/>
            <a:ext cx="365521" cy="1276350"/>
          </a:xfrm>
          <a:prstGeom prst="rightBrace">
            <a:avLst>
              <a:gd name="adj1" fmla="val 117778"/>
              <a:gd name="adj2" fmla="val 54239"/>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1" name="TextBox 140"/>
          <p:cNvSpPr txBox="1"/>
          <p:nvPr/>
        </p:nvSpPr>
        <p:spPr>
          <a:xfrm>
            <a:off x="6102913" y="3776688"/>
            <a:ext cx="2594749" cy="461665"/>
          </a:xfrm>
          <a:prstGeom prst="rect">
            <a:avLst/>
          </a:prstGeom>
          <a:noFill/>
        </p:spPr>
        <p:txBody>
          <a:bodyPr wrap="none" rtlCol="0">
            <a:spAutoFit/>
          </a:bodyPr>
          <a:lstStyle/>
          <a:p>
            <a:pPr algn="ctr"/>
            <a:r>
              <a:rPr lang="en-US" sz="2400" dirty="0" smtClean="0"/>
              <a:t>+ HDFS </a:t>
            </a:r>
            <a:r>
              <a:rPr lang="en-US" sz="2400" dirty="0" err="1" smtClean="0"/>
              <a:t>NameNode</a:t>
            </a:r>
            <a:endParaRPr lang="en-US" sz="2400" dirty="0"/>
          </a:p>
        </p:txBody>
      </p:sp>
      <p:grpSp>
        <p:nvGrpSpPr>
          <p:cNvPr id="290" name="Group 289"/>
          <p:cNvGrpSpPr/>
          <p:nvPr/>
        </p:nvGrpSpPr>
        <p:grpSpPr>
          <a:xfrm>
            <a:off x="428430" y="133350"/>
            <a:ext cx="5085176" cy="3948158"/>
            <a:chOff x="428430" y="304800"/>
            <a:chExt cx="5085176" cy="3948158"/>
          </a:xfrm>
        </p:grpSpPr>
        <p:grpSp>
          <p:nvGrpSpPr>
            <p:cNvPr id="217" name="Group 216"/>
            <p:cNvGrpSpPr/>
            <p:nvPr/>
          </p:nvGrpSpPr>
          <p:grpSpPr>
            <a:xfrm>
              <a:off x="428430" y="304800"/>
              <a:ext cx="1025987" cy="1778880"/>
              <a:chOff x="428430" y="457200"/>
              <a:chExt cx="1025987" cy="1778880"/>
            </a:xfrm>
          </p:grpSpPr>
          <p:sp>
            <p:nvSpPr>
              <p:cNvPr id="14" name="Rounded Rectangle 13"/>
              <p:cNvSpPr/>
              <p:nvPr/>
            </p:nvSpPr>
            <p:spPr>
              <a:xfrm>
                <a:off x="482636" y="457200"/>
                <a:ext cx="917575" cy="1730365"/>
              </a:xfrm>
              <a:prstGeom prst="roundRect">
                <a:avLst>
                  <a:gd name="adj" fmla="val 3932"/>
                </a:avLst>
              </a:prstGeom>
              <a:solidFill>
                <a:schemeClr val="bg1"/>
              </a:solidFill>
              <a:ln w="28575">
                <a:solidFill>
                  <a:schemeClr val="bg1">
                    <a:lumMod val="65000"/>
                  </a:schemeClr>
                </a:solidFill>
                <a:prstDash val="soli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nvGrpSpPr>
              <p:cNvPr id="215" name="Group 214"/>
              <p:cNvGrpSpPr/>
              <p:nvPr/>
            </p:nvGrpSpPr>
            <p:grpSpPr>
              <a:xfrm>
                <a:off x="601691" y="519685"/>
                <a:ext cx="679465" cy="596681"/>
                <a:chOff x="595831" y="519685"/>
                <a:chExt cx="679465" cy="596681"/>
              </a:xfrm>
            </p:grpSpPr>
            <p:sp>
              <p:nvSpPr>
                <p:cNvPr id="19" name="Rounded Rectangle 18"/>
                <p:cNvSpPr/>
                <p:nvPr/>
              </p:nvSpPr>
              <p:spPr>
                <a:xfrm>
                  <a:off x="595831" y="519685"/>
                  <a:ext cx="679465" cy="596681"/>
                </a:xfrm>
                <a:prstGeom prst="roundRect">
                  <a:avLst/>
                </a:prstGeom>
                <a:solidFill>
                  <a:srgbClr val="D0CECE"/>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160" dirty="0">
                    <a:solidFill>
                      <a:schemeClr val="tx1"/>
                    </a:solidFill>
                  </a:endParaRPr>
                </a:p>
              </p:txBody>
            </p:sp>
            <p:sp>
              <p:nvSpPr>
                <p:cNvPr id="20" name="Freeform 19"/>
                <p:cNvSpPr/>
                <p:nvPr/>
              </p:nvSpPr>
              <p:spPr>
                <a:xfrm>
                  <a:off x="739014" y="588334"/>
                  <a:ext cx="393099" cy="459383"/>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tx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grpSp>
            <p:nvGrpSpPr>
              <p:cNvPr id="216" name="Group 215"/>
              <p:cNvGrpSpPr/>
              <p:nvPr/>
            </p:nvGrpSpPr>
            <p:grpSpPr>
              <a:xfrm>
                <a:off x="579661" y="1201119"/>
                <a:ext cx="723524" cy="596681"/>
                <a:chOff x="573801" y="1201119"/>
                <a:chExt cx="723524" cy="596681"/>
              </a:xfrm>
            </p:grpSpPr>
            <p:sp>
              <p:nvSpPr>
                <p:cNvPr id="17" name="Rounded Rectangle 16"/>
                <p:cNvSpPr/>
                <p:nvPr/>
              </p:nvSpPr>
              <p:spPr>
                <a:xfrm>
                  <a:off x="594106" y="1201119"/>
                  <a:ext cx="682915" cy="596681"/>
                </a:xfrm>
                <a:prstGeom prst="roundRect">
                  <a:avLst/>
                </a:prstGeom>
                <a:solidFill>
                  <a:srgbClr val="D0CECE"/>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160" dirty="0">
                    <a:solidFill>
                      <a:schemeClr val="tx1"/>
                    </a:solidFill>
                  </a:endParaRPr>
                </a:p>
              </p:txBody>
            </p:sp>
            <p:pic>
              <p:nvPicPr>
                <p:cNvPr id="18" name="Picture 2" descr="https://cloud.google.com/hadoop/images/hadoop-elephant.png"/>
                <p:cNvPicPr>
                  <a:picLocks noChangeAspect="1" noChangeArrowheads="1"/>
                </p:cNvPicPr>
                <p:nvPr/>
              </p:nvPicPr>
              <p:blipFill>
                <a:blip r:embed="rId3"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73801" y="1240850"/>
                  <a:ext cx="723524" cy="517219"/>
                </a:xfrm>
                <a:prstGeom prst="rect">
                  <a:avLst/>
                </a:prstGeom>
                <a:noFill/>
                <a:ln w="28575">
                  <a:noFill/>
                </a:ln>
                <a:extLst>
                  <a:ext uri="{909E8E84-426E-40DD-AFC4-6F175D3DCCD1}">
                    <a14:hiddenFill xmlns:a14="http://schemas.microsoft.com/office/drawing/2010/main">
                      <a:solidFill>
                        <a:srgbClr val="FFFFFF"/>
                      </a:solidFill>
                    </a14:hiddenFill>
                  </a:ext>
                </a:extLst>
              </p:spPr>
            </p:pic>
          </p:grpSp>
          <p:sp>
            <p:nvSpPr>
              <p:cNvPr id="214" name="TextBox 213"/>
              <p:cNvSpPr txBox="1"/>
              <p:nvPr/>
            </p:nvSpPr>
            <p:spPr>
              <a:xfrm>
                <a:off x="428430" y="1774415"/>
                <a:ext cx="1025987" cy="461665"/>
              </a:xfrm>
              <a:prstGeom prst="rect">
                <a:avLst/>
              </a:prstGeom>
              <a:noFill/>
            </p:spPr>
            <p:txBody>
              <a:bodyPr wrap="none" rtlCol="0">
                <a:spAutoFit/>
              </a:bodyPr>
              <a:lstStyle/>
              <a:p>
                <a:r>
                  <a:rPr lang="en-US" sz="2400" b="1" dirty="0" smtClean="0">
                    <a:solidFill>
                      <a:srgbClr val="404040"/>
                    </a:solidFill>
                  </a:rPr>
                  <a:t>Host A</a:t>
                </a:r>
                <a:endParaRPr lang="en-US" b="1" dirty="0">
                  <a:solidFill>
                    <a:srgbClr val="404040"/>
                  </a:solidFill>
                </a:endParaRPr>
              </a:p>
            </p:txBody>
          </p:sp>
        </p:grpSp>
        <p:grpSp>
          <p:nvGrpSpPr>
            <p:cNvPr id="218" name="Group 217"/>
            <p:cNvGrpSpPr/>
            <p:nvPr/>
          </p:nvGrpSpPr>
          <p:grpSpPr>
            <a:xfrm>
              <a:off x="1777889" y="304800"/>
              <a:ext cx="1025987" cy="1778880"/>
              <a:chOff x="428430" y="457200"/>
              <a:chExt cx="1025987" cy="1778880"/>
            </a:xfrm>
          </p:grpSpPr>
          <p:sp>
            <p:nvSpPr>
              <p:cNvPr id="219" name="Rounded Rectangle 218"/>
              <p:cNvSpPr/>
              <p:nvPr/>
            </p:nvSpPr>
            <p:spPr>
              <a:xfrm>
                <a:off x="482636" y="457200"/>
                <a:ext cx="917575" cy="1730365"/>
              </a:xfrm>
              <a:prstGeom prst="roundRect">
                <a:avLst>
                  <a:gd name="adj" fmla="val 3932"/>
                </a:avLst>
              </a:prstGeom>
              <a:solidFill>
                <a:schemeClr val="bg1"/>
              </a:solidFill>
              <a:ln w="28575">
                <a:solidFill>
                  <a:schemeClr val="bg1">
                    <a:lumMod val="65000"/>
                  </a:schemeClr>
                </a:solidFill>
                <a:prstDash val="soli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nvGrpSpPr>
              <p:cNvPr id="220" name="Group 219"/>
              <p:cNvGrpSpPr/>
              <p:nvPr/>
            </p:nvGrpSpPr>
            <p:grpSpPr>
              <a:xfrm>
                <a:off x="601691" y="519685"/>
                <a:ext cx="679465" cy="596681"/>
                <a:chOff x="595831" y="519685"/>
                <a:chExt cx="679465" cy="596681"/>
              </a:xfrm>
            </p:grpSpPr>
            <p:sp>
              <p:nvSpPr>
                <p:cNvPr id="225" name="Rounded Rectangle 224"/>
                <p:cNvSpPr/>
                <p:nvPr/>
              </p:nvSpPr>
              <p:spPr>
                <a:xfrm>
                  <a:off x="595831" y="519685"/>
                  <a:ext cx="679465" cy="596681"/>
                </a:xfrm>
                <a:prstGeom prst="roundRect">
                  <a:avLst/>
                </a:prstGeom>
                <a:solidFill>
                  <a:srgbClr val="D0CECE"/>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160" dirty="0">
                    <a:solidFill>
                      <a:schemeClr val="tx1"/>
                    </a:solidFill>
                  </a:endParaRPr>
                </a:p>
              </p:txBody>
            </p:sp>
            <p:sp>
              <p:nvSpPr>
                <p:cNvPr id="226" name="Freeform 225"/>
                <p:cNvSpPr/>
                <p:nvPr/>
              </p:nvSpPr>
              <p:spPr>
                <a:xfrm>
                  <a:off x="739014" y="588334"/>
                  <a:ext cx="393099" cy="459383"/>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tx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grpSp>
            <p:nvGrpSpPr>
              <p:cNvPr id="221" name="Group 220"/>
              <p:cNvGrpSpPr/>
              <p:nvPr/>
            </p:nvGrpSpPr>
            <p:grpSpPr>
              <a:xfrm>
                <a:off x="579661" y="1201119"/>
                <a:ext cx="723524" cy="596681"/>
                <a:chOff x="573801" y="1201119"/>
                <a:chExt cx="723524" cy="596681"/>
              </a:xfrm>
            </p:grpSpPr>
            <p:sp>
              <p:nvSpPr>
                <p:cNvPr id="223" name="Rounded Rectangle 222"/>
                <p:cNvSpPr/>
                <p:nvPr/>
              </p:nvSpPr>
              <p:spPr>
                <a:xfrm>
                  <a:off x="594106" y="1201119"/>
                  <a:ext cx="682915" cy="596681"/>
                </a:xfrm>
                <a:prstGeom prst="roundRect">
                  <a:avLst/>
                </a:prstGeom>
                <a:solidFill>
                  <a:srgbClr val="D0CECE"/>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160" dirty="0">
                    <a:solidFill>
                      <a:schemeClr val="tx1"/>
                    </a:solidFill>
                  </a:endParaRPr>
                </a:p>
              </p:txBody>
            </p:sp>
            <p:pic>
              <p:nvPicPr>
                <p:cNvPr id="224" name="Picture 2" descr="https://cloud.google.com/hadoop/images/hadoop-elephant.png"/>
                <p:cNvPicPr>
                  <a:picLocks noChangeAspect="1" noChangeArrowheads="1"/>
                </p:cNvPicPr>
                <p:nvPr/>
              </p:nvPicPr>
              <p:blipFill>
                <a:blip r:embed="rId3"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73801" y="1240850"/>
                  <a:ext cx="723524" cy="517219"/>
                </a:xfrm>
                <a:prstGeom prst="rect">
                  <a:avLst/>
                </a:prstGeom>
                <a:noFill/>
                <a:ln w="28575">
                  <a:noFill/>
                </a:ln>
                <a:extLst>
                  <a:ext uri="{909E8E84-426E-40DD-AFC4-6F175D3DCCD1}">
                    <a14:hiddenFill xmlns:a14="http://schemas.microsoft.com/office/drawing/2010/main">
                      <a:solidFill>
                        <a:srgbClr val="FFFFFF"/>
                      </a:solidFill>
                    </a14:hiddenFill>
                  </a:ext>
                </a:extLst>
              </p:spPr>
            </p:pic>
          </p:grpSp>
          <p:sp>
            <p:nvSpPr>
              <p:cNvPr id="222" name="TextBox 221"/>
              <p:cNvSpPr txBox="1"/>
              <p:nvPr/>
            </p:nvSpPr>
            <p:spPr>
              <a:xfrm>
                <a:off x="428430" y="1774415"/>
                <a:ext cx="1025987" cy="461665"/>
              </a:xfrm>
              <a:prstGeom prst="rect">
                <a:avLst/>
              </a:prstGeom>
              <a:noFill/>
            </p:spPr>
            <p:txBody>
              <a:bodyPr wrap="none" rtlCol="0">
                <a:spAutoFit/>
              </a:bodyPr>
              <a:lstStyle/>
              <a:p>
                <a:r>
                  <a:rPr lang="en-US" sz="2400" b="1" dirty="0" smtClean="0">
                    <a:solidFill>
                      <a:srgbClr val="979494"/>
                    </a:solidFill>
                  </a:rPr>
                  <a:t>Host B</a:t>
                </a:r>
                <a:endParaRPr lang="en-US" b="1" dirty="0">
                  <a:solidFill>
                    <a:srgbClr val="979494"/>
                  </a:solidFill>
                </a:endParaRPr>
              </a:p>
            </p:txBody>
          </p:sp>
        </p:grpSp>
        <p:grpSp>
          <p:nvGrpSpPr>
            <p:cNvPr id="227" name="Group 226"/>
            <p:cNvGrpSpPr/>
            <p:nvPr/>
          </p:nvGrpSpPr>
          <p:grpSpPr>
            <a:xfrm>
              <a:off x="3127348" y="304800"/>
              <a:ext cx="1025987" cy="1778880"/>
              <a:chOff x="428430" y="457200"/>
              <a:chExt cx="1025987" cy="1778880"/>
            </a:xfrm>
          </p:grpSpPr>
          <p:sp>
            <p:nvSpPr>
              <p:cNvPr id="228" name="Rounded Rectangle 227"/>
              <p:cNvSpPr/>
              <p:nvPr/>
            </p:nvSpPr>
            <p:spPr>
              <a:xfrm>
                <a:off x="482636" y="457200"/>
                <a:ext cx="917575" cy="1730365"/>
              </a:xfrm>
              <a:prstGeom prst="roundRect">
                <a:avLst>
                  <a:gd name="adj" fmla="val 3932"/>
                </a:avLst>
              </a:prstGeom>
              <a:solidFill>
                <a:schemeClr val="bg1"/>
              </a:solidFill>
              <a:ln w="28575">
                <a:solidFill>
                  <a:schemeClr val="bg1">
                    <a:lumMod val="65000"/>
                  </a:schemeClr>
                </a:solidFill>
                <a:prstDash val="soli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nvGrpSpPr>
              <p:cNvPr id="229" name="Group 228"/>
              <p:cNvGrpSpPr/>
              <p:nvPr/>
            </p:nvGrpSpPr>
            <p:grpSpPr>
              <a:xfrm>
                <a:off x="601691" y="519685"/>
                <a:ext cx="679465" cy="596681"/>
                <a:chOff x="595831" y="519685"/>
                <a:chExt cx="679465" cy="596681"/>
              </a:xfrm>
            </p:grpSpPr>
            <p:sp>
              <p:nvSpPr>
                <p:cNvPr id="234" name="Rounded Rectangle 233"/>
                <p:cNvSpPr/>
                <p:nvPr/>
              </p:nvSpPr>
              <p:spPr>
                <a:xfrm>
                  <a:off x="595831" y="519685"/>
                  <a:ext cx="679465" cy="596681"/>
                </a:xfrm>
                <a:prstGeom prst="roundRect">
                  <a:avLst/>
                </a:prstGeom>
                <a:solidFill>
                  <a:srgbClr val="D0CECE"/>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160" dirty="0">
                    <a:solidFill>
                      <a:schemeClr val="tx1"/>
                    </a:solidFill>
                  </a:endParaRPr>
                </a:p>
              </p:txBody>
            </p:sp>
            <p:sp>
              <p:nvSpPr>
                <p:cNvPr id="235" name="Freeform 234"/>
                <p:cNvSpPr/>
                <p:nvPr/>
              </p:nvSpPr>
              <p:spPr>
                <a:xfrm>
                  <a:off x="739014" y="588334"/>
                  <a:ext cx="393099" cy="459383"/>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tx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grpSp>
            <p:nvGrpSpPr>
              <p:cNvPr id="230" name="Group 229"/>
              <p:cNvGrpSpPr/>
              <p:nvPr/>
            </p:nvGrpSpPr>
            <p:grpSpPr>
              <a:xfrm>
                <a:off x="579661" y="1201119"/>
                <a:ext cx="723524" cy="596681"/>
                <a:chOff x="573801" y="1201119"/>
                <a:chExt cx="723524" cy="596681"/>
              </a:xfrm>
            </p:grpSpPr>
            <p:sp>
              <p:nvSpPr>
                <p:cNvPr id="232" name="Rounded Rectangle 231"/>
                <p:cNvSpPr/>
                <p:nvPr/>
              </p:nvSpPr>
              <p:spPr>
                <a:xfrm>
                  <a:off x="594106" y="1201119"/>
                  <a:ext cx="682915" cy="596681"/>
                </a:xfrm>
                <a:prstGeom prst="roundRect">
                  <a:avLst/>
                </a:prstGeom>
                <a:solidFill>
                  <a:srgbClr val="D0CECE"/>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160" dirty="0">
                    <a:solidFill>
                      <a:schemeClr val="tx1"/>
                    </a:solidFill>
                  </a:endParaRPr>
                </a:p>
              </p:txBody>
            </p:sp>
            <p:pic>
              <p:nvPicPr>
                <p:cNvPr id="233" name="Picture 2" descr="https://cloud.google.com/hadoop/images/hadoop-elephant.png"/>
                <p:cNvPicPr>
                  <a:picLocks noChangeAspect="1" noChangeArrowheads="1"/>
                </p:cNvPicPr>
                <p:nvPr/>
              </p:nvPicPr>
              <p:blipFill>
                <a:blip r:embed="rId3"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73801" y="1240850"/>
                  <a:ext cx="723524" cy="517219"/>
                </a:xfrm>
                <a:prstGeom prst="rect">
                  <a:avLst/>
                </a:prstGeom>
                <a:noFill/>
                <a:ln w="28575">
                  <a:noFill/>
                </a:ln>
                <a:extLst>
                  <a:ext uri="{909E8E84-426E-40DD-AFC4-6F175D3DCCD1}">
                    <a14:hiddenFill xmlns:a14="http://schemas.microsoft.com/office/drawing/2010/main">
                      <a:solidFill>
                        <a:srgbClr val="FFFFFF"/>
                      </a:solidFill>
                    </a14:hiddenFill>
                  </a:ext>
                </a:extLst>
              </p:spPr>
            </p:pic>
          </p:grpSp>
          <p:sp>
            <p:nvSpPr>
              <p:cNvPr id="231" name="TextBox 230"/>
              <p:cNvSpPr txBox="1"/>
              <p:nvPr/>
            </p:nvSpPr>
            <p:spPr>
              <a:xfrm>
                <a:off x="428430" y="1774415"/>
                <a:ext cx="1025987" cy="461665"/>
              </a:xfrm>
              <a:prstGeom prst="rect">
                <a:avLst/>
              </a:prstGeom>
              <a:noFill/>
            </p:spPr>
            <p:txBody>
              <a:bodyPr wrap="none" rtlCol="0">
                <a:spAutoFit/>
              </a:bodyPr>
              <a:lstStyle/>
              <a:p>
                <a:r>
                  <a:rPr lang="en-US" sz="2400" b="1" dirty="0" smtClean="0">
                    <a:solidFill>
                      <a:srgbClr val="C19D85"/>
                    </a:solidFill>
                  </a:rPr>
                  <a:t>Host C</a:t>
                </a:r>
                <a:endParaRPr lang="en-US" b="1" dirty="0">
                  <a:solidFill>
                    <a:srgbClr val="C19D85"/>
                  </a:solidFill>
                </a:endParaRPr>
              </a:p>
            </p:txBody>
          </p:sp>
        </p:grpSp>
        <p:grpSp>
          <p:nvGrpSpPr>
            <p:cNvPr id="236" name="Group 235"/>
            <p:cNvGrpSpPr/>
            <p:nvPr/>
          </p:nvGrpSpPr>
          <p:grpSpPr>
            <a:xfrm>
              <a:off x="4476806" y="304800"/>
              <a:ext cx="1025987" cy="1778880"/>
              <a:chOff x="428430" y="457200"/>
              <a:chExt cx="1025987" cy="1778880"/>
            </a:xfrm>
          </p:grpSpPr>
          <p:sp>
            <p:nvSpPr>
              <p:cNvPr id="237" name="Rounded Rectangle 236"/>
              <p:cNvSpPr/>
              <p:nvPr/>
            </p:nvSpPr>
            <p:spPr>
              <a:xfrm>
                <a:off x="482636" y="457200"/>
                <a:ext cx="917575" cy="1730365"/>
              </a:xfrm>
              <a:prstGeom prst="roundRect">
                <a:avLst>
                  <a:gd name="adj" fmla="val 3932"/>
                </a:avLst>
              </a:prstGeom>
              <a:solidFill>
                <a:schemeClr val="bg1"/>
              </a:solidFill>
              <a:ln w="28575">
                <a:solidFill>
                  <a:schemeClr val="bg1">
                    <a:lumMod val="65000"/>
                  </a:schemeClr>
                </a:solidFill>
                <a:prstDash val="soli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nvGrpSpPr>
              <p:cNvPr id="238" name="Group 237"/>
              <p:cNvGrpSpPr/>
              <p:nvPr/>
            </p:nvGrpSpPr>
            <p:grpSpPr>
              <a:xfrm>
                <a:off x="601691" y="519685"/>
                <a:ext cx="679465" cy="596681"/>
                <a:chOff x="595831" y="519685"/>
                <a:chExt cx="679465" cy="596681"/>
              </a:xfrm>
            </p:grpSpPr>
            <p:sp>
              <p:nvSpPr>
                <p:cNvPr id="243" name="Rounded Rectangle 242"/>
                <p:cNvSpPr/>
                <p:nvPr/>
              </p:nvSpPr>
              <p:spPr>
                <a:xfrm>
                  <a:off x="595831" y="519685"/>
                  <a:ext cx="679465" cy="596681"/>
                </a:xfrm>
                <a:prstGeom prst="roundRect">
                  <a:avLst/>
                </a:prstGeom>
                <a:solidFill>
                  <a:srgbClr val="D0CECE"/>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160" dirty="0">
                    <a:solidFill>
                      <a:schemeClr val="tx1"/>
                    </a:solidFill>
                  </a:endParaRPr>
                </a:p>
              </p:txBody>
            </p:sp>
            <p:sp>
              <p:nvSpPr>
                <p:cNvPr id="244" name="Freeform 243"/>
                <p:cNvSpPr/>
                <p:nvPr/>
              </p:nvSpPr>
              <p:spPr>
                <a:xfrm>
                  <a:off x="739014" y="588334"/>
                  <a:ext cx="393099" cy="459383"/>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tx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grpSp>
            <p:nvGrpSpPr>
              <p:cNvPr id="239" name="Group 238"/>
              <p:cNvGrpSpPr/>
              <p:nvPr/>
            </p:nvGrpSpPr>
            <p:grpSpPr>
              <a:xfrm>
                <a:off x="579661" y="1201119"/>
                <a:ext cx="723524" cy="596681"/>
                <a:chOff x="573801" y="1201119"/>
                <a:chExt cx="723524" cy="596681"/>
              </a:xfrm>
            </p:grpSpPr>
            <p:sp>
              <p:nvSpPr>
                <p:cNvPr id="241" name="Rounded Rectangle 240"/>
                <p:cNvSpPr/>
                <p:nvPr/>
              </p:nvSpPr>
              <p:spPr>
                <a:xfrm>
                  <a:off x="594106" y="1201119"/>
                  <a:ext cx="682915" cy="596681"/>
                </a:xfrm>
                <a:prstGeom prst="roundRect">
                  <a:avLst/>
                </a:prstGeom>
                <a:solidFill>
                  <a:srgbClr val="D0CECE"/>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160" dirty="0">
                    <a:solidFill>
                      <a:schemeClr val="tx1"/>
                    </a:solidFill>
                  </a:endParaRPr>
                </a:p>
              </p:txBody>
            </p:sp>
            <p:pic>
              <p:nvPicPr>
                <p:cNvPr id="242" name="Picture 2" descr="https://cloud.google.com/hadoop/images/hadoop-elephant.png"/>
                <p:cNvPicPr>
                  <a:picLocks noChangeAspect="1" noChangeArrowheads="1"/>
                </p:cNvPicPr>
                <p:nvPr/>
              </p:nvPicPr>
              <p:blipFill>
                <a:blip r:embed="rId3"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73801" y="1240850"/>
                  <a:ext cx="723524" cy="517219"/>
                </a:xfrm>
                <a:prstGeom prst="rect">
                  <a:avLst/>
                </a:prstGeom>
                <a:noFill/>
                <a:ln w="28575">
                  <a:noFill/>
                </a:ln>
                <a:extLst>
                  <a:ext uri="{909E8E84-426E-40DD-AFC4-6F175D3DCCD1}">
                    <a14:hiddenFill xmlns:a14="http://schemas.microsoft.com/office/drawing/2010/main">
                      <a:solidFill>
                        <a:srgbClr val="FFFFFF"/>
                      </a:solidFill>
                    </a14:hiddenFill>
                  </a:ext>
                </a:extLst>
              </p:spPr>
            </p:pic>
          </p:grpSp>
          <p:sp>
            <p:nvSpPr>
              <p:cNvPr id="240" name="TextBox 239"/>
              <p:cNvSpPr txBox="1"/>
              <p:nvPr/>
            </p:nvSpPr>
            <p:spPr>
              <a:xfrm>
                <a:off x="428430" y="1774415"/>
                <a:ext cx="1025987" cy="461665"/>
              </a:xfrm>
              <a:prstGeom prst="rect">
                <a:avLst/>
              </a:prstGeom>
              <a:noFill/>
            </p:spPr>
            <p:txBody>
              <a:bodyPr wrap="none" rtlCol="0">
                <a:spAutoFit/>
              </a:bodyPr>
              <a:lstStyle/>
              <a:p>
                <a:r>
                  <a:rPr lang="en-US" sz="2400" b="1" dirty="0" smtClean="0">
                    <a:solidFill>
                      <a:srgbClr val="874112"/>
                    </a:solidFill>
                  </a:rPr>
                  <a:t>Host D</a:t>
                </a:r>
                <a:endParaRPr lang="en-US" b="1" dirty="0">
                  <a:solidFill>
                    <a:srgbClr val="874112"/>
                  </a:solidFill>
                </a:endParaRPr>
              </a:p>
            </p:txBody>
          </p:sp>
        </p:grpSp>
        <p:grpSp>
          <p:nvGrpSpPr>
            <p:cNvPr id="254" name="Group 253"/>
            <p:cNvGrpSpPr/>
            <p:nvPr/>
          </p:nvGrpSpPr>
          <p:grpSpPr>
            <a:xfrm>
              <a:off x="439243" y="2474078"/>
              <a:ext cx="1025987" cy="1778880"/>
              <a:chOff x="428430" y="457200"/>
              <a:chExt cx="1025987" cy="1778880"/>
            </a:xfrm>
          </p:grpSpPr>
          <p:sp>
            <p:nvSpPr>
              <p:cNvPr id="255" name="Rounded Rectangle 254"/>
              <p:cNvSpPr/>
              <p:nvPr/>
            </p:nvSpPr>
            <p:spPr>
              <a:xfrm>
                <a:off x="482636" y="457200"/>
                <a:ext cx="917575" cy="1730365"/>
              </a:xfrm>
              <a:prstGeom prst="roundRect">
                <a:avLst>
                  <a:gd name="adj" fmla="val 3932"/>
                </a:avLst>
              </a:prstGeom>
              <a:solidFill>
                <a:schemeClr val="bg1"/>
              </a:solidFill>
              <a:ln w="28575">
                <a:solidFill>
                  <a:schemeClr val="bg1">
                    <a:lumMod val="65000"/>
                  </a:schemeClr>
                </a:solidFill>
                <a:prstDash val="soli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nvGrpSpPr>
              <p:cNvPr id="256" name="Group 255"/>
              <p:cNvGrpSpPr/>
              <p:nvPr/>
            </p:nvGrpSpPr>
            <p:grpSpPr>
              <a:xfrm>
                <a:off x="601691" y="519685"/>
                <a:ext cx="679465" cy="596681"/>
                <a:chOff x="595831" y="519685"/>
                <a:chExt cx="679465" cy="596681"/>
              </a:xfrm>
            </p:grpSpPr>
            <p:sp>
              <p:nvSpPr>
                <p:cNvPr id="261" name="Rounded Rectangle 260"/>
                <p:cNvSpPr/>
                <p:nvPr/>
              </p:nvSpPr>
              <p:spPr>
                <a:xfrm>
                  <a:off x="595831" y="519685"/>
                  <a:ext cx="679465" cy="596681"/>
                </a:xfrm>
                <a:prstGeom prst="roundRect">
                  <a:avLst/>
                </a:prstGeom>
                <a:solidFill>
                  <a:srgbClr val="D0CECE"/>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160" dirty="0">
                    <a:solidFill>
                      <a:schemeClr val="tx1"/>
                    </a:solidFill>
                  </a:endParaRPr>
                </a:p>
              </p:txBody>
            </p:sp>
            <p:sp>
              <p:nvSpPr>
                <p:cNvPr id="262" name="Freeform 261"/>
                <p:cNvSpPr/>
                <p:nvPr/>
              </p:nvSpPr>
              <p:spPr>
                <a:xfrm>
                  <a:off x="739014" y="588334"/>
                  <a:ext cx="393099" cy="459383"/>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tx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grpSp>
            <p:nvGrpSpPr>
              <p:cNvPr id="257" name="Group 256"/>
              <p:cNvGrpSpPr/>
              <p:nvPr/>
            </p:nvGrpSpPr>
            <p:grpSpPr>
              <a:xfrm>
                <a:off x="579661" y="1201119"/>
                <a:ext cx="723524" cy="596681"/>
                <a:chOff x="573801" y="1201119"/>
                <a:chExt cx="723524" cy="596681"/>
              </a:xfrm>
            </p:grpSpPr>
            <p:sp>
              <p:nvSpPr>
                <p:cNvPr id="259" name="Rounded Rectangle 258"/>
                <p:cNvSpPr/>
                <p:nvPr/>
              </p:nvSpPr>
              <p:spPr>
                <a:xfrm>
                  <a:off x="594106" y="1201119"/>
                  <a:ext cx="682915" cy="596681"/>
                </a:xfrm>
                <a:prstGeom prst="roundRect">
                  <a:avLst/>
                </a:prstGeom>
                <a:solidFill>
                  <a:srgbClr val="D0CECE"/>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160" dirty="0">
                    <a:solidFill>
                      <a:schemeClr val="tx1"/>
                    </a:solidFill>
                  </a:endParaRPr>
                </a:p>
              </p:txBody>
            </p:sp>
            <p:pic>
              <p:nvPicPr>
                <p:cNvPr id="260" name="Picture 2" descr="https://cloud.google.com/hadoop/images/hadoop-elephant.png"/>
                <p:cNvPicPr>
                  <a:picLocks noChangeAspect="1" noChangeArrowheads="1"/>
                </p:cNvPicPr>
                <p:nvPr/>
              </p:nvPicPr>
              <p:blipFill>
                <a:blip r:embed="rId3"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73801" y="1240850"/>
                  <a:ext cx="723524" cy="517219"/>
                </a:xfrm>
                <a:prstGeom prst="rect">
                  <a:avLst/>
                </a:prstGeom>
                <a:noFill/>
                <a:ln w="28575">
                  <a:noFill/>
                </a:ln>
                <a:extLst>
                  <a:ext uri="{909E8E84-426E-40DD-AFC4-6F175D3DCCD1}">
                    <a14:hiddenFill xmlns:a14="http://schemas.microsoft.com/office/drawing/2010/main">
                      <a:solidFill>
                        <a:srgbClr val="FFFFFF"/>
                      </a:solidFill>
                    </a14:hiddenFill>
                  </a:ext>
                </a:extLst>
              </p:spPr>
            </p:pic>
          </p:grpSp>
          <p:sp>
            <p:nvSpPr>
              <p:cNvPr id="258" name="TextBox 257"/>
              <p:cNvSpPr txBox="1"/>
              <p:nvPr/>
            </p:nvSpPr>
            <p:spPr>
              <a:xfrm>
                <a:off x="428430" y="1774415"/>
                <a:ext cx="1025987" cy="461665"/>
              </a:xfrm>
              <a:prstGeom prst="rect">
                <a:avLst/>
              </a:prstGeom>
              <a:noFill/>
            </p:spPr>
            <p:txBody>
              <a:bodyPr wrap="none" rtlCol="0">
                <a:spAutoFit/>
              </a:bodyPr>
              <a:lstStyle/>
              <a:p>
                <a:r>
                  <a:rPr lang="en-US" sz="2400" b="1" dirty="0" smtClean="0">
                    <a:solidFill>
                      <a:srgbClr val="644F75"/>
                    </a:solidFill>
                  </a:rPr>
                  <a:t>Host E</a:t>
                </a:r>
                <a:endParaRPr lang="en-US" b="1" dirty="0">
                  <a:solidFill>
                    <a:srgbClr val="644F75"/>
                  </a:solidFill>
                </a:endParaRPr>
              </a:p>
            </p:txBody>
          </p:sp>
        </p:grpSp>
        <p:grpSp>
          <p:nvGrpSpPr>
            <p:cNvPr id="263" name="Group 262"/>
            <p:cNvGrpSpPr/>
            <p:nvPr/>
          </p:nvGrpSpPr>
          <p:grpSpPr>
            <a:xfrm>
              <a:off x="1788702" y="2474078"/>
              <a:ext cx="981102" cy="1778880"/>
              <a:chOff x="428430" y="457200"/>
              <a:chExt cx="981102" cy="1778880"/>
            </a:xfrm>
          </p:grpSpPr>
          <p:sp>
            <p:nvSpPr>
              <p:cNvPr id="264" name="Rounded Rectangle 263"/>
              <p:cNvSpPr/>
              <p:nvPr/>
            </p:nvSpPr>
            <p:spPr>
              <a:xfrm>
                <a:off x="482636" y="457200"/>
                <a:ext cx="917575" cy="1730365"/>
              </a:xfrm>
              <a:prstGeom prst="roundRect">
                <a:avLst>
                  <a:gd name="adj" fmla="val 3932"/>
                </a:avLst>
              </a:prstGeom>
              <a:solidFill>
                <a:schemeClr val="bg1"/>
              </a:solidFill>
              <a:ln w="28575">
                <a:solidFill>
                  <a:schemeClr val="bg1">
                    <a:lumMod val="65000"/>
                  </a:schemeClr>
                </a:solidFill>
                <a:prstDash val="soli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nvGrpSpPr>
              <p:cNvPr id="265" name="Group 264"/>
              <p:cNvGrpSpPr/>
              <p:nvPr/>
            </p:nvGrpSpPr>
            <p:grpSpPr>
              <a:xfrm>
                <a:off x="601691" y="519685"/>
                <a:ext cx="679465" cy="596681"/>
                <a:chOff x="595831" y="519685"/>
                <a:chExt cx="679465" cy="596681"/>
              </a:xfrm>
            </p:grpSpPr>
            <p:sp>
              <p:nvSpPr>
                <p:cNvPr id="270" name="Rounded Rectangle 269"/>
                <p:cNvSpPr/>
                <p:nvPr/>
              </p:nvSpPr>
              <p:spPr>
                <a:xfrm>
                  <a:off x="595831" y="519685"/>
                  <a:ext cx="679465" cy="596681"/>
                </a:xfrm>
                <a:prstGeom prst="roundRect">
                  <a:avLst/>
                </a:prstGeom>
                <a:solidFill>
                  <a:srgbClr val="D0CECE"/>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160" dirty="0">
                    <a:solidFill>
                      <a:schemeClr val="tx1"/>
                    </a:solidFill>
                  </a:endParaRPr>
                </a:p>
              </p:txBody>
            </p:sp>
            <p:sp>
              <p:nvSpPr>
                <p:cNvPr id="271" name="Freeform 270"/>
                <p:cNvSpPr/>
                <p:nvPr/>
              </p:nvSpPr>
              <p:spPr>
                <a:xfrm>
                  <a:off x="739014" y="588334"/>
                  <a:ext cx="393099" cy="459383"/>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tx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grpSp>
            <p:nvGrpSpPr>
              <p:cNvPr id="266" name="Group 265"/>
              <p:cNvGrpSpPr/>
              <p:nvPr/>
            </p:nvGrpSpPr>
            <p:grpSpPr>
              <a:xfrm>
                <a:off x="579661" y="1201119"/>
                <a:ext cx="723524" cy="596681"/>
                <a:chOff x="573801" y="1201119"/>
                <a:chExt cx="723524" cy="596681"/>
              </a:xfrm>
            </p:grpSpPr>
            <p:sp>
              <p:nvSpPr>
                <p:cNvPr id="268" name="Rounded Rectangle 267"/>
                <p:cNvSpPr/>
                <p:nvPr/>
              </p:nvSpPr>
              <p:spPr>
                <a:xfrm>
                  <a:off x="594106" y="1201119"/>
                  <a:ext cx="682915" cy="596681"/>
                </a:xfrm>
                <a:prstGeom prst="roundRect">
                  <a:avLst/>
                </a:prstGeom>
                <a:solidFill>
                  <a:srgbClr val="D0CECE"/>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160" dirty="0">
                    <a:solidFill>
                      <a:schemeClr val="tx1"/>
                    </a:solidFill>
                  </a:endParaRPr>
                </a:p>
              </p:txBody>
            </p:sp>
            <p:pic>
              <p:nvPicPr>
                <p:cNvPr id="269" name="Picture 2" descr="https://cloud.google.com/hadoop/images/hadoop-elephant.png"/>
                <p:cNvPicPr>
                  <a:picLocks noChangeAspect="1" noChangeArrowheads="1"/>
                </p:cNvPicPr>
                <p:nvPr/>
              </p:nvPicPr>
              <p:blipFill>
                <a:blip r:embed="rId3"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73801" y="1240850"/>
                  <a:ext cx="723524" cy="517219"/>
                </a:xfrm>
                <a:prstGeom prst="rect">
                  <a:avLst/>
                </a:prstGeom>
                <a:noFill/>
                <a:ln w="28575">
                  <a:noFill/>
                </a:ln>
                <a:extLst>
                  <a:ext uri="{909E8E84-426E-40DD-AFC4-6F175D3DCCD1}">
                    <a14:hiddenFill xmlns:a14="http://schemas.microsoft.com/office/drawing/2010/main">
                      <a:solidFill>
                        <a:srgbClr val="FFFFFF"/>
                      </a:solidFill>
                    </a14:hiddenFill>
                  </a:ext>
                </a:extLst>
              </p:spPr>
            </p:pic>
          </p:grpSp>
          <p:sp>
            <p:nvSpPr>
              <p:cNvPr id="267" name="TextBox 266"/>
              <p:cNvSpPr txBox="1"/>
              <p:nvPr/>
            </p:nvSpPr>
            <p:spPr>
              <a:xfrm>
                <a:off x="428430" y="1774415"/>
                <a:ext cx="981102" cy="461665"/>
              </a:xfrm>
              <a:prstGeom prst="rect">
                <a:avLst/>
              </a:prstGeom>
              <a:noFill/>
            </p:spPr>
            <p:txBody>
              <a:bodyPr wrap="none" rtlCol="0">
                <a:spAutoFit/>
              </a:bodyPr>
              <a:lstStyle/>
              <a:p>
                <a:r>
                  <a:rPr lang="en-US" sz="2400" b="1" dirty="0" smtClean="0">
                    <a:solidFill>
                      <a:srgbClr val="525151"/>
                    </a:solidFill>
                  </a:rPr>
                  <a:t>Host F</a:t>
                </a:r>
                <a:endParaRPr lang="en-US" b="1" dirty="0">
                  <a:solidFill>
                    <a:srgbClr val="525151"/>
                  </a:solidFill>
                </a:endParaRPr>
              </a:p>
            </p:txBody>
          </p:sp>
        </p:grpSp>
        <p:grpSp>
          <p:nvGrpSpPr>
            <p:cNvPr id="272" name="Group 271"/>
            <p:cNvGrpSpPr/>
            <p:nvPr/>
          </p:nvGrpSpPr>
          <p:grpSpPr>
            <a:xfrm>
              <a:off x="3138161" y="2474078"/>
              <a:ext cx="1025987" cy="1778880"/>
              <a:chOff x="428430" y="457200"/>
              <a:chExt cx="1025987" cy="1778880"/>
            </a:xfrm>
          </p:grpSpPr>
          <p:sp>
            <p:nvSpPr>
              <p:cNvPr id="273" name="Rounded Rectangle 272"/>
              <p:cNvSpPr/>
              <p:nvPr/>
            </p:nvSpPr>
            <p:spPr>
              <a:xfrm>
                <a:off x="482636" y="457200"/>
                <a:ext cx="917575" cy="1730365"/>
              </a:xfrm>
              <a:prstGeom prst="roundRect">
                <a:avLst>
                  <a:gd name="adj" fmla="val 3932"/>
                </a:avLst>
              </a:prstGeom>
              <a:solidFill>
                <a:schemeClr val="bg1"/>
              </a:solidFill>
              <a:ln w="28575">
                <a:solidFill>
                  <a:schemeClr val="bg1">
                    <a:lumMod val="65000"/>
                  </a:schemeClr>
                </a:solidFill>
                <a:prstDash val="soli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nvGrpSpPr>
              <p:cNvPr id="274" name="Group 273"/>
              <p:cNvGrpSpPr/>
              <p:nvPr/>
            </p:nvGrpSpPr>
            <p:grpSpPr>
              <a:xfrm>
                <a:off x="601691" y="519685"/>
                <a:ext cx="679465" cy="596681"/>
                <a:chOff x="595831" y="519685"/>
                <a:chExt cx="679465" cy="596681"/>
              </a:xfrm>
            </p:grpSpPr>
            <p:sp>
              <p:nvSpPr>
                <p:cNvPr id="279" name="Rounded Rectangle 278"/>
                <p:cNvSpPr/>
                <p:nvPr/>
              </p:nvSpPr>
              <p:spPr>
                <a:xfrm>
                  <a:off x="595831" y="519685"/>
                  <a:ext cx="679465" cy="596681"/>
                </a:xfrm>
                <a:prstGeom prst="roundRect">
                  <a:avLst/>
                </a:prstGeom>
                <a:solidFill>
                  <a:srgbClr val="D0CECE"/>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160" dirty="0">
                    <a:solidFill>
                      <a:schemeClr val="tx1"/>
                    </a:solidFill>
                  </a:endParaRPr>
                </a:p>
              </p:txBody>
            </p:sp>
            <p:sp>
              <p:nvSpPr>
                <p:cNvPr id="280" name="Freeform 279"/>
                <p:cNvSpPr/>
                <p:nvPr/>
              </p:nvSpPr>
              <p:spPr>
                <a:xfrm>
                  <a:off x="739014" y="588334"/>
                  <a:ext cx="393099" cy="459383"/>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tx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grpSp>
            <p:nvGrpSpPr>
              <p:cNvPr id="275" name="Group 274"/>
              <p:cNvGrpSpPr/>
              <p:nvPr/>
            </p:nvGrpSpPr>
            <p:grpSpPr>
              <a:xfrm>
                <a:off x="579661" y="1201119"/>
                <a:ext cx="723524" cy="596681"/>
                <a:chOff x="573801" y="1201119"/>
                <a:chExt cx="723524" cy="596681"/>
              </a:xfrm>
            </p:grpSpPr>
            <p:sp>
              <p:nvSpPr>
                <p:cNvPr id="277" name="Rounded Rectangle 276"/>
                <p:cNvSpPr/>
                <p:nvPr/>
              </p:nvSpPr>
              <p:spPr>
                <a:xfrm>
                  <a:off x="594106" y="1201119"/>
                  <a:ext cx="682915" cy="596681"/>
                </a:xfrm>
                <a:prstGeom prst="roundRect">
                  <a:avLst/>
                </a:prstGeom>
                <a:solidFill>
                  <a:srgbClr val="D0CECE"/>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160" dirty="0">
                    <a:solidFill>
                      <a:schemeClr val="tx1"/>
                    </a:solidFill>
                  </a:endParaRPr>
                </a:p>
              </p:txBody>
            </p:sp>
            <p:pic>
              <p:nvPicPr>
                <p:cNvPr id="278" name="Picture 2" descr="https://cloud.google.com/hadoop/images/hadoop-elephant.png"/>
                <p:cNvPicPr>
                  <a:picLocks noChangeAspect="1" noChangeArrowheads="1"/>
                </p:cNvPicPr>
                <p:nvPr/>
              </p:nvPicPr>
              <p:blipFill>
                <a:blip r:embed="rId3"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73801" y="1240850"/>
                  <a:ext cx="723524" cy="517219"/>
                </a:xfrm>
                <a:prstGeom prst="rect">
                  <a:avLst/>
                </a:prstGeom>
                <a:noFill/>
                <a:ln w="28575">
                  <a:noFill/>
                </a:ln>
                <a:extLst>
                  <a:ext uri="{909E8E84-426E-40DD-AFC4-6F175D3DCCD1}">
                    <a14:hiddenFill xmlns:a14="http://schemas.microsoft.com/office/drawing/2010/main">
                      <a:solidFill>
                        <a:srgbClr val="FFFFFF"/>
                      </a:solidFill>
                    </a14:hiddenFill>
                  </a:ext>
                </a:extLst>
              </p:spPr>
            </p:pic>
          </p:grpSp>
          <p:sp>
            <p:nvSpPr>
              <p:cNvPr id="276" name="TextBox 275"/>
              <p:cNvSpPr txBox="1"/>
              <p:nvPr/>
            </p:nvSpPr>
            <p:spPr>
              <a:xfrm>
                <a:off x="428430" y="1774415"/>
                <a:ext cx="1025987" cy="461665"/>
              </a:xfrm>
              <a:prstGeom prst="rect">
                <a:avLst/>
              </a:prstGeom>
              <a:noFill/>
            </p:spPr>
            <p:txBody>
              <a:bodyPr wrap="none" rtlCol="0">
                <a:spAutoFit/>
              </a:bodyPr>
              <a:lstStyle/>
              <a:p>
                <a:r>
                  <a:rPr lang="en-US" sz="2400" b="1" dirty="0" smtClean="0">
                    <a:solidFill>
                      <a:srgbClr val="7394D3"/>
                    </a:solidFill>
                  </a:rPr>
                  <a:t>Host G</a:t>
                </a:r>
                <a:endParaRPr lang="en-US" b="1" dirty="0">
                  <a:solidFill>
                    <a:srgbClr val="7394D3"/>
                  </a:solidFill>
                </a:endParaRPr>
              </a:p>
            </p:txBody>
          </p:sp>
        </p:grpSp>
        <p:grpSp>
          <p:nvGrpSpPr>
            <p:cNvPr id="281" name="Group 280"/>
            <p:cNvGrpSpPr/>
            <p:nvPr/>
          </p:nvGrpSpPr>
          <p:grpSpPr>
            <a:xfrm>
              <a:off x="4487619" y="2474078"/>
              <a:ext cx="1025987" cy="1778880"/>
              <a:chOff x="428430" y="457200"/>
              <a:chExt cx="1025987" cy="1778880"/>
            </a:xfrm>
          </p:grpSpPr>
          <p:sp>
            <p:nvSpPr>
              <p:cNvPr id="282" name="Rounded Rectangle 281"/>
              <p:cNvSpPr/>
              <p:nvPr/>
            </p:nvSpPr>
            <p:spPr>
              <a:xfrm>
                <a:off x="482636" y="457200"/>
                <a:ext cx="917575" cy="1730365"/>
              </a:xfrm>
              <a:prstGeom prst="roundRect">
                <a:avLst>
                  <a:gd name="adj" fmla="val 3932"/>
                </a:avLst>
              </a:prstGeom>
              <a:solidFill>
                <a:schemeClr val="bg1"/>
              </a:solidFill>
              <a:ln w="28575">
                <a:solidFill>
                  <a:schemeClr val="bg1">
                    <a:lumMod val="65000"/>
                  </a:schemeClr>
                </a:solidFill>
                <a:prstDash val="soli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nvGrpSpPr>
              <p:cNvPr id="283" name="Group 282"/>
              <p:cNvGrpSpPr/>
              <p:nvPr/>
            </p:nvGrpSpPr>
            <p:grpSpPr>
              <a:xfrm>
                <a:off x="601691" y="519685"/>
                <a:ext cx="679465" cy="596681"/>
                <a:chOff x="595831" y="519685"/>
                <a:chExt cx="679465" cy="596681"/>
              </a:xfrm>
            </p:grpSpPr>
            <p:sp>
              <p:nvSpPr>
                <p:cNvPr id="288" name="Rounded Rectangle 287"/>
                <p:cNvSpPr/>
                <p:nvPr/>
              </p:nvSpPr>
              <p:spPr>
                <a:xfrm>
                  <a:off x="595831" y="519685"/>
                  <a:ext cx="679465" cy="596681"/>
                </a:xfrm>
                <a:prstGeom prst="roundRect">
                  <a:avLst/>
                </a:prstGeom>
                <a:solidFill>
                  <a:srgbClr val="D0CECE"/>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160" dirty="0">
                    <a:solidFill>
                      <a:schemeClr val="tx1"/>
                    </a:solidFill>
                  </a:endParaRPr>
                </a:p>
              </p:txBody>
            </p:sp>
            <p:sp>
              <p:nvSpPr>
                <p:cNvPr id="289" name="Freeform 288"/>
                <p:cNvSpPr/>
                <p:nvPr/>
              </p:nvSpPr>
              <p:spPr>
                <a:xfrm>
                  <a:off x="739014" y="588334"/>
                  <a:ext cx="393099" cy="459383"/>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tx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grpSp>
            <p:nvGrpSpPr>
              <p:cNvPr id="284" name="Group 283"/>
              <p:cNvGrpSpPr/>
              <p:nvPr/>
            </p:nvGrpSpPr>
            <p:grpSpPr>
              <a:xfrm>
                <a:off x="579661" y="1201119"/>
                <a:ext cx="723524" cy="596681"/>
                <a:chOff x="573801" y="1201119"/>
                <a:chExt cx="723524" cy="596681"/>
              </a:xfrm>
            </p:grpSpPr>
            <p:sp>
              <p:nvSpPr>
                <p:cNvPr id="286" name="Rounded Rectangle 285"/>
                <p:cNvSpPr/>
                <p:nvPr/>
              </p:nvSpPr>
              <p:spPr>
                <a:xfrm>
                  <a:off x="594106" y="1201119"/>
                  <a:ext cx="682915" cy="596681"/>
                </a:xfrm>
                <a:prstGeom prst="roundRect">
                  <a:avLst/>
                </a:prstGeom>
                <a:solidFill>
                  <a:srgbClr val="D0CECE"/>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160" dirty="0">
                    <a:solidFill>
                      <a:schemeClr val="tx1"/>
                    </a:solidFill>
                  </a:endParaRPr>
                </a:p>
              </p:txBody>
            </p:sp>
            <p:pic>
              <p:nvPicPr>
                <p:cNvPr id="287" name="Picture 2" descr="https://cloud.google.com/hadoop/images/hadoop-elephant.png"/>
                <p:cNvPicPr>
                  <a:picLocks noChangeAspect="1" noChangeArrowheads="1"/>
                </p:cNvPicPr>
                <p:nvPr/>
              </p:nvPicPr>
              <p:blipFill>
                <a:blip r:embed="rId3"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73801" y="1240850"/>
                  <a:ext cx="723524" cy="517219"/>
                </a:xfrm>
                <a:prstGeom prst="rect">
                  <a:avLst/>
                </a:prstGeom>
                <a:noFill/>
                <a:ln w="28575">
                  <a:noFill/>
                </a:ln>
                <a:extLst>
                  <a:ext uri="{909E8E84-426E-40DD-AFC4-6F175D3DCCD1}">
                    <a14:hiddenFill xmlns:a14="http://schemas.microsoft.com/office/drawing/2010/main">
                      <a:solidFill>
                        <a:srgbClr val="FFFFFF"/>
                      </a:solidFill>
                    </a14:hiddenFill>
                  </a:ext>
                </a:extLst>
              </p:spPr>
            </p:pic>
          </p:grpSp>
          <p:sp>
            <p:nvSpPr>
              <p:cNvPr id="285" name="TextBox 284"/>
              <p:cNvSpPr txBox="1"/>
              <p:nvPr/>
            </p:nvSpPr>
            <p:spPr>
              <a:xfrm>
                <a:off x="428430" y="1774415"/>
                <a:ext cx="1025987" cy="461665"/>
              </a:xfrm>
              <a:prstGeom prst="rect">
                <a:avLst/>
              </a:prstGeom>
              <a:noFill/>
            </p:spPr>
            <p:txBody>
              <a:bodyPr wrap="none" rtlCol="0">
                <a:spAutoFit/>
              </a:bodyPr>
              <a:lstStyle/>
              <a:p>
                <a:r>
                  <a:rPr lang="en-US" sz="2400" b="1" dirty="0" smtClean="0">
                    <a:solidFill>
                      <a:srgbClr val="7FA167"/>
                    </a:solidFill>
                  </a:rPr>
                  <a:t>Host H</a:t>
                </a:r>
                <a:endParaRPr lang="en-US" b="1" dirty="0">
                  <a:solidFill>
                    <a:srgbClr val="7FA167"/>
                  </a:solidFill>
                </a:endParaRPr>
              </a:p>
            </p:txBody>
          </p:sp>
        </p:grpSp>
      </p:grpSp>
      <p:sp>
        <p:nvSpPr>
          <p:cNvPr id="2" name="Slide Number Placeholder 1"/>
          <p:cNvSpPr>
            <a:spLocks noGrp="1"/>
          </p:cNvSpPr>
          <p:nvPr>
            <p:ph type="sldNum" sz="quarter" idx="12"/>
          </p:nvPr>
        </p:nvSpPr>
        <p:spPr/>
        <p:txBody>
          <a:bodyPr/>
          <a:lstStyle/>
          <a:p>
            <a:fld id="{D431E30F-8439-471B-9257-EDD8E85CDBC8}" type="slidenum">
              <a:rPr lang="en-US" smtClean="0"/>
              <a:t>38</a:t>
            </a:fld>
            <a:endParaRPr lang="en-US"/>
          </a:p>
        </p:txBody>
      </p:sp>
    </p:spTree>
    <p:extLst>
      <p:ext uri="{BB962C8B-B14F-4D97-AF65-F5344CB8AC3E}">
        <p14:creationId xmlns:p14="http://schemas.microsoft.com/office/powerpoint/2010/main" val="2210427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90"/>
                                        </p:tgtEl>
                                        <p:attrNameLst>
                                          <p:attrName>style.visibility</p:attrName>
                                        </p:attrNameLst>
                                      </p:cBhvr>
                                      <p:to>
                                        <p:strVal val="visible"/>
                                      </p:to>
                                    </p:set>
                                    <p:animEffect transition="in" filter="fade">
                                      <p:cBhvr>
                                        <p:cTn id="7" dur="500"/>
                                        <p:tgtEl>
                                          <p:spTgt spid="290"/>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33"/>
                                        </p:tgtEl>
                                        <p:attrNameLst>
                                          <p:attrName>style.visibility</p:attrName>
                                        </p:attrNameLst>
                                      </p:cBhvr>
                                      <p:to>
                                        <p:strVal val="visible"/>
                                      </p:to>
                                    </p:set>
                                    <p:animEffect transition="in" filter="wipe(up)">
                                      <p:cBhvr>
                                        <p:cTn id="11" dur="500"/>
                                        <p:tgtEl>
                                          <p:spTgt spid="133"/>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fade">
                                      <p:cBhvr>
                                        <p:cTn id="15" dur="500"/>
                                        <p:tgtEl>
                                          <p:spTgt spid="31"/>
                                        </p:tgtEl>
                                      </p:cBhvr>
                                    </p:animEffect>
                                  </p:childTnLst>
                                </p:cTn>
                              </p:par>
                              <p:par>
                                <p:cTn id="16" presetID="10" presetClass="entr" presetSubtype="0" fill="hold"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500"/>
                                        <p:tgtEl>
                                          <p:spTgt spid="21"/>
                                        </p:tgtEl>
                                      </p:cBhvr>
                                    </p:animEffect>
                                  </p:childTnLst>
                                </p:cTn>
                              </p:par>
                              <p:par>
                                <p:cTn id="19" presetID="10"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34"/>
                                        </p:tgtEl>
                                        <p:attrNameLst>
                                          <p:attrName>style.visibility</p:attrName>
                                        </p:attrNameLst>
                                      </p:cBhvr>
                                      <p:to>
                                        <p:strVal val="visible"/>
                                      </p:to>
                                    </p:set>
                                    <p:animEffect transition="in" filter="fade">
                                      <p:cBhvr>
                                        <p:cTn id="26" dur="500"/>
                                        <p:tgtEl>
                                          <p:spTgt spid="134"/>
                                        </p:tgtEl>
                                      </p:cBhvr>
                                    </p:animEffect>
                                  </p:childTnLst>
                                </p:cTn>
                              </p:par>
                            </p:childTnLst>
                          </p:cTn>
                        </p:par>
                        <p:par>
                          <p:cTn id="27" fill="hold">
                            <p:stCondLst>
                              <p:cond delay="500"/>
                            </p:stCondLst>
                            <p:childTnLst>
                              <p:par>
                                <p:cTn id="28" presetID="22" presetClass="entr" presetSubtype="1" fill="hold" grpId="0" nodeType="afterEffect">
                                  <p:stCondLst>
                                    <p:cond delay="0"/>
                                  </p:stCondLst>
                                  <p:childTnLst>
                                    <p:set>
                                      <p:cBhvr>
                                        <p:cTn id="29" dur="1" fill="hold">
                                          <p:stCondLst>
                                            <p:cond delay="0"/>
                                          </p:stCondLst>
                                        </p:cTn>
                                        <p:tgtEl>
                                          <p:spTgt spid="140"/>
                                        </p:tgtEl>
                                        <p:attrNameLst>
                                          <p:attrName>style.visibility</p:attrName>
                                        </p:attrNameLst>
                                      </p:cBhvr>
                                      <p:to>
                                        <p:strVal val="visible"/>
                                      </p:to>
                                    </p:set>
                                    <p:animEffect transition="in" filter="wipe(up)">
                                      <p:cBhvr>
                                        <p:cTn id="30" dur="500"/>
                                        <p:tgtEl>
                                          <p:spTgt spid="140"/>
                                        </p:tgtEl>
                                      </p:cBhvr>
                                    </p:animEffect>
                                  </p:childTnLst>
                                </p:cTn>
                              </p:par>
                            </p:childTnLst>
                          </p:cTn>
                        </p:par>
                        <p:par>
                          <p:cTn id="31" fill="hold">
                            <p:stCondLst>
                              <p:cond delay="1000"/>
                            </p:stCondLst>
                            <p:childTnLst>
                              <p:par>
                                <p:cTn id="32" presetID="10" presetClass="entr" presetSubtype="0" fill="hold" grpId="0" nodeType="afterEffect">
                                  <p:stCondLst>
                                    <p:cond delay="0"/>
                                  </p:stCondLst>
                                  <p:childTnLst>
                                    <p:set>
                                      <p:cBhvr>
                                        <p:cTn id="33" dur="1" fill="hold">
                                          <p:stCondLst>
                                            <p:cond delay="0"/>
                                          </p:stCondLst>
                                        </p:cTn>
                                        <p:tgtEl>
                                          <p:spTgt spid="141"/>
                                        </p:tgtEl>
                                        <p:attrNameLst>
                                          <p:attrName>style.visibility</p:attrName>
                                        </p:attrNameLst>
                                      </p:cBhvr>
                                      <p:to>
                                        <p:strVal val="visible"/>
                                      </p:to>
                                    </p:set>
                                    <p:animEffect transition="in" filter="fade">
                                      <p:cBhvr>
                                        <p:cTn id="34" dur="500"/>
                                        <p:tgtEl>
                                          <p:spTgt spid="1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133" grpId="0" animBg="1"/>
      <p:bldP spid="140" grpId="0" animBg="1"/>
      <p:bldP spid="141"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8515350" cy="1325563"/>
          </a:xfrm>
        </p:spPr>
        <p:txBody>
          <a:bodyPr>
            <a:normAutofit/>
          </a:bodyPr>
          <a:lstStyle/>
          <a:p>
            <a:r>
              <a:rPr lang="en-US" sz="3200" dirty="0" smtClean="0"/>
              <a:t>Same machines, same processes, same workloads</a:t>
            </a:r>
            <a:endParaRPr lang="en-US" sz="3200" dirty="0"/>
          </a:p>
        </p:txBody>
      </p:sp>
      <p:sp>
        <p:nvSpPr>
          <p:cNvPr id="3" name="Content Placeholder 2"/>
          <p:cNvSpPr>
            <a:spLocks noGrp="1"/>
          </p:cNvSpPr>
          <p:nvPr>
            <p:ph idx="1"/>
          </p:nvPr>
        </p:nvSpPr>
        <p:spPr>
          <a:xfrm>
            <a:off x="628650" y="1530350"/>
            <a:ext cx="7886700" cy="4351338"/>
          </a:xfrm>
        </p:spPr>
        <p:txBody>
          <a:bodyPr>
            <a:normAutofit/>
          </a:bodyPr>
          <a:lstStyle/>
          <a:p>
            <a:pPr marL="457182" lvl="1" indent="0">
              <a:buNone/>
            </a:pPr>
            <a:r>
              <a:rPr lang="en-US" dirty="0" smtClean="0"/>
              <a:t>I expected uniform throughput from workload generators</a:t>
            </a:r>
          </a:p>
          <a:p>
            <a:pPr marL="457182" lvl="1" indent="0">
              <a:buNone/>
            </a:pPr>
            <a:r>
              <a:rPr lang="en-US" dirty="0" smtClean="0"/>
              <a:t>I expected uniform throughput on </a:t>
            </a:r>
            <a:r>
              <a:rPr lang="en-US" dirty="0" err="1" smtClean="0"/>
              <a:t>DataNodes</a:t>
            </a:r>
            <a:endParaRPr lang="en-US" dirty="0" smtClean="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0103" y="3429831"/>
            <a:ext cx="4008581" cy="2732080"/>
          </a:xfrm>
          <a:prstGeom prst="rect">
            <a:avLst/>
          </a:prstGeom>
        </p:spPr>
      </p:pic>
      <p:sp>
        <p:nvSpPr>
          <p:cNvPr id="4" name="Rectangle 3"/>
          <p:cNvSpPr/>
          <p:nvPr/>
        </p:nvSpPr>
        <p:spPr>
          <a:xfrm>
            <a:off x="1091381" y="4591665"/>
            <a:ext cx="3264309" cy="9045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p:cNvGrpSpPr/>
          <p:nvPr/>
        </p:nvGrpSpPr>
        <p:grpSpPr>
          <a:xfrm>
            <a:off x="4941133" y="3455754"/>
            <a:ext cx="3764717" cy="2706157"/>
            <a:chOff x="4941133" y="3455754"/>
            <a:chExt cx="3764717" cy="2706157"/>
          </a:xfrm>
        </p:grpSpPr>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41133" y="3455754"/>
              <a:ext cx="3764717" cy="2706157"/>
            </a:xfrm>
            <a:prstGeom prst="rect">
              <a:avLst/>
            </a:prstGeom>
          </p:spPr>
        </p:pic>
        <p:sp>
          <p:nvSpPr>
            <p:cNvPr id="7" name="Rectangle 6"/>
            <p:cNvSpPr/>
            <p:nvPr/>
          </p:nvSpPr>
          <p:spPr>
            <a:xfrm>
              <a:off x="5668297" y="3455754"/>
              <a:ext cx="2847053" cy="5211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11"/>
          <p:cNvGrpSpPr/>
          <p:nvPr/>
        </p:nvGrpSpPr>
        <p:grpSpPr>
          <a:xfrm>
            <a:off x="4388684" y="3238500"/>
            <a:ext cx="2652729" cy="766938"/>
            <a:chOff x="4388684" y="3238500"/>
            <a:chExt cx="2652729" cy="766938"/>
          </a:xfrm>
        </p:grpSpPr>
        <p:sp>
          <p:nvSpPr>
            <p:cNvPr id="9" name="TextBox 8"/>
            <p:cNvSpPr txBox="1"/>
            <p:nvPr/>
          </p:nvSpPr>
          <p:spPr>
            <a:xfrm rot="913551">
              <a:off x="5077927" y="3238500"/>
              <a:ext cx="1963486" cy="646331"/>
            </a:xfrm>
            <a:prstGeom prst="rect">
              <a:avLst/>
            </a:prstGeom>
            <a:noFill/>
          </p:spPr>
          <p:txBody>
            <a:bodyPr wrap="none" rtlCol="0">
              <a:spAutoFit/>
            </a:bodyPr>
            <a:lstStyle/>
            <a:p>
              <a:r>
                <a:rPr lang="en-US" dirty="0" smtClean="0"/>
                <a:t>Consistently lower</a:t>
              </a:r>
            </a:p>
            <a:p>
              <a:pPr algn="ctr"/>
              <a:r>
                <a:rPr lang="en-US" dirty="0" smtClean="0"/>
                <a:t>throughput</a:t>
              </a:r>
            </a:p>
          </p:txBody>
        </p:sp>
        <p:cxnSp>
          <p:nvCxnSpPr>
            <p:cNvPr id="11" name="Straight Arrow Connector 10"/>
            <p:cNvCxnSpPr/>
            <p:nvPr/>
          </p:nvCxnSpPr>
          <p:spPr>
            <a:xfrm flipH="1">
              <a:off x="4388684" y="3734594"/>
              <a:ext cx="1031179" cy="27084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3" name="Group 12"/>
          <p:cNvGrpSpPr/>
          <p:nvPr/>
        </p:nvGrpSpPr>
        <p:grpSpPr>
          <a:xfrm>
            <a:off x="6920394" y="2831207"/>
            <a:ext cx="2304798" cy="1300111"/>
            <a:chOff x="4831855" y="3357917"/>
            <a:chExt cx="2304798" cy="1300111"/>
          </a:xfrm>
        </p:grpSpPr>
        <p:sp>
          <p:nvSpPr>
            <p:cNvPr id="14" name="TextBox 13"/>
            <p:cNvSpPr txBox="1"/>
            <p:nvPr/>
          </p:nvSpPr>
          <p:spPr>
            <a:xfrm rot="466102">
              <a:off x="4831855" y="3357917"/>
              <a:ext cx="2304798" cy="646331"/>
            </a:xfrm>
            <a:prstGeom prst="rect">
              <a:avLst/>
            </a:prstGeom>
            <a:noFill/>
          </p:spPr>
          <p:txBody>
            <a:bodyPr wrap="none" rtlCol="0">
              <a:spAutoFit/>
            </a:bodyPr>
            <a:lstStyle/>
            <a:p>
              <a:pPr algn="ctr"/>
              <a:r>
                <a:rPr lang="en-US" dirty="0" smtClean="0"/>
                <a:t>Large variations in</a:t>
              </a:r>
            </a:p>
            <a:p>
              <a:pPr algn="ctr"/>
              <a:r>
                <a:rPr lang="en-US" dirty="0" err="1" smtClean="0"/>
                <a:t>DataNode</a:t>
              </a:r>
              <a:r>
                <a:rPr lang="en-US" dirty="0" smtClean="0"/>
                <a:t> throughput</a:t>
              </a:r>
            </a:p>
          </p:txBody>
        </p:sp>
        <p:cxnSp>
          <p:nvCxnSpPr>
            <p:cNvPr id="15" name="Straight Arrow Connector 14"/>
            <p:cNvCxnSpPr/>
            <p:nvPr/>
          </p:nvCxnSpPr>
          <p:spPr>
            <a:xfrm flipH="1">
              <a:off x="6769711" y="4088375"/>
              <a:ext cx="96034" cy="56965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Slide Number Placeholder 9"/>
          <p:cNvSpPr>
            <a:spLocks noGrp="1"/>
          </p:cNvSpPr>
          <p:nvPr>
            <p:ph type="sldNum" sz="quarter" idx="12"/>
          </p:nvPr>
        </p:nvSpPr>
        <p:spPr/>
        <p:txBody>
          <a:bodyPr/>
          <a:lstStyle/>
          <a:p>
            <a:fld id="{D431E30F-8439-471B-9257-EDD8E85CDBC8}" type="slidenum">
              <a:rPr lang="en-US" smtClean="0"/>
              <a:t>39</a:t>
            </a:fld>
            <a:endParaRPr lang="en-US"/>
          </a:p>
        </p:txBody>
      </p:sp>
    </p:spTree>
    <p:extLst>
      <p:ext uri="{BB962C8B-B14F-4D97-AF65-F5344CB8AC3E}">
        <p14:creationId xmlns:p14="http://schemas.microsoft.com/office/powerpoint/2010/main" val="2111401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500"/>
                                        <p:tgtEl>
                                          <p:spTgt spid="3">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par>
                                <p:cTn id="27" presetID="10" presetClass="exit" presetSubtype="0" fill="hold" nodeType="withEffect">
                                  <p:stCondLst>
                                    <p:cond delay="0"/>
                                  </p:stCondLst>
                                  <p:childTnLst>
                                    <p:animEffect transition="out" filter="fade">
                                      <p:cBhvr>
                                        <p:cTn id="28" dur="500"/>
                                        <p:tgtEl>
                                          <p:spTgt spid="12"/>
                                        </p:tgtEl>
                                      </p:cBhvr>
                                    </p:animEffect>
                                    <p:set>
                                      <p:cBhvr>
                                        <p:cTn id="29" dur="1" fill="hold">
                                          <p:stCondLst>
                                            <p:cond delay="499"/>
                                          </p:stCondLst>
                                        </p:cTn>
                                        <p:tgtEl>
                                          <p:spTgt spid="12"/>
                                        </p:tgtEl>
                                        <p:attrNameLst>
                                          <p:attrName>style.visibility</p:attrName>
                                        </p:attrNameLst>
                                      </p:cBhvr>
                                      <p:to>
                                        <p:strVal val="hidden"/>
                                      </p:to>
                                    </p:set>
                                  </p:childTnLst>
                                </p:cTn>
                              </p:par>
                            </p:childTnLst>
                          </p:cTn>
                        </p:par>
                        <p:par>
                          <p:cTn id="30" fill="hold">
                            <p:stCondLst>
                              <p:cond delay="500"/>
                            </p:stCondLst>
                            <p:childTnLst>
                              <p:par>
                                <p:cTn id="31" presetID="10" presetClass="entr" presetSubtype="0" fill="hold" nodeType="after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2571" y="418952"/>
            <a:ext cx="7171151" cy="4883737"/>
          </a:xfrm>
        </p:spPr>
        <p:txBody>
          <a:bodyPr>
            <a:normAutofit/>
          </a:bodyPr>
          <a:lstStyle/>
          <a:p>
            <a:pPr marL="0" indent="0">
              <a:buNone/>
            </a:pPr>
            <a:r>
              <a:rPr lang="en-US" sz="2400" dirty="0"/>
              <a:t>I</a:t>
            </a:r>
            <a:r>
              <a:rPr lang="en-US" sz="2400" dirty="0" smtClean="0"/>
              <a:t>t’s probably a bug in the workload generator I wrote</a:t>
            </a:r>
          </a:p>
          <a:p>
            <a:pPr marL="0" indent="0">
              <a:buNone/>
            </a:pPr>
            <a:endParaRPr lang="en-US" sz="2400" dirty="0" smtClean="0"/>
          </a:p>
          <a:p>
            <a:pPr marL="0" indent="0">
              <a:buNone/>
            </a:pPr>
            <a:r>
              <a:rPr lang="en-US" sz="2400" dirty="0" smtClean="0"/>
              <a:t>My hypothesis: </a:t>
            </a:r>
          </a:p>
          <a:p>
            <a:pPr marL="457182" lvl="1" indent="0">
              <a:buNone/>
            </a:pPr>
            <a:r>
              <a:rPr lang="en-US" sz="2000" dirty="0" smtClean="0"/>
              <a:t>Workload generator is not randomly looking up files</a:t>
            </a:r>
          </a:p>
        </p:txBody>
      </p:sp>
      <p:sp>
        <p:nvSpPr>
          <p:cNvPr id="4" name="Query"/>
          <p:cNvSpPr txBox="1"/>
          <p:nvPr/>
        </p:nvSpPr>
        <p:spPr>
          <a:xfrm>
            <a:off x="212546" y="2347747"/>
            <a:ext cx="6373540" cy="941796"/>
          </a:xfrm>
          <a:prstGeom prst="rect">
            <a:avLst/>
          </a:prstGeom>
          <a:noFill/>
        </p:spPr>
        <p:txBody>
          <a:bodyPr wrap="none" lIns="0" tIns="0" rIns="0" bIns="0" rtlCol="0" anchor="t" anchorCtr="0">
            <a:spAutoFit/>
          </a:bodyPr>
          <a:lstStyle/>
          <a:p>
            <a:pPr>
              <a:lnSpc>
                <a:spcPct val="90000"/>
              </a:lnSpc>
            </a:pPr>
            <a:r>
              <a:rPr lang="en-US" sz="1700" b="1" spc="-50" dirty="0" smtClean="0">
                <a:latin typeface="Consolas" panose="020B0609020204030204" pitchFamily="49" charset="0"/>
                <a:cs typeface="Consolas" panose="020B0609020204030204" pitchFamily="49" charset="0"/>
              </a:rPr>
              <a:t>From</a:t>
            </a:r>
            <a:r>
              <a:rPr lang="en-US" sz="1700" spc="-50" dirty="0" smtClean="0">
                <a:latin typeface="Consolas" panose="020B0609020204030204" pitchFamily="49" charset="0"/>
                <a:cs typeface="Consolas" panose="020B0609020204030204" pitchFamily="49" charset="0"/>
              </a:rPr>
              <a:t> </a:t>
            </a:r>
            <a:r>
              <a:rPr lang="en-US" sz="1700" spc="-50" dirty="0" err="1" smtClean="0">
                <a:solidFill>
                  <a:srgbClr val="23642F"/>
                </a:solidFill>
                <a:latin typeface="Consolas" panose="020B0609020204030204" pitchFamily="49" charset="0"/>
                <a:cs typeface="Consolas" panose="020B0609020204030204" pitchFamily="49" charset="0"/>
              </a:rPr>
              <a:t>blockLocations</a:t>
            </a:r>
            <a:r>
              <a:rPr lang="en-US" sz="1700" spc="-50" dirty="0" smtClean="0">
                <a:solidFill>
                  <a:srgbClr val="23642F"/>
                </a:solidFill>
                <a:latin typeface="Consolas" panose="020B0609020204030204" pitchFamily="49" charset="0"/>
                <a:cs typeface="Consolas" panose="020B0609020204030204" pitchFamily="49" charset="0"/>
              </a:rPr>
              <a:t> </a:t>
            </a:r>
            <a:r>
              <a:rPr lang="en-US" sz="1700" b="1" spc="-50" dirty="0" smtClean="0">
                <a:latin typeface="Consolas" panose="020B0609020204030204" pitchFamily="49" charset="0"/>
                <a:cs typeface="Consolas" panose="020B0609020204030204" pitchFamily="49" charset="0"/>
              </a:rPr>
              <a:t>In</a:t>
            </a:r>
            <a:r>
              <a:rPr lang="en-US" sz="1700" spc="-50" dirty="0" smtClean="0">
                <a:latin typeface="Consolas" panose="020B0609020204030204" pitchFamily="49" charset="0"/>
                <a:cs typeface="Consolas" panose="020B0609020204030204" pitchFamily="49" charset="0"/>
              </a:rPr>
              <a:t> </a:t>
            </a:r>
            <a:r>
              <a:rPr lang="en-US" sz="1700" spc="-50" dirty="0" err="1" smtClean="0">
                <a:solidFill>
                  <a:srgbClr val="23642F"/>
                </a:solidFill>
                <a:latin typeface="Consolas" panose="020B0609020204030204" pitchFamily="49" charset="0"/>
                <a:cs typeface="Consolas" panose="020B0609020204030204" pitchFamily="49" charset="0"/>
              </a:rPr>
              <a:t>NameNode.GetBlockLocations</a:t>
            </a:r>
            <a:endParaRPr lang="en-US" sz="1700" spc="-50" dirty="0" smtClean="0">
              <a:solidFill>
                <a:srgbClr val="2F2364"/>
              </a:solidFill>
              <a:latin typeface="Consolas" panose="020B0609020204030204" pitchFamily="49" charset="0"/>
              <a:cs typeface="Consolas" panose="020B0609020204030204" pitchFamily="49" charset="0"/>
            </a:endParaRPr>
          </a:p>
          <a:p>
            <a:pPr>
              <a:lnSpc>
                <a:spcPct val="90000"/>
              </a:lnSpc>
            </a:pPr>
            <a:r>
              <a:rPr lang="en-US" sz="1700" spc="-50" dirty="0" smtClean="0">
                <a:solidFill>
                  <a:srgbClr val="23642F"/>
                </a:solidFill>
                <a:latin typeface="Consolas" panose="020B0609020204030204" pitchFamily="49" charset="0"/>
                <a:cs typeface="Consolas" panose="020B0609020204030204" pitchFamily="49" charset="0"/>
              </a:rPr>
              <a:t>  </a:t>
            </a:r>
            <a:r>
              <a:rPr lang="en-US" sz="1700" b="1" spc="-50" dirty="0" smtClean="0">
                <a:latin typeface="Consolas" panose="020B0609020204030204" pitchFamily="49" charset="0"/>
                <a:cs typeface="Consolas" panose="020B0609020204030204" pitchFamily="49" charset="0"/>
              </a:rPr>
              <a:t>Join</a:t>
            </a:r>
            <a:r>
              <a:rPr lang="en-US" sz="1700" spc="-50" dirty="0" smtClean="0">
                <a:solidFill>
                  <a:srgbClr val="23642F"/>
                </a:solidFill>
                <a:latin typeface="Consolas" panose="020B0609020204030204" pitchFamily="49" charset="0"/>
                <a:cs typeface="Consolas" panose="020B0609020204030204" pitchFamily="49" charset="0"/>
              </a:rPr>
              <a:t> </a:t>
            </a:r>
            <a:r>
              <a:rPr lang="en-US" sz="1700" spc="-50" dirty="0" smtClean="0">
                <a:solidFill>
                  <a:srgbClr val="C00000"/>
                </a:solidFill>
                <a:latin typeface="Consolas" panose="020B0609020204030204" pitchFamily="49" charset="0"/>
                <a:cs typeface="Consolas" panose="020B0609020204030204" pitchFamily="49" charset="0"/>
              </a:rPr>
              <a:t>cl </a:t>
            </a:r>
            <a:r>
              <a:rPr lang="en-US" sz="1700" b="1" spc="-50" dirty="0" smtClean="0">
                <a:latin typeface="Consolas" panose="020B0609020204030204" pitchFamily="49" charset="0"/>
                <a:cs typeface="Consolas" panose="020B0609020204030204" pitchFamily="49" charset="0"/>
              </a:rPr>
              <a:t>In</a:t>
            </a:r>
            <a:r>
              <a:rPr lang="en-US" sz="1700" spc="-50" dirty="0" smtClean="0">
                <a:solidFill>
                  <a:srgbClr val="23642F"/>
                </a:solidFill>
                <a:latin typeface="Consolas" panose="020B0609020204030204" pitchFamily="49" charset="0"/>
                <a:cs typeface="Consolas" panose="020B0609020204030204" pitchFamily="49" charset="0"/>
              </a:rPr>
              <a:t> </a:t>
            </a:r>
            <a:r>
              <a:rPr lang="en-US" sz="1700" spc="-50" dirty="0" err="1" smtClean="0">
                <a:solidFill>
                  <a:srgbClr val="C00000"/>
                </a:solidFill>
                <a:latin typeface="Consolas" panose="020B0609020204030204" pitchFamily="49" charset="0"/>
                <a:cs typeface="Consolas" panose="020B0609020204030204" pitchFamily="49" charset="0"/>
              </a:rPr>
              <a:t>Client.DoRandomRead</a:t>
            </a:r>
            <a:r>
              <a:rPr lang="en-US" sz="1700" spc="-50" dirty="0" smtClean="0">
                <a:solidFill>
                  <a:srgbClr val="C00000"/>
                </a:solidFill>
                <a:latin typeface="Consolas" panose="020B0609020204030204" pitchFamily="49" charset="0"/>
                <a:cs typeface="Consolas" panose="020B0609020204030204" pitchFamily="49" charset="0"/>
              </a:rPr>
              <a:t> </a:t>
            </a:r>
            <a:r>
              <a:rPr lang="en-US" sz="1700" b="1" spc="-50" dirty="0" smtClean="0">
                <a:latin typeface="Consolas" panose="020B0609020204030204" pitchFamily="49" charset="0"/>
                <a:cs typeface="Consolas" panose="020B0609020204030204" pitchFamily="49" charset="0"/>
              </a:rPr>
              <a:t>On</a:t>
            </a:r>
            <a:r>
              <a:rPr lang="en-US" sz="1700" spc="-50" dirty="0" smtClean="0">
                <a:solidFill>
                  <a:srgbClr val="23642F"/>
                </a:solidFill>
                <a:latin typeface="Consolas" panose="020B0609020204030204" pitchFamily="49" charset="0"/>
                <a:cs typeface="Consolas" panose="020B0609020204030204" pitchFamily="49" charset="0"/>
              </a:rPr>
              <a:t> </a:t>
            </a:r>
            <a:r>
              <a:rPr lang="en-US" sz="1700" spc="-50" dirty="0" smtClean="0">
                <a:solidFill>
                  <a:srgbClr val="C00000"/>
                </a:solidFill>
                <a:latin typeface="Consolas" panose="020B0609020204030204" pitchFamily="49" charset="0"/>
                <a:cs typeface="Consolas" panose="020B0609020204030204" pitchFamily="49" charset="0"/>
              </a:rPr>
              <a:t>cl </a:t>
            </a:r>
            <a:r>
              <a:rPr lang="en-US" sz="1700" b="1" spc="-50" dirty="0" smtClean="0">
                <a:latin typeface="Consolas" panose="020B0609020204030204" pitchFamily="49" charset="0"/>
                <a:cs typeface="Consolas" panose="020B0609020204030204" pitchFamily="49" charset="0"/>
              </a:rPr>
              <a:t>-&gt;</a:t>
            </a:r>
            <a:r>
              <a:rPr lang="en-US" sz="1700" spc="-50" dirty="0" smtClean="0">
                <a:solidFill>
                  <a:srgbClr val="23642F"/>
                </a:solidFill>
                <a:latin typeface="Consolas" panose="020B0609020204030204" pitchFamily="49" charset="0"/>
                <a:cs typeface="Consolas" panose="020B0609020204030204" pitchFamily="49" charset="0"/>
              </a:rPr>
              <a:t> </a:t>
            </a:r>
            <a:r>
              <a:rPr lang="en-US" sz="1700" spc="-50" dirty="0" err="1" smtClean="0">
                <a:solidFill>
                  <a:srgbClr val="23642F"/>
                </a:solidFill>
                <a:latin typeface="Consolas" panose="020B0609020204030204" pitchFamily="49" charset="0"/>
                <a:cs typeface="Consolas" panose="020B0609020204030204" pitchFamily="49" charset="0"/>
              </a:rPr>
              <a:t>blockLocations</a:t>
            </a:r>
            <a:endParaRPr lang="en-US" sz="1700" spc="-50" dirty="0" smtClean="0">
              <a:solidFill>
                <a:srgbClr val="23642F"/>
              </a:solidFill>
              <a:latin typeface="Consolas" panose="020B0609020204030204" pitchFamily="49" charset="0"/>
              <a:cs typeface="Consolas" panose="020B0609020204030204" pitchFamily="49" charset="0"/>
            </a:endParaRPr>
          </a:p>
          <a:p>
            <a:pPr>
              <a:lnSpc>
                <a:spcPct val="90000"/>
              </a:lnSpc>
            </a:pPr>
            <a:r>
              <a:rPr lang="en-US" sz="1700" spc="-50" dirty="0">
                <a:solidFill>
                  <a:srgbClr val="23642F"/>
                </a:solidFill>
                <a:latin typeface="Consolas" panose="020B0609020204030204" pitchFamily="49" charset="0"/>
                <a:cs typeface="Consolas" panose="020B0609020204030204" pitchFamily="49" charset="0"/>
              </a:rPr>
              <a:t> </a:t>
            </a:r>
            <a:r>
              <a:rPr lang="en-US" sz="1700" spc="-50" dirty="0" smtClean="0">
                <a:solidFill>
                  <a:srgbClr val="23642F"/>
                </a:solidFill>
                <a:latin typeface="Consolas" panose="020B0609020204030204" pitchFamily="49" charset="0"/>
                <a:cs typeface="Consolas" panose="020B0609020204030204" pitchFamily="49" charset="0"/>
              </a:rPr>
              <a:t> </a:t>
            </a:r>
            <a:r>
              <a:rPr lang="en-US" sz="1700" b="1" spc="-50" dirty="0" err="1" smtClean="0">
                <a:latin typeface="Consolas" panose="020B0609020204030204" pitchFamily="49" charset="0"/>
                <a:cs typeface="Consolas" panose="020B0609020204030204" pitchFamily="49" charset="0"/>
              </a:rPr>
              <a:t>GroupBy</a:t>
            </a:r>
            <a:r>
              <a:rPr lang="en-US" sz="1700" spc="-50" dirty="0" smtClean="0">
                <a:latin typeface="Consolas" panose="020B0609020204030204" pitchFamily="49" charset="0"/>
                <a:cs typeface="Consolas" panose="020B0609020204030204" pitchFamily="49" charset="0"/>
              </a:rPr>
              <a:t> </a:t>
            </a:r>
            <a:r>
              <a:rPr lang="en-US" sz="1700" spc="-50" dirty="0" err="1" smtClean="0">
                <a:solidFill>
                  <a:srgbClr val="C00000"/>
                </a:solidFill>
                <a:latin typeface="Consolas" panose="020B0609020204030204" pitchFamily="49" charset="0"/>
                <a:cs typeface="Consolas" panose="020B0609020204030204" pitchFamily="49" charset="0"/>
              </a:rPr>
              <a:t>cl.host</a:t>
            </a:r>
            <a:r>
              <a:rPr lang="en-US" sz="1700" spc="-50" dirty="0" smtClean="0">
                <a:latin typeface="Consolas" panose="020B0609020204030204" pitchFamily="49" charset="0"/>
                <a:cs typeface="Consolas" panose="020B0609020204030204" pitchFamily="49" charset="0"/>
              </a:rPr>
              <a:t>,</a:t>
            </a:r>
            <a:r>
              <a:rPr lang="en-US" sz="1700" spc="-50" dirty="0" smtClean="0">
                <a:solidFill>
                  <a:srgbClr val="23642F"/>
                </a:solidFill>
                <a:latin typeface="Consolas" panose="020B0609020204030204" pitchFamily="49" charset="0"/>
                <a:cs typeface="Consolas" panose="020B0609020204030204" pitchFamily="49" charset="0"/>
              </a:rPr>
              <a:t> </a:t>
            </a:r>
            <a:r>
              <a:rPr lang="en-US" sz="1700" spc="-50" dirty="0" err="1" smtClean="0">
                <a:solidFill>
                  <a:srgbClr val="23642F"/>
                </a:solidFill>
                <a:latin typeface="Consolas" panose="020B0609020204030204" pitchFamily="49" charset="0"/>
                <a:cs typeface="Consolas" panose="020B0609020204030204" pitchFamily="49" charset="0"/>
              </a:rPr>
              <a:t>blockLocations.fileName</a:t>
            </a:r>
            <a:endParaRPr lang="en-US" sz="1700" spc="-50" dirty="0" smtClean="0">
              <a:solidFill>
                <a:srgbClr val="23642F"/>
              </a:solidFill>
              <a:latin typeface="Consolas" panose="020B0609020204030204" pitchFamily="49" charset="0"/>
              <a:cs typeface="Consolas" panose="020B0609020204030204" pitchFamily="49" charset="0"/>
            </a:endParaRPr>
          </a:p>
          <a:p>
            <a:pPr>
              <a:lnSpc>
                <a:spcPct val="90000"/>
              </a:lnSpc>
            </a:pPr>
            <a:r>
              <a:rPr lang="en-US" sz="1700" spc="-50" dirty="0">
                <a:solidFill>
                  <a:srgbClr val="23642F"/>
                </a:solidFill>
                <a:latin typeface="Consolas" panose="020B0609020204030204" pitchFamily="49" charset="0"/>
                <a:cs typeface="Consolas" panose="020B0609020204030204" pitchFamily="49" charset="0"/>
              </a:rPr>
              <a:t> </a:t>
            </a:r>
            <a:r>
              <a:rPr lang="en-US" sz="1700" spc="-50" dirty="0" smtClean="0">
                <a:solidFill>
                  <a:srgbClr val="23642F"/>
                </a:solidFill>
                <a:latin typeface="Consolas" panose="020B0609020204030204" pitchFamily="49" charset="0"/>
                <a:cs typeface="Consolas" panose="020B0609020204030204" pitchFamily="49" charset="0"/>
              </a:rPr>
              <a:t> </a:t>
            </a:r>
            <a:r>
              <a:rPr lang="en-US" sz="1700" b="1" spc="-50" dirty="0" smtClean="0">
                <a:latin typeface="Consolas" panose="020B0609020204030204" pitchFamily="49" charset="0"/>
                <a:cs typeface="Consolas" panose="020B0609020204030204" pitchFamily="49" charset="0"/>
              </a:rPr>
              <a:t>Select</a:t>
            </a:r>
            <a:r>
              <a:rPr lang="en-US" sz="1700" spc="-50" dirty="0" smtClean="0">
                <a:solidFill>
                  <a:srgbClr val="23642F"/>
                </a:solidFill>
                <a:latin typeface="Consolas" panose="020B0609020204030204" pitchFamily="49" charset="0"/>
                <a:cs typeface="Consolas" panose="020B0609020204030204" pitchFamily="49" charset="0"/>
              </a:rPr>
              <a:t> </a:t>
            </a:r>
            <a:r>
              <a:rPr lang="en-US" sz="1700" spc="-50" dirty="0" err="1" smtClean="0">
                <a:solidFill>
                  <a:srgbClr val="C00000"/>
                </a:solidFill>
                <a:latin typeface="Consolas" panose="020B0609020204030204" pitchFamily="49" charset="0"/>
                <a:cs typeface="Consolas" panose="020B0609020204030204" pitchFamily="49" charset="0"/>
              </a:rPr>
              <a:t>cl.host</a:t>
            </a:r>
            <a:r>
              <a:rPr lang="en-US" sz="1700" spc="-50" dirty="0" smtClean="0">
                <a:latin typeface="Consolas" panose="020B0609020204030204" pitchFamily="49" charset="0"/>
                <a:cs typeface="Consolas" panose="020B0609020204030204" pitchFamily="49" charset="0"/>
              </a:rPr>
              <a:t>,</a:t>
            </a:r>
            <a:r>
              <a:rPr lang="en-US" sz="1700" spc="-50" dirty="0" smtClean="0">
                <a:solidFill>
                  <a:srgbClr val="23642F"/>
                </a:solidFill>
                <a:latin typeface="Consolas" panose="020B0609020204030204" pitchFamily="49" charset="0"/>
                <a:cs typeface="Consolas" panose="020B0609020204030204" pitchFamily="49" charset="0"/>
              </a:rPr>
              <a:t> </a:t>
            </a:r>
            <a:r>
              <a:rPr lang="en-US" sz="1700" spc="-50" dirty="0" err="1" smtClean="0">
                <a:solidFill>
                  <a:srgbClr val="23642F"/>
                </a:solidFill>
                <a:latin typeface="Consolas" panose="020B0609020204030204" pitchFamily="49" charset="0"/>
                <a:cs typeface="Consolas" panose="020B0609020204030204" pitchFamily="49" charset="0"/>
              </a:rPr>
              <a:t>blockLocations.fileName</a:t>
            </a:r>
            <a:r>
              <a:rPr lang="en-US" sz="1700" spc="-50" dirty="0" smtClean="0">
                <a:latin typeface="Consolas" panose="020B0609020204030204" pitchFamily="49" charset="0"/>
                <a:cs typeface="Consolas" panose="020B0609020204030204" pitchFamily="49" charset="0"/>
              </a:rPr>
              <a:t>,</a:t>
            </a:r>
            <a:r>
              <a:rPr lang="en-US" sz="1700" spc="-50" dirty="0" smtClean="0">
                <a:solidFill>
                  <a:srgbClr val="2F2364"/>
                </a:solidFill>
                <a:latin typeface="Consolas" panose="020B0609020204030204" pitchFamily="49" charset="0"/>
                <a:cs typeface="Consolas" panose="020B0609020204030204" pitchFamily="49" charset="0"/>
              </a:rPr>
              <a:t> </a:t>
            </a:r>
            <a:r>
              <a:rPr lang="en-US" sz="1700" b="1" spc="-50" dirty="0" smtClean="0">
                <a:latin typeface="Consolas" panose="020B0609020204030204" pitchFamily="49" charset="0"/>
                <a:cs typeface="Consolas" panose="020B0609020204030204" pitchFamily="49" charset="0"/>
              </a:rPr>
              <a:t>COUNT</a:t>
            </a:r>
          </a:p>
        </p:txBody>
      </p:sp>
      <p:sp>
        <p:nvSpPr>
          <p:cNvPr id="43" name="Freeform 42"/>
          <p:cNvSpPr/>
          <p:nvPr/>
        </p:nvSpPr>
        <p:spPr>
          <a:xfrm>
            <a:off x="0" y="1652189"/>
            <a:ext cx="8320385" cy="2063301"/>
          </a:xfrm>
          <a:custGeom>
            <a:avLst/>
            <a:gdLst>
              <a:gd name="connsiteX0" fmla="*/ 0 w 8320385"/>
              <a:gd name="connsiteY0" fmla="*/ 1148901 h 2063301"/>
              <a:gd name="connsiteX1" fmla="*/ 8320385 w 8320385"/>
              <a:gd name="connsiteY1" fmla="*/ 1148901 h 2063301"/>
              <a:gd name="connsiteX2" fmla="*/ 8320385 w 8320385"/>
              <a:gd name="connsiteY2" fmla="*/ 2063301 h 2063301"/>
              <a:gd name="connsiteX3" fmla="*/ 0 w 8320385"/>
              <a:gd name="connsiteY3" fmla="*/ 2063301 h 2063301"/>
              <a:gd name="connsiteX4" fmla="*/ 109182 w 8320385"/>
              <a:gd name="connsiteY4" fmla="*/ 0 h 2063301"/>
              <a:gd name="connsiteX5" fmla="*/ 6196083 w 8320385"/>
              <a:gd name="connsiteY5" fmla="*/ 0 h 2063301"/>
              <a:gd name="connsiteX6" fmla="*/ 6196083 w 8320385"/>
              <a:gd name="connsiteY6" fmla="*/ 914400 h 2063301"/>
              <a:gd name="connsiteX7" fmla="*/ 109182 w 8320385"/>
              <a:gd name="connsiteY7" fmla="*/ 914400 h 2063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320385" h="2063301">
                <a:moveTo>
                  <a:pt x="0" y="1148901"/>
                </a:moveTo>
                <a:lnTo>
                  <a:pt x="8320385" y="1148901"/>
                </a:lnTo>
                <a:lnTo>
                  <a:pt x="8320385" y="2063301"/>
                </a:lnTo>
                <a:lnTo>
                  <a:pt x="0" y="2063301"/>
                </a:lnTo>
                <a:close/>
                <a:moveTo>
                  <a:pt x="109182" y="0"/>
                </a:moveTo>
                <a:lnTo>
                  <a:pt x="6196083" y="0"/>
                </a:lnTo>
                <a:lnTo>
                  <a:pt x="6196083" y="914400"/>
                </a:lnTo>
                <a:lnTo>
                  <a:pt x="109182" y="914400"/>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43"/>
          <p:cNvSpPr/>
          <p:nvPr/>
        </p:nvSpPr>
        <p:spPr>
          <a:xfrm>
            <a:off x="111456" y="1900125"/>
            <a:ext cx="8320385" cy="2063301"/>
          </a:xfrm>
          <a:custGeom>
            <a:avLst/>
            <a:gdLst>
              <a:gd name="connsiteX0" fmla="*/ 0 w 8320385"/>
              <a:gd name="connsiteY0" fmla="*/ 1148901 h 2063301"/>
              <a:gd name="connsiteX1" fmla="*/ 8320385 w 8320385"/>
              <a:gd name="connsiteY1" fmla="*/ 1148901 h 2063301"/>
              <a:gd name="connsiteX2" fmla="*/ 8320385 w 8320385"/>
              <a:gd name="connsiteY2" fmla="*/ 2063301 h 2063301"/>
              <a:gd name="connsiteX3" fmla="*/ 0 w 8320385"/>
              <a:gd name="connsiteY3" fmla="*/ 2063301 h 2063301"/>
              <a:gd name="connsiteX4" fmla="*/ 109182 w 8320385"/>
              <a:gd name="connsiteY4" fmla="*/ 0 h 2063301"/>
              <a:gd name="connsiteX5" fmla="*/ 6196083 w 8320385"/>
              <a:gd name="connsiteY5" fmla="*/ 0 h 2063301"/>
              <a:gd name="connsiteX6" fmla="*/ 6196083 w 8320385"/>
              <a:gd name="connsiteY6" fmla="*/ 914400 h 2063301"/>
              <a:gd name="connsiteX7" fmla="*/ 109182 w 8320385"/>
              <a:gd name="connsiteY7" fmla="*/ 914400 h 2063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320385" h="2063301">
                <a:moveTo>
                  <a:pt x="0" y="1148901"/>
                </a:moveTo>
                <a:lnTo>
                  <a:pt x="8320385" y="1148901"/>
                </a:lnTo>
                <a:lnTo>
                  <a:pt x="8320385" y="2063301"/>
                </a:lnTo>
                <a:lnTo>
                  <a:pt x="0" y="2063301"/>
                </a:lnTo>
                <a:close/>
                <a:moveTo>
                  <a:pt x="109182" y="0"/>
                </a:moveTo>
                <a:lnTo>
                  <a:pt x="6196083" y="0"/>
                </a:lnTo>
                <a:lnTo>
                  <a:pt x="6196083" y="914400"/>
                </a:lnTo>
                <a:lnTo>
                  <a:pt x="109182" y="914400"/>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44"/>
          <p:cNvSpPr/>
          <p:nvPr/>
        </p:nvSpPr>
        <p:spPr>
          <a:xfrm>
            <a:off x="113728" y="2134413"/>
            <a:ext cx="8320385" cy="2063301"/>
          </a:xfrm>
          <a:custGeom>
            <a:avLst/>
            <a:gdLst>
              <a:gd name="connsiteX0" fmla="*/ 0 w 8320385"/>
              <a:gd name="connsiteY0" fmla="*/ 1148901 h 2063301"/>
              <a:gd name="connsiteX1" fmla="*/ 8320385 w 8320385"/>
              <a:gd name="connsiteY1" fmla="*/ 1148901 h 2063301"/>
              <a:gd name="connsiteX2" fmla="*/ 8320385 w 8320385"/>
              <a:gd name="connsiteY2" fmla="*/ 2063301 h 2063301"/>
              <a:gd name="connsiteX3" fmla="*/ 0 w 8320385"/>
              <a:gd name="connsiteY3" fmla="*/ 2063301 h 2063301"/>
              <a:gd name="connsiteX4" fmla="*/ 109182 w 8320385"/>
              <a:gd name="connsiteY4" fmla="*/ 0 h 2063301"/>
              <a:gd name="connsiteX5" fmla="*/ 6196083 w 8320385"/>
              <a:gd name="connsiteY5" fmla="*/ 0 h 2063301"/>
              <a:gd name="connsiteX6" fmla="*/ 6196083 w 8320385"/>
              <a:gd name="connsiteY6" fmla="*/ 914400 h 2063301"/>
              <a:gd name="connsiteX7" fmla="*/ 109182 w 8320385"/>
              <a:gd name="connsiteY7" fmla="*/ 914400 h 2063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320385" h="2063301">
                <a:moveTo>
                  <a:pt x="0" y="1148901"/>
                </a:moveTo>
                <a:lnTo>
                  <a:pt x="8320385" y="1148901"/>
                </a:lnTo>
                <a:lnTo>
                  <a:pt x="8320385" y="2063301"/>
                </a:lnTo>
                <a:lnTo>
                  <a:pt x="0" y="2063301"/>
                </a:lnTo>
                <a:close/>
                <a:moveTo>
                  <a:pt x="109182" y="0"/>
                </a:moveTo>
                <a:lnTo>
                  <a:pt x="6196083" y="0"/>
                </a:lnTo>
                <a:lnTo>
                  <a:pt x="6196083" y="914400"/>
                </a:lnTo>
                <a:lnTo>
                  <a:pt x="109182" y="914400"/>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p:nvPr/>
        </p:nvGrpSpPr>
        <p:grpSpPr>
          <a:xfrm>
            <a:off x="6776392" y="3979712"/>
            <a:ext cx="2219323" cy="1598367"/>
            <a:chOff x="2589415" y="3600246"/>
            <a:chExt cx="2219323" cy="1598367"/>
          </a:xfrm>
        </p:grpSpPr>
        <p:grpSp>
          <p:nvGrpSpPr>
            <p:cNvPr id="8" name="Group 7"/>
            <p:cNvGrpSpPr/>
            <p:nvPr/>
          </p:nvGrpSpPr>
          <p:grpSpPr>
            <a:xfrm>
              <a:off x="2617251" y="3600246"/>
              <a:ext cx="2191487" cy="1598367"/>
              <a:chOff x="5674776" y="1054419"/>
              <a:chExt cx="2191487" cy="1598367"/>
            </a:xfrm>
          </p:grpSpPr>
          <p:sp>
            <p:nvSpPr>
              <p:cNvPr id="6" name="Rounded Rectangle 5"/>
              <p:cNvSpPr/>
              <p:nvPr/>
            </p:nvSpPr>
            <p:spPr>
              <a:xfrm>
                <a:off x="5808500" y="1054419"/>
                <a:ext cx="2057763" cy="1598367"/>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800" dirty="0" smtClean="0">
                  <a:solidFill>
                    <a:schemeClr val="tx1"/>
                  </a:solidFill>
                </a:endParaRPr>
              </a:p>
              <a:p>
                <a:pPr algn="r"/>
                <a:endParaRPr lang="en-US" sz="2000" dirty="0" smtClean="0">
                  <a:solidFill>
                    <a:schemeClr val="tx1"/>
                  </a:solidFill>
                </a:endParaRPr>
              </a:p>
              <a:p>
                <a:pPr algn="r"/>
                <a:r>
                  <a:rPr lang="en-US" sz="2000" dirty="0" smtClean="0">
                    <a:solidFill>
                      <a:schemeClr val="tx1"/>
                    </a:solidFill>
                  </a:rPr>
                  <a:t>HDFS </a:t>
                </a:r>
                <a:r>
                  <a:rPr lang="en-US" sz="2000" dirty="0" err="1" smtClean="0">
                    <a:solidFill>
                      <a:schemeClr val="tx1"/>
                    </a:solidFill>
                  </a:rPr>
                  <a:t>NameNode</a:t>
                </a:r>
                <a:endParaRPr lang="en-US" sz="2000" dirty="0">
                  <a:solidFill>
                    <a:schemeClr val="tx1"/>
                  </a:solidFill>
                </a:endParaRPr>
              </a:p>
            </p:txBody>
          </p:sp>
          <p:pic>
            <p:nvPicPr>
              <p:cNvPr id="7" name="Picture 2" descr="https://cloud.google.com/hadoop/images/hadoop-elephant.png"/>
              <p:cNvPicPr>
                <a:picLocks noChangeAspect="1" noChangeArrowheads="1"/>
              </p:cNvPicPr>
              <p:nvPr/>
            </p:nvPicPr>
            <p:blipFill>
              <a:blip r:embed="rId3" cstate="print">
                <a:biLevel thresh="75000"/>
                <a:extLst>
                  <a:ext uri="{28A0092B-C50C-407E-A947-70E740481C1C}">
                    <a14:useLocalDpi xmlns:a14="http://schemas.microsoft.com/office/drawing/2010/main" val="0"/>
                  </a:ext>
                </a:extLst>
              </a:blip>
              <a:srcRect/>
              <a:stretch>
                <a:fillRect/>
              </a:stretch>
            </p:blipFill>
            <p:spPr bwMode="auto">
              <a:xfrm>
                <a:off x="5674776" y="1563219"/>
                <a:ext cx="1219519" cy="871787"/>
              </a:xfrm>
              <a:prstGeom prst="rect">
                <a:avLst/>
              </a:prstGeom>
              <a:noFill/>
              <a:extLst>
                <a:ext uri="{909E8E84-426E-40DD-AFC4-6F175D3DCCD1}">
                  <a14:hiddenFill xmlns:a14="http://schemas.microsoft.com/office/drawing/2010/main">
                    <a:solidFill>
                      <a:srgbClr val="FFFFFF"/>
                    </a:solidFill>
                  </a14:hiddenFill>
                </a:ext>
              </a:extLst>
            </p:spPr>
          </p:pic>
        </p:grpSp>
        <p:sp>
          <p:nvSpPr>
            <p:cNvPr id="5" name="Rounded Rectangle 4"/>
            <p:cNvSpPr/>
            <p:nvPr/>
          </p:nvSpPr>
          <p:spPr>
            <a:xfrm>
              <a:off x="2589415" y="3719366"/>
              <a:ext cx="2075137" cy="343799"/>
            </a:xfrm>
            <a:prstGeom prst="roundRect">
              <a:avLst/>
            </a:prstGeom>
            <a:solidFill>
              <a:srgbClr val="FFE1E1"/>
            </a:solidFill>
            <a:ln w="381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err="1" smtClean="0">
                  <a:solidFill>
                    <a:srgbClr val="23642F"/>
                  </a:solidFill>
                  <a:latin typeface="Consolas" panose="020B0609020204030204" pitchFamily="49" charset="0"/>
                  <a:cs typeface="Consolas" panose="020B0609020204030204" pitchFamily="49" charset="0"/>
                </a:rPr>
                <a:t>GetBlockLocations</a:t>
              </a:r>
              <a:endParaRPr lang="en-US" sz="1400" b="1" dirty="0">
                <a:solidFill>
                  <a:srgbClr val="23642F"/>
                </a:solidFill>
                <a:latin typeface="Consolas" panose="020B0609020204030204" pitchFamily="49" charset="0"/>
                <a:cs typeface="Consolas" panose="020B0609020204030204" pitchFamily="49" charset="0"/>
              </a:endParaRPr>
            </a:p>
          </p:txBody>
        </p:sp>
      </p:grpSp>
      <p:grpSp>
        <p:nvGrpSpPr>
          <p:cNvPr id="24" name="Group 23"/>
          <p:cNvGrpSpPr/>
          <p:nvPr/>
        </p:nvGrpSpPr>
        <p:grpSpPr>
          <a:xfrm>
            <a:off x="6937952" y="2120668"/>
            <a:ext cx="1901752" cy="1118106"/>
            <a:chOff x="370662" y="3872441"/>
            <a:chExt cx="1901752" cy="1118106"/>
          </a:xfrm>
        </p:grpSpPr>
        <p:sp>
          <p:nvSpPr>
            <p:cNvPr id="10" name="Rounded Rectangle 9"/>
            <p:cNvSpPr/>
            <p:nvPr/>
          </p:nvSpPr>
          <p:spPr>
            <a:xfrm>
              <a:off x="370662" y="3872441"/>
              <a:ext cx="1901752" cy="1118106"/>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3200" dirty="0" smtClean="0">
                  <a:solidFill>
                    <a:schemeClr val="tx1"/>
                  </a:solidFill>
                </a:rPr>
                <a:t>Client</a:t>
              </a:r>
            </a:p>
            <a:p>
              <a:pPr algn="r"/>
              <a:endParaRPr lang="en-US" sz="3200" dirty="0">
                <a:solidFill>
                  <a:schemeClr val="tx1"/>
                </a:solidFill>
              </a:endParaRPr>
            </a:p>
          </p:txBody>
        </p:sp>
        <p:sp>
          <p:nvSpPr>
            <p:cNvPr id="11" name="Freeform 10"/>
            <p:cNvSpPr/>
            <p:nvPr/>
          </p:nvSpPr>
          <p:spPr>
            <a:xfrm>
              <a:off x="580449" y="3969186"/>
              <a:ext cx="445091" cy="518222"/>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2" name="Rounded Rectangle 11"/>
            <p:cNvSpPr/>
            <p:nvPr/>
          </p:nvSpPr>
          <p:spPr>
            <a:xfrm>
              <a:off x="690759" y="4483840"/>
              <a:ext cx="1471417" cy="343799"/>
            </a:xfrm>
            <a:prstGeom prst="roundRect">
              <a:avLst/>
            </a:prstGeom>
            <a:solidFill>
              <a:srgbClr val="FFE1E1"/>
            </a:solidFill>
            <a:ln w="381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err="1" smtClean="0">
                  <a:solidFill>
                    <a:srgbClr val="C00000"/>
                  </a:solidFill>
                  <a:latin typeface="Consolas" panose="020B0609020204030204" pitchFamily="49" charset="0"/>
                  <a:cs typeface="Consolas" panose="020B0609020204030204" pitchFamily="49" charset="0"/>
                </a:rPr>
                <a:t>DoRandomRead</a:t>
              </a:r>
              <a:endParaRPr lang="en-US" sz="1400" b="1" dirty="0">
                <a:solidFill>
                  <a:srgbClr val="C00000"/>
                </a:solidFill>
                <a:latin typeface="Consolas" panose="020B0609020204030204" pitchFamily="49" charset="0"/>
                <a:cs typeface="Consolas" panose="020B0609020204030204" pitchFamily="49" charset="0"/>
              </a:endParaRPr>
            </a:p>
          </p:txBody>
        </p:sp>
      </p:grpSp>
      <p:sp>
        <p:nvSpPr>
          <p:cNvPr id="36" name="Rounded Rectangle 35"/>
          <p:cNvSpPr/>
          <p:nvPr/>
        </p:nvSpPr>
        <p:spPr>
          <a:xfrm>
            <a:off x="216825" y="3814970"/>
            <a:ext cx="6309302" cy="2791698"/>
          </a:xfrm>
          <a:prstGeom prst="roundRect">
            <a:avLst>
              <a:gd name="adj" fmla="val 9161"/>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Query"/>
          <p:cNvSpPr txBox="1"/>
          <p:nvPr/>
        </p:nvSpPr>
        <p:spPr>
          <a:xfrm>
            <a:off x="225122" y="2340260"/>
            <a:ext cx="5576848" cy="706347"/>
          </a:xfrm>
          <a:prstGeom prst="rect">
            <a:avLst/>
          </a:prstGeom>
          <a:noFill/>
        </p:spPr>
        <p:txBody>
          <a:bodyPr wrap="none" lIns="0" tIns="0" rIns="0" bIns="0" rtlCol="0" anchor="t" anchorCtr="0">
            <a:spAutoFit/>
          </a:bodyPr>
          <a:lstStyle/>
          <a:p>
            <a:pPr>
              <a:lnSpc>
                <a:spcPct val="90000"/>
              </a:lnSpc>
            </a:pPr>
            <a:r>
              <a:rPr lang="en-US" sz="1700" b="1" spc="-50" dirty="0" smtClean="0">
                <a:latin typeface="Consolas" panose="020B0609020204030204" pitchFamily="49" charset="0"/>
                <a:cs typeface="Consolas" panose="020B0609020204030204" pitchFamily="49" charset="0"/>
              </a:rPr>
              <a:t>From</a:t>
            </a:r>
            <a:r>
              <a:rPr lang="en-US" sz="1700" spc="-50" dirty="0" smtClean="0">
                <a:latin typeface="Consolas" panose="020B0609020204030204" pitchFamily="49" charset="0"/>
                <a:cs typeface="Consolas" panose="020B0609020204030204" pitchFamily="49" charset="0"/>
              </a:rPr>
              <a:t> </a:t>
            </a:r>
            <a:r>
              <a:rPr lang="en-US" sz="1700" spc="-50" dirty="0" err="1" smtClean="0">
                <a:solidFill>
                  <a:srgbClr val="23642F"/>
                </a:solidFill>
                <a:latin typeface="Consolas" panose="020B0609020204030204" pitchFamily="49" charset="0"/>
                <a:cs typeface="Consolas" panose="020B0609020204030204" pitchFamily="49" charset="0"/>
              </a:rPr>
              <a:t>blockLocations</a:t>
            </a:r>
            <a:r>
              <a:rPr lang="en-US" sz="1700" spc="-50" dirty="0" smtClean="0">
                <a:solidFill>
                  <a:srgbClr val="23642F"/>
                </a:solidFill>
                <a:latin typeface="Consolas" panose="020B0609020204030204" pitchFamily="49" charset="0"/>
                <a:cs typeface="Consolas" panose="020B0609020204030204" pitchFamily="49" charset="0"/>
              </a:rPr>
              <a:t> </a:t>
            </a:r>
            <a:r>
              <a:rPr lang="en-US" sz="1700" b="1" spc="-50" dirty="0" smtClean="0">
                <a:latin typeface="Consolas" panose="020B0609020204030204" pitchFamily="49" charset="0"/>
                <a:cs typeface="Consolas" panose="020B0609020204030204" pitchFamily="49" charset="0"/>
              </a:rPr>
              <a:t>In</a:t>
            </a:r>
            <a:r>
              <a:rPr lang="en-US" sz="1700" spc="-50" dirty="0" smtClean="0">
                <a:latin typeface="Consolas" panose="020B0609020204030204" pitchFamily="49" charset="0"/>
                <a:cs typeface="Consolas" panose="020B0609020204030204" pitchFamily="49" charset="0"/>
              </a:rPr>
              <a:t> </a:t>
            </a:r>
            <a:r>
              <a:rPr lang="en-US" sz="1700" spc="-50" dirty="0" err="1" smtClean="0">
                <a:solidFill>
                  <a:srgbClr val="23642F"/>
                </a:solidFill>
                <a:latin typeface="Consolas" panose="020B0609020204030204" pitchFamily="49" charset="0"/>
                <a:cs typeface="Consolas" panose="020B0609020204030204" pitchFamily="49" charset="0"/>
              </a:rPr>
              <a:t>NameNode.GetBlockLocations</a:t>
            </a:r>
            <a:endParaRPr lang="en-US" sz="1700" spc="-50" dirty="0" smtClean="0">
              <a:solidFill>
                <a:srgbClr val="23642F"/>
              </a:solidFill>
              <a:latin typeface="Consolas" panose="020B0609020204030204" pitchFamily="49" charset="0"/>
              <a:cs typeface="Consolas" panose="020B0609020204030204" pitchFamily="49" charset="0"/>
            </a:endParaRPr>
          </a:p>
          <a:p>
            <a:pPr>
              <a:lnSpc>
                <a:spcPct val="90000"/>
              </a:lnSpc>
            </a:pPr>
            <a:r>
              <a:rPr lang="en-US" sz="1700" spc="-50" dirty="0">
                <a:solidFill>
                  <a:srgbClr val="23642F"/>
                </a:solidFill>
                <a:latin typeface="Consolas" panose="020B0609020204030204" pitchFamily="49" charset="0"/>
                <a:cs typeface="Consolas" panose="020B0609020204030204" pitchFamily="49" charset="0"/>
              </a:rPr>
              <a:t> </a:t>
            </a:r>
            <a:r>
              <a:rPr lang="en-US" sz="1700" spc="-50" dirty="0" smtClean="0">
                <a:solidFill>
                  <a:srgbClr val="23642F"/>
                </a:solidFill>
                <a:latin typeface="Consolas" panose="020B0609020204030204" pitchFamily="49" charset="0"/>
                <a:cs typeface="Consolas" panose="020B0609020204030204" pitchFamily="49" charset="0"/>
              </a:rPr>
              <a:t> </a:t>
            </a:r>
            <a:r>
              <a:rPr lang="en-US" sz="1700" b="1" spc="-50" dirty="0" err="1" smtClean="0">
                <a:latin typeface="Consolas" panose="020B0609020204030204" pitchFamily="49" charset="0"/>
                <a:cs typeface="Consolas" panose="020B0609020204030204" pitchFamily="49" charset="0"/>
              </a:rPr>
              <a:t>GroupBy</a:t>
            </a:r>
            <a:r>
              <a:rPr lang="en-US" sz="1700" spc="-50" dirty="0" smtClean="0">
                <a:latin typeface="Consolas" panose="020B0609020204030204" pitchFamily="49" charset="0"/>
                <a:cs typeface="Consolas" panose="020B0609020204030204" pitchFamily="49" charset="0"/>
              </a:rPr>
              <a:t> </a:t>
            </a:r>
            <a:r>
              <a:rPr lang="en-US" sz="1700" spc="-50" dirty="0" err="1" smtClean="0">
                <a:solidFill>
                  <a:srgbClr val="23642F"/>
                </a:solidFill>
                <a:latin typeface="Consolas" panose="020B0609020204030204" pitchFamily="49" charset="0"/>
                <a:cs typeface="Consolas" panose="020B0609020204030204" pitchFamily="49" charset="0"/>
              </a:rPr>
              <a:t>blockLocations.fileName</a:t>
            </a:r>
            <a:endParaRPr lang="en-US" sz="1700" spc="-50" dirty="0" smtClean="0">
              <a:solidFill>
                <a:srgbClr val="23642F"/>
              </a:solidFill>
              <a:latin typeface="Consolas" panose="020B0609020204030204" pitchFamily="49" charset="0"/>
              <a:cs typeface="Consolas" panose="020B0609020204030204" pitchFamily="49" charset="0"/>
            </a:endParaRPr>
          </a:p>
          <a:p>
            <a:pPr>
              <a:lnSpc>
                <a:spcPct val="90000"/>
              </a:lnSpc>
            </a:pPr>
            <a:r>
              <a:rPr lang="en-US" sz="1700" spc="-50" dirty="0" smtClean="0">
                <a:solidFill>
                  <a:srgbClr val="23642F"/>
                </a:solidFill>
                <a:latin typeface="Consolas" panose="020B0609020204030204" pitchFamily="49" charset="0"/>
                <a:cs typeface="Consolas" panose="020B0609020204030204" pitchFamily="49" charset="0"/>
              </a:rPr>
              <a:t>  </a:t>
            </a:r>
            <a:r>
              <a:rPr lang="en-US" sz="1700" b="1" spc="-50" dirty="0" smtClean="0">
                <a:latin typeface="Consolas" panose="020B0609020204030204" pitchFamily="49" charset="0"/>
                <a:cs typeface="Consolas" panose="020B0609020204030204" pitchFamily="49" charset="0"/>
              </a:rPr>
              <a:t>Select</a:t>
            </a:r>
            <a:r>
              <a:rPr lang="en-US" sz="1700" spc="-50" dirty="0" smtClean="0">
                <a:solidFill>
                  <a:srgbClr val="23642F"/>
                </a:solidFill>
                <a:latin typeface="Consolas" panose="020B0609020204030204" pitchFamily="49" charset="0"/>
                <a:cs typeface="Consolas" panose="020B0609020204030204" pitchFamily="49" charset="0"/>
              </a:rPr>
              <a:t> </a:t>
            </a:r>
            <a:r>
              <a:rPr lang="en-US" sz="1700" spc="-50" dirty="0" err="1" smtClean="0">
                <a:solidFill>
                  <a:srgbClr val="23642F"/>
                </a:solidFill>
                <a:latin typeface="Consolas" panose="020B0609020204030204" pitchFamily="49" charset="0"/>
                <a:cs typeface="Consolas" panose="020B0609020204030204" pitchFamily="49" charset="0"/>
              </a:rPr>
              <a:t>blockLocations.fileName</a:t>
            </a:r>
            <a:r>
              <a:rPr lang="en-US" sz="1700" spc="-50" dirty="0" smtClean="0">
                <a:latin typeface="Consolas" panose="020B0609020204030204" pitchFamily="49" charset="0"/>
                <a:cs typeface="Consolas" panose="020B0609020204030204" pitchFamily="49" charset="0"/>
              </a:rPr>
              <a:t>,</a:t>
            </a:r>
            <a:r>
              <a:rPr lang="en-US" sz="1700" spc="-50" dirty="0" smtClean="0">
                <a:solidFill>
                  <a:srgbClr val="2F2364"/>
                </a:solidFill>
                <a:latin typeface="Consolas" panose="020B0609020204030204" pitchFamily="49" charset="0"/>
                <a:cs typeface="Consolas" panose="020B0609020204030204" pitchFamily="49" charset="0"/>
              </a:rPr>
              <a:t> </a:t>
            </a:r>
            <a:r>
              <a:rPr lang="en-US" sz="1700" b="1" spc="-50" dirty="0" smtClean="0">
                <a:latin typeface="Consolas" panose="020B0609020204030204" pitchFamily="49" charset="0"/>
                <a:cs typeface="Consolas" panose="020B0609020204030204" pitchFamily="49" charset="0"/>
              </a:rPr>
              <a:t>COUNT</a:t>
            </a:r>
          </a:p>
        </p:txBody>
      </p:sp>
      <p:cxnSp>
        <p:nvCxnSpPr>
          <p:cNvPr id="52" name="Straight Arrow Connector 51"/>
          <p:cNvCxnSpPr/>
          <p:nvPr/>
        </p:nvCxnSpPr>
        <p:spPr>
          <a:xfrm>
            <a:off x="8125399" y="3352232"/>
            <a:ext cx="0" cy="462738"/>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nvGrpSpPr>
          <p:cNvPr id="63" name="Group 62"/>
          <p:cNvGrpSpPr/>
          <p:nvPr/>
        </p:nvGrpSpPr>
        <p:grpSpPr>
          <a:xfrm>
            <a:off x="2108452" y="3862616"/>
            <a:ext cx="3326811" cy="2721192"/>
            <a:chOff x="2108452" y="3862616"/>
            <a:chExt cx="3326811" cy="2721192"/>
          </a:xfrm>
        </p:grpSpPr>
        <p:pic>
          <p:nvPicPr>
            <p:cNvPr id="26" name="Picture 25"/>
            <p:cNvPicPr>
              <a:picLocks noChangeAspect="1"/>
            </p:cNvPicPr>
            <p:nvPr/>
          </p:nvPicPr>
          <p:blipFill rotWithShape="1">
            <a:blip r:embed="rId4">
              <a:extLst>
                <a:ext uri="{28A0092B-C50C-407E-A947-70E740481C1C}">
                  <a14:useLocalDpi xmlns:a14="http://schemas.microsoft.com/office/drawing/2010/main" val="0"/>
                </a:ext>
              </a:extLst>
            </a:blip>
            <a:srcRect l="8644" t="22360" r="70999"/>
            <a:stretch/>
          </p:blipFill>
          <p:spPr>
            <a:xfrm>
              <a:off x="2504683" y="3862616"/>
              <a:ext cx="2930580" cy="2721192"/>
            </a:xfrm>
            <a:prstGeom prst="rect">
              <a:avLst/>
            </a:prstGeom>
          </p:spPr>
        </p:pic>
        <p:grpSp>
          <p:nvGrpSpPr>
            <p:cNvPr id="62" name="Group 61"/>
            <p:cNvGrpSpPr/>
            <p:nvPr/>
          </p:nvGrpSpPr>
          <p:grpSpPr>
            <a:xfrm>
              <a:off x="2108452" y="3956852"/>
              <a:ext cx="241517" cy="2544156"/>
              <a:chOff x="2108452" y="3979712"/>
              <a:chExt cx="241517" cy="2544156"/>
            </a:xfrm>
          </p:grpSpPr>
          <p:sp>
            <p:nvSpPr>
              <p:cNvPr id="54" name="Freeform 53"/>
              <p:cNvSpPr/>
              <p:nvPr/>
            </p:nvSpPr>
            <p:spPr>
              <a:xfrm flipH="1">
                <a:off x="2108452" y="5602497"/>
                <a:ext cx="232970" cy="27225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rgbClr val="52515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548640" bIns="0" rtlCol="0" anchor="ctr"/>
              <a:lstStyle/>
              <a:p>
                <a:pPr algn="ctr"/>
                <a:r>
                  <a:rPr lang="en-US" sz="2400" dirty="0" smtClean="0">
                    <a:ln w="3175">
                      <a:solidFill>
                        <a:schemeClr val="tx1"/>
                      </a:solidFill>
                    </a:ln>
                    <a:solidFill>
                      <a:schemeClr val="bg1"/>
                    </a:solidFill>
                    <a:latin typeface="Arial Black" panose="020B0A04020102020204" pitchFamily="34" charset="0"/>
                    <a:cs typeface="Times New Roman" panose="02020603050405020304" pitchFamily="18" charset="0"/>
                  </a:rPr>
                  <a:t>F</a:t>
                </a:r>
                <a:endParaRPr lang="en-US" sz="2400" dirty="0">
                  <a:ln w="3175">
                    <a:solidFill>
                      <a:schemeClr val="tx1"/>
                    </a:solidFill>
                  </a:ln>
                  <a:solidFill>
                    <a:schemeClr val="bg1"/>
                  </a:solidFill>
                  <a:latin typeface="Arial Black" panose="020B0A04020102020204" pitchFamily="34" charset="0"/>
                  <a:cs typeface="Times New Roman" panose="02020603050405020304" pitchFamily="18" charset="0"/>
                </a:endParaRPr>
              </a:p>
            </p:txBody>
          </p:sp>
          <p:sp>
            <p:nvSpPr>
              <p:cNvPr id="55" name="Freeform 54"/>
              <p:cNvSpPr/>
              <p:nvPr/>
            </p:nvSpPr>
            <p:spPr>
              <a:xfrm flipH="1">
                <a:off x="2108452" y="3979712"/>
                <a:ext cx="232970" cy="27225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548640" bIns="0" rtlCol="0" anchor="ctr"/>
              <a:lstStyle/>
              <a:p>
                <a:pPr algn="ctr"/>
                <a:r>
                  <a:rPr lang="en-US" sz="2400" b="1" dirty="0" smtClean="0">
                    <a:ln w="3175">
                      <a:solidFill>
                        <a:schemeClr val="tx1"/>
                      </a:solidFill>
                    </a:ln>
                    <a:solidFill>
                      <a:schemeClr val="bg1"/>
                    </a:solidFill>
                    <a:latin typeface="Arial Black" panose="020B0A04020102020204" pitchFamily="34" charset="0"/>
                    <a:cs typeface="Times New Roman" panose="02020603050405020304" pitchFamily="18" charset="0"/>
                  </a:rPr>
                  <a:t>A</a:t>
                </a:r>
                <a:endParaRPr lang="en-US" sz="2000" b="1" dirty="0">
                  <a:ln w="3175">
                    <a:solidFill>
                      <a:schemeClr val="tx1"/>
                    </a:solidFill>
                  </a:ln>
                  <a:solidFill>
                    <a:schemeClr val="bg1"/>
                  </a:solidFill>
                  <a:latin typeface="Arial Black" panose="020B0A04020102020204" pitchFamily="34" charset="0"/>
                  <a:cs typeface="Times New Roman" panose="02020603050405020304" pitchFamily="18" charset="0"/>
                </a:endParaRPr>
              </a:p>
            </p:txBody>
          </p:sp>
          <p:sp>
            <p:nvSpPr>
              <p:cNvPr id="56" name="Freeform 55"/>
              <p:cNvSpPr/>
              <p:nvPr/>
            </p:nvSpPr>
            <p:spPr>
              <a:xfrm flipH="1">
                <a:off x="2108452" y="4304269"/>
                <a:ext cx="232970" cy="27225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rgbClr val="96939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548640" bIns="0" rtlCol="0" anchor="ctr"/>
              <a:lstStyle/>
              <a:p>
                <a:pPr algn="ctr"/>
                <a:r>
                  <a:rPr lang="en-US" sz="2400" dirty="0" smtClean="0">
                    <a:ln w="3175">
                      <a:solidFill>
                        <a:schemeClr val="tx1"/>
                      </a:solidFill>
                    </a:ln>
                    <a:solidFill>
                      <a:schemeClr val="bg1"/>
                    </a:solidFill>
                    <a:latin typeface="Arial Black" panose="020B0A04020102020204" pitchFamily="34" charset="0"/>
                    <a:cs typeface="Times New Roman" panose="02020603050405020304" pitchFamily="18" charset="0"/>
                  </a:rPr>
                  <a:t>B</a:t>
                </a:r>
                <a:endParaRPr lang="en-US" sz="2400" dirty="0">
                  <a:ln w="3175">
                    <a:solidFill>
                      <a:schemeClr val="tx1"/>
                    </a:solidFill>
                  </a:ln>
                  <a:solidFill>
                    <a:schemeClr val="bg1"/>
                  </a:solidFill>
                  <a:latin typeface="Arial Black" panose="020B0A04020102020204" pitchFamily="34" charset="0"/>
                  <a:cs typeface="Times New Roman" panose="02020603050405020304" pitchFamily="18" charset="0"/>
                </a:endParaRPr>
              </a:p>
            </p:txBody>
          </p:sp>
          <p:sp>
            <p:nvSpPr>
              <p:cNvPr id="57" name="Freeform 56"/>
              <p:cNvSpPr/>
              <p:nvPr/>
            </p:nvSpPr>
            <p:spPr>
              <a:xfrm flipH="1">
                <a:off x="2108452" y="5277940"/>
                <a:ext cx="232970" cy="27225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rgbClr val="644F7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548640" bIns="0" rtlCol="0" anchor="ctr"/>
              <a:lstStyle/>
              <a:p>
                <a:pPr algn="ctr"/>
                <a:r>
                  <a:rPr lang="en-US" sz="2400" dirty="0" smtClean="0">
                    <a:ln w="3175">
                      <a:solidFill>
                        <a:schemeClr val="tx1"/>
                      </a:solidFill>
                    </a:ln>
                    <a:solidFill>
                      <a:schemeClr val="bg1"/>
                    </a:solidFill>
                    <a:latin typeface="Arial Black" panose="020B0A04020102020204" pitchFamily="34" charset="0"/>
                    <a:cs typeface="Times New Roman" panose="02020603050405020304" pitchFamily="18" charset="0"/>
                  </a:rPr>
                  <a:t>E</a:t>
                </a:r>
                <a:endParaRPr lang="en-US" sz="2400" dirty="0">
                  <a:ln w="3175">
                    <a:solidFill>
                      <a:schemeClr val="tx1"/>
                    </a:solidFill>
                  </a:ln>
                  <a:solidFill>
                    <a:schemeClr val="bg1"/>
                  </a:solidFill>
                  <a:latin typeface="Arial Black" panose="020B0A04020102020204" pitchFamily="34" charset="0"/>
                  <a:cs typeface="Times New Roman" panose="02020603050405020304" pitchFamily="18" charset="0"/>
                </a:endParaRPr>
              </a:p>
            </p:txBody>
          </p:sp>
          <p:sp>
            <p:nvSpPr>
              <p:cNvPr id="58" name="Freeform 57"/>
              <p:cNvSpPr/>
              <p:nvPr/>
            </p:nvSpPr>
            <p:spPr>
              <a:xfrm flipH="1">
                <a:off x="2108452" y="4628826"/>
                <a:ext cx="232970" cy="27225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rgbClr val="C19D8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548640" bIns="0" rtlCol="0" anchor="ctr"/>
              <a:lstStyle/>
              <a:p>
                <a:pPr algn="ctr"/>
                <a:r>
                  <a:rPr lang="en-US" sz="2400" dirty="0" smtClean="0">
                    <a:ln w="3175">
                      <a:solidFill>
                        <a:schemeClr val="tx1"/>
                      </a:solidFill>
                    </a:ln>
                    <a:solidFill>
                      <a:schemeClr val="bg1"/>
                    </a:solidFill>
                    <a:latin typeface="Arial Black" panose="020B0A04020102020204" pitchFamily="34" charset="0"/>
                    <a:cs typeface="Times New Roman" panose="02020603050405020304" pitchFamily="18" charset="0"/>
                  </a:rPr>
                  <a:t>C</a:t>
                </a:r>
                <a:endParaRPr lang="en-US" sz="2400" dirty="0">
                  <a:ln w="3175">
                    <a:solidFill>
                      <a:schemeClr val="tx1"/>
                    </a:solidFill>
                  </a:ln>
                  <a:solidFill>
                    <a:schemeClr val="bg1"/>
                  </a:solidFill>
                  <a:latin typeface="Arial Black" panose="020B0A04020102020204" pitchFamily="34" charset="0"/>
                  <a:cs typeface="Times New Roman" panose="02020603050405020304" pitchFamily="18" charset="0"/>
                </a:endParaRPr>
              </a:p>
            </p:txBody>
          </p:sp>
          <p:sp>
            <p:nvSpPr>
              <p:cNvPr id="59" name="Freeform 58"/>
              <p:cNvSpPr/>
              <p:nvPr/>
            </p:nvSpPr>
            <p:spPr>
              <a:xfrm flipH="1">
                <a:off x="2108452" y="4953383"/>
                <a:ext cx="232970" cy="27225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rgbClr val="87411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548640" bIns="0" rtlCol="0" anchor="ctr"/>
              <a:lstStyle/>
              <a:p>
                <a:pPr algn="ctr"/>
                <a:r>
                  <a:rPr lang="en-US" sz="2400" dirty="0" smtClean="0">
                    <a:ln w="3175">
                      <a:solidFill>
                        <a:schemeClr val="tx1"/>
                      </a:solidFill>
                    </a:ln>
                    <a:solidFill>
                      <a:schemeClr val="bg1"/>
                    </a:solidFill>
                    <a:latin typeface="Arial Black" panose="020B0A04020102020204" pitchFamily="34" charset="0"/>
                    <a:cs typeface="Times New Roman" panose="02020603050405020304" pitchFamily="18" charset="0"/>
                  </a:rPr>
                  <a:t>D</a:t>
                </a:r>
                <a:endParaRPr lang="en-US" sz="2400" dirty="0">
                  <a:ln w="3175">
                    <a:solidFill>
                      <a:schemeClr val="tx1"/>
                    </a:solidFill>
                  </a:ln>
                  <a:solidFill>
                    <a:schemeClr val="bg1"/>
                  </a:solidFill>
                  <a:latin typeface="Arial Black" panose="020B0A04020102020204" pitchFamily="34" charset="0"/>
                  <a:cs typeface="Times New Roman" panose="02020603050405020304" pitchFamily="18" charset="0"/>
                </a:endParaRPr>
              </a:p>
            </p:txBody>
          </p:sp>
          <p:sp>
            <p:nvSpPr>
              <p:cNvPr id="60" name="Freeform 59"/>
              <p:cNvSpPr/>
              <p:nvPr/>
            </p:nvSpPr>
            <p:spPr>
              <a:xfrm flipH="1">
                <a:off x="2108452" y="5927054"/>
                <a:ext cx="232970" cy="27225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rgbClr val="7394D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548640" bIns="0" rtlCol="0" anchor="ctr"/>
              <a:lstStyle/>
              <a:p>
                <a:pPr algn="ctr"/>
                <a:r>
                  <a:rPr lang="en-US" sz="2400" dirty="0" smtClean="0">
                    <a:ln w="3175">
                      <a:solidFill>
                        <a:schemeClr val="tx1"/>
                      </a:solidFill>
                    </a:ln>
                    <a:solidFill>
                      <a:schemeClr val="bg1"/>
                    </a:solidFill>
                    <a:latin typeface="Arial Black" panose="020B0A04020102020204" pitchFamily="34" charset="0"/>
                    <a:cs typeface="Times New Roman" panose="02020603050405020304" pitchFamily="18" charset="0"/>
                  </a:rPr>
                  <a:t>G</a:t>
                </a:r>
                <a:endParaRPr lang="en-US" sz="2400" dirty="0">
                  <a:ln w="3175">
                    <a:solidFill>
                      <a:schemeClr val="tx1"/>
                    </a:solidFill>
                  </a:ln>
                  <a:solidFill>
                    <a:schemeClr val="bg1"/>
                  </a:solidFill>
                  <a:latin typeface="Arial Black" panose="020B0A04020102020204" pitchFamily="34" charset="0"/>
                  <a:cs typeface="Times New Roman" panose="02020603050405020304" pitchFamily="18" charset="0"/>
                </a:endParaRPr>
              </a:p>
            </p:txBody>
          </p:sp>
          <p:sp>
            <p:nvSpPr>
              <p:cNvPr id="61" name="Freeform 60"/>
              <p:cNvSpPr/>
              <p:nvPr/>
            </p:nvSpPr>
            <p:spPr>
              <a:xfrm flipH="1">
                <a:off x="2116999" y="6251614"/>
                <a:ext cx="232970" cy="27225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rgbClr val="7FA167"/>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548640" bIns="0" rtlCol="0" anchor="ctr"/>
              <a:lstStyle/>
              <a:p>
                <a:pPr algn="ctr"/>
                <a:r>
                  <a:rPr lang="en-US" sz="2400" dirty="0" smtClean="0">
                    <a:ln w="3175">
                      <a:solidFill>
                        <a:schemeClr val="tx1"/>
                      </a:solidFill>
                    </a:ln>
                    <a:solidFill>
                      <a:schemeClr val="bg1"/>
                    </a:solidFill>
                    <a:latin typeface="Arial Black" panose="020B0A04020102020204" pitchFamily="34" charset="0"/>
                    <a:cs typeface="Times New Roman" panose="02020603050405020304" pitchFamily="18" charset="0"/>
                  </a:rPr>
                  <a:t>H</a:t>
                </a:r>
                <a:endParaRPr lang="en-US" sz="2400" dirty="0">
                  <a:ln w="3175">
                    <a:solidFill>
                      <a:schemeClr val="tx1"/>
                    </a:solidFill>
                  </a:ln>
                  <a:solidFill>
                    <a:schemeClr val="bg1"/>
                  </a:solidFill>
                  <a:latin typeface="Arial Black" panose="020B0A04020102020204" pitchFamily="34" charset="0"/>
                  <a:cs typeface="Times New Roman" panose="02020603050405020304" pitchFamily="18" charset="0"/>
                </a:endParaRPr>
              </a:p>
            </p:txBody>
          </p:sp>
        </p:grpSp>
      </p:grpSp>
      <p:grpSp>
        <p:nvGrpSpPr>
          <p:cNvPr id="22" name="Group 21"/>
          <p:cNvGrpSpPr/>
          <p:nvPr/>
        </p:nvGrpSpPr>
        <p:grpSpPr>
          <a:xfrm>
            <a:off x="668887" y="4547413"/>
            <a:ext cx="5180466" cy="1472622"/>
            <a:chOff x="1105987" y="1310622"/>
            <a:chExt cx="5180466" cy="1472622"/>
          </a:xfrm>
        </p:grpSpPr>
        <p:pic>
          <p:nvPicPr>
            <p:cNvPr id="39" name="Picture 38"/>
            <p:cNvPicPr>
              <a:picLocks noChangeAspect="1"/>
            </p:cNvPicPr>
            <p:nvPr/>
          </p:nvPicPr>
          <p:blipFill rotWithShape="1">
            <a:blip r:embed="rId4">
              <a:extLst>
                <a:ext uri="{28A0092B-C50C-407E-A947-70E740481C1C}">
                  <a14:useLocalDpi xmlns:a14="http://schemas.microsoft.com/office/drawing/2010/main" val="0"/>
                </a:ext>
              </a:extLst>
            </a:blip>
            <a:srcRect l="8644" t="22360" r="70999" b="66418"/>
            <a:stretch/>
          </p:blipFill>
          <p:spPr>
            <a:xfrm>
              <a:off x="1535619" y="1838907"/>
              <a:ext cx="4750834" cy="637606"/>
            </a:xfrm>
            <a:prstGeom prst="rect">
              <a:avLst/>
            </a:prstGeom>
          </p:spPr>
        </p:pic>
        <p:grpSp>
          <p:nvGrpSpPr>
            <p:cNvPr id="17" name="Group 16"/>
            <p:cNvGrpSpPr/>
            <p:nvPr/>
          </p:nvGrpSpPr>
          <p:grpSpPr>
            <a:xfrm rot="16200000">
              <a:off x="707704" y="1708905"/>
              <a:ext cx="1165897" cy="369332"/>
              <a:chOff x="-923931" y="295282"/>
              <a:chExt cx="1165897" cy="369332"/>
            </a:xfrm>
          </p:grpSpPr>
          <p:sp>
            <p:nvSpPr>
              <p:cNvPr id="14" name="TextBox 13"/>
              <p:cNvSpPr txBox="1"/>
              <p:nvPr/>
            </p:nvSpPr>
            <p:spPr>
              <a:xfrm>
                <a:off x="-923931" y="295282"/>
                <a:ext cx="1165897" cy="369332"/>
              </a:xfrm>
              <a:prstGeom prst="rect">
                <a:avLst/>
              </a:prstGeom>
              <a:noFill/>
            </p:spPr>
            <p:txBody>
              <a:bodyPr wrap="none" rtlCol="0">
                <a:spAutoFit/>
              </a:bodyPr>
              <a:lstStyle/>
              <a:p>
                <a:r>
                  <a:rPr lang="en-US" dirty="0" smtClean="0"/>
                  <a:t>Frequency</a:t>
                </a:r>
                <a:endParaRPr lang="en-US" dirty="0"/>
              </a:p>
            </p:txBody>
          </p:sp>
          <p:cxnSp>
            <p:nvCxnSpPr>
              <p:cNvPr id="16" name="Straight Arrow Connector 15"/>
              <p:cNvCxnSpPr/>
              <p:nvPr/>
            </p:nvCxnSpPr>
            <p:spPr>
              <a:xfrm>
                <a:off x="-871113" y="664607"/>
                <a:ext cx="106027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1516906" y="2413912"/>
              <a:ext cx="4743141" cy="369332"/>
              <a:chOff x="-897519" y="295275"/>
              <a:chExt cx="4743141" cy="369332"/>
            </a:xfrm>
          </p:grpSpPr>
          <p:sp>
            <p:nvSpPr>
              <p:cNvPr id="50" name="TextBox 49"/>
              <p:cNvSpPr txBox="1"/>
              <p:nvPr/>
            </p:nvSpPr>
            <p:spPr>
              <a:xfrm>
                <a:off x="140994" y="295275"/>
                <a:ext cx="2666114" cy="369332"/>
              </a:xfrm>
              <a:prstGeom prst="rect">
                <a:avLst/>
              </a:prstGeom>
              <a:noFill/>
            </p:spPr>
            <p:txBody>
              <a:bodyPr wrap="none" rtlCol="0">
                <a:spAutoFit/>
              </a:bodyPr>
              <a:lstStyle/>
              <a:p>
                <a:r>
                  <a:rPr lang="en-US" dirty="0" smtClean="0"/>
                  <a:t>Number of times accessed</a:t>
                </a:r>
                <a:endParaRPr lang="en-US" dirty="0"/>
              </a:p>
            </p:txBody>
          </p:sp>
          <p:cxnSp>
            <p:nvCxnSpPr>
              <p:cNvPr id="51" name="Straight Arrow Connector 50"/>
              <p:cNvCxnSpPr/>
              <p:nvPr/>
            </p:nvCxnSpPr>
            <p:spPr>
              <a:xfrm>
                <a:off x="-897519" y="324065"/>
                <a:ext cx="474314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64" name="Group 63"/>
          <p:cNvGrpSpPr/>
          <p:nvPr/>
        </p:nvGrpSpPr>
        <p:grpSpPr>
          <a:xfrm>
            <a:off x="7274697" y="140386"/>
            <a:ext cx="1721018" cy="1569660"/>
            <a:chOff x="2042417" y="2020656"/>
            <a:chExt cx="1721018" cy="1569660"/>
          </a:xfrm>
        </p:grpSpPr>
        <p:grpSp>
          <p:nvGrpSpPr>
            <p:cNvPr id="65" name="Group 64"/>
            <p:cNvGrpSpPr/>
            <p:nvPr/>
          </p:nvGrpSpPr>
          <p:grpSpPr>
            <a:xfrm>
              <a:off x="2042417" y="2276342"/>
              <a:ext cx="1721018" cy="1237104"/>
              <a:chOff x="4941133" y="3455754"/>
              <a:chExt cx="3764717" cy="2706157"/>
            </a:xfrm>
          </p:grpSpPr>
          <p:pic>
            <p:nvPicPr>
              <p:cNvPr id="67" name="Picture 6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41133" y="3455754"/>
                <a:ext cx="3764717" cy="2706157"/>
              </a:xfrm>
              <a:prstGeom prst="rect">
                <a:avLst/>
              </a:prstGeom>
            </p:spPr>
          </p:pic>
          <p:sp>
            <p:nvSpPr>
              <p:cNvPr id="68" name="Rectangle 67"/>
              <p:cNvSpPr/>
              <p:nvPr/>
            </p:nvSpPr>
            <p:spPr>
              <a:xfrm>
                <a:off x="5668297" y="3455754"/>
                <a:ext cx="2847053" cy="5211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TextBox 65"/>
            <p:cNvSpPr txBox="1"/>
            <p:nvPr/>
          </p:nvSpPr>
          <p:spPr>
            <a:xfrm>
              <a:off x="2675636" y="2020656"/>
              <a:ext cx="755335" cy="1569660"/>
            </a:xfrm>
            <a:prstGeom prst="rect">
              <a:avLst/>
            </a:prstGeom>
            <a:noFill/>
          </p:spPr>
          <p:txBody>
            <a:bodyPr wrap="none" rtlCol="0">
              <a:spAutoFit/>
            </a:bodyPr>
            <a:lstStyle/>
            <a:p>
              <a:r>
                <a:rPr lang="en-US" sz="9600" dirty="0" smtClean="0">
                  <a:ln w="28575">
                    <a:solidFill>
                      <a:schemeClr val="tx1"/>
                    </a:solidFill>
                  </a:ln>
                  <a:solidFill>
                    <a:schemeClr val="bg1"/>
                  </a:solidFill>
                </a:rPr>
                <a:t>?</a:t>
              </a:r>
              <a:endParaRPr lang="en-US" sz="9600" dirty="0">
                <a:ln w="28575">
                  <a:solidFill>
                    <a:schemeClr val="tx1"/>
                  </a:solidFill>
                </a:ln>
                <a:solidFill>
                  <a:schemeClr val="bg1"/>
                </a:solidFill>
              </a:endParaRPr>
            </a:p>
          </p:txBody>
        </p:sp>
      </p:grpSp>
      <p:sp>
        <p:nvSpPr>
          <p:cNvPr id="2" name="Slide Number Placeholder 1"/>
          <p:cNvSpPr>
            <a:spLocks noGrp="1"/>
          </p:cNvSpPr>
          <p:nvPr>
            <p:ph type="sldNum" sz="quarter" idx="12"/>
          </p:nvPr>
        </p:nvSpPr>
        <p:spPr/>
        <p:txBody>
          <a:bodyPr/>
          <a:lstStyle/>
          <a:p>
            <a:fld id="{D431E30F-8439-471B-9257-EDD8E85CDBC8}" type="slidenum">
              <a:rPr lang="en-US" smtClean="0"/>
              <a:t>40</a:t>
            </a:fld>
            <a:endParaRPr lang="en-US"/>
          </a:p>
        </p:txBody>
      </p:sp>
    </p:spTree>
    <p:extLst>
      <p:ext uri="{BB962C8B-B14F-4D97-AF65-F5344CB8AC3E}">
        <p14:creationId xmlns:p14="http://schemas.microsoft.com/office/powerpoint/2010/main" val="3274128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7"/>
                                        </p:tgtEl>
                                        <p:attrNameLst>
                                          <p:attrName>style.visibility</p:attrName>
                                        </p:attrNameLst>
                                      </p:cBhvr>
                                      <p:to>
                                        <p:strVal val="visible"/>
                                      </p:to>
                                    </p:set>
                                    <p:animEffect transition="in" filter="fade">
                                      <p:cBhvr>
                                        <p:cTn id="18" dur="500"/>
                                        <p:tgtEl>
                                          <p:spTgt spid="37"/>
                                        </p:tgtEl>
                                      </p:cBhvr>
                                    </p:animEffect>
                                  </p:childTnLst>
                                </p:cTn>
                              </p:par>
                            </p:childTnLst>
                          </p:cTn>
                        </p:par>
                        <p:par>
                          <p:cTn id="19" fill="hold">
                            <p:stCondLst>
                              <p:cond delay="500"/>
                            </p:stCondLst>
                            <p:childTnLst>
                              <p:par>
                                <p:cTn id="20" presetID="10" presetClass="entr" presetSubtype="0" fill="hold" nodeType="after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fade">
                                      <p:cBhvr>
                                        <p:cTn id="27" dur="500"/>
                                        <p:tgtEl>
                                          <p:spTgt spid="36"/>
                                        </p:tgtEl>
                                      </p:cBhvr>
                                    </p:animEffect>
                                  </p:childTnLst>
                                </p:cTn>
                              </p:par>
                              <p:par>
                                <p:cTn id="28" presetID="10" presetClass="entr" presetSubtype="0" fill="hold" nodeType="with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fade">
                                      <p:cBhvr>
                                        <p:cTn id="30" dur="500"/>
                                        <p:tgtEl>
                                          <p:spTgt spid="2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fade">
                                      <p:cBhvr>
                                        <p:cTn id="35" dur="500"/>
                                        <p:tgtEl>
                                          <p:spTgt spid="24"/>
                                        </p:tgtEl>
                                      </p:cBhvr>
                                    </p:animEffect>
                                  </p:childTnLst>
                                </p:cTn>
                              </p:par>
                            </p:childTnLst>
                          </p:cTn>
                        </p:par>
                        <p:par>
                          <p:cTn id="36" fill="hold">
                            <p:stCondLst>
                              <p:cond delay="500"/>
                            </p:stCondLst>
                            <p:childTnLst>
                              <p:par>
                                <p:cTn id="37" presetID="22" presetClass="entr" presetSubtype="1" fill="hold" nodeType="afterEffect">
                                  <p:stCondLst>
                                    <p:cond delay="0"/>
                                  </p:stCondLst>
                                  <p:childTnLst>
                                    <p:set>
                                      <p:cBhvr>
                                        <p:cTn id="38" dur="1" fill="hold">
                                          <p:stCondLst>
                                            <p:cond delay="0"/>
                                          </p:stCondLst>
                                        </p:cTn>
                                        <p:tgtEl>
                                          <p:spTgt spid="52"/>
                                        </p:tgtEl>
                                        <p:attrNameLst>
                                          <p:attrName>style.visibility</p:attrName>
                                        </p:attrNameLst>
                                      </p:cBhvr>
                                      <p:to>
                                        <p:strVal val="visible"/>
                                      </p:to>
                                    </p:set>
                                    <p:animEffect transition="in" filter="wipe(up)">
                                      <p:cBhvr>
                                        <p:cTn id="39" dur="500"/>
                                        <p:tgtEl>
                                          <p:spTgt spid="52"/>
                                        </p:tgtEl>
                                      </p:cBhvr>
                                    </p:animEffect>
                                  </p:childTnLst>
                                </p:cTn>
                              </p:par>
                            </p:childTnLst>
                          </p:cTn>
                        </p:par>
                        <p:par>
                          <p:cTn id="40" fill="hold">
                            <p:stCondLst>
                              <p:cond delay="1000"/>
                            </p:stCondLst>
                            <p:childTnLst>
                              <p:par>
                                <p:cTn id="41" presetID="10" presetClass="exit" presetSubtype="0" fill="hold" grpId="1" nodeType="afterEffect">
                                  <p:stCondLst>
                                    <p:cond delay="0"/>
                                  </p:stCondLst>
                                  <p:childTnLst>
                                    <p:animEffect transition="out" filter="fade">
                                      <p:cBhvr>
                                        <p:cTn id="42" dur="500"/>
                                        <p:tgtEl>
                                          <p:spTgt spid="37"/>
                                        </p:tgtEl>
                                      </p:cBhvr>
                                    </p:animEffect>
                                    <p:set>
                                      <p:cBhvr>
                                        <p:cTn id="43" dur="1" fill="hold">
                                          <p:stCondLst>
                                            <p:cond delay="499"/>
                                          </p:stCondLst>
                                        </p:cTn>
                                        <p:tgtEl>
                                          <p:spTgt spid="37"/>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4"/>
                                        </p:tgtEl>
                                        <p:attrNameLst>
                                          <p:attrName>style.visibility</p:attrName>
                                        </p:attrNameLst>
                                      </p:cBhvr>
                                      <p:to>
                                        <p:strVal val="visible"/>
                                      </p:to>
                                    </p:set>
                                    <p:animEffect transition="in" filter="fade">
                                      <p:cBhvr>
                                        <p:cTn id="46" dur="500"/>
                                        <p:tgtEl>
                                          <p:spTgt spid="4"/>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43"/>
                                        </p:tgtEl>
                                        <p:attrNameLst>
                                          <p:attrName>style.visibility</p:attrName>
                                        </p:attrNameLst>
                                      </p:cBhvr>
                                      <p:to>
                                        <p:strVal val="visible"/>
                                      </p:to>
                                    </p:set>
                                    <p:animEffect transition="in" filter="fade">
                                      <p:cBhvr>
                                        <p:cTn id="51" dur="500"/>
                                        <p:tgtEl>
                                          <p:spTgt spid="43"/>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xit" presetSubtype="0" fill="hold" grpId="1" nodeType="clickEffect">
                                  <p:stCondLst>
                                    <p:cond delay="0"/>
                                  </p:stCondLst>
                                  <p:childTnLst>
                                    <p:animEffect transition="out" filter="fade">
                                      <p:cBhvr>
                                        <p:cTn id="55" dur="500"/>
                                        <p:tgtEl>
                                          <p:spTgt spid="43"/>
                                        </p:tgtEl>
                                      </p:cBhvr>
                                    </p:animEffect>
                                    <p:set>
                                      <p:cBhvr>
                                        <p:cTn id="56" dur="1" fill="hold">
                                          <p:stCondLst>
                                            <p:cond delay="499"/>
                                          </p:stCondLst>
                                        </p:cTn>
                                        <p:tgtEl>
                                          <p:spTgt spid="43"/>
                                        </p:tgtEl>
                                        <p:attrNameLst>
                                          <p:attrName>style.visibility</p:attrName>
                                        </p:attrNameLst>
                                      </p:cBhvr>
                                      <p:to>
                                        <p:strVal val="hidden"/>
                                      </p:to>
                                    </p:set>
                                  </p:childTnLst>
                                </p:cTn>
                              </p:par>
                              <p:par>
                                <p:cTn id="57" presetID="10" presetClass="entr" presetSubtype="0" fill="hold" grpId="0" nodeType="withEffect">
                                  <p:stCondLst>
                                    <p:cond delay="0"/>
                                  </p:stCondLst>
                                  <p:childTnLst>
                                    <p:set>
                                      <p:cBhvr>
                                        <p:cTn id="58" dur="1" fill="hold">
                                          <p:stCondLst>
                                            <p:cond delay="0"/>
                                          </p:stCondLst>
                                        </p:cTn>
                                        <p:tgtEl>
                                          <p:spTgt spid="44"/>
                                        </p:tgtEl>
                                        <p:attrNameLst>
                                          <p:attrName>style.visibility</p:attrName>
                                        </p:attrNameLst>
                                      </p:cBhvr>
                                      <p:to>
                                        <p:strVal val="visible"/>
                                      </p:to>
                                    </p:set>
                                    <p:animEffect transition="in" filter="fade">
                                      <p:cBhvr>
                                        <p:cTn id="59" dur="500"/>
                                        <p:tgtEl>
                                          <p:spTgt spid="44"/>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xit" presetSubtype="0" fill="hold" grpId="1" nodeType="clickEffect">
                                  <p:stCondLst>
                                    <p:cond delay="0"/>
                                  </p:stCondLst>
                                  <p:childTnLst>
                                    <p:animEffect transition="out" filter="fade">
                                      <p:cBhvr>
                                        <p:cTn id="63" dur="500"/>
                                        <p:tgtEl>
                                          <p:spTgt spid="44"/>
                                        </p:tgtEl>
                                      </p:cBhvr>
                                    </p:animEffect>
                                    <p:set>
                                      <p:cBhvr>
                                        <p:cTn id="64" dur="1" fill="hold">
                                          <p:stCondLst>
                                            <p:cond delay="499"/>
                                          </p:stCondLst>
                                        </p:cTn>
                                        <p:tgtEl>
                                          <p:spTgt spid="44"/>
                                        </p:tgtEl>
                                        <p:attrNameLst>
                                          <p:attrName>style.visibility</p:attrName>
                                        </p:attrNameLst>
                                      </p:cBhvr>
                                      <p:to>
                                        <p:strVal val="hidden"/>
                                      </p:to>
                                    </p:set>
                                  </p:childTnLst>
                                </p:cTn>
                              </p:par>
                              <p:par>
                                <p:cTn id="65" presetID="10" presetClass="entr" presetSubtype="0" fill="hold" grpId="0" nodeType="withEffect">
                                  <p:stCondLst>
                                    <p:cond delay="0"/>
                                  </p:stCondLst>
                                  <p:childTnLst>
                                    <p:set>
                                      <p:cBhvr>
                                        <p:cTn id="66" dur="1" fill="hold">
                                          <p:stCondLst>
                                            <p:cond delay="0"/>
                                          </p:stCondLst>
                                        </p:cTn>
                                        <p:tgtEl>
                                          <p:spTgt spid="45"/>
                                        </p:tgtEl>
                                        <p:attrNameLst>
                                          <p:attrName>style.visibility</p:attrName>
                                        </p:attrNameLst>
                                      </p:cBhvr>
                                      <p:to>
                                        <p:strVal val="visible"/>
                                      </p:to>
                                    </p:set>
                                    <p:animEffect transition="in" filter="fade">
                                      <p:cBhvr>
                                        <p:cTn id="67" dur="500"/>
                                        <p:tgtEl>
                                          <p:spTgt spid="45"/>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xit" presetSubtype="0" fill="hold" grpId="1" nodeType="clickEffect">
                                  <p:stCondLst>
                                    <p:cond delay="0"/>
                                  </p:stCondLst>
                                  <p:childTnLst>
                                    <p:animEffect transition="out" filter="fade">
                                      <p:cBhvr>
                                        <p:cTn id="71" dur="500"/>
                                        <p:tgtEl>
                                          <p:spTgt spid="45"/>
                                        </p:tgtEl>
                                      </p:cBhvr>
                                    </p:animEffect>
                                    <p:set>
                                      <p:cBhvr>
                                        <p:cTn id="72" dur="1" fill="hold">
                                          <p:stCondLst>
                                            <p:cond delay="499"/>
                                          </p:stCondLst>
                                        </p:cTn>
                                        <p:tgtEl>
                                          <p:spTgt spid="45"/>
                                        </p:tgtEl>
                                        <p:attrNameLst>
                                          <p:attrName>style.visibility</p:attrName>
                                        </p:attrNameLst>
                                      </p:cBhvr>
                                      <p:to>
                                        <p:strVal val="hidden"/>
                                      </p:to>
                                    </p:set>
                                  </p:childTnLst>
                                </p:cTn>
                              </p:par>
                            </p:childTnLst>
                          </p:cTn>
                        </p:par>
                        <p:par>
                          <p:cTn id="73" fill="hold">
                            <p:stCondLst>
                              <p:cond delay="500"/>
                            </p:stCondLst>
                            <p:childTnLst>
                              <p:par>
                                <p:cTn id="74" presetID="0" presetClass="path" presetSubtype="0" fill="hold" nodeType="afterEffect">
                                  <p:stCondLst>
                                    <p:cond delay="0"/>
                                  </p:stCondLst>
                                  <p:childTnLst>
                                    <p:animMotion origin="layout" path="M 0.00747 0.00972 L 0.00747 -0.12639 " pathEditMode="relative" ptsTypes="AA">
                                      <p:cBhvr>
                                        <p:cTn id="75" dur="500" fill="hold"/>
                                        <p:tgtEl>
                                          <p:spTgt spid="22"/>
                                        </p:tgtEl>
                                        <p:attrNameLst>
                                          <p:attrName>ppt_x</p:attrName>
                                          <p:attrName>ppt_y</p:attrName>
                                        </p:attrNameLst>
                                      </p:cBhvr>
                                    </p:animMotion>
                                  </p:childTnLst>
                                </p:cTn>
                              </p:par>
                              <p:par>
                                <p:cTn id="76" presetID="53" presetClass="exit" presetSubtype="32" fill="hold" nodeType="withEffect">
                                  <p:stCondLst>
                                    <p:cond delay="0"/>
                                  </p:stCondLst>
                                  <p:childTnLst>
                                    <p:anim calcmode="lin" valueType="num">
                                      <p:cBhvr>
                                        <p:cTn id="77" dur="500"/>
                                        <p:tgtEl>
                                          <p:spTgt spid="22"/>
                                        </p:tgtEl>
                                        <p:attrNameLst>
                                          <p:attrName>ppt_w</p:attrName>
                                        </p:attrNameLst>
                                      </p:cBhvr>
                                      <p:tavLst>
                                        <p:tav tm="0">
                                          <p:val>
                                            <p:strVal val="ppt_w"/>
                                          </p:val>
                                        </p:tav>
                                        <p:tav tm="100000">
                                          <p:val>
                                            <p:fltVal val="0"/>
                                          </p:val>
                                        </p:tav>
                                      </p:tavLst>
                                    </p:anim>
                                    <p:anim calcmode="lin" valueType="num">
                                      <p:cBhvr>
                                        <p:cTn id="78" dur="500"/>
                                        <p:tgtEl>
                                          <p:spTgt spid="22"/>
                                        </p:tgtEl>
                                        <p:attrNameLst>
                                          <p:attrName>ppt_h</p:attrName>
                                        </p:attrNameLst>
                                      </p:cBhvr>
                                      <p:tavLst>
                                        <p:tav tm="0">
                                          <p:val>
                                            <p:strVal val="ppt_h"/>
                                          </p:val>
                                        </p:tav>
                                        <p:tav tm="100000">
                                          <p:val>
                                            <p:fltVal val="0"/>
                                          </p:val>
                                        </p:tav>
                                      </p:tavLst>
                                    </p:anim>
                                    <p:animEffect transition="out" filter="fade">
                                      <p:cBhvr>
                                        <p:cTn id="79" dur="500"/>
                                        <p:tgtEl>
                                          <p:spTgt spid="22"/>
                                        </p:tgtEl>
                                      </p:cBhvr>
                                    </p:animEffect>
                                    <p:set>
                                      <p:cBhvr>
                                        <p:cTn id="80" dur="1" fill="hold">
                                          <p:stCondLst>
                                            <p:cond delay="499"/>
                                          </p:stCondLst>
                                        </p:cTn>
                                        <p:tgtEl>
                                          <p:spTgt spid="22"/>
                                        </p:tgtEl>
                                        <p:attrNameLst>
                                          <p:attrName>style.visibility</p:attrName>
                                        </p:attrNameLst>
                                      </p:cBhvr>
                                      <p:to>
                                        <p:strVal val="hidden"/>
                                      </p:to>
                                    </p:set>
                                  </p:childTnLst>
                                </p:cTn>
                              </p:par>
                              <p:par>
                                <p:cTn id="81" presetID="53" presetClass="entr" presetSubtype="16" fill="hold" nodeType="withEffect">
                                  <p:stCondLst>
                                    <p:cond delay="0"/>
                                  </p:stCondLst>
                                  <p:childTnLst>
                                    <p:set>
                                      <p:cBhvr>
                                        <p:cTn id="82" dur="1" fill="hold">
                                          <p:stCondLst>
                                            <p:cond delay="0"/>
                                          </p:stCondLst>
                                        </p:cTn>
                                        <p:tgtEl>
                                          <p:spTgt spid="63"/>
                                        </p:tgtEl>
                                        <p:attrNameLst>
                                          <p:attrName>style.visibility</p:attrName>
                                        </p:attrNameLst>
                                      </p:cBhvr>
                                      <p:to>
                                        <p:strVal val="visible"/>
                                      </p:to>
                                    </p:set>
                                    <p:anim calcmode="lin" valueType="num">
                                      <p:cBhvr>
                                        <p:cTn id="83" dur="500" fill="hold"/>
                                        <p:tgtEl>
                                          <p:spTgt spid="63"/>
                                        </p:tgtEl>
                                        <p:attrNameLst>
                                          <p:attrName>ppt_w</p:attrName>
                                        </p:attrNameLst>
                                      </p:cBhvr>
                                      <p:tavLst>
                                        <p:tav tm="0">
                                          <p:val>
                                            <p:fltVal val="0"/>
                                          </p:val>
                                        </p:tav>
                                        <p:tav tm="100000">
                                          <p:val>
                                            <p:strVal val="#ppt_w"/>
                                          </p:val>
                                        </p:tav>
                                      </p:tavLst>
                                    </p:anim>
                                    <p:anim calcmode="lin" valueType="num">
                                      <p:cBhvr>
                                        <p:cTn id="84" dur="500" fill="hold"/>
                                        <p:tgtEl>
                                          <p:spTgt spid="63"/>
                                        </p:tgtEl>
                                        <p:attrNameLst>
                                          <p:attrName>ppt_h</p:attrName>
                                        </p:attrNameLst>
                                      </p:cBhvr>
                                      <p:tavLst>
                                        <p:tav tm="0">
                                          <p:val>
                                            <p:fltVal val="0"/>
                                          </p:val>
                                        </p:tav>
                                        <p:tav tm="100000">
                                          <p:val>
                                            <p:strVal val="#ppt_h"/>
                                          </p:val>
                                        </p:tav>
                                      </p:tavLst>
                                    </p:anim>
                                    <p:animEffect transition="in" filter="fade">
                                      <p:cBhvr>
                                        <p:cTn id="85" dur="500"/>
                                        <p:tgtEl>
                                          <p:spTgt spid="63"/>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nodeType="clickEffect">
                                  <p:stCondLst>
                                    <p:cond delay="0"/>
                                  </p:stCondLst>
                                  <p:childTnLst>
                                    <p:set>
                                      <p:cBhvr>
                                        <p:cTn id="89" dur="1" fill="hold">
                                          <p:stCondLst>
                                            <p:cond delay="0"/>
                                          </p:stCondLst>
                                        </p:cTn>
                                        <p:tgtEl>
                                          <p:spTgt spid="64"/>
                                        </p:tgtEl>
                                        <p:attrNameLst>
                                          <p:attrName>style.visibility</p:attrName>
                                        </p:attrNameLst>
                                      </p:cBhvr>
                                      <p:to>
                                        <p:strVal val="visible"/>
                                      </p:to>
                                    </p:set>
                                    <p:animEffect transition="in" filter="fade">
                                      <p:cBhvr>
                                        <p:cTn id="90"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3" grpId="0" animBg="1"/>
      <p:bldP spid="43" grpId="1" animBg="1"/>
      <p:bldP spid="44" grpId="0" animBg="1"/>
      <p:bldP spid="44" grpId="1" animBg="1"/>
      <p:bldP spid="45" grpId="0" animBg="1"/>
      <p:bldP spid="45" grpId="1" animBg="1"/>
      <p:bldP spid="36" grpId="0" animBg="1"/>
      <p:bldP spid="37" grpId="0"/>
      <p:bldP spid="37" grpId="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0301" y="428728"/>
            <a:ext cx="6317651" cy="5398750"/>
          </a:xfrm>
        </p:spPr>
        <p:txBody>
          <a:bodyPr>
            <a:normAutofit/>
          </a:bodyPr>
          <a:lstStyle/>
          <a:p>
            <a:pPr marL="0" indent="0">
              <a:buNone/>
            </a:pPr>
            <a:r>
              <a:rPr lang="en-US" sz="2400" dirty="0" smtClean="0"/>
              <a:t>Maybe skewed </a:t>
            </a:r>
            <a:r>
              <a:rPr lang="en-US" sz="2400" dirty="0" err="1" smtClean="0"/>
              <a:t>DataNode</a:t>
            </a:r>
            <a:r>
              <a:rPr lang="en-US" sz="2400" dirty="0" smtClean="0"/>
              <a:t> throughput is because some </a:t>
            </a:r>
            <a:r>
              <a:rPr lang="en-US" sz="2400" dirty="0" err="1" smtClean="0"/>
              <a:t>DataNodes</a:t>
            </a:r>
            <a:r>
              <a:rPr lang="en-US" sz="2400" dirty="0" smtClean="0"/>
              <a:t> store more files than others</a:t>
            </a:r>
          </a:p>
          <a:p>
            <a:pPr marL="0" indent="0">
              <a:buNone/>
            </a:pPr>
            <a:endParaRPr lang="en-US" sz="2400" dirty="0" smtClean="0"/>
          </a:p>
        </p:txBody>
      </p:sp>
      <p:sp>
        <p:nvSpPr>
          <p:cNvPr id="4" name="Query"/>
          <p:cNvSpPr txBox="1"/>
          <p:nvPr/>
        </p:nvSpPr>
        <p:spPr>
          <a:xfrm>
            <a:off x="553860" y="2539965"/>
            <a:ext cx="6030497" cy="886397"/>
          </a:xfrm>
          <a:prstGeom prst="rect">
            <a:avLst/>
          </a:prstGeom>
          <a:noFill/>
        </p:spPr>
        <p:txBody>
          <a:bodyPr wrap="none" lIns="0" tIns="0" rIns="0" bIns="0" rtlCol="0" anchor="t" anchorCtr="0">
            <a:spAutoFit/>
          </a:bodyPr>
          <a:lstStyle/>
          <a:p>
            <a:pPr>
              <a:lnSpc>
                <a:spcPct val="90000"/>
              </a:lnSpc>
            </a:pPr>
            <a:r>
              <a:rPr lang="en-US" sz="1600" b="1" spc="-50" dirty="0">
                <a:latin typeface="Consolas" panose="020B0609020204030204" pitchFamily="49" charset="0"/>
                <a:cs typeface="Consolas" panose="020B0609020204030204" pitchFamily="49" charset="0"/>
              </a:rPr>
              <a:t>From</a:t>
            </a:r>
            <a:r>
              <a:rPr lang="en-US" sz="1600" spc="-50" dirty="0">
                <a:latin typeface="Consolas" panose="020B0609020204030204" pitchFamily="49" charset="0"/>
                <a:cs typeface="Consolas" panose="020B0609020204030204" pitchFamily="49" charset="0"/>
              </a:rPr>
              <a:t> </a:t>
            </a:r>
            <a:r>
              <a:rPr lang="en-US" sz="1600" spc="-50" dirty="0" err="1">
                <a:solidFill>
                  <a:srgbClr val="23642F"/>
                </a:solidFill>
                <a:latin typeface="Consolas" panose="020B0609020204030204" pitchFamily="49" charset="0"/>
                <a:cs typeface="Consolas" panose="020B0609020204030204" pitchFamily="49" charset="0"/>
              </a:rPr>
              <a:t>blockLocations</a:t>
            </a:r>
            <a:r>
              <a:rPr lang="en-US" sz="1600" spc="-50" dirty="0">
                <a:solidFill>
                  <a:srgbClr val="23642F"/>
                </a:solidFill>
                <a:latin typeface="Consolas" panose="020B0609020204030204" pitchFamily="49" charset="0"/>
                <a:cs typeface="Consolas" panose="020B0609020204030204" pitchFamily="49" charset="0"/>
              </a:rPr>
              <a:t> </a:t>
            </a:r>
            <a:r>
              <a:rPr lang="en-US" sz="1600" b="1" spc="-50" dirty="0">
                <a:latin typeface="Consolas" panose="020B0609020204030204" pitchFamily="49" charset="0"/>
                <a:cs typeface="Consolas" panose="020B0609020204030204" pitchFamily="49" charset="0"/>
              </a:rPr>
              <a:t>In</a:t>
            </a:r>
            <a:r>
              <a:rPr lang="en-US" sz="1600" spc="-50" dirty="0">
                <a:latin typeface="Consolas" panose="020B0609020204030204" pitchFamily="49" charset="0"/>
                <a:cs typeface="Consolas" panose="020B0609020204030204" pitchFamily="49" charset="0"/>
              </a:rPr>
              <a:t> </a:t>
            </a:r>
            <a:r>
              <a:rPr lang="en-US" sz="1600" spc="-50" dirty="0" err="1">
                <a:solidFill>
                  <a:srgbClr val="23642F"/>
                </a:solidFill>
                <a:latin typeface="Consolas" panose="020B0609020204030204" pitchFamily="49" charset="0"/>
                <a:cs typeface="Consolas" panose="020B0609020204030204" pitchFamily="49" charset="0"/>
              </a:rPr>
              <a:t>NameNode.GetBlockLocations</a:t>
            </a:r>
            <a:endParaRPr lang="en-US" sz="1600" spc="-50" dirty="0">
              <a:solidFill>
                <a:srgbClr val="23642F"/>
              </a:solidFill>
              <a:latin typeface="Consolas" panose="020B0609020204030204" pitchFamily="49" charset="0"/>
              <a:cs typeface="Consolas" panose="020B0609020204030204" pitchFamily="49" charset="0"/>
            </a:endParaRPr>
          </a:p>
          <a:p>
            <a:pPr>
              <a:lnSpc>
                <a:spcPct val="90000"/>
              </a:lnSpc>
            </a:pPr>
            <a:r>
              <a:rPr lang="en-US" sz="1600" spc="-50" dirty="0" smtClean="0">
                <a:solidFill>
                  <a:srgbClr val="23642F"/>
                </a:solidFill>
                <a:latin typeface="Consolas" panose="020B0609020204030204" pitchFamily="49" charset="0"/>
                <a:cs typeface="Consolas" panose="020B0609020204030204" pitchFamily="49" charset="0"/>
              </a:rPr>
              <a:t>  </a:t>
            </a:r>
            <a:r>
              <a:rPr lang="en-US" sz="1600" b="1" spc="-50" dirty="0" smtClean="0">
                <a:latin typeface="Consolas" panose="020B0609020204030204" pitchFamily="49" charset="0"/>
                <a:cs typeface="Consolas" panose="020B0609020204030204" pitchFamily="49" charset="0"/>
              </a:rPr>
              <a:t>Join</a:t>
            </a:r>
            <a:r>
              <a:rPr lang="en-US" sz="1600" spc="-50" dirty="0" smtClean="0">
                <a:solidFill>
                  <a:srgbClr val="23642F"/>
                </a:solidFill>
                <a:latin typeface="Consolas" panose="020B0609020204030204" pitchFamily="49" charset="0"/>
                <a:cs typeface="Consolas" panose="020B0609020204030204" pitchFamily="49" charset="0"/>
              </a:rPr>
              <a:t> </a:t>
            </a:r>
            <a:r>
              <a:rPr lang="en-US" sz="1600" spc="-50" dirty="0" smtClean="0">
                <a:solidFill>
                  <a:srgbClr val="C00000"/>
                </a:solidFill>
                <a:latin typeface="Consolas" panose="020B0609020204030204" pitchFamily="49" charset="0"/>
                <a:cs typeface="Consolas" panose="020B0609020204030204" pitchFamily="49" charset="0"/>
              </a:rPr>
              <a:t>cl </a:t>
            </a:r>
            <a:r>
              <a:rPr lang="en-US" sz="1600" b="1" spc="-50" dirty="0" smtClean="0">
                <a:latin typeface="Consolas" panose="020B0609020204030204" pitchFamily="49" charset="0"/>
                <a:cs typeface="Consolas" panose="020B0609020204030204" pitchFamily="49" charset="0"/>
              </a:rPr>
              <a:t>In</a:t>
            </a:r>
            <a:r>
              <a:rPr lang="en-US" sz="1600" spc="-50" dirty="0" smtClean="0">
                <a:solidFill>
                  <a:srgbClr val="23642F"/>
                </a:solidFill>
                <a:latin typeface="Consolas" panose="020B0609020204030204" pitchFamily="49" charset="0"/>
                <a:cs typeface="Consolas" panose="020B0609020204030204" pitchFamily="49" charset="0"/>
              </a:rPr>
              <a:t> </a:t>
            </a:r>
            <a:r>
              <a:rPr lang="en-US" sz="1600" spc="-50" dirty="0" err="1" smtClean="0">
                <a:solidFill>
                  <a:srgbClr val="C00000"/>
                </a:solidFill>
                <a:latin typeface="Consolas" panose="020B0609020204030204" pitchFamily="49" charset="0"/>
                <a:cs typeface="Consolas" panose="020B0609020204030204" pitchFamily="49" charset="0"/>
              </a:rPr>
              <a:t>Client.DoRandomRead</a:t>
            </a:r>
            <a:r>
              <a:rPr lang="en-US" sz="1600" spc="-50" dirty="0" smtClean="0">
                <a:solidFill>
                  <a:srgbClr val="C00000"/>
                </a:solidFill>
                <a:latin typeface="Consolas" panose="020B0609020204030204" pitchFamily="49" charset="0"/>
                <a:cs typeface="Consolas" panose="020B0609020204030204" pitchFamily="49" charset="0"/>
              </a:rPr>
              <a:t> </a:t>
            </a:r>
            <a:r>
              <a:rPr lang="en-US" sz="1600" b="1" spc="-50" dirty="0" smtClean="0">
                <a:latin typeface="Consolas" panose="020B0609020204030204" pitchFamily="49" charset="0"/>
                <a:cs typeface="Consolas" panose="020B0609020204030204" pitchFamily="49" charset="0"/>
              </a:rPr>
              <a:t>On</a:t>
            </a:r>
            <a:r>
              <a:rPr lang="en-US" sz="1600" spc="-50" dirty="0" smtClean="0">
                <a:solidFill>
                  <a:srgbClr val="23642F"/>
                </a:solidFill>
                <a:latin typeface="Consolas" panose="020B0609020204030204" pitchFamily="49" charset="0"/>
                <a:cs typeface="Consolas" panose="020B0609020204030204" pitchFamily="49" charset="0"/>
              </a:rPr>
              <a:t> </a:t>
            </a:r>
            <a:r>
              <a:rPr lang="en-US" sz="1600" spc="-50" dirty="0" smtClean="0">
                <a:solidFill>
                  <a:srgbClr val="C00000"/>
                </a:solidFill>
                <a:latin typeface="Consolas" panose="020B0609020204030204" pitchFamily="49" charset="0"/>
                <a:cs typeface="Consolas" panose="020B0609020204030204" pitchFamily="49" charset="0"/>
              </a:rPr>
              <a:t>cl</a:t>
            </a:r>
            <a:r>
              <a:rPr lang="en-US" sz="1600" spc="-50" dirty="0" smtClean="0">
                <a:solidFill>
                  <a:srgbClr val="1F3763"/>
                </a:solidFill>
                <a:latin typeface="Consolas" panose="020B0609020204030204" pitchFamily="49" charset="0"/>
                <a:cs typeface="Consolas" panose="020B0609020204030204" pitchFamily="49" charset="0"/>
              </a:rPr>
              <a:t> </a:t>
            </a:r>
            <a:r>
              <a:rPr lang="en-US" sz="1600" b="1" spc="-50" dirty="0" smtClean="0">
                <a:latin typeface="Consolas" panose="020B0609020204030204" pitchFamily="49" charset="0"/>
                <a:cs typeface="Consolas" panose="020B0609020204030204" pitchFamily="49" charset="0"/>
              </a:rPr>
              <a:t>-&gt;</a:t>
            </a:r>
            <a:r>
              <a:rPr lang="en-US" sz="1600" spc="-50" dirty="0" smtClean="0">
                <a:solidFill>
                  <a:srgbClr val="23642F"/>
                </a:solidFill>
                <a:latin typeface="Consolas" panose="020B0609020204030204" pitchFamily="49" charset="0"/>
                <a:cs typeface="Consolas" panose="020B0609020204030204" pitchFamily="49" charset="0"/>
              </a:rPr>
              <a:t> </a:t>
            </a:r>
            <a:r>
              <a:rPr lang="en-US" sz="1600" spc="-50" dirty="0" err="1">
                <a:solidFill>
                  <a:srgbClr val="23642F"/>
                </a:solidFill>
                <a:latin typeface="Consolas" panose="020B0609020204030204" pitchFamily="49" charset="0"/>
                <a:cs typeface="Consolas" panose="020B0609020204030204" pitchFamily="49" charset="0"/>
              </a:rPr>
              <a:t>blockLocations</a:t>
            </a:r>
            <a:endParaRPr lang="en-US" sz="1600" spc="-50" dirty="0" smtClean="0">
              <a:solidFill>
                <a:srgbClr val="23642F"/>
              </a:solidFill>
              <a:latin typeface="Consolas" panose="020B0609020204030204" pitchFamily="49" charset="0"/>
              <a:cs typeface="Consolas" panose="020B0609020204030204" pitchFamily="49" charset="0"/>
            </a:endParaRPr>
          </a:p>
          <a:p>
            <a:pPr>
              <a:lnSpc>
                <a:spcPct val="90000"/>
              </a:lnSpc>
            </a:pPr>
            <a:r>
              <a:rPr lang="en-US" sz="1600" spc="-50" dirty="0">
                <a:solidFill>
                  <a:srgbClr val="23642F"/>
                </a:solidFill>
                <a:latin typeface="Consolas" panose="020B0609020204030204" pitchFamily="49" charset="0"/>
                <a:cs typeface="Consolas" panose="020B0609020204030204" pitchFamily="49" charset="0"/>
              </a:rPr>
              <a:t> </a:t>
            </a:r>
            <a:r>
              <a:rPr lang="en-US" sz="1600" spc="-50" dirty="0" smtClean="0">
                <a:solidFill>
                  <a:srgbClr val="23642F"/>
                </a:solidFill>
                <a:latin typeface="Consolas" panose="020B0609020204030204" pitchFamily="49" charset="0"/>
                <a:cs typeface="Consolas" panose="020B0609020204030204" pitchFamily="49" charset="0"/>
              </a:rPr>
              <a:t> </a:t>
            </a:r>
            <a:r>
              <a:rPr lang="en-US" sz="1600" b="1" spc="-50" dirty="0" err="1" smtClean="0">
                <a:latin typeface="Consolas" panose="020B0609020204030204" pitchFamily="49" charset="0"/>
                <a:cs typeface="Consolas" panose="020B0609020204030204" pitchFamily="49" charset="0"/>
              </a:rPr>
              <a:t>GroupBy</a:t>
            </a:r>
            <a:r>
              <a:rPr lang="en-US" sz="1600" spc="-50" dirty="0" smtClean="0">
                <a:latin typeface="Consolas" panose="020B0609020204030204" pitchFamily="49" charset="0"/>
                <a:cs typeface="Consolas" panose="020B0609020204030204" pitchFamily="49" charset="0"/>
              </a:rPr>
              <a:t> </a:t>
            </a:r>
            <a:r>
              <a:rPr lang="en-US" sz="1600" spc="-50" dirty="0" err="1" smtClean="0">
                <a:solidFill>
                  <a:srgbClr val="C00000"/>
                </a:solidFill>
                <a:latin typeface="Consolas" panose="020B0609020204030204" pitchFamily="49" charset="0"/>
                <a:cs typeface="Consolas" panose="020B0609020204030204" pitchFamily="49" charset="0"/>
              </a:rPr>
              <a:t>cl.host</a:t>
            </a:r>
            <a:r>
              <a:rPr lang="en-US" sz="1600" spc="-50" dirty="0" smtClean="0">
                <a:latin typeface="Consolas" panose="020B0609020204030204" pitchFamily="49" charset="0"/>
                <a:cs typeface="Consolas" panose="020B0609020204030204" pitchFamily="49" charset="0"/>
              </a:rPr>
              <a:t>,</a:t>
            </a:r>
            <a:r>
              <a:rPr lang="en-US" sz="1600" spc="-50" dirty="0" smtClean="0">
                <a:solidFill>
                  <a:srgbClr val="23642F"/>
                </a:solidFill>
                <a:latin typeface="Consolas" panose="020B0609020204030204" pitchFamily="49" charset="0"/>
                <a:cs typeface="Consolas" panose="020B0609020204030204" pitchFamily="49" charset="0"/>
              </a:rPr>
              <a:t> </a:t>
            </a:r>
            <a:r>
              <a:rPr lang="en-US" sz="1600" spc="-50" dirty="0" err="1">
                <a:solidFill>
                  <a:srgbClr val="23642F"/>
                </a:solidFill>
                <a:latin typeface="Consolas" panose="020B0609020204030204" pitchFamily="49" charset="0"/>
                <a:cs typeface="Consolas" panose="020B0609020204030204" pitchFamily="49" charset="0"/>
              </a:rPr>
              <a:t>blockLocations.replicas</a:t>
            </a:r>
            <a:endParaRPr lang="en-US" sz="1600" spc="-50" dirty="0" smtClean="0">
              <a:solidFill>
                <a:srgbClr val="23642F"/>
              </a:solidFill>
              <a:latin typeface="Consolas" panose="020B0609020204030204" pitchFamily="49" charset="0"/>
              <a:cs typeface="Consolas" panose="020B0609020204030204" pitchFamily="49" charset="0"/>
            </a:endParaRPr>
          </a:p>
          <a:p>
            <a:pPr>
              <a:lnSpc>
                <a:spcPct val="90000"/>
              </a:lnSpc>
            </a:pPr>
            <a:r>
              <a:rPr lang="en-US" sz="1600" spc="-50" dirty="0">
                <a:solidFill>
                  <a:srgbClr val="23642F"/>
                </a:solidFill>
                <a:latin typeface="Consolas" panose="020B0609020204030204" pitchFamily="49" charset="0"/>
                <a:cs typeface="Consolas" panose="020B0609020204030204" pitchFamily="49" charset="0"/>
              </a:rPr>
              <a:t> </a:t>
            </a:r>
            <a:r>
              <a:rPr lang="en-US" sz="1600" spc="-50" dirty="0" smtClean="0">
                <a:solidFill>
                  <a:srgbClr val="23642F"/>
                </a:solidFill>
                <a:latin typeface="Consolas" panose="020B0609020204030204" pitchFamily="49" charset="0"/>
                <a:cs typeface="Consolas" panose="020B0609020204030204" pitchFamily="49" charset="0"/>
              </a:rPr>
              <a:t> </a:t>
            </a:r>
            <a:r>
              <a:rPr lang="en-US" sz="1600" b="1" spc="-50" dirty="0" smtClean="0">
                <a:latin typeface="Consolas" panose="020B0609020204030204" pitchFamily="49" charset="0"/>
                <a:cs typeface="Consolas" panose="020B0609020204030204" pitchFamily="49" charset="0"/>
              </a:rPr>
              <a:t>Select</a:t>
            </a:r>
            <a:r>
              <a:rPr lang="en-US" sz="1600" spc="-50" dirty="0" smtClean="0">
                <a:solidFill>
                  <a:srgbClr val="23642F"/>
                </a:solidFill>
                <a:latin typeface="Consolas" panose="020B0609020204030204" pitchFamily="49" charset="0"/>
                <a:cs typeface="Consolas" panose="020B0609020204030204" pitchFamily="49" charset="0"/>
              </a:rPr>
              <a:t> </a:t>
            </a:r>
            <a:r>
              <a:rPr lang="en-US" sz="1600" spc="-50" dirty="0" err="1" smtClean="0">
                <a:solidFill>
                  <a:srgbClr val="C00000"/>
                </a:solidFill>
                <a:latin typeface="Consolas" panose="020B0609020204030204" pitchFamily="49" charset="0"/>
                <a:cs typeface="Consolas" panose="020B0609020204030204" pitchFamily="49" charset="0"/>
              </a:rPr>
              <a:t>cl.host</a:t>
            </a:r>
            <a:r>
              <a:rPr lang="en-US" sz="1600" spc="-50" dirty="0" smtClean="0">
                <a:latin typeface="Consolas" panose="020B0609020204030204" pitchFamily="49" charset="0"/>
                <a:cs typeface="Consolas" panose="020B0609020204030204" pitchFamily="49" charset="0"/>
              </a:rPr>
              <a:t>,</a:t>
            </a:r>
            <a:r>
              <a:rPr lang="en-US" sz="1600" spc="-50" dirty="0">
                <a:solidFill>
                  <a:srgbClr val="23642F"/>
                </a:solidFill>
                <a:latin typeface="Consolas" panose="020B0609020204030204" pitchFamily="49" charset="0"/>
                <a:cs typeface="Consolas" panose="020B0609020204030204" pitchFamily="49" charset="0"/>
              </a:rPr>
              <a:t> </a:t>
            </a:r>
            <a:r>
              <a:rPr lang="en-US" sz="1600" spc="-50" dirty="0" err="1">
                <a:solidFill>
                  <a:srgbClr val="23642F"/>
                </a:solidFill>
                <a:latin typeface="Consolas" panose="020B0609020204030204" pitchFamily="49" charset="0"/>
                <a:cs typeface="Consolas" panose="020B0609020204030204" pitchFamily="49" charset="0"/>
              </a:rPr>
              <a:t>blockLocations.replicas</a:t>
            </a:r>
            <a:r>
              <a:rPr lang="en-US" sz="1600" spc="-50" dirty="0" smtClean="0">
                <a:latin typeface="Consolas" panose="020B0609020204030204" pitchFamily="49" charset="0"/>
                <a:cs typeface="Consolas" panose="020B0609020204030204" pitchFamily="49" charset="0"/>
              </a:rPr>
              <a:t>,</a:t>
            </a:r>
            <a:r>
              <a:rPr lang="en-US" sz="1600" spc="-50" dirty="0" smtClean="0">
                <a:solidFill>
                  <a:srgbClr val="2F2364"/>
                </a:solidFill>
                <a:latin typeface="Consolas" panose="020B0609020204030204" pitchFamily="49" charset="0"/>
                <a:cs typeface="Consolas" panose="020B0609020204030204" pitchFamily="49" charset="0"/>
              </a:rPr>
              <a:t> </a:t>
            </a:r>
            <a:r>
              <a:rPr lang="en-US" sz="1600" b="1" spc="-50" dirty="0" smtClean="0">
                <a:latin typeface="Consolas" panose="020B0609020204030204" pitchFamily="49" charset="0"/>
                <a:cs typeface="Consolas" panose="020B0609020204030204" pitchFamily="49" charset="0"/>
              </a:rPr>
              <a:t>COUNT</a:t>
            </a:r>
          </a:p>
        </p:txBody>
      </p:sp>
      <p:grpSp>
        <p:nvGrpSpPr>
          <p:cNvPr id="32" name="Group 31"/>
          <p:cNvGrpSpPr/>
          <p:nvPr/>
        </p:nvGrpSpPr>
        <p:grpSpPr>
          <a:xfrm>
            <a:off x="6776392" y="3979712"/>
            <a:ext cx="2219323" cy="1598367"/>
            <a:chOff x="2589415" y="3600246"/>
            <a:chExt cx="2219323" cy="1598367"/>
          </a:xfrm>
        </p:grpSpPr>
        <p:grpSp>
          <p:nvGrpSpPr>
            <p:cNvPr id="33" name="Group 32"/>
            <p:cNvGrpSpPr/>
            <p:nvPr/>
          </p:nvGrpSpPr>
          <p:grpSpPr>
            <a:xfrm>
              <a:off x="2617251" y="3600246"/>
              <a:ext cx="2191487" cy="1598367"/>
              <a:chOff x="5674776" y="1054419"/>
              <a:chExt cx="2191487" cy="1598367"/>
            </a:xfrm>
          </p:grpSpPr>
          <p:sp>
            <p:nvSpPr>
              <p:cNvPr id="35" name="Rounded Rectangle 34"/>
              <p:cNvSpPr/>
              <p:nvPr/>
            </p:nvSpPr>
            <p:spPr>
              <a:xfrm>
                <a:off x="5808500" y="1054419"/>
                <a:ext cx="2057763" cy="1598367"/>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800" dirty="0" smtClean="0">
                  <a:solidFill>
                    <a:schemeClr val="tx1"/>
                  </a:solidFill>
                </a:endParaRPr>
              </a:p>
              <a:p>
                <a:pPr algn="r"/>
                <a:endParaRPr lang="en-US" sz="2000" dirty="0" smtClean="0">
                  <a:solidFill>
                    <a:schemeClr val="tx1"/>
                  </a:solidFill>
                </a:endParaRPr>
              </a:p>
              <a:p>
                <a:pPr algn="r"/>
                <a:r>
                  <a:rPr lang="en-US" sz="2000" dirty="0" smtClean="0">
                    <a:solidFill>
                      <a:schemeClr val="tx1"/>
                    </a:solidFill>
                  </a:rPr>
                  <a:t>HDFS </a:t>
                </a:r>
                <a:r>
                  <a:rPr lang="en-US" sz="2000" dirty="0" err="1" smtClean="0">
                    <a:solidFill>
                      <a:schemeClr val="tx1"/>
                    </a:solidFill>
                  </a:rPr>
                  <a:t>NameNode</a:t>
                </a:r>
                <a:endParaRPr lang="en-US" sz="2000" dirty="0">
                  <a:solidFill>
                    <a:schemeClr val="tx1"/>
                  </a:solidFill>
                </a:endParaRPr>
              </a:p>
            </p:txBody>
          </p:sp>
          <p:pic>
            <p:nvPicPr>
              <p:cNvPr id="36" name="Picture 2" descr="https://cloud.google.com/hadoop/images/hadoop-elephant.png"/>
              <p:cNvPicPr>
                <a:picLocks noChangeAspect="1" noChangeArrowheads="1"/>
              </p:cNvPicPr>
              <p:nvPr/>
            </p:nvPicPr>
            <p:blipFill>
              <a:blip r:embed="rId3" cstate="print">
                <a:biLevel thresh="75000"/>
                <a:extLst>
                  <a:ext uri="{28A0092B-C50C-407E-A947-70E740481C1C}">
                    <a14:useLocalDpi xmlns:a14="http://schemas.microsoft.com/office/drawing/2010/main" val="0"/>
                  </a:ext>
                </a:extLst>
              </a:blip>
              <a:srcRect/>
              <a:stretch>
                <a:fillRect/>
              </a:stretch>
            </p:blipFill>
            <p:spPr bwMode="auto">
              <a:xfrm>
                <a:off x="5674776" y="1563219"/>
                <a:ext cx="1219519" cy="871787"/>
              </a:xfrm>
              <a:prstGeom prst="rect">
                <a:avLst/>
              </a:prstGeom>
              <a:noFill/>
              <a:extLst>
                <a:ext uri="{909E8E84-426E-40DD-AFC4-6F175D3DCCD1}">
                  <a14:hiddenFill xmlns:a14="http://schemas.microsoft.com/office/drawing/2010/main">
                    <a:solidFill>
                      <a:srgbClr val="FFFFFF"/>
                    </a:solidFill>
                  </a14:hiddenFill>
                </a:ext>
              </a:extLst>
            </p:spPr>
          </p:pic>
        </p:grpSp>
        <p:sp>
          <p:nvSpPr>
            <p:cNvPr id="34" name="Rounded Rectangle 33"/>
            <p:cNvSpPr/>
            <p:nvPr/>
          </p:nvSpPr>
          <p:spPr>
            <a:xfrm>
              <a:off x="2589415" y="3719366"/>
              <a:ext cx="2075137" cy="343799"/>
            </a:xfrm>
            <a:prstGeom prst="roundRect">
              <a:avLst/>
            </a:prstGeom>
            <a:solidFill>
              <a:srgbClr val="FFE1E1"/>
            </a:solidFill>
            <a:ln w="381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err="1" smtClean="0">
                  <a:solidFill>
                    <a:srgbClr val="23642F"/>
                  </a:solidFill>
                  <a:latin typeface="Consolas" panose="020B0609020204030204" pitchFamily="49" charset="0"/>
                  <a:cs typeface="Consolas" panose="020B0609020204030204" pitchFamily="49" charset="0"/>
                </a:rPr>
                <a:t>GetBlockLocations</a:t>
              </a:r>
              <a:endParaRPr lang="en-US" sz="1400" b="1" dirty="0">
                <a:solidFill>
                  <a:srgbClr val="23642F"/>
                </a:solidFill>
                <a:latin typeface="Consolas" panose="020B0609020204030204" pitchFamily="49" charset="0"/>
                <a:cs typeface="Consolas" panose="020B0609020204030204" pitchFamily="49" charset="0"/>
              </a:endParaRPr>
            </a:p>
          </p:txBody>
        </p:sp>
      </p:grpSp>
      <p:grpSp>
        <p:nvGrpSpPr>
          <p:cNvPr id="37" name="Group 36"/>
          <p:cNvGrpSpPr/>
          <p:nvPr/>
        </p:nvGrpSpPr>
        <p:grpSpPr>
          <a:xfrm>
            <a:off x="6937952" y="2120668"/>
            <a:ext cx="1901752" cy="1118106"/>
            <a:chOff x="370662" y="3872441"/>
            <a:chExt cx="1901752" cy="1118106"/>
          </a:xfrm>
        </p:grpSpPr>
        <p:sp>
          <p:nvSpPr>
            <p:cNvPr id="38" name="Rounded Rectangle 37"/>
            <p:cNvSpPr/>
            <p:nvPr/>
          </p:nvSpPr>
          <p:spPr>
            <a:xfrm>
              <a:off x="370662" y="3872441"/>
              <a:ext cx="1901752" cy="1118106"/>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3200" dirty="0" smtClean="0">
                  <a:solidFill>
                    <a:schemeClr val="tx1"/>
                  </a:solidFill>
                </a:rPr>
                <a:t>Client</a:t>
              </a:r>
            </a:p>
            <a:p>
              <a:pPr algn="r"/>
              <a:endParaRPr lang="en-US" sz="3200" dirty="0">
                <a:solidFill>
                  <a:schemeClr val="tx1"/>
                </a:solidFill>
              </a:endParaRPr>
            </a:p>
          </p:txBody>
        </p:sp>
        <p:sp>
          <p:nvSpPr>
            <p:cNvPr id="39" name="Freeform 38"/>
            <p:cNvSpPr/>
            <p:nvPr/>
          </p:nvSpPr>
          <p:spPr>
            <a:xfrm>
              <a:off x="580449" y="3969186"/>
              <a:ext cx="445091" cy="518222"/>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40" name="Rounded Rectangle 39"/>
            <p:cNvSpPr/>
            <p:nvPr/>
          </p:nvSpPr>
          <p:spPr>
            <a:xfrm>
              <a:off x="688056" y="4483840"/>
              <a:ext cx="1474120" cy="343799"/>
            </a:xfrm>
            <a:prstGeom prst="roundRect">
              <a:avLst/>
            </a:prstGeom>
            <a:solidFill>
              <a:srgbClr val="FFE1E1"/>
            </a:solidFill>
            <a:ln w="381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err="1" smtClean="0">
                  <a:solidFill>
                    <a:srgbClr val="C00000"/>
                  </a:solidFill>
                  <a:latin typeface="Consolas" panose="020B0609020204030204" pitchFamily="49" charset="0"/>
                  <a:cs typeface="Consolas" panose="020B0609020204030204" pitchFamily="49" charset="0"/>
                </a:rPr>
                <a:t>DoRandomRead</a:t>
              </a:r>
              <a:endParaRPr lang="en-US" sz="1400" b="1" dirty="0">
                <a:solidFill>
                  <a:srgbClr val="C00000"/>
                </a:solidFill>
                <a:latin typeface="Consolas" panose="020B0609020204030204" pitchFamily="49" charset="0"/>
                <a:cs typeface="Consolas" panose="020B0609020204030204" pitchFamily="49" charset="0"/>
              </a:endParaRPr>
            </a:p>
          </p:txBody>
        </p:sp>
      </p:grpSp>
      <p:cxnSp>
        <p:nvCxnSpPr>
          <p:cNvPr id="41" name="Straight Arrow Connector 40"/>
          <p:cNvCxnSpPr/>
          <p:nvPr/>
        </p:nvCxnSpPr>
        <p:spPr>
          <a:xfrm>
            <a:off x="8125399" y="3352232"/>
            <a:ext cx="0" cy="462738"/>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42" name="Query"/>
          <p:cNvSpPr txBox="1"/>
          <p:nvPr/>
        </p:nvSpPr>
        <p:spPr>
          <a:xfrm>
            <a:off x="553860" y="2539965"/>
            <a:ext cx="5184111" cy="664797"/>
          </a:xfrm>
          <a:prstGeom prst="rect">
            <a:avLst/>
          </a:prstGeom>
          <a:noFill/>
        </p:spPr>
        <p:txBody>
          <a:bodyPr wrap="none" lIns="0" tIns="0" rIns="0" bIns="0" rtlCol="0" anchor="t" anchorCtr="0">
            <a:spAutoFit/>
          </a:bodyPr>
          <a:lstStyle/>
          <a:p>
            <a:pPr>
              <a:lnSpc>
                <a:spcPct val="90000"/>
              </a:lnSpc>
            </a:pPr>
            <a:r>
              <a:rPr lang="en-US" sz="1600" b="1" spc="-50" dirty="0" smtClean="0">
                <a:latin typeface="Consolas" panose="020B0609020204030204" pitchFamily="49" charset="0"/>
                <a:cs typeface="Consolas" panose="020B0609020204030204" pitchFamily="49" charset="0"/>
              </a:rPr>
              <a:t>From</a:t>
            </a:r>
            <a:r>
              <a:rPr lang="en-US" sz="1600" spc="-50" dirty="0" smtClean="0">
                <a:latin typeface="Consolas" panose="020B0609020204030204" pitchFamily="49" charset="0"/>
                <a:cs typeface="Consolas" panose="020B0609020204030204" pitchFamily="49" charset="0"/>
              </a:rPr>
              <a:t> </a:t>
            </a:r>
            <a:r>
              <a:rPr lang="en-US" sz="1600" spc="-50" dirty="0" err="1" smtClean="0">
                <a:solidFill>
                  <a:srgbClr val="23642F"/>
                </a:solidFill>
                <a:latin typeface="Consolas" panose="020B0609020204030204" pitchFamily="49" charset="0"/>
                <a:cs typeface="Consolas" panose="020B0609020204030204" pitchFamily="49" charset="0"/>
              </a:rPr>
              <a:t>blockLocations</a:t>
            </a:r>
            <a:r>
              <a:rPr lang="en-US" sz="1600" spc="-50" dirty="0" smtClean="0">
                <a:solidFill>
                  <a:srgbClr val="23642F"/>
                </a:solidFill>
                <a:latin typeface="Consolas" panose="020B0609020204030204" pitchFamily="49" charset="0"/>
                <a:cs typeface="Consolas" panose="020B0609020204030204" pitchFamily="49" charset="0"/>
              </a:rPr>
              <a:t> </a:t>
            </a:r>
            <a:r>
              <a:rPr lang="en-US" sz="1600" b="1" spc="-50" dirty="0" smtClean="0">
                <a:latin typeface="Consolas" panose="020B0609020204030204" pitchFamily="49" charset="0"/>
                <a:cs typeface="Consolas" panose="020B0609020204030204" pitchFamily="49" charset="0"/>
              </a:rPr>
              <a:t>In</a:t>
            </a:r>
            <a:r>
              <a:rPr lang="en-US" sz="1600" spc="-50" dirty="0" smtClean="0">
                <a:latin typeface="Consolas" panose="020B0609020204030204" pitchFamily="49" charset="0"/>
                <a:cs typeface="Consolas" panose="020B0609020204030204" pitchFamily="49" charset="0"/>
              </a:rPr>
              <a:t> </a:t>
            </a:r>
            <a:r>
              <a:rPr lang="en-US" sz="1600" spc="-50" dirty="0" err="1" smtClean="0">
                <a:solidFill>
                  <a:srgbClr val="23642F"/>
                </a:solidFill>
                <a:latin typeface="Consolas" panose="020B0609020204030204" pitchFamily="49" charset="0"/>
                <a:cs typeface="Consolas" panose="020B0609020204030204" pitchFamily="49" charset="0"/>
              </a:rPr>
              <a:t>NameNode.GetBlockLocations</a:t>
            </a:r>
            <a:endParaRPr lang="en-US" sz="1600" spc="-50" dirty="0" smtClean="0">
              <a:solidFill>
                <a:srgbClr val="23642F"/>
              </a:solidFill>
              <a:latin typeface="Consolas" panose="020B0609020204030204" pitchFamily="49" charset="0"/>
              <a:cs typeface="Consolas" panose="020B0609020204030204" pitchFamily="49" charset="0"/>
            </a:endParaRPr>
          </a:p>
          <a:p>
            <a:pPr>
              <a:lnSpc>
                <a:spcPct val="90000"/>
              </a:lnSpc>
            </a:pPr>
            <a:r>
              <a:rPr lang="en-US" sz="1600" spc="-50" dirty="0" smtClean="0">
                <a:solidFill>
                  <a:srgbClr val="23642F"/>
                </a:solidFill>
                <a:latin typeface="Consolas" panose="020B0609020204030204" pitchFamily="49" charset="0"/>
                <a:cs typeface="Consolas" panose="020B0609020204030204" pitchFamily="49" charset="0"/>
              </a:rPr>
              <a:t>  </a:t>
            </a:r>
            <a:r>
              <a:rPr lang="en-US" sz="1600" b="1" spc="-50" dirty="0" err="1" smtClean="0">
                <a:latin typeface="Consolas" panose="020B0609020204030204" pitchFamily="49" charset="0"/>
                <a:cs typeface="Consolas" panose="020B0609020204030204" pitchFamily="49" charset="0"/>
              </a:rPr>
              <a:t>GroupBy</a:t>
            </a:r>
            <a:r>
              <a:rPr lang="en-US" sz="1600" spc="-50" dirty="0" smtClean="0">
                <a:latin typeface="Consolas" panose="020B0609020204030204" pitchFamily="49" charset="0"/>
                <a:cs typeface="Consolas" panose="020B0609020204030204" pitchFamily="49" charset="0"/>
              </a:rPr>
              <a:t> </a:t>
            </a:r>
            <a:r>
              <a:rPr lang="en-US" sz="1600" spc="-50" dirty="0" err="1">
                <a:solidFill>
                  <a:srgbClr val="23642F"/>
                </a:solidFill>
                <a:latin typeface="Consolas" panose="020B0609020204030204" pitchFamily="49" charset="0"/>
                <a:cs typeface="Consolas" panose="020B0609020204030204" pitchFamily="49" charset="0"/>
              </a:rPr>
              <a:t>blockLocations.replicas</a:t>
            </a:r>
            <a:endParaRPr lang="en-US" sz="1600" spc="-50" dirty="0" smtClean="0">
              <a:solidFill>
                <a:srgbClr val="23642F"/>
              </a:solidFill>
              <a:latin typeface="Consolas" panose="020B0609020204030204" pitchFamily="49" charset="0"/>
              <a:cs typeface="Consolas" panose="020B0609020204030204" pitchFamily="49" charset="0"/>
            </a:endParaRPr>
          </a:p>
          <a:p>
            <a:pPr>
              <a:lnSpc>
                <a:spcPct val="90000"/>
              </a:lnSpc>
            </a:pPr>
            <a:r>
              <a:rPr lang="en-US" sz="1600" spc="-50" dirty="0" smtClean="0">
                <a:solidFill>
                  <a:srgbClr val="23642F"/>
                </a:solidFill>
                <a:latin typeface="Consolas" panose="020B0609020204030204" pitchFamily="49" charset="0"/>
                <a:cs typeface="Consolas" panose="020B0609020204030204" pitchFamily="49" charset="0"/>
              </a:rPr>
              <a:t>  </a:t>
            </a:r>
            <a:r>
              <a:rPr lang="en-US" sz="1600" b="1" spc="-50" dirty="0" smtClean="0">
                <a:latin typeface="Consolas" panose="020B0609020204030204" pitchFamily="49" charset="0"/>
                <a:cs typeface="Consolas" panose="020B0609020204030204" pitchFamily="49" charset="0"/>
              </a:rPr>
              <a:t>Select</a:t>
            </a:r>
            <a:r>
              <a:rPr lang="en-US" sz="1600" spc="-50" dirty="0">
                <a:solidFill>
                  <a:srgbClr val="23642F"/>
                </a:solidFill>
                <a:latin typeface="Consolas" panose="020B0609020204030204" pitchFamily="49" charset="0"/>
                <a:cs typeface="Consolas" panose="020B0609020204030204" pitchFamily="49" charset="0"/>
              </a:rPr>
              <a:t> </a:t>
            </a:r>
            <a:r>
              <a:rPr lang="en-US" sz="1600" spc="-50" dirty="0" err="1">
                <a:solidFill>
                  <a:srgbClr val="23642F"/>
                </a:solidFill>
                <a:latin typeface="Consolas" panose="020B0609020204030204" pitchFamily="49" charset="0"/>
                <a:cs typeface="Consolas" panose="020B0609020204030204" pitchFamily="49" charset="0"/>
              </a:rPr>
              <a:t>blockLocations.replicas</a:t>
            </a:r>
            <a:r>
              <a:rPr lang="en-US" sz="1600" spc="-50" dirty="0" smtClean="0">
                <a:solidFill>
                  <a:srgbClr val="2F2364"/>
                </a:solidFill>
                <a:latin typeface="Consolas" panose="020B0609020204030204" pitchFamily="49" charset="0"/>
                <a:cs typeface="Consolas" panose="020B0609020204030204" pitchFamily="49" charset="0"/>
              </a:rPr>
              <a:t>, </a:t>
            </a:r>
            <a:r>
              <a:rPr lang="en-US" sz="1600" b="1" spc="-50" dirty="0" smtClean="0">
                <a:latin typeface="Consolas" panose="020B0609020204030204" pitchFamily="49" charset="0"/>
                <a:cs typeface="Consolas" panose="020B0609020204030204" pitchFamily="49" charset="0"/>
              </a:rPr>
              <a:t>COUNT</a:t>
            </a:r>
          </a:p>
        </p:txBody>
      </p:sp>
      <p:grpSp>
        <p:nvGrpSpPr>
          <p:cNvPr id="132" name="Group 131"/>
          <p:cNvGrpSpPr/>
          <p:nvPr/>
        </p:nvGrpSpPr>
        <p:grpSpPr>
          <a:xfrm>
            <a:off x="981636" y="4226188"/>
            <a:ext cx="4319497" cy="1642921"/>
            <a:chOff x="1209847" y="4295357"/>
            <a:chExt cx="4319497" cy="1642921"/>
          </a:xfrm>
        </p:grpSpPr>
        <p:pic>
          <p:nvPicPr>
            <p:cNvPr id="90" name="Picture 89"/>
            <p:cNvPicPr>
              <a:picLocks noChangeAspect="1"/>
            </p:cNvPicPr>
            <p:nvPr/>
          </p:nvPicPr>
          <p:blipFill rotWithShape="1">
            <a:blip r:embed="rId4">
              <a:extLst>
                <a:ext uri="{28A0092B-C50C-407E-A947-70E740481C1C}">
                  <a14:useLocalDpi xmlns:a14="http://schemas.microsoft.com/office/drawing/2010/main" val="0"/>
                </a:ext>
              </a:extLst>
            </a:blip>
            <a:srcRect l="29354" t="43037" r="50289" b="47447"/>
            <a:stretch/>
          </p:blipFill>
          <p:spPr>
            <a:xfrm>
              <a:off x="1544157" y="4295357"/>
              <a:ext cx="3985187" cy="971907"/>
            </a:xfrm>
            <a:prstGeom prst="rect">
              <a:avLst/>
            </a:prstGeom>
          </p:spPr>
        </p:pic>
        <p:grpSp>
          <p:nvGrpSpPr>
            <p:cNvPr id="91" name="Group 90"/>
            <p:cNvGrpSpPr/>
            <p:nvPr/>
          </p:nvGrpSpPr>
          <p:grpSpPr>
            <a:xfrm>
              <a:off x="2543565" y="5074213"/>
              <a:ext cx="410911" cy="478839"/>
              <a:chOff x="-548806" y="2595022"/>
              <a:chExt cx="653118" cy="761087"/>
            </a:xfrm>
          </p:grpSpPr>
          <p:sp>
            <p:nvSpPr>
              <p:cNvPr id="127" name="TextBox 126"/>
              <p:cNvSpPr txBox="1"/>
              <p:nvPr/>
            </p:nvSpPr>
            <p:spPr>
              <a:xfrm>
                <a:off x="-339019" y="2595022"/>
                <a:ext cx="443331" cy="684870"/>
              </a:xfrm>
              <a:prstGeom prst="rect">
                <a:avLst/>
              </a:prstGeom>
              <a:noFill/>
            </p:spPr>
            <p:txBody>
              <a:bodyPr wrap="none" lIns="0" tIns="0" rIns="0" bIns="0" rtlCol="0">
                <a:spAutoFit/>
              </a:bodyPr>
              <a:lstStyle/>
              <a:p>
                <a:r>
                  <a:rPr lang="en-US" sz="2800" dirty="0" smtClean="0">
                    <a:ln w="6350">
                      <a:solidFill>
                        <a:schemeClr val="tx1"/>
                      </a:solidFill>
                    </a:ln>
                    <a:solidFill>
                      <a:schemeClr val="bg1"/>
                    </a:solidFill>
                    <a:latin typeface="Arial Black" panose="020B0A04020102020204" pitchFamily="34" charset="0"/>
                  </a:rPr>
                  <a:t>C</a:t>
                </a:r>
                <a:endParaRPr lang="en-US" sz="3200" dirty="0">
                  <a:ln w="6350">
                    <a:solidFill>
                      <a:schemeClr val="tx1"/>
                    </a:solidFill>
                  </a:ln>
                  <a:solidFill>
                    <a:schemeClr val="bg1"/>
                  </a:solidFill>
                  <a:latin typeface="Arial Black" panose="020B0A04020102020204" pitchFamily="34" charset="0"/>
                </a:endParaRPr>
              </a:p>
            </p:txBody>
          </p:sp>
          <p:pic>
            <p:nvPicPr>
              <p:cNvPr id="128" name="Picture 2" descr="https://cloud.google.com/hadoop/images/hadoop-elephant.png"/>
              <p:cNvPicPr>
                <a:picLocks noChangeAspect="1" noChangeArrowheads="1"/>
              </p:cNvPicPr>
              <p:nvPr/>
            </p:nvPicPr>
            <p:blipFill>
              <a:blip r:embed="rId5"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48806" y="3043945"/>
                <a:ext cx="436678" cy="312164"/>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nvGrpSpPr>
            <p:cNvPr id="92" name="Group 91"/>
            <p:cNvGrpSpPr/>
            <p:nvPr/>
          </p:nvGrpSpPr>
          <p:grpSpPr>
            <a:xfrm>
              <a:off x="3970907" y="5074213"/>
              <a:ext cx="370836" cy="478839"/>
              <a:chOff x="-548806" y="2595022"/>
              <a:chExt cx="589421" cy="761087"/>
            </a:xfrm>
          </p:grpSpPr>
          <p:sp>
            <p:nvSpPr>
              <p:cNvPr id="125" name="TextBox 124"/>
              <p:cNvSpPr txBox="1"/>
              <p:nvPr/>
            </p:nvSpPr>
            <p:spPr>
              <a:xfrm>
                <a:off x="-339019" y="2595022"/>
                <a:ext cx="379634" cy="684870"/>
              </a:xfrm>
              <a:prstGeom prst="rect">
                <a:avLst/>
              </a:prstGeom>
              <a:noFill/>
            </p:spPr>
            <p:txBody>
              <a:bodyPr wrap="none" lIns="0" tIns="0" rIns="0" bIns="0" rtlCol="0">
                <a:spAutoFit/>
              </a:bodyPr>
              <a:lstStyle/>
              <a:p>
                <a:r>
                  <a:rPr lang="en-US" sz="2800" dirty="0" smtClean="0">
                    <a:ln w="6350">
                      <a:solidFill>
                        <a:schemeClr val="tx1"/>
                      </a:solidFill>
                    </a:ln>
                    <a:solidFill>
                      <a:schemeClr val="bg1"/>
                    </a:solidFill>
                    <a:latin typeface="Arial Black" panose="020B0A04020102020204" pitchFamily="34" charset="0"/>
                  </a:rPr>
                  <a:t>F</a:t>
                </a:r>
                <a:endParaRPr lang="en-US" sz="3200" dirty="0">
                  <a:ln w="6350">
                    <a:solidFill>
                      <a:schemeClr val="tx1"/>
                    </a:solidFill>
                  </a:ln>
                  <a:solidFill>
                    <a:schemeClr val="bg1"/>
                  </a:solidFill>
                  <a:latin typeface="Arial Black" panose="020B0A04020102020204" pitchFamily="34" charset="0"/>
                </a:endParaRPr>
              </a:p>
            </p:txBody>
          </p:sp>
          <p:pic>
            <p:nvPicPr>
              <p:cNvPr id="126" name="Picture 2" descr="https://cloud.google.com/hadoop/images/hadoop-elephant.png"/>
              <p:cNvPicPr>
                <a:picLocks noChangeAspect="1" noChangeArrowheads="1"/>
              </p:cNvPicPr>
              <p:nvPr/>
            </p:nvPicPr>
            <p:blipFill>
              <a:blip r:embed="rId5"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48806" y="3043945"/>
                <a:ext cx="436678" cy="312164"/>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nvGrpSpPr>
            <p:cNvPr id="93" name="Group 92"/>
            <p:cNvGrpSpPr/>
            <p:nvPr/>
          </p:nvGrpSpPr>
          <p:grpSpPr>
            <a:xfrm>
              <a:off x="1579179" y="5074213"/>
              <a:ext cx="410911" cy="478839"/>
              <a:chOff x="-548806" y="2595022"/>
              <a:chExt cx="653118" cy="761087"/>
            </a:xfrm>
          </p:grpSpPr>
          <p:sp>
            <p:nvSpPr>
              <p:cNvPr id="123" name="TextBox 122"/>
              <p:cNvSpPr txBox="1"/>
              <p:nvPr/>
            </p:nvSpPr>
            <p:spPr>
              <a:xfrm>
                <a:off x="-339019" y="2595022"/>
                <a:ext cx="443331" cy="684870"/>
              </a:xfrm>
              <a:prstGeom prst="rect">
                <a:avLst/>
              </a:prstGeom>
              <a:noFill/>
            </p:spPr>
            <p:txBody>
              <a:bodyPr wrap="none" lIns="0" tIns="0" rIns="0" bIns="0" rtlCol="0">
                <a:spAutoFit/>
              </a:bodyPr>
              <a:lstStyle/>
              <a:p>
                <a:r>
                  <a:rPr lang="en-US" sz="2800" dirty="0" smtClean="0">
                    <a:ln w="6350">
                      <a:solidFill>
                        <a:schemeClr val="tx1"/>
                      </a:solidFill>
                    </a:ln>
                    <a:solidFill>
                      <a:schemeClr val="bg1"/>
                    </a:solidFill>
                    <a:latin typeface="Arial Black" panose="020B0A04020102020204" pitchFamily="34" charset="0"/>
                  </a:rPr>
                  <a:t>A</a:t>
                </a:r>
                <a:endParaRPr lang="en-US" sz="3200" dirty="0">
                  <a:ln w="6350">
                    <a:solidFill>
                      <a:schemeClr val="tx1"/>
                    </a:solidFill>
                  </a:ln>
                  <a:solidFill>
                    <a:schemeClr val="bg1"/>
                  </a:solidFill>
                  <a:latin typeface="Arial Black" panose="020B0A04020102020204" pitchFamily="34" charset="0"/>
                </a:endParaRPr>
              </a:p>
            </p:txBody>
          </p:sp>
          <p:pic>
            <p:nvPicPr>
              <p:cNvPr id="124" name="Picture 2" descr="https://cloud.google.com/hadoop/images/hadoop-elephant.png"/>
              <p:cNvPicPr>
                <a:picLocks noChangeAspect="1" noChangeArrowheads="1"/>
              </p:cNvPicPr>
              <p:nvPr/>
            </p:nvPicPr>
            <p:blipFill>
              <a:blip r:embed="rId5"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48806" y="3043945"/>
                <a:ext cx="436678" cy="312164"/>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nvGrpSpPr>
            <p:cNvPr id="94" name="Group 93"/>
            <p:cNvGrpSpPr/>
            <p:nvPr/>
          </p:nvGrpSpPr>
          <p:grpSpPr>
            <a:xfrm>
              <a:off x="3025758" y="5074213"/>
              <a:ext cx="410911" cy="478839"/>
              <a:chOff x="-548806" y="2595022"/>
              <a:chExt cx="653118" cy="761087"/>
            </a:xfrm>
          </p:grpSpPr>
          <p:sp>
            <p:nvSpPr>
              <p:cNvPr id="121" name="TextBox 120"/>
              <p:cNvSpPr txBox="1"/>
              <p:nvPr/>
            </p:nvSpPr>
            <p:spPr>
              <a:xfrm>
                <a:off x="-339019" y="2595022"/>
                <a:ext cx="443331" cy="684870"/>
              </a:xfrm>
              <a:prstGeom prst="rect">
                <a:avLst/>
              </a:prstGeom>
              <a:noFill/>
            </p:spPr>
            <p:txBody>
              <a:bodyPr wrap="none" lIns="0" tIns="0" rIns="0" bIns="0" rtlCol="0">
                <a:spAutoFit/>
              </a:bodyPr>
              <a:lstStyle/>
              <a:p>
                <a:r>
                  <a:rPr lang="en-US" sz="2800" dirty="0" smtClean="0">
                    <a:ln w="6350">
                      <a:solidFill>
                        <a:schemeClr val="tx1"/>
                      </a:solidFill>
                    </a:ln>
                    <a:solidFill>
                      <a:schemeClr val="bg1"/>
                    </a:solidFill>
                    <a:latin typeface="Arial Black" panose="020B0A04020102020204" pitchFamily="34" charset="0"/>
                  </a:rPr>
                  <a:t>D</a:t>
                </a:r>
                <a:endParaRPr lang="en-US" sz="3200" dirty="0">
                  <a:ln w="6350">
                    <a:solidFill>
                      <a:schemeClr val="tx1"/>
                    </a:solidFill>
                  </a:ln>
                  <a:solidFill>
                    <a:schemeClr val="bg1"/>
                  </a:solidFill>
                  <a:latin typeface="Arial Black" panose="020B0A04020102020204" pitchFamily="34" charset="0"/>
                </a:endParaRPr>
              </a:p>
            </p:txBody>
          </p:sp>
          <p:pic>
            <p:nvPicPr>
              <p:cNvPr id="122" name="Picture 2" descr="https://cloud.google.com/hadoop/images/hadoop-elephant.png"/>
              <p:cNvPicPr>
                <a:picLocks noChangeAspect="1" noChangeArrowheads="1"/>
              </p:cNvPicPr>
              <p:nvPr/>
            </p:nvPicPr>
            <p:blipFill>
              <a:blip r:embed="rId5"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48806" y="3043945"/>
                <a:ext cx="436678" cy="312164"/>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nvGrpSpPr>
            <p:cNvPr id="95" name="Group 94"/>
            <p:cNvGrpSpPr/>
            <p:nvPr/>
          </p:nvGrpSpPr>
          <p:grpSpPr>
            <a:xfrm>
              <a:off x="3507951" y="5074213"/>
              <a:ext cx="391674" cy="478839"/>
              <a:chOff x="-548806" y="2595022"/>
              <a:chExt cx="622542" cy="761087"/>
            </a:xfrm>
          </p:grpSpPr>
          <p:sp>
            <p:nvSpPr>
              <p:cNvPr id="119" name="TextBox 118"/>
              <p:cNvSpPr txBox="1"/>
              <p:nvPr/>
            </p:nvSpPr>
            <p:spPr>
              <a:xfrm>
                <a:off x="-339019" y="2595022"/>
                <a:ext cx="412755" cy="684870"/>
              </a:xfrm>
              <a:prstGeom prst="rect">
                <a:avLst/>
              </a:prstGeom>
              <a:noFill/>
            </p:spPr>
            <p:txBody>
              <a:bodyPr wrap="none" lIns="0" tIns="0" rIns="0" bIns="0" rtlCol="0">
                <a:spAutoFit/>
              </a:bodyPr>
              <a:lstStyle/>
              <a:p>
                <a:r>
                  <a:rPr lang="en-US" sz="2800" dirty="0" smtClean="0">
                    <a:ln w="6350">
                      <a:solidFill>
                        <a:schemeClr val="tx1"/>
                      </a:solidFill>
                    </a:ln>
                    <a:solidFill>
                      <a:schemeClr val="bg1"/>
                    </a:solidFill>
                    <a:latin typeface="Arial Black" panose="020B0A04020102020204" pitchFamily="34" charset="0"/>
                  </a:rPr>
                  <a:t>E</a:t>
                </a:r>
                <a:endParaRPr lang="en-US" sz="3200" dirty="0">
                  <a:ln w="6350">
                    <a:solidFill>
                      <a:schemeClr val="tx1"/>
                    </a:solidFill>
                  </a:ln>
                  <a:solidFill>
                    <a:schemeClr val="bg1"/>
                  </a:solidFill>
                  <a:latin typeface="Arial Black" panose="020B0A04020102020204" pitchFamily="34" charset="0"/>
                </a:endParaRPr>
              </a:p>
            </p:txBody>
          </p:sp>
          <p:pic>
            <p:nvPicPr>
              <p:cNvPr id="120" name="Picture 2" descr="https://cloud.google.com/hadoop/images/hadoop-elephant.png"/>
              <p:cNvPicPr>
                <a:picLocks noChangeAspect="1" noChangeArrowheads="1"/>
              </p:cNvPicPr>
              <p:nvPr/>
            </p:nvPicPr>
            <p:blipFill>
              <a:blip r:embed="rId5"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48806" y="3043945"/>
                <a:ext cx="436678" cy="312164"/>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nvGrpSpPr>
            <p:cNvPr id="96" name="Group 95"/>
            <p:cNvGrpSpPr/>
            <p:nvPr/>
          </p:nvGrpSpPr>
          <p:grpSpPr>
            <a:xfrm>
              <a:off x="4916055" y="5074213"/>
              <a:ext cx="431750" cy="478839"/>
              <a:chOff x="-503389" y="2595022"/>
              <a:chExt cx="686243" cy="761087"/>
            </a:xfrm>
          </p:grpSpPr>
          <p:sp>
            <p:nvSpPr>
              <p:cNvPr id="117" name="TextBox 116"/>
              <p:cNvSpPr txBox="1"/>
              <p:nvPr/>
            </p:nvSpPr>
            <p:spPr>
              <a:xfrm>
                <a:off x="-293601" y="2595022"/>
                <a:ext cx="476455" cy="684870"/>
              </a:xfrm>
              <a:prstGeom prst="rect">
                <a:avLst/>
              </a:prstGeom>
              <a:noFill/>
            </p:spPr>
            <p:txBody>
              <a:bodyPr wrap="none" lIns="0" tIns="0" rIns="0" bIns="0" rtlCol="0">
                <a:spAutoFit/>
              </a:bodyPr>
              <a:lstStyle/>
              <a:p>
                <a:r>
                  <a:rPr lang="en-US" sz="2800" dirty="0" smtClean="0">
                    <a:ln w="6350">
                      <a:solidFill>
                        <a:schemeClr val="tx1"/>
                      </a:solidFill>
                    </a:ln>
                    <a:solidFill>
                      <a:schemeClr val="bg1"/>
                    </a:solidFill>
                    <a:latin typeface="Arial Black" panose="020B0A04020102020204" pitchFamily="34" charset="0"/>
                  </a:rPr>
                  <a:t>H</a:t>
                </a:r>
                <a:endParaRPr lang="en-US" sz="3200" dirty="0">
                  <a:ln w="6350">
                    <a:solidFill>
                      <a:schemeClr val="tx1"/>
                    </a:solidFill>
                  </a:ln>
                  <a:solidFill>
                    <a:schemeClr val="bg1"/>
                  </a:solidFill>
                  <a:latin typeface="Arial Black" panose="020B0A04020102020204" pitchFamily="34" charset="0"/>
                </a:endParaRPr>
              </a:p>
            </p:txBody>
          </p:sp>
          <p:pic>
            <p:nvPicPr>
              <p:cNvPr id="118" name="Picture 2" descr="https://cloud.google.com/hadoop/images/hadoop-elephant.png"/>
              <p:cNvPicPr>
                <a:picLocks noChangeAspect="1" noChangeArrowheads="1"/>
              </p:cNvPicPr>
              <p:nvPr/>
            </p:nvPicPr>
            <p:blipFill>
              <a:blip r:embed="rId5"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03389" y="3043946"/>
                <a:ext cx="436679" cy="312163"/>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nvGrpSpPr>
            <p:cNvPr id="97" name="Group 96"/>
            <p:cNvGrpSpPr/>
            <p:nvPr/>
          </p:nvGrpSpPr>
          <p:grpSpPr>
            <a:xfrm>
              <a:off x="4413025" y="5074213"/>
              <a:ext cx="431750" cy="478839"/>
              <a:chOff x="-548806" y="2595022"/>
              <a:chExt cx="686240" cy="761087"/>
            </a:xfrm>
          </p:grpSpPr>
          <p:sp>
            <p:nvSpPr>
              <p:cNvPr id="115" name="TextBox 114"/>
              <p:cNvSpPr txBox="1"/>
              <p:nvPr/>
            </p:nvSpPr>
            <p:spPr>
              <a:xfrm>
                <a:off x="-339019" y="2595022"/>
                <a:ext cx="476453" cy="684870"/>
              </a:xfrm>
              <a:prstGeom prst="rect">
                <a:avLst/>
              </a:prstGeom>
              <a:noFill/>
            </p:spPr>
            <p:txBody>
              <a:bodyPr wrap="none" lIns="0" tIns="0" rIns="0" bIns="0" rtlCol="0">
                <a:spAutoFit/>
              </a:bodyPr>
              <a:lstStyle/>
              <a:p>
                <a:r>
                  <a:rPr lang="en-US" sz="2800" dirty="0" smtClean="0">
                    <a:ln w="6350">
                      <a:solidFill>
                        <a:schemeClr val="tx1"/>
                      </a:solidFill>
                    </a:ln>
                    <a:solidFill>
                      <a:schemeClr val="bg1"/>
                    </a:solidFill>
                    <a:latin typeface="Arial Black" panose="020B0A04020102020204" pitchFamily="34" charset="0"/>
                  </a:rPr>
                  <a:t>G</a:t>
                </a:r>
                <a:endParaRPr lang="en-US" sz="3200" dirty="0">
                  <a:ln w="6350">
                    <a:solidFill>
                      <a:schemeClr val="tx1"/>
                    </a:solidFill>
                  </a:ln>
                  <a:solidFill>
                    <a:schemeClr val="bg1"/>
                  </a:solidFill>
                  <a:latin typeface="Arial Black" panose="020B0A04020102020204" pitchFamily="34" charset="0"/>
                </a:endParaRPr>
              </a:p>
            </p:txBody>
          </p:sp>
          <p:pic>
            <p:nvPicPr>
              <p:cNvPr id="116" name="Picture 2" descr="https://cloud.google.com/hadoop/images/hadoop-elephant.png"/>
              <p:cNvPicPr>
                <a:picLocks noChangeAspect="1" noChangeArrowheads="1"/>
              </p:cNvPicPr>
              <p:nvPr/>
            </p:nvPicPr>
            <p:blipFill>
              <a:blip r:embed="rId5"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48806" y="3043945"/>
                <a:ext cx="436678" cy="312164"/>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nvGrpSpPr>
            <p:cNvPr id="98" name="Group 97"/>
            <p:cNvGrpSpPr/>
            <p:nvPr/>
          </p:nvGrpSpPr>
          <p:grpSpPr>
            <a:xfrm>
              <a:off x="2061372" y="5074213"/>
              <a:ext cx="410911" cy="478839"/>
              <a:chOff x="-548806" y="2595022"/>
              <a:chExt cx="653118" cy="761087"/>
            </a:xfrm>
          </p:grpSpPr>
          <p:sp>
            <p:nvSpPr>
              <p:cNvPr id="113" name="TextBox 112"/>
              <p:cNvSpPr txBox="1"/>
              <p:nvPr/>
            </p:nvSpPr>
            <p:spPr>
              <a:xfrm>
                <a:off x="-339019" y="2595022"/>
                <a:ext cx="443331" cy="684870"/>
              </a:xfrm>
              <a:prstGeom prst="rect">
                <a:avLst/>
              </a:prstGeom>
              <a:noFill/>
            </p:spPr>
            <p:txBody>
              <a:bodyPr wrap="none" lIns="0" tIns="0" rIns="0" bIns="0" rtlCol="0">
                <a:spAutoFit/>
              </a:bodyPr>
              <a:lstStyle/>
              <a:p>
                <a:r>
                  <a:rPr lang="en-US" sz="2800" dirty="0" smtClean="0">
                    <a:ln w="6350">
                      <a:solidFill>
                        <a:schemeClr val="tx1"/>
                      </a:solidFill>
                    </a:ln>
                    <a:solidFill>
                      <a:schemeClr val="bg1"/>
                    </a:solidFill>
                    <a:latin typeface="Arial Black" panose="020B0A04020102020204" pitchFamily="34" charset="0"/>
                  </a:rPr>
                  <a:t>B</a:t>
                </a:r>
                <a:endParaRPr lang="en-US" sz="3200" dirty="0">
                  <a:ln w="6350">
                    <a:solidFill>
                      <a:schemeClr val="tx1"/>
                    </a:solidFill>
                  </a:ln>
                  <a:solidFill>
                    <a:schemeClr val="bg1"/>
                  </a:solidFill>
                  <a:latin typeface="Arial Black" panose="020B0A04020102020204" pitchFamily="34" charset="0"/>
                </a:endParaRPr>
              </a:p>
            </p:txBody>
          </p:sp>
          <p:pic>
            <p:nvPicPr>
              <p:cNvPr id="114" name="Picture 2" descr="https://cloud.google.com/hadoop/images/hadoop-elephant.png"/>
              <p:cNvPicPr>
                <a:picLocks noChangeAspect="1" noChangeArrowheads="1"/>
              </p:cNvPicPr>
              <p:nvPr/>
            </p:nvPicPr>
            <p:blipFill>
              <a:blip r:embed="rId5"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48806" y="3043945"/>
                <a:ext cx="436678" cy="312164"/>
              </a:xfrm>
              <a:prstGeom prst="rect">
                <a:avLst/>
              </a:prstGeom>
              <a:noFill/>
              <a:ln w="28575">
                <a:noFill/>
              </a:ln>
              <a:extLst>
                <a:ext uri="{909E8E84-426E-40DD-AFC4-6F175D3DCCD1}">
                  <a14:hiddenFill xmlns:a14="http://schemas.microsoft.com/office/drawing/2010/main">
                    <a:solidFill>
                      <a:srgbClr val="FFFFFF"/>
                    </a:solidFill>
                  </a14:hiddenFill>
                </a:ext>
              </a:extLst>
            </p:spPr>
          </p:pic>
        </p:grpSp>
        <p:cxnSp>
          <p:nvCxnSpPr>
            <p:cNvPr id="99" name="Straight Arrow Connector 98"/>
            <p:cNvCxnSpPr/>
            <p:nvPr/>
          </p:nvCxnSpPr>
          <p:spPr>
            <a:xfrm flipV="1">
              <a:off x="1617279" y="4488865"/>
              <a:ext cx="0" cy="60590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a:xfrm>
              <a:off x="1617279" y="5094770"/>
              <a:ext cx="38937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1" name="Group 100"/>
            <p:cNvGrpSpPr/>
            <p:nvPr/>
          </p:nvGrpSpPr>
          <p:grpSpPr>
            <a:xfrm>
              <a:off x="1641865" y="5091595"/>
              <a:ext cx="3765550" cy="41345"/>
              <a:chOff x="4237282" y="2282825"/>
              <a:chExt cx="3765550" cy="41345"/>
            </a:xfrm>
          </p:grpSpPr>
          <p:cxnSp>
            <p:nvCxnSpPr>
              <p:cNvPr id="104" name="Straight Connector 103"/>
              <p:cNvCxnSpPr/>
              <p:nvPr/>
            </p:nvCxnSpPr>
            <p:spPr>
              <a:xfrm>
                <a:off x="4237282" y="2282825"/>
                <a:ext cx="0" cy="413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a:off x="4707976" y="2282825"/>
                <a:ext cx="0" cy="413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p:nvPr/>
            </p:nvCxnSpPr>
            <p:spPr>
              <a:xfrm>
                <a:off x="5178670" y="2282825"/>
                <a:ext cx="0" cy="413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a:off x="5649364" y="2282825"/>
                <a:ext cx="0" cy="413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a:xfrm>
                <a:off x="6120058" y="2282825"/>
                <a:ext cx="0" cy="413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a:xfrm>
                <a:off x="6590752" y="2282825"/>
                <a:ext cx="0" cy="413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a:xfrm>
                <a:off x="7061446" y="2282825"/>
                <a:ext cx="0" cy="413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a:xfrm>
                <a:off x="7532140" y="2282825"/>
                <a:ext cx="0" cy="413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a:xfrm>
                <a:off x="8002832" y="2282825"/>
                <a:ext cx="0" cy="413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2" name="TextBox 101"/>
            <p:cNvSpPr txBox="1"/>
            <p:nvPr/>
          </p:nvSpPr>
          <p:spPr>
            <a:xfrm>
              <a:off x="2675553" y="5568946"/>
              <a:ext cx="1705532" cy="369332"/>
            </a:xfrm>
            <a:prstGeom prst="rect">
              <a:avLst/>
            </a:prstGeom>
            <a:noFill/>
          </p:spPr>
          <p:txBody>
            <a:bodyPr wrap="none" rtlCol="0">
              <a:spAutoFit/>
            </a:bodyPr>
            <a:lstStyle/>
            <a:p>
              <a:r>
                <a:rPr lang="en-US" dirty="0" smtClean="0"/>
                <a:t>Replica Location</a:t>
              </a:r>
              <a:endParaRPr lang="en-US" dirty="0"/>
            </a:p>
          </p:txBody>
        </p:sp>
        <p:sp>
          <p:nvSpPr>
            <p:cNvPr id="103" name="TextBox 102"/>
            <p:cNvSpPr txBox="1"/>
            <p:nvPr/>
          </p:nvSpPr>
          <p:spPr>
            <a:xfrm rot="16200000">
              <a:off x="1020308" y="4622668"/>
              <a:ext cx="748410" cy="369332"/>
            </a:xfrm>
            <a:prstGeom prst="rect">
              <a:avLst/>
            </a:prstGeom>
            <a:noFill/>
          </p:spPr>
          <p:txBody>
            <a:bodyPr wrap="none" rtlCol="0">
              <a:spAutoFit/>
            </a:bodyPr>
            <a:lstStyle/>
            <a:p>
              <a:r>
                <a:rPr lang="en-US" dirty="0" smtClean="0"/>
                <a:t>Count</a:t>
              </a:r>
              <a:endParaRPr lang="en-US" dirty="0"/>
            </a:p>
          </p:txBody>
        </p:sp>
      </p:grpSp>
      <p:sp>
        <p:nvSpPr>
          <p:cNvPr id="129" name="TextBox 128"/>
          <p:cNvSpPr txBox="1"/>
          <p:nvPr/>
        </p:nvSpPr>
        <p:spPr>
          <a:xfrm>
            <a:off x="796045" y="1909257"/>
            <a:ext cx="4494372" cy="369332"/>
          </a:xfrm>
          <a:prstGeom prst="rect">
            <a:avLst/>
          </a:prstGeom>
          <a:noFill/>
        </p:spPr>
        <p:txBody>
          <a:bodyPr wrap="none" rtlCol="0">
            <a:spAutoFit/>
          </a:bodyPr>
          <a:lstStyle/>
          <a:p>
            <a:r>
              <a:rPr lang="en-US" dirty="0" smtClean="0"/>
              <a:t>How often was each </a:t>
            </a:r>
            <a:r>
              <a:rPr lang="en-US" dirty="0" err="1" smtClean="0"/>
              <a:t>DataNode</a:t>
            </a:r>
            <a:r>
              <a:rPr lang="en-US" dirty="0" smtClean="0"/>
              <a:t> a replica host?</a:t>
            </a:r>
            <a:endParaRPr lang="en-US" dirty="0"/>
          </a:p>
        </p:txBody>
      </p:sp>
      <p:grpSp>
        <p:nvGrpSpPr>
          <p:cNvPr id="133" name="Group 132"/>
          <p:cNvGrpSpPr/>
          <p:nvPr/>
        </p:nvGrpSpPr>
        <p:grpSpPr>
          <a:xfrm>
            <a:off x="1334885" y="3776279"/>
            <a:ext cx="3636901" cy="3129502"/>
            <a:chOff x="3915593" y="2893692"/>
            <a:chExt cx="3636901" cy="3129502"/>
          </a:xfrm>
        </p:grpSpPr>
        <p:grpSp>
          <p:nvGrpSpPr>
            <p:cNvPr id="134" name="Group 133"/>
            <p:cNvGrpSpPr/>
            <p:nvPr/>
          </p:nvGrpSpPr>
          <p:grpSpPr>
            <a:xfrm>
              <a:off x="4612469" y="2893692"/>
              <a:ext cx="2940025" cy="2806697"/>
              <a:chOff x="4612469" y="2893692"/>
              <a:chExt cx="2940025" cy="2806697"/>
            </a:xfrm>
          </p:grpSpPr>
          <p:pic>
            <p:nvPicPr>
              <p:cNvPr id="137" name="Picture 136"/>
              <p:cNvPicPr>
                <a:picLocks noChangeAspect="1"/>
              </p:cNvPicPr>
              <p:nvPr/>
            </p:nvPicPr>
            <p:blipFill rotWithShape="1">
              <a:blip r:embed="rId4">
                <a:extLst>
                  <a:ext uri="{28A0092B-C50C-407E-A947-70E740481C1C}">
                    <a14:useLocalDpi xmlns:a14="http://schemas.microsoft.com/office/drawing/2010/main" val="0"/>
                  </a:ext>
                </a:extLst>
              </a:blip>
              <a:srcRect l="29354" t="24047" r="50289" b="-2174"/>
              <a:stretch/>
            </p:blipFill>
            <p:spPr>
              <a:xfrm>
                <a:off x="4958029" y="2893693"/>
                <a:ext cx="2594465" cy="2424204"/>
              </a:xfrm>
              <a:prstGeom prst="rect">
                <a:avLst/>
              </a:prstGeom>
            </p:spPr>
          </p:pic>
          <p:grpSp>
            <p:nvGrpSpPr>
              <p:cNvPr id="138" name="Group 137"/>
              <p:cNvGrpSpPr/>
              <p:nvPr/>
            </p:nvGrpSpPr>
            <p:grpSpPr>
              <a:xfrm>
                <a:off x="4612469" y="2893692"/>
                <a:ext cx="2870818" cy="2806697"/>
                <a:chOff x="4612469" y="2893692"/>
                <a:chExt cx="2870818" cy="2806697"/>
              </a:xfrm>
            </p:grpSpPr>
            <p:grpSp>
              <p:nvGrpSpPr>
                <p:cNvPr id="139" name="Group 138"/>
                <p:cNvGrpSpPr/>
                <p:nvPr/>
              </p:nvGrpSpPr>
              <p:grpSpPr>
                <a:xfrm>
                  <a:off x="4612469" y="2893693"/>
                  <a:ext cx="232970" cy="2269800"/>
                  <a:chOff x="1921871" y="3960493"/>
                  <a:chExt cx="232970" cy="2269800"/>
                </a:xfrm>
              </p:grpSpPr>
              <p:sp>
                <p:nvSpPr>
                  <p:cNvPr id="190" name="Freeform 189"/>
                  <p:cNvSpPr/>
                  <p:nvPr/>
                </p:nvSpPr>
                <p:spPr>
                  <a:xfrm flipH="1">
                    <a:off x="1921871" y="5387313"/>
                    <a:ext cx="232970" cy="27225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rgbClr val="52515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548640" bIns="0" rtlCol="0" anchor="ctr"/>
                  <a:lstStyle/>
                  <a:p>
                    <a:pPr algn="ctr"/>
                    <a:r>
                      <a:rPr lang="en-US" sz="2400" dirty="0" smtClean="0">
                        <a:ln w="3175">
                          <a:solidFill>
                            <a:schemeClr val="tx1"/>
                          </a:solidFill>
                        </a:ln>
                        <a:solidFill>
                          <a:schemeClr val="bg1"/>
                        </a:solidFill>
                        <a:latin typeface="Arial Black" panose="020B0A04020102020204" pitchFamily="34" charset="0"/>
                        <a:cs typeface="Times New Roman" panose="02020603050405020304" pitchFamily="18" charset="0"/>
                      </a:rPr>
                      <a:t>F</a:t>
                    </a:r>
                    <a:endParaRPr lang="en-US" sz="2400" dirty="0">
                      <a:ln w="3175">
                        <a:solidFill>
                          <a:schemeClr val="tx1"/>
                        </a:solidFill>
                      </a:ln>
                      <a:solidFill>
                        <a:schemeClr val="bg1"/>
                      </a:solidFill>
                      <a:latin typeface="Arial Black" panose="020B0A04020102020204" pitchFamily="34" charset="0"/>
                      <a:cs typeface="Times New Roman" panose="02020603050405020304" pitchFamily="18" charset="0"/>
                    </a:endParaRPr>
                  </a:p>
                </p:txBody>
              </p:sp>
              <p:sp>
                <p:nvSpPr>
                  <p:cNvPr id="191" name="Freeform 190"/>
                  <p:cNvSpPr/>
                  <p:nvPr/>
                </p:nvSpPr>
                <p:spPr>
                  <a:xfrm flipH="1">
                    <a:off x="1921871" y="3960493"/>
                    <a:ext cx="232970" cy="27225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548640" bIns="0" rtlCol="0" anchor="ctr"/>
                  <a:lstStyle/>
                  <a:p>
                    <a:pPr algn="ctr"/>
                    <a:r>
                      <a:rPr lang="en-US" sz="2400" b="1" dirty="0" smtClean="0">
                        <a:ln w="3175">
                          <a:solidFill>
                            <a:schemeClr val="tx1"/>
                          </a:solidFill>
                        </a:ln>
                        <a:solidFill>
                          <a:schemeClr val="bg1"/>
                        </a:solidFill>
                        <a:latin typeface="Arial Black" panose="020B0A04020102020204" pitchFamily="34" charset="0"/>
                        <a:cs typeface="Times New Roman" panose="02020603050405020304" pitchFamily="18" charset="0"/>
                      </a:rPr>
                      <a:t>A</a:t>
                    </a:r>
                    <a:endParaRPr lang="en-US" sz="2000" b="1" dirty="0">
                      <a:ln w="3175">
                        <a:solidFill>
                          <a:schemeClr val="tx1"/>
                        </a:solidFill>
                      </a:ln>
                      <a:solidFill>
                        <a:schemeClr val="bg1"/>
                      </a:solidFill>
                      <a:latin typeface="Arial Black" panose="020B0A04020102020204" pitchFamily="34" charset="0"/>
                      <a:cs typeface="Times New Roman" panose="02020603050405020304" pitchFamily="18" charset="0"/>
                    </a:endParaRPr>
                  </a:p>
                </p:txBody>
              </p:sp>
              <p:sp>
                <p:nvSpPr>
                  <p:cNvPr id="192" name="Freeform 191"/>
                  <p:cNvSpPr/>
                  <p:nvPr/>
                </p:nvSpPr>
                <p:spPr>
                  <a:xfrm flipH="1">
                    <a:off x="1921871" y="4245857"/>
                    <a:ext cx="232970" cy="27225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rgbClr val="96939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548640" bIns="0" rtlCol="0" anchor="ctr"/>
                  <a:lstStyle/>
                  <a:p>
                    <a:pPr algn="ctr"/>
                    <a:r>
                      <a:rPr lang="en-US" sz="2400" dirty="0" smtClean="0">
                        <a:ln w="3175">
                          <a:solidFill>
                            <a:schemeClr val="tx1"/>
                          </a:solidFill>
                        </a:ln>
                        <a:solidFill>
                          <a:schemeClr val="bg1"/>
                        </a:solidFill>
                        <a:latin typeface="Arial Black" panose="020B0A04020102020204" pitchFamily="34" charset="0"/>
                        <a:cs typeface="Times New Roman" panose="02020603050405020304" pitchFamily="18" charset="0"/>
                      </a:rPr>
                      <a:t>B</a:t>
                    </a:r>
                    <a:endParaRPr lang="en-US" sz="2400" dirty="0">
                      <a:ln w="3175">
                        <a:solidFill>
                          <a:schemeClr val="tx1"/>
                        </a:solidFill>
                      </a:ln>
                      <a:solidFill>
                        <a:schemeClr val="bg1"/>
                      </a:solidFill>
                      <a:latin typeface="Arial Black" panose="020B0A04020102020204" pitchFamily="34" charset="0"/>
                      <a:cs typeface="Times New Roman" panose="02020603050405020304" pitchFamily="18" charset="0"/>
                    </a:endParaRPr>
                  </a:p>
                </p:txBody>
              </p:sp>
              <p:sp>
                <p:nvSpPr>
                  <p:cNvPr id="193" name="Freeform 192"/>
                  <p:cNvSpPr/>
                  <p:nvPr/>
                </p:nvSpPr>
                <p:spPr>
                  <a:xfrm flipH="1">
                    <a:off x="1921871" y="5101949"/>
                    <a:ext cx="232970" cy="27225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rgbClr val="644F7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548640" bIns="0" rtlCol="0" anchor="ctr"/>
                  <a:lstStyle/>
                  <a:p>
                    <a:pPr algn="ctr"/>
                    <a:r>
                      <a:rPr lang="en-US" sz="2400" dirty="0" smtClean="0">
                        <a:ln w="3175">
                          <a:solidFill>
                            <a:schemeClr val="tx1"/>
                          </a:solidFill>
                        </a:ln>
                        <a:solidFill>
                          <a:schemeClr val="bg1"/>
                        </a:solidFill>
                        <a:latin typeface="Arial Black" panose="020B0A04020102020204" pitchFamily="34" charset="0"/>
                        <a:cs typeface="Times New Roman" panose="02020603050405020304" pitchFamily="18" charset="0"/>
                      </a:rPr>
                      <a:t>E</a:t>
                    </a:r>
                    <a:endParaRPr lang="en-US" sz="2400" dirty="0">
                      <a:ln w="3175">
                        <a:solidFill>
                          <a:schemeClr val="tx1"/>
                        </a:solidFill>
                      </a:ln>
                      <a:solidFill>
                        <a:schemeClr val="bg1"/>
                      </a:solidFill>
                      <a:latin typeface="Arial Black" panose="020B0A04020102020204" pitchFamily="34" charset="0"/>
                      <a:cs typeface="Times New Roman" panose="02020603050405020304" pitchFamily="18" charset="0"/>
                    </a:endParaRPr>
                  </a:p>
                </p:txBody>
              </p:sp>
              <p:sp>
                <p:nvSpPr>
                  <p:cNvPr id="194" name="Freeform 193"/>
                  <p:cNvSpPr/>
                  <p:nvPr/>
                </p:nvSpPr>
                <p:spPr>
                  <a:xfrm flipH="1">
                    <a:off x="1921871" y="4531221"/>
                    <a:ext cx="232970" cy="27225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rgbClr val="C19D8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548640" bIns="0" rtlCol="0" anchor="ctr"/>
                  <a:lstStyle/>
                  <a:p>
                    <a:pPr algn="ctr"/>
                    <a:r>
                      <a:rPr lang="en-US" sz="2400" dirty="0" smtClean="0">
                        <a:ln w="3175">
                          <a:solidFill>
                            <a:schemeClr val="tx1"/>
                          </a:solidFill>
                        </a:ln>
                        <a:solidFill>
                          <a:schemeClr val="bg1"/>
                        </a:solidFill>
                        <a:latin typeface="Arial Black" panose="020B0A04020102020204" pitchFamily="34" charset="0"/>
                        <a:cs typeface="Times New Roman" panose="02020603050405020304" pitchFamily="18" charset="0"/>
                      </a:rPr>
                      <a:t>C</a:t>
                    </a:r>
                    <a:endParaRPr lang="en-US" sz="2400" dirty="0">
                      <a:ln w="3175">
                        <a:solidFill>
                          <a:schemeClr val="tx1"/>
                        </a:solidFill>
                      </a:ln>
                      <a:solidFill>
                        <a:schemeClr val="bg1"/>
                      </a:solidFill>
                      <a:latin typeface="Arial Black" panose="020B0A04020102020204" pitchFamily="34" charset="0"/>
                      <a:cs typeface="Times New Roman" panose="02020603050405020304" pitchFamily="18" charset="0"/>
                    </a:endParaRPr>
                  </a:p>
                </p:txBody>
              </p:sp>
              <p:sp>
                <p:nvSpPr>
                  <p:cNvPr id="195" name="Freeform 194"/>
                  <p:cNvSpPr/>
                  <p:nvPr/>
                </p:nvSpPr>
                <p:spPr>
                  <a:xfrm flipH="1">
                    <a:off x="1921871" y="4816585"/>
                    <a:ext cx="232970" cy="27225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rgbClr val="87411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548640" bIns="0" rtlCol="0" anchor="ctr"/>
                  <a:lstStyle/>
                  <a:p>
                    <a:pPr algn="ctr"/>
                    <a:r>
                      <a:rPr lang="en-US" sz="2400" dirty="0" smtClean="0">
                        <a:ln w="3175">
                          <a:solidFill>
                            <a:schemeClr val="tx1"/>
                          </a:solidFill>
                        </a:ln>
                        <a:solidFill>
                          <a:schemeClr val="bg1"/>
                        </a:solidFill>
                        <a:latin typeface="Arial Black" panose="020B0A04020102020204" pitchFamily="34" charset="0"/>
                        <a:cs typeface="Times New Roman" panose="02020603050405020304" pitchFamily="18" charset="0"/>
                      </a:rPr>
                      <a:t>D</a:t>
                    </a:r>
                    <a:endParaRPr lang="en-US" sz="2400" dirty="0">
                      <a:ln w="3175">
                        <a:solidFill>
                          <a:schemeClr val="tx1"/>
                        </a:solidFill>
                      </a:ln>
                      <a:solidFill>
                        <a:schemeClr val="bg1"/>
                      </a:solidFill>
                      <a:latin typeface="Arial Black" panose="020B0A04020102020204" pitchFamily="34" charset="0"/>
                      <a:cs typeface="Times New Roman" panose="02020603050405020304" pitchFamily="18" charset="0"/>
                    </a:endParaRPr>
                  </a:p>
                </p:txBody>
              </p:sp>
              <p:sp>
                <p:nvSpPr>
                  <p:cNvPr id="196" name="Freeform 195"/>
                  <p:cNvSpPr/>
                  <p:nvPr/>
                </p:nvSpPr>
                <p:spPr>
                  <a:xfrm flipH="1">
                    <a:off x="1921871" y="5672677"/>
                    <a:ext cx="232970" cy="27225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rgbClr val="7394D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548640" bIns="0" rtlCol="0" anchor="ctr"/>
                  <a:lstStyle/>
                  <a:p>
                    <a:pPr algn="ctr"/>
                    <a:r>
                      <a:rPr lang="en-US" sz="2400" dirty="0" smtClean="0">
                        <a:ln w="3175">
                          <a:solidFill>
                            <a:schemeClr val="tx1"/>
                          </a:solidFill>
                        </a:ln>
                        <a:solidFill>
                          <a:schemeClr val="bg1"/>
                        </a:solidFill>
                        <a:latin typeface="Arial Black" panose="020B0A04020102020204" pitchFamily="34" charset="0"/>
                        <a:cs typeface="Times New Roman" panose="02020603050405020304" pitchFamily="18" charset="0"/>
                      </a:rPr>
                      <a:t>G</a:t>
                    </a:r>
                    <a:endParaRPr lang="en-US" sz="2400" dirty="0">
                      <a:ln w="3175">
                        <a:solidFill>
                          <a:schemeClr val="tx1"/>
                        </a:solidFill>
                      </a:ln>
                      <a:solidFill>
                        <a:schemeClr val="bg1"/>
                      </a:solidFill>
                      <a:latin typeface="Arial Black" panose="020B0A04020102020204" pitchFamily="34" charset="0"/>
                      <a:cs typeface="Times New Roman" panose="02020603050405020304" pitchFamily="18" charset="0"/>
                    </a:endParaRPr>
                  </a:p>
                </p:txBody>
              </p:sp>
              <p:sp>
                <p:nvSpPr>
                  <p:cNvPr id="197" name="Freeform 196"/>
                  <p:cNvSpPr/>
                  <p:nvPr/>
                </p:nvSpPr>
                <p:spPr>
                  <a:xfrm flipH="1">
                    <a:off x="1921871" y="5958039"/>
                    <a:ext cx="232970" cy="272254"/>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rgbClr val="7FA167"/>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548640" bIns="0" rtlCol="0" anchor="ctr"/>
                  <a:lstStyle/>
                  <a:p>
                    <a:pPr algn="ctr"/>
                    <a:r>
                      <a:rPr lang="en-US" sz="2400" dirty="0" smtClean="0">
                        <a:ln w="3175">
                          <a:solidFill>
                            <a:schemeClr val="tx1"/>
                          </a:solidFill>
                        </a:ln>
                        <a:solidFill>
                          <a:schemeClr val="bg1"/>
                        </a:solidFill>
                        <a:latin typeface="Arial Black" panose="020B0A04020102020204" pitchFamily="34" charset="0"/>
                        <a:cs typeface="Times New Roman" panose="02020603050405020304" pitchFamily="18" charset="0"/>
                      </a:rPr>
                      <a:t>H</a:t>
                    </a:r>
                    <a:endParaRPr lang="en-US" sz="2400" dirty="0">
                      <a:ln w="3175">
                        <a:solidFill>
                          <a:schemeClr val="tx1"/>
                        </a:solidFill>
                      </a:ln>
                      <a:solidFill>
                        <a:schemeClr val="bg1"/>
                      </a:solidFill>
                      <a:latin typeface="Arial Black" panose="020B0A04020102020204" pitchFamily="34" charset="0"/>
                      <a:cs typeface="Times New Roman" panose="02020603050405020304" pitchFamily="18" charset="0"/>
                    </a:endParaRPr>
                  </a:p>
                </p:txBody>
              </p:sp>
            </p:grpSp>
            <p:grpSp>
              <p:nvGrpSpPr>
                <p:cNvPr id="140" name="Group 139"/>
                <p:cNvGrpSpPr/>
                <p:nvPr/>
              </p:nvGrpSpPr>
              <p:grpSpPr>
                <a:xfrm>
                  <a:off x="4866788" y="5221549"/>
                  <a:ext cx="2616499" cy="478840"/>
                  <a:chOff x="2373813" y="3544456"/>
                  <a:chExt cx="2616499" cy="478840"/>
                </a:xfrm>
              </p:grpSpPr>
              <p:grpSp>
                <p:nvGrpSpPr>
                  <p:cNvPr id="166" name="Group 165"/>
                  <p:cNvGrpSpPr/>
                  <p:nvPr/>
                </p:nvGrpSpPr>
                <p:grpSpPr>
                  <a:xfrm>
                    <a:off x="3009019" y="3544457"/>
                    <a:ext cx="410911" cy="478839"/>
                    <a:chOff x="-548806" y="2595022"/>
                    <a:chExt cx="653118" cy="761087"/>
                  </a:xfrm>
                </p:grpSpPr>
                <p:sp>
                  <p:nvSpPr>
                    <p:cNvPr id="188" name="TextBox 187"/>
                    <p:cNvSpPr txBox="1"/>
                    <p:nvPr/>
                  </p:nvSpPr>
                  <p:spPr>
                    <a:xfrm>
                      <a:off x="-339019" y="2595022"/>
                      <a:ext cx="443331" cy="684870"/>
                    </a:xfrm>
                    <a:prstGeom prst="rect">
                      <a:avLst/>
                    </a:prstGeom>
                    <a:noFill/>
                  </p:spPr>
                  <p:txBody>
                    <a:bodyPr wrap="none" lIns="0" tIns="0" rIns="0" bIns="0" rtlCol="0">
                      <a:spAutoFit/>
                    </a:bodyPr>
                    <a:lstStyle/>
                    <a:p>
                      <a:r>
                        <a:rPr lang="en-US" sz="2800" dirty="0" smtClean="0">
                          <a:ln w="6350">
                            <a:solidFill>
                              <a:schemeClr val="tx1"/>
                            </a:solidFill>
                          </a:ln>
                          <a:solidFill>
                            <a:schemeClr val="bg1"/>
                          </a:solidFill>
                          <a:latin typeface="Arial Black" panose="020B0A04020102020204" pitchFamily="34" charset="0"/>
                        </a:rPr>
                        <a:t>C</a:t>
                      </a:r>
                      <a:endParaRPr lang="en-US" sz="3200" dirty="0">
                        <a:ln w="6350">
                          <a:solidFill>
                            <a:schemeClr val="tx1"/>
                          </a:solidFill>
                        </a:ln>
                        <a:solidFill>
                          <a:schemeClr val="bg1"/>
                        </a:solidFill>
                        <a:latin typeface="Arial Black" panose="020B0A04020102020204" pitchFamily="34" charset="0"/>
                      </a:endParaRPr>
                    </a:p>
                  </p:txBody>
                </p:sp>
                <p:pic>
                  <p:nvPicPr>
                    <p:cNvPr id="189" name="Picture 2" descr="https://cloud.google.com/hadoop/images/hadoop-elephant.png"/>
                    <p:cNvPicPr>
                      <a:picLocks noChangeAspect="1" noChangeArrowheads="1"/>
                    </p:cNvPicPr>
                    <p:nvPr/>
                  </p:nvPicPr>
                  <p:blipFill>
                    <a:blip r:embed="rId5"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48806" y="3043945"/>
                      <a:ext cx="436678" cy="312164"/>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nvGrpSpPr>
                  <p:cNvPr id="167" name="Group 166"/>
                  <p:cNvGrpSpPr/>
                  <p:nvPr/>
                </p:nvGrpSpPr>
                <p:grpSpPr>
                  <a:xfrm>
                    <a:off x="3942591" y="3544456"/>
                    <a:ext cx="370836" cy="478838"/>
                    <a:chOff x="-548806" y="2595023"/>
                    <a:chExt cx="589421" cy="761086"/>
                  </a:xfrm>
                </p:grpSpPr>
                <p:sp>
                  <p:nvSpPr>
                    <p:cNvPr id="186" name="TextBox 185"/>
                    <p:cNvSpPr txBox="1"/>
                    <p:nvPr/>
                  </p:nvSpPr>
                  <p:spPr>
                    <a:xfrm>
                      <a:off x="-339019" y="2595023"/>
                      <a:ext cx="379634" cy="684870"/>
                    </a:xfrm>
                    <a:prstGeom prst="rect">
                      <a:avLst/>
                    </a:prstGeom>
                    <a:noFill/>
                  </p:spPr>
                  <p:txBody>
                    <a:bodyPr wrap="none" lIns="0" tIns="0" rIns="0" bIns="0" rtlCol="0">
                      <a:spAutoFit/>
                    </a:bodyPr>
                    <a:lstStyle/>
                    <a:p>
                      <a:r>
                        <a:rPr lang="en-US" sz="2800" dirty="0" smtClean="0">
                          <a:ln w="6350">
                            <a:solidFill>
                              <a:schemeClr val="tx1"/>
                            </a:solidFill>
                          </a:ln>
                          <a:solidFill>
                            <a:schemeClr val="bg1"/>
                          </a:solidFill>
                          <a:latin typeface="Arial Black" panose="020B0A04020102020204" pitchFamily="34" charset="0"/>
                        </a:rPr>
                        <a:t>F</a:t>
                      </a:r>
                      <a:endParaRPr lang="en-US" sz="3200" dirty="0">
                        <a:ln w="6350">
                          <a:solidFill>
                            <a:schemeClr val="tx1"/>
                          </a:solidFill>
                        </a:ln>
                        <a:solidFill>
                          <a:schemeClr val="bg1"/>
                        </a:solidFill>
                        <a:latin typeface="Arial Black" panose="020B0A04020102020204" pitchFamily="34" charset="0"/>
                      </a:endParaRPr>
                    </a:p>
                  </p:txBody>
                </p:sp>
                <p:pic>
                  <p:nvPicPr>
                    <p:cNvPr id="187" name="Picture 2" descr="https://cloud.google.com/hadoop/images/hadoop-elephant.png"/>
                    <p:cNvPicPr>
                      <a:picLocks noChangeAspect="1" noChangeArrowheads="1"/>
                    </p:cNvPicPr>
                    <p:nvPr/>
                  </p:nvPicPr>
                  <p:blipFill>
                    <a:blip r:embed="rId5"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48806" y="3043945"/>
                      <a:ext cx="436678" cy="312164"/>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nvGrpSpPr>
                  <p:cNvPr id="168" name="Group 167"/>
                  <p:cNvGrpSpPr/>
                  <p:nvPr/>
                </p:nvGrpSpPr>
                <p:grpSpPr>
                  <a:xfrm>
                    <a:off x="2373813" y="3544457"/>
                    <a:ext cx="410911" cy="478839"/>
                    <a:chOff x="-548806" y="2595022"/>
                    <a:chExt cx="653118" cy="761087"/>
                  </a:xfrm>
                </p:grpSpPr>
                <p:sp>
                  <p:nvSpPr>
                    <p:cNvPr id="184" name="TextBox 183"/>
                    <p:cNvSpPr txBox="1"/>
                    <p:nvPr/>
                  </p:nvSpPr>
                  <p:spPr>
                    <a:xfrm>
                      <a:off x="-339019" y="2595022"/>
                      <a:ext cx="443331" cy="684870"/>
                    </a:xfrm>
                    <a:prstGeom prst="rect">
                      <a:avLst/>
                    </a:prstGeom>
                    <a:noFill/>
                  </p:spPr>
                  <p:txBody>
                    <a:bodyPr wrap="none" lIns="0" tIns="0" rIns="0" bIns="0" rtlCol="0">
                      <a:spAutoFit/>
                    </a:bodyPr>
                    <a:lstStyle/>
                    <a:p>
                      <a:r>
                        <a:rPr lang="en-US" sz="2800" dirty="0" smtClean="0">
                          <a:ln w="6350">
                            <a:solidFill>
                              <a:schemeClr val="tx1"/>
                            </a:solidFill>
                          </a:ln>
                          <a:solidFill>
                            <a:schemeClr val="bg1"/>
                          </a:solidFill>
                          <a:latin typeface="Arial Black" panose="020B0A04020102020204" pitchFamily="34" charset="0"/>
                        </a:rPr>
                        <a:t>A</a:t>
                      </a:r>
                      <a:endParaRPr lang="en-US" sz="3200" dirty="0">
                        <a:ln w="6350">
                          <a:solidFill>
                            <a:schemeClr val="tx1"/>
                          </a:solidFill>
                        </a:ln>
                        <a:solidFill>
                          <a:schemeClr val="bg1"/>
                        </a:solidFill>
                        <a:latin typeface="Arial Black" panose="020B0A04020102020204" pitchFamily="34" charset="0"/>
                      </a:endParaRPr>
                    </a:p>
                  </p:txBody>
                </p:sp>
                <p:pic>
                  <p:nvPicPr>
                    <p:cNvPr id="185" name="Picture 2" descr="https://cloud.google.com/hadoop/images/hadoop-elephant.png"/>
                    <p:cNvPicPr>
                      <a:picLocks noChangeAspect="1" noChangeArrowheads="1"/>
                    </p:cNvPicPr>
                    <p:nvPr/>
                  </p:nvPicPr>
                  <p:blipFill>
                    <a:blip r:embed="rId5"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48806" y="3043945"/>
                      <a:ext cx="436678" cy="312164"/>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nvGrpSpPr>
                  <p:cNvPr id="169" name="Group 168"/>
                  <p:cNvGrpSpPr/>
                  <p:nvPr/>
                </p:nvGrpSpPr>
                <p:grpSpPr>
                  <a:xfrm>
                    <a:off x="3326622" y="3544457"/>
                    <a:ext cx="410911" cy="478839"/>
                    <a:chOff x="-548806" y="2595022"/>
                    <a:chExt cx="653118" cy="761087"/>
                  </a:xfrm>
                </p:grpSpPr>
                <p:sp>
                  <p:nvSpPr>
                    <p:cNvPr id="182" name="TextBox 181"/>
                    <p:cNvSpPr txBox="1"/>
                    <p:nvPr/>
                  </p:nvSpPr>
                  <p:spPr>
                    <a:xfrm>
                      <a:off x="-339019" y="2595022"/>
                      <a:ext cx="443331" cy="684870"/>
                    </a:xfrm>
                    <a:prstGeom prst="rect">
                      <a:avLst/>
                    </a:prstGeom>
                    <a:noFill/>
                  </p:spPr>
                  <p:txBody>
                    <a:bodyPr wrap="none" lIns="0" tIns="0" rIns="0" bIns="0" rtlCol="0">
                      <a:spAutoFit/>
                    </a:bodyPr>
                    <a:lstStyle/>
                    <a:p>
                      <a:r>
                        <a:rPr lang="en-US" sz="2800" dirty="0" smtClean="0">
                          <a:ln w="6350">
                            <a:solidFill>
                              <a:schemeClr val="tx1"/>
                            </a:solidFill>
                          </a:ln>
                          <a:solidFill>
                            <a:schemeClr val="bg1"/>
                          </a:solidFill>
                          <a:latin typeface="Arial Black" panose="020B0A04020102020204" pitchFamily="34" charset="0"/>
                        </a:rPr>
                        <a:t>D</a:t>
                      </a:r>
                      <a:endParaRPr lang="en-US" sz="3200" dirty="0">
                        <a:ln w="6350">
                          <a:solidFill>
                            <a:schemeClr val="tx1"/>
                          </a:solidFill>
                        </a:ln>
                        <a:solidFill>
                          <a:schemeClr val="bg1"/>
                        </a:solidFill>
                        <a:latin typeface="Arial Black" panose="020B0A04020102020204" pitchFamily="34" charset="0"/>
                      </a:endParaRPr>
                    </a:p>
                  </p:txBody>
                </p:sp>
                <p:pic>
                  <p:nvPicPr>
                    <p:cNvPr id="183" name="Picture 2" descr="https://cloud.google.com/hadoop/images/hadoop-elephant.png"/>
                    <p:cNvPicPr>
                      <a:picLocks noChangeAspect="1" noChangeArrowheads="1"/>
                    </p:cNvPicPr>
                    <p:nvPr/>
                  </p:nvPicPr>
                  <p:blipFill>
                    <a:blip r:embed="rId5"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48806" y="3043945"/>
                      <a:ext cx="436678" cy="312164"/>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nvGrpSpPr>
                  <p:cNvPr id="170" name="Group 169"/>
                  <p:cNvGrpSpPr/>
                  <p:nvPr/>
                </p:nvGrpSpPr>
                <p:grpSpPr>
                  <a:xfrm>
                    <a:off x="3644225" y="3544457"/>
                    <a:ext cx="391674" cy="478839"/>
                    <a:chOff x="-548806" y="2595022"/>
                    <a:chExt cx="622542" cy="761087"/>
                  </a:xfrm>
                </p:grpSpPr>
                <p:sp>
                  <p:nvSpPr>
                    <p:cNvPr id="180" name="TextBox 179"/>
                    <p:cNvSpPr txBox="1"/>
                    <p:nvPr/>
                  </p:nvSpPr>
                  <p:spPr>
                    <a:xfrm>
                      <a:off x="-339019" y="2595022"/>
                      <a:ext cx="412755" cy="684870"/>
                    </a:xfrm>
                    <a:prstGeom prst="rect">
                      <a:avLst/>
                    </a:prstGeom>
                    <a:noFill/>
                  </p:spPr>
                  <p:txBody>
                    <a:bodyPr wrap="none" lIns="0" tIns="0" rIns="0" bIns="0" rtlCol="0">
                      <a:spAutoFit/>
                    </a:bodyPr>
                    <a:lstStyle/>
                    <a:p>
                      <a:r>
                        <a:rPr lang="en-US" sz="2800" dirty="0" smtClean="0">
                          <a:ln w="6350">
                            <a:solidFill>
                              <a:schemeClr val="tx1"/>
                            </a:solidFill>
                          </a:ln>
                          <a:solidFill>
                            <a:schemeClr val="bg1"/>
                          </a:solidFill>
                          <a:latin typeface="Arial Black" panose="020B0A04020102020204" pitchFamily="34" charset="0"/>
                        </a:rPr>
                        <a:t>E</a:t>
                      </a:r>
                      <a:endParaRPr lang="en-US" sz="3200" dirty="0">
                        <a:ln w="6350">
                          <a:solidFill>
                            <a:schemeClr val="tx1"/>
                          </a:solidFill>
                        </a:ln>
                        <a:solidFill>
                          <a:schemeClr val="bg1"/>
                        </a:solidFill>
                        <a:latin typeface="Arial Black" panose="020B0A04020102020204" pitchFamily="34" charset="0"/>
                      </a:endParaRPr>
                    </a:p>
                  </p:txBody>
                </p:sp>
                <p:pic>
                  <p:nvPicPr>
                    <p:cNvPr id="181" name="Picture 2" descr="https://cloud.google.com/hadoop/images/hadoop-elephant.png"/>
                    <p:cNvPicPr>
                      <a:picLocks noChangeAspect="1" noChangeArrowheads="1"/>
                    </p:cNvPicPr>
                    <p:nvPr/>
                  </p:nvPicPr>
                  <p:blipFill>
                    <a:blip r:embed="rId5"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48806" y="3043945"/>
                      <a:ext cx="436678" cy="312164"/>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nvGrpSpPr>
                  <p:cNvPr id="171" name="Group 170"/>
                  <p:cNvGrpSpPr/>
                  <p:nvPr/>
                </p:nvGrpSpPr>
                <p:grpSpPr>
                  <a:xfrm>
                    <a:off x="4558562" y="3544457"/>
                    <a:ext cx="431750" cy="478839"/>
                    <a:chOff x="-503389" y="2595022"/>
                    <a:chExt cx="686243" cy="761087"/>
                  </a:xfrm>
                </p:grpSpPr>
                <p:sp>
                  <p:nvSpPr>
                    <p:cNvPr id="178" name="TextBox 177"/>
                    <p:cNvSpPr txBox="1"/>
                    <p:nvPr/>
                  </p:nvSpPr>
                  <p:spPr>
                    <a:xfrm>
                      <a:off x="-293601" y="2595022"/>
                      <a:ext cx="476455" cy="684870"/>
                    </a:xfrm>
                    <a:prstGeom prst="rect">
                      <a:avLst/>
                    </a:prstGeom>
                    <a:noFill/>
                  </p:spPr>
                  <p:txBody>
                    <a:bodyPr wrap="none" lIns="0" tIns="0" rIns="0" bIns="0" rtlCol="0">
                      <a:spAutoFit/>
                    </a:bodyPr>
                    <a:lstStyle/>
                    <a:p>
                      <a:r>
                        <a:rPr lang="en-US" sz="2800" dirty="0" smtClean="0">
                          <a:ln w="6350">
                            <a:solidFill>
                              <a:schemeClr val="tx1"/>
                            </a:solidFill>
                          </a:ln>
                          <a:solidFill>
                            <a:schemeClr val="bg1"/>
                          </a:solidFill>
                          <a:latin typeface="Arial Black" panose="020B0A04020102020204" pitchFamily="34" charset="0"/>
                        </a:rPr>
                        <a:t>H</a:t>
                      </a:r>
                      <a:endParaRPr lang="en-US" sz="3200" dirty="0">
                        <a:ln w="6350">
                          <a:solidFill>
                            <a:schemeClr val="tx1"/>
                          </a:solidFill>
                        </a:ln>
                        <a:solidFill>
                          <a:schemeClr val="bg1"/>
                        </a:solidFill>
                        <a:latin typeface="Arial Black" panose="020B0A04020102020204" pitchFamily="34" charset="0"/>
                      </a:endParaRPr>
                    </a:p>
                  </p:txBody>
                </p:sp>
                <p:pic>
                  <p:nvPicPr>
                    <p:cNvPr id="179" name="Picture 2" descr="https://cloud.google.com/hadoop/images/hadoop-elephant.png"/>
                    <p:cNvPicPr>
                      <a:picLocks noChangeAspect="1" noChangeArrowheads="1"/>
                    </p:cNvPicPr>
                    <p:nvPr/>
                  </p:nvPicPr>
                  <p:blipFill>
                    <a:blip r:embed="rId5"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03389" y="3043946"/>
                      <a:ext cx="436679" cy="312163"/>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nvGrpSpPr>
                  <p:cNvPr id="172" name="Group 171"/>
                  <p:cNvGrpSpPr/>
                  <p:nvPr/>
                </p:nvGrpSpPr>
                <p:grpSpPr>
                  <a:xfrm>
                    <a:off x="4220119" y="3544457"/>
                    <a:ext cx="431750" cy="478839"/>
                    <a:chOff x="-548806" y="2595022"/>
                    <a:chExt cx="686240" cy="761087"/>
                  </a:xfrm>
                </p:grpSpPr>
                <p:sp>
                  <p:nvSpPr>
                    <p:cNvPr id="176" name="TextBox 175"/>
                    <p:cNvSpPr txBox="1"/>
                    <p:nvPr/>
                  </p:nvSpPr>
                  <p:spPr>
                    <a:xfrm>
                      <a:off x="-339019" y="2595022"/>
                      <a:ext cx="476453" cy="684870"/>
                    </a:xfrm>
                    <a:prstGeom prst="rect">
                      <a:avLst/>
                    </a:prstGeom>
                    <a:noFill/>
                  </p:spPr>
                  <p:txBody>
                    <a:bodyPr wrap="none" lIns="0" tIns="0" rIns="0" bIns="0" rtlCol="0">
                      <a:spAutoFit/>
                    </a:bodyPr>
                    <a:lstStyle/>
                    <a:p>
                      <a:r>
                        <a:rPr lang="en-US" sz="2800" dirty="0" smtClean="0">
                          <a:ln w="6350">
                            <a:solidFill>
                              <a:schemeClr val="tx1"/>
                            </a:solidFill>
                          </a:ln>
                          <a:solidFill>
                            <a:schemeClr val="bg1"/>
                          </a:solidFill>
                          <a:latin typeface="Arial Black" panose="020B0A04020102020204" pitchFamily="34" charset="0"/>
                        </a:rPr>
                        <a:t>G</a:t>
                      </a:r>
                      <a:endParaRPr lang="en-US" sz="3200" dirty="0">
                        <a:ln w="6350">
                          <a:solidFill>
                            <a:schemeClr val="tx1"/>
                          </a:solidFill>
                        </a:ln>
                        <a:solidFill>
                          <a:schemeClr val="bg1"/>
                        </a:solidFill>
                        <a:latin typeface="Arial Black" panose="020B0A04020102020204" pitchFamily="34" charset="0"/>
                      </a:endParaRPr>
                    </a:p>
                  </p:txBody>
                </p:sp>
                <p:pic>
                  <p:nvPicPr>
                    <p:cNvPr id="177" name="Picture 2" descr="https://cloud.google.com/hadoop/images/hadoop-elephant.png"/>
                    <p:cNvPicPr>
                      <a:picLocks noChangeAspect="1" noChangeArrowheads="1"/>
                    </p:cNvPicPr>
                    <p:nvPr/>
                  </p:nvPicPr>
                  <p:blipFill>
                    <a:blip r:embed="rId5"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48806" y="3043945"/>
                      <a:ext cx="436678" cy="312164"/>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nvGrpSpPr>
                  <p:cNvPr id="173" name="Group 172"/>
                  <p:cNvGrpSpPr/>
                  <p:nvPr/>
                </p:nvGrpSpPr>
                <p:grpSpPr>
                  <a:xfrm>
                    <a:off x="2691416" y="3544457"/>
                    <a:ext cx="410911" cy="478839"/>
                    <a:chOff x="-548806" y="2595022"/>
                    <a:chExt cx="653118" cy="761087"/>
                  </a:xfrm>
                </p:grpSpPr>
                <p:sp>
                  <p:nvSpPr>
                    <p:cNvPr id="174" name="TextBox 173"/>
                    <p:cNvSpPr txBox="1"/>
                    <p:nvPr/>
                  </p:nvSpPr>
                  <p:spPr>
                    <a:xfrm>
                      <a:off x="-339019" y="2595022"/>
                      <a:ext cx="443331" cy="684870"/>
                    </a:xfrm>
                    <a:prstGeom prst="rect">
                      <a:avLst/>
                    </a:prstGeom>
                    <a:noFill/>
                  </p:spPr>
                  <p:txBody>
                    <a:bodyPr wrap="none" lIns="0" tIns="0" rIns="0" bIns="0" rtlCol="0">
                      <a:spAutoFit/>
                    </a:bodyPr>
                    <a:lstStyle/>
                    <a:p>
                      <a:r>
                        <a:rPr lang="en-US" sz="2800" dirty="0" smtClean="0">
                          <a:ln w="6350">
                            <a:solidFill>
                              <a:schemeClr val="tx1"/>
                            </a:solidFill>
                          </a:ln>
                          <a:solidFill>
                            <a:schemeClr val="bg1"/>
                          </a:solidFill>
                          <a:latin typeface="Arial Black" panose="020B0A04020102020204" pitchFamily="34" charset="0"/>
                        </a:rPr>
                        <a:t>B</a:t>
                      </a:r>
                      <a:endParaRPr lang="en-US" sz="3200" dirty="0">
                        <a:ln w="6350">
                          <a:solidFill>
                            <a:schemeClr val="tx1"/>
                          </a:solidFill>
                        </a:ln>
                        <a:solidFill>
                          <a:schemeClr val="bg1"/>
                        </a:solidFill>
                        <a:latin typeface="Arial Black" panose="020B0A04020102020204" pitchFamily="34" charset="0"/>
                      </a:endParaRPr>
                    </a:p>
                  </p:txBody>
                </p:sp>
                <p:pic>
                  <p:nvPicPr>
                    <p:cNvPr id="175" name="Picture 2" descr="https://cloud.google.com/hadoop/images/hadoop-elephant.png"/>
                    <p:cNvPicPr>
                      <a:picLocks noChangeAspect="1" noChangeArrowheads="1"/>
                    </p:cNvPicPr>
                    <p:nvPr/>
                  </p:nvPicPr>
                  <p:blipFill>
                    <a:blip r:embed="rId5"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48806" y="3043945"/>
                      <a:ext cx="436678" cy="312164"/>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grpSp>
              <p:nvGrpSpPr>
                <p:cNvPr id="141" name="Group 140"/>
                <p:cNvGrpSpPr/>
                <p:nvPr/>
              </p:nvGrpSpPr>
              <p:grpSpPr>
                <a:xfrm>
                  <a:off x="4923169" y="2893692"/>
                  <a:ext cx="2560118" cy="2387921"/>
                  <a:chOff x="4923169" y="2893692"/>
                  <a:chExt cx="2560118" cy="2387921"/>
                </a:xfrm>
              </p:grpSpPr>
              <p:grpSp>
                <p:nvGrpSpPr>
                  <p:cNvPr id="142" name="Group 141"/>
                  <p:cNvGrpSpPr/>
                  <p:nvPr/>
                </p:nvGrpSpPr>
                <p:grpSpPr>
                  <a:xfrm>
                    <a:off x="4977291" y="5226310"/>
                    <a:ext cx="2505996" cy="55303"/>
                    <a:chOff x="4977291" y="5221547"/>
                    <a:chExt cx="2505996" cy="55303"/>
                  </a:xfrm>
                </p:grpSpPr>
                <p:cxnSp>
                  <p:nvCxnSpPr>
                    <p:cNvPr id="155" name="Straight Connector 154"/>
                    <p:cNvCxnSpPr/>
                    <p:nvPr/>
                  </p:nvCxnSpPr>
                  <p:spPr>
                    <a:xfrm>
                      <a:off x="4977291" y="5221547"/>
                      <a:ext cx="2505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56" name="Group 155"/>
                    <p:cNvGrpSpPr/>
                    <p:nvPr/>
                  </p:nvGrpSpPr>
                  <p:grpSpPr>
                    <a:xfrm>
                      <a:off x="5004156" y="5221547"/>
                      <a:ext cx="2479131" cy="55303"/>
                      <a:chOff x="4237282" y="2282825"/>
                      <a:chExt cx="3765550" cy="41345"/>
                    </a:xfrm>
                  </p:grpSpPr>
                  <p:cxnSp>
                    <p:nvCxnSpPr>
                      <p:cNvPr id="157" name="Straight Connector 156"/>
                      <p:cNvCxnSpPr/>
                      <p:nvPr/>
                    </p:nvCxnSpPr>
                    <p:spPr>
                      <a:xfrm>
                        <a:off x="4237282" y="2282825"/>
                        <a:ext cx="0" cy="413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p:cNvCxnSpPr/>
                      <p:nvPr/>
                    </p:nvCxnSpPr>
                    <p:spPr>
                      <a:xfrm>
                        <a:off x="4707976" y="2282825"/>
                        <a:ext cx="0" cy="413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 name="Straight Connector 158"/>
                      <p:cNvCxnSpPr/>
                      <p:nvPr/>
                    </p:nvCxnSpPr>
                    <p:spPr>
                      <a:xfrm>
                        <a:off x="5178670" y="2282825"/>
                        <a:ext cx="0" cy="413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0" name="Straight Connector 159"/>
                      <p:cNvCxnSpPr/>
                      <p:nvPr/>
                    </p:nvCxnSpPr>
                    <p:spPr>
                      <a:xfrm>
                        <a:off x="5649364" y="2282825"/>
                        <a:ext cx="0" cy="413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1" name="Straight Connector 160"/>
                      <p:cNvCxnSpPr/>
                      <p:nvPr/>
                    </p:nvCxnSpPr>
                    <p:spPr>
                      <a:xfrm>
                        <a:off x="6120058" y="2282825"/>
                        <a:ext cx="0" cy="413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2" name="Straight Connector 161"/>
                      <p:cNvCxnSpPr/>
                      <p:nvPr/>
                    </p:nvCxnSpPr>
                    <p:spPr>
                      <a:xfrm>
                        <a:off x="6590752" y="2282825"/>
                        <a:ext cx="0" cy="413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3" name="Straight Connector 162"/>
                      <p:cNvCxnSpPr/>
                      <p:nvPr/>
                    </p:nvCxnSpPr>
                    <p:spPr>
                      <a:xfrm>
                        <a:off x="7061446" y="2282825"/>
                        <a:ext cx="0" cy="413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p:cNvCxnSpPr/>
                      <p:nvPr/>
                    </p:nvCxnSpPr>
                    <p:spPr>
                      <a:xfrm>
                        <a:off x="7532140" y="2282825"/>
                        <a:ext cx="0" cy="413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a:xfrm>
                        <a:off x="8002832" y="2282825"/>
                        <a:ext cx="0" cy="413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143" name="Group 142"/>
                  <p:cNvGrpSpPr/>
                  <p:nvPr/>
                </p:nvGrpSpPr>
                <p:grpSpPr>
                  <a:xfrm>
                    <a:off x="4923169" y="2893692"/>
                    <a:ext cx="54122" cy="2331237"/>
                    <a:chOff x="4923169" y="2893692"/>
                    <a:chExt cx="54122" cy="2331237"/>
                  </a:xfrm>
                </p:grpSpPr>
                <p:cxnSp>
                  <p:nvCxnSpPr>
                    <p:cNvPr id="144" name="Straight Connector 143"/>
                    <p:cNvCxnSpPr/>
                    <p:nvPr/>
                  </p:nvCxnSpPr>
                  <p:spPr>
                    <a:xfrm flipV="1">
                      <a:off x="4977291" y="2893693"/>
                      <a:ext cx="0" cy="23312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5" name="Group 144"/>
                    <p:cNvGrpSpPr/>
                    <p:nvPr/>
                  </p:nvGrpSpPr>
                  <p:grpSpPr>
                    <a:xfrm rot="5400000">
                      <a:off x="3803711" y="4013150"/>
                      <a:ext cx="2293038" cy="54121"/>
                      <a:chOff x="4237282" y="2282825"/>
                      <a:chExt cx="3765550" cy="41345"/>
                    </a:xfrm>
                  </p:grpSpPr>
                  <p:cxnSp>
                    <p:nvCxnSpPr>
                      <p:cNvPr id="146" name="Straight Connector 145"/>
                      <p:cNvCxnSpPr/>
                      <p:nvPr/>
                    </p:nvCxnSpPr>
                    <p:spPr>
                      <a:xfrm>
                        <a:off x="4237282" y="2282825"/>
                        <a:ext cx="0" cy="413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p:cNvCxnSpPr/>
                      <p:nvPr/>
                    </p:nvCxnSpPr>
                    <p:spPr>
                      <a:xfrm>
                        <a:off x="4707976" y="2282825"/>
                        <a:ext cx="0" cy="413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 name="Straight Connector 147"/>
                      <p:cNvCxnSpPr/>
                      <p:nvPr/>
                    </p:nvCxnSpPr>
                    <p:spPr>
                      <a:xfrm>
                        <a:off x="5178670" y="2282825"/>
                        <a:ext cx="0" cy="413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p:cNvCxnSpPr/>
                      <p:nvPr/>
                    </p:nvCxnSpPr>
                    <p:spPr>
                      <a:xfrm>
                        <a:off x="5649364" y="2282825"/>
                        <a:ext cx="0" cy="413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 name="Straight Connector 149"/>
                      <p:cNvCxnSpPr/>
                      <p:nvPr/>
                    </p:nvCxnSpPr>
                    <p:spPr>
                      <a:xfrm>
                        <a:off x="6120058" y="2282825"/>
                        <a:ext cx="0" cy="413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1" name="Straight Connector 150"/>
                      <p:cNvCxnSpPr/>
                      <p:nvPr/>
                    </p:nvCxnSpPr>
                    <p:spPr>
                      <a:xfrm>
                        <a:off x="6590752" y="2282825"/>
                        <a:ext cx="0" cy="413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p:cNvCxnSpPr/>
                      <p:nvPr/>
                    </p:nvCxnSpPr>
                    <p:spPr>
                      <a:xfrm>
                        <a:off x="7061446" y="2282825"/>
                        <a:ext cx="0" cy="413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p:cNvCxnSpPr/>
                      <p:nvPr/>
                    </p:nvCxnSpPr>
                    <p:spPr>
                      <a:xfrm>
                        <a:off x="7532140" y="2282825"/>
                        <a:ext cx="0" cy="413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p:cNvCxnSpPr/>
                      <p:nvPr/>
                    </p:nvCxnSpPr>
                    <p:spPr>
                      <a:xfrm>
                        <a:off x="8002832" y="2282825"/>
                        <a:ext cx="0" cy="413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grpSp>
        <p:sp>
          <p:nvSpPr>
            <p:cNvPr id="135" name="TextBox 134"/>
            <p:cNvSpPr txBox="1"/>
            <p:nvPr/>
          </p:nvSpPr>
          <p:spPr>
            <a:xfrm>
              <a:off x="5377523" y="5653862"/>
              <a:ext cx="1705532" cy="369332"/>
            </a:xfrm>
            <a:prstGeom prst="rect">
              <a:avLst/>
            </a:prstGeom>
            <a:noFill/>
          </p:spPr>
          <p:txBody>
            <a:bodyPr wrap="none" rtlCol="0">
              <a:spAutoFit/>
            </a:bodyPr>
            <a:lstStyle/>
            <a:p>
              <a:r>
                <a:rPr lang="en-US" dirty="0" smtClean="0"/>
                <a:t>Replica Location</a:t>
              </a:r>
              <a:endParaRPr lang="en-US" dirty="0"/>
            </a:p>
          </p:txBody>
        </p:sp>
        <p:sp>
          <p:nvSpPr>
            <p:cNvPr id="136" name="TextBox 135"/>
            <p:cNvSpPr txBox="1"/>
            <p:nvPr/>
          </p:nvSpPr>
          <p:spPr>
            <a:xfrm rot="16200000">
              <a:off x="3737275" y="3805472"/>
              <a:ext cx="725968" cy="369332"/>
            </a:xfrm>
            <a:prstGeom prst="rect">
              <a:avLst/>
            </a:prstGeom>
            <a:noFill/>
          </p:spPr>
          <p:txBody>
            <a:bodyPr wrap="none" rtlCol="0">
              <a:spAutoFit/>
            </a:bodyPr>
            <a:lstStyle/>
            <a:p>
              <a:r>
                <a:rPr lang="en-US" dirty="0" smtClean="0"/>
                <a:t>Client</a:t>
              </a:r>
              <a:endParaRPr lang="en-US" dirty="0"/>
            </a:p>
          </p:txBody>
        </p:sp>
      </p:grpSp>
      <p:grpSp>
        <p:nvGrpSpPr>
          <p:cNvPr id="198" name="Group 197"/>
          <p:cNvGrpSpPr/>
          <p:nvPr/>
        </p:nvGrpSpPr>
        <p:grpSpPr>
          <a:xfrm>
            <a:off x="7274697" y="140386"/>
            <a:ext cx="1721018" cy="1569660"/>
            <a:chOff x="2042417" y="2020656"/>
            <a:chExt cx="1721018" cy="1569660"/>
          </a:xfrm>
        </p:grpSpPr>
        <p:grpSp>
          <p:nvGrpSpPr>
            <p:cNvPr id="199" name="Group 198"/>
            <p:cNvGrpSpPr/>
            <p:nvPr/>
          </p:nvGrpSpPr>
          <p:grpSpPr>
            <a:xfrm>
              <a:off x="2042417" y="2276342"/>
              <a:ext cx="1721018" cy="1237104"/>
              <a:chOff x="4941133" y="3455754"/>
              <a:chExt cx="3764717" cy="2706157"/>
            </a:xfrm>
          </p:grpSpPr>
          <p:pic>
            <p:nvPicPr>
              <p:cNvPr id="201" name="Picture 20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941133" y="3455754"/>
                <a:ext cx="3764717" cy="2706157"/>
              </a:xfrm>
              <a:prstGeom prst="rect">
                <a:avLst/>
              </a:prstGeom>
            </p:spPr>
          </p:pic>
          <p:sp>
            <p:nvSpPr>
              <p:cNvPr id="202" name="Rectangle 201"/>
              <p:cNvSpPr/>
              <p:nvPr/>
            </p:nvSpPr>
            <p:spPr>
              <a:xfrm>
                <a:off x="5668297" y="3455754"/>
                <a:ext cx="2847053" cy="5211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0" name="TextBox 199"/>
            <p:cNvSpPr txBox="1"/>
            <p:nvPr/>
          </p:nvSpPr>
          <p:spPr>
            <a:xfrm>
              <a:off x="2675636" y="2020656"/>
              <a:ext cx="755335" cy="1569660"/>
            </a:xfrm>
            <a:prstGeom prst="rect">
              <a:avLst/>
            </a:prstGeom>
            <a:noFill/>
          </p:spPr>
          <p:txBody>
            <a:bodyPr wrap="none" rtlCol="0">
              <a:spAutoFit/>
            </a:bodyPr>
            <a:lstStyle/>
            <a:p>
              <a:r>
                <a:rPr lang="en-US" sz="9600" dirty="0" smtClean="0">
                  <a:ln w="28575">
                    <a:solidFill>
                      <a:schemeClr val="tx1"/>
                    </a:solidFill>
                  </a:ln>
                  <a:solidFill>
                    <a:schemeClr val="bg1"/>
                  </a:solidFill>
                </a:rPr>
                <a:t>?</a:t>
              </a:r>
              <a:endParaRPr lang="en-US" sz="9600" dirty="0">
                <a:ln w="28575">
                  <a:solidFill>
                    <a:schemeClr val="tx1"/>
                  </a:solidFill>
                </a:ln>
                <a:solidFill>
                  <a:schemeClr val="bg1"/>
                </a:solidFill>
              </a:endParaRPr>
            </a:p>
          </p:txBody>
        </p:sp>
      </p:grpSp>
      <p:sp>
        <p:nvSpPr>
          <p:cNvPr id="2" name="Slide Number Placeholder 1"/>
          <p:cNvSpPr>
            <a:spLocks noGrp="1"/>
          </p:cNvSpPr>
          <p:nvPr>
            <p:ph type="sldNum" sz="quarter" idx="12"/>
          </p:nvPr>
        </p:nvSpPr>
        <p:spPr/>
        <p:txBody>
          <a:bodyPr/>
          <a:lstStyle/>
          <a:p>
            <a:fld id="{D431E30F-8439-471B-9257-EDD8E85CDBC8}" type="slidenum">
              <a:rPr lang="en-US" smtClean="0"/>
              <a:t>41</a:t>
            </a:fld>
            <a:endParaRPr lang="en-US"/>
          </a:p>
        </p:txBody>
      </p:sp>
    </p:spTree>
    <p:extLst>
      <p:ext uri="{BB962C8B-B14F-4D97-AF65-F5344CB8AC3E}">
        <p14:creationId xmlns:p14="http://schemas.microsoft.com/office/powerpoint/2010/main" val="811328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9"/>
                                        </p:tgtEl>
                                        <p:attrNameLst>
                                          <p:attrName>style.visibility</p:attrName>
                                        </p:attrNameLst>
                                      </p:cBhvr>
                                      <p:to>
                                        <p:strVal val="visible"/>
                                      </p:to>
                                    </p:set>
                                    <p:animEffect transition="in" filter="fade">
                                      <p:cBhvr>
                                        <p:cTn id="12" dur="500"/>
                                        <p:tgtEl>
                                          <p:spTgt spid="1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2"/>
                                        </p:tgtEl>
                                        <p:attrNameLst>
                                          <p:attrName>style.visibility</p:attrName>
                                        </p:attrNameLst>
                                      </p:cBhvr>
                                      <p:to>
                                        <p:strVal val="visible"/>
                                      </p:to>
                                    </p:set>
                                    <p:animEffect transition="in" filter="fade">
                                      <p:cBhvr>
                                        <p:cTn id="17" dur="500"/>
                                        <p:tgtEl>
                                          <p:spTgt spid="42"/>
                                        </p:tgtEl>
                                      </p:cBhvr>
                                    </p:animEffect>
                                  </p:childTnLst>
                                </p:cTn>
                              </p:par>
                              <p:par>
                                <p:cTn id="18" presetID="10" presetClass="entr" presetSubtype="0" fill="hold" nodeType="withEffect">
                                  <p:stCondLst>
                                    <p:cond delay="0"/>
                                  </p:stCondLst>
                                  <p:childTnLst>
                                    <p:set>
                                      <p:cBhvr>
                                        <p:cTn id="19" dur="1" fill="hold">
                                          <p:stCondLst>
                                            <p:cond delay="0"/>
                                          </p:stCondLst>
                                        </p:cTn>
                                        <p:tgtEl>
                                          <p:spTgt spid="32"/>
                                        </p:tgtEl>
                                        <p:attrNameLst>
                                          <p:attrName>style.visibility</p:attrName>
                                        </p:attrNameLst>
                                      </p:cBhvr>
                                      <p:to>
                                        <p:strVal val="visible"/>
                                      </p:to>
                                    </p:set>
                                    <p:animEffect transition="in" filter="fade">
                                      <p:cBhvr>
                                        <p:cTn id="20" dur="500"/>
                                        <p:tgtEl>
                                          <p:spTgt spid="3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32"/>
                                        </p:tgtEl>
                                        <p:attrNameLst>
                                          <p:attrName>style.visibility</p:attrName>
                                        </p:attrNameLst>
                                      </p:cBhvr>
                                      <p:to>
                                        <p:strVal val="visible"/>
                                      </p:to>
                                    </p:set>
                                    <p:animEffect transition="in" filter="fade">
                                      <p:cBhvr>
                                        <p:cTn id="25" dur="500"/>
                                        <p:tgtEl>
                                          <p:spTgt spid="132"/>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7"/>
                                        </p:tgtEl>
                                        <p:attrNameLst>
                                          <p:attrName>style.visibility</p:attrName>
                                        </p:attrNameLst>
                                      </p:cBhvr>
                                      <p:to>
                                        <p:strVal val="visible"/>
                                      </p:to>
                                    </p:set>
                                    <p:animEffect transition="in" filter="fade">
                                      <p:cBhvr>
                                        <p:cTn id="30" dur="500"/>
                                        <p:tgtEl>
                                          <p:spTgt spid="37"/>
                                        </p:tgtEl>
                                      </p:cBhvr>
                                    </p:animEffect>
                                  </p:childTnLst>
                                </p:cTn>
                              </p:par>
                            </p:childTnLst>
                          </p:cTn>
                        </p:par>
                        <p:par>
                          <p:cTn id="31" fill="hold">
                            <p:stCondLst>
                              <p:cond delay="500"/>
                            </p:stCondLst>
                            <p:childTnLst>
                              <p:par>
                                <p:cTn id="32" presetID="22" presetClass="entr" presetSubtype="1" fill="hold" nodeType="afterEffect">
                                  <p:stCondLst>
                                    <p:cond delay="0"/>
                                  </p:stCondLst>
                                  <p:childTnLst>
                                    <p:set>
                                      <p:cBhvr>
                                        <p:cTn id="33" dur="1" fill="hold">
                                          <p:stCondLst>
                                            <p:cond delay="0"/>
                                          </p:stCondLst>
                                        </p:cTn>
                                        <p:tgtEl>
                                          <p:spTgt spid="41"/>
                                        </p:tgtEl>
                                        <p:attrNameLst>
                                          <p:attrName>style.visibility</p:attrName>
                                        </p:attrNameLst>
                                      </p:cBhvr>
                                      <p:to>
                                        <p:strVal val="visible"/>
                                      </p:to>
                                    </p:set>
                                    <p:animEffect transition="in" filter="wipe(up)">
                                      <p:cBhvr>
                                        <p:cTn id="34" dur="500"/>
                                        <p:tgtEl>
                                          <p:spTgt spid="41"/>
                                        </p:tgtEl>
                                      </p:cBhvr>
                                    </p:animEffect>
                                  </p:childTnLst>
                                </p:cTn>
                              </p:par>
                            </p:childTnLst>
                          </p:cTn>
                        </p:par>
                        <p:par>
                          <p:cTn id="35" fill="hold">
                            <p:stCondLst>
                              <p:cond delay="1000"/>
                            </p:stCondLst>
                            <p:childTnLst>
                              <p:par>
                                <p:cTn id="36" presetID="10" presetClass="exit" presetSubtype="0" fill="hold" grpId="1" nodeType="afterEffect">
                                  <p:stCondLst>
                                    <p:cond delay="0"/>
                                  </p:stCondLst>
                                  <p:childTnLst>
                                    <p:animEffect transition="out" filter="fade">
                                      <p:cBhvr>
                                        <p:cTn id="37" dur="500"/>
                                        <p:tgtEl>
                                          <p:spTgt spid="42"/>
                                        </p:tgtEl>
                                      </p:cBhvr>
                                    </p:animEffect>
                                    <p:set>
                                      <p:cBhvr>
                                        <p:cTn id="38" dur="1" fill="hold">
                                          <p:stCondLst>
                                            <p:cond delay="499"/>
                                          </p:stCondLst>
                                        </p:cTn>
                                        <p:tgtEl>
                                          <p:spTgt spid="42"/>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4"/>
                                        </p:tgtEl>
                                        <p:attrNameLst>
                                          <p:attrName>style.visibility</p:attrName>
                                        </p:attrNameLst>
                                      </p:cBhvr>
                                      <p:to>
                                        <p:strVal val="visible"/>
                                      </p:to>
                                    </p:set>
                                    <p:animEffect transition="in" filter="fade">
                                      <p:cBhvr>
                                        <p:cTn id="41" dur="500"/>
                                        <p:tgtEl>
                                          <p:spTgt spid="4"/>
                                        </p:tgtEl>
                                      </p:cBhvr>
                                    </p:animEffect>
                                  </p:childTnLst>
                                </p:cTn>
                              </p:par>
                            </p:childTnLst>
                          </p:cTn>
                        </p:par>
                      </p:childTnLst>
                    </p:cTn>
                  </p:par>
                  <p:par>
                    <p:cTn id="42" fill="hold">
                      <p:stCondLst>
                        <p:cond delay="indefinite"/>
                      </p:stCondLst>
                      <p:childTnLst>
                        <p:par>
                          <p:cTn id="43" fill="hold">
                            <p:stCondLst>
                              <p:cond delay="0"/>
                            </p:stCondLst>
                            <p:childTnLst>
                              <p:par>
                                <p:cTn id="44" presetID="53" presetClass="exit" presetSubtype="32" fill="hold" nodeType="clickEffect">
                                  <p:stCondLst>
                                    <p:cond delay="0"/>
                                  </p:stCondLst>
                                  <p:childTnLst>
                                    <p:anim calcmode="lin" valueType="num">
                                      <p:cBhvr>
                                        <p:cTn id="45" dur="500"/>
                                        <p:tgtEl>
                                          <p:spTgt spid="132"/>
                                        </p:tgtEl>
                                        <p:attrNameLst>
                                          <p:attrName>ppt_w</p:attrName>
                                        </p:attrNameLst>
                                      </p:cBhvr>
                                      <p:tavLst>
                                        <p:tav tm="0">
                                          <p:val>
                                            <p:strVal val="ppt_w"/>
                                          </p:val>
                                        </p:tav>
                                        <p:tav tm="100000">
                                          <p:val>
                                            <p:fltVal val="0"/>
                                          </p:val>
                                        </p:tav>
                                      </p:tavLst>
                                    </p:anim>
                                    <p:anim calcmode="lin" valueType="num">
                                      <p:cBhvr>
                                        <p:cTn id="46" dur="500"/>
                                        <p:tgtEl>
                                          <p:spTgt spid="132"/>
                                        </p:tgtEl>
                                        <p:attrNameLst>
                                          <p:attrName>ppt_h</p:attrName>
                                        </p:attrNameLst>
                                      </p:cBhvr>
                                      <p:tavLst>
                                        <p:tav tm="0">
                                          <p:val>
                                            <p:strVal val="ppt_h"/>
                                          </p:val>
                                        </p:tav>
                                        <p:tav tm="100000">
                                          <p:val>
                                            <p:fltVal val="0"/>
                                          </p:val>
                                        </p:tav>
                                      </p:tavLst>
                                    </p:anim>
                                    <p:animEffect transition="out" filter="fade">
                                      <p:cBhvr>
                                        <p:cTn id="47" dur="500"/>
                                        <p:tgtEl>
                                          <p:spTgt spid="132"/>
                                        </p:tgtEl>
                                      </p:cBhvr>
                                    </p:animEffect>
                                    <p:set>
                                      <p:cBhvr>
                                        <p:cTn id="48" dur="1" fill="hold">
                                          <p:stCondLst>
                                            <p:cond delay="499"/>
                                          </p:stCondLst>
                                        </p:cTn>
                                        <p:tgtEl>
                                          <p:spTgt spid="132"/>
                                        </p:tgtEl>
                                        <p:attrNameLst>
                                          <p:attrName>style.visibility</p:attrName>
                                        </p:attrNameLst>
                                      </p:cBhvr>
                                      <p:to>
                                        <p:strVal val="hidden"/>
                                      </p:to>
                                    </p:set>
                                  </p:childTnLst>
                                </p:cTn>
                              </p:par>
                              <p:par>
                                <p:cTn id="49" presetID="53" presetClass="entr" presetSubtype="16" fill="hold" nodeType="withEffect">
                                  <p:stCondLst>
                                    <p:cond delay="0"/>
                                  </p:stCondLst>
                                  <p:childTnLst>
                                    <p:set>
                                      <p:cBhvr>
                                        <p:cTn id="50" dur="1" fill="hold">
                                          <p:stCondLst>
                                            <p:cond delay="0"/>
                                          </p:stCondLst>
                                        </p:cTn>
                                        <p:tgtEl>
                                          <p:spTgt spid="133"/>
                                        </p:tgtEl>
                                        <p:attrNameLst>
                                          <p:attrName>style.visibility</p:attrName>
                                        </p:attrNameLst>
                                      </p:cBhvr>
                                      <p:to>
                                        <p:strVal val="visible"/>
                                      </p:to>
                                    </p:set>
                                    <p:anim calcmode="lin" valueType="num">
                                      <p:cBhvr>
                                        <p:cTn id="51" dur="500" fill="hold"/>
                                        <p:tgtEl>
                                          <p:spTgt spid="133"/>
                                        </p:tgtEl>
                                        <p:attrNameLst>
                                          <p:attrName>ppt_w</p:attrName>
                                        </p:attrNameLst>
                                      </p:cBhvr>
                                      <p:tavLst>
                                        <p:tav tm="0">
                                          <p:val>
                                            <p:fltVal val="0"/>
                                          </p:val>
                                        </p:tav>
                                        <p:tav tm="100000">
                                          <p:val>
                                            <p:strVal val="#ppt_w"/>
                                          </p:val>
                                        </p:tav>
                                      </p:tavLst>
                                    </p:anim>
                                    <p:anim calcmode="lin" valueType="num">
                                      <p:cBhvr>
                                        <p:cTn id="52" dur="500" fill="hold"/>
                                        <p:tgtEl>
                                          <p:spTgt spid="133"/>
                                        </p:tgtEl>
                                        <p:attrNameLst>
                                          <p:attrName>ppt_h</p:attrName>
                                        </p:attrNameLst>
                                      </p:cBhvr>
                                      <p:tavLst>
                                        <p:tav tm="0">
                                          <p:val>
                                            <p:fltVal val="0"/>
                                          </p:val>
                                        </p:tav>
                                        <p:tav tm="100000">
                                          <p:val>
                                            <p:strVal val="#ppt_h"/>
                                          </p:val>
                                        </p:tav>
                                      </p:tavLst>
                                    </p:anim>
                                    <p:animEffect transition="in" filter="fade">
                                      <p:cBhvr>
                                        <p:cTn id="53" dur="500"/>
                                        <p:tgtEl>
                                          <p:spTgt spid="1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2" grpId="0"/>
      <p:bldP spid="42" grpId="1"/>
      <p:bldP spid="129"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Query"/>
          <p:cNvSpPr txBox="1"/>
          <p:nvPr/>
        </p:nvSpPr>
        <p:spPr>
          <a:xfrm>
            <a:off x="2814211" y="4744085"/>
            <a:ext cx="5818901" cy="1772793"/>
          </a:xfrm>
          <a:prstGeom prst="rect">
            <a:avLst/>
          </a:prstGeom>
          <a:noFill/>
        </p:spPr>
        <p:txBody>
          <a:bodyPr wrap="none" lIns="0" tIns="0" rIns="0" bIns="0" rtlCol="0" anchor="t" anchorCtr="0">
            <a:spAutoFit/>
          </a:bodyPr>
          <a:lstStyle/>
          <a:p>
            <a:pPr>
              <a:lnSpc>
                <a:spcPct val="90000"/>
              </a:lnSpc>
            </a:pPr>
            <a:r>
              <a:rPr lang="en-US" sz="1600" b="1" spc="-50" dirty="0" smtClean="0">
                <a:latin typeface="Consolas" panose="020B0609020204030204" pitchFamily="49" charset="0"/>
                <a:cs typeface="Consolas" panose="020B0609020204030204" pitchFamily="49" charset="0"/>
              </a:rPr>
              <a:t>From</a:t>
            </a:r>
            <a:r>
              <a:rPr lang="en-US" sz="1600" spc="-50" dirty="0" smtClean="0">
                <a:latin typeface="Consolas" panose="020B0609020204030204" pitchFamily="49" charset="0"/>
                <a:cs typeface="Consolas" panose="020B0609020204030204" pitchFamily="49" charset="0"/>
              </a:rPr>
              <a:t> </a:t>
            </a:r>
            <a:r>
              <a:rPr lang="en-US" sz="1600" spc="-50" dirty="0" err="1" smtClean="0">
                <a:solidFill>
                  <a:srgbClr val="4472C4"/>
                </a:solidFill>
                <a:latin typeface="Consolas" panose="020B0609020204030204" pitchFamily="49" charset="0"/>
                <a:cs typeface="Consolas" panose="020B0609020204030204" pitchFamily="49" charset="0"/>
              </a:rPr>
              <a:t>readBlock</a:t>
            </a:r>
            <a:r>
              <a:rPr lang="en-US" sz="1600" spc="-50" dirty="0" smtClean="0">
                <a:solidFill>
                  <a:srgbClr val="4472C4"/>
                </a:solidFill>
                <a:latin typeface="Consolas" panose="020B0609020204030204" pitchFamily="49" charset="0"/>
                <a:cs typeface="Consolas" panose="020B0609020204030204" pitchFamily="49" charset="0"/>
              </a:rPr>
              <a:t> </a:t>
            </a:r>
            <a:r>
              <a:rPr lang="en-US" sz="1600" b="1" spc="-50" dirty="0" smtClean="0">
                <a:latin typeface="Consolas" panose="020B0609020204030204" pitchFamily="49" charset="0"/>
                <a:cs typeface="Consolas" panose="020B0609020204030204" pitchFamily="49" charset="0"/>
              </a:rPr>
              <a:t>In</a:t>
            </a:r>
            <a:r>
              <a:rPr lang="en-US" sz="1600" spc="-50" dirty="0" smtClean="0">
                <a:latin typeface="Consolas" panose="020B0609020204030204" pitchFamily="49" charset="0"/>
                <a:cs typeface="Consolas" panose="020B0609020204030204" pitchFamily="49" charset="0"/>
              </a:rPr>
              <a:t> </a:t>
            </a:r>
            <a:r>
              <a:rPr lang="en-US" sz="1600" spc="-50" dirty="0" err="1" smtClean="0">
                <a:solidFill>
                  <a:schemeClr val="accent5"/>
                </a:solidFill>
                <a:latin typeface="Consolas" panose="020B0609020204030204" pitchFamily="49" charset="0"/>
                <a:cs typeface="Consolas" panose="020B0609020204030204" pitchFamily="49" charset="0"/>
              </a:rPr>
              <a:t>DataNode.DataTransferProtocol</a:t>
            </a:r>
            <a:endParaRPr lang="en-US" sz="1600" spc="-50" dirty="0" smtClean="0">
              <a:solidFill>
                <a:schemeClr val="accent5"/>
              </a:solidFill>
              <a:latin typeface="Consolas" panose="020B0609020204030204" pitchFamily="49" charset="0"/>
              <a:cs typeface="Consolas" panose="020B0609020204030204" pitchFamily="49" charset="0"/>
            </a:endParaRPr>
          </a:p>
          <a:p>
            <a:pPr>
              <a:lnSpc>
                <a:spcPct val="90000"/>
              </a:lnSpc>
            </a:pPr>
            <a:r>
              <a:rPr lang="en-US" sz="1600" spc="-50" dirty="0">
                <a:solidFill>
                  <a:schemeClr val="accent5"/>
                </a:solidFill>
                <a:latin typeface="Consolas" panose="020B0609020204030204" pitchFamily="49" charset="0"/>
                <a:cs typeface="Consolas" panose="020B0609020204030204" pitchFamily="49" charset="0"/>
              </a:rPr>
              <a:t> </a:t>
            </a:r>
            <a:r>
              <a:rPr lang="en-US" sz="1600" spc="-50" dirty="0" smtClean="0">
                <a:solidFill>
                  <a:schemeClr val="accent5"/>
                </a:solidFill>
                <a:latin typeface="Consolas" panose="020B0609020204030204" pitchFamily="49" charset="0"/>
                <a:cs typeface="Consolas" panose="020B0609020204030204" pitchFamily="49" charset="0"/>
              </a:rPr>
              <a:t> </a:t>
            </a:r>
            <a:r>
              <a:rPr lang="en-US" sz="1600" b="1" spc="-50" dirty="0" smtClean="0">
                <a:latin typeface="Consolas" panose="020B0609020204030204" pitchFamily="49" charset="0"/>
                <a:cs typeface="Consolas" panose="020B0609020204030204" pitchFamily="49" charset="0"/>
              </a:rPr>
              <a:t>Join</a:t>
            </a:r>
            <a:r>
              <a:rPr lang="en-US" sz="1600" spc="-50" dirty="0" smtClean="0">
                <a:solidFill>
                  <a:schemeClr val="accent5"/>
                </a:solidFill>
                <a:latin typeface="Consolas" panose="020B0609020204030204" pitchFamily="49" charset="0"/>
                <a:cs typeface="Consolas" panose="020B0609020204030204" pitchFamily="49" charset="0"/>
              </a:rPr>
              <a:t> </a:t>
            </a:r>
            <a:r>
              <a:rPr lang="en-US" sz="1600" spc="-50" dirty="0" err="1">
                <a:solidFill>
                  <a:srgbClr val="23642F"/>
                </a:solidFill>
                <a:latin typeface="Consolas" panose="020B0609020204030204" pitchFamily="49" charset="0"/>
                <a:cs typeface="Consolas" panose="020B0609020204030204" pitchFamily="49" charset="0"/>
              </a:rPr>
              <a:t>blockLocations</a:t>
            </a:r>
            <a:r>
              <a:rPr lang="en-US" sz="1600" spc="-50" dirty="0">
                <a:solidFill>
                  <a:srgbClr val="23642F"/>
                </a:solidFill>
                <a:latin typeface="Consolas" panose="020B0609020204030204" pitchFamily="49" charset="0"/>
                <a:cs typeface="Consolas" panose="020B0609020204030204" pitchFamily="49" charset="0"/>
              </a:rPr>
              <a:t> </a:t>
            </a:r>
            <a:r>
              <a:rPr lang="en-US" sz="1600" b="1" spc="-50" dirty="0" smtClean="0">
                <a:latin typeface="Consolas" panose="020B0609020204030204" pitchFamily="49" charset="0"/>
                <a:cs typeface="Consolas" panose="020B0609020204030204" pitchFamily="49" charset="0"/>
              </a:rPr>
              <a:t>In</a:t>
            </a:r>
            <a:r>
              <a:rPr lang="en-US" sz="1600" spc="-50" dirty="0" smtClean="0">
                <a:solidFill>
                  <a:schemeClr val="accent5"/>
                </a:solidFill>
                <a:latin typeface="Consolas" panose="020B0609020204030204" pitchFamily="49" charset="0"/>
                <a:cs typeface="Consolas" panose="020B0609020204030204" pitchFamily="49" charset="0"/>
              </a:rPr>
              <a:t> </a:t>
            </a:r>
            <a:r>
              <a:rPr lang="en-US" sz="1600" spc="-50" dirty="0" err="1" smtClean="0">
                <a:solidFill>
                  <a:srgbClr val="23642F"/>
                </a:solidFill>
                <a:latin typeface="Consolas" panose="020B0609020204030204" pitchFamily="49" charset="0"/>
                <a:cs typeface="Consolas" panose="020B0609020204030204" pitchFamily="49" charset="0"/>
              </a:rPr>
              <a:t>NameNode.GetBlockLocations</a:t>
            </a:r>
            <a:r>
              <a:rPr lang="en-US" sz="1600" spc="-50" dirty="0" smtClean="0">
                <a:solidFill>
                  <a:srgbClr val="23642F"/>
                </a:solidFill>
                <a:latin typeface="Consolas" panose="020B0609020204030204" pitchFamily="49" charset="0"/>
                <a:cs typeface="Consolas" panose="020B0609020204030204" pitchFamily="49" charset="0"/>
              </a:rPr>
              <a:t> </a:t>
            </a:r>
          </a:p>
          <a:p>
            <a:pPr>
              <a:lnSpc>
                <a:spcPct val="90000"/>
              </a:lnSpc>
            </a:pPr>
            <a:r>
              <a:rPr lang="en-US" sz="1600" b="1" spc="-50" dirty="0">
                <a:solidFill>
                  <a:schemeClr val="accent6"/>
                </a:solidFill>
                <a:latin typeface="Consolas" panose="020B0609020204030204" pitchFamily="49" charset="0"/>
                <a:cs typeface="Consolas" panose="020B0609020204030204" pitchFamily="49" charset="0"/>
              </a:rPr>
              <a:t>	</a:t>
            </a:r>
            <a:r>
              <a:rPr lang="en-US" sz="1600" b="1" spc="-50" dirty="0" smtClean="0">
                <a:solidFill>
                  <a:schemeClr val="accent6"/>
                </a:solidFill>
                <a:latin typeface="Consolas" panose="020B0609020204030204" pitchFamily="49" charset="0"/>
                <a:cs typeface="Consolas" panose="020B0609020204030204" pitchFamily="49" charset="0"/>
              </a:rPr>
              <a:t>	</a:t>
            </a:r>
            <a:r>
              <a:rPr lang="en-US" sz="1600" b="1" spc="-50" dirty="0" smtClean="0">
                <a:latin typeface="Consolas" panose="020B0609020204030204" pitchFamily="49" charset="0"/>
                <a:cs typeface="Consolas" panose="020B0609020204030204" pitchFamily="49" charset="0"/>
              </a:rPr>
              <a:t>On</a:t>
            </a:r>
            <a:r>
              <a:rPr lang="en-US" sz="1600" spc="-50" dirty="0" smtClean="0">
                <a:latin typeface="Consolas" panose="020B0609020204030204" pitchFamily="49" charset="0"/>
                <a:cs typeface="Consolas" panose="020B0609020204030204" pitchFamily="49" charset="0"/>
              </a:rPr>
              <a:t> </a:t>
            </a:r>
            <a:r>
              <a:rPr lang="en-US" sz="1600" spc="-50" dirty="0" err="1" smtClean="0">
                <a:solidFill>
                  <a:srgbClr val="23642F"/>
                </a:solidFill>
                <a:latin typeface="Consolas" panose="020B0609020204030204" pitchFamily="49" charset="0"/>
                <a:cs typeface="Consolas" panose="020B0609020204030204" pitchFamily="49" charset="0"/>
              </a:rPr>
              <a:t>blockLocations</a:t>
            </a:r>
            <a:r>
              <a:rPr lang="en-US" sz="1600" spc="-50" dirty="0" smtClean="0">
                <a:solidFill>
                  <a:srgbClr val="23642F"/>
                </a:solidFill>
                <a:latin typeface="Consolas" panose="020B0609020204030204" pitchFamily="49" charset="0"/>
                <a:cs typeface="Consolas" panose="020B0609020204030204" pitchFamily="49" charset="0"/>
              </a:rPr>
              <a:t> </a:t>
            </a:r>
            <a:r>
              <a:rPr lang="en-US" sz="1600" b="1" spc="-50" dirty="0" smtClean="0">
                <a:latin typeface="Consolas" panose="020B0609020204030204" pitchFamily="49" charset="0"/>
                <a:cs typeface="Consolas" panose="020B0609020204030204" pitchFamily="49" charset="0"/>
              </a:rPr>
              <a:t>-&gt;</a:t>
            </a:r>
            <a:r>
              <a:rPr lang="en-US" sz="1600" spc="-50" dirty="0" smtClean="0">
                <a:solidFill>
                  <a:schemeClr val="accent5"/>
                </a:solidFill>
                <a:latin typeface="Consolas" panose="020B0609020204030204" pitchFamily="49" charset="0"/>
                <a:cs typeface="Consolas" panose="020B0609020204030204" pitchFamily="49" charset="0"/>
              </a:rPr>
              <a:t> </a:t>
            </a:r>
            <a:r>
              <a:rPr lang="en-US" sz="1600" spc="-50" dirty="0" err="1" smtClean="0">
                <a:solidFill>
                  <a:schemeClr val="accent5"/>
                </a:solidFill>
                <a:latin typeface="Consolas" panose="020B0609020204030204" pitchFamily="49" charset="0"/>
                <a:cs typeface="Consolas" panose="020B0609020204030204" pitchFamily="49" charset="0"/>
              </a:rPr>
              <a:t>readBlock</a:t>
            </a:r>
            <a:endParaRPr lang="en-US" sz="1600" spc="-50" dirty="0" smtClean="0">
              <a:solidFill>
                <a:schemeClr val="accent5"/>
              </a:solidFill>
              <a:latin typeface="Consolas" panose="020B0609020204030204" pitchFamily="49" charset="0"/>
              <a:cs typeface="Consolas" panose="020B0609020204030204" pitchFamily="49" charset="0"/>
            </a:endParaRPr>
          </a:p>
          <a:p>
            <a:pPr>
              <a:lnSpc>
                <a:spcPct val="90000"/>
              </a:lnSpc>
            </a:pPr>
            <a:r>
              <a:rPr lang="en-US" sz="1600" spc="-50" dirty="0" smtClean="0">
                <a:solidFill>
                  <a:srgbClr val="23642F"/>
                </a:solidFill>
                <a:latin typeface="Consolas" panose="020B0609020204030204" pitchFamily="49" charset="0"/>
                <a:cs typeface="Consolas" panose="020B0609020204030204" pitchFamily="49" charset="0"/>
              </a:rPr>
              <a:t>  </a:t>
            </a:r>
            <a:r>
              <a:rPr lang="en-US" sz="1600" b="1" spc="-50" dirty="0" smtClean="0">
                <a:latin typeface="Consolas" panose="020B0609020204030204" pitchFamily="49" charset="0"/>
                <a:cs typeface="Consolas" panose="020B0609020204030204" pitchFamily="49" charset="0"/>
              </a:rPr>
              <a:t>Join</a:t>
            </a:r>
            <a:r>
              <a:rPr lang="en-US" sz="1600" spc="-50" dirty="0" smtClean="0">
                <a:solidFill>
                  <a:srgbClr val="23642F"/>
                </a:solidFill>
                <a:latin typeface="Consolas" panose="020B0609020204030204" pitchFamily="49" charset="0"/>
                <a:cs typeface="Consolas" panose="020B0609020204030204" pitchFamily="49" charset="0"/>
              </a:rPr>
              <a:t> </a:t>
            </a:r>
            <a:r>
              <a:rPr lang="en-US" sz="1600" spc="-50" dirty="0" smtClean="0">
                <a:solidFill>
                  <a:srgbClr val="C00000"/>
                </a:solidFill>
                <a:latin typeface="Consolas" panose="020B0609020204030204" pitchFamily="49" charset="0"/>
                <a:cs typeface="Consolas" panose="020B0609020204030204" pitchFamily="49" charset="0"/>
              </a:rPr>
              <a:t>cl </a:t>
            </a:r>
            <a:r>
              <a:rPr lang="en-US" sz="1600" b="1" spc="-50" dirty="0" smtClean="0">
                <a:latin typeface="Consolas" panose="020B0609020204030204" pitchFamily="49" charset="0"/>
                <a:cs typeface="Consolas" panose="020B0609020204030204" pitchFamily="49" charset="0"/>
              </a:rPr>
              <a:t>In</a:t>
            </a:r>
            <a:r>
              <a:rPr lang="en-US" sz="1600" spc="-50" dirty="0" smtClean="0">
                <a:solidFill>
                  <a:srgbClr val="23642F"/>
                </a:solidFill>
                <a:latin typeface="Consolas" panose="020B0609020204030204" pitchFamily="49" charset="0"/>
                <a:cs typeface="Consolas" panose="020B0609020204030204" pitchFamily="49" charset="0"/>
              </a:rPr>
              <a:t> </a:t>
            </a:r>
            <a:r>
              <a:rPr lang="en-US" sz="1600" spc="-50" dirty="0" err="1" smtClean="0">
                <a:solidFill>
                  <a:srgbClr val="C00000"/>
                </a:solidFill>
                <a:latin typeface="Consolas" panose="020B0609020204030204" pitchFamily="49" charset="0"/>
                <a:cs typeface="Consolas" panose="020B0609020204030204" pitchFamily="49" charset="0"/>
              </a:rPr>
              <a:t>Client.DoRandomRead</a:t>
            </a:r>
            <a:r>
              <a:rPr lang="en-US" sz="1600" spc="-50" dirty="0" smtClean="0">
                <a:solidFill>
                  <a:srgbClr val="1F3763"/>
                </a:solidFill>
                <a:latin typeface="Consolas" panose="020B0609020204030204" pitchFamily="49" charset="0"/>
                <a:cs typeface="Consolas" panose="020B0609020204030204" pitchFamily="49" charset="0"/>
              </a:rPr>
              <a:t> </a:t>
            </a:r>
          </a:p>
          <a:p>
            <a:pPr>
              <a:lnSpc>
                <a:spcPct val="90000"/>
              </a:lnSpc>
            </a:pPr>
            <a:r>
              <a:rPr lang="en-US" sz="1600" b="1" spc="-50" dirty="0">
                <a:solidFill>
                  <a:srgbClr val="1F3763"/>
                </a:solidFill>
                <a:latin typeface="Consolas" panose="020B0609020204030204" pitchFamily="49" charset="0"/>
                <a:cs typeface="Consolas" panose="020B0609020204030204" pitchFamily="49" charset="0"/>
              </a:rPr>
              <a:t>	</a:t>
            </a:r>
            <a:r>
              <a:rPr lang="en-US" sz="1600" b="1" spc="-50" dirty="0" smtClean="0">
                <a:solidFill>
                  <a:srgbClr val="1F3763"/>
                </a:solidFill>
                <a:latin typeface="Consolas" panose="020B0609020204030204" pitchFamily="49" charset="0"/>
                <a:cs typeface="Consolas" panose="020B0609020204030204" pitchFamily="49" charset="0"/>
              </a:rPr>
              <a:t>	</a:t>
            </a:r>
            <a:r>
              <a:rPr lang="en-US" sz="1600" b="1" spc="-50" dirty="0" smtClean="0">
                <a:latin typeface="Consolas" panose="020B0609020204030204" pitchFamily="49" charset="0"/>
                <a:cs typeface="Consolas" panose="020B0609020204030204" pitchFamily="49" charset="0"/>
              </a:rPr>
              <a:t>On</a:t>
            </a:r>
            <a:r>
              <a:rPr lang="en-US" sz="1600" spc="-50" dirty="0" smtClean="0">
                <a:solidFill>
                  <a:srgbClr val="23642F"/>
                </a:solidFill>
                <a:latin typeface="Consolas" panose="020B0609020204030204" pitchFamily="49" charset="0"/>
                <a:cs typeface="Consolas" panose="020B0609020204030204" pitchFamily="49" charset="0"/>
              </a:rPr>
              <a:t> </a:t>
            </a:r>
            <a:r>
              <a:rPr lang="en-US" sz="1600" spc="-50" dirty="0" smtClean="0">
                <a:solidFill>
                  <a:srgbClr val="C00000"/>
                </a:solidFill>
                <a:latin typeface="Consolas" panose="020B0609020204030204" pitchFamily="49" charset="0"/>
                <a:cs typeface="Consolas" panose="020B0609020204030204" pitchFamily="49" charset="0"/>
              </a:rPr>
              <a:t>cl </a:t>
            </a:r>
            <a:r>
              <a:rPr lang="en-US" sz="1600" b="1" spc="-50" dirty="0" smtClean="0">
                <a:latin typeface="Consolas" panose="020B0609020204030204" pitchFamily="49" charset="0"/>
                <a:cs typeface="Consolas" panose="020B0609020204030204" pitchFamily="49" charset="0"/>
              </a:rPr>
              <a:t>-&gt;</a:t>
            </a:r>
            <a:r>
              <a:rPr lang="en-US" sz="1600" spc="-50" dirty="0" smtClean="0">
                <a:solidFill>
                  <a:srgbClr val="23642F"/>
                </a:solidFill>
                <a:latin typeface="Consolas" panose="020B0609020204030204" pitchFamily="49" charset="0"/>
                <a:cs typeface="Consolas" panose="020B0609020204030204" pitchFamily="49" charset="0"/>
              </a:rPr>
              <a:t> </a:t>
            </a:r>
            <a:r>
              <a:rPr lang="en-US" sz="1600" spc="-50" dirty="0" err="1" smtClean="0">
                <a:solidFill>
                  <a:srgbClr val="23642F"/>
                </a:solidFill>
                <a:latin typeface="Consolas" panose="020B0609020204030204" pitchFamily="49" charset="0"/>
                <a:cs typeface="Consolas" panose="020B0609020204030204" pitchFamily="49" charset="0"/>
              </a:rPr>
              <a:t>blockLocations</a:t>
            </a:r>
            <a:endParaRPr lang="en-US" sz="1600" spc="-50" dirty="0" smtClean="0">
              <a:solidFill>
                <a:srgbClr val="23642F"/>
              </a:solidFill>
              <a:latin typeface="Consolas" panose="020B0609020204030204" pitchFamily="49" charset="0"/>
              <a:cs typeface="Consolas" panose="020B0609020204030204" pitchFamily="49" charset="0"/>
            </a:endParaRPr>
          </a:p>
          <a:p>
            <a:pPr>
              <a:lnSpc>
                <a:spcPct val="90000"/>
              </a:lnSpc>
            </a:pPr>
            <a:r>
              <a:rPr lang="en-US" sz="1600" spc="-50" dirty="0">
                <a:solidFill>
                  <a:schemeClr val="accent5"/>
                </a:solidFill>
                <a:latin typeface="Consolas" panose="020B0609020204030204" pitchFamily="49" charset="0"/>
                <a:cs typeface="Consolas" panose="020B0609020204030204" pitchFamily="49" charset="0"/>
              </a:rPr>
              <a:t> </a:t>
            </a:r>
            <a:r>
              <a:rPr lang="en-US" sz="1600" spc="-50" dirty="0" smtClean="0">
                <a:solidFill>
                  <a:schemeClr val="accent5"/>
                </a:solidFill>
                <a:latin typeface="Consolas" panose="020B0609020204030204" pitchFamily="49" charset="0"/>
                <a:cs typeface="Consolas" panose="020B0609020204030204" pitchFamily="49" charset="0"/>
              </a:rPr>
              <a:t> </a:t>
            </a:r>
            <a:r>
              <a:rPr lang="en-US" sz="1600" b="1" spc="-50" dirty="0" smtClean="0">
                <a:latin typeface="Consolas" panose="020B0609020204030204" pitchFamily="49" charset="0"/>
                <a:cs typeface="Consolas" panose="020B0609020204030204" pitchFamily="49" charset="0"/>
              </a:rPr>
              <a:t>Where</a:t>
            </a:r>
            <a:r>
              <a:rPr lang="en-US" sz="1600" spc="-50" dirty="0" smtClean="0">
                <a:solidFill>
                  <a:schemeClr val="accent5"/>
                </a:solidFill>
                <a:latin typeface="Consolas" panose="020B0609020204030204" pitchFamily="49" charset="0"/>
                <a:cs typeface="Consolas" panose="020B0609020204030204" pitchFamily="49" charset="0"/>
              </a:rPr>
              <a:t> </a:t>
            </a:r>
            <a:r>
              <a:rPr lang="en-US" sz="1600" spc="-50" dirty="0" err="1" smtClean="0">
                <a:solidFill>
                  <a:srgbClr val="C00000"/>
                </a:solidFill>
                <a:latin typeface="Consolas" panose="020B0609020204030204" pitchFamily="49" charset="0"/>
                <a:cs typeface="Consolas" panose="020B0609020204030204" pitchFamily="49" charset="0"/>
              </a:rPr>
              <a:t>cl.host</a:t>
            </a:r>
            <a:r>
              <a:rPr lang="en-US" sz="1600" spc="-50" dirty="0" smtClean="0">
                <a:solidFill>
                  <a:srgbClr val="C00000"/>
                </a:solidFill>
                <a:latin typeface="Consolas" panose="020B0609020204030204" pitchFamily="49" charset="0"/>
                <a:cs typeface="Consolas" panose="020B0609020204030204" pitchFamily="49" charset="0"/>
              </a:rPr>
              <a:t> </a:t>
            </a:r>
            <a:r>
              <a:rPr lang="en-US" sz="1600" b="1" spc="-50" dirty="0" smtClean="0">
                <a:latin typeface="Consolas" panose="020B0609020204030204" pitchFamily="49" charset="0"/>
                <a:cs typeface="Consolas" panose="020B0609020204030204" pitchFamily="49" charset="0"/>
              </a:rPr>
              <a:t>!=</a:t>
            </a:r>
            <a:r>
              <a:rPr lang="en-US" sz="1600" spc="-50" dirty="0" smtClean="0">
                <a:solidFill>
                  <a:schemeClr val="accent5"/>
                </a:solidFill>
                <a:latin typeface="Consolas" panose="020B0609020204030204" pitchFamily="49" charset="0"/>
                <a:cs typeface="Consolas" panose="020B0609020204030204" pitchFamily="49" charset="0"/>
              </a:rPr>
              <a:t> </a:t>
            </a:r>
            <a:r>
              <a:rPr lang="en-US" sz="1600" spc="-50" dirty="0" err="1" smtClean="0">
                <a:solidFill>
                  <a:schemeClr val="accent5"/>
                </a:solidFill>
                <a:latin typeface="Consolas" panose="020B0609020204030204" pitchFamily="49" charset="0"/>
                <a:cs typeface="Consolas" panose="020B0609020204030204" pitchFamily="49" charset="0"/>
              </a:rPr>
              <a:t>readBlock.host</a:t>
            </a:r>
            <a:endParaRPr lang="en-US" sz="1600" spc="-50" dirty="0" smtClean="0">
              <a:solidFill>
                <a:schemeClr val="accent5"/>
              </a:solidFill>
              <a:latin typeface="Consolas" panose="020B0609020204030204" pitchFamily="49" charset="0"/>
              <a:cs typeface="Consolas" panose="020B0609020204030204" pitchFamily="49" charset="0"/>
            </a:endParaRPr>
          </a:p>
          <a:p>
            <a:pPr>
              <a:lnSpc>
                <a:spcPct val="90000"/>
              </a:lnSpc>
            </a:pPr>
            <a:r>
              <a:rPr lang="en-US" sz="1600" b="1" spc="-50" dirty="0" smtClean="0">
                <a:latin typeface="Consolas" panose="020B0609020204030204" pitchFamily="49" charset="0"/>
                <a:cs typeface="Consolas" panose="020B0609020204030204" pitchFamily="49" charset="0"/>
              </a:rPr>
              <a:t>  </a:t>
            </a:r>
            <a:r>
              <a:rPr lang="en-US" sz="1600" b="1" spc="-50" dirty="0" err="1">
                <a:latin typeface="Consolas" panose="020B0609020204030204" pitchFamily="49" charset="0"/>
                <a:cs typeface="Consolas" panose="020B0609020204030204" pitchFamily="49" charset="0"/>
              </a:rPr>
              <a:t>GroupBy</a:t>
            </a:r>
            <a:r>
              <a:rPr lang="en-US" sz="1600" spc="-50" dirty="0">
                <a:solidFill>
                  <a:srgbClr val="C00000"/>
                </a:solidFill>
                <a:latin typeface="Consolas" panose="020B0609020204030204" pitchFamily="49" charset="0"/>
                <a:cs typeface="Consolas" panose="020B0609020204030204" pitchFamily="49" charset="0"/>
              </a:rPr>
              <a:t> </a:t>
            </a:r>
            <a:r>
              <a:rPr lang="en-US" sz="1600" spc="-50" dirty="0" err="1">
                <a:solidFill>
                  <a:srgbClr val="23642F"/>
                </a:solidFill>
                <a:latin typeface="Consolas" panose="020B0609020204030204" pitchFamily="49" charset="0"/>
                <a:cs typeface="Consolas" panose="020B0609020204030204" pitchFamily="49" charset="0"/>
              </a:rPr>
              <a:t>blockLocations.replicas</a:t>
            </a:r>
            <a:r>
              <a:rPr lang="en-US" sz="1600" b="1" spc="-50" dirty="0">
                <a:latin typeface="Consolas" panose="020B0609020204030204" pitchFamily="49" charset="0"/>
                <a:cs typeface="Consolas" panose="020B0609020204030204" pitchFamily="49" charset="0"/>
              </a:rPr>
              <a:t>, </a:t>
            </a:r>
            <a:r>
              <a:rPr lang="en-US" sz="1600" spc="-50" dirty="0" err="1">
                <a:solidFill>
                  <a:schemeClr val="accent5"/>
                </a:solidFill>
                <a:latin typeface="Consolas" panose="020B0609020204030204" pitchFamily="49" charset="0"/>
                <a:cs typeface="Consolas" panose="020B0609020204030204" pitchFamily="49" charset="0"/>
              </a:rPr>
              <a:t>readBlock.host</a:t>
            </a:r>
            <a:endParaRPr lang="en-US" sz="1600" b="1" spc="-50" dirty="0">
              <a:latin typeface="Consolas" panose="020B0609020204030204" pitchFamily="49" charset="0"/>
              <a:cs typeface="Consolas" panose="020B0609020204030204" pitchFamily="49" charset="0"/>
            </a:endParaRPr>
          </a:p>
          <a:p>
            <a:pPr>
              <a:lnSpc>
                <a:spcPct val="90000"/>
              </a:lnSpc>
            </a:pPr>
            <a:r>
              <a:rPr lang="en-US" sz="1600" spc="-50" dirty="0">
                <a:solidFill>
                  <a:srgbClr val="23642F"/>
                </a:solidFill>
                <a:latin typeface="Consolas" panose="020B0609020204030204" pitchFamily="49" charset="0"/>
                <a:cs typeface="Consolas" panose="020B0609020204030204" pitchFamily="49" charset="0"/>
              </a:rPr>
              <a:t>  </a:t>
            </a:r>
            <a:r>
              <a:rPr lang="en-US" sz="1600" b="1" spc="-50" dirty="0">
                <a:latin typeface="Consolas" panose="020B0609020204030204" pitchFamily="49" charset="0"/>
                <a:cs typeface="Consolas" panose="020B0609020204030204" pitchFamily="49" charset="0"/>
              </a:rPr>
              <a:t>Select</a:t>
            </a:r>
            <a:r>
              <a:rPr lang="en-US" sz="1600" spc="-50" dirty="0">
                <a:solidFill>
                  <a:srgbClr val="23642F"/>
                </a:solidFill>
                <a:latin typeface="Consolas" panose="020B0609020204030204" pitchFamily="49" charset="0"/>
                <a:cs typeface="Consolas" panose="020B0609020204030204" pitchFamily="49" charset="0"/>
              </a:rPr>
              <a:t> </a:t>
            </a:r>
            <a:r>
              <a:rPr lang="en-US" sz="1600" spc="-50" dirty="0" err="1">
                <a:solidFill>
                  <a:srgbClr val="23642F"/>
                </a:solidFill>
                <a:latin typeface="Consolas" panose="020B0609020204030204" pitchFamily="49" charset="0"/>
                <a:cs typeface="Consolas" panose="020B0609020204030204" pitchFamily="49" charset="0"/>
              </a:rPr>
              <a:t>blockLocations.replicas</a:t>
            </a:r>
            <a:r>
              <a:rPr lang="en-US" sz="1600" spc="-50" dirty="0">
                <a:latin typeface="Consolas" panose="020B0609020204030204" pitchFamily="49" charset="0"/>
                <a:cs typeface="Consolas" panose="020B0609020204030204" pitchFamily="49" charset="0"/>
              </a:rPr>
              <a:t>,</a:t>
            </a:r>
            <a:r>
              <a:rPr lang="en-US" sz="1600" spc="-50" dirty="0">
                <a:solidFill>
                  <a:srgbClr val="2F2364"/>
                </a:solidFill>
                <a:latin typeface="Consolas" panose="020B0609020204030204" pitchFamily="49" charset="0"/>
                <a:cs typeface="Consolas" panose="020B0609020204030204" pitchFamily="49" charset="0"/>
              </a:rPr>
              <a:t> </a:t>
            </a:r>
            <a:r>
              <a:rPr lang="en-US" sz="1600" spc="-50" dirty="0" err="1">
                <a:solidFill>
                  <a:schemeClr val="accent5"/>
                </a:solidFill>
                <a:latin typeface="Consolas" panose="020B0609020204030204" pitchFamily="49" charset="0"/>
                <a:cs typeface="Consolas" panose="020B0609020204030204" pitchFamily="49" charset="0"/>
              </a:rPr>
              <a:t>readBlock.host</a:t>
            </a:r>
            <a:r>
              <a:rPr lang="en-US" sz="1600" spc="-50" dirty="0">
                <a:latin typeface="Consolas" panose="020B0609020204030204" pitchFamily="49" charset="0"/>
                <a:cs typeface="Consolas" panose="020B0609020204030204" pitchFamily="49" charset="0"/>
              </a:rPr>
              <a:t>,</a:t>
            </a:r>
            <a:r>
              <a:rPr lang="en-US" sz="1600" spc="-50" dirty="0">
                <a:solidFill>
                  <a:srgbClr val="C00000"/>
                </a:solidFill>
                <a:latin typeface="Consolas" panose="020B0609020204030204" pitchFamily="49" charset="0"/>
                <a:cs typeface="Consolas" panose="020B0609020204030204" pitchFamily="49" charset="0"/>
              </a:rPr>
              <a:t> </a:t>
            </a:r>
            <a:r>
              <a:rPr lang="en-US" sz="1600" b="1" spc="-50" dirty="0">
                <a:latin typeface="Consolas" panose="020B0609020204030204" pitchFamily="49" charset="0"/>
                <a:cs typeface="Consolas" panose="020B0609020204030204" pitchFamily="49" charset="0"/>
              </a:rPr>
              <a:t>COUNT</a:t>
            </a:r>
            <a:endParaRPr lang="en-US" sz="1600" b="1" spc="-50" dirty="0" smtClean="0">
              <a:latin typeface="Consolas" panose="020B0609020204030204" pitchFamily="49" charset="0"/>
              <a:cs typeface="Consolas" panose="020B0609020204030204" pitchFamily="49" charset="0"/>
            </a:endParaRPr>
          </a:p>
        </p:txBody>
      </p:sp>
      <p:grpSp>
        <p:nvGrpSpPr>
          <p:cNvPr id="10" name="Group 9"/>
          <p:cNvGrpSpPr/>
          <p:nvPr/>
        </p:nvGrpSpPr>
        <p:grpSpPr>
          <a:xfrm rot="389786">
            <a:off x="6948385" y="2023517"/>
            <a:ext cx="1885950" cy="2352675"/>
            <a:chOff x="6962775" y="2352675"/>
            <a:chExt cx="2181225" cy="2352675"/>
          </a:xfrm>
        </p:grpSpPr>
        <p:sp>
          <p:nvSpPr>
            <p:cNvPr id="6" name="Rounded Rectangle 5"/>
            <p:cNvSpPr/>
            <p:nvPr/>
          </p:nvSpPr>
          <p:spPr>
            <a:xfrm>
              <a:off x="6962775" y="2352675"/>
              <a:ext cx="2181225" cy="2352675"/>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nSpc>
                  <a:spcPct val="75000"/>
                </a:lnSpc>
              </a:pPr>
              <a:endParaRPr lang="en-US" sz="1600" dirty="0" smtClean="0">
                <a:solidFill>
                  <a:schemeClr val="tx1"/>
                </a:solidFill>
                <a:latin typeface="+mj-lt"/>
              </a:endParaRPr>
            </a:p>
            <a:p>
              <a:pPr>
                <a:lnSpc>
                  <a:spcPct val="75000"/>
                </a:lnSpc>
              </a:pPr>
              <a:endParaRPr lang="en-US" sz="1600" dirty="0">
                <a:solidFill>
                  <a:schemeClr val="tx1"/>
                </a:solidFill>
                <a:latin typeface="+mj-lt"/>
              </a:endParaRPr>
            </a:p>
            <a:p>
              <a:pPr>
                <a:lnSpc>
                  <a:spcPct val="75000"/>
                </a:lnSpc>
              </a:pPr>
              <a:endParaRPr lang="en-US" sz="1600" dirty="0" smtClean="0">
                <a:solidFill>
                  <a:schemeClr val="tx1"/>
                </a:solidFill>
                <a:latin typeface="+mj-lt"/>
              </a:endParaRPr>
            </a:p>
            <a:p>
              <a:pPr>
                <a:lnSpc>
                  <a:spcPct val="75000"/>
                </a:lnSpc>
              </a:pPr>
              <a:r>
                <a:rPr lang="en-US" sz="1600" dirty="0" smtClean="0">
                  <a:solidFill>
                    <a:schemeClr val="tx1"/>
                  </a:solidFill>
                  <a:latin typeface="+mj-lt"/>
                </a:rPr>
                <a:t>Same machine?</a:t>
              </a:r>
            </a:p>
            <a:p>
              <a:pPr>
                <a:lnSpc>
                  <a:spcPct val="75000"/>
                </a:lnSpc>
              </a:pPr>
              <a:r>
                <a:rPr lang="en-US" sz="1600" dirty="0">
                  <a:solidFill>
                    <a:schemeClr val="tx1"/>
                  </a:solidFill>
                  <a:latin typeface="+mj-lt"/>
                </a:rPr>
                <a:t> </a:t>
              </a:r>
              <a:r>
                <a:rPr lang="en-US" sz="1600" dirty="0" smtClean="0">
                  <a:solidFill>
                    <a:schemeClr val="tx1"/>
                  </a:solidFill>
                  <a:latin typeface="+mj-lt"/>
                </a:rPr>
                <a:t> -&gt; read local</a:t>
              </a:r>
            </a:p>
            <a:p>
              <a:pPr>
                <a:lnSpc>
                  <a:spcPct val="75000"/>
                </a:lnSpc>
              </a:pPr>
              <a:endParaRPr lang="en-US" sz="1600" dirty="0" smtClean="0">
                <a:solidFill>
                  <a:schemeClr val="tx1"/>
                </a:solidFill>
                <a:latin typeface="+mj-lt"/>
              </a:endParaRPr>
            </a:p>
            <a:p>
              <a:pPr>
                <a:lnSpc>
                  <a:spcPct val="75000"/>
                </a:lnSpc>
              </a:pPr>
              <a:r>
                <a:rPr lang="en-US" sz="1600" dirty="0" smtClean="0">
                  <a:solidFill>
                    <a:schemeClr val="tx1"/>
                  </a:solidFill>
                  <a:latin typeface="+mj-lt"/>
                </a:rPr>
                <a:t>Same rack?</a:t>
              </a:r>
            </a:p>
            <a:p>
              <a:pPr>
                <a:lnSpc>
                  <a:spcPct val="75000"/>
                </a:lnSpc>
              </a:pPr>
              <a:r>
                <a:rPr lang="en-US" sz="1600" dirty="0">
                  <a:solidFill>
                    <a:schemeClr val="tx1"/>
                  </a:solidFill>
                  <a:latin typeface="+mj-lt"/>
                </a:rPr>
                <a:t> </a:t>
              </a:r>
              <a:r>
                <a:rPr lang="en-US" sz="1600" dirty="0" smtClean="0">
                  <a:solidFill>
                    <a:schemeClr val="tx1"/>
                  </a:solidFill>
                  <a:latin typeface="+mj-lt"/>
                </a:rPr>
                <a:t> -&gt; read rack-local</a:t>
              </a:r>
            </a:p>
            <a:p>
              <a:pPr>
                <a:lnSpc>
                  <a:spcPct val="75000"/>
                </a:lnSpc>
              </a:pPr>
              <a:endParaRPr lang="en-US" sz="1600" dirty="0" smtClean="0">
                <a:solidFill>
                  <a:schemeClr val="tx1"/>
                </a:solidFill>
                <a:latin typeface="+mj-lt"/>
              </a:endParaRPr>
            </a:p>
            <a:p>
              <a:pPr>
                <a:lnSpc>
                  <a:spcPct val="75000"/>
                </a:lnSpc>
              </a:pPr>
              <a:r>
                <a:rPr lang="en-US" sz="1600" dirty="0" smtClean="0">
                  <a:solidFill>
                    <a:schemeClr val="tx1"/>
                  </a:solidFill>
                  <a:latin typeface="+mj-lt"/>
                </a:rPr>
                <a:t>Otherwise</a:t>
              </a:r>
            </a:p>
            <a:p>
              <a:pPr>
                <a:lnSpc>
                  <a:spcPct val="75000"/>
                </a:lnSpc>
              </a:pPr>
              <a:r>
                <a:rPr lang="en-US" sz="1600" dirty="0">
                  <a:solidFill>
                    <a:schemeClr val="tx1"/>
                  </a:solidFill>
                  <a:latin typeface="+mj-lt"/>
                </a:rPr>
                <a:t> </a:t>
              </a:r>
              <a:r>
                <a:rPr lang="en-US" sz="1600" dirty="0" smtClean="0">
                  <a:solidFill>
                    <a:schemeClr val="tx1"/>
                  </a:solidFill>
                  <a:latin typeface="+mj-lt"/>
                </a:rPr>
                <a:t>-&gt; select randomly</a:t>
              </a:r>
              <a:endParaRPr lang="en-US" sz="1600" dirty="0">
                <a:solidFill>
                  <a:schemeClr val="tx1"/>
                </a:solidFill>
                <a:latin typeface="+mj-lt"/>
              </a:endParaRPr>
            </a:p>
          </p:txBody>
        </p:sp>
        <p:sp>
          <p:nvSpPr>
            <p:cNvPr id="7" name="TextBox 6"/>
            <p:cNvSpPr txBox="1"/>
            <p:nvPr/>
          </p:nvSpPr>
          <p:spPr>
            <a:xfrm>
              <a:off x="7232393" y="2352675"/>
              <a:ext cx="1641988" cy="541046"/>
            </a:xfrm>
            <a:prstGeom prst="rect">
              <a:avLst/>
            </a:prstGeom>
            <a:noFill/>
          </p:spPr>
          <p:txBody>
            <a:bodyPr wrap="none" rtlCol="0">
              <a:spAutoFit/>
            </a:bodyPr>
            <a:lstStyle/>
            <a:p>
              <a:pPr algn="ctr">
                <a:lnSpc>
                  <a:spcPct val="80000"/>
                </a:lnSpc>
              </a:pPr>
              <a:r>
                <a:rPr lang="en-US" dirty="0" smtClean="0"/>
                <a:t>HDFS Replica </a:t>
              </a:r>
            </a:p>
            <a:p>
              <a:pPr algn="ctr">
                <a:lnSpc>
                  <a:spcPct val="80000"/>
                </a:lnSpc>
              </a:pPr>
              <a:r>
                <a:rPr lang="en-US" dirty="0" smtClean="0"/>
                <a:t>Selection Policy</a:t>
              </a:r>
              <a:endParaRPr lang="en-US" dirty="0"/>
            </a:p>
          </p:txBody>
        </p:sp>
        <p:cxnSp>
          <p:nvCxnSpPr>
            <p:cNvPr id="9" name="Straight Connector 8"/>
            <p:cNvCxnSpPr/>
            <p:nvPr/>
          </p:nvCxnSpPr>
          <p:spPr>
            <a:xfrm>
              <a:off x="6962775" y="2894231"/>
              <a:ext cx="21812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Content Placeholder 2"/>
          <p:cNvSpPr txBox="1">
            <a:spLocks/>
          </p:cNvSpPr>
          <p:nvPr/>
        </p:nvSpPr>
        <p:spPr>
          <a:xfrm>
            <a:off x="631951" y="379420"/>
            <a:ext cx="7886700" cy="1921320"/>
          </a:xfrm>
          <a:prstGeom prst="rect">
            <a:avLst/>
          </a:prstGeom>
        </p:spPr>
        <p:txBody>
          <a:bodyPr vert="horz" lIns="91440" tIns="45720" rIns="91440" bIns="45720" rtlCol="0">
            <a:normAutofit lnSpcReduction="10000"/>
          </a:bodyPr>
          <a:lstStyle>
            <a:lvl1pPr marL="228591" indent="-228591" algn="l" defTabSz="91436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73" indent="-228591" algn="l" defTabSz="91436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54" indent="-228591" algn="l" defTabSz="91436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36"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18"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99"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81"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63"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45"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smtClean="0"/>
              <a:t>Conclusions so far:</a:t>
            </a:r>
          </a:p>
          <a:p>
            <a:pPr marL="457182" lvl="1" indent="0">
              <a:buFont typeface="Arial" panose="020B0604020202020204" pitchFamily="34" charset="0"/>
              <a:buNone/>
            </a:pPr>
            <a:r>
              <a:rPr lang="en-US" sz="2000" dirty="0" smtClean="0"/>
              <a:t>Clients are selecting files uniformly at random</a:t>
            </a:r>
          </a:p>
          <a:p>
            <a:pPr marL="457182" lvl="1" indent="0">
              <a:buFont typeface="Arial" panose="020B0604020202020204" pitchFamily="34" charset="0"/>
              <a:buNone/>
            </a:pPr>
            <a:r>
              <a:rPr lang="en-US" sz="2000" dirty="0" smtClean="0"/>
              <a:t>Files are distributed across DNs uniformly at random</a:t>
            </a:r>
          </a:p>
          <a:p>
            <a:pPr lvl="1"/>
            <a:endParaRPr lang="en-US" dirty="0" smtClean="0"/>
          </a:p>
          <a:p>
            <a:pPr marL="0" indent="0">
              <a:buFont typeface="Arial" panose="020B0604020202020204" pitchFamily="34" charset="0"/>
              <a:buNone/>
            </a:pPr>
            <a:r>
              <a:rPr lang="en-US" sz="2400" dirty="0" smtClean="0"/>
              <a:t>Hypothesis: choice of replica isn’t random?</a:t>
            </a:r>
            <a:endParaRPr lang="en-US" sz="2400" dirty="0"/>
          </a:p>
        </p:txBody>
      </p:sp>
      <p:sp>
        <p:nvSpPr>
          <p:cNvPr id="8" name="Rectangle 7"/>
          <p:cNvSpPr/>
          <p:nvPr/>
        </p:nvSpPr>
        <p:spPr>
          <a:xfrm>
            <a:off x="2289301" y="2770212"/>
            <a:ext cx="4572000" cy="707886"/>
          </a:xfrm>
          <a:prstGeom prst="rect">
            <a:avLst/>
          </a:prstGeom>
        </p:spPr>
        <p:txBody>
          <a:bodyPr>
            <a:spAutoFit/>
          </a:bodyPr>
          <a:lstStyle/>
          <a:p>
            <a:r>
              <a:rPr lang="en-US" sz="2000" dirty="0" smtClean="0"/>
              <a:t>When </a:t>
            </a:r>
            <a:r>
              <a:rPr lang="en-US" sz="2000" dirty="0"/>
              <a:t>a file is read from a </a:t>
            </a:r>
            <a:r>
              <a:rPr lang="en-US" sz="2000" dirty="0" err="1" smtClean="0"/>
              <a:t>DataNode</a:t>
            </a:r>
            <a:r>
              <a:rPr lang="en-US" sz="2000" dirty="0" smtClean="0"/>
              <a:t>, where </a:t>
            </a:r>
            <a:r>
              <a:rPr lang="en-US" sz="2000" dirty="0"/>
              <a:t>else </a:t>
            </a:r>
            <a:r>
              <a:rPr lang="en-US" sz="2000" i="1" dirty="0"/>
              <a:t>could</a:t>
            </a:r>
            <a:r>
              <a:rPr lang="en-US" sz="2000" dirty="0"/>
              <a:t> it have been read from?</a:t>
            </a:r>
          </a:p>
        </p:txBody>
      </p:sp>
      <p:sp>
        <p:nvSpPr>
          <p:cNvPr id="12" name="Query"/>
          <p:cNvSpPr txBox="1"/>
          <p:nvPr/>
        </p:nvSpPr>
        <p:spPr>
          <a:xfrm>
            <a:off x="2814211" y="4738026"/>
            <a:ext cx="5818901" cy="1107996"/>
          </a:xfrm>
          <a:prstGeom prst="rect">
            <a:avLst/>
          </a:prstGeom>
          <a:noFill/>
        </p:spPr>
        <p:txBody>
          <a:bodyPr wrap="none" lIns="0" tIns="0" rIns="0" bIns="0" rtlCol="0" anchor="t" anchorCtr="0">
            <a:spAutoFit/>
          </a:bodyPr>
          <a:lstStyle/>
          <a:p>
            <a:pPr>
              <a:lnSpc>
                <a:spcPct val="90000"/>
              </a:lnSpc>
            </a:pPr>
            <a:r>
              <a:rPr lang="en-US" sz="1600" b="1" spc="-50" dirty="0" smtClean="0">
                <a:latin typeface="Consolas" panose="020B0609020204030204" pitchFamily="49" charset="0"/>
                <a:cs typeface="Consolas" panose="020B0609020204030204" pitchFamily="49" charset="0"/>
              </a:rPr>
              <a:t>From</a:t>
            </a:r>
            <a:r>
              <a:rPr lang="en-US" sz="1600" spc="-50" dirty="0" smtClean="0">
                <a:latin typeface="Consolas" panose="020B0609020204030204" pitchFamily="49" charset="0"/>
                <a:cs typeface="Consolas" panose="020B0609020204030204" pitchFamily="49" charset="0"/>
              </a:rPr>
              <a:t> </a:t>
            </a:r>
            <a:r>
              <a:rPr lang="en-US" sz="1600" spc="-50" dirty="0" err="1" smtClean="0">
                <a:solidFill>
                  <a:schemeClr val="accent5"/>
                </a:solidFill>
                <a:latin typeface="Consolas" panose="020B0609020204030204" pitchFamily="49" charset="0"/>
                <a:cs typeface="Consolas" panose="020B0609020204030204" pitchFamily="49" charset="0"/>
              </a:rPr>
              <a:t>readBlock</a:t>
            </a:r>
            <a:r>
              <a:rPr lang="en-US" sz="1600" spc="-50" dirty="0" smtClean="0">
                <a:solidFill>
                  <a:schemeClr val="accent5"/>
                </a:solidFill>
                <a:latin typeface="Consolas" panose="020B0609020204030204" pitchFamily="49" charset="0"/>
                <a:cs typeface="Consolas" panose="020B0609020204030204" pitchFamily="49" charset="0"/>
              </a:rPr>
              <a:t> </a:t>
            </a:r>
            <a:r>
              <a:rPr lang="en-US" sz="1600" b="1" spc="-50" dirty="0" smtClean="0">
                <a:latin typeface="Consolas" panose="020B0609020204030204" pitchFamily="49" charset="0"/>
                <a:cs typeface="Consolas" panose="020B0609020204030204" pitchFamily="49" charset="0"/>
              </a:rPr>
              <a:t>In</a:t>
            </a:r>
            <a:r>
              <a:rPr lang="en-US" sz="1600" spc="-50" dirty="0" smtClean="0">
                <a:latin typeface="Consolas" panose="020B0609020204030204" pitchFamily="49" charset="0"/>
                <a:cs typeface="Consolas" panose="020B0609020204030204" pitchFamily="49" charset="0"/>
              </a:rPr>
              <a:t> </a:t>
            </a:r>
            <a:r>
              <a:rPr lang="en-US" sz="1600" spc="-50" dirty="0" err="1" smtClean="0">
                <a:solidFill>
                  <a:schemeClr val="accent5"/>
                </a:solidFill>
                <a:latin typeface="Consolas" panose="020B0609020204030204" pitchFamily="49" charset="0"/>
                <a:cs typeface="Consolas" panose="020B0609020204030204" pitchFamily="49" charset="0"/>
              </a:rPr>
              <a:t>DataNode.DataTransferProtocol</a:t>
            </a:r>
            <a:endParaRPr lang="en-US" sz="1600" spc="-50" dirty="0" smtClean="0">
              <a:solidFill>
                <a:schemeClr val="accent5"/>
              </a:solidFill>
              <a:latin typeface="Consolas" panose="020B0609020204030204" pitchFamily="49" charset="0"/>
              <a:cs typeface="Consolas" panose="020B0609020204030204" pitchFamily="49" charset="0"/>
            </a:endParaRPr>
          </a:p>
          <a:p>
            <a:pPr>
              <a:lnSpc>
                <a:spcPct val="90000"/>
              </a:lnSpc>
            </a:pPr>
            <a:r>
              <a:rPr lang="en-US" sz="1600" spc="-50" dirty="0">
                <a:solidFill>
                  <a:schemeClr val="accent5"/>
                </a:solidFill>
                <a:latin typeface="Consolas" panose="020B0609020204030204" pitchFamily="49" charset="0"/>
                <a:cs typeface="Consolas" panose="020B0609020204030204" pitchFamily="49" charset="0"/>
              </a:rPr>
              <a:t> </a:t>
            </a:r>
            <a:r>
              <a:rPr lang="en-US" sz="1600" spc="-50" dirty="0" smtClean="0">
                <a:solidFill>
                  <a:schemeClr val="accent5"/>
                </a:solidFill>
                <a:latin typeface="Consolas" panose="020B0609020204030204" pitchFamily="49" charset="0"/>
                <a:cs typeface="Consolas" panose="020B0609020204030204" pitchFamily="49" charset="0"/>
              </a:rPr>
              <a:t> </a:t>
            </a:r>
            <a:r>
              <a:rPr lang="en-US" sz="1600" b="1" spc="-50" dirty="0" smtClean="0">
                <a:latin typeface="Consolas" panose="020B0609020204030204" pitchFamily="49" charset="0"/>
                <a:cs typeface="Consolas" panose="020B0609020204030204" pitchFamily="49" charset="0"/>
              </a:rPr>
              <a:t>Join</a:t>
            </a:r>
            <a:r>
              <a:rPr lang="en-US" sz="1600" spc="-50" dirty="0" smtClean="0">
                <a:solidFill>
                  <a:schemeClr val="accent5"/>
                </a:solidFill>
                <a:latin typeface="Consolas" panose="020B0609020204030204" pitchFamily="49" charset="0"/>
                <a:cs typeface="Consolas" panose="020B0609020204030204" pitchFamily="49" charset="0"/>
              </a:rPr>
              <a:t> </a:t>
            </a:r>
            <a:r>
              <a:rPr lang="en-US" sz="1600" spc="-50" dirty="0" err="1" smtClean="0">
                <a:solidFill>
                  <a:srgbClr val="23642F"/>
                </a:solidFill>
                <a:latin typeface="Consolas" panose="020B0609020204030204" pitchFamily="49" charset="0"/>
                <a:cs typeface="Consolas" panose="020B0609020204030204" pitchFamily="49" charset="0"/>
              </a:rPr>
              <a:t>blockLocations</a:t>
            </a:r>
            <a:r>
              <a:rPr lang="en-US" sz="1600" spc="-50" dirty="0" smtClean="0">
                <a:solidFill>
                  <a:srgbClr val="23642F"/>
                </a:solidFill>
                <a:latin typeface="Consolas" panose="020B0609020204030204" pitchFamily="49" charset="0"/>
                <a:cs typeface="Consolas" panose="020B0609020204030204" pitchFamily="49" charset="0"/>
              </a:rPr>
              <a:t> </a:t>
            </a:r>
            <a:r>
              <a:rPr lang="en-US" sz="1600" b="1" spc="-50" dirty="0" smtClean="0">
                <a:latin typeface="Consolas" panose="020B0609020204030204" pitchFamily="49" charset="0"/>
                <a:cs typeface="Consolas" panose="020B0609020204030204" pitchFamily="49" charset="0"/>
              </a:rPr>
              <a:t>In</a:t>
            </a:r>
            <a:r>
              <a:rPr lang="en-US" sz="1600" spc="-50" dirty="0" smtClean="0">
                <a:solidFill>
                  <a:schemeClr val="accent5"/>
                </a:solidFill>
                <a:latin typeface="Consolas" panose="020B0609020204030204" pitchFamily="49" charset="0"/>
                <a:cs typeface="Consolas" panose="020B0609020204030204" pitchFamily="49" charset="0"/>
              </a:rPr>
              <a:t> </a:t>
            </a:r>
            <a:r>
              <a:rPr lang="en-US" sz="1600" spc="-50" dirty="0" err="1" smtClean="0">
                <a:solidFill>
                  <a:srgbClr val="23642F"/>
                </a:solidFill>
                <a:latin typeface="Consolas" panose="020B0609020204030204" pitchFamily="49" charset="0"/>
                <a:cs typeface="Consolas" panose="020B0609020204030204" pitchFamily="49" charset="0"/>
              </a:rPr>
              <a:t>NameNode.GetBlockLocations</a:t>
            </a:r>
            <a:r>
              <a:rPr lang="en-US" sz="1600" spc="-50" dirty="0" smtClean="0">
                <a:solidFill>
                  <a:srgbClr val="23642F"/>
                </a:solidFill>
                <a:latin typeface="Consolas" panose="020B0609020204030204" pitchFamily="49" charset="0"/>
                <a:cs typeface="Consolas" panose="020B0609020204030204" pitchFamily="49" charset="0"/>
              </a:rPr>
              <a:t> </a:t>
            </a:r>
          </a:p>
          <a:p>
            <a:pPr>
              <a:lnSpc>
                <a:spcPct val="90000"/>
              </a:lnSpc>
            </a:pPr>
            <a:r>
              <a:rPr lang="en-US" sz="1600" b="1" spc="-50" dirty="0">
                <a:solidFill>
                  <a:schemeClr val="accent6"/>
                </a:solidFill>
                <a:latin typeface="Consolas" panose="020B0609020204030204" pitchFamily="49" charset="0"/>
                <a:cs typeface="Consolas" panose="020B0609020204030204" pitchFamily="49" charset="0"/>
              </a:rPr>
              <a:t>	</a:t>
            </a:r>
            <a:r>
              <a:rPr lang="en-US" sz="1600" b="1" spc="-50" dirty="0" smtClean="0">
                <a:solidFill>
                  <a:schemeClr val="accent6"/>
                </a:solidFill>
                <a:latin typeface="Consolas" panose="020B0609020204030204" pitchFamily="49" charset="0"/>
                <a:cs typeface="Consolas" panose="020B0609020204030204" pitchFamily="49" charset="0"/>
              </a:rPr>
              <a:t>	</a:t>
            </a:r>
            <a:r>
              <a:rPr lang="en-US" sz="1600" b="1" spc="-50" dirty="0" smtClean="0">
                <a:latin typeface="Consolas" panose="020B0609020204030204" pitchFamily="49" charset="0"/>
                <a:cs typeface="Consolas" panose="020B0609020204030204" pitchFamily="49" charset="0"/>
              </a:rPr>
              <a:t>On</a:t>
            </a:r>
            <a:r>
              <a:rPr lang="en-US" sz="1600" spc="-50" dirty="0" smtClean="0">
                <a:latin typeface="Consolas" panose="020B0609020204030204" pitchFamily="49" charset="0"/>
                <a:cs typeface="Consolas" panose="020B0609020204030204" pitchFamily="49" charset="0"/>
              </a:rPr>
              <a:t> </a:t>
            </a:r>
            <a:r>
              <a:rPr lang="en-US" sz="1600" spc="-50" dirty="0" err="1">
                <a:solidFill>
                  <a:srgbClr val="23642F"/>
                </a:solidFill>
                <a:latin typeface="Consolas" panose="020B0609020204030204" pitchFamily="49" charset="0"/>
                <a:cs typeface="Consolas" panose="020B0609020204030204" pitchFamily="49" charset="0"/>
              </a:rPr>
              <a:t>blockLocations</a:t>
            </a:r>
            <a:r>
              <a:rPr lang="en-US" sz="1600" spc="-50" dirty="0">
                <a:solidFill>
                  <a:srgbClr val="23642F"/>
                </a:solidFill>
                <a:latin typeface="Consolas" panose="020B0609020204030204" pitchFamily="49" charset="0"/>
                <a:cs typeface="Consolas" panose="020B0609020204030204" pitchFamily="49" charset="0"/>
              </a:rPr>
              <a:t> </a:t>
            </a:r>
            <a:r>
              <a:rPr lang="en-US" sz="1600" b="1" spc="-50" dirty="0" smtClean="0">
                <a:latin typeface="Consolas" panose="020B0609020204030204" pitchFamily="49" charset="0"/>
                <a:cs typeface="Consolas" panose="020B0609020204030204" pitchFamily="49" charset="0"/>
              </a:rPr>
              <a:t>-&gt;</a:t>
            </a:r>
            <a:r>
              <a:rPr lang="en-US" sz="1600" spc="-50" dirty="0">
                <a:solidFill>
                  <a:schemeClr val="accent5"/>
                </a:solidFill>
                <a:latin typeface="Consolas" panose="020B0609020204030204" pitchFamily="49" charset="0"/>
                <a:cs typeface="Consolas" panose="020B0609020204030204" pitchFamily="49" charset="0"/>
              </a:rPr>
              <a:t> </a:t>
            </a:r>
            <a:r>
              <a:rPr lang="en-US" sz="1600" spc="-50" dirty="0" err="1">
                <a:solidFill>
                  <a:schemeClr val="accent5"/>
                </a:solidFill>
                <a:latin typeface="Consolas" panose="020B0609020204030204" pitchFamily="49" charset="0"/>
                <a:cs typeface="Consolas" panose="020B0609020204030204" pitchFamily="49" charset="0"/>
              </a:rPr>
              <a:t>readBlock</a:t>
            </a:r>
            <a:r>
              <a:rPr lang="en-US" sz="1600" spc="-50" dirty="0">
                <a:solidFill>
                  <a:schemeClr val="accent5"/>
                </a:solidFill>
                <a:latin typeface="Consolas" panose="020B0609020204030204" pitchFamily="49" charset="0"/>
                <a:cs typeface="Consolas" panose="020B0609020204030204" pitchFamily="49" charset="0"/>
              </a:rPr>
              <a:t> </a:t>
            </a:r>
            <a:endParaRPr lang="en-US" sz="1600" spc="-50" dirty="0" smtClean="0">
              <a:solidFill>
                <a:schemeClr val="accent5"/>
              </a:solidFill>
              <a:latin typeface="Consolas" panose="020B0609020204030204" pitchFamily="49" charset="0"/>
              <a:cs typeface="Consolas" panose="020B0609020204030204" pitchFamily="49" charset="0"/>
            </a:endParaRPr>
          </a:p>
          <a:p>
            <a:pPr>
              <a:lnSpc>
                <a:spcPct val="90000"/>
              </a:lnSpc>
            </a:pPr>
            <a:r>
              <a:rPr lang="en-US" sz="1600" b="1" spc="-50" dirty="0" smtClean="0">
                <a:latin typeface="Consolas" panose="020B0609020204030204" pitchFamily="49" charset="0"/>
                <a:cs typeface="Consolas" panose="020B0609020204030204" pitchFamily="49" charset="0"/>
              </a:rPr>
              <a:t>  </a:t>
            </a:r>
            <a:r>
              <a:rPr lang="en-US" sz="1600" b="1" spc="-50" dirty="0" err="1" smtClean="0">
                <a:latin typeface="Consolas" panose="020B0609020204030204" pitchFamily="49" charset="0"/>
                <a:cs typeface="Consolas" panose="020B0609020204030204" pitchFamily="49" charset="0"/>
              </a:rPr>
              <a:t>GroupBy</a:t>
            </a:r>
            <a:r>
              <a:rPr lang="en-US" sz="1600" spc="-50" dirty="0" smtClean="0">
                <a:solidFill>
                  <a:srgbClr val="C00000"/>
                </a:solidFill>
                <a:latin typeface="Consolas" panose="020B0609020204030204" pitchFamily="49" charset="0"/>
                <a:cs typeface="Consolas" panose="020B0609020204030204" pitchFamily="49" charset="0"/>
              </a:rPr>
              <a:t> </a:t>
            </a:r>
            <a:r>
              <a:rPr lang="en-US" sz="1600" spc="-50" dirty="0" err="1" smtClean="0">
                <a:solidFill>
                  <a:srgbClr val="23642F"/>
                </a:solidFill>
                <a:latin typeface="Consolas" panose="020B0609020204030204" pitchFamily="49" charset="0"/>
                <a:cs typeface="Consolas" panose="020B0609020204030204" pitchFamily="49" charset="0"/>
              </a:rPr>
              <a:t>blockLocations.replicas</a:t>
            </a:r>
            <a:r>
              <a:rPr lang="en-US" sz="1600" b="1" spc="-50" dirty="0" smtClean="0">
                <a:latin typeface="Consolas" panose="020B0609020204030204" pitchFamily="49" charset="0"/>
                <a:cs typeface="Consolas" panose="020B0609020204030204" pitchFamily="49" charset="0"/>
              </a:rPr>
              <a:t>, </a:t>
            </a:r>
            <a:r>
              <a:rPr lang="en-US" sz="1600" spc="-50" dirty="0" err="1">
                <a:solidFill>
                  <a:schemeClr val="accent5"/>
                </a:solidFill>
                <a:latin typeface="Consolas" panose="020B0609020204030204" pitchFamily="49" charset="0"/>
                <a:cs typeface="Consolas" panose="020B0609020204030204" pitchFamily="49" charset="0"/>
              </a:rPr>
              <a:t>readBlock.host</a:t>
            </a:r>
            <a:endParaRPr lang="en-US" sz="1600" b="1" spc="-50" dirty="0" smtClean="0">
              <a:latin typeface="Consolas" panose="020B0609020204030204" pitchFamily="49" charset="0"/>
              <a:cs typeface="Consolas" panose="020B0609020204030204" pitchFamily="49" charset="0"/>
            </a:endParaRPr>
          </a:p>
          <a:p>
            <a:pPr>
              <a:lnSpc>
                <a:spcPct val="90000"/>
              </a:lnSpc>
            </a:pPr>
            <a:r>
              <a:rPr lang="en-US" sz="1600" spc="-50" dirty="0">
                <a:solidFill>
                  <a:srgbClr val="23642F"/>
                </a:solidFill>
                <a:latin typeface="Consolas" panose="020B0609020204030204" pitchFamily="49" charset="0"/>
                <a:cs typeface="Consolas" panose="020B0609020204030204" pitchFamily="49" charset="0"/>
              </a:rPr>
              <a:t> </a:t>
            </a:r>
            <a:r>
              <a:rPr lang="en-US" sz="1600" spc="-50" dirty="0" smtClean="0">
                <a:solidFill>
                  <a:srgbClr val="23642F"/>
                </a:solidFill>
                <a:latin typeface="Consolas" panose="020B0609020204030204" pitchFamily="49" charset="0"/>
                <a:cs typeface="Consolas" panose="020B0609020204030204" pitchFamily="49" charset="0"/>
              </a:rPr>
              <a:t> </a:t>
            </a:r>
            <a:r>
              <a:rPr lang="en-US" sz="1600" b="1" spc="-50" dirty="0" smtClean="0">
                <a:latin typeface="Consolas" panose="020B0609020204030204" pitchFamily="49" charset="0"/>
                <a:cs typeface="Consolas" panose="020B0609020204030204" pitchFamily="49" charset="0"/>
              </a:rPr>
              <a:t>Select</a:t>
            </a:r>
            <a:r>
              <a:rPr lang="en-US" sz="1600" spc="-50" dirty="0" smtClean="0">
                <a:solidFill>
                  <a:srgbClr val="23642F"/>
                </a:solidFill>
                <a:latin typeface="Consolas" panose="020B0609020204030204" pitchFamily="49" charset="0"/>
                <a:cs typeface="Consolas" panose="020B0609020204030204" pitchFamily="49" charset="0"/>
              </a:rPr>
              <a:t> </a:t>
            </a:r>
            <a:r>
              <a:rPr lang="en-US" sz="1600" spc="-50" dirty="0" err="1" smtClean="0">
                <a:solidFill>
                  <a:srgbClr val="23642F"/>
                </a:solidFill>
                <a:latin typeface="Consolas" panose="020B0609020204030204" pitchFamily="49" charset="0"/>
                <a:cs typeface="Consolas" panose="020B0609020204030204" pitchFamily="49" charset="0"/>
              </a:rPr>
              <a:t>blockLocations.replicas</a:t>
            </a:r>
            <a:r>
              <a:rPr lang="en-US" sz="1600" spc="-50" dirty="0" smtClean="0">
                <a:latin typeface="Consolas" panose="020B0609020204030204" pitchFamily="49" charset="0"/>
                <a:cs typeface="Consolas" panose="020B0609020204030204" pitchFamily="49" charset="0"/>
              </a:rPr>
              <a:t>,</a:t>
            </a:r>
            <a:r>
              <a:rPr lang="en-US" sz="1600" spc="-50" dirty="0" smtClean="0">
                <a:solidFill>
                  <a:srgbClr val="2F2364"/>
                </a:solidFill>
                <a:latin typeface="Consolas" panose="020B0609020204030204" pitchFamily="49" charset="0"/>
                <a:cs typeface="Consolas" panose="020B0609020204030204" pitchFamily="49" charset="0"/>
              </a:rPr>
              <a:t> </a:t>
            </a:r>
            <a:r>
              <a:rPr lang="en-US" sz="1600" spc="-50" dirty="0" err="1">
                <a:solidFill>
                  <a:schemeClr val="accent5"/>
                </a:solidFill>
                <a:latin typeface="Consolas" panose="020B0609020204030204" pitchFamily="49" charset="0"/>
                <a:cs typeface="Consolas" panose="020B0609020204030204" pitchFamily="49" charset="0"/>
              </a:rPr>
              <a:t>readBlock.host</a:t>
            </a:r>
            <a:r>
              <a:rPr lang="en-US" sz="1600" spc="-50" dirty="0">
                <a:latin typeface="Consolas" panose="020B0609020204030204" pitchFamily="49" charset="0"/>
                <a:cs typeface="Consolas" panose="020B0609020204030204" pitchFamily="49" charset="0"/>
              </a:rPr>
              <a:t>,</a:t>
            </a:r>
            <a:r>
              <a:rPr lang="en-US" sz="1600" spc="-50" dirty="0">
                <a:solidFill>
                  <a:srgbClr val="C00000"/>
                </a:solidFill>
                <a:latin typeface="Consolas" panose="020B0609020204030204" pitchFamily="49" charset="0"/>
                <a:cs typeface="Consolas" panose="020B0609020204030204" pitchFamily="49" charset="0"/>
              </a:rPr>
              <a:t> </a:t>
            </a:r>
            <a:r>
              <a:rPr lang="en-US" sz="1600" b="1" spc="-50" dirty="0" smtClean="0">
                <a:latin typeface="Consolas" panose="020B0609020204030204" pitchFamily="49" charset="0"/>
                <a:cs typeface="Consolas" panose="020B0609020204030204" pitchFamily="49" charset="0"/>
              </a:rPr>
              <a:t>COUNT</a:t>
            </a:r>
          </a:p>
        </p:txBody>
      </p:sp>
      <p:grpSp>
        <p:nvGrpSpPr>
          <p:cNvPr id="44" name="Group 43"/>
          <p:cNvGrpSpPr/>
          <p:nvPr/>
        </p:nvGrpSpPr>
        <p:grpSpPr>
          <a:xfrm>
            <a:off x="238224" y="2273452"/>
            <a:ext cx="1901752" cy="1450452"/>
            <a:chOff x="238224" y="2273452"/>
            <a:chExt cx="1901752" cy="1450452"/>
          </a:xfrm>
        </p:grpSpPr>
        <p:grpSp>
          <p:nvGrpSpPr>
            <p:cNvPr id="31" name="Group 30"/>
            <p:cNvGrpSpPr/>
            <p:nvPr/>
          </p:nvGrpSpPr>
          <p:grpSpPr>
            <a:xfrm>
              <a:off x="238224" y="2273452"/>
              <a:ext cx="1901752" cy="1118106"/>
              <a:chOff x="370662" y="3872441"/>
              <a:chExt cx="1901752" cy="1118106"/>
            </a:xfrm>
          </p:grpSpPr>
          <p:sp>
            <p:nvSpPr>
              <p:cNvPr id="32" name="Rounded Rectangle 31"/>
              <p:cNvSpPr/>
              <p:nvPr/>
            </p:nvSpPr>
            <p:spPr>
              <a:xfrm>
                <a:off x="370662" y="3872441"/>
                <a:ext cx="1901752" cy="1118106"/>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3200" dirty="0" smtClean="0">
                    <a:solidFill>
                      <a:schemeClr val="tx1"/>
                    </a:solidFill>
                  </a:rPr>
                  <a:t>Client</a:t>
                </a:r>
              </a:p>
              <a:p>
                <a:pPr algn="r"/>
                <a:endParaRPr lang="en-US" sz="3200" dirty="0">
                  <a:solidFill>
                    <a:schemeClr val="tx1"/>
                  </a:solidFill>
                </a:endParaRPr>
              </a:p>
            </p:txBody>
          </p:sp>
          <p:sp>
            <p:nvSpPr>
              <p:cNvPr id="33" name="Freeform 32"/>
              <p:cNvSpPr/>
              <p:nvPr/>
            </p:nvSpPr>
            <p:spPr>
              <a:xfrm>
                <a:off x="580449" y="3969186"/>
                <a:ext cx="445091" cy="518222"/>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34" name="Rounded Rectangle 33"/>
              <p:cNvSpPr/>
              <p:nvPr/>
            </p:nvSpPr>
            <p:spPr>
              <a:xfrm>
                <a:off x="727326" y="4483840"/>
                <a:ext cx="1434850" cy="343799"/>
              </a:xfrm>
              <a:prstGeom prst="roundRect">
                <a:avLst/>
              </a:prstGeom>
              <a:solidFill>
                <a:srgbClr val="FFE1E1"/>
              </a:solidFill>
              <a:ln w="381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err="1" smtClean="0">
                    <a:solidFill>
                      <a:srgbClr val="C00000"/>
                    </a:solidFill>
                    <a:latin typeface="Consolas" panose="020B0609020204030204" pitchFamily="49" charset="0"/>
                    <a:cs typeface="Consolas" panose="020B0609020204030204" pitchFamily="49" charset="0"/>
                  </a:rPr>
                  <a:t>DoRandomRead</a:t>
                </a:r>
                <a:endParaRPr lang="en-US" sz="1400" b="1" dirty="0">
                  <a:solidFill>
                    <a:srgbClr val="C00000"/>
                  </a:solidFill>
                  <a:latin typeface="Consolas" panose="020B0609020204030204" pitchFamily="49" charset="0"/>
                  <a:cs typeface="Consolas" panose="020B0609020204030204" pitchFamily="49" charset="0"/>
                </a:endParaRPr>
              </a:p>
            </p:txBody>
          </p:sp>
        </p:grpSp>
        <p:cxnSp>
          <p:nvCxnSpPr>
            <p:cNvPr id="35" name="Straight Arrow Connector 34"/>
            <p:cNvCxnSpPr/>
            <p:nvPr/>
          </p:nvCxnSpPr>
          <p:spPr>
            <a:xfrm>
              <a:off x="1780885" y="3422463"/>
              <a:ext cx="158566" cy="301441"/>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75198" y="3745551"/>
            <a:ext cx="2727849" cy="3314649"/>
            <a:chOff x="-75198" y="3745551"/>
            <a:chExt cx="2727849" cy="3314649"/>
          </a:xfrm>
        </p:grpSpPr>
        <p:grpSp>
          <p:nvGrpSpPr>
            <p:cNvPr id="26" name="Group 25"/>
            <p:cNvGrpSpPr/>
            <p:nvPr/>
          </p:nvGrpSpPr>
          <p:grpSpPr>
            <a:xfrm>
              <a:off x="433328" y="3745551"/>
              <a:ext cx="2219323" cy="1380587"/>
              <a:chOff x="2589415" y="3600246"/>
              <a:chExt cx="2219323" cy="1380587"/>
            </a:xfrm>
          </p:grpSpPr>
          <p:grpSp>
            <p:nvGrpSpPr>
              <p:cNvPr id="27" name="Group 26"/>
              <p:cNvGrpSpPr/>
              <p:nvPr/>
            </p:nvGrpSpPr>
            <p:grpSpPr>
              <a:xfrm>
                <a:off x="2617251" y="3600246"/>
                <a:ext cx="2191487" cy="1380587"/>
                <a:chOff x="5674776" y="1054419"/>
                <a:chExt cx="2191487" cy="1380587"/>
              </a:xfrm>
            </p:grpSpPr>
            <p:sp>
              <p:nvSpPr>
                <p:cNvPr id="29" name="Rounded Rectangle 28"/>
                <p:cNvSpPr/>
                <p:nvPr/>
              </p:nvSpPr>
              <p:spPr>
                <a:xfrm>
                  <a:off x="5808500" y="1054419"/>
                  <a:ext cx="2057763" cy="1380587"/>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800" dirty="0" smtClean="0">
                    <a:solidFill>
                      <a:schemeClr val="tx1"/>
                    </a:solidFill>
                  </a:endParaRPr>
                </a:p>
                <a:p>
                  <a:pPr algn="r"/>
                  <a:endParaRPr lang="en-US" sz="2000" dirty="0" smtClean="0">
                    <a:solidFill>
                      <a:schemeClr val="tx1"/>
                    </a:solidFill>
                  </a:endParaRPr>
                </a:p>
                <a:p>
                  <a:pPr algn="r"/>
                  <a:r>
                    <a:rPr lang="en-US" sz="2000" dirty="0" smtClean="0">
                      <a:solidFill>
                        <a:schemeClr val="tx1"/>
                      </a:solidFill>
                    </a:rPr>
                    <a:t>HDFS </a:t>
                  </a:r>
                  <a:r>
                    <a:rPr lang="en-US" sz="2000" dirty="0" err="1" smtClean="0">
                      <a:solidFill>
                        <a:schemeClr val="tx1"/>
                      </a:solidFill>
                    </a:rPr>
                    <a:t>NameNode</a:t>
                  </a:r>
                  <a:endParaRPr lang="en-US" sz="2000" dirty="0">
                    <a:solidFill>
                      <a:schemeClr val="tx1"/>
                    </a:solidFill>
                  </a:endParaRPr>
                </a:p>
              </p:txBody>
            </p:sp>
            <p:pic>
              <p:nvPicPr>
                <p:cNvPr id="30" name="Picture 2" descr="https://cloud.google.com/hadoop/images/hadoop-elephant.png"/>
                <p:cNvPicPr>
                  <a:picLocks noChangeAspect="1" noChangeArrowheads="1"/>
                </p:cNvPicPr>
                <p:nvPr/>
              </p:nvPicPr>
              <p:blipFill>
                <a:blip r:embed="rId3" cstate="print">
                  <a:biLevel thresh="75000"/>
                  <a:extLst>
                    <a:ext uri="{28A0092B-C50C-407E-A947-70E740481C1C}">
                      <a14:useLocalDpi xmlns:a14="http://schemas.microsoft.com/office/drawing/2010/main" val="0"/>
                    </a:ext>
                  </a:extLst>
                </a:blip>
                <a:srcRect/>
                <a:stretch>
                  <a:fillRect/>
                </a:stretch>
              </p:blipFill>
              <p:spPr bwMode="auto">
                <a:xfrm>
                  <a:off x="5674776" y="1563219"/>
                  <a:ext cx="1219519" cy="871787"/>
                </a:xfrm>
                <a:prstGeom prst="rect">
                  <a:avLst/>
                </a:prstGeom>
                <a:noFill/>
                <a:extLst>
                  <a:ext uri="{909E8E84-426E-40DD-AFC4-6F175D3DCCD1}">
                    <a14:hiddenFill xmlns:a14="http://schemas.microsoft.com/office/drawing/2010/main">
                      <a:solidFill>
                        <a:srgbClr val="FFFFFF"/>
                      </a:solidFill>
                    </a14:hiddenFill>
                  </a:ext>
                </a:extLst>
              </p:spPr>
            </p:pic>
          </p:grpSp>
          <p:sp>
            <p:nvSpPr>
              <p:cNvPr id="28" name="Rounded Rectangle 27"/>
              <p:cNvSpPr/>
              <p:nvPr/>
            </p:nvSpPr>
            <p:spPr>
              <a:xfrm>
                <a:off x="2589415" y="3719366"/>
                <a:ext cx="2075137" cy="343799"/>
              </a:xfrm>
              <a:prstGeom prst="roundRect">
                <a:avLst/>
              </a:prstGeom>
              <a:solidFill>
                <a:srgbClr val="FFE1E1"/>
              </a:solidFill>
              <a:ln w="381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err="1" smtClean="0">
                    <a:solidFill>
                      <a:srgbClr val="23642F"/>
                    </a:solidFill>
                    <a:latin typeface="Consolas" panose="020B0609020204030204" pitchFamily="49" charset="0"/>
                    <a:cs typeface="Consolas" panose="020B0609020204030204" pitchFamily="49" charset="0"/>
                  </a:rPr>
                  <a:t>GetBlockLocations</a:t>
                </a:r>
                <a:endParaRPr lang="en-US" sz="1400" b="1" dirty="0">
                  <a:solidFill>
                    <a:srgbClr val="23642F"/>
                  </a:solidFill>
                  <a:latin typeface="Consolas" panose="020B0609020204030204" pitchFamily="49" charset="0"/>
                  <a:cs typeface="Consolas" panose="020B0609020204030204" pitchFamily="49" charset="0"/>
                </a:endParaRPr>
              </a:p>
            </p:txBody>
          </p:sp>
        </p:grpSp>
        <p:grpSp>
          <p:nvGrpSpPr>
            <p:cNvPr id="38" name="Group 37"/>
            <p:cNvGrpSpPr/>
            <p:nvPr/>
          </p:nvGrpSpPr>
          <p:grpSpPr>
            <a:xfrm>
              <a:off x="-75198" y="5480131"/>
              <a:ext cx="2727849" cy="1580069"/>
              <a:chOff x="-141908" y="5439038"/>
              <a:chExt cx="2727849" cy="1580069"/>
            </a:xfrm>
          </p:grpSpPr>
          <p:sp>
            <p:nvSpPr>
              <p:cNvPr id="39" name="Rounded Rectangle 38"/>
              <p:cNvSpPr/>
              <p:nvPr/>
            </p:nvSpPr>
            <p:spPr>
              <a:xfrm>
                <a:off x="389253" y="5439038"/>
                <a:ext cx="1883161" cy="1383813"/>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400" dirty="0" smtClean="0">
                  <a:solidFill>
                    <a:schemeClr val="tx1"/>
                  </a:solidFill>
                </a:endParaRPr>
              </a:p>
              <a:p>
                <a:pPr algn="r"/>
                <a:r>
                  <a:rPr lang="en-US" sz="2400" dirty="0" smtClean="0">
                    <a:solidFill>
                      <a:schemeClr val="tx1"/>
                    </a:solidFill>
                  </a:rPr>
                  <a:t>HDFS </a:t>
                </a:r>
                <a:r>
                  <a:rPr lang="en-US" sz="2400" dirty="0" err="1" smtClean="0">
                    <a:solidFill>
                      <a:schemeClr val="tx1"/>
                    </a:solidFill>
                  </a:rPr>
                  <a:t>DataNode</a:t>
                </a:r>
                <a:endParaRPr lang="en-US" sz="2400" dirty="0">
                  <a:solidFill>
                    <a:schemeClr val="tx1"/>
                  </a:solidFill>
                </a:endParaRPr>
              </a:p>
            </p:txBody>
          </p:sp>
          <p:pic>
            <p:nvPicPr>
              <p:cNvPr id="40" name="Picture 2" descr="https://cloud.google.com/hadoop/images/hadoop-elephant.png"/>
              <p:cNvPicPr>
                <a:picLocks noChangeAspect="1" noChangeArrowheads="1"/>
              </p:cNvPicPr>
              <p:nvPr/>
            </p:nvPicPr>
            <p:blipFill>
              <a:blip r:embed="rId4"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141908" y="6130944"/>
                <a:ext cx="1148091" cy="888163"/>
              </a:xfrm>
              <a:prstGeom prst="rect">
                <a:avLst/>
              </a:prstGeom>
              <a:noFill/>
              <a:extLst>
                <a:ext uri="{909E8E84-426E-40DD-AFC4-6F175D3DCCD1}">
                  <a14:hiddenFill xmlns:a14="http://schemas.microsoft.com/office/drawing/2010/main">
                    <a:solidFill>
                      <a:srgbClr val="FFFFFF"/>
                    </a:solidFill>
                  </a14:hiddenFill>
                </a:ext>
              </a:extLst>
            </p:spPr>
          </p:pic>
          <p:sp>
            <p:nvSpPr>
              <p:cNvPr id="41" name="Rounded Rectangle 40"/>
              <p:cNvSpPr/>
              <p:nvPr/>
            </p:nvSpPr>
            <p:spPr>
              <a:xfrm>
                <a:off x="75724" y="5510553"/>
                <a:ext cx="2510217" cy="343799"/>
              </a:xfrm>
              <a:prstGeom prst="roundRect">
                <a:avLst/>
              </a:prstGeom>
              <a:solidFill>
                <a:srgbClr val="FFE1E1"/>
              </a:solidFill>
              <a:ln w="381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err="1" smtClean="0">
                    <a:solidFill>
                      <a:srgbClr val="4472C4"/>
                    </a:solidFill>
                    <a:latin typeface="Consolas" panose="020B0609020204030204" pitchFamily="49" charset="0"/>
                    <a:cs typeface="Consolas" panose="020B0609020204030204" pitchFamily="49" charset="0"/>
                  </a:rPr>
                  <a:t>DataTransferProtocol</a:t>
                </a:r>
                <a:endParaRPr lang="en-US" sz="1600" b="1" dirty="0">
                  <a:solidFill>
                    <a:srgbClr val="4472C4"/>
                  </a:solidFill>
                  <a:latin typeface="Consolas" panose="020B0609020204030204" pitchFamily="49" charset="0"/>
                  <a:cs typeface="Consolas" panose="020B0609020204030204" pitchFamily="49" charset="0"/>
                </a:endParaRPr>
              </a:p>
            </p:txBody>
          </p:sp>
        </p:grpSp>
        <p:cxnSp>
          <p:nvCxnSpPr>
            <p:cNvPr id="42" name="Straight Arrow Connector 41"/>
            <p:cNvCxnSpPr/>
            <p:nvPr/>
          </p:nvCxnSpPr>
          <p:spPr>
            <a:xfrm flipH="1">
              <a:off x="1183561" y="5142932"/>
              <a:ext cx="158566" cy="301441"/>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6908186" y="168893"/>
            <a:ext cx="1721018" cy="1569660"/>
            <a:chOff x="2042417" y="2020656"/>
            <a:chExt cx="1721018" cy="1569660"/>
          </a:xfrm>
        </p:grpSpPr>
        <p:grpSp>
          <p:nvGrpSpPr>
            <p:cNvPr id="47" name="Group 46"/>
            <p:cNvGrpSpPr/>
            <p:nvPr/>
          </p:nvGrpSpPr>
          <p:grpSpPr>
            <a:xfrm>
              <a:off x="2042417" y="2276342"/>
              <a:ext cx="1721018" cy="1237104"/>
              <a:chOff x="4941133" y="3455754"/>
              <a:chExt cx="3764717" cy="2706157"/>
            </a:xfrm>
          </p:grpSpPr>
          <p:pic>
            <p:nvPicPr>
              <p:cNvPr id="49" name="Picture 4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41133" y="3455754"/>
                <a:ext cx="3764717" cy="2706157"/>
              </a:xfrm>
              <a:prstGeom prst="rect">
                <a:avLst/>
              </a:prstGeom>
            </p:spPr>
          </p:pic>
          <p:sp>
            <p:nvSpPr>
              <p:cNvPr id="50" name="Rectangle 49"/>
              <p:cNvSpPr/>
              <p:nvPr/>
            </p:nvSpPr>
            <p:spPr>
              <a:xfrm>
                <a:off x="5668297" y="3455754"/>
                <a:ext cx="2847053" cy="5211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8" name="TextBox 47"/>
            <p:cNvSpPr txBox="1"/>
            <p:nvPr/>
          </p:nvSpPr>
          <p:spPr>
            <a:xfrm>
              <a:off x="2675636" y="2020656"/>
              <a:ext cx="755335" cy="1569660"/>
            </a:xfrm>
            <a:prstGeom prst="rect">
              <a:avLst/>
            </a:prstGeom>
            <a:noFill/>
          </p:spPr>
          <p:txBody>
            <a:bodyPr wrap="none" rtlCol="0">
              <a:spAutoFit/>
            </a:bodyPr>
            <a:lstStyle/>
            <a:p>
              <a:r>
                <a:rPr lang="en-US" sz="9600" dirty="0" smtClean="0">
                  <a:ln w="28575">
                    <a:solidFill>
                      <a:schemeClr val="tx1"/>
                    </a:solidFill>
                  </a:ln>
                  <a:solidFill>
                    <a:schemeClr val="bg1"/>
                  </a:solidFill>
                </a:rPr>
                <a:t>?</a:t>
              </a:r>
              <a:endParaRPr lang="en-US" sz="9600" dirty="0">
                <a:ln w="28575">
                  <a:solidFill>
                    <a:schemeClr val="tx1"/>
                  </a:solidFill>
                </a:ln>
                <a:solidFill>
                  <a:schemeClr val="bg1"/>
                </a:solidFill>
              </a:endParaRPr>
            </a:p>
          </p:txBody>
        </p:sp>
      </p:grpSp>
      <p:grpSp>
        <p:nvGrpSpPr>
          <p:cNvPr id="57" name="Group 56"/>
          <p:cNvGrpSpPr/>
          <p:nvPr/>
        </p:nvGrpSpPr>
        <p:grpSpPr>
          <a:xfrm>
            <a:off x="7006618" y="2825847"/>
            <a:ext cx="1474287" cy="162270"/>
            <a:chOff x="7006618" y="2825847"/>
            <a:chExt cx="1474287" cy="162270"/>
          </a:xfrm>
        </p:grpSpPr>
        <p:cxnSp>
          <p:nvCxnSpPr>
            <p:cNvPr id="54" name="Straight Connector 53"/>
            <p:cNvCxnSpPr/>
            <p:nvPr/>
          </p:nvCxnSpPr>
          <p:spPr>
            <a:xfrm rot="360000">
              <a:off x="7017865" y="2825847"/>
              <a:ext cx="146304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rot="360000">
              <a:off x="7006618" y="2988117"/>
              <a:ext cx="146304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7" name="Freeform 36"/>
          <p:cNvSpPr/>
          <p:nvPr/>
        </p:nvSpPr>
        <p:spPr>
          <a:xfrm>
            <a:off x="2814211" y="4718289"/>
            <a:ext cx="5915539" cy="2044460"/>
          </a:xfrm>
          <a:custGeom>
            <a:avLst/>
            <a:gdLst>
              <a:gd name="connsiteX0" fmla="*/ 148064 w 5915539"/>
              <a:gd name="connsiteY0" fmla="*/ 1370693 h 2044460"/>
              <a:gd name="connsiteX1" fmla="*/ 5915539 w 5915539"/>
              <a:gd name="connsiteY1" fmla="*/ 1370693 h 2044460"/>
              <a:gd name="connsiteX2" fmla="*/ 5915539 w 5915539"/>
              <a:gd name="connsiteY2" fmla="*/ 2044460 h 2044460"/>
              <a:gd name="connsiteX3" fmla="*/ 148064 w 5915539"/>
              <a:gd name="connsiteY3" fmla="*/ 2044460 h 2044460"/>
              <a:gd name="connsiteX4" fmla="*/ 0 w 5915539"/>
              <a:gd name="connsiteY4" fmla="*/ 0 h 2044460"/>
              <a:gd name="connsiteX5" fmla="*/ 5767475 w 5915539"/>
              <a:gd name="connsiteY5" fmla="*/ 0 h 2044460"/>
              <a:gd name="connsiteX6" fmla="*/ 5767475 w 5915539"/>
              <a:gd name="connsiteY6" fmla="*/ 673767 h 2044460"/>
              <a:gd name="connsiteX7" fmla="*/ 0 w 5915539"/>
              <a:gd name="connsiteY7" fmla="*/ 673767 h 2044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15539" h="2044460">
                <a:moveTo>
                  <a:pt x="148064" y="1370693"/>
                </a:moveTo>
                <a:lnTo>
                  <a:pt x="5915539" y="1370693"/>
                </a:lnTo>
                <a:lnTo>
                  <a:pt x="5915539" y="2044460"/>
                </a:lnTo>
                <a:lnTo>
                  <a:pt x="148064" y="2044460"/>
                </a:lnTo>
                <a:close/>
                <a:moveTo>
                  <a:pt x="0" y="0"/>
                </a:moveTo>
                <a:lnTo>
                  <a:pt x="5767475" y="0"/>
                </a:lnTo>
                <a:lnTo>
                  <a:pt x="5767475" y="673767"/>
                </a:lnTo>
                <a:lnTo>
                  <a:pt x="0" y="673767"/>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p:cNvSpPr>
            <a:spLocks noGrp="1"/>
          </p:cNvSpPr>
          <p:nvPr>
            <p:ph type="sldNum" sz="quarter" idx="12"/>
          </p:nvPr>
        </p:nvSpPr>
        <p:spPr/>
        <p:txBody>
          <a:bodyPr/>
          <a:lstStyle/>
          <a:p>
            <a:fld id="{D431E30F-8439-471B-9257-EDD8E85CDBC8}" type="slidenum">
              <a:rPr lang="en-US" smtClean="0"/>
              <a:t>42</a:t>
            </a:fld>
            <a:endParaRPr lang="en-US"/>
          </a:p>
        </p:txBody>
      </p:sp>
    </p:spTree>
    <p:extLst>
      <p:ext uri="{BB962C8B-B14F-4D97-AF65-F5344CB8AC3E}">
        <p14:creationId xmlns:p14="http://schemas.microsoft.com/office/powerpoint/2010/main" val="4077827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1">
                                            <p:txEl>
                                              <p:pRg st="4" end="4"/>
                                            </p:txEl>
                                          </p:spTgt>
                                        </p:tgtEl>
                                        <p:attrNameLst>
                                          <p:attrName>style.visibility</p:attrName>
                                        </p:attrNameLst>
                                      </p:cBhvr>
                                      <p:to>
                                        <p:strVal val="visible"/>
                                      </p:to>
                                    </p:set>
                                    <p:animEffect transition="in" filter="fade">
                                      <p:cBhvr>
                                        <p:cTn id="11" dur="500"/>
                                        <p:tgtEl>
                                          <p:spTgt spid="11">
                                            <p:txEl>
                                              <p:pRg st="4" end="4"/>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43"/>
                                        </p:tgtEl>
                                        <p:attrNameLst>
                                          <p:attrName>style.visibility</p:attrName>
                                        </p:attrNameLst>
                                      </p:cBhvr>
                                      <p:to>
                                        <p:strVal val="visible"/>
                                      </p:to>
                                    </p:set>
                                    <p:animEffect transition="in" filter="wipe(up)">
                                      <p:cBhvr>
                                        <p:cTn id="26" dur="500"/>
                                        <p:tgtEl>
                                          <p:spTgt spid="4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57"/>
                                        </p:tgtEl>
                                        <p:attrNameLst>
                                          <p:attrName>style.visibility</p:attrName>
                                        </p:attrNameLst>
                                      </p:cBhvr>
                                      <p:to>
                                        <p:strVal val="visible"/>
                                      </p:to>
                                    </p:set>
                                    <p:animEffect transition="in" filter="wipe(left)">
                                      <p:cBhvr>
                                        <p:cTn id="36" dur="500"/>
                                        <p:tgtEl>
                                          <p:spTgt spid="57"/>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44"/>
                                        </p:tgtEl>
                                        <p:attrNameLst>
                                          <p:attrName>style.visibility</p:attrName>
                                        </p:attrNameLst>
                                      </p:cBhvr>
                                      <p:to>
                                        <p:strVal val="visible"/>
                                      </p:to>
                                    </p:set>
                                    <p:animEffect transition="in" filter="wipe(up)">
                                      <p:cBhvr>
                                        <p:cTn id="41" dur="500"/>
                                        <p:tgtEl>
                                          <p:spTgt spid="44"/>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xit" presetSubtype="0" fill="hold" grpId="1" nodeType="clickEffect">
                                  <p:stCondLst>
                                    <p:cond delay="0"/>
                                  </p:stCondLst>
                                  <p:childTnLst>
                                    <p:animEffect transition="out" filter="fade">
                                      <p:cBhvr>
                                        <p:cTn id="45" dur="500"/>
                                        <p:tgtEl>
                                          <p:spTgt spid="12"/>
                                        </p:tgtEl>
                                      </p:cBhvr>
                                    </p:animEffect>
                                    <p:set>
                                      <p:cBhvr>
                                        <p:cTn id="46" dur="1" fill="hold">
                                          <p:stCondLst>
                                            <p:cond delay="499"/>
                                          </p:stCondLst>
                                        </p:cTn>
                                        <p:tgtEl>
                                          <p:spTgt spid="12"/>
                                        </p:tgtEl>
                                        <p:attrNameLst>
                                          <p:attrName>style.visibility</p:attrName>
                                        </p:attrNameLst>
                                      </p:cBhvr>
                                      <p:to>
                                        <p:strVal val="hidden"/>
                                      </p:to>
                                    </p:set>
                                  </p:childTnLst>
                                </p:cTn>
                              </p:par>
                            </p:childTnLst>
                          </p:cTn>
                        </p:par>
                        <p:par>
                          <p:cTn id="47" fill="hold">
                            <p:stCondLst>
                              <p:cond delay="500"/>
                            </p:stCondLst>
                            <p:childTnLst>
                              <p:par>
                                <p:cTn id="48" presetID="10" presetClass="entr" presetSubtype="0" fill="hold" grpId="0" nodeType="afterEffect">
                                  <p:stCondLst>
                                    <p:cond delay="0"/>
                                  </p:stCondLst>
                                  <p:childTnLst>
                                    <p:set>
                                      <p:cBhvr>
                                        <p:cTn id="49" dur="1" fill="hold">
                                          <p:stCondLst>
                                            <p:cond delay="0"/>
                                          </p:stCondLst>
                                        </p:cTn>
                                        <p:tgtEl>
                                          <p:spTgt spid="113"/>
                                        </p:tgtEl>
                                        <p:attrNameLst>
                                          <p:attrName>style.visibility</p:attrName>
                                        </p:attrNameLst>
                                      </p:cBhvr>
                                      <p:to>
                                        <p:strVal val="visible"/>
                                      </p:to>
                                    </p:set>
                                    <p:animEffect transition="in" filter="fade">
                                      <p:cBhvr>
                                        <p:cTn id="50" dur="500"/>
                                        <p:tgtEl>
                                          <p:spTgt spid="113"/>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500"/>
                                        <p:tgtEl>
                                          <p:spTgt spid="37"/>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xit" presetSubtype="0" fill="hold" grpId="0" nodeType="clickEffect">
                                  <p:stCondLst>
                                    <p:cond delay="0"/>
                                  </p:stCondLst>
                                  <p:childTnLst>
                                    <p:animEffect transition="out" filter="fade">
                                      <p:cBhvr>
                                        <p:cTn id="59" dur="500"/>
                                        <p:tgtEl>
                                          <p:spTgt spid="11">
                                            <p:txEl>
                                              <p:pRg st="0" end="0"/>
                                            </p:txEl>
                                          </p:spTgt>
                                        </p:tgtEl>
                                      </p:cBhvr>
                                    </p:animEffect>
                                    <p:set>
                                      <p:cBhvr>
                                        <p:cTn id="60" dur="1" fill="hold">
                                          <p:stCondLst>
                                            <p:cond delay="499"/>
                                          </p:stCondLst>
                                        </p:cTn>
                                        <p:tgtEl>
                                          <p:spTgt spid="11">
                                            <p:txEl>
                                              <p:pRg st="0" end="0"/>
                                            </p:txEl>
                                          </p:spTgt>
                                        </p:tgtEl>
                                        <p:attrNameLst>
                                          <p:attrName>style.visibility</p:attrName>
                                        </p:attrNameLst>
                                      </p:cBhvr>
                                      <p:to>
                                        <p:strVal val="hidden"/>
                                      </p:to>
                                    </p:set>
                                  </p:childTnLst>
                                </p:cTn>
                              </p:par>
                              <p:par>
                                <p:cTn id="61" presetID="10" presetClass="exit" presetSubtype="0" fill="hold" grpId="0" nodeType="withEffect">
                                  <p:stCondLst>
                                    <p:cond delay="0"/>
                                  </p:stCondLst>
                                  <p:childTnLst>
                                    <p:animEffect transition="out" filter="fade">
                                      <p:cBhvr>
                                        <p:cTn id="62" dur="500"/>
                                        <p:tgtEl>
                                          <p:spTgt spid="11">
                                            <p:txEl>
                                              <p:pRg st="1" end="1"/>
                                            </p:txEl>
                                          </p:spTgt>
                                        </p:tgtEl>
                                      </p:cBhvr>
                                    </p:animEffect>
                                    <p:set>
                                      <p:cBhvr>
                                        <p:cTn id="63" dur="1" fill="hold">
                                          <p:stCondLst>
                                            <p:cond delay="499"/>
                                          </p:stCondLst>
                                        </p:cTn>
                                        <p:tgtEl>
                                          <p:spTgt spid="11">
                                            <p:txEl>
                                              <p:pRg st="1" end="1"/>
                                            </p:txEl>
                                          </p:spTgt>
                                        </p:tgtEl>
                                        <p:attrNameLst>
                                          <p:attrName>style.visibility</p:attrName>
                                        </p:attrNameLst>
                                      </p:cBhvr>
                                      <p:to>
                                        <p:strVal val="hidden"/>
                                      </p:to>
                                    </p:set>
                                  </p:childTnLst>
                                </p:cTn>
                              </p:par>
                              <p:par>
                                <p:cTn id="64" presetID="10" presetClass="exit" presetSubtype="0" fill="hold" grpId="0" nodeType="withEffect">
                                  <p:stCondLst>
                                    <p:cond delay="0"/>
                                  </p:stCondLst>
                                  <p:childTnLst>
                                    <p:animEffect transition="out" filter="fade">
                                      <p:cBhvr>
                                        <p:cTn id="65" dur="500"/>
                                        <p:tgtEl>
                                          <p:spTgt spid="11">
                                            <p:txEl>
                                              <p:pRg st="2" end="2"/>
                                            </p:txEl>
                                          </p:spTgt>
                                        </p:tgtEl>
                                      </p:cBhvr>
                                    </p:animEffect>
                                    <p:set>
                                      <p:cBhvr>
                                        <p:cTn id="66" dur="1" fill="hold">
                                          <p:stCondLst>
                                            <p:cond delay="499"/>
                                          </p:stCondLst>
                                        </p:cTn>
                                        <p:tgtEl>
                                          <p:spTgt spid="11">
                                            <p:txEl>
                                              <p:pRg st="2" end="2"/>
                                            </p:txEl>
                                          </p:spTgt>
                                        </p:tgtEl>
                                        <p:attrNameLst>
                                          <p:attrName>style.visibility</p:attrName>
                                        </p:attrNameLst>
                                      </p:cBhvr>
                                      <p:to>
                                        <p:strVal val="hidden"/>
                                      </p:to>
                                    </p:set>
                                  </p:childTnLst>
                                </p:cTn>
                              </p:par>
                              <p:par>
                                <p:cTn id="67" presetID="10" presetClass="exit" presetSubtype="0" fill="hold" grpId="0" nodeType="withEffect">
                                  <p:stCondLst>
                                    <p:cond delay="0"/>
                                  </p:stCondLst>
                                  <p:childTnLst>
                                    <p:animEffect transition="out" filter="fade">
                                      <p:cBhvr>
                                        <p:cTn id="68" dur="500"/>
                                        <p:tgtEl>
                                          <p:spTgt spid="11">
                                            <p:txEl>
                                              <p:pRg st="4" end="4"/>
                                            </p:txEl>
                                          </p:spTgt>
                                        </p:tgtEl>
                                      </p:cBhvr>
                                    </p:animEffect>
                                    <p:set>
                                      <p:cBhvr>
                                        <p:cTn id="69" dur="1" fill="hold">
                                          <p:stCondLst>
                                            <p:cond delay="499"/>
                                          </p:stCondLst>
                                        </p:cTn>
                                        <p:tgtEl>
                                          <p:spTgt spid="11">
                                            <p:txEl>
                                              <p:pRg st="4" end="4"/>
                                            </p:txEl>
                                          </p:spTgt>
                                        </p:tgtEl>
                                        <p:attrNameLst>
                                          <p:attrName>style.visibility</p:attrName>
                                        </p:attrNameLst>
                                      </p:cBhvr>
                                      <p:to>
                                        <p:strVal val="hidden"/>
                                      </p:to>
                                    </p:set>
                                  </p:childTnLst>
                                </p:cTn>
                              </p:par>
                              <p:par>
                                <p:cTn id="70" presetID="10" presetClass="exit" presetSubtype="0" fill="hold" grpId="1" nodeType="withEffect">
                                  <p:stCondLst>
                                    <p:cond delay="0"/>
                                  </p:stCondLst>
                                  <p:childTnLst>
                                    <p:animEffect transition="out" filter="fade">
                                      <p:cBhvr>
                                        <p:cTn id="71" dur="500"/>
                                        <p:tgtEl>
                                          <p:spTgt spid="8"/>
                                        </p:tgtEl>
                                      </p:cBhvr>
                                    </p:animEffect>
                                    <p:set>
                                      <p:cBhvr>
                                        <p:cTn id="72" dur="1" fill="hold">
                                          <p:stCondLst>
                                            <p:cond delay="499"/>
                                          </p:stCondLst>
                                        </p:cTn>
                                        <p:tgtEl>
                                          <p:spTgt spid="8"/>
                                        </p:tgtEl>
                                        <p:attrNameLst>
                                          <p:attrName>style.visibility</p:attrName>
                                        </p:attrNameLst>
                                      </p:cBhvr>
                                      <p:to>
                                        <p:strVal val="hidden"/>
                                      </p:to>
                                    </p:set>
                                  </p:childTnLst>
                                </p:cTn>
                              </p:par>
                              <p:par>
                                <p:cTn id="73" presetID="10" presetClass="exit" presetSubtype="0" fill="hold" grpId="1" nodeType="withEffect">
                                  <p:stCondLst>
                                    <p:cond delay="0"/>
                                  </p:stCondLst>
                                  <p:childTnLst>
                                    <p:animEffect transition="out" filter="fade">
                                      <p:cBhvr>
                                        <p:cTn id="74" dur="500"/>
                                        <p:tgtEl>
                                          <p:spTgt spid="37"/>
                                        </p:tgtEl>
                                      </p:cBhvr>
                                    </p:animEffect>
                                    <p:set>
                                      <p:cBhvr>
                                        <p:cTn id="75" dur="1" fill="hold">
                                          <p:stCondLst>
                                            <p:cond delay="499"/>
                                          </p:stCondLst>
                                        </p:cTn>
                                        <p:tgtEl>
                                          <p:spTgt spid="3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 grpId="0"/>
      <p:bldP spid="11" grpId="0" uiExpand="1" build="allAtOnce"/>
      <p:bldP spid="8" grpId="0"/>
      <p:bldP spid="8" grpId="1"/>
      <p:bldP spid="12" grpId="0"/>
      <p:bldP spid="12" grpId="1"/>
      <p:bldP spid="37" grpId="0" animBg="1"/>
      <p:bldP spid="37" grpId="1"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8"/>
          <p:cNvGrpSpPr/>
          <p:nvPr/>
        </p:nvGrpSpPr>
        <p:grpSpPr>
          <a:xfrm>
            <a:off x="2983453" y="2913430"/>
            <a:ext cx="3816942" cy="321529"/>
            <a:chOff x="2866717" y="3191780"/>
            <a:chExt cx="3816942" cy="321529"/>
          </a:xfrm>
        </p:grpSpPr>
        <p:pic>
          <p:nvPicPr>
            <p:cNvPr id="313" name="Picture 312"/>
            <p:cNvPicPr>
              <a:picLocks noChangeAspect="1"/>
            </p:cNvPicPr>
            <p:nvPr/>
          </p:nvPicPr>
          <p:blipFill rotWithShape="1">
            <a:blip r:embed="rId3">
              <a:extLst>
                <a:ext uri="{28A0092B-C50C-407E-A947-70E740481C1C}">
                  <a14:useLocalDpi xmlns:a14="http://schemas.microsoft.com/office/drawing/2010/main" val="0"/>
                </a:ext>
              </a:extLst>
            </a:blip>
            <a:srcRect l="84464" t="22730" r="12989" b="66360"/>
            <a:stretch/>
          </p:blipFill>
          <p:spPr>
            <a:xfrm>
              <a:off x="5651012" y="3191780"/>
              <a:ext cx="266701" cy="278131"/>
            </a:xfrm>
            <a:prstGeom prst="rect">
              <a:avLst/>
            </a:prstGeom>
          </p:spPr>
        </p:pic>
        <p:grpSp>
          <p:nvGrpSpPr>
            <p:cNvPr id="310" name="Group 309"/>
            <p:cNvGrpSpPr/>
            <p:nvPr/>
          </p:nvGrpSpPr>
          <p:grpSpPr>
            <a:xfrm>
              <a:off x="4248681" y="3205532"/>
              <a:ext cx="295936" cy="307777"/>
              <a:chOff x="872685" y="2929409"/>
              <a:chExt cx="295936" cy="307777"/>
            </a:xfrm>
          </p:grpSpPr>
          <p:sp>
            <p:nvSpPr>
              <p:cNvPr id="316" name="TextBox 315"/>
              <p:cNvSpPr txBox="1"/>
              <p:nvPr/>
            </p:nvSpPr>
            <p:spPr>
              <a:xfrm>
                <a:off x="969849" y="2929409"/>
                <a:ext cx="198772" cy="307777"/>
              </a:xfrm>
              <a:prstGeom prst="rect">
                <a:avLst/>
              </a:prstGeom>
              <a:noFill/>
            </p:spPr>
            <p:txBody>
              <a:bodyPr wrap="none" lIns="0" tIns="0" rIns="0" bIns="0" rtlCol="0">
                <a:spAutoFit/>
              </a:bodyPr>
              <a:lstStyle/>
              <a:p>
                <a:r>
                  <a:rPr lang="en-US" sz="2000" dirty="0" smtClean="0">
                    <a:ln w="6350">
                      <a:solidFill>
                        <a:schemeClr val="tx1"/>
                      </a:solidFill>
                    </a:ln>
                    <a:solidFill>
                      <a:srgbClr val="000000"/>
                    </a:solidFill>
                    <a:latin typeface="Arial Black" panose="020B0A04020102020204" pitchFamily="34" charset="0"/>
                  </a:rPr>
                  <a:t>A</a:t>
                </a:r>
                <a:endParaRPr lang="en-US" sz="2400" dirty="0">
                  <a:ln w="6350">
                    <a:solidFill>
                      <a:schemeClr val="tx1"/>
                    </a:solidFill>
                  </a:ln>
                  <a:solidFill>
                    <a:srgbClr val="000000"/>
                  </a:solidFill>
                  <a:latin typeface="Arial Black" panose="020B0A04020102020204" pitchFamily="34" charset="0"/>
                </a:endParaRPr>
              </a:p>
            </p:txBody>
          </p:sp>
          <p:pic>
            <p:nvPicPr>
              <p:cNvPr id="317" name="Picture 2" descr="https://cloud.google.com/hadoop/images/hadoop-elephant.png"/>
              <p:cNvPicPr>
                <a:picLocks noChangeAspect="1" noChangeArrowheads="1"/>
              </p:cNvPicPr>
              <p:nvPr/>
            </p:nvPicPr>
            <p:blipFill>
              <a:blip r:embed="rId4"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872685" y="3051593"/>
                <a:ext cx="202248" cy="144580"/>
              </a:xfrm>
              <a:prstGeom prst="rect">
                <a:avLst/>
              </a:prstGeom>
              <a:noFill/>
              <a:ln w="28575">
                <a:noFill/>
              </a:ln>
              <a:extLst>
                <a:ext uri="{909E8E84-426E-40DD-AFC4-6F175D3DCCD1}">
                  <a14:hiddenFill xmlns:a14="http://schemas.microsoft.com/office/drawing/2010/main">
                    <a:solidFill>
                      <a:srgbClr val="FFFFFF"/>
                    </a:solidFill>
                  </a14:hiddenFill>
                </a:ext>
              </a:extLst>
            </p:spPr>
          </p:pic>
        </p:grpSp>
        <p:sp>
          <p:nvSpPr>
            <p:cNvPr id="322" name="TextBox 321"/>
            <p:cNvSpPr txBox="1"/>
            <p:nvPr/>
          </p:nvSpPr>
          <p:spPr>
            <a:xfrm>
              <a:off x="2866717" y="3220921"/>
              <a:ext cx="3816942" cy="276999"/>
            </a:xfrm>
            <a:prstGeom prst="rect">
              <a:avLst/>
            </a:prstGeom>
            <a:noFill/>
          </p:spPr>
          <p:txBody>
            <a:bodyPr wrap="none" lIns="0" tIns="0" rIns="0" bIns="0" rtlCol="0">
              <a:spAutoFit/>
            </a:bodyPr>
            <a:lstStyle/>
            <a:p>
              <a:r>
                <a:rPr lang="en-US" dirty="0" smtClean="0"/>
                <a:t>Clients choose        this often:        (100%)</a:t>
              </a:r>
              <a:endParaRPr lang="en-US" dirty="0"/>
            </a:p>
          </p:txBody>
        </p:sp>
      </p:grpSp>
      <p:grpSp>
        <p:nvGrpSpPr>
          <p:cNvPr id="10" name="Group 9"/>
          <p:cNvGrpSpPr/>
          <p:nvPr/>
        </p:nvGrpSpPr>
        <p:grpSpPr>
          <a:xfrm rot="389786">
            <a:off x="6948385" y="2023517"/>
            <a:ext cx="1885950" cy="2352675"/>
            <a:chOff x="6962775" y="2352675"/>
            <a:chExt cx="2181225" cy="2352675"/>
          </a:xfrm>
        </p:grpSpPr>
        <p:sp>
          <p:nvSpPr>
            <p:cNvPr id="6" name="Rounded Rectangle 5"/>
            <p:cNvSpPr/>
            <p:nvPr/>
          </p:nvSpPr>
          <p:spPr>
            <a:xfrm>
              <a:off x="6962775" y="2352675"/>
              <a:ext cx="2181225" cy="2352675"/>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nSpc>
                  <a:spcPct val="75000"/>
                </a:lnSpc>
              </a:pPr>
              <a:endParaRPr lang="en-US" sz="1600" dirty="0" smtClean="0">
                <a:solidFill>
                  <a:schemeClr val="tx1"/>
                </a:solidFill>
                <a:latin typeface="+mj-lt"/>
              </a:endParaRPr>
            </a:p>
            <a:p>
              <a:pPr>
                <a:lnSpc>
                  <a:spcPct val="75000"/>
                </a:lnSpc>
              </a:pPr>
              <a:endParaRPr lang="en-US" sz="1600" dirty="0">
                <a:solidFill>
                  <a:schemeClr val="tx1"/>
                </a:solidFill>
                <a:latin typeface="+mj-lt"/>
              </a:endParaRPr>
            </a:p>
            <a:p>
              <a:pPr>
                <a:lnSpc>
                  <a:spcPct val="75000"/>
                </a:lnSpc>
              </a:pPr>
              <a:endParaRPr lang="en-US" sz="1600" dirty="0" smtClean="0">
                <a:solidFill>
                  <a:schemeClr val="tx1"/>
                </a:solidFill>
                <a:latin typeface="+mj-lt"/>
              </a:endParaRPr>
            </a:p>
            <a:p>
              <a:pPr>
                <a:lnSpc>
                  <a:spcPct val="75000"/>
                </a:lnSpc>
              </a:pPr>
              <a:r>
                <a:rPr lang="en-US" sz="1600" dirty="0" smtClean="0">
                  <a:solidFill>
                    <a:schemeClr val="tx1"/>
                  </a:solidFill>
                  <a:latin typeface="+mj-lt"/>
                </a:rPr>
                <a:t>Same machine?</a:t>
              </a:r>
            </a:p>
            <a:p>
              <a:pPr>
                <a:lnSpc>
                  <a:spcPct val="75000"/>
                </a:lnSpc>
              </a:pPr>
              <a:r>
                <a:rPr lang="en-US" sz="1600" dirty="0">
                  <a:solidFill>
                    <a:schemeClr val="tx1"/>
                  </a:solidFill>
                  <a:latin typeface="+mj-lt"/>
                </a:rPr>
                <a:t> </a:t>
              </a:r>
              <a:r>
                <a:rPr lang="en-US" sz="1600" dirty="0" smtClean="0">
                  <a:solidFill>
                    <a:schemeClr val="tx1"/>
                  </a:solidFill>
                  <a:latin typeface="+mj-lt"/>
                </a:rPr>
                <a:t> -&gt; read local</a:t>
              </a:r>
            </a:p>
            <a:p>
              <a:pPr>
                <a:lnSpc>
                  <a:spcPct val="75000"/>
                </a:lnSpc>
              </a:pPr>
              <a:endParaRPr lang="en-US" sz="1600" dirty="0" smtClean="0">
                <a:solidFill>
                  <a:schemeClr val="tx1"/>
                </a:solidFill>
                <a:latin typeface="+mj-lt"/>
              </a:endParaRPr>
            </a:p>
            <a:p>
              <a:pPr>
                <a:lnSpc>
                  <a:spcPct val="75000"/>
                </a:lnSpc>
              </a:pPr>
              <a:r>
                <a:rPr lang="en-US" sz="1600" dirty="0" smtClean="0">
                  <a:solidFill>
                    <a:schemeClr val="tx1"/>
                  </a:solidFill>
                  <a:latin typeface="+mj-lt"/>
                </a:rPr>
                <a:t>Same rack?</a:t>
              </a:r>
            </a:p>
            <a:p>
              <a:pPr>
                <a:lnSpc>
                  <a:spcPct val="75000"/>
                </a:lnSpc>
              </a:pPr>
              <a:r>
                <a:rPr lang="en-US" sz="1600" dirty="0">
                  <a:solidFill>
                    <a:schemeClr val="tx1"/>
                  </a:solidFill>
                  <a:latin typeface="+mj-lt"/>
                </a:rPr>
                <a:t> </a:t>
              </a:r>
              <a:r>
                <a:rPr lang="en-US" sz="1600" dirty="0" smtClean="0">
                  <a:solidFill>
                    <a:schemeClr val="tx1"/>
                  </a:solidFill>
                  <a:latin typeface="+mj-lt"/>
                </a:rPr>
                <a:t> -&gt; read rack-local</a:t>
              </a:r>
            </a:p>
            <a:p>
              <a:pPr>
                <a:lnSpc>
                  <a:spcPct val="75000"/>
                </a:lnSpc>
              </a:pPr>
              <a:endParaRPr lang="en-US" sz="1600" dirty="0" smtClean="0">
                <a:solidFill>
                  <a:schemeClr val="tx1"/>
                </a:solidFill>
                <a:latin typeface="+mj-lt"/>
              </a:endParaRPr>
            </a:p>
            <a:p>
              <a:pPr>
                <a:lnSpc>
                  <a:spcPct val="75000"/>
                </a:lnSpc>
              </a:pPr>
              <a:r>
                <a:rPr lang="en-US" sz="1600" dirty="0" smtClean="0">
                  <a:solidFill>
                    <a:schemeClr val="tx1"/>
                  </a:solidFill>
                  <a:latin typeface="+mj-lt"/>
                </a:rPr>
                <a:t>Otherwise</a:t>
              </a:r>
            </a:p>
            <a:p>
              <a:pPr>
                <a:lnSpc>
                  <a:spcPct val="75000"/>
                </a:lnSpc>
              </a:pPr>
              <a:r>
                <a:rPr lang="en-US" sz="1600" dirty="0">
                  <a:solidFill>
                    <a:schemeClr val="tx1"/>
                  </a:solidFill>
                  <a:latin typeface="+mj-lt"/>
                </a:rPr>
                <a:t> </a:t>
              </a:r>
              <a:r>
                <a:rPr lang="en-US" sz="1600" dirty="0" smtClean="0">
                  <a:solidFill>
                    <a:schemeClr val="tx1"/>
                  </a:solidFill>
                  <a:latin typeface="+mj-lt"/>
                </a:rPr>
                <a:t>-&gt; select randomly</a:t>
              </a:r>
              <a:endParaRPr lang="en-US" sz="1600" dirty="0">
                <a:solidFill>
                  <a:schemeClr val="tx1"/>
                </a:solidFill>
                <a:latin typeface="+mj-lt"/>
              </a:endParaRPr>
            </a:p>
          </p:txBody>
        </p:sp>
        <p:sp>
          <p:nvSpPr>
            <p:cNvPr id="7" name="TextBox 6"/>
            <p:cNvSpPr txBox="1"/>
            <p:nvPr/>
          </p:nvSpPr>
          <p:spPr>
            <a:xfrm>
              <a:off x="7232393" y="2352675"/>
              <a:ext cx="1641988" cy="541046"/>
            </a:xfrm>
            <a:prstGeom prst="rect">
              <a:avLst/>
            </a:prstGeom>
            <a:noFill/>
          </p:spPr>
          <p:txBody>
            <a:bodyPr wrap="none" rtlCol="0">
              <a:spAutoFit/>
            </a:bodyPr>
            <a:lstStyle/>
            <a:p>
              <a:pPr algn="ctr">
                <a:lnSpc>
                  <a:spcPct val="80000"/>
                </a:lnSpc>
              </a:pPr>
              <a:r>
                <a:rPr lang="en-US" dirty="0" smtClean="0"/>
                <a:t>HDFS Replica </a:t>
              </a:r>
            </a:p>
            <a:p>
              <a:pPr algn="ctr">
                <a:lnSpc>
                  <a:spcPct val="80000"/>
                </a:lnSpc>
              </a:pPr>
              <a:r>
                <a:rPr lang="en-US" dirty="0" smtClean="0"/>
                <a:t>Selection Policy</a:t>
              </a:r>
              <a:endParaRPr lang="en-US" dirty="0"/>
            </a:p>
          </p:txBody>
        </p:sp>
        <p:cxnSp>
          <p:nvCxnSpPr>
            <p:cNvPr id="9" name="Straight Connector 8"/>
            <p:cNvCxnSpPr/>
            <p:nvPr/>
          </p:nvCxnSpPr>
          <p:spPr>
            <a:xfrm>
              <a:off x="6962775" y="2894231"/>
              <a:ext cx="21812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6908186" y="168893"/>
            <a:ext cx="1721018" cy="1569660"/>
            <a:chOff x="2042417" y="2020656"/>
            <a:chExt cx="1721018" cy="1569660"/>
          </a:xfrm>
        </p:grpSpPr>
        <p:grpSp>
          <p:nvGrpSpPr>
            <p:cNvPr id="47" name="Group 46"/>
            <p:cNvGrpSpPr/>
            <p:nvPr/>
          </p:nvGrpSpPr>
          <p:grpSpPr>
            <a:xfrm>
              <a:off x="2042417" y="2276342"/>
              <a:ext cx="1721018" cy="1237104"/>
              <a:chOff x="4941133" y="3455754"/>
              <a:chExt cx="3764717" cy="2706157"/>
            </a:xfrm>
          </p:grpSpPr>
          <p:pic>
            <p:nvPicPr>
              <p:cNvPr id="49" name="Picture 4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41133" y="3455754"/>
                <a:ext cx="3764717" cy="2706157"/>
              </a:xfrm>
              <a:prstGeom prst="rect">
                <a:avLst/>
              </a:prstGeom>
            </p:spPr>
          </p:pic>
          <p:sp>
            <p:nvSpPr>
              <p:cNvPr id="50" name="Rectangle 49"/>
              <p:cNvSpPr/>
              <p:nvPr/>
            </p:nvSpPr>
            <p:spPr>
              <a:xfrm>
                <a:off x="5668297" y="3455754"/>
                <a:ext cx="2847053" cy="5211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8" name="TextBox 47"/>
            <p:cNvSpPr txBox="1"/>
            <p:nvPr/>
          </p:nvSpPr>
          <p:spPr>
            <a:xfrm>
              <a:off x="2675636" y="2020656"/>
              <a:ext cx="755335" cy="1569660"/>
            </a:xfrm>
            <a:prstGeom prst="rect">
              <a:avLst/>
            </a:prstGeom>
            <a:noFill/>
          </p:spPr>
          <p:txBody>
            <a:bodyPr wrap="none" rtlCol="0">
              <a:spAutoFit/>
            </a:bodyPr>
            <a:lstStyle/>
            <a:p>
              <a:r>
                <a:rPr lang="en-US" sz="9600" dirty="0" smtClean="0">
                  <a:ln w="28575">
                    <a:solidFill>
                      <a:schemeClr val="tx1"/>
                    </a:solidFill>
                  </a:ln>
                  <a:solidFill>
                    <a:schemeClr val="bg1"/>
                  </a:solidFill>
                </a:rPr>
                <a:t>?</a:t>
              </a:r>
              <a:endParaRPr lang="en-US" sz="9600" dirty="0">
                <a:ln w="28575">
                  <a:solidFill>
                    <a:schemeClr val="tx1"/>
                  </a:solidFill>
                </a:ln>
                <a:solidFill>
                  <a:schemeClr val="bg1"/>
                </a:solidFill>
              </a:endParaRPr>
            </a:p>
          </p:txBody>
        </p:sp>
      </p:grpSp>
      <p:grpSp>
        <p:nvGrpSpPr>
          <p:cNvPr id="57" name="Group 56"/>
          <p:cNvGrpSpPr/>
          <p:nvPr/>
        </p:nvGrpSpPr>
        <p:grpSpPr>
          <a:xfrm>
            <a:off x="7006618" y="2825847"/>
            <a:ext cx="1474287" cy="162270"/>
            <a:chOff x="7006618" y="2825847"/>
            <a:chExt cx="1474287" cy="162270"/>
          </a:xfrm>
        </p:grpSpPr>
        <p:cxnSp>
          <p:nvCxnSpPr>
            <p:cNvPr id="54" name="Straight Connector 53"/>
            <p:cNvCxnSpPr/>
            <p:nvPr/>
          </p:nvCxnSpPr>
          <p:spPr>
            <a:xfrm rot="360000">
              <a:off x="7017865" y="2825847"/>
              <a:ext cx="146304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rot="360000">
              <a:off x="7006618" y="2988117"/>
              <a:ext cx="146304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2" name="New Graph"/>
          <p:cNvGrpSpPr/>
          <p:nvPr/>
        </p:nvGrpSpPr>
        <p:grpSpPr>
          <a:xfrm>
            <a:off x="3539266" y="280997"/>
            <a:ext cx="2523895" cy="2384831"/>
            <a:chOff x="1055200" y="4196891"/>
            <a:chExt cx="2523895" cy="2384831"/>
          </a:xfrm>
        </p:grpSpPr>
        <p:pic>
          <p:nvPicPr>
            <p:cNvPr id="253" name="Picture 252"/>
            <p:cNvPicPr>
              <a:picLocks noChangeAspect="1"/>
            </p:cNvPicPr>
            <p:nvPr/>
          </p:nvPicPr>
          <p:blipFill rotWithShape="1">
            <a:blip r:embed="rId3">
              <a:extLst>
                <a:ext uri="{28A0092B-C50C-407E-A947-70E740481C1C}">
                  <a14:useLocalDpi xmlns:a14="http://schemas.microsoft.com/office/drawing/2010/main" val="0"/>
                </a:ext>
              </a:extLst>
            </a:blip>
            <a:srcRect l="79989" t="22730" r="204" b="-816"/>
            <a:stretch/>
          </p:blipFill>
          <p:spPr>
            <a:xfrm>
              <a:off x="1504950" y="4591049"/>
              <a:ext cx="2074145" cy="1990673"/>
            </a:xfrm>
            <a:prstGeom prst="rect">
              <a:avLst/>
            </a:prstGeom>
          </p:spPr>
        </p:pic>
        <p:grpSp>
          <p:nvGrpSpPr>
            <p:cNvPr id="254" name="Group 253"/>
            <p:cNvGrpSpPr/>
            <p:nvPr/>
          </p:nvGrpSpPr>
          <p:grpSpPr>
            <a:xfrm>
              <a:off x="1406649" y="4196891"/>
              <a:ext cx="2093133" cy="388558"/>
              <a:chOff x="2373813" y="3544457"/>
              <a:chExt cx="2579474" cy="478839"/>
            </a:xfrm>
          </p:grpSpPr>
          <p:grpSp>
            <p:nvGrpSpPr>
              <p:cNvPr id="280" name="Group 279"/>
              <p:cNvGrpSpPr/>
              <p:nvPr/>
            </p:nvGrpSpPr>
            <p:grpSpPr>
              <a:xfrm>
                <a:off x="3009019" y="3544457"/>
                <a:ext cx="376946" cy="478839"/>
                <a:chOff x="-548806" y="2595022"/>
                <a:chExt cx="599133" cy="761087"/>
              </a:xfrm>
            </p:grpSpPr>
            <p:sp>
              <p:nvSpPr>
                <p:cNvPr id="302" name="TextBox 301"/>
                <p:cNvSpPr txBox="1"/>
                <p:nvPr/>
              </p:nvSpPr>
              <p:spPr>
                <a:xfrm>
                  <a:off x="-339018" y="2595022"/>
                  <a:ext cx="389345" cy="602857"/>
                </a:xfrm>
                <a:prstGeom prst="rect">
                  <a:avLst/>
                </a:prstGeom>
                <a:noFill/>
              </p:spPr>
              <p:txBody>
                <a:bodyPr wrap="none" lIns="0" tIns="0" rIns="0" bIns="0" rtlCol="0">
                  <a:spAutoFit/>
                </a:bodyPr>
                <a:lstStyle/>
                <a:p>
                  <a:r>
                    <a:rPr lang="en-US" sz="2000" dirty="0" smtClean="0">
                      <a:ln w="6350">
                        <a:solidFill>
                          <a:schemeClr val="tx1"/>
                        </a:solidFill>
                      </a:ln>
                      <a:solidFill>
                        <a:schemeClr val="accent4">
                          <a:lumMod val="60000"/>
                          <a:lumOff val="40000"/>
                        </a:schemeClr>
                      </a:solidFill>
                      <a:latin typeface="Arial Black" panose="020B0A04020102020204" pitchFamily="34" charset="0"/>
                    </a:rPr>
                    <a:t>C</a:t>
                  </a:r>
                  <a:endParaRPr lang="en-US" sz="2400" dirty="0">
                    <a:ln w="6350">
                      <a:solidFill>
                        <a:schemeClr val="tx1"/>
                      </a:solidFill>
                    </a:ln>
                    <a:solidFill>
                      <a:schemeClr val="accent4">
                        <a:lumMod val="60000"/>
                        <a:lumOff val="40000"/>
                      </a:schemeClr>
                    </a:solidFill>
                    <a:latin typeface="Arial Black" panose="020B0A04020102020204" pitchFamily="34" charset="0"/>
                  </a:endParaRPr>
                </a:p>
              </p:txBody>
            </p:sp>
            <p:pic>
              <p:nvPicPr>
                <p:cNvPr id="303" name="Picture 2" descr="https://cloud.google.com/hadoop/images/hadoop-elephant.png"/>
                <p:cNvPicPr>
                  <a:picLocks noChangeAspect="1" noChangeArrowheads="1"/>
                </p:cNvPicPr>
                <p:nvPr/>
              </p:nvPicPr>
              <p:blipFill>
                <a:blip r:embed="rId6"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48806" y="3043945"/>
                  <a:ext cx="436678" cy="312164"/>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nvGrpSpPr>
              <p:cNvPr id="281" name="Group 280"/>
              <p:cNvGrpSpPr/>
              <p:nvPr/>
            </p:nvGrpSpPr>
            <p:grpSpPr>
              <a:xfrm>
                <a:off x="3942591" y="3544457"/>
                <a:ext cx="343363" cy="478839"/>
                <a:chOff x="-548806" y="2595022"/>
                <a:chExt cx="545754" cy="761087"/>
              </a:xfrm>
            </p:grpSpPr>
            <p:sp>
              <p:nvSpPr>
                <p:cNvPr id="300" name="TextBox 299"/>
                <p:cNvSpPr txBox="1"/>
                <p:nvPr/>
              </p:nvSpPr>
              <p:spPr>
                <a:xfrm>
                  <a:off x="-339019" y="2595022"/>
                  <a:ext cx="335967" cy="602857"/>
                </a:xfrm>
                <a:prstGeom prst="rect">
                  <a:avLst/>
                </a:prstGeom>
                <a:noFill/>
              </p:spPr>
              <p:txBody>
                <a:bodyPr wrap="none" lIns="0" tIns="0" rIns="0" bIns="0" rtlCol="0">
                  <a:spAutoFit/>
                </a:bodyPr>
                <a:lstStyle/>
                <a:p>
                  <a:r>
                    <a:rPr lang="en-US" sz="2000" dirty="0" smtClean="0">
                      <a:ln w="6350">
                        <a:solidFill>
                          <a:schemeClr val="tx1"/>
                        </a:solidFill>
                      </a:ln>
                      <a:solidFill>
                        <a:schemeClr val="accent5">
                          <a:lumMod val="75000"/>
                        </a:schemeClr>
                      </a:solidFill>
                      <a:latin typeface="Arial Black" panose="020B0A04020102020204" pitchFamily="34" charset="0"/>
                    </a:rPr>
                    <a:t>F</a:t>
                  </a:r>
                  <a:endParaRPr lang="en-US" sz="2400" dirty="0">
                    <a:ln w="6350">
                      <a:solidFill>
                        <a:schemeClr val="tx1"/>
                      </a:solidFill>
                    </a:ln>
                    <a:solidFill>
                      <a:schemeClr val="accent5">
                        <a:lumMod val="75000"/>
                      </a:schemeClr>
                    </a:solidFill>
                    <a:latin typeface="Arial Black" panose="020B0A04020102020204" pitchFamily="34" charset="0"/>
                  </a:endParaRPr>
                </a:p>
              </p:txBody>
            </p:sp>
            <p:pic>
              <p:nvPicPr>
                <p:cNvPr id="301" name="Picture 2" descr="https://cloud.google.com/hadoop/images/hadoop-elephant.png"/>
                <p:cNvPicPr>
                  <a:picLocks noChangeAspect="1" noChangeArrowheads="1"/>
                </p:cNvPicPr>
                <p:nvPr/>
              </p:nvPicPr>
              <p:blipFill>
                <a:blip r:embed="rId6"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48806" y="3043945"/>
                  <a:ext cx="436678" cy="312164"/>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nvGrpSpPr>
              <p:cNvPr id="282" name="Group 281"/>
              <p:cNvGrpSpPr/>
              <p:nvPr/>
            </p:nvGrpSpPr>
            <p:grpSpPr>
              <a:xfrm>
                <a:off x="2373813" y="3544457"/>
                <a:ext cx="376946" cy="478839"/>
                <a:chOff x="-548806" y="2595022"/>
                <a:chExt cx="599133" cy="761087"/>
              </a:xfrm>
            </p:grpSpPr>
            <p:sp>
              <p:nvSpPr>
                <p:cNvPr id="298" name="TextBox 297"/>
                <p:cNvSpPr txBox="1"/>
                <p:nvPr/>
              </p:nvSpPr>
              <p:spPr>
                <a:xfrm>
                  <a:off x="-339018" y="2595022"/>
                  <a:ext cx="389345" cy="602857"/>
                </a:xfrm>
                <a:prstGeom prst="rect">
                  <a:avLst/>
                </a:prstGeom>
                <a:noFill/>
              </p:spPr>
              <p:txBody>
                <a:bodyPr wrap="none" lIns="0" tIns="0" rIns="0" bIns="0" rtlCol="0">
                  <a:spAutoFit/>
                </a:bodyPr>
                <a:lstStyle/>
                <a:p>
                  <a:r>
                    <a:rPr lang="en-US" sz="2000" dirty="0" smtClean="0">
                      <a:ln w="6350">
                        <a:solidFill>
                          <a:schemeClr val="tx1"/>
                        </a:solidFill>
                      </a:ln>
                      <a:solidFill>
                        <a:srgbClr val="000000"/>
                      </a:solidFill>
                      <a:latin typeface="Arial Black" panose="020B0A04020102020204" pitchFamily="34" charset="0"/>
                    </a:rPr>
                    <a:t>A</a:t>
                  </a:r>
                  <a:endParaRPr lang="en-US" sz="2400" dirty="0">
                    <a:ln w="6350">
                      <a:solidFill>
                        <a:schemeClr val="tx1"/>
                      </a:solidFill>
                    </a:ln>
                    <a:solidFill>
                      <a:srgbClr val="000000"/>
                    </a:solidFill>
                    <a:latin typeface="Arial Black" panose="020B0A04020102020204" pitchFamily="34" charset="0"/>
                  </a:endParaRPr>
                </a:p>
              </p:txBody>
            </p:sp>
            <p:pic>
              <p:nvPicPr>
                <p:cNvPr id="299" name="Picture 2" descr="https://cloud.google.com/hadoop/images/hadoop-elephant.png"/>
                <p:cNvPicPr>
                  <a:picLocks noChangeAspect="1" noChangeArrowheads="1"/>
                </p:cNvPicPr>
                <p:nvPr/>
              </p:nvPicPr>
              <p:blipFill>
                <a:blip r:embed="rId6"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48806" y="3043945"/>
                  <a:ext cx="436678" cy="312164"/>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nvGrpSpPr>
              <p:cNvPr id="283" name="Group 282"/>
              <p:cNvGrpSpPr/>
              <p:nvPr/>
            </p:nvGrpSpPr>
            <p:grpSpPr>
              <a:xfrm>
                <a:off x="3326622" y="3544457"/>
                <a:ext cx="376946" cy="478839"/>
                <a:chOff x="-548806" y="2595022"/>
                <a:chExt cx="599133" cy="761087"/>
              </a:xfrm>
            </p:grpSpPr>
            <p:sp>
              <p:nvSpPr>
                <p:cNvPr id="296" name="TextBox 295"/>
                <p:cNvSpPr txBox="1"/>
                <p:nvPr/>
              </p:nvSpPr>
              <p:spPr>
                <a:xfrm>
                  <a:off x="-339018" y="2595022"/>
                  <a:ext cx="389345" cy="602857"/>
                </a:xfrm>
                <a:prstGeom prst="rect">
                  <a:avLst/>
                </a:prstGeom>
                <a:noFill/>
              </p:spPr>
              <p:txBody>
                <a:bodyPr wrap="none" lIns="0" tIns="0" rIns="0" bIns="0" rtlCol="0">
                  <a:spAutoFit/>
                </a:bodyPr>
                <a:lstStyle/>
                <a:p>
                  <a:r>
                    <a:rPr lang="en-US" sz="2000" dirty="0" smtClean="0">
                      <a:ln w="6350">
                        <a:solidFill>
                          <a:schemeClr val="tx1"/>
                        </a:solidFill>
                      </a:ln>
                      <a:solidFill>
                        <a:srgbClr val="4472C4"/>
                      </a:solidFill>
                      <a:latin typeface="Arial Black" panose="020B0A04020102020204" pitchFamily="34" charset="0"/>
                    </a:rPr>
                    <a:t>D</a:t>
                  </a:r>
                  <a:endParaRPr lang="en-US" sz="2400" dirty="0">
                    <a:ln w="6350">
                      <a:solidFill>
                        <a:schemeClr val="tx1"/>
                      </a:solidFill>
                    </a:ln>
                    <a:solidFill>
                      <a:srgbClr val="4472C4"/>
                    </a:solidFill>
                    <a:latin typeface="Arial Black" panose="020B0A04020102020204" pitchFamily="34" charset="0"/>
                  </a:endParaRPr>
                </a:p>
              </p:txBody>
            </p:sp>
            <p:pic>
              <p:nvPicPr>
                <p:cNvPr id="297" name="Picture 2" descr="https://cloud.google.com/hadoop/images/hadoop-elephant.png"/>
                <p:cNvPicPr>
                  <a:picLocks noChangeAspect="1" noChangeArrowheads="1"/>
                </p:cNvPicPr>
                <p:nvPr/>
              </p:nvPicPr>
              <p:blipFill>
                <a:blip r:embed="rId6"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48806" y="3043945"/>
                  <a:ext cx="436678" cy="312164"/>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nvGrpSpPr>
              <p:cNvPr id="284" name="Group 283"/>
              <p:cNvGrpSpPr/>
              <p:nvPr/>
            </p:nvGrpSpPr>
            <p:grpSpPr>
              <a:xfrm>
                <a:off x="3644225" y="3544457"/>
                <a:ext cx="361141" cy="478839"/>
                <a:chOff x="-548806" y="2595022"/>
                <a:chExt cx="574012" cy="761087"/>
              </a:xfrm>
            </p:grpSpPr>
            <p:sp>
              <p:nvSpPr>
                <p:cNvPr id="294" name="TextBox 293"/>
                <p:cNvSpPr txBox="1"/>
                <p:nvPr/>
              </p:nvSpPr>
              <p:spPr>
                <a:xfrm>
                  <a:off x="-339020" y="2595022"/>
                  <a:ext cx="364226" cy="602857"/>
                </a:xfrm>
                <a:prstGeom prst="rect">
                  <a:avLst/>
                </a:prstGeom>
                <a:noFill/>
              </p:spPr>
              <p:txBody>
                <a:bodyPr wrap="none" lIns="0" tIns="0" rIns="0" bIns="0" rtlCol="0">
                  <a:spAutoFit/>
                </a:bodyPr>
                <a:lstStyle/>
                <a:p>
                  <a:r>
                    <a:rPr lang="en-US" sz="2000" dirty="0" smtClean="0">
                      <a:ln w="6350">
                        <a:solidFill>
                          <a:schemeClr val="tx1"/>
                        </a:solidFill>
                      </a:ln>
                      <a:solidFill>
                        <a:srgbClr val="F09354"/>
                      </a:solidFill>
                      <a:latin typeface="Arial Black" panose="020B0A04020102020204" pitchFamily="34" charset="0"/>
                    </a:rPr>
                    <a:t>E</a:t>
                  </a:r>
                  <a:endParaRPr lang="en-US" sz="2400" dirty="0">
                    <a:ln w="6350">
                      <a:solidFill>
                        <a:schemeClr val="tx1"/>
                      </a:solidFill>
                    </a:ln>
                    <a:solidFill>
                      <a:srgbClr val="F09354"/>
                    </a:solidFill>
                    <a:latin typeface="Arial Black" panose="020B0A04020102020204" pitchFamily="34" charset="0"/>
                  </a:endParaRPr>
                </a:p>
              </p:txBody>
            </p:sp>
            <p:pic>
              <p:nvPicPr>
                <p:cNvPr id="295" name="Picture 2" descr="https://cloud.google.com/hadoop/images/hadoop-elephant.png"/>
                <p:cNvPicPr>
                  <a:picLocks noChangeAspect="1" noChangeArrowheads="1"/>
                </p:cNvPicPr>
                <p:nvPr/>
              </p:nvPicPr>
              <p:blipFill>
                <a:blip r:embed="rId6"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48806" y="3043945"/>
                  <a:ext cx="436678" cy="312164"/>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nvGrpSpPr>
              <p:cNvPr id="285" name="Group 284"/>
              <p:cNvGrpSpPr/>
              <p:nvPr/>
            </p:nvGrpSpPr>
            <p:grpSpPr>
              <a:xfrm>
                <a:off x="4558562" y="3544457"/>
                <a:ext cx="394725" cy="478839"/>
                <a:chOff x="-503389" y="2595022"/>
                <a:chExt cx="627393" cy="761087"/>
              </a:xfrm>
            </p:grpSpPr>
            <p:sp>
              <p:nvSpPr>
                <p:cNvPr id="292" name="TextBox 291"/>
                <p:cNvSpPr txBox="1"/>
                <p:nvPr/>
              </p:nvSpPr>
              <p:spPr>
                <a:xfrm>
                  <a:off x="-293601" y="2595022"/>
                  <a:ext cx="417605" cy="602857"/>
                </a:xfrm>
                <a:prstGeom prst="rect">
                  <a:avLst/>
                </a:prstGeom>
                <a:noFill/>
              </p:spPr>
              <p:txBody>
                <a:bodyPr wrap="none" lIns="0" tIns="0" rIns="0" bIns="0" rtlCol="0">
                  <a:spAutoFit/>
                </a:bodyPr>
                <a:lstStyle/>
                <a:p>
                  <a:r>
                    <a:rPr lang="en-US" sz="2000" dirty="0" smtClean="0">
                      <a:ln w="6350">
                        <a:solidFill>
                          <a:schemeClr val="tx1"/>
                        </a:solidFill>
                      </a:ln>
                      <a:solidFill>
                        <a:srgbClr val="95C673"/>
                      </a:solidFill>
                      <a:latin typeface="Arial Black" panose="020B0A04020102020204" pitchFamily="34" charset="0"/>
                    </a:rPr>
                    <a:t>H</a:t>
                  </a:r>
                  <a:endParaRPr lang="en-US" sz="2400" dirty="0">
                    <a:ln w="6350">
                      <a:solidFill>
                        <a:schemeClr val="tx1"/>
                      </a:solidFill>
                    </a:ln>
                    <a:solidFill>
                      <a:srgbClr val="95C673"/>
                    </a:solidFill>
                    <a:latin typeface="Arial Black" panose="020B0A04020102020204" pitchFamily="34" charset="0"/>
                  </a:endParaRPr>
                </a:p>
              </p:txBody>
            </p:sp>
            <p:pic>
              <p:nvPicPr>
                <p:cNvPr id="293" name="Picture 2" descr="https://cloud.google.com/hadoop/images/hadoop-elephant.png"/>
                <p:cNvPicPr>
                  <a:picLocks noChangeAspect="1" noChangeArrowheads="1"/>
                </p:cNvPicPr>
                <p:nvPr/>
              </p:nvPicPr>
              <p:blipFill>
                <a:blip r:embed="rId6"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03389" y="3043946"/>
                  <a:ext cx="436679" cy="312163"/>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nvGrpSpPr>
              <p:cNvPr id="286" name="Group 285"/>
              <p:cNvGrpSpPr/>
              <p:nvPr/>
            </p:nvGrpSpPr>
            <p:grpSpPr>
              <a:xfrm>
                <a:off x="4220119" y="3544457"/>
                <a:ext cx="394726" cy="478839"/>
                <a:chOff x="-548806" y="2595022"/>
                <a:chExt cx="627393" cy="761087"/>
              </a:xfrm>
            </p:grpSpPr>
            <p:sp>
              <p:nvSpPr>
                <p:cNvPr id="290" name="TextBox 289"/>
                <p:cNvSpPr txBox="1"/>
                <p:nvPr/>
              </p:nvSpPr>
              <p:spPr>
                <a:xfrm>
                  <a:off x="-339018" y="2595022"/>
                  <a:ext cx="417605" cy="602857"/>
                </a:xfrm>
                <a:prstGeom prst="rect">
                  <a:avLst/>
                </a:prstGeom>
                <a:noFill/>
              </p:spPr>
              <p:txBody>
                <a:bodyPr wrap="none" lIns="0" tIns="0" rIns="0" bIns="0" rtlCol="0">
                  <a:spAutoFit/>
                </a:bodyPr>
                <a:lstStyle/>
                <a:p>
                  <a:r>
                    <a:rPr lang="en-US" sz="2000" dirty="0" smtClean="0">
                      <a:ln w="6350">
                        <a:solidFill>
                          <a:schemeClr val="tx1"/>
                        </a:solidFill>
                      </a:ln>
                      <a:solidFill>
                        <a:srgbClr val="000000"/>
                      </a:solidFill>
                      <a:latin typeface="Arial Black" panose="020B0A04020102020204" pitchFamily="34" charset="0"/>
                    </a:rPr>
                    <a:t>G</a:t>
                  </a:r>
                  <a:endParaRPr lang="en-US" sz="2400" dirty="0">
                    <a:ln w="6350">
                      <a:solidFill>
                        <a:schemeClr val="tx1"/>
                      </a:solidFill>
                    </a:ln>
                    <a:solidFill>
                      <a:srgbClr val="000000"/>
                    </a:solidFill>
                    <a:latin typeface="Arial Black" panose="020B0A04020102020204" pitchFamily="34" charset="0"/>
                  </a:endParaRPr>
                </a:p>
              </p:txBody>
            </p:sp>
            <p:pic>
              <p:nvPicPr>
                <p:cNvPr id="291" name="Picture 2" descr="https://cloud.google.com/hadoop/images/hadoop-elephant.png"/>
                <p:cNvPicPr>
                  <a:picLocks noChangeAspect="1" noChangeArrowheads="1"/>
                </p:cNvPicPr>
                <p:nvPr/>
              </p:nvPicPr>
              <p:blipFill>
                <a:blip r:embed="rId6"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48806" y="3043945"/>
                  <a:ext cx="436678" cy="312164"/>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nvGrpSpPr>
              <p:cNvPr id="287" name="Group 286"/>
              <p:cNvGrpSpPr/>
              <p:nvPr/>
            </p:nvGrpSpPr>
            <p:grpSpPr>
              <a:xfrm>
                <a:off x="2691416" y="3544457"/>
                <a:ext cx="376946" cy="478839"/>
                <a:chOff x="-548806" y="2595022"/>
                <a:chExt cx="599133" cy="761087"/>
              </a:xfrm>
            </p:grpSpPr>
            <p:sp>
              <p:nvSpPr>
                <p:cNvPr id="288" name="TextBox 287"/>
                <p:cNvSpPr txBox="1"/>
                <p:nvPr/>
              </p:nvSpPr>
              <p:spPr>
                <a:xfrm>
                  <a:off x="-339018" y="2595022"/>
                  <a:ext cx="389345" cy="602857"/>
                </a:xfrm>
                <a:prstGeom prst="rect">
                  <a:avLst/>
                </a:prstGeom>
                <a:noFill/>
              </p:spPr>
              <p:txBody>
                <a:bodyPr wrap="none" lIns="0" tIns="0" rIns="0" bIns="0" rtlCol="0">
                  <a:spAutoFit/>
                </a:bodyPr>
                <a:lstStyle/>
                <a:p>
                  <a:r>
                    <a:rPr lang="en-US" sz="2000" dirty="0" smtClean="0">
                      <a:ln w="6350">
                        <a:solidFill>
                          <a:schemeClr val="tx1"/>
                        </a:solidFill>
                      </a:ln>
                      <a:solidFill>
                        <a:srgbClr val="EAEAEA"/>
                      </a:solidFill>
                      <a:latin typeface="Arial Black" panose="020B0A04020102020204" pitchFamily="34" charset="0"/>
                    </a:rPr>
                    <a:t>B</a:t>
                  </a:r>
                  <a:endParaRPr lang="en-US" sz="2400" dirty="0">
                    <a:ln w="6350">
                      <a:solidFill>
                        <a:schemeClr val="tx1"/>
                      </a:solidFill>
                    </a:ln>
                    <a:solidFill>
                      <a:srgbClr val="EAEAEA"/>
                    </a:solidFill>
                    <a:latin typeface="Arial Black" panose="020B0A04020102020204" pitchFamily="34" charset="0"/>
                  </a:endParaRPr>
                </a:p>
              </p:txBody>
            </p:sp>
            <p:pic>
              <p:nvPicPr>
                <p:cNvPr id="289" name="Picture 2" descr="https://cloud.google.com/hadoop/images/hadoop-elephant.png"/>
                <p:cNvPicPr>
                  <a:picLocks noChangeAspect="1" noChangeArrowheads="1"/>
                </p:cNvPicPr>
                <p:nvPr/>
              </p:nvPicPr>
              <p:blipFill>
                <a:blip r:embed="rId6"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48806" y="3043945"/>
                  <a:ext cx="436678" cy="312164"/>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grpSp>
          <p:nvGrpSpPr>
            <p:cNvPr id="255" name="Group 254"/>
            <p:cNvGrpSpPr/>
            <p:nvPr/>
          </p:nvGrpSpPr>
          <p:grpSpPr>
            <a:xfrm>
              <a:off x="1055200" y="4603930"/>
              <a:ext cx="310365" cy="1923534"/>
              <a:chOff x="1231419" y="4613456"/>
              <a:chExt cx="310365" cy="1923534"/>
            </a:xfrm>
          </p:grpSpPr>
          <p:grpSp>
            <p:nvGrpSpPr>
              <p:cNvPr id="256" name="Group 255"/>
              <p:cNvGrpSpPr/>
              <p:nvPr/>
            </p:nvGrpSpPr>
            <p:grpSpPr>
              <a:xfrm>
                <a:off x="1238849" y="5075100"/>
                <a:ext cx="295936" cy="307777"/>
                <a:chOff x="-548806" y="2595022"/>
                <a:chExt cx="638959" cy="664531"/>
              </a:xfrm>
            </p:grpSpPr>
            <p:sp>
              <p:nvSpPr>
                <p:cNvPr id="278" name="TextBox 277"/>
                <p:cNvSpPr txBox="1"/>
                <p:nvPr/>
              </p:nvSpPr>
              <p:spPr>
                <a:xfrm>
                  <a:off x="-339018" y="2595022"/>
                  <a:ext cx="429171" cy="664531"/>
                </a:xfrm>
                <a:prstGeom prst="rect">
                  <a:avLst/>
                </a:prstGeom>
                <a:noFill/>
              </p:spPr>
              <p:txBody>
                <a:bodyPr wrap="none" lIns="0" tIns="0" rIns="0" bIns="0" rtlCol="0">
                  <a:spAutoFit/>
                </a:bodyPr>
                <a:lstStyle/>
                <a:p>
                  <a:r>
                    <a:rPr lang="en-US" sz="2000" dirty="0" smtClean="0">
                      <a:ln w="6350">
                        <a:solidFill>
                          <a:schemeClr val="tx1"/>
                        </a:solidFill>
                      </a:ln>
                      <a:solidFill>
                        <a:schemeClr val="accent4">
                          <a:lumMod val="60000"/>
                          <a:lumOff val="40000"/>
                        </a:schemeClr>
                      </a:solidFill>
                      <a:latin typeface="Arial Black" panose="020B0A04020102020204" pitchFamily="34" charset="0"/>
                    </a:rPr>
                    <a:t>C</a:t>
                  </a:r>
                  <a:endParaRPr lang="en-US" sz="2400" dirty="0">
                    <a:ln w="6350">
                      <a:solidFill>
                        <a:schemeClr val="tx1"/>
                      </a:solidFill>
                    </a:ln>
                    <a:solidFill>
                      <a:schemeClr val="accent4">
                        <a:lumMod val="60000"/>
                        <a:lumOff val="40000"/>
                      </a:schemeClr>
                    </a:solidFill>
                    <a:latin typeface="Arial Black" panose="020B0A04020102020204" pitchFamily="34" charset="0"/>
                  </a:endParaRPr>
                </a:p>
              </p:txBody>
            </p:sp>
            <p:pic>
              <p:nvPicPr>
                <p:cNvPr id="279" name="Picture 2" descr="https://cloud.google.com/hadoop/images/hadoop-elephant.png"/>
                <p:cNvPicPr>
                  <a:picLocks noChangeAspect="1" noChangeArrowheads="1"/>
                </p:cNvPicPr>
                <p:nvPr/>
              </p:nvPicPr>
              <p:blipFill>
                <a:blip r:embed="rId4"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48806" y="2858833"/>
                  <a:ext cx="436678" cy="312167"/>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nvGrpSpPr>
              <p:cNvPr id="257" name="Group 256"/>
              <p:cNvGrpSpPr/>
              <p:nvPr/>
            </p:nvGrpSpPr>
            <p:grpSpPr>
              <a:xfrm>
                <a:off x="1252881" y="5767566"/>
                <a:ext cx="268687" cy="307777"/>
                <a:chOff x="-548806" y="2595022"/>
                <a:chExt cx="580125" cy="664531"/>
              </a:xfrm>
            </p:grpSpPr>
            <p:sp>
              <p:nvSpPr>
                <p:cNvPr id="276" name="TextBox 275"/>
                <p:cNvSpPr txBox="1"/>
                <p:nvPr/>
              </p:nvSpPr>
              <p:spPr>
                <a:xfrm>
                  <a:off x="-339016" y="2595022"/>
                  <a:ext cx="370335" cy="664531"/>
                </a:xfrm>
                <a:prstGeom prst="rect">
                  <a:avLst/>
                </a:prstGeom>
                <a:noFill/>
              </p:spPr>
              <p:txBody>
                <a:bodyPr wrap="none" lIns="0" tIns="0" rIns="0" bIns="0" rtlCol="0">
                  <a:spAutoFit/>
                </a:bodyPr>
                <a:lstStyle/>
                <a:p>
                  <a:r>
                    <a:rPr lang="en-US" sz="2000" dirty="0" smtClean="0">
                      <a:ln w="6350">
                        <a:solidFill>
                          <a:schemeClr val="tx1"/>
                        </a:solidFill>
                      </a:ln>
                      <a:solidFill>
                        <a:schemeClr val="accent5">
                          <a:lumMod val="75000"/>
                        </a:schemeClr>
                      </a:solidFill>
                      <a:latin typeface="Arial Black" panose="020B0A04020102020204" pitchFamily="34" charset="0"/>
                    </a:rPr>
                    <a:t>F</a:t>
                  </a:r>
                  <a:endParaRPr lang="en-US" sz="2400" dirty="0">
                    <a:ln w="6350">
                      <a:solidFill>
                        <a:schemeClr val="tx1"/>
                      </a:solidFill>
                    </a:ln>
                    <a:solidFill>
                      <a:schemeClr val="accent5">
                        <a:lumMod val="75000"/>
                      </a:schemeClr>
                    </a:solidFill>
                    <a:latin typeface="Arial Black" panose="020B0A04020102020204" pitchFamily="34" charset="0"/>
                  </a:endParaRPr>
                </a:p>
              </p:txBody>
            </p:sp>
            <p:pic>
              <p:nvPicPr>
                <p:cNvPr id="277" name="Picture 2" descr="https://cloud.google.com/hadoop/images/hadoop-elephant.png"/>
                <p:cNvPicPr>
                  <a:picLocks noChangeAspect="1" noChangeArrowheads="1"/>
                </p:cNvPicPr>
                <p:nvPr/>
              </p:nvPicPr>
              <p:blipFill>
                <a:blip r:embed="rId4"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48806" y="2858833"/>
                  <a:ext cx="436677" cy="312167"/>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nvGrpSpPr>
              <p:cNvPr id="258" name="Group 257"/>
              <p:cNvGrpSpPr/>
              <p:nvPr/>
            </p:nvGrpSpPr>
            <p:grpSpPr>
              <a:xfrm>
                <a:off x="1238850" y="4613456"/>
                <a:ext cx="295936" cy="307777"/>
                <a:chOff x="-548806" y="2595022"/>
                <a:chExt cx="638962" cy="664531"/>
              </a:xfrm>
            </p:grpSpPr>
            <p:sp>
              <p:nvSpPr>
                <p:cNvPr id="274" name="TextBox 273"/>
                <p:cNvSpPr txBox="1"/>
                <p:nvPr/>
              </p:nvSpPr>
              <p:spPr>
                <a:xfrm>
                  <a:off x="-339017" y="2595022"/>
                  <a:ext cx="429173" cy="664531"/>
                </a:xfrm>
                <a:prstGeom prst="rect">
                  <a:avLst/>
                </a:prstGeom>
                <a:noFill/>
              </p:spPr>
              <p:txBody>
                <a:bodyPr wrap="none" lIns="0" tIns="0" rIns="0" bIns="0" rtlCol="0">
                  <a:spAutoFit/>
                </a:bodyPr>
                <a:lstStyle/>
                <a:p>
                  <a:r>
                    <a:rPr lang="en-US" sz="2000" dirty="0" smtClean="0">
                      <a:ln w="6350">
                        <a:solidFill>
                          <a:schemeClr val="tx1"/>
                        </a:solidFill>
                      </a:ln>
                      <a:solidFill>
                        <a:srgbClr val="000000"/>
                      </a:solidFill>
                      <a:latin typeface="Arial Black" panose="020B0A04020102020204" pitchFamily="34" charset="0"/>
                    </a:rPr>
                    <a:t>A</a:t>
                  </a:r>
                  <a:endParaRPr lang="en-US" sz="2400" dirty="0">
                    <a:ln w="6350">
                      <a:solidFill>
                        <a:schemeClr val="tx1"/>
                      </a:solidFill>
                    </a:ln>
                    <a:solidFill>
                      <a:srgbClr val="000000"/>
                    </a:solidFill>
                    <a:latin typeface="Arial Black" panose="020B0A04020102020204" pitchFamily="34" charset="0"/>
                  </a:endParaRPr>
                </a:p>
              </p:txBody>
            </p:sp>
            <p:pic>
              <p:nvPicPr>
                <p:cNvPr id="275" name="Picture 2" descr="https://cloud.google.com/hadoop/images/hadoop-elephant.png"/>
                <p:cNvPicPr>
                  <a:picLocks noChangeAspect="1" noChangeArrowheads="1"/>
                </p:cNvPicPr>
                <p:nvPr/>
              </p:nvPicPr>
              <p:blipFill>
                <a:blip r:embed="rId4"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48806" y="2858833"/>
                  <a:ext cx="436678" cy="312167"/>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nvGrpSpPr>
              <p:cNvPr id="259" name="Group 258"/>
              <p:cNvGrpSpPr/>
              <p:nvPr/>
            </p:nvGrpSpPr>
            <p:grpSpPr>
              <a:xfrm>
                <a:off x="1238849" y="5305922"/>
                <a:ext cx="295936" cy="307777"/>
                <a:chOff x="-548806" y="2595022"/>
                <a:chExt cx="638959" cy="664531"/>
              </a:xfrm>
            </p:grpSpPr>
            <p:sp>
              <p:nvSpPr>
                <p:cNvPr id="272" name="TextBox 271"/>
                <p:cNvSpPr txBox="1"/>
                <p:nvPr/>
              </p:nvSpPr>
              <p:spPr>
                <a:xfrm>
                  <a:off x="-339018" y="2595022"/>
                  <a:ext cx="429171" cy="664531"/>
                </a:xfrm>
                <a:prstGeom prst="rect">
                  <a:avLst/>
                </a:prstGeom>
                <a:noFill/>
              </p:spPr>
              <p:txBody>
                <a:bodyPr wrap="none" lIns="0" tIns="0" rIns="0" bIns="0" rtlCol="0">
                  <a:spAutoFit/>
                </a:bodyPr>
                <a:lstStyle/>
                <a:p>
                  <a:r>
                    <a:rPr lang="en-US" sz="2000" dirty="0" smtClean="0">
                      <a:ln w="6350">
                        <a:solidFill>
                          <a:schemeClr val="tx1"/>
                        </a:solidFill>
                      </a:ln>
                      <a:solidFill>
                        <a:srgbClr val="4472C4"/>
                      </a:solidFill>
                      <a:latin typeface="Arial Black" panose="020B0A04020102020204" pitchFamily="34" charset="0"/>
                    </a:rPr>
                    <a:t>D</a:t>
                  </a:r>
                  <a:endParaRPr lang="en-US" sz="2400" dirty="0">
                    <a:ln w="6350">
                      <a:solidFill>
                        <a:schemeClr val="tx1"/>
                      </a:solidFill>
                    </a:ln>
                    <a:solidFill>
                      <a:srgbClr val="4472C4"/>
                    </a:solidFill>
                    <a:latin typeface="Arial Black" panose="020B0A04020102020204" pitchFamily="34" charset="0"/>
                  </a:endParaRPr>
                </a:p>
              </p:txBody>
            </p:sp>
            <p:pic>
              <p:nvPicPr>
                <p:cNvPr id="273" name="Picture 2" descr="https://cloud.google.com/hadoop/images/hadoop-elephant.png"/>
                <p:cNvPicPr>
                  <a:picLocks noChangeAspect="1" noChangeArrowheads="1"/>
                </p:cNvPicPr>
                <p:nvPr/>
              </p:nvPicPr>
              <p:blipFill>
                <a:blip r:embed="rId4"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48806" y="2858833"/>
                  <a:ext cx="436678" cy="312167"/>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nvGrpSpPr>
              <p:cNvPr id="260" name="Group 259"/>
              <p:cNvGrpSpPr/>
              <p:nvPr/>
            </p:nvGrpSpPr>
            <p:grpSpPr>
              <a:xfrm>
                <a:off x="1245454" y="5536744"/>
                <a:ext cx="283112" cy="307777"/>
                <a:chOff x="-548806" y="2595022"/>
                <a:chExt cx="611271" cy="664531"/>
              </a:xfrm>
            </p:grpSpPr>
            <p:sp>
              <p:nvSpPr>
                <p:cNvPr id="270" name="TextBox 269"/>
                <p:cNvSpPr txBox="1"/>
                <p:nvPr/>
              </p:nvSpPr>
              <p:spPr>
                <a:xfrm>
                  <a:off x="-339018" y="2595022"/>
                  <a:ext cx="401483" cy="664531"/>
                </a:xfrm>
                <a:prstGeom prst="rect">
                  <a:avLst/>
                </a:prstGeom>
                <a:noFill/>
              </p:spPr>
              <p:txBody>
                <a:bodyPr wrap="none" lIns="0" tIns="0" rIns="0" bIns="0" rtlCol="0">
                  <a:spAutoFit/>
                </a:bodyPr>
                <a:lstStyle/>
                <a:p>
                  <a:r>
                    <a:rPr lang="en-US" sz="2000" dirty="0" smtClean="0">
                      <a:ln w="6350">
                        <a:solidFill>
                          <a:schemeClr val="tx1"/>
                        </a:solidFill>
                      </a:ln>
                      <a:solidFill>
                        <a:srgbClr val="F09354"/>
                      </a:solidFill>
                      <a:latin typeface="Arial Black" panose="020B0A04020102020204" pitchFamily="34" charset="0"/>
                    </a:rPr>
                    <a:t>E</a:t>
                  </a:r>
                  <a:endParaRPr lang="en-US" sz="2400" dirty="0">
                    <a:ln w="6350">
                      <a:solidFill>
                        <a:schemeClr val="tx1"/>
                      </a:solidFill>
                    </a:ln>
                    <a:solidFill>
                      <a:srgbClr val="F09354"/>
                    </a:solidFill>
                    <a:latin typeface="Arial Black" panose="020B0A04020102020204" pitchFamily="34" charset="0"/>
                  </a:endParaRPr>
                </a:p>
              </p:txBody>
            </p:sp>
            <p:pic>
              <p:nvPicPr>
                <p:cNvPr id="271" name="Picture 2" descr="https://cloud.google.com/hadoop/images/hadoop-elephant.png"/>
                <p:cNvPicPr>
                  <a:picLocks noChangeAspect="1" noChangeArrowheads="1"/>
                </p:cNvPicPr>
                <p:nvPr/>
              </p:nvPicPr>
              <p:blipFill>
                <a:blip r:embed="rId4"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48806" y="2858833"/>
                  <a:ext cx="436678" cy="312167"/>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nvGrpSpPr>
              <p:cNvPr id="261" name="Group 260"/>
              <p:cNvGrpSpPr/>
              <p:nvPr/>
            </p:nvGrpSpPr>
            <p:grpSpPr>
              <a:xfrm>
                <a:off x="1231420" y="6229213"/>
                <a:ext cx="310364" cy="307777"/>
                <a:chOff x="-503389" y="2595022"/>
                <a:chExt cx="670113" cy="664531"/>
              </a:xfrm>
            </p:grpSpPr>
            <p:sp>
              <p:nvSpPr>
                <p:cNvPr id="268" name="TextBox 267"/>
                <p:cNvSpPr txBox="1"/>
                <p:nvPr/>
              </p:nvSpPr>
              <p:spPr>
                <a:xfrm>
                  <a:off x="-293600" y="2595022"/>
                  <a:ext cx="460324" cy="664531"/>
                </a:xfrm>
                <a:prstGeom prst="rect">
                  <a:avLst/>
                </a:prstGeom>
                <a:noFill/>
              </p:spPr>
              <p:txBody>
                <a:bodyPr wrap="none" lIns="0" tIns="0" rIns="0" bIns="0" rtlCol="0">
                  <a:spAutoFit/>
                </a:bodyPr>
                <a:lstStyle/>
                <a:p>
                  <a:r>
                    <a:rPr lang="en-US" sz="2000" dirty="0" smtClean="0">
                      <a:ln w="6350">
                        <a:solidFill>
                          <a:schemeClr val="tx1"/>
                        </a:solidFill>
                      </a:ln>
                      <a:solidFill>
                        <a:srgbClr val="95C673"/>
                      </a:solidFill>
                      <a:latin typeface="Arial Black" panose="020B0A04020102020204" pitchFamily="34" charset="0"/>
                    </a:rPr>
                    <a:t>H</a:t>
                  </a:r>
                  <a:endParaRPr lang="en-US" sz="2400" dirty="0">
                    <a:ln w="6350">
                      <a:solidFill>
                        <a:schemeClr val="tx1"/>
                      </a:solidFill>
                    </a:ln>
                    <a:solidFill>
                      <a:srgbClr val="95C673"/>
                    </a:solidFill>
                    <a:latin typeface="Arial Black" panose="020B0A04020102020204" pitchFamily="34" charset="0"/>
                  </a:endParaRPr>
                </a:p>
              </p:txBody>
            </p:sp>
            <p:pic>
              <p:nvPicPr>
                <p:cNvPr id="269" name="Picture 2" descr="https://cloud.google.com/hadoop/images/hadoop-elephant.png"/>
                <p:cNvPicPr>
                  <a:picLocks noChangeAspect="1" noChangeArrowheads="1"/>
                </p:cNvPicPr>
                <p:nvPr/>
              </p:nvPicPr>
              <p:blipFill>
                <a:blip r:embed="rId4"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03389" y="2858833"/>
                  <a:ext cx="436680" cy="312167"/>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nvGrpSpPr>
              <p:cNvPr id="262" name="Group 261"/>
              <p:cNvGrpSpPr/>
              <p:nvPr/>
            </p:nvGrpSpPr>
            <p:grpSpPr>
              <a:xfrm>
                <a:off x="1231419" y="5998388"/>
                <a:ext cx="310364" cy="307777"/>
                <a:chOff x="-548806" y="2595022"/>
                <a:chExt cx="670108" cy="664531"/>
              </a:xfrm>
            </p:grpSpPr>
            <p:sp>
              <p:nvSpPr>
                <p:cNvPr id="266" name="TextBox 265"/>
                <p:cNvSpPr txBox="1"/>
                <p:nvPr/>
              </p:nvSpPr>
              <p:spPr>
                <a:xfrm>
                  <a:off x="-339019" y="2595022"/>
                  <a:ext cx="460321" cy="664531"/>
                </a:xfrm>
                <a:prstGeom prst="rect">
                  <a:avLst/>
                </a:prstGeom>
                <a:noFill/>
              </p:spPr>
              <p:txBody>
                <a:bodyPr wrap="none" lIns="0" tIns="0" rIns="0" bIns="0" rtlCol="0">
                  <a:spAutoFit/>
                </a:bodyPr>
                <a:lstStyle/>
                <a:p>
                  <a:r>
                    <a:rPr lang="en-US" sz="2000" dirty="0" smtClean="0">
                      <a:ln w="6350">
                        <a:solidFill>
                          <a:schemeClr val="tx1"/>
                        </a:solidFill>
                      </a:ln>
                      <a:solidFill>
                        <a:srgbClr val="000000"/>
                      </a:solidFill>
                      <a:latin typeface="Arial Black" panose="020B0A04020102020204" pitchFamily="34" charset="0"/>
                    </a:rPr>
                    <a:t>G</a:t>
                  </a:r>
                  <a:endParaRPr lang="en-US" sz="2400" dirty="0">
                    <a:ln w="6350">
                      <a:solidFill>
                        <a:schemeClr val="tx1"/>
                      </a:solidFill>
                    </a:ln>
                    <a:solidFill>
                      <a:srgbClr val="000000"/>
                    </a:solidFill>
                    <a:latin typeface="Arial Black" panose="020B0A04020102020204" pitchFamily="34" charset="0"/>
                  </a:endParaRPr>
                </a:p>
              </p:txBody>
            </p:sp>
            <p:pic>
              <p:nvPicPr>
                <p:cNvPr id="267" name="Picture 2" descr="https://cloud.google.com/hadoop/images/hadoop-elephant.png"/>
                <p:cNvPicPr>
                  <a:picLocks noChangeAspect="1" noChangeArrowheads="1"/>
                </p:cNvPicPr>
                <p:nvPr/>
              </p:nvPicPr>
              <p:blipFill>
                <a:blip r:embed="rId4"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48806" y="2858833"/>
                  <a:ext cx="436679" cy="312167"/>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nvGrpSpPr>
              <p:cNvPr id="263" name="Group 262"/>
              <p:cNvGrpSpPr/>
              <p:nvPr/>
            </p:nvGrpSpPr>
            <p:grpSpPr>
              <a:xfrm>
                <a:off x="1238849" y="4844278"/>
                <a:ext cx="295936" cy="307777"/>
                <a:chOff x="-548806" y="2595022"/>
                <a:chExt cx="638959" cy="664531"/>
              </a:xfrm>
            </p:grpSpPr>
            <p:sp>
              <p:nvSpPr>
                <p:cNvPr id="264" name="TextBox 263"/>
                <p:cNvSpPr txBox="1"/>
                <p:nvPr/>
              </p:nvSpPr>
              <p:spPr>
                <a:xfrm>
                  <a:off x="-339018" y="2595022"/>
                  <a:ext cx="429171" cy="664531"/>
                </a:xfrm>
                <a:prstGeom prst="rect">
                  <a:avLst/>
                </a:prstGeom>
                <a:noFill/>
              </p:spPr>
              <p:txBody>
                <a:bodyPr wrap="none" lIns="0" tIns="0" rIns="0" bIns="0" rtlCol="0">
                  <a:spAutoFit/>
                </a:bodyPr>
                <a:lstStyle/>
                <a:p>
                  <a:r>
                    <a:rPr lang="en-US" sz="2000" dirty="0" smtClean="0">
                      <a:ln w="6350">
                        <a:solidFill>
                          <a:schemeClr val="tx1"/>
                        </a:solidFill>
                      </a:ln>
                      <a:solidFill>
                        <a:srgbClr val="EAEAEA"/>
                      </a:solidFill>
                      <a:latin typeface="Arial Black" panose="020B0A04020102020204" pitchFamily="34" charset="0"/>
                    </a:rPr>
                    <a:t>B</a:t>
                  </a:r>
                  <a:endParaRPr lang="en-US" sz="2400" dirty="0">
                    <a:ln w="6350">
                      <a:solidFill>
                        <a:schemeClr val="tx1"/>
                      </a:solidFill>
                    </a:ln>
                    <a:solidFill>
                      <a:srgbClr val="EAEAEA"/>
                    </a:solidFill>
                    <a:latin typeface="Arial Black" panose="020B0A04020102020204" pitchFamily="34" charset="0"/>
                  </a:endParaRPr>
                </a:p>
              </p:txBody>
            </p:sp>
            <p:pic>
              <p:nvPicPr>
                <p:cNvPr id="265" name="Picture 2" descr="https://cloud.google.com/hadoop/images/hadoop-elephant.png"/>
                <p:cNvPicPr>
                  <a:picLocks noChangeAspect="1" noChangeArrowheads="1"/>
                </p:cNvPicPr>
                <p:nvPr/>
              </p:nvPicPr>
              <p:blipFill>
                <a:blip r:embed="rId4"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48806" y="2858833"/>
                  <a:ext cx="436678" cy="312167"/>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grpSp>
      <p:grpSp>
        <p:nvGrpSpPr>
          <p:cNvPr id="148" name="Grid"/>
          <p:cNvGrpSpPr/>
          <p:nvPr/>
        </p:nvGrpSpPr>
        <p:grpSpPr>
          <a:xfrm>
            <a:off x="3961813" y="697576"/>
            <a:ext cx="2032911" cy="1858714"/>
            <a:chOff x="3920214" y="865662"/>
            <a:chExt cx="2032911" cy="1858714"/>
          </a:xfrm>
        </p:grpSpPr>
        <p:cxnSp>
          <p:nvCxnSpPr>
            <p:cNvPr id="149" name="Straight Connector 148"/>
            <p:cNvCxnSpPr/>
            <p:nvPr/>
          </p:nvCxnSpPr>
          <p:spPr>
            <a:xfrm>
              <a:off x="3920214" y="865662"/>
              <a:ext cx="203291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0" name="Straight Connector 149"/>
            <p:cNvCxnSpPr/>
            <p:nvPr/>
          </p:nvCxnSpPr>
          <p:spPr>
            <a:xfrm>
              <a:off x="3920214" y="1093833"/>
              <a:ext cx="203291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1" name="Straight Connector 150"/>
            <p:cNvCxnSpPr/>
            <p:nvPr/>
          </p:nvCxnSpPr>
          <p:spPr>
            <a:xfrm>
              <a:off x="3920214" y="1326767"/>
              <a:ext cx="203291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p:cNvCxnSpPr/>
            <p:nvPr/>
          </p:nvCxnSpPr>
          <p:spPr>
            <a:xfrm>
              <a:off x="3920214" y="1559701"/>
              <a:ext cx="203291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p:cNvCxnSpPr/>
            <p:nvPr/>
          </p:nvCxnSpPr>
          <p:spPr>
            <a:xfrm>
              <a:off x="3920214" y="1792635"/>
              <a:ext cx="203291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p:cNvCxnSpPr/>
            <p:nvPr/>
          </p:nvCxnSpPr>
          <p:spPr>
            <a:xfrm>
              <a:off x="3920214" y="2025569"/>
              <a:ext cx="203291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p:cNvCxnSpPr/>
            <p:nvPr/>
          </p:nvCxnSpPr>
          <p:spPr>
            <a:xfrm>
              <a:off x="3920214" y="2258503"/>
              <a:ext cx="203291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6" name="Straight Connector 155"/>
            <p:cNvCxnSpPr/>
            <p:nvPr/>
          </p:nvCxnSpPr>
          <p:spPr>
            <a:xfrm>
              <a:off x="3920214" y="2491437"/>
              <a:ext cx="203291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7" name="Straight Connector 156"/>
            <p:cNvCxnSpPr/>
            <p:nvPr/>
          </p:nvCxnSpPr>
          <p:spPr>
            <a:xfrm>
              <a:off x="3920214" y="2724374"/>
              <a:ext cx="203291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p:cNvCxnSpPr/>
            <p:nvPr/>
          </p:nvCxnSpPr>
          <p:spPr>
            <a:xfrm rot="5400000">
              <a:off x="5026149" y="1797400"/>
              <a:ext cx="1853952"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9" name="Straight Connector 158"/>
            <p:cNvCxnSpPr/>
            <p:nvPr/>
          </p:nvCxnSpPr>
          <p:spPr>
            <a:xfrm rot="5400000">
              <a:off x="4772034" y="1797400"/>
              <a:ext cx="1853952"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60" name="Straight Connector 159"/>
            <p:cNvCxnSpPr/>
            <p:nvPr/>
          </p:nvCxnSpPr>
          <p:spPr>
            <a:xfrm rot="5400000">
              <a:off x="4517920" y="1797400"/>
              <a:ext cx="1853952"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61" name="Straight Connector 160"/>
            <p:cNvCxnSpPr/>
            <p:nvPr/>
          </p:nvCxnSpPr>
          <p:spPr>
            <a:xfrm rot="5400000">
              <a:off x="4263805" y="1797400"/>
              <a:ext cx="1853952"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62" name="Straight Connector 161"/>
            <p:cNvCxnSpPr/>
            <p:nvPr/>
          </p:nvCxnSpPr>
          <p:spPr>
            <a:xfrm rot="5400000">
              <a:off x="4009691" y="1797400"/>
              <a:ext cx="1853952"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63" name="Straight Connector 162"/>
            <p:cNvCxnSpPr/>
            <p:nvPr/>
          </p:nvCxnSpPr>
          <p:spPr>
            <a:xfrm rot="5400000">
              <a:off x="3755577" y="1797400"/>
              <a:ext cx="1853952"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p:cNvCxnSpPr/>
            <p:nvPr/>
          </p:nvCxnSpPr>
          <p:spPr>
            <a:xfrm rot="5400000">
              <a:off x="3501464" y="1797400"/>
              <a:ext cx="1853952"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a:xfrm rot="5400000">
              <a:off x="3247351" y="1797400"/>
              <a:ext cx="1853952"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a:xfrm rot="5400000">
              <a:off x="2993238" y="1797400"/>
              <a:ext cx="1853952"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grpSp>
      <p:cxnSp>
        <p:nvCxnSpPr>
          <p:cNvPr id="4" name="Straight Connector 3"/>
          <p:cNvCxnSpPr/>
          <p:nvPr/>
        </p:nvCxnSpPr>
        <p:spPr>
          <a:xfrm>
            <a:off x="3967889" y="714056"/>
            <a:ext cx="2029968" cy="1856232"/>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67" name="3 - Cover left hosts"/>
          <p:cNvSpPr/>
          <p:nvPr/>
        </p:nvSpPr>
        <p:spPr>
          <a:xfrm>
            <a:off x="2887549" y="1164974"/>
            <a:ext cx="1358617" cy="1414109"/>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3 - Cover bottom right"/>
          <p:cNvSpPr/>
          <p:nvPr/>
        </p:nvSpPr>
        <p:spPr>
          <a:xfrm>
            <a:off x="4220686" y="1163909"/>
            <a:ext cx="1785189" cy="14151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3 - Cover Host A"/>
          <p:cNvSpPr/>
          <p:nvPr/>
        </p:nvSpPr>
        <p:spPr>
          <a:xfrm>
            <a:off x="2901083" y="702258"/>
            <a:ext cx="1051962" cy="251443"/>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3 - Cover Row A"/>
          <p:cNvSpPr/>
          <p:nvPr/>
        </p:nvSpPr>
        <p:spPr>
          <a:xfrm>
            <a:off x="3957804" y="688654"/>
            <a:ext cx="2048071" cy="237093"/>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2 - Cover bottom right"/>
          <p:cNvSpPr/>
          <p:nvPr/>
        </p:nvSpPr>
        <p:spPr>
          <a:xfrm>
            <a:off x="4220688" y="932098"/>
            <a:ext cx="1804236" cy="16661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2 - Fade top hosts"/>
          <p:cNvSpPr/>
          <p:nvPr/>
        </p:nvSpPr>
        <p:spPr>
          <a:xfrm>
            <a:off x="4220687" y="-253492"/>
            <a:ext cx="1804238" cy="1189558"/>
          </a:xfrm>
          <a:custGeom>
            <a:avLst/>
            <a:gdLst>
              <a:gd name="connsiteX0" fmla="*/ 12750 w 1804238"/>
              <a:gd name="connsiteY0" fmla="*/ 0 h 1194319"/>
              <a:gd name="connsiteX1" fmla="*/ 1804238 w 1804238"/>
              <a:gd name="connsiteY1" fmla="*/ 0 h 1194319"/>
              <a:gd name="connsiteX2" fmla="*/ 1804238 w 1804238"/>
              <a:gd name="connsiteY2" fmla="*/ 854443 h 1194319"/>
              <a:gd name="connsiteX3" fmla="*/ 1804237 w 1804238"/>
              <a:gd name="connsiteY3" fmla="*/ 854443 h 1194319"/>
              <a:gd name="connsiteX4" fmla="*/ 1804237 w 1804238"/>
              <a:gd name="connsiteY4" fmla="*/ 1194319 h 1194319"/>
              <a:gd name="connsiteX5" fmla="*/ 0 w 1804238"/>
              <a:gd name="connsiteY5" fmla="*/ 1194319 h 1194319"/>
              <a:gd name="connsiteX6" fmla="*/ 0 w 1804238"/>
              <a:gd name="connsiteY6" fmla="*/ 339876 h 1194319"/>
              <a:gd name="connsiteX7" fmla="*/ 12750 w 1804238"/>
              <a:gd name="connsiteY7" fmla="*/ 339876 h 1194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04238" h="1194319">
                <a:moveTo>
                  <a:pt x="12750" y="0"/>
                </a:moveTo>
                <a:lnTo>
                  <a:pt x="1804238" y="0"/>
                </a:lnTo>
                <a:lnTo>
                  <a:pt x="1804238" y="854443"/>
                </a:lnTo>
                <a:lnTo>
                  <a:pt x="1804237" y="854443"/>
                </a:lnTo>
                <a:lnTo>
                  <a:pt x="1804237" y="1194319"/>
                </a:lnTo>
                <a:lnTo>
                  <a:pt x="0" y="1194319"/>
                </a:lnTo>
                <a:lnTo>
                  <a:pt x="0" y="339876"/>
                </a:lnTo>
                <a:lnTo>
                  <a:pt x="12750" y="339876"/>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1 - Cover all rows but A"/>
          <p:cNvSpPr/>
          <p:nvPr/>
        </p:nvSpPr>
        <p:spPr>
          <a:xfrm>
            <a:off x="2898701" y="930510"/>
            <a:ext cx="3115072" cy="16661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4 - Cover bottom right"/>
          <p:cNvSpPr/>
          <p:nvPr/>
        </p:nvSpPr>
        <p:spPr>
          <a:xfrm>
            <a:off x="4475555" y="1163653"/>
            <a:ext cx="1527938" cy="14151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4 - Fade top hosts"/>
          <p:cNvSpPr/>
          <p:nvPr/>
        </p:nvSpPr>
        <p:spPr>
          <a:xfrm>
            <a:off x="4476407" y="-179868"/>
            <a:ext cx="1541375" cy="1388710"/>
          </a:xfrm>
          <a:custGeom>
            <a:avLst/>
            <a:gdLst>
              <a:gd name="connsiteX0" fmla="*/ 12750 w 1804238"/>
              <a:gd name="connsiteY0" fmla="*/ 0 h 1194319"/>
              <a:gd name="connsiteX1" fmla="*/ 1804238 w 1804238"/>
              <a:gd name="connsiteY1" fmla="*/ 0 h 1194319"/>
              <a:gd name="connsiteX2" fmla="*/ 1804238 w 1804238"/>
              <a:gd name="connsiteY2" fmla="*/ 854443 h 1194319"/>
              <a:gd name="connsiteX3" fmla="*/ 1804237 w 1804238"/>
              <a:gd name="connsiteY3" fmla="*/ 854443 h 1194319"/>
              <a:gd name="connsiteX4" fmla="*/ 1804237 w 1804238"/>
              <a:gd name="connsiteY4" fmla="*/ 1194319 h 1194319"/>
              <a:gd name="connsiteX5" fmla="*/ 0 w 1804238"/>
              <a:gd name="connsiteY5" fmla="*/ 1194319 h 1194319"/>
              <a:gd name="connsiteX6" fmla="*/ 0 w 1804238"/>
              <a:gd name="connsiteY6" fmla="*/ 339876 h 1194319"/>
              <a:gd name="connsiteX7" fmla="*/ 12750 w 1804238"/>
              <a:gd name="connsiteY7" fmla="*/ 339876 h 1194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04238" h="1194319">
                <a:moveTo>
                  <a:pt x="12750" y="0"/>
                </a:moveTo>
                <a:lnTo>
                  <a:pt x="1804238" y="0"/>
                </a:lnTo>
                <a:lnTo>
                  <a:pt x="1804238" y="854443"/>
                </a:lnTo>
                <a:lnTo>
                  <a:pt x="1804237" y="854443"/>
                </a:lnTo>
                <a:lnTo>
                  <a:pt x="1804237" y="1194319"/>
                </a:lnTo>
                <a:lnTo>
                  <a:pt x="0" y="1194319"/>
                </a:lnTo>
                <a:lnTo>
                  <a:pt x="0" y="339876"/>
                </a:lnTo>
                <a:lnTo>
                  <a:pt x="12750" y="339876"/>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4 - Fade Column A"/>
          <p:cNvSpPr/>
          <p:nvPr/>
        </p:nvSpPr>
        <p:spPr>
          <a:xfrm>
            <a:off x="3959412" y="-176138"/>
            <a:ext cx="282127" cy="2754965"/>
          </a:xfrm>
          <a:custGeom>
            <a:avLst/>
            <a:gdLst>
              <a:gd name="connsiteX0" fmla="*/ 29792 w 282127"/>
              <a:gd name="connsiteY0" fmla="*/ 0 h 2754965"/>
              <a:gd name="connsiteX1" fmla="*/ 282127 w 282127"/>
              <a:gd name="connsiteY1" fmla="*/ 0 h 2754965"/>
              <a:gd name="connsiteX2" fmla="*/ 282127 w 282127"/>
              <a:gd name="connsiteY2" fmla="*/ 105177 h 2754965"/>
              <a:gd name="connsiteX3" fmla="*/ 282127 w 282127"/>
              <a:gd name="connsiteY3" fmla="*/ 147013 h 2754965"/>
              <a:gd name="connsiteX4" fmla="*/ 254131 w 282127"/>
              <a:gd name="connsiteY4" fmla="*/ 147013 h 2754965"/>
              <a:gd name="connsiteX5" fmla="*/ 254131 w 282127"/>
              <a:gd name="connsiteY5" fmla="*/ 1975773 h 2754965"/>
              <a:gd name="connsiteX6" fmla="*/ 254131 w 282127"/>
              <a:gd name="connsiteY6" fmla="*/ 1975773 h 2754965"/>
              <a:gd name="connsiteX7" fmla="*/ 254131 w 282127"/>
              <a:gd name="connsiteY7" fmla="*/ 2754965 h 2754965"/>
              <a:gd name="connsiteX8" fmla="*/ 0 w 282127"/>
              <a:gd name="connsiteY8" fmla="*/ 2754965 h 2754965"/>
              <a:gd name="connsiteX9" fmla="*/ 0 w 282127"/>
              <a:gd name="connsiteY9" fmla="*/ 796087 h 2754965"/>
              <a:gd name="connsiteX10" fmla="*/ 1796 w 282127"/>
              <a:gd name="connsiteY10" fmla="*/ 796087 h 2754965"/>
              <a:gd name="connsiteX11" fmla="*/ 1796 w 282127"/>
              <a:gd name="connsiteY11" fmla="*/ 16895 h 2754965"/>
              <a:gd name="connsiteX12" fmla="*/ 29792 w 282127"/>
              <a:gd name="connsiteY12" fmla="*/ 16895 h 2754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2127" h="2754965">
                <a:moveTo>
                  <a:pt x="29792" y="0"/>
                </a:moveTo>
                <a:lnTo>
                  <a:pt x="282127" y="0"/>
                </a:lnTo>
                <a:lnTo>
                  <a:pt x="282127" y="105177"/>
                </a:lnTo>
                <a:lnTo>
                  <a:pt x="282127" y="147013"/>
                </a:lnTo>
                <a:lnTo>
                  <a:pt x="254131" y="147013"/>
                </a:lnTo>
                <a:lnTo>
                  <a:pt x="254131" y="1975773"/>
                </a:lnTo>
                <a:lnTo>
                  <a:pt x="254131" y="1975773"/>
                </a:lnTo>
                <a:lnTo>
                  <a:pt x="254131" y="2754965"/>
                </a:lnTo>
                <a:lnTo>
                  <a:pt x="0" y="2754965"/>
                </a:lnTo>
                <a:lnTo>
                  <a:pt x="0" y="796087"/>
                </a:lnTo>
                <a:lnTo>
                  <a:pt x="1796" y="796087"/>
                </a:lnTo>
                <a:lnTo>
                  <a:pt x="1796" y="16895"/>
                </a:lnTo>
                <a:lnTo>
                  <a:pt x="29792" y="16895"/>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1" name="Group 180"/>
          <p:cNvGrpSpPr/>
          <p:nvPr/>
        </p:nvGrpSpPr>
        <p:grpSpPr>
          <a:xfrm>
            <a:off x="238224" y="2273452"/>
            <a:ext cx="1901752" cy="1450452"/>
            <a:chOff x="238224" y="2273452"/>
            <a:chExt cx="1901752" cy="1450452"/>
          </a:xfrm>
        </p:grpSpPr>
        <p:grpSp>
          <p:nvGrpSpPr>
            <p:cNvPr id="182" name="Group 181"/>
            <p:cNvGrpSpPr/>
            <p:nvPr/>
          </p:nvGrpSpPr>
          <p:grpSpPr>
            <a:xfrm>
              <a:off x="238224" y="2273452"/>
              <a:ext cx="1901752" cy="1118106"/>
              <a:chOff x="370662" y="3872441"/>
              <a:chExt cx="1901752" cy="1118106"/>
            </a:xfrm>
          </p:grpSpPr>
          <p:sp>
            <p:nvSpPr>
              <p:cNvPr id="184" name="Rounded Rectangle 183"/>
              <p:cNvSpPr/>
              <p:nvPr/>
            </p:nvSpPr>
            <p:spPr>
              <a:xfrm>
                <a:off x="370662" y="3872441"/>
                <a:ext cx="1901752" cy="1118106"/>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3200" dirty="0" smtClean="0">
                    <a:solidFill>
                      <a:schemeClr val="tx1"/>
                    </a:solidFill>
                  </a:rPr>
                  <a:t>Client</a:t>
                </a:r>
              </a:p>
              <a:p>
                <a:pPr algn="r"/>
                <a:endParaRPr lang="en-US" sz="3200" dirty="0">
                  <a:solidFill>
                    <a:schemeClr val="tx1"/>
                  </a:solidFill>
                </a:endParaRPr>
              </a:p>
            </p:txBody>
          </p:sp>
          <p:sp>
            <p:nvSpPr>
              <p:cNvPr id="185" name="Freeform 184"/>
              <p:cNvSpPr/>
              <p:nvPr/>
            </p:nvSpPr>
            <p:spPr>
              <a:xfrm>
                <a:off x="580449" y="3969186"/>
                <a:ext cx="445091" cy="518222"/>
              </a:xfrm>
              <a:custGeom>
                <a:avLst/>
                <a:gdLst>
                  <a:gd name="connsiteX0" fmla="*/ 117006 w 341106"/>
                  <a:gd name="connsiteY0" fmla="*/ 157162 h 398622"/>
                  <a:gd name="connsiteX1" fmla="*/ 139502 w 341106"/>
                  <a:gd name="connsiteY1" fmla="*/ 172329 h 398622"/>
                  <a:gd name="connsiteX2" fmla="*/ 170553 w 341106"/>
                  <a:gd name="connsiteY2" fmla="*/ 178598 h 398622"/>
                  <a:gd name="connsiteX3" fmla="*/ 201604 w 341106"/>
                  <a:gd name="connsiteY3" fmla="*/ 172329 h 398622"/>
                  <a:gd name="connsiteX4" fmla="*/ 224100 w 341106"/>
                  <a:gd name="connsiteY4" fmla="*/ 157162 h 398622"/>
                  <a:gd name="connsiteX5" fmla="*/ 236940 w 341106"/>
                  <a:gd name="connsiteY5" fmla="*/ 159996 h 398622"/>
                  <a:gd name="connsiteX6" fmla="*/ 341106 w 341106"/>
                  <a:gd name="connsiteY6" fmla="*/ 331777 h 398622"/>
                  <a:gd name="connsiteX7" fmla="*/ 337820 w 341106"/>
                  <a:gd name="connsiteY7" fmla="*/ 349571 h 398622"/>
                  <a:gd name="connsiteX8" fmla="*/ 325158 w 341106"/>
                  <a:gd name="connsiteY8" fmla="*/ 359180 h 398622"/>
                  <a:gd name="connsiteX9" fmla="*/ 170553 w 341106"/>
                  <a:gd name="connsiteY9" fmla="*/ 398622 h 398622"/>
                  <a:gd name="connsiteX10" fmla="*/ 15948 w 341106"/>
                  <a:gd name="connsiteY10" fmla="*/ 359180 h 398622"/>
                  <a:gd name="connsiteX11" fmla="*/ 3287 w 341106"/>
                  <a:gd name="connsiteY11" fmla="*/ 349571 h 398622"/>
                  <a:gd name="connsiteX12" fmla="*/ 0 w 341106"/>
                  <a:gd name="connsiteY12" fmla="*/ 331777 h 398622"/>
                  <a:gd name="connsiteX13" fmla="*/ 104166 w 341106"/>
                  <a:gd name="connsiteY13" fmla="*/ 159996 h 398622"/>
                  <a:gd name="connsiteX14" fmla="*/ 170554 w 341106"/>
                  <a:gd name="connsiteY14" fmla="*/ 0 h 398622"/>
                  <a:gd name="connsiteX15" fmla="*/ 250326 w 341106"/>
                  <a:gd name="connsiteY15" fmla="*/ 79772 h 398622"/>
                  <a:gd name="connsiteX16" fmla="*/ 170554 w 341106"/>
                  <a:gd name="connsiteY16" fmla="*/ 159544 h 398622"/>
                  <a:gd name="connsiteX17" fmla="*/ 90782 w 341106"/>
                  <a:gd name="connsiteY17" fmla="*/ 79772 h 398622"/>
                  <a:gd name="connsiteX18" fmla="*/ 170554 w 341106"/>
                  <a:gd name="connsiteY18" fmla="*/ 0 h 39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106" h="398622">
                    <a:moveTo>
                      <a:pt x="117006" y="157162"/>
                    </a:moveTo>
                    <a:lnTo>
                      <a:pt x="139502" y="172329"/>
                    </a:lnTo>
                    <a:cubicBezTo>
                      <a:pt x="149046" y="176366"/>
                      <a:pt x="159539" y="178598"/>
                      <a:pt x="170553" y="178598"/>
                    </a:cubicBezTo>
                    <a:cubicBezTo>
                      <a:pt x="181567" y="178598"/>
                      <a:pt x="192060" y="176366"/>
                      <a:pt x="201604" y="172329"/>
                    </a:cubicBezTo>
                    <a:lnTo>
                      <a:pt x="224100" y="157162"/>
                    </a:lnTo>
                    <a:lnTo>
                      <a:pt x="236940" y="159996"/>
                    </a:lnTo>
                    <a:cubicBezTo>
                      <a:pt x="298154" y="188298"/>
                      <a:pt x="341106" y="254555"/>
                      <a:pt x="341106" y="331777"/>
                    </a:cubicBezTo>
                    <a:lnTo>
                      <a:pt x="337820" y="349571"/>
                    </a:lnTo>
                    <a:lnTo>
                      <a:pt x="325158" y="359180"/>
                    </a:lnTo>
                    <a:cubicBezTo>
                      <a:pt x="281026" y="384082"/>
                      <a:pt x="227823" y="398622"/>
                      <a:pt x="170553" y="398622"/>
                    </a:cubicBezTo>
                    <a:cubicBezTo>
                      <a:pt x="113284" y="398622"/>
                      <a:pt x="60081" y="384082"/>
                      <a:pt x="15948" y="359180"/>
                    </a:cubicBezTo>
                    <a:lnTo>
                      <a:pt x="3287" y="349571"/>
                    </a:lnTo>
                    <a:lnTo>
                      <a:pt x="0" y="331777"/>
                    </a:lnTo>
                    <a:cubicBezTo>
                      <a:pt x="0" y="254555"/>
                      <a:pt x="42952" y="188298"/>
                      <a:pt x="104166" y="159996"/>
                    </a:cubicBezTo>
                    <a:close/>
                    <a:moveTo>
                      <a:pt x="170554" y="0"/>
                    </a:moveTo>
                    <a:cubicBezTo>
                      <a:pt x="214611" y="0"/>
                      <a:pt x="250326" y="35715"/>
                      <a:pt x="250326" y="79772"/>
                    </a:cubicBezTo>
                    <a:cubicBezTo>
                      <a:pt x="250326" y="123829"/>
                      <a:pt x="214611" y="159544"/>
                      <a:pt x="170554" y="159544"/>
                    </a:cubicBezTo>
                    <a:cubicBezTo>
                      <a:pt x="126497" y="159544"/>
                      <a:pt x="90782" y="123829"/>
                      <a:pt x="90782" y="79772"/>
                    </a:cubicBezTo>
                    <a:cubicBezTo>
                      <a:pt x="90782" y="35715"/>
                      <a:pt x="126497" y="0"/>
                      <a:pt x="170554" y="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186" name="Rounded Rectangle 185"/>
              <p:cNvSpPr/>
              <p:nvPr/>
            </p:nvSpPr>
            <p:spPr>
              <a:xfrm>
                <a:off x="727326" y="4483840"/>
                <a:ext cx="1434850" cy="343799"/>
              </a:xfrm>
              <a:prstGeom prst="roundRect">
                <a:avLst/>
              </a:prstGeom>
              <a:solidFill>
                <a:srgbClr val="FFE1E1"/>
              </a:solidFill>
              <a:ln w="381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err="1" smtClean="0">
                    <a:solidFill>
                      <a:srgbClr val="C00000"/>
                    </a:solidFill>
                    <a:latin typeface="Consolas" panose="020B0609020204030204" pitchFamily="49" charset="0"/>
                    <a:cs typeface="Consolas" panose="020B0609020204030204" pitchFamily="49" charset="0"/>
                  </a:rPr>
                  <a:t>DoRandomRead</a:t>
                </a:r>
                <a:endParaRPr lang="en-US" sz="1400" b="1" dirty="0">
                  <a:solidFill>
                    <a:srgbClr val="C00000"/>
                  </a:solidFill>
                  <a:latin typeface="Consolas" panose="020B0609020204030204" pitchFamily="49" charset="0"/>
                  <a:cs typeface="Consolas" panose="020B0609020204030204" pitchFamily="49" charset="0"/>
                </a:endParaRPr>
              </a:p>
            </p:txBody>
          </p:sp>
        </p:grpSp>
        <p:cxnSp>
          <p:nvCxnSpPr>
            <p:cNvPr id="183" name="Straight Arrow Connector 182"/>
            <p:cNvCxnSpPr/>
            <p:nvPr/>
          </p:nvCxnSpPr>
          <p:spPr>
            <a:xfrm>
              <a:off x="1780885" y="3422463"/>
              <a:ext cx="158566" cy="301441"/>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grpSp>
        <p:nvGrpSpPr>
          <p:cNvPr id="187" name="Group 186"/>
          <p:cNvGrpSpPr/>
          <p:nvPr/>
        </p:nvGrpSpPr>
        <p:grpSpPr>
          <a:xfrm>
            <a:off x="-75198" y="3745551"/>
            <a:ext cx="2727849" cy="3314649"/>
            <a:chOff x="-75198" y="3745551"/>
            <a:chExt cx="2727849" cy="3314649"/>
          </a:xfrm>
        </p:grpSpPr>
        <p:grpSp>
          <p:nvGrpSpPr>
            <p:cNvPr id="188" name="Group 187"/>
            <p:cNvGrpSpPr/>
            <p:nvPr/>
          </p:nvGrpSpPr>
          <p:grpSpPr>
            <a:xfrm>
              <a:off x="433328" y="3745551"/>
              <a:ext cx="2219323" cy="1380587"/>
              <a:chOff x="2589415" y="3600246"/>
              <a:chExt cx="2219323" cy="1380587"/>
            </a:xfrm>
          </p:grpSpPr>
          <p:grpSp>
            <p:nvGrpSpPr>
              <p:cNvPr id="194" name="Group 193"/>
              <p:cNvGrpSpPr/>
              <p:nvPr/>
            </p:nvGrpSpPr>
            <p:grpSpPr>
              <a:xfrm>
                <a:off x="2617251" y="3600246"/>
                <a:ext cx="2191487" cy="1380587"/>
                <a:chOff x="5674776" y="1054419"/>
                <a:chExt cx="2191487" cy="1380587"/>
              </a:xfrm>
            </p:grpSpPr>
            <p:sp>
              <p:nvSpPr>
                <p:cNvPr id="196" name="Rounded Rectangle 195"/>
                <p:cNvSpPr/>
                <p:nvPr/>
              </p:nvSpPr>
              <p:spPr>
                <a:xfrm>
                  <a:off x="5808500" y="1054419"/>
                  <a:ext cx="2057763" cy="1380587"/>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800" dirty="0" smtClean="0">
                    <a:solidFill>
                      <a:schemeClr val="tx1"/>
                    </a:solidFill>
                  </a:endParaRPr>
                </a:p>
                <a:p>
                  <a:pPr algn="r"/>
                  <a:endParaRPr lang="en-US" sz="2000" dirty="0" smtClean="0">
                    <a:solidFill>
                      <a:schemeClr val="tx1"/>
                    </a:solidFill>
                  </a:endParaRPr>
                </a:p>
                <a:p>
                  <a:pPr algn="r"/>
                  <a:r>
                    <a:rPr lang="en-US" sz="2000" dirty="0" smtClean="0">
                      <a:solidFill>
                        <a:schemeClr val="tx1"/>
                      </a:solidFill>
                    </a:rPr>
                    <a:t>HDFS </a:t>
                  </a:r>
                  <a:r>
                    <a:rPr lang="en-US" sz="2000" dirty="0" err="1" smtClean="0">
                      <a:solidFill>
                        <a:schemeClr val="tx1"/>
                      </a:solidFill>
                    </a:rPr>
                    <a:t>NameNode</a:t>
                  </a:r>
                  <a:endParaRPr lang="en-US" sz="2000" dirty="0">
                    <a:solidFill>
                      <a:schemeClr val="tx1"/>
                    </a:solidFill>
                  </a:endParaRPr>
                </a:p>
              </p:txBody>
            </p:sp>
            <p:pic>
              <p:nvPicPr>
                <p:cNvPr id="197" name="Picture 2" descr="https://cloud.google.com/hadoop/images/hadoop-elephant.png"/>
                <p:cNvPicPr>
                  <a:picLocks noChangeAspect="1" noChangeArrowheads="1"/>
                </p:cNvPicPr>
                <p:nvPr/>
              </p:nvPicPr>
              <p:blipFill>
                <a:blip r:embed="rId7" cstate="print">
                  <a:biLevel thresh="75000"/>
                  <a:extLst>
                    <a:ext uri="{28A0092B-C50C-407E-A947-70E740481C1C}">
                      <a14:useLocalDpi xmlns:a14="http://schemas.microsoft.com/office/drawing/2010/main" val="0"/>
                    </a:ext>
                  </a:extLst>
                </a:blip>
                <a:srcRect/>
                <a:stretch>
                  <a:fillRect/>
                </a:stretch>
              </p:blipFill>
              <p:spPr bwMode="auto">
                <a:xfrm>
                  <a:off x="5674776" y="1563219"/>
                  <a:ext cx="1219519" cy="871787"/>
                </a:xfrm>
                <a:prstGeom prst="rect">
                  <a:avLst/>
                </a:prstGeom>
                <a:noFill/>
                <a:extLst>
                  <a:ext uri="{909E8E84-426E-40DD-AFC4-6F175D3DCCD1}">
                    <a14:hiddenFill xmlns:a14="http://schemas.microsoft.com/office/drawing/2010/main">
                      <a:solidFill>
                        <a:srgbClr val="FFFFFF"/>
                      </a:solidFill>
                    </a14:hiddenFill>
                  </a:ext>
                </a:extLst>
              </p:spPr>
            </p:pic>
          </p:grpSp>
          <p:sp>
            <p:nvSpPr>
              <p:cNvPr id="195" name="Rounded Rectangle 194"/>
              <p:cNvSpPr/>
              <p:nvPr/>
            </p:nvSpPr>
            <p:spPr>
              <a:xfrm>
                <a:off x="2589415" y="3719366"/>
                <a:ext cx="2075137" cy="343799"/>
              </a:xfrm>
              <a:prstGeom prst="roundRect">
                <a:avLst/>
              </a:prstGeom>
              <a:solidFill>
                <a:srgbClr val="FFE1E1"/>
              </a:solidFill>
              <a:ln w="381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err="1" smtClean="0">
                    <a:solidFill>
                      <a:srgbClr val="23642F"/>
                    </a:solidFill>
                    <a:latin typeface="Consolas" panose="020B0609020204030204" pitchFamily="49" charset="0"/>
                    <a:cs typeface="Consolas" panose="020B0609020204030204" pitchFamily="49" charset="0"/>
                  </a:rPr>
                  <a:t>GetBlockLocations</a:t>
                </a:r>
                <a:endParaRPr lang="en-US" sz="1400" b="1" dirty="0">
                  <a:solidFill>
                    <a:srgbClr val="23642F"/>
                  </a:solidFill>
                  <a:latin typeface="Consolas" panose="020B0609020204030204" pitchFamily="49" charset="0"/>
                  <a:cs typeface="Consolas" panose="020B0609020204030204" pitchFamily="49" charset="0"/>
                </a:endParaRPr>
              </a:p>
            </p:txBody>
          </p:sp>
        </p:grpSp>
        <p:grpSp>
          <p:nvGrpSpPr>
            <p:cNvPr id="189" name="Group 188"/>
            <p:cNvGrpSpPr/>
            <p:nvPr/>
          </p:nvGrpSpPr>
          <p:grpSpPr>
            <a:xfrm>
              <a:off x="-75198" y="5480131"/>
              <a:ext cx="2727849" cy="1580069"/>
              <a:chOff x="-141908" y="5439038"/>
              <a:chExt cx="2727849" cy="1580069"/>
            </a:xfrm>
          </p:grpSpPr>
          <p:sp>
            <p:nvSpPr>
              <p:cNvPr id="191" name="Rounded Rectangle 190"/>
              <p:cNvSpPr/>
              <p:nvPr/>
            </p:nvSpPr>
            <p:spPr>
              <a:xfrm>
                <a:off x="389253" y="5439038"/>
                <a:ext cx="1883161" cy="1383813"/>
              </a:xfrm>
              <a:prstGeom prst="roundRect">
                <a:avLst/>
              </a:prstGeom>
              <a:solidFill>
                <a:srgbClr val="D0CEC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400" dirty="0" smtClean="0">
                  <a:solidFill>
                    <a:schemeClr val="tx1"/>
                  </a:solidFill>
                </a:endParaRPr>
              </a:p>
              <a:p>
                <a:pPr algn="r"/>
                <a:r>
                  <a:rPr lang="en-US" sz="2400" dirty="0" smtClean="0">
                    <a:solidFill>
                      <a:schemeClr val="tx1"/>
                    </a:solidFill>
                  </a:rPr>
                  <a:t>HDFS </a:t>
                </a:r>
                <a:r>
                  <a:rPr lang="en-US" sz="2400" dirty="0" err="1" smtClean="0">
                    <a:solidFill>
                      <a:schemeClr val="tx1"/>
                    </a:solidFill>
                  </a:rPr>
                  <a:t>DataNode</a:t>
                </a:r>
                <a:endParaRPr lang="en-US" sz="2400" dirty="0">
                  <a:solidFill>
                    <a:schemeClr val="tx1"/>
                  </a:solidFill>
                </a:endParaRPr>
              </a:p>
            </p:txBody>
          </p:sp>
          <p:pic>
            <p:nvPicPr>
              <p:cNvPr id="192" name="Picture 2" descr="https://cloud.google.com/hadoop/images/hadoop-elephant.png"/>
              <p:cNvPicPr>
                <a:picLocks noChangeAspect="1" noChangeArrowheads="1"/>
              </p:cNvPicPr>
              <p:nvPr/>
            </p:nvPicPr>
            <p:blipFill>
              <a:blip r:embed="rId8"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141908" y="6130944"/>
                <a:ext cx="1148091" cy="888163"/>
              </a:xfrm>
              <a:prstGeom prst="rect">
                <a:avLst/>
              </a:prstGeom>
              <a:noFill/>
              <a:extLst>
                <a:ext uri="{909E8E84-426E-40DD-AFC4-6F175D3DCCD1}">
                  <a14:hiddenFill xmlns:a14="http://schemas.microsoft.com/office/drawing/2010/main">
                    <a:solidFill>
                      <a:srgbClr val="FFFFFF"/>
                    </a:solidFill>
                  </a14:hiddenFill>
                </a:ext>
              </a:extLst>
            </p:spPr>
          </p:pic>
          <p:sp>
            <p:nvSpPr>
              <p:cNvPr id="193" name="Rounded Rectangle 192"/>
              <p:cNvSpPr/>
              <p:nvPr/>
            </p:nvSpPr>
            <p:spPr>
              <a:xfrm>
                <a:off x="75724" y="5510553"/>
                <a:ext cx="2510217" cy="343799"/>
              </a:xfrm>
              <a:prstGeom prst="roundRect">
                <a:avLst/>
              </a:prstGeom>
              <a:solidFill>
                <a:srgbClr val="FFE1E1"/>
              </a:solidFill>
              <a:ln w="381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err="1" smtClean="0">
                    <a:solidFill>
                      <a:srgbClr val="4472C4"/>
                    </a:solidFill>
                    <a:latin typeface="Consolas" panose="020B0609020204030204" pitchFamily="49" charset="0"/>
                    <a:cs typeface="Consolas" panose="020B0609020204030204" pitchFamily="49" charset="0"/>
                  </a:rPr>
                  <a:t>DataTransferProtocol</a:t>
                </a:r>
                <a:endParaRPr lang="en-US" sz="1600" b="1" dirty="0">
                  <a:solidFill>
                    <a:srgbClr val="4472C4"/>
                  </a:solidFill>
                  <a:latin typeface="Consolas" panose="020B0609020204030204" pitchFamily="49" charset="0"/>
                  <a:cs typeface="Consolas" panose="020B0609020204030204" pitchFamily="49" charset="0"/>
                </a:endParaRPr>
              </a:p>
            </p:txBody>
          </p:sp>
        </p:grpSp>
        <p:cxnSp>
          <p:nvCxnSpPr>
            <p:cNvPr id="190" name="Straight Arrow Connector 189"/>
            <p:cNvCxnSpPr/>
            <p:nvPr/>
          </p:nvCxnSpPr>
          <p:spPr>
            <a:xfrm flipH="1">
              <a:off x="1183561" y="5142932"/>
              <a:ext cx="158566" cy="301441"/>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grpSp>
        <p:nvGrpSpPr>
          <p:cNvPr id="21" name="Group 20"/>
          <p:cNvGrpSpPr/>
          <p:nvPr/>
        </p:nvGrpSpPr>
        <p:grpSpPr>
          <a:xfrm>
            <a:off x="2983453" y="2636298"/>
            <a:ext cx="3442161" cy="307777"/>
            <a:chOff x="2515202" y="2769943"/>
            <a:chExt cx="3442161" cy="307777"/>
          </a:xfrm>
        </p:grpSpPr>
        <p:sp>
          <p:nvSpPr>
            <p:cNvPr id="307" name="TextBox 306"/>
            <p:cNvSpPr txBox="1"/>
            <p:nvPr/>
          </p:nvSpPr>
          <p:spPr>
            <a:xfrm>
              <a:off x="2515202" y="2788014"/>
              <a:ext cx="3442161" cy="276999"/>
            </a:xfrm>
            <a:prstGeom prst="rect">
              <a:avLst/>
            </a:prstGeom>
            <a:noFill/>
          </p:spPr>
          <p:txBody>
            <a:bodyPr wrap="none" lIns="0" tIns="0" rIns="0" bIns="0" rtlCol="0">
              <a:spAutoFit/>
            </a:bodyPr>
            <a:lstStyle/>
            <a:p>
              <a:r>
                <a:rPr lang="en-US" dirty="0" smtClean="0"/>
                <a:t>When both        and       host replicas,</a:t>
              </a:r>
              <a:endParaRPr lang="en-US" dirty="0"/>
            </a:p>
          </p:txBody>
        </p:sp>
        <p:grpSp>
          <p:nvGrpSpPr>
            <p:cNvPr id="308" name="Group 307"/>
            <p:cNvGrpSpPr/>
            <p:nvPr/>
          </p:nvGrpSpPr>
          <p:grpSpPr>
            <a:xfrm>
              <a:off x="3585296" y="2769943"/>
              <a:ext cx="295936" cy="307777"/>
              <a:chOff x="872685" y="2929409"/>
              <a:chExt cx="295936" cy="307777"/>
            </a:xfrm>
          </p:grpSpPr>
          <p:sp>
            <p:nvSpPr>
              <p:cNvPr id="320" name="TextBox 319"/>
              <p:cNvSpPr txBox="1"/>
              <p:nvPr/>
            </p:nvSpPr>
            <p:spPr>
              <a:xfrm>
                <a:off x="969849" y="2929409"/>
                <a:ext cx="198772" cy="307777"/>
              </a:xfrm>
              <a:prstGeom prst="rect">
                <a:avLst/>
              </a:prstGeom>
              <a:noFill/>
            </p:spPr>
            <p:txBody>
              <a:bodyPr wrap="none" lIns="0" tIns="0" rIns="0" bIns="0" rtlCol="0">
                <a:spAutoFit/>
              </a:bodyPr>
              <a:lstStyle/>
              <a:p>
                <a:r>
                  <a:rPr lang="en-US" sz="2000" dirty="0" smtClean="0">
                    <a:ln w="6350">
                      <a:solidFill>
                        <a:schemeClr val="tx1"/>
                      </a:solidFill>
                    </a:ln>
                    <a:solidFill>
                      <a:srgbClr val="000000"/>
                    </a:solidFill>
                    <a:latin typeface="Arial Black" panose="020B0A04020102020204" pitchFamily="34" charset="0"/>
                  </a:rPr>
                  <a:t>A</a:t>
                </a:r>
                <a:endParaRPr lang="en-US" sz="2400" dirty="0">
                  <a:ln w="6350">
                    <a:solidFill>
                      <a:schemeClr val="tx1"/>
                    </a:solidFill>
                  </a:ln>
                  <a:solidFill>
                    <a:srgbClr val="000000"/>
                  </a:solidFill>
                  <a:latin typeface="Arial Black" panose="020B0A04020102020204" pitchFamily="34" charset="0"/>
                </a:endParaRPr>
              </a:p>
            </p:txBody>
          </p:sp>
          <p:pic>
            <p:nvPicPr>
              <p:cNvPr id="321" name="Picture 2" descr="https://cloud.google.com/hadoop/images/hadoop-elephant.png"/>
              <p:cNvPicPr>
                <a:picLocks noChangeAspect="1" noChangeArrowheads="1"/>
              </p:cNvPicPr>
              <p:nvPr/>
            </p:nvPicPr>
            <p:blipFill>
              <a:blip r:embed="rId4"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872685" y="3051593"/>
                <a:ext cx="202248" cy="144580"/>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nvGrpSpPr>
            <p:cNvPr id="309" name="Group 308"/>
            <p:cNvGrpSpPr/>
            <p:nvPr/>
          </p:nvGrpSpPr>
          <p:grpSpPr>
            <a:xfrm>
              <a:off x="4360494" y="2769943"/>
              <a:ext cx="295936" cy="307777"/>
              <a:chOff x="872685" y="2929409"/>
              <a:chExt cx="295936" cy="307777"/>
            </a:xfrm>
          </p:grpSpPr>
          <p:sp>
            <p:nvSpPr>
              <p:cNvPr id="318" name="TextBox 317"/>
              <p:cNvSpPr txBox="1"/>
              <p:nvPr/>
            </p:nvSpPr>
            <p:spPr>
              <a:xfrm>
                <a:off x="969849" y="2929409"/>
                <a:ext cx="198772" cy="307777"/>
              </a:xfrm>
              <a:prstGeom prst="rect">
                <a:avLst/>
              </a:prstGeom>
              <a:noFill/>
            </p:spPr>
            <p:txBody>
              <a:bodyPr wrap="none" lIns="0" tIns="0" rIns="0" bIns="0" rtlCol="0">
                <a:spAutoFit/>
              </a:bodyPr>
              <a:lstStyle/>
              <a:p>
                <a:r>
                  <a:rPr lang="en-US" sz="2000" dirty="0" smtClean="0">
                    <a:ln w="6350">
                      <a:solidFill>
                        <a:schemeClr val="tx1"/>
                      </a:solidFill>
                    </a:ln>
                    <a:solidFill>
                      <a:srgbClr val="FFD966"/>
                    </a:solidFill>
                    <a:latin typeface="Arial Black" panose="020B0A04020102020204" pitchFamily="34" charset="0"/>
                  </a:rPr>
                  <a:t>C</a:t>
                </a:r>
                <a:endParaRPr lang="en-US" sz="2400" dirty="0">
                  <a:ln w="6350">
                    <a:solidFill>
                      <a:schemeClr val="tx1"/>
                    </a:solidFill>
                  </a:ln>
                  <a:solidFill>
                    <a:srgbClr val="FFD966"/>
                  </a:solidFill>
                  <a:latin typeface="Arial Black" panose="020B0A04020102020204" pitchFamily="34" charset="0"/>
                </a:endParaRPr>
              </a:p>
            </p:txBody>
          </p:sp>
          <p:pic>
            <p:nvPicPr>
              <p:cNvPr id="319" name="Picture 2" descr="https://cloud.google.com/hadoop/images/hadoop-elephant.png"/>
              <p:cNvPicPr>
                <a:picLocks noChangeAspect="1" noChangeArrowheads="1"/>
              </p:cNvPicPr>
              <p:nvPr/>
            </p:nvPicPr>
            <p:blipFill>
              <a:blip r:embed="rId4"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872685" y="3051593"/>
                <a:ext cx="202248" cy="144580"/>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grpSp>
        <p:nvGrpSpPr>
          <p:cNvPr id="20" name="Group 19"/>
          <p:cNvGrpSpPr/>
          <p:nvPr/>
        </p:nvGrpSpPr>
        <p:grpSpPr>
          <a:xfrm>
            <a:off x="2983453" y="3213838"/>
            <a:ext cx="3582904" cy="307777"/>
            <a:chOff x="2866717" y="3738008"/>
            <a:chExt cx="3582904" cy="307777"/>
          </a:xfrm>
        </p:grpSpPr>
        <p:pic>
          <p:nvPicPr>
            <p:cNvPr id="312" name="Picture 311"/>
            <p:cNvPicPr>
              <a:picLocks noChangeAspect="1"/>
            </p:cNvPicPr>
            <p:nvPr/>
          </p:nvPicPr>
          <p:blipFill rotWithShape="1">
            <a:blip r:embed="rId3">
              <a:extLst>
                <a:ext uri="{28A0092B-C50C-407E-A947-70E740481C1C}">
                  <a14:useLocalDpi xmlns:a14="http://schemas.microsoft.com/office/drawing/2010/main" val="0"/>
                </a:ext>
              </a:extLst>
            </a:blip>
            <a:srcRect l="89412" t="41860" r="8041" b="47230"/>
            <a:stretch/>
          </p:blipFill>
          <p:spPr>
            <a:xfrm>
              <a:off x="5641487" y="3752831"/>
              <a:ext cx="266701" cy="278131"/>
            </a:xfrm>
            <a:prstGeom prst="rect">
              <a:avLst/>
            </a:prstGeom>
          </p:spPr>
        </p:pic>
        <p:sp>
          <p:nvSpPr>
            <p:cNvPr id="323" name="TextBox 322"/>
            <p:cNvSpPr txBox="1"/>
            <p:nvPr/>
          </p:nvSpPr>
          <p:spPr>
            <a:xfrm>
              <a:off x="2866717" y="3753397"/>
              <a:ext cx="3582904" cy="276999"/>
            </a:xfrm>
            <a:prstGeom prst="rect">
              <a:avLst/>
            </a:prstGeom>
            <a:noFill/>
          </p:spPr>
          <p:txBody>
            <a:bodyPr wrap="none" lIns="0" tIns="0" rIns="0" bIns="0" rtlCol="0">
              <a:spAutoFit/>
            </a:bodyPr>
            <a:lstStyle/>
            <a:p>
              <a:r>
                <a:rPr lang="en-US" dirty="0" smtClean="0"/>
                <a:t>Clients choose        this often:        (0%)</a:t>
              </a:r>
              <a:endParaRPr lang="en-US" dirty="0"/>
            </a:p>
          </p:txBody>
        </p:sp>
        <p:grpSp>
          <p:nvGrpSpPr>
            <p:cNvPr id="311" name="Group 310"/>
            <p:cNvGrpSpPr/>
            <p:nvPr/>
          </p:nvGrpSpPr>
          <p:grpSpPr>
            <a:xfrm>
              <a:off x="4248681" y="3738008"/>
              <a:ext cx="295936" cy="307777"/>
              <a:chOff x="872685" y="2929409"/>
              <a:chExt cx="295936" cy="307777"/>
            </a:xfrm>
          </p:grpSpPr>
          <p:sp>
            <p:nvSpPr>
              <p:cNvPr id="314" name="TextBox 313"/>
              <p:cNvSpPr txBox="1"/>
              <p:nvPr/>
            </p:nvSpPr>
            <p:spPr>
              <a:xfrm>
                <a:off x="969849" y="2929409"/>
                <a:ext cx="198772" cy="307777"/>
              </a:xfrm>
              <a:prstGeom prst="rect">
                <a:avLst/>
              </a:prstGeom>
              <a:noFill/>
            </p:spPr>
            <p:txBody>
              <a:bodyPr wrap="none" lIns="0" tIns="0" rIns="0" bIns="0" rtlCol="0">
                <a:spAutoFit/>
              </a:bodyPr>
              <a:lstStyle/>
              <a:p>
                <a:r>
                  <a:rPr lang="en-US" sz="2000" dirty="0" smtClean="0">
                    <a:ln w="6350">
                      <a:solidFill>
                        <a:schemeClr val="tx1"/>
                      </a:solidFill>
                    </a:ln>
                    <a:solidFill>
                      <a:srgbClr val="FFD966"/>
                    </a:solidFill>
                    <a:latin typeface="Arial Black" panose="020B0A04020102020204" pitchFamily="34" charset="0"/>
                  </a:rPr>
                  <a:t>C</a:t>
                </a:r>
                <a:endParaRPr lang="en-US" sz="2400" dirty="0">
                  <a:ln w="6350">
                    <a:solidFill>
                      <a:schemeClr val="tx1"/>
                    </a:solidFill>
                  </a:ln>
                  <a:solidFill>
                    <a:srgbClr val="FFD966"/>
                  </a:solidFill>
                  <a:latin typeface="Arial Black" panose="020B0A04020102020204" pitchFamily="34" charset="0"/>
                </a:endParaRPr>
              </a:p>
            </p:txBody>
          </p:sp>
          <p:pic>
            <p:nvPicPr>
              <p:cNvPr id="315" name="Picture 2" descr="https://cloud.google.com/hadoop/images/hadoop-elephant.png"/>
              <p:cNvPicPr>
                <a:picLocks noChangeAspect="1" noChangeArrowheads="1"/>
              </p:cNvPicPr>
              <p:nvPr/>
            </p:nvPicPr>
            <p:blipFill>
              <a:blip r:embed="rId4"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872685" y="3051593"/>
                <a:ext cx="202248" cy="144580"/>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sp>
        <p:nvSpPr>
          <p:cNvPr id="22" name="Oval 21"/>
          <p:cNvSpPr/>
          <p:nvPr/>
        </p:nvSpPr>
        <p:spPr>
          <a:xfrm>
            <a:off x="4398886" y="648147"/>
            <a:ext cx="352425" cy="352425"/>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4" name="Oval 323"/>
          <p:cNvSpPr/>
          <p:nvPr/>
        </p:nvSpPr>
        <p:spPr>
          <a:xfrm>
            <a:off x="3903968" y="1095651"/>
            <a:ext cx="352425" cy="352425"/>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5" name="Group 324"/>
          <p:cNvGrpSpPr/>
          <p:nvPr/>
        </p:nvGrpSpPr>
        <p:grpSpPr>
          <a:xfrm>
            <a:off x="3030230" y="2644323"/>
            <a:ext cx="3442161" cy="307777"/>
            <a:chOff x="236116" y="1871763"/>
            <a:chExt cx="3442161" cy="307777"/>
          </a:xfrm>
        </p:grpSpPr>
        <p:sp>
          <p:nvSpPr>
            <p:cNvPr id="326" name="TextBox 325"/>
            <p:cNvSpPr txBox="1"/>
            <p:nvPr/>
          </p:nvSpPr>
          <p:spPr>
            <a:xfrm>
              <a:off x="236116" y="1889834"/>
              <a:ext cx="3442161" cy="276999"/>
            </a:xfrm>
            <a:prstGeom prst="rect">
              <a:avLst/>
            </a:prstGeom>
            <a:noFill/>
          </p:spPr>
          <p:txBody>
            <a:bodyPr wrap="none" lIns="0" tIns="0" rIns="0" bIns="0" rtlCol="0">
              <a:spAutoFit/>
            </a:bodyPr>
            <a:lstStyle/>
            <a:p>
              <a:r>
                <a:rPr lang="en-US" dirty="0" smtClean="0"/>
                <a:t>When both        and       host replicas,</a:t>
              </a:r>
            </a:p>
          </p:txBody>
        </p:sp>
        <p:grpSp>
          <p:nvGrpSpPr>
            <p:cNvPr id="327" name="Group 326"/>
            <p:cNvGrpSpPr/>
            <p:nvPr/>
          </p:nvGrpSpPr>
          <p:grpSpPr>
            <a:xfrm>
              <a:off x="1306210" y="1871763"/>
              <a:ext cx="295936" cy="307777"/>
              <a:chOff x="872685" y="2929409"/>
              <a:chExt cx="295936" cy="307777"/>
            </a:xfrm>
          </p:grpSpPr>
          <p:sp>
            <p:nvSpPr>
              <p:cNvPr id="331" name="TextBox 330"/>
              <p:cNvSpPr txBox="1"/>
              <p:nvPr/>
            </p:nvSpPr>
            <p:spPr>
              <a:xfrm>
                <a:off x="969849" y="2929409"/>
                <a:ext cx="198772" cy="307777"/>
              </a:xfrm>
              <a:prstGeom prst="rect">
                <a:avLst/>
              </a:prstGeom>
              <a:noFill/>
            </p:spPr>
            <p:txBody>
              <a:bodyPr wrap="none" lIns="0" tIns="0" rIns="0" bIns="0" rtlCol="0">
                <a:spAutoFit/>
              </a:bodyPr>
              <a:lstStyle/>
              <a:p>
                <a:r>
                  <a:rPr lang="en-US" sz="2000" dirty="0" smtClean="0">
                    <a:ln w="6350">
                      <a:solidFill>
                        <a:schemeClr val="tx1"/>
                      </a:solidFill>
                    </a:ln>
                    <a:solidFill>
                      <a:srgbClr val="EAEAEA"/>
                    </a:solidFill>
                    <a:latin typeface="Arial Black" panose="020B0A04020102020204" pitchFamily="34" charset="0"/>
                  </a:rPr>
                  <a:t>B</a:t>
                </a:r>
                <a:endParaRPr lang="en-US" sz="2400" dirty="0">
                  <a:ln w="6350">
                    <a:solidFill>
                      <a:schemeClr val="tx1"/>
                    </a:solidFill>
                  </a:ln>
                  <a:solidFill>
                    <a:srgbClr val="EAEAEA"/>
                  </a:solidFill>
                  <a:latin typeface="Arial Black" panose="020B0A04020102020204" pitchFamily="34" charset="0"/>
                </a:endParaRPr>
              </a:p>
            </p:txBody>
          </p:sp>
          <p:pic>
            <p:nvPicPr>
              <p:cNvPr id="332" name="Picture 2" descr="https://cloud.google.com/hadoop/images/hadoop-elephant.png"/>
              <p:cNvPicPr>
                <a:picLocks noChangeAspect="1" noChangeArrowheads="1"/>
              </p:cNvPicPr>
              <p:nvPr/>
            </p:nvPicPr>
            <p:blipFill>
              <a:blip r:embed="rId4"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872685" y="3051593"/>
                <a:ext cx="202248" cy="144580"/>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nvGrpSpPr>
            <p:cNvPr id="328" name="Group 327"/>
            <p:cNvGrpSpPr/>
            <p:nvPr/>
          </p:nvGrpSpPr>
          <p:grpSpPr>
            <a:xfrm>
              <a:off x="2081408" y="1871763"/>
              <a:ext cx="295936" cy="307777"/>
              <a:chOff x="872685" y="2929409"/>
              <a:chExt cx="295936" cy="307777"/>
            </a:xfrm>
          </p:grpSpPr>
          <p:sp>
            <p:nvSpPr>
              <p:cNvPr id="329" name="TextBox 328"/>
              <p:cNvSpPr txBox="1"/>
              <p:nvPr/>
            </p:nvSpPr>
            <p:spPr>
              <a:xfrm>
                <a:off x="969849" y="2929409"/>
                <a:ext cx="198772" cy="307777"/>
              </a:xfrm>
              <a:prstGeom prst="rect">
                <a:avLst/>
              </a:prstGeom>
              <a:noFill/>
            </p:spPr>
            <p:txBody>
              <a:bodyPr wrap="none" lIns="0" tIns="0" rIns="0" bIns="0" rtlCol="0">
                <a:spAutoFit/>
              </a:bodyPr>
              <a:lstStyle/>
              <a:p>
                <a:r>
                  <a:rPr lang="en-US" sz="2000" dirty="0" smtClean="0">
                    <a:ln w="6350">
                      <a:solidFill>
                        <a:schemeClr val="tx1"/>
                      </a:solidFill>
                    </a:ln>
                    <a:solidFill>
                      <a:srgbClr val="4472C4"/>
                    </a:solidFill>
                    <a:latin typeface="Arial Black" panose="020B0A04020102020204" pitchFamily="34" charset="0"/>
                  </a:rPr>
                  <a:t>D</a:t>
                </a:r>
                <a:endParaRPr lang="en-US" sz="2400" dirty="0">
                  <a:ln w="6350">
                    <a:solidFill>
                      <a:schemeClr val="tx1"/>
                    </a:solidFill>
                  </a:ln>
                  <a:solidFill>
                    <a:srgbClr val="4472C4"/>
                  </a:solidFill>
                  <a:latin typeface="Arial Black" panose="020B0A04020102020204" pitchFamily="34" charset="0"/>
                </a:endParaRPr>
              </a:p>
            </p:txBody>
          </p:sp>
          <p:pic>
            <p:nvPicPr>
              <p:cNvPr id="330" name="Picture 2" descr="https://cloud.google.com/hadoop/images/hadoop-elephant.png"/>
              <p:cNvPicPr>
                <a:picLocks noChangeAspect="1" noChangeArrowheads="1"/>
              </p:cNvPicPr>
              <p:nvPr/>
            </p:nvPicPr>
            <p:blipFill>
              <a:blip r:embed="rId4"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872685" y="3051593"/>
                <a:ext cx="202248" cy="144580"/>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grpSp>
        <p:nvGrpSpPr>
          <p:cNvPr id="333" name="Group 332"/>
          <p:cNvGrpSpPr/>
          <p:nvPr/>
        </p:nvGrpSpPr>
        <p:grpSpPr>
          <a:xfrm>
            <a:off x="3030230" y="3186842"/>
            <a:ext cx="3764044" cy="307777"/>
            <a:chOff x="244054" y="2414282"/>
            <a:chExt cx="3764044" cy="307777"/>
          </a:xfrm>
        </p:grpSpPr>
        <p:sp>
          <p:nvSpPr>
            <p:cNvPr id="334" name="TextBox 333"/>
            <p:cNvSpPr txBox="1"/>
            <p:nvPr/>
          </p:nvSpPr>
          <p:spPr>
            <a:xfrm>
              <a:off x="244054" y="2432082"/>
              <a:ext cx="3764044" cy="276999"/>
            </a:xfrm>
            <a:prstGeom prst="rect">
              <a:avLst/>
            </a:prstGeom>
            <a:noFill/>
          </p:spPr>
          <p:txBody>
            <a:bodyPr wrap="none" lIns="0" tIns="0" rIns="0" bIns="0" rtlCol="0">
              <a:spAutoFit/>
            </a:bodyPr>
            <a:lstStyle/>
            <a:p>
              <a:r>
                <a:rPr lang="en-US" dirty="0" smtClean="0"/>
                <a:t>Clients choose        this often:       (100%)</a:t>
              </a:r>
            </a:p>
          </p:txBody>
        </p:sp>
        <p:grpSp>
          <p:nvGrpSpPr>
            <p:cNvPr id="335" name="Group 334"/>
            <p:cNvGrpSpPr/>
            <p:nvPr/>
          </p:nvGrpSpPr>
          <p:grpSpPr>
            <a:xfrm>
              <a:off x="1606590" y="2414282"/>
              <a:ext cx="295936" cy="307777"/>
              <a:chOff x="872685" y="2929409"/>
              <a:chExt cx="295936" cy="307777"/>
            </a:xfrm>
          </p:grpSpPr>
          <p:sp>
            <p:nvSpPr>
              <p:cNvPr id="337" name="TextBox 336"/>
              <p:cNvSpPr txBox="1"/>
              <p:nvPr/>
            </p:nvSpPr>
            <p:spPr>
              <a:xfrm>
                <a:off x="969849" y="2929409"/>
                <a:ext cx="198772" cy="307777"/>
              </a:xfrm>
              <a:prstGeom prst="rect">
                <a:avLst/>
              </a:prstGeom>
              <a:noFill/>
            </p:spPr>
            <p:txBody>
              <a:bodyPr wrap="none" lIns="0" tIns="0" rIns="0" bIns="0" rtlCol="0">
                <a:spAutoFit/>
              </a:bodyPr>
              <a:lstStyle/>
              <a:p>
                <a:r>
                  <a:rPr lang="en-US" sz="2000" dirty="0" smtClean="0">
                    <a:ln w="6350">
                      <a:solidFill>
                        <a:schemeClr val="tx1"/>
                      </a:solidFill>
                    </a:ln>
                    <a:solidFill>
                      <a:srgbClr val="4472C4"/>
                    </a:solidFill>
                    <a:latin typeface="Arial Black" panose="020B0A04020102020204" pitchFamily="34" charset="0"/>
                  </a:rPr>
                  <a:t>D</a:t>
                </a:r>
                <a:endParaRPr lang="en-US" sz="2400" dirty="0">
                  <a:ln w="6350">
                    <a:solidFill>
                      <a:schemeClr val="tx1"/>
                    </a:solidFill>
                  </a:ln>
                  <a:solidFill>
                    <a:srgbClr val="4472C4"/>
                  </a:solidFill>
                  <a:latin typeface="Arial Black" panose="020B0A04020102020204" pitchFamily="34" charset="0"/>
                </a:endParaRPr>
              </a:p>
            </p:txBody>
          </p:sp>
          <p:pic>
            <p:nvPicPr>
              <p:cNvPr id="338" name="Picture 2" descr="https://cloud.google.com/hadoop/images/hadoop-elephant.png"/>
              <p:cNvPicPr>
                <a:picLocks noChangeAspect="1" noChangeArrowheads="1"/>
              </p:cNvPicPr>
              <p:nvPr/>
            </p:nvPicPr>
            <p:blipFill>
              <a:blip r:embed="rId4"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872685" y="3051593"/>
                <a:ext cx="202248" cy="144580"/>
              </a:xfrm>
              <a:prstGeom prst="rect">
                <a:avLst/>
              </a:prstGeom>
              <a:noFill/>
              <a:ln w="28575">
                <a:noFill/>
              </a:ln>
              <a:extLst>
                <a:ext uri="{909E8E84-426E-40DD-AFC4-6F175D3DCCD1}">
                  <a14:hiddenFill xmlns:a14="http://schemas.microsoft.com/office/drawing/2010/main">
                    <a:solidFill>
                      <a:srgbClr val="FFFFFF"/>
                    </a:solidFill>
                  </a14:hiddenFill>
                </a:ext>
              </a:extLst>
            </p:spPr>
          </p:pic>
        </p:grpSp>
        <p:pic>
          <p:nvPicPr>
            <p:cNvPr id="336" name="Picture 335"/>
            <p:cNvPicPr>
              <a:picLocks noChangeAspect="1"/>
            </p:cNvPicPr>
            <p:nvPr/>
          </p:nvPicPr>
          <p:blipFill rotWithShape="1">
            <a:blip r:embed="rId3">
              <a:extLst>
                <a:ext uri="{28A0092B-C50C-407E-A947-70E740481C1C}">
                  <a14:useLocalDpi xmlns:a14="http://schemas.microsoft.com/office/drawing/2010/main" val="0"/>
                </a:ext>
              </a:extLst>
            </a:blip>
            <a:srcRect l="82044" t="51574" r="15409" b="37516"/>
            <a:stretch/>
          </p:blipFill>
          <p:spPr>
            <a:xfrm>
              <a:off x="3019423" y="2439210"/>
              <a:ext cx="266701" cy="278131"/>
            </a:xfrm>
            <a:prstGeom prst="rect">
              <a:avLst/>
            </a:prstGeom>
          </p:spPr>
        </p:pic>
      </p:grpSp>
      <p:grpSp>
        <p:nvGrpSpPr>
          <p:cNvPr id="339" name="Group 338"/>
          <p:cNvGrpSpPr/>
          <p:nvPr/>
        </p:nvGrpSpPr>
        <p:grpSpPr>
          <a:xfrm>
            <a:off x="3030230" y="2895428"/>
            <a:ext cx="3530005" cy="307777"/>
            <a:chOff x="244054" y="2122868"/>
            <a:chExt cx="3530005" cy="307777"/>
          </a:xfrm>
        </p:grpSpPr>
        <p:sp>
          <p:nvSpPr>
            <p:cNvPr id="340" name="TextBox 339"/>
            <p:cNvSpPr txBox="1"/>
            <p:nvPr/>
          </p:nvSpPr>
          <p:spPr>
            <a:xfrm>
              <a:off x="244054" y="2137354"/>
              <a:ext cx="3530005" cy="276999"/>
            </a:xfrm>
            <a:prstGeom prst="rect">
              <a:avLst/>
            </a:prstGeom>
            <a:noFill/>
          </p:spPr>
          <p:txBody>
            <a:bodyPr wrap="none" lIns="0" tIns="0" rIns="0" bIns="0" rtlCol="0">
              <a:spAutoFit/>
            </a:bodyPr>
            <a:lstStyle/>
            <a:p>
              <a:r>
                <a:rPr lang="en-US" dirty="0" smtClean="0"/>
                <a:t>Clients choose        this often:       (0%)</a:t>
              </a:r>
            </a:p>
          </p:txBody>
        </p:sp>
        <p:grpSp>
          <p:nvGrpSpPr>
            <p:cNvPr id="341" name="Group 340"/>
            <p:cNvGrpSpPr/>
            <p:nvPr/>
          </p:nvGrpSpPr>
          <p:grpSpPr>
            <a:xfrm>
              <a:off x="1606590" y="2122868"/>
              <a:ext cx="295936" cy="307777"/>
              <a:chOff x="872685" y="2929409"/>
              <a:chExt cx="295936" cy="307777"/>
            </a:xfrm>
          </p:grpSpPr>
          <p:sp>
            <p:nvSpPr>
              <p:cNvPr id="343" name="TextBox 342"/>
              <p:cNvSpPr txBox="1"/>
              <p:nvPr/>
            </p:nvSpPr>
            <p:spPr>
              <a:xfrm>
                <a:off x="969849" y="2929409"/>
                <a:ext cx="198772" cy="307777"/>
              </a:xfrm>
              <a:prstGeom prst="rect">
                <a:avLst/>
              </a:prstGeom>
              <a:noFill/>
            </p:spPr>
            <p:txBody>
              <a:bodyPr wrap="none" lIns="0" tIns="0" rIns="0" bIns="0" rtlCol="0">
                <a:spAutoFit/>
              </a:bodyPr>
              <a:lstStyle/>
              <a:p>
                <a:r>
                  <a:rPr lang="en-US" sz="2000" dirty="0" smtClean="0">
                    <a:ln w="6350">
                      <a:solidFill>
                        <a:schemeClr val="tx1"/>
                      </a:solidFill>
                    </a:ln>
                    <a:solidFill>
                      <a:srgbClr val="EAEAEA"/>
                    </a:solidFill>
                    <a:latin typeface="Arial Black" panose="020B0A04020102020204" pitchFamily="34" charset="0"/>
                  </a:rPr>
                  <a:t>B</a:t>
                </a:r>
                <a:endParaRPr lang="en-US" sz="2400" dirty="0">
                  <a:ln w="6350">
                    <a:solidFill>
                      <a:schemeClr val="tx1"/>
                    </a:solidFill>
                  </a:ln>
                  <a:solidFill>
                    <a:srgbClr val="EAEAEA"/>
                  </a:solidFill>
                  <a:latin typeface="Arial Black" panose="020B0A04020102020204" pitchFamily="34" charset="0"/>
                </a:endParaRPr>
              </a:p>
            </p:txBody>
          </p:sp>
          <p:pic>
            <p:nvPicPr>
              <p:cNvPr id="344" name="Picture 2" descr="https://cloud.google.com/hadoop/images/hadoop-elephant.png"/>
              <p:cNvPicPr>
                <a:picLocks noChangeAspect="1" noChangeArrowheads="1"/>
              </p:cNvPicPr>
              <p:nvPr/>
            </p:nvPicPr>
            <p:blipFill>
              <a:blip r:embed="rId4"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872685" y="3051593"/>
                <a:ext cx="202248" cy="144580"/>
              </a:xfrm>
              <a:prstGeom prst="rect">
                <a:avLst/>
              </a:prstGeom>
              <a:noFill/>
              <a:ln w="28575">
                <a:noFill/>
              </a:ln>
              <a:extLst>
                <a:ext uri="{909E8E84-426E-40DD-AFC4-6F175D3DCCD1}">
                  <a14:hiddenFill xmlns:a14="http://schemas.microsoft.com/office/drawing/2010/main">
                    <a:solidFill>
                      <a:srgbClr val="FFFFFF"/>
                    </a:solidFill>
                  </a14:hiddenFill>
                </a:ext>
              </a:extLst>
            </p:spPr>
          </p:pic>
        </p:grpSp>
        <p:pic>
          <p:nvPicPr>
            <p:cNvPr id="342" name="Picture 341"/>
            <p:cNvPicPr>
              <a:picLocks noChangeAspect="1"/>
            </p:cNvPicPr>
            <p:nvPr/>
          </p:nvPicPr>
          <p:blipFill rotWithShape="1">
            <a:blip r:embed="rId3">
              <a:extLst>
                <a:ext uri="{28A0092B-C50C-407E-A947-70E740481C1C}">
                  <a14:useLocalDpi xmlns:a14="http://schemas.microsoft.com/office/drawing/2010/main" val="0"/>
                </a:ext>
              </a:extLst>
            </a:blip>
            <a:srcRect l="86920" t="32818" r="10533" b="56272"/>
            <a:stretch/>
          </p:blipFill>
          <p:spPr>
            <a:xfrm>
              <a:off x="3019423" y="2141918"/>
              <a:ext cx="266701" cy="278131"/>
            </a:xfrm>
            <a:prstGeom prst="rect">
              <a:avLst/>
            </a:prstGeom>
          </p:spPr>
        </p:pic>
      </p:grpSp>
      <p:sp>
        <p:nvSpPr>
          <p:cNvPr id="345" name="Oval 344"/>
          <p:cNvSpPr/>
          <p:nvPr/>
        </p:nvSpPr>
        <p:spPr>
          <a:xfrm>
            <a:off x="4661353" y="867947"/>
            <a:ext cx="352425" cy="352425"/>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 name="Oval 345"/>
          <p:cNvSpPr/>
          <p:nvPr/>
        </p:nvSpPr>
        <p:spPr>
          <a:xfrm>
            <a:off x="4154519" y="1343504"/>
            <a:ext cx="352425" cy="352425"/>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Query"/>
          <p:cNvSpPr txBox="1"/>
          <p:nvPr/>
        </p:nvSpPr>
        <p:spPr>
          <a:xfrm>
            <a:off x="2814211" y="4744085"/>
            <a:ext cx="5818901" cy="1772793"/>
          </a:xfrm>
          <a:prstGeom prst="rect">
            <a:avLst/>
          </a:prstGeom>
          <a:noFill/>
        </p:spPr>
        <p:txBody>
          <a:bodyPr wrap="none" lIns="0" tIns="0" rIns="0" bIns="0" rtlCol="0" anchor="t" anchorCtr="0">
            <a:spAutoFit/>
          </a:bodyPr>
          <a:lstStyle/>
          <a:p>
            <a:pPr>
              <a:lnSpc>
                <a:spcPct val="90000"/>
              </a:lnSpc>
            </a:pPr>
            <a:r>
              <a:rPr lang="en-US" sz="1600" b="1" spc="-50" dirty="0" smtClean="0">
                <a:latin typeface="Consolas" panose="020B0609020204030204" pitchFamily="49" charset="0"/>
                <a:cs typeface="Consolas" panose="020B0609020204030204" pitchFamily="49" charset="0"/>
              </a:rPr>
              <a:t>From</a:t>
            </a:r>
            <a:r>
              <a:rPr lang="en-US" sz="1600" spc="-50" dirty="0" smtClean="0">
                <a:latin typeface="Consolas" panose="020B0609020204030204" pitchFamily="49" charset="0"/>
                <a:cs typeface="Consolas" panose="020B0609020204030204" pitchFamily="49" charset="0"/>
              </a:rPr>
              <a:t> </a:t>
            </a:r>
            <a:r>
              <a:rPr lang="en-US" sz="1600" spc="-50" dirty="0" err="1" smtClean="0">
                <a:solidFill>
                  <a:srgbClr val="4472C4"/>
                </a:solidFill>
                <a:latin typeface="Consolas" panose="020B0609020204030204" pitchFamily="49" charset="0"/>
                <a:cs typeface="Consolas" panose="020B0609020204030204" pitchFamily="49" charset="0"/>
              </a:rPr>
              <a:t>readBlock</a:t>
            </a:r>
            <a:r>
              <a:rPr lang="en-US" sz="1600" spc="-50" dirty="0" smtClean="0">
                <a:solidFill>
                  <a:srgbClr val="4472C4"/>
                </a:solidFill>
                <a:latin typeface="Consolas" panose="020B0609020204030204" pitchFamily="49" charset="0"/>
                <a:cs typeface="Consolas" panose="020B0609020204030204" pitchFamily="49" charset="0"/>
              </a:rPr>
              <a:t> </a:t>
            </a:r>
            <a:r>
              <a:rPr lang="en-US" sz="1600" b="1" spc="-50" dirty="0" smtClean="0">
                <a:latin typeface="Consolas" panose="020B0609020204030204" pitchFamily="49" charset="0"/>
                <a:cs typeface="Consolas" panose="020B0609020204030204" pitchFamily="49" charset="0"/>
              </a:rPr>
              <a:t>In</a:t>
            </a:r>
            <a:r>
              <a:rPr lang="en-US" sz="1600" spc="-50" dirty="0" smtClean="0">
                <a:latin typeface="Consolas" panose="020B0609020204030204" pitchFamily="49" charset="0"/>
                <a:cs typeface="Consolas" panose="020B0609020204030204" pitchFamily="49" charset="0"/>
              </a:rPr>
              <a:t> </a:t>
            </a:r>
            <a:r>
              <a:rPr lang="en-US" sz="1600" spc="-50" dirty="0" err="1" smtClean="0">
                <a:solidFill>
                  <a:schemeClr val="accent5"/>
                </a:solidFill>
                <a:latin typeface="Consolas" panose="020B0609020204030204" pitchFamily="49" charset="0"/>
                <a:cs typeface="Consolas" panose="020B0609020204030204" pitchFamily="49" charset="0"/>
              </a:rPr>
              <a:t>DataNode.DataTransferProtocol</a:t>
            </a:r>
            <a:endParaRPr lang="en-US" sz="1600" spc="-50" dirty="0" smtClean="0">
              <a:solidFill>
                <a:schemeClr val="accent5"/>
              </a:solidFill>
              <a:latin typeface="Consolas" panose="020B0609020204030204" pitchFamily="49" charset="0"/>
              <a:cs typeface="Consolas" panose="020B0609020204030204" pitchFamily="49" charset="0"/>
            </a:endParaRPr>
          </a:p>
          <a:p>
            <a:pPr>
              <a:lnSpc>
                <a:spcPct val="90000"/>
              </a:lnSpc>
            </a:pPr>
            <a:r>
              <a:rPr lang="en-US" sz="1600" spc="-50" dirty="0">
                <a:solidFill>
                  <a:schemeClr val="accent5"/>
                </a:solidFill>
                <a:latin typeface="Consolas" panose="020B0609020204030204" pitchFamily="49" charset="0"/>
                <a:cs typeface="Consolas" panose="020B0609020204030204" pitchFamily="49" charset="0"/>
              </a:rPr>
              <a:t> </a:t>
            </a:r>
            <a:r>
              <a:rPr lang="en-US" sz="1600" spc="-50" dirty="0" smtClean="0">
                <a:solidFill>
                  <a:schemeClr val="accent5"/>
                </a:solidFill>
                <a:latin typeface="Consolas" panose="020B0609020204030204" pitchFamily="49" charset="0"/>
                <a:cs typeface="Consolas" panose="020B0609020204030204" pitchFamily="49" charset="0"/>
              </a:rPr>
              <a:t> </a:t>
            </a:r>
            <a:r>
              <a:rPr lang="en-US" sz="1600" b="1" spc="-50" dirty="0" smtClean="0">
                <a:latin typeface="Consolas" panose="020B0609020204030204" pitchFamily="49" charset="0"/>
                <a:cs typeface="Consolas" panose="020B0609020204030204" pitchFamily="49" charset="0"/>
              </a:rPr>
              <a:t>Join</a:t>
            </a:r>
            <a:r>
              <a:rPr lang="en-US" sz="1600" spc="-50" dirty="0" smtClean="0">
                <a:solidFill>
                  <a:schemeClr val="accent5"/>
                </a:solidFill>
                <a:latin typeface="Consolas" panose="020B0609020204030204" pitchFamily="49" charset="0"/>
                <a:cs typeface="Consolas" panose="020B0609020204030204" pitchFamily="49" charset="0"/>
              </a:rPr>
              <a:t> </a:t>
            </a:r>
            <a:r>
              <a:rPr lang="en-US" sz="1600" spc="-50" dirty="0" err="1">
                <a:solidFill>
                  <a:srgbClr val="23642F"/>
                </a:solidFill>
                <a:latin typeface="Consolas" panose="020B0609020204030204" pitchFamily="49" charset="0"/>
                <a:cs typeface="Consolas" panose="020B0609020204030204" pitchFamily="49" charset="0"/>
              </a:rPr>
              <a:t>blockLocations</a:t>
            </a:r>
            <a:r>
              <a:rPr lang="en-US" sz="1600" spc="-50" dirty="0">
                <a:solidFill>
                  <a:srgbClr val="23642F"/>
                </a:solidFill>
                <a:latin typeface="Consolas" panose="020B0609020204030204" pitchFamily="49" charset="0"/>
                <a:cs typeface="Consolas" panose="020B0609020204030204" pitchFamily="49" charset="0"/>
              </a:rPr>
              <a:t> </a:t>
            </a:r>
            <a:r>
              <a:rPr lang="en-US" sz="1600" b="1" spc="-50" dirty="0" smtClean="0">
                <a:latin typeface="Consolas" panose="020B0609020204030204" pitchFamily="49" charset="0"/>
                <a:cs typeface="Consolas" panose="020B0609020204030204" pitchFamily="49" charset="0"/>
              </a:rPr>
              <a:t>In</a:t>
            </a:r>
            <a:r>
              <a:rPr lang="en-US" sz="1600" spc="-50" dirty="0" smtClean="0">
                <a:solidFill>
                  <a:schemeClr val="accent5"/>
                </a:solidFill>
                <a:latin typeface="Consolas" panose="020B0609020204030204" pitchFamily="49" charset="0"/>
                <a:cs typeface="Consolas" panose="020B0609020204030204" pitchFamily="49" charset="0"/>
              </a:rPr>
              <a:t> </a:t>
            </a:r>
            <a:r>
              <a:rPr lang="en-US" sz="1600" spc="-50" dirty="0" err="1" smtClean="0">
                <a:solidFill>
                  <a:srgbClr val="23642F"/>
                </a:solidFill>
                <a:latin typeface="Consolas" panose="020B0609020204030204" pitchFamily="49" charset="0"/>
                <a:cs typeface="Consolas" panose="020B0609020204030204" pitchFamily="49" charset="0"/>
              </a:rPr>
              <a:t>NameNode.GetBlockLocations</a:t>
            </a:r>
            <a:r>
              <a:rPr lang="en-US" sz="1600" spc="-50" dirty="0" smtClean="0">
                <a:solidFill>
                  <a:srgbClr val="23642F"/>
                </a:solidFill>
                <a:latin typeface="Consolas" panose="020B0609020204030204" pitchFamily="49" charset="0"/>
                <a:cs typeface="Consolas" panose="020B0609020204030204" pitchFamily="49" charset="0"/>
              </a:rPr>
              <a:t> </a:t>
            </a:r>
          </a:p>
          <a:p>
            <a:pPr>
              <a:lnSpc>
                <a:spcPct val="90000"/>
              </a:lnSpc>
            </a:pPr>
            <a:r>
              <a:rPr lang="en-US" sz="1600" b="1" spc="-50" dirty="0">
                <a:solidFill>
                  <a:schemeClr val="accent6"/>
                </a:solidFill>
                <a:latin typeface="Consolas" panose="020B0609020204030204" pitchFamily="49" charset="0"/>
                <a:cs typeface="Consolas" panose="020B0609020204030204" pitchFamily="49" charset="0"/>
              </a:rPr>
              <a:t>	</a:t>
            </a:r>
            <a:r>
              <a:rPr lang="en-US" sz="1600" b="1" spc="-50" dirty="0" smtClean="0">
                <a:solidFill>
                  <a:schemeClr val="accent6"/>
                </a:solidFill>
                <a:latin typeface="Consolas" panose="020B0609020204030204" pitchFamily="49" charset="0"/>
                <a:cs typeface="Consolas" panose="020B0609020204030204" pitchFamily="49" charset="0"/>
              </a:rPr>
              <a:t>	</a:t>
            </a:r>
            <a:r>
              <a:rPr lang="en-US" sz="1600" b="1" spc="-50" dirty="0" smtClean="0">
                <a:latin typeface="Consolas" panose="020B0609020204030204" pitchFamily="49" charset="0"/>
                <a:cs typeface="Consolas" panose="020B0609020204030204" pitchFamily="49" charset="0"/>
              </a:rPr>
              <a:t>On</a:t>
            </a:r>
            <a:r>
              <a:rPr lang="en-US" sz="1600" spc="-50" dirty="0" smtClean="0">
                <a:latin typeface="Consolas" panose="020B0609020204030204" pitchFamily="49" charset="0"/>
                <a:cs typeface="Consolas" panose="020B0609020204030204" pitchFamily="49" charset="0"/>
              </a:rPr>
              <a:t> </a:t>
            </a:r>
            <a:r>
              <a:rPr lang="en-US" sz="1600" spc="-50" dirty="0" err="1" smtClean="0">
                <a:solidFill>
                  <a:srgbClr val="23642F"/>
                </a:solidFill>
                <a:latin typeface="Consolas" panose="020B0609020204030204" pitchFamily="49" charset="0"/>
                <a:cs typeface="Consolas" panose="020B0609020204030204" pitchFamily="49" charset="0"/>
              </a:rPr>
              <a:t>blockLocations</a:t>
            </a:r>
            <a:r>
              <a:rPr lang="en-US" sz="1600" spc="-50" dirty="0" smtClean="0">
                <a:solidFill>
                  <a:srgbClr val="23642F"/>
                </a:solidFill>
                <a:latin typeface="Consolas" panose="020B0609020204030204" pitchFamily="49" charset="0"/>
                <a:cs typeface="Consolas" panose="020B0609020204030204" pitchFamily="49" charset="0"/>
              </a:rPr>
              <a:t> </a:t>
            </a:r>
            <a:r>
              <a:rPr lang="en-US" sz="1600" b="1" spc="-50" dirty="0" smtClean="0">
                <a:latin typeface="Consolas" panose="020B0609020204030204" pitchFamily="49" charset="0"/>
                <a:cs typeface="Consolas" panose="020B0609020204030204" pitchFamily="49" charset="0"/>
              </a:rPr>
              <a:t>-&gt;</a:t>
            </a:r>
            <a:r>
              <a:rPr lang="en-US" sz="1600" spc="-50" dirty="0" smtClean="0">
                <a:solidFill>
                  <a:schemeClr val="accent5"/>
                </a:solidFill>
                <a:latin typeface="Consolas" panose="020B0609020204030204" pitchFamily="49" charset="0"/>
                <a:cs typeface="Consolas" panose="020B0609020204030204" pitchFamily="49" charset="0"/>
              </a:rPr>
              <a:t> </a:t>
            </a:r>
            <a:r>
              <a:rPr lang="en-US" sz="1600" spc="-50" dirty="0" err="1" smtClean="0">
                <a:solidFill>
                  <a:schemeClr val="accent5"/>
                </a:solidFill>
                <a:latin typeface="Consolas" panose="020B0609020204030204" pitchFamily="49" charset="0"/>
                <a:cs typeface="Consolas" panose="020B0609020204030204" pitchFamily="49" charset="0"/>
              </a:rPr>
              <a:t>readBlock</a:t>
            </a:r>
            <a:endParaRPr lang="en-US" sz="1600" spc="-50" dirty="0" smtClean="0">
              <a:solidFill>
                <a:schemeClr val="accent5"/>
              </a:solidFill>
              <a:latin typeface="Consolas" panose="020B0609020204030204" pitchFamily="49" charset="0"/>
              <a:cs typeface="Consolas" panose="020B0609020204030204" pitchFamily="49" charset="0"/>
            </a:endParaRPr>
          </a:p>
          <a:p>
            <a:pPr>
              <a:lnSpc>
                <a:spcPct val="90000"/>
              </a:lnSpc>
            </a:pPr>
            <a:r>
              <a:rPr lang="en-US" sz="1600" spc="-50" dirty="0" smtClean="0">
                <a:solidFill>
                  <a:srgbClr val="23642F"/>
                </a:solidFill>
                <a:latin typeface="Consolas" panose="020B0609020204030204" pitchFamily="49" charset="0"/>
                <a:cs typeface="Consolas" panose="020B0609020204030204" pitchFamily="49" charset="0"/>
              </a:rPr>
              <a:t>  </a:t>
            </a:r>
            <a:r>
              <a:rPr lang="en-US" sz="1600" b="1" spc="-50" dirty="0" smtClean="0">
                <a:latin typeface="Consolas" panose="020B0609020204030204" pitchFamily="49" charset="0"/>
                <a:cs typeface="Consolas" panose="020B0609020204030204" pitchFamily="49" charset="0"/>
              </a:rPr>
              <a:t>Join</a:t>
            </a:r>
            <a:r>
              <a:rPr lang="en-US" sz="1600" spc="-50" dirty="0" smtClean="0">
                <a:solidFill>
                  <a:srgbClr val="23642F"/>
                </a:solidFill>
                <a:latin typeface="Consolas" panose="020B0609020204030204" pitchFamily="49" charset="0"/>
                <a:cs typeface="Consolas" panose="020B0609020204030204" pitchFamily="49" charset="0"/>
              </a:rPr>
              <a:t> </a:t>
            </a:r>
            <a:r>
              <a:rPr lang="en-US" sz="1600" spc="-50" dirty="0" smtClean="0">
                <a:solidFill>
                  <a:srgbClr val="C00000"/>
                </a:solidFill>
                <a:latin typeface="Consolas" panose="020B0609020204030204" pitchFamily="49" charset="0"/>
                <a:cs typeface="Consolas" panose="020B0609020204030204" pitchFamily="49" charset="0"/>
              </a:rPr>
              <a:t>cl </a:t>
            </a:r>
            <a:r>
              <a:rPr lang="en-US" sz="1600" b="1" spc="-50" dirty="0" smtClean="0">
                <a:latin typeface="Consolas" panose="020B0609020204030204" pitchFamily="49" charset="0"/>
                <a:cs typeface="Consolas" panose="020B0609020204030204" pitchFamily="49" charset="0"/>
              </a:rPr>
              <a:t>In</a:t>
            </a:r>
            <a:r>
              <a:rPr lang="en-US" sz="1600" spc="-50" dirty="0" smtClean="0">
                <a:solidFill>
                  <a:srgbClr val="23642F"/>
                </a:solidFill>
                <a:latin typeface="Consolas" panose="020B0609020204030204" pitchFamily="49" charset="0"/>
                <a:cs typeface="Consolas" panose="020B0609020204030204" pitchFamily="49" charset="0"/>
              </a:rPr>
              <a:t> </a:t>
            </a:r>
            <a:r>
              <a:rPr lang="en-US" sz="1600" spc="-50" dirty="0" err="1" smtClean="0">
                <a:solidFill>
                  <a:srgbClr val="C00000"/>
                </a:solidFill>
                <a:latin typeface="Consolas" panose="020B0609020204030204" pitchFamily="49" charset="0"/>
                <a:cs typeface="Consolas" panose="020B0609020204030204" pitchFamily="49" charset="0"/>
              </a:rPr>
              <a:t>Client.DoRandomRead</a:t>
            </a:r>
            <a:r>
              <a:rPr lang="en-US" sz="1600" spc="-50" dirty="0" smtClean="0">
                <a:solidFill>
                  <a:srgbClr val="1F3763"/>
                </a:solidFill>
                <a:latin typeface="Consolas" panose="020B0609020204030204" pitchFamily="49" charset="0"/>
                <a:cs typeface="Consolas" panose="020B0609020204030204" pitchFamily="49" charset="0"/>
              </a:rPr>
              <a:t> </a:t>
            </a:r>
          </a:p>
          <a:p>
            <a:pPr>
              <a:lnSpc>
                <a:spcPct val="90000"/>
              </a:lnSpc>
            </a:pPr>
            <a:r>
              <a:rPr lang="en-US" sz="1600" b="1" spc="-50" dirty="0">
                <a:solidFill>
                  <a:srgbClr val="1F3763"/>
                </a:solidFill>
                <a:latin typeface="Consolas" panose="020B0609020204030204" pitchFamily="49" charset="0"/>
                <a:cs typeface="Consolas" panose="020B0609020204030204" pitchFamily="49" charset="0"/>
              </a:rPr>
              <a:t>	</a:t>
            </a:r>
            <a:r>
              <a:rPr lang="en-US" sz="1600" b="1" spc="-50" dirty="0" smtClean="0">
                <a:solidFill>
                  <a:srgbClr val="1F3763"/>
                </a:solidFill>
                <a:latin typeface="Consolas" panose="020B0609020204030204" pitchFamily="49" charset="0"/>
                <a:cs typeface="Consolas" panose="020B0609020204030204" pitchFamily="49" charset="0"/>
              </a:rPr>
              <a:t>	</a:t>
            </a:r>
            <a:r>
              <a:rPr lang="en-US" sz="1600" b="1" spc="-50" dirty="0" smtClean="0">
                <a:latin typeface="Consolas" panose="020B0609020204030204" pitchFamily="49" charset="0"/>
                <a:cs typeface="Consolas" panose="020B0609020204030204" pitchFamily="49" charset="0"/>
              </a:rPr>
              <a:t>On</a:t>
            </a:r>
            <a:r>
              <a:rPr lang="en-US" sz="1600" spc="-50" dirty="0" smtClean="0">
                <a:solidFill>
                  <a:srgbClr val="23642F"/>
                </a:solidFill>
                <a:latin typeface="Consolas" panose="020B0609020204030204" pitchFamily="49" charset="0"/>
                <a:cs typeface="Consolas" panose="020B0609020204030204" pitchFamily="49" charset="0"/>
              </a:rPr>
              <a:t> </a:t>
            </a:r>
            <a:r>
              <a:rPr lang="en-US" sz="1600" spc="-50" dirty="0" smtClean="0">
                <a:solidFill>
                  <a:srgbClr val="C00000"/>
                </a:solidFill>
                <a:latin typeface="Consolas" panose="020B0609020204030204" pitchFamily="49" charset="0"/>
                <a:cs typeface="Consolas" panose="020B0609020204030204" pitchFamily="49" charset="0"/>
              </a:rPr>
              <a:t>cl </a:t>
            </a:r>
            <a:r>
              <a:rPr lang="en-US" sz="1600" b="1" spc="-50" dirty="0" smtClean="0">
                <a:latin typeface="Consolas" panose="020B0609020204030204" pitchFamily="49" charset="0"/>
                <a:cs typeface="Consolas" panose="020B0609020204030204" pitchFamily="49" charset="0"/>
              </a:rPr>
              <a:t>-&gt;</a:t>
            </a:r>
            <a:r>
              <a:rPr lang="en-US" sz="1600" spc="-50" dirty="0" smtClean="0">
                <a:solidFill>
                  <a:srgbClr val="23642F"/>
                </a:solidFill>
                <a:latin typeface="Consolas" panose="020B0609020204030204" pitchFamily="49" charset="0"/>
                <a:cs typeface="Consolas" panose="020B0609020204030204" pitchFamily="49" charset="0"/>
              </a:rPr>
              <a:t> </a:t>
            </a:r>
            <a:r>
              <a:rPr lang="en-US" sz="1600" spc="-50" dirty="0" err="1" smtClean="0">
                <a:solidFill>
                  <a:srgbClr val="23642F"/>
                </a:solidFill>
                <a:latin typeface="Consolas" panose="020B0609020204030204" pitchFamily="49" charset="0"/>
                <a:cs typeface="Consolas" panose="020B0609020204030204" pitchFamily="49" charset="0"/>
              </a:rPr>
              <a:t>blockLocations</a:t>
            </a:r>
            <a:endParaRPr lang="en-US" sz="1600" spc="-50" dirty="0" smtClean="0">
              <a:solidFill>
                <a:srgbClr val="23642F"/>
              </a:solidFill>
              <a:latin typeface="Consolas" panose="020B0609020204030204" pitchFamily="49" charset="0"/>
              <a:cs typeface="Consolas" panose="020B0609020204030204" pitchFamily="49" charset="0"/>
            </a:endParaRPr>
          </a:p>
          <a:p>
            <a:pPr>
              <a:lnSpc>
                <a:spcPct val="90000"/>
              </a:lnSpc>
            </a:pPr>
            <a:r>
              <a:rPr lang="en-US" sz="1600" spc="-50" dirty="0">
                <a:solidFill>
                  <a:schemeClr val="accent5"/>
                </a:solidFill>
                <a:latin typeface="Consolas" panose="020B0609020204030204" pitchFamily="49" charset="0"/>
                <a:cs typeface="Consolas" panose="020B0609020204030204" pitchFamily="49" charset="0"/>
              </a:rPr>
              <a:t> </a:t>
            </a:r>
            <a:r>
              <a:rPr lang="en-US" sz="1600" spc="-50" dirty="0" smtClean="0">
                <a:solidFill>
                  <a:schemeClr val="accent5"/>
                </a:solidFill>
                <a:latin typeface="Consolas" panose="020B0609020204030204" pitchFamily="49" charset="0"/>
                <a:cs typeface="Consolas" panose="020B0609020204030204" pitchFamily="49" charset="0"/>
              </a:rPr>
              <a:t> </a:t>
            </a:r>
            <a:r>
              <a:rPr lang="en-US" sz="1600" b="1" spc="-50" dirty="0" smtClean="0">
                <a:latin typeface="Consolas" panose="020B0609020204030204" pitchFamily="49" charset="0"/>
                <a:cs typeface="Consolas" panose="020B0609020204030204" pitchFamily="49" charset="0"/>
              </a:rPr>
              <a:t>Where</a:t>
            </a:r>
            <a:r>
              <a:rPr lang="en-US" sz="1600" spc="-50" dirty="0" smtClean="0">
                <a:solidFill>
                  <a:schemeClr val="accent5"/>
                </a:solidFill>
                <a:latin typeface="Consolas" panose="020B0609020204030204" pitchFamily="49" charset="0"/>
                <a:cs typeface="Consolas" panose="020B0609020204030204" pitchFamily="49" charset="0"/>
              </a:rPr>
              <a:t> </a:t>
            </a:r>
            <a:r>
              <a:rPr lang="en-US" sz="1600" spc="-50" dirty="0" err="1" smtClean="0">
                <a:solidFill>
                  <a:srgbClr val="C00000"/>
                </a:solidFill>
                <a:latin typeface="Consolas" panose="020B0609020204030204" pitchFamily="49" charset="0"/>
                <a:cs typeface="Consolas" panose="020B0609020204030204" pitchFamily="49" charset="0"/>
              </a:rPr>
              <a:t>cl.host</a:t>
            </a:r>
            <a:r>
              <a:rPr lang="en-US" sz="1600" spc="-50" dirty="0" smtClean="0">
                <a:solidFill>
                  <a:srgbClr val="C00000"/>
                </a:solidFill>
                <a:latin typeface="Consolas" panose="020B0609020204030204" pitchFamily="49" charset="0"/>
                <a:cs typeface="Consolas" panose="020B0609020204030204" pitchFamily="49" charset="0"/>
              </a:rPr>
              <a:t> </a:t>
            </a:r>
            <a:r>
              <a:rPr lang="en-US" sz="1600" b="1" spc="-50" dirty="0" smtClean="0">
                <a:latin typeface="Consolas" panose="020B0609020204030204" pitchFamily="49" charset="0"/>
                <a:cs typeface="Consolas" panose="020B0609020204030204" pitchFamily="49" charset="0"/>
              </a:rPr>
              <a:t>!=</a:t>
            </a:r>
            <a:r>
              <a:rPr lang="en-US" sz="1600" spc="-50" dirty="0" smtClean="0">
                <a:solidFill>
                  <a:schemeClr val="accent5"/>
                </a:solidFill>
                <a:latin typeface="Consolas" panose="020B0609020204030204" pitchFamily="49" charset="0"/>
                <a:cs typeface="Consolas" panose="020B0609020204030204" pitchFamily="49" charset="0"/>
              </a:rPr>
              <a:t> </a:t>
            </a:r>
            <a:r>
              <a:rPr lang="en-US" sz="1600" spc="-50" dirty="0" err="1" smtClean="0">
                <a:solidFill>
                  <a:schemeClr val="accent5"/>
                </a:solidFill>
                <a:latin typeface="Consolas" panose="020B0609020204030204" pitchFamily="49" charset="0"/>
                <a:cs typeface="Consolas" panose="020B0609020204030204" pitchFamily="49" charset="0"/>
              </a:rPr>
              <a:t>readBlock.host</a:t>
            </a:r>
            <a:endParaRPr lang="en-US" sz="1600" spc="-50" dirty="0" smtClean="0">
              <a:solidFill>
                <a:schemeClr val="accent5"/>
              </a:solidFill>
              <a:latin typeface="Consolas" panose="020B0609020204030204" pitchFamily="49" charset="0"/>
              <a:cs typeface="Consolas" panose="020B0609020204030204" pitchFamily="49" charset="0"/>
            </a:endParaRPr>
          </a:p>
          <a:p>
            <a:pPr>
              <a:lnSpc>
                <a:spcPct val="90000"/>
              </a:lnSpc>
            </a:pPr>
            <a:r>
              <a:rPr lang="en-US" sz="1600" b="1" spc="-50" dirty="0" smtClean="0">
                <a:latin typeface="Consolas" panose="020B0609020204030204" pitchFamily="49" charset="0"/>
                <a:cs typeface="Consolas" panose="020B0609020204030204" pitchFamily="49" charset="0"/>
              </a:rPr>
              <a:t>  </a:t>
            </a:r>
            <a:r>
              <a:rPr lang="en-US" sz="1600" b="1" spc="-50" dirty="0" err="1">
                <a:latin typeface="Consolas" panose="020B0609020204030204" pitchFamily="49" charset="0"/>
                <a:cs typeface="Consolas" panose="020B0609020204030204" pitchFamily="49" charset="0"/>
              </a:rPr>
              <a:t>GroupBy</a:t>
            </a:r>
            <a:r>
              <a:rPr lang="en-US" sz="1600" spc="-50" dirty="0">
                <a:solidFill>
                  <a:srgbClr val="C00000"/>
                </a:solidFill>
                <a:latin typeface="Consolas" panose="020B0609020204030204" pitchFamily="49" charset="0"/>
                <a:cs typeface="Consolas" panose="020B0609020204030204" pitchFamily="49" charset="0"/>
              </a:rPr>
              <a:t> </a:t>
            </a:r>
            <a:r>
              <a:rPr lang="en-US" sz="1600" spc="-50" dirty="0" err="1">
                <a:solidFill>
                  <a:srgbClr val="23642F"/>
                </a:solidFill>
                <a:latin typeface="Consolas" panose="020B0609020204030204" pitchFamily="49" charset="0"/>
                <a:cs typeface="Consolas" panose="020B0609020204030204" pitchFamily="49" charset="0"/>
              </a:rPr>
              <a:t>blockLocations.replicas</a:t>
            </a:r>
            <a:r>
              <a:rPr lang="en-US" sz="1600" b="1" spc="-50" dirty="0">
                <a:latin typeface="Consolas" panose="020B0609020204030204" pitchFamily="49" charset="0"/>
                <a:cs typeface="Consolas" panose="020B0609020204030204" pitchFamily="49" charset="0"/>
              </a:rPr>
              <a:t>, </a:t>
            </a:r>
            <a:r>
              <a:rPr lang="en-US" sz="1600" spc="-50" dirty="0" err="1">
                <a:solidFill>
                  <a:schemeClr val="accent5"/>
                </a:solidFill>
                <a:latin typeface="Consolas" panose="020B0609020204030204" pitchFamily="49" charset="0"/>
                <a:cs typeface="Consolas" panose="020B0609020204030204" pitchFamily="49" charset="0"/>
              </a:rPr>
              <a:t>readBlock.host</a:t>
            </a:r>
            <a:endParaRPr lang="en-US" sz="1600" b="1" spc="-50" dirty="0">
              <a:latin typeface="Consolas" panose="020B0609020204030204" pitchFamily="49" charset="0"/>
              <a:cs typeface="Consolas" panose="020B0609020204030204" pitchFamily="49" charset="0"/>
            </a:endParaRPr>
          </a:p>
          <a:p>
            <a:pPr>
              <a:lnSpc>
                <a:spcPct val="90000"/>
              </a:lnSpc>
            </a:pPr>
            <a:r>
              <a:rPr lang="en-US" sz="1600" spc="-50" dirty="0">
                <a:solidFill>
                  <a:srgbClr val="23642F"/>
                </a:solidFill>
                <a:latin typeface="Consolas" panose="020B0609020204030204" pitchFamily="49" charset="0"/>
                <a:cs typeface="Consolas" panose="020B0609020204030204" pitchFamily="49" charset="0"/>
              </a:rPr>
              <a:t>  </a:t>
            </a:r>
            <a:r>
              <a:rPr lang="en-US" sz="1600" b="1" spc="-50" dirty="0">
                <a:latin typeface="Consolas" panose="020B0609020204030204" pitchFamily="49" charset="0"/>
                <a:cs typeface="Consolas" panose="020B0609020204030204" pitchFamily="49" charset="0"/>
              </a:rPr>
              <a:t>Select</a:t>
            </a:r>
            <a:r>
              <a:rPr lang="en-US" sz="1600" spc="-50" dirty="0">
                <a:solidFill>
                  <a:srgbClr val="23642F"/>
                </a:solidFill>
                <a:latin typeface="Consolas" panose="020B0609020204030204" pitchFamily="49" charset="0"/>
                <a:cs typeface="Consolas" panose="020B0609020204030204" pitchFamily="49" charset="0"/>
              </a:rPr>
              <a:t> </a:t>
            </a:r>
            <a:r>
              <a:rPr lang="en-US" sz="1600" spc="-50" dirty="0" err="1">
                <a:solidFill>
                  <a:srgbClr val="23642F"/>
                </a:solidFill>
                <a:latin typeface="Consolas" panose="020B0609020204030204" pitchFamily="49" charset="0"/>
                <a:cs typeface="Consolas" panose="020B0609020204030204" pitchFamily="49" charset="0"/>
              </a:rPr>
              <a:t>blockLocations.replicas</a:t>
            </a:r>
            <a:r>
              <a:rPr lang="en-US" sz="1600" spc="-50" dirty="0">
                <a:latin typeface="Consolas" panose="020B0609020204030204" pitchFamily="49" charset="0"/>
                <a:cs typeface="Consolas" panose="020B0609020204030204" pitchFamily="49" charset="0"/>
              </a:rPr>
              <a:t>,</a:t>
            </a:r>
            <a:r>
              <a:rPr lang="en-US" sz="1600" spc="-50" dirty="0">
                <a:solidFill>
                  <a:srgbClr val="2F2364"/>
                </a:solidFill>
                <a:latin typeface="Consolas" panose="020B0609020204030204" pitchFamily="49" charset="0"/>
                <a:cs typeface="Consolas" panose="020B0609020204030204" pitchFamily="49" charset="0"/>
              </a:rPr>
              <a:t> </a:t>
            </a:r>
            <a:r>
              <a:rPr lang="en-US" sz="1600" spc="-50" dirty="0" err="1">
                <a:solidFill>
                  <a:schemeClr val="accent5"/>
                </a:solidFill>
                <a:latin typeface="Consolas" panose="020B0609020204030204" pitchFamily="49" charset="0"/>
                <a:cs typeface="Consolas" panose="020B0609020204030204" pitchFamily="49" charset="0"/>
              </a:rPr>
              <a:t>readBlock.host</a:t>
            </a:r>
            <a:r>
              <a:rPr lang="en-US" sz="1600" spc="-50" dirty="0">
                <a:latin typeface="Consolas" panose="020B0609020204030204" pitchFamily="49" charset="0"/>
                <a:cs typeface="Consolas" panose="020B0609020204030204" pitchFamily="49" charset="0"/>
              </a:rPr>
              <a:t>,</a:t>
            </a:r>
            <a:r>
              <a:rPr lang="en-US" sz="1600" spc="-50" dirty="0">
                <a:solidFill>
                  <a:srgbClr val="C00000"/>
                </a:solidFill>
                <a:latin typeface="Consolas" panose="020B0609020204030204" pitchFamily="49" charset="0"/>
                <a:cs typeface="Consolas" panose="020B0609020204030204" pitchFamily="49" charset="0"/>
              </a:rPr>
              <a:t> </a:t>
            </a:r>
            <a:r>
              <a:rPr lang="en-US" sz="1600" b="1" spc="-50" dirty="0">
                <a:latin typeface="Consolas" panose="020B0609020204030204" pitchFamily="49" charset="0"/>
                <a:cs typeface="Consolas" panose="020B0609020204030204" pitchFamily="49" charset="0"/>
              </a:rPr>
              <a:t>COUNT</a:t>
            </a:r>
            <a:endParaRPr lang="en-US" sz="1600" b="1" spc="-50" dirty="0" smtClean="0">
              <a:latin typeface="Consolas" panose="020B0609020204030204" pitchFamily="49" charset="0"/>
              <a:cs typeface="Consolas" panose="020B0609020204030204" pitchFamily="49" charset="0"/>
            </a:endParaRPr>
          </a:p>
        </p:txBody>
      </p:sp>
      <p:grpSp>
        <p:nvGrpSpPr>
          <p:cNvPr id="180" name="Group 179"/>
          <p:cNvGrpSpPr/>
          <p:nvPr/>
        </p:nvGrpSpPr>
        <p:grpSpPr>
          <a:xfrm>
            <a:off x="2699563" y="2198909"/>
            <a:ext cx="3442161" cy="307777"/>
            <a:chOff x="236116" y="1871763"/>
            <a:chExt cx="3442161" cy="307777"/>
          </a:xfrm>
        </p:grpSpPr>
        <p:sp>
          <p:nvSpPr>
            <p:cNvPr id="198" name="TextBox 197"/>
            <p:cNvSpPr txBox="1"/>
            <p:nvPr/>
          </p:nvSpPr>
          <p:spPr>
            <a:xfrm>
              <a:off x="236116" y="1889834"/>
              <a:ext cx="3442161" cy="276999"/>
            </a:xfrm>
            <a:prstGeom prst="rect">
              <a:avLst/>
            </a:prstGeom>
            <a:noFill/>
          </p:spPr>
          <p:txBody>
            <a:bodyPr wrap="none" lIns="0" tIns="0" rIns="0" bIns="0" rtlCol="0">
              <a:spAutoFit/>
            </a:bodyPr>
            <a:lstStyle/>
            <a:p>
              <a:r>
                <a:rPr lang="en-US" dirty="0" smtClean="0"/>
                <a:t>When both        and       host replicas,</a:t>
              </a:r>
            </a:p>
          </p:txBody>
        </p:sp>
        <p:grpSp>
          <p:nvGrpSpPr>
            <p:cNvPr id="200" name="Group 199"/>
            <p:cNvGrpSpPr/>
            <p:nvPr/>
          </p:nvGrpSpPr>
          <p:grpSpPr>
            <a:xfrm>
              <a:off x="1306210" y="1871763"/>
              <a:ext cx="295936" cy="307777"/>
              <a:chOff x="872685" y="2929409"/>
              <a:chExt cx="295936" cy="307777"/>
            </a:xfrm>
          </p:grpSpPr>
          <p:sp>
            <p:nvSpPr>
              <p:cNvPr id="204" name="TextBox 203"/>
              <p:cNvSpPr txBox="1"/>
              <p:nvPr/>
            </p:nvSpPr>
            <p:spPr>
              <a:xfrm>
                <a:off x="969849" y="2929409"/>
                <a:ext cx="198772" cy="307777"/>
              </a:xfrm>
              <a:prstGeom prst="rect">
                <a:avLst/>
              </a:prstGeom>
              <a:noFill/>
            </p:spPr>
            <p:txBody>
              <a:bodyPr wrap="none" lIns="0" tIns="0" rIns="0" bIns="0" rtlCol="0">
                <a:spAutoFit/>
              </a:bodyPr>
              <a:lstStyle/>
              <a:p>
                <a:r>
                  <a:rPr lang="en-US" sz="2000" dirty="0" smtClean="0">
                    <a:ln w="6350">
                      <a:solidFill>
                        <a:schemeClr val="tx1"/>
                      </a:solidFill>
                    </a:ln>
                    <a:solidFill>
                      <a:srgbClr val="EAEAEA"/>
                    </a:solidFill>
                    <a:latin typeface="Arial Black" panose="020B0A04020102020204" pitchFamily="34" charset="0"/>
                  </a:rPr>
                  <a:t>B</a:t>
                </a:r>
                <a:endParaRPr lang="en-US" sz="2400" dirty="0">
                  <a:ln w="6350">
                    <a:solidFill>
                      <a:schemeClr val="tx1"/>
                    </a:solidFill>
                  </a:ln>
                  <a:solidFill>
                    <a:srgbClr val="EAEAEA"/>
                  </a:solidFill>
                  <a:latin typeface="Arial Black" panose="020B0A04020102020204" pitchFamily="34" charset="0"/>
                </a:endParaRPr>
              </a:p>
            </p:txBody>
          </p:sp>
          <p:pic>
            <p:nvPicPr>
              <p:cNvPr id="205" name="Picture 2" descr="https://cloud.google.com/hadoop/images/hadoop-elephant.png"/>
              <p:cNvPicPr>
                <a:picLocks noChangeAspect="1" noChangeArrowheads="1"/>
              </p:cNvPicPr>
              <p:nvPr/>
            </p:nvPicPr>
            <p:blipFill>
              <a:blip r:embed="rId4"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872685" y="3051593"/>
                <a:ext cx="202248" cy="144580"/>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nvGrpSpPr>
            <p:cNvPr id="201" name="Group 200"/>
            <p:cNvGrpSpPr/>
            <p:nvPr/>
          </p:nvGrpSpPr>
          <p:grpSpPr>
            <a:xfrm>
              <a:off x="2081408" y="1871763"/>
              <a:ext cx="295936" cy="307777"/>
              <a:chOff x="872685" y="2929409"/>
              <a:chExt cx="295936" cy="307777"/>
            </a:xfrm>
          </p:grpSpPr>
          <p:sp>
            <p:nvSpPr>
              <p:cNvPr id="202" name="TextBox 201"/>
              <p:cNvSpPr txBox="1"/>
              <p:nvPr/>
            </p:nvSpPr>
            <p:spPr>
              <a:xfrm>
                <a:off x="969849" y="2929409"/>
                <a:ext cx="198772" cy="307777"/>
              </a:xfrm>
              <a:prstGeom prst="rect">
                <a:avLst/>
              </a:prstGeom>
              <a:noFill/>
            </p:spPr>
            <p:txBody>
              <a:bodyPr wrap="none" lIns="0" tIns="0" rIns="0" bIns="0" rtlCol="0">
                <a:spAutoFit/>
              </a:bodyPr>
              <a:lstStyle/>
              <a:p>
                <a:r>
                  <a:rPr lang="en-US" sz="2000" dirty="0" smtClean="0">
                    <a:ln w="6350">
                      <a:solidFill>
                        <a:schemeClr val="tx1"/>
                      </a:solidFill>
                    </a:ln>
                    <a:solidFill>
                      <a:srgbClr val="4472C4"/>
                    </a:solidFill>
                    <a:latin typeface="Arial Black" panose="020B0A04020102020204" pitchFamily="34" charset="0"/>
                  </a:rPr>
                  <a:t>D</a:t>
                </a:r>
                <a:endParaRPr lang="en-US" sz="2400" dirty="0">
                  <a:ln w="6350">
                    <a:solidFill>
                      <a:schemeClr val="tx1"/>
                    </a:solidFill>
                  </a:ln>
                  <a:solidFill>
                    <a:srgbClr val="4472C4"/>
                  </a:solidFill>
                  <a:latin typeface="Arial Black" panose="020B0A04020102020204" pitchFamily="34" charset="0"/>
                </a:endParaRPr>
              </a:p>
            </p:txBody>
          </p:sp>
          <p:pic>
            <p:nvPicPr>
              <p:cNvPr id="203" name="Picture 2" descr="https://cloud.google.com/hadoop/images/hadoop-elephant.png"/>
              <p:cNvPicPr>
                <a:picLocks noChangeAspect="1" noChangeArrowheads="1"/>
              </p:cNvPicPr>
              <p:nvPr/>
            </p:nvPicPr>
            <p:blipFill>
              <a:blip r:embed="rId4"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872685" y="3051593"/>
                <a:ext cx="202248" cy="144580"/>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grpSp>
        <p:nvGrpSpPr>
          <p:cNvPr id="206" name="Group 205"/>
          <p:cNvGrpSpPr/>
          <p:nvPr/>
        </p:nvGrpSpPr>
        <p:grpSpPr>
          <a:xfrm>
            <a:off x="2699563" y="2741428"/>
            <a:ext cx="3815340" cy="307777"/>
            <a:chOff x="244054" y="2414282"/>
            <a:chExt cx="3815340" cy="307777"/>
          </a:xfrm>
        </p:grpSpPr>
        <p:sp>
          <p:nvSpPr>
            <p:cNvPr id="207" name="TextBox 206"/>
            <p:cNvSpPr txBox="1"/>
            <p:nvPr/>
          </p:nvSpPr>
          <p:spPr>
            <a:xfrm>
              <a:off x="244054" y="2432082"/>
              <a:ext cx="3815340" cy="276999"/>
            </a:xfrm>
            <a:prstGeom prst="rect">
              <a:avLst/>
            </a:prstGeom>
            <a:noFill/>
          </p:spPr>
          <p:txBody>
            <a:bodyPr wrap="none" lIns="0" tIns="0" rIns="0" bIns="0" rtlCol="0">
              <a:spAutoFit/>
            </a:bodyPr>
            <a:lstStyle/>
            <a:p>
              <a:r>
                <a:rPr lang="en-US" dirty="0" smtClean="0"/>
                <a:t>Clients choose        this often:        (~50%)</a:t>
              </a:r>
            </a:p>
          </p:txBody>
        </p:sp>
        <p:grpSp>
          <p:nvGrpSpPr>
            <p:cNvPr id="208" name="Group 207"/>
            <p:cNvGrpSpPr/>
            <p:nvPr/>
          </p:nvGrpSpPr>
          <p:grpSpPr>
            <a:xfrm>
              <a:off x="1606590" y="2414282"/>
              <a:ext cx="295936" cy="307777"/>
              <a:chOff x="872685" y="2929409"/>
              <a:chExt cx="295936" cy="307777"/>
            </a:xfrm>
          </p:grpSpPr>
          <p:sp>
            <p:nvSpPr>
              <p:cNvPr id="210" name="TextBox 209"/>
              <p:cNvSpPr txBox="1"/>
              <p:nvPr/>
            </p:nvSpPr>
            <p:spPr>
              <a:xfrm>
                <a:off x="969849" y="2929409"/>
                <a:ext cx="198772" cy="307777"/>
              </a:xfrm>
              <a:prstGeom prst="rect">
                <a:avLst/>
              </a:prstGeom>
              <a:noFill/>
            </p:spPr>
            <p:txBody>
              <a:bodyPr wrap="none" lIns="0" tIns="0" rIns="0" bIns="0" rtlCol="0">
                <a:spAutoFit/>
              </a:bodyPr>
              <a:lstStyle/>
              <a:p>
                <a:r>
                  <a:rPr lang="en-US" sz="2000" dirty="0" smtClean="0">
                    <a:ln w="6350">
                      <a:solidFill>
                        <a:schemeClr val="tx1"/>
                      </a:solidFill>
                    </a:ln>
                    <a:solidFill>
                      <a:srgbClr val="4472C4"/>
                    </a:solidFill>
                    <a:latin typeface="Arial Black" panose="020B0A04020102020204" pitchFamily="34" charset="0"/>
                  </a:rPr>
                  <a:t>D</a:t>
                </a:r>
                <a:endParaRPr lang="en-US" sz="2400" dirty="0">
                  <a:ln w="6350">
                    <a:solidFill>
                      <a:schemeClr val="tx1"/>
                    </a:solidFill>
                  </a:ln>
                  <a:solidFill>
                    <a:srgbClr val="4472C4"/>
                  </a:solidFill>
                  <a:latin typeface="Arial Black" panose="020B0A04020102020204" pitchFamily="34" charset="0"/>
                </a:endParaRPr>
              </a:p>
            </p:txBody>
          </p:sp>
          <p:pic>
            <p:nvPicPr>
              <p:cNvPr id="211" name="Picture 2" descr="https://cloud.google.com/hadoop/images/hadoop-elephant.png"/>
              <p:cNvPicPr>
                <a:picLocks noChangeAspect="1" noChangeArrowheads="1"/>
              </p:cNvPicPr>
              <p:nvPr/>
            </p:nvPicPr>
            <p:blipFill>
              <a:blip r:embed="rId4"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872685" y="3051593"/>
                <a:ext cx="202248" cy="144580"/>
              </a:xfrm>
              <a:prstGeom prst="rect">
                <a:avLst/>
              </a:prstGeom>
              <a:noFill/>
              <a:ln w="28575">
                <a:noFill/>
              </a:ln>
              <a:extLst>
                <a:ext uri="{909E8E84-426E-40DD-AFC4-6F175D3DCCD1}">
                  <a14:hiddenFill xmlns:a14="http://schemas.microsoft.com/office/drawing/2010/main">
                    <a:solidFill>
                      <a:srgbClr val="FFFFFF"/>
                    </a:solidFill>
                  </a14:hiddenFill>
                </a:ext>
              </a:extLst>
            </p:spPr>
          </p:pic>
        </p:grpSp>
        <p:pic>
          <p:nvPicPr>
            <p:cNvPr id="209" name="Picture 208"/>
            <p:cNvPicPr>
              <a:picLocks noChangeAspect="1"/>
            </p:cNvPicPr>
            <p:nvPr/>
          </p:nvPicPr>
          <p:blipFill rotWithShape="1">
            <a:blip r:embed="rId3">
              <a:extLst>
                <a:ext uri="{28A0092B-C50C-407E-A947-70E740481C1C}">
                  <a14:useLocalDpi xmlns:a14="http://schemas.microsoft.com/office/drawing/2010/main" val="0"/>
                </a:ext>
              </a:extLst>
            </a:blip>
            <a:srcRect l="82044" t="51574" r="15409" b="37516"/>
            <a:stretch/>
          </p:blipFill>
          <p:spPr>
            <a:xfrm>
              <a:off x="3019423" y="2535377"/>
              <a:ext cx="266701" cy="124814"/>
            </a:xfrm>
            <a:prstGeom prst="rect">
              <a:avLst/>
            </a:prstGeom>
          </p:spPr>
        </p:pic>
      </p:grpSp>
      <p:grpSp>
        <p:nvGrpSpPr>
          <p:cNvPr id="212" name="Group 211"/>
          <p:cNvGrpSpPr/>
          <p:nvPr/>
        </p:nvGrpSpPr>
        <p:grpSpPr>
          <a:xfrm>
            <a:off x="2699563" y="2450014"/>
            <a:ext cx="3815340" cy="307777"/>
            <a:chOff x="3030230" y="2895428"/>
            <a:chExt cx="3815340" cy="307777"/>
          </a:xfrm>
        </p:grpSpPr>
        <p:grpSp>
          <p:nvGrpSpPr>
            <p:cNvPr id="213" name="Group 212"/>
            <p:cNvGrpSpPr/>
            <p:nvPr/>
          </p:nvGrpSpPr>
          <p:grpSpPr>
            <a:xfrm>
              <a:off x="3030230" y="2895428"/>
              <a:ext cx="3815340" cy="307777"/>
              <a:chOff x="244054" y="2122868"/>
              <a:chExt cx="3815340" cy="307777"/>
            </a:xfrm>
          </p:grpSpPr>
          <p:sp>
            <p:nvSpPr>
              <p:cNvPr id="215" name="TextBox 214"/>
              <p:cNvSpPr txBox="1"/>
              <p:nvPr/>
            </p:nvSpPr>
            <p:spPr>
              <a:xfrm>
                <a:off x="244054" y="2137354"/>
                <a:ext cx="3815340" cy="276999"/>
              </a:xfrm>
              <a:prstGeom prst="rect">
                <a:avLst/>
              </a:prstGeom>
              <a:noFill/>
            </p:spPr>
            <p:txBody>
              <a:bodyPr wrap="none" lIns="0" tIns="0" rIns="0" bIns="0" rtlCol="0">
                <a:spAutoFit/>
              </a:bodyPr>
              <a:lstStyle/>
              <a:p>
                <a:r>
                  <a:rPr lang="en-US" dirty="0" smtClean="0"/>
                  <a:t>Clients choose        this often:        (~50%)</a:t>
                </a:r>
              </a:p>
            </p:txBody>
          </p:sp>
          <p:grpSp>
            <p:nvGrpSpPr>
              <p:cNvPr id="216" name="Group 215"/>
              <p:cNvGrpSpPr/>
              <p:nvPr/>
            </p:nvGrpSpPr>
            <p:grpSpPr>
              <a:xfrm>
                <a:off x="1606590" y="2122868"/>
                <a:ext cx="295936" cy="307777"/>
                <a:chOff x="872685" y="2929409"/>
                <a:chExt cx="295936" cy="307777"/>
              </a:xfrm>
            </p:grpSpPr>
            <p:sp>
              <p:nvSpPr>
                <p:cNvPr id="217" name="TextBox 216"/>
                <p:cNvSpPr txBox="1"/>
                <p:nvPr/>
              </p:nvSpPr>
              <p:spPr>
                <a:xfrm>
                  <a:off x="969849" y="2929409"/>
                  <a:ext cx="198772" cy="307777"/>
                </a:xfrm>
                <a:prstGeom prst="rect">
                  <a:avLst/>
                </a:prstGeom>
                <a:noFill/>
              </p:spPr>
              <p:txBody>
                <a:bodyPr wrap="none" lIns="0" tIns="0" rIns="0" bIns="0" rtlCol="0">
                  <a:spAutoFit/>
                </a:bodyPr>
                <a:lstStyle/>
                <a:p>
                  <a:r>
                    <a:rPr lang="en-US" sz="2000" dirty="0" smtClean="0">
                      <a:ln w="6350">
                        <a:solidFill>
                          <a:schemeClr val="tx1"/>
                        </a:solidFill>
                      </a:ln>
                      <a:solidFill>
                        <a:srgbClr val="EAEAEA"/>
                      </a:solidFill>
                      <a:latin typeface="Arial Black" panose="020B0A04020102020204" pitchFamily="34" charset="0"/>
                    </a:rPr>
                    <a:t>B</a:t>
                  </a:r>
                  <a:endParaRPr lang="en-US" sz="2400" dirty="0">
                    <a:ln w="6350">
                      <a:solidFill>
                        <a:schemeClr val="tx1"/>
                      </a:solidFill>
                    </a:ln>
                    <a:solidFill>
                      <a:srgbClr val="EAEAEA"/>
                    </a:solidFill>
                    <a:latin typeface="Arial Black" panose="020B0A04020102020204" pitchFamily="34" charset="0"/>
                  </a:endParaRPr>
                </a:p>
              </p:txBody>
            </p:sp>
            <p:pic>
              <p:nvPicPr>
                <p:cNvPr id="218" name="Picture 2" descr="https://cloud.google.com/hadoop/images/hadoop-elephant.png"/>
                <p:cNvPicPr>
                  <a:picLocks noChangeAspect="1" noChangeArrowheads="1"/>
                </p:cNvPicPr>
                <p:nvPr/>
              </p:nvPicPr>
              <p:blipFill>
                <a:blip r:embed="rId4"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872685" y="3051593"/>
                  <a:ext cx="202248" cy="144580"/>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pic>
          <p:nvPicPr>
            <p:cNvPr id="214" name="Picture 213"/>
            <p:cNvPicPr>
              <a:picLocks noChangeAspect="1"/>
            </p:cNvPicPr>
            <p:nvPr/>
          </p:nvPicPr>
          <p:blipFill rotWithShape="1">
            <a:blip r:embed="rId3">
              <a:extLst>
                <a:ext uri="{28A0092B-C50C-407E-A947-70E740481C1C}">
                  <a14:useLocalDpi xmlns:a14="http://schemas.microsoft.com/office/drawing/2010/main" val="0"/>
                </a:ext>
              </a:extLst>
            </a:blip>
            <a:srcRect l="84391" t="32666" r="13062" b="56424"/>
            <a:stretch/>
          </p:blipFill>
          <p:spPr>
            <a:xfrm>
              <a:off x="5797538" y="3026797"/>
              <a:ext cx="266701" cy="124814"/>
            </a:xfrm>
            <a:prstGeom prst="rect">
              <a:avLst/>
            </a:prstGeom>
          </p:spPr>
        </p:pic>
      </p:grpSp>
      <p:sp>
        <p:nvSpPr>
          <p:cNvPr id="2" name="Slide Number Placeholder 1"/>
          <p:cNvSpPr>
            <a:spLocks noGrp="1"/>
          </p:cNvSpPr>
          <p:nvPr>
            <p:ph type="sldNum" sz="quarter" idx="12"/>
          </p:nvPr>
        </p:nvSpPr>
        <p:spPr/>
        <p:txBody>
          <a:bodyPr/>
          <a:lstStyle/>
          <a:p>
            <a:fld id="{D431E30F-8439-471B-9257-EDD8E85CDBC8}" type="slidenum">
              <a:rPr lang="en-US" smtClean="0"/>
              <a:t>43</a:t>
            </a:fld>
            <a:endParaRPr lang="en-US"/>
          </a:p>
        </p:txBody>
      </p:sp>
    </p:spTree>
    <p:extLst>
      <p:ext uri="{BB962C8B-B14F-4D97-AF65-F5344CB8AC3E}">
        <p14:creationId xmlns:p14="http://schemas.microsoft.com/office/powerpoint/2010/main" val="1905246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80"/>
                                        </p:tgtEl>
                                        <p:attrNameLst>
                                          <p:attrName>style.visibility</p:attrName>
                                        </p:attrNameLst>
                                      </p:cBhvr>
                                      <p:to>
                                        <p:strVal val="visible"/>
                                      </p:to>
                                    </p:set>
                                    <p:animEffect transition="in" filter="fade">
                                      <p:cBhvr>
                                        <p:cTn id="7" dur="500"/>
                                        <p:tgtEl>
                                          <p:spTgt spid="180"/>
                                        </p:tgtEl>
                                      </p:cBhvr>
                                    </p:animEffect>
                                  </p:childTnLst>
                                </p:cTn>
                              </p:par>
                              <p:par>
                                <p:cTn id="8" presetID="10" presetClass="entr" presetSubtype="0" fill="hold" nodeType="withEffect">
                                  <p:stCondLst>
                                    <p:cond delay="0"/>
                                  </p:stCondLst>
                                  <p:childTnLst>
                                    <p:set>
                                      <p:cBhvr>
                                        <p:cTn id="9" dur="1" fill="hold">
                                          <p:stCondLst>
                                            <p:cond delay="0"/>
                                          </p:stCondLst>
                                        </p:cTn>
                                        <p:tgtEl>
                                          <p:spTgt spid="206"/>
                                        </p:tgtEl>
                                        <p:attrNameLst>
                                          <p:attrName>style.visibility</p:attrName>
                                        </p:attrNameLst>
                                      </p:cBhvr>
                                      <p:to>
                                        <p:strVal val="visible"/>
                                      </p:to>
                                    </p:set>
                                    <p:animEffect transition="in" filter="fade">
                                      <p:cBhvr>
                                        <p:cTn id="10" dur="500"/>
                                        <p:tgtEl>
                                          <p:spTgt spid="206"/>
                                        </p:tgtEl>
                                      </p:cBhvr>
                                    </p:animEffect>
                                  </p:childTnLst>
                                </p:cTn>
                              </p:par>
                              <p:par>
                                <p:cTn id="11" presetID="10" presetClass="entr" presetSubtype="0" fill="hold" nodeType="withEffect">
                                  <p:stCondLst>
                                    <p:cond delay="0"/>
                                  </p:stCondLst>
                                  <p:childTnLst>
                                    <p:set>
                                      <p:cBhvr>
                                        <p:cTn id="12" dur="1" fill="hold">
                                          <p:stCondLst>
                                            <p:cond delay="0"/>
                                          </p:stCondLst>
                                        </p:cTn>
                                        <p:tgtEl>
                                          <p:spTgt spid="212"/>
                                        </p:tgtEl>
                                        <p:attrNameLst>
                                          <p:attrName>style.visibility</p:attrName>
                                        </p:attrNameLst>
                                      </p:cBhvr>
                                      <p:to>
                                        <p:strVal val="visible"/>
                                      </p:to>
                                    </p:set>
                                    <p:animEffect transition="in" filter="fade">
                                      <p:cBhvr>
                                        <p:cTn id="13" dur="500"/>
                                        <p:tgtEl>
                                          <p:spTgt spid="21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xit" presetSubtype="0" fill="hold" nodeType="clickEffect">
                                  <p:stCondLst>
                                    <p:cond delay="0"/>
                                  </p:stCondLst>
                                  <p:childTnLst>
                                    <p:animEffect transition="out" filter="fade">
                                      <p:cBhvr>
                                        <p:cTn id="17" dur="500"/>
                                        <p:tgtEl>
                                          <p:spTgt spid="180"/>
                                        </p:tgtEl>
                                      </p:cBhvr>
                                    </p:animEffect>
                                    <p:set>
                                      <p:cBhvr>
                                        <p:cTn id="18" dur="1" fill="hold">
                                          <p:stCondLst>
                                            <p:cond delay="499"/>
                                          </p:stCondLst>
                                        </p:cTn>
                                        <p:tgtEl>
                                          <p:spTgt spid="180"/>
                                        </p:tgtEl>
                                        <p:attrNameLst>
                                          <p:attrName>style.visibility</p:attrName>
                                        </p:attrNameLst>
                                      </p:cBhvr>
                                      <p:to>
                                        <p:strVal val="hidden"/>
                                      </p:to>
                                    </p:set>
                                  </p:childTnLst>
                                </p:cTn>
                              </p:par>
                              <p:par>
                                <p:cTn id="19" presetID="10" presetClass="exit" presetSubtype="0" fill="hold" nodeType="withEffect">
                                  <p:stCondLst>
                                    <p:cond delay="0"/>
                                  </p:stCondLst>
                                  <p:childTnLst>
                                    <p:animEffect transition="out" filter="fade">
                                      <p:cBhvr>
                                        <p:cTn id="20" dur="500"/>
                                        <p:tgtEl>
                                          <p:spTgt spid="206"/>
                                        </p:tgtEl>
                                      </p:cBhvr>
                                    </p:animEffect>
                                    <p:set>
                                      <p:cBhvr>
                                        <p:cTn id="21" dur="1" fill="hold">
                                          <p:stCondLst>
                                            <p:cond delay="499"/>
                                          </p:stCondLst>
                                        </p:cTn>
                                        <p:tgtEl>
                                          <p:spTgt spid="206"/>
                                        </p:tgtEl>
                                        <p:attrNameLst>
                                          <p:attrName>style.visibility</p:attrName>
                                        </p:attrNameLst>
                                      </p:cBhvr>
                                      <p:to>
                                        <p:strVal val="hidden"/>
                                      </p:to>
                                    </p:set>
                                  </p:childTnLst>
                                </p:cTn>
                              </p:par>
                              <p:par>
                                <p:cTn id="22" presetID="10" presetClass="exit" presetSubtype="0" fill="hold" nodeType="withEffect">
                                  <p:stCondLst>
                                    <p:cond delay="0"/>
                                  </p:stCondLst>
                                  <p:childTnLst>
                                    <p:animEffect transition="out" filter="fade">
                                      <p:cBhvr>
                                        <p:cTn id="23" dur="500"/>
                                        <p:tgtEl>
                                          <p:spTgt spid="212"/>
                                        </p:tgtEl>
                                      </p:cBhvr>
                                    </p:animEffect>
                                    <p:set>
                                      <p:cBhvr>
                                        <p:cTn id="24" dur="1" fill="hold">
                                          <p:stCondLst>
                                            <p:cond delay="499"/>
                                          </p:stCondLst>
                                        </p:cTn>
                                        <p:tgtEl>
                                          <p:spTgt spid="212"/>
                                        </p:tgtEl>
                                        <p:attrNameLst>
                                          <p:attrName>style.visibility</p:attrName>
                                        </p:attrNameLst>
                                      </p:cBhvr>
                                      <p:to>
                                        <p:strVal val="hidden"/>
                                      </p:to>
                                    </p:set>
                                  </p:childTnLst>
                                </p:cTn>
                              </p:par>
                            </p:childTnLst>
                          </p:cTn>
                        </p:par>
                        <p:par>
                          <p:cTn id="25" fill="hold">
                            <p:stCondLst>
                              <p:cond delay="500"/>
                            </p:stCondLst>
                            <p:childTnLst>
                              <p:par>
                                <p:cTn id="26" presetID="10" presetClass="entr" presetSubtype="0" fill="hold" nodeType="afterEffect">
                                  <p:stCondLst>
                                    <p:cond delay="0"/>
                                  </p:stCondLst>
                                  <p:childTnLst>
                                    <p:set>
                                      <p:cBhvr>
                                        <p:cTn id="27" dur="1" fill="hold">
                                          <p:stCondLst>
                                            <p:cond delay="0"/>
                                          </p:stCondLst>
                                        </p:cTn>
                                        <p:tgtEl>
                                          <p:spTgt spid="148"/>
                                        </p:tgtEl>
                                        <p:attrNameLst>
                                          <p:attrName>style.visibility</p:attrName>
                                        </p:attrNameLst>
                                      </p:cBhvr>
                                      <p:to>
                                        <p:strVal val="visible"/>
                                      </p:to>
                                    </p:set>
                                    <p:animEffect transition="in" filter="fade">
                                      <p:cBhvr>
                                        <p:cTn id="28" dur="500"/>
                                        <p:tgtEl>
                                          <p:spTgt spid="148"/>
                                        </p:tgtEl>
                                      </p:cBhvr>
                                    </p:animEffect>
                                  </p:childTnLst>
                                </p:cTn>
                              </p:par>
                              <p:par>
                                <p:cTn id="29" presetID="10" presetClass="entr" presetSubtype="0" fill="hold" nodeType="with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500"/>
                                        <p:tgtEl>
                                          <p:spTgt spid="4"/>
                                        </p:tgtEl>
                                      </p:cBhvr>
                                    </p:animEffect>
                                  </p:childTnLst>
                                </p:cTn>
                              </p:par>
                              <p:par>
                                <p:cTn id="32" presetID="10" presetClass="entr" presetSubtype="0" fill="hold" nodeType="withEffect">
                                  <p:stCondLst>
                                    <p:cond delay="0"/>
                                  </p:stCondLst>
                                  <p:childTnLst>
                                    <p:set>
                                      <p:cBhvr>
                                        <p:cTn id="33" dur="1" fill="hold">
                                          <p:stCondLst>
                                            <p:cond delay="0"/>
                                          </p:stCondLst>
                                        </p:cTn>
                                        <p:tgtEl>
                                          <p:spTgt spid="252"/>
                                        </p:tgtEl>
                                        <p:attrNameLst>
                                          <p:attrName>style.visibility</p:attrName>
                                        </p:attrNameLst>
                                      </p:cBhvr>
                                      <p:to>
                                        <p:strVal val="visible"/>
                                      </p:to>
                                    </p:set>
                                    <p:animEffect transition="in" filter="fade">
                                      <p:cBhvr>
                                        <p:cTn id="34" dur="500"/>
                                        <p:tgtEl>
                                          <p:spTgt spid="252"/>
                                        </p:tgtEl>
                                      </p:cBhvr>
                                    </p:animEffect>
                                  </p:childTnLst>
                                </p:cTn>
                              </p:par>
                            </p:childTnLst>
                          </p:cTn>
                        </p:par>
                        <p:par>
                          <p:cTn id="35" fill="hold">
                            <p:stCondLst>
                              <p:cond delay="1000"/>
                            </p:stCondLst>
                            <p:childTnLst>
                              <p:par>
                                <p:cTn id="36" presetID="21" presetClass="entr" presetSubtype="1" fill="hold" grpId="0" nodeType="after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wheel(1)">
                                      <p:cBhvr>
                                        <p:cTn id="38" dur="500"/>
                                        <p:tgtEl>
                                          <p:spTgt spid="22"/>
                                        </p:tgtEl>
                                      </p:cBhvr>
                                    </p:animEffect>
                                  </p:childTnLst>
                                </p:cTn>
                              </p:par>
                            </p:childTnLst>
                          </p:cTn>
                        </p:par>
                        <p:par>
                          <p:cTn id="39" fill="hold">
                            <p:stCondLst>
                              <p:cond delay="1500"/>
                            </p:stCondLst>
                            <p:childTnLst>
                              <p:par>
                                <p:cTn id="40" presetID="10" presetClass="entr" presetSubtype="0" fill="hold" nodeType="after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500"/>
                                        <p:tgtEl>
                                          <p:spTgt spid="21"/>
                                        </p:tgtEl>
                                      </p:cBhvr>
                                    </p:animEffect>
                                  </p:childTnLst>
                                </p:cTn>
                              </p:par>
                              <p:par>
                                <p:cTn id="43" presetID="10" presetClass="entr" presetSubtype="0" fill="hold" nodeType="with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500"/>
                                        <p:tgtEl>
                                          <p:spTgt spid="19"/>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72"/>
                                        </p:tgtEl>
                                        <p:attrNameLst>
                                          <p:attrName>style.visibility</p:attrName>
                                        </p:attrNameLst>
                                      </p:cBhvr>
                                      <p:to>
                                        <p:strVal val="visible"/>
                                      </p:to>
                                    </p:set>
                                    <p:animEffect transition="in" filter="fade">
                                      <p:cBhvr>
                                        <p:cTn id="50" dur="500"/>
                                        <p:tgtEl>
                                          <p:spTgt spid="172"/>
                                        </p:tgtEl>
                                      </p:cBhvr>
                                    </p:animEffect>
                                  </p:childTnLst>
                                </p:cTn>
                              </p:par>
                              <p:par>
                                <p:cTn id="51" presetID="10" presetClass="exit" presetSubtype="0" fill="hold" grpId="0" nodeType="withEffect">
                                  <p:stCondLst>
                                    <p:cond delay="0"/>
                                  </p:stCondLst>
                                  <p:childTnLst>
                                    <p:animEffect transition="out" filter="fade">
                                      <p:cBhvr>
                                        <p:cTn id="52" dur="500"/>
                                        <p:tgtEl>
                                          <p:spTgt spid="173"/>
                                        </p:tgtEl>
                                      </p:cBhvr>
                                    </p:animEffect>
                                    <p:set>
                                      <p:cBhvr>
                                        <p:cTn id="53" dur="1" fill="hold">
                                          <p:stCondLst>
                                            <p:cond delay="499"/>
                                          </p:stCondLst>
                                        </p:cTn>
                                        <p:tgtEl>
                                          <p:spTgt spid="173"/>
                                        </p:tgtEl>
                                        <p:attrNameLst>
                                          <p:attrName>style.visibility</p:attrName>
                                        </p:attrNameLst>
                                      </p:cBhvr>
                                      <p:to>
                                        <p:strVal val="hidden"/>
                                      </p:to>
                                    </p:set>
                                  </p:childTnLst>
                                </p:cTn>
                              </p:par>
                              <p:par>
                                <p:cTn id="54" presetID="7" presetClass="emph" presetSubtype="2" fill="hold" nodeType="withEffect">
                                  <p:stCondLst>
                                    <p:cond delay="0"/>
                                  </p:stCondLst>
                                  <p:childTnLst>
                                    <p:animClr clrSpc="rgb" dir="cw">
                                      <p:cBhvr>
                                        <p:cTn id="55" dur="500" fill="hold"/>
                                        <p:tgtEl>
                                          <p:spTgt spid="22"/>
                                        </p:tgtEl>
                                        <p:attrNameLst>
                                          <p:attrName>stroke.color</p:attrName>
                                        </p:attrNameLst>
                                      </p:cBhvr>
                                      <p:to>
                                        <a:srgbClr val="A5A5A5"/>
                                      </p:to>
                                    </p:animClr>
                                    <p:set>
                                      <p:cBhvr>
                                        <p:cTn id="56" dur="500" fill="hold"/>
                                        <p:tgtEl>
                                          <p:spTgt spid="22"/>
                                        </p:tgtEl>
                                        <p:attrNameLst>
                                          <p:attrName>stroke.on</p:attrName>
                                        </p:attrNameLst>
                                      </p:cBhvr>
                                      <p:to>
                                        <p:strVal val="true"/>
                                      </p:to>
                                    </p:set>
                                  </p:childTnLst>
                                </p:cTn>
                              </p:par>
                            </p:childTnLst>
                          </p:cTn>
                        </p:par>
                        <p:par>
                          <p:cTn id="57" fill="hold">
                            <p:stCondLst>
                              <p:cond delay="500"/>
                            </p:stCondLst>
                            <p:childTnLst>
                              <p:par>
                                <p:cTn id="58" presetID="21" presetClass="entr" presetSubtype="1" fill="hold" grpId="0" nodeType="afterEffect">
                                  <p:stCondLst>
                                    <p:cond delay="0"/>
                                  </p:stCondLst>
                                  <p:childTnLst>
                                    <p:set>
                                      <p:cBhvr>
                                        <p:cTn id="59" dur="1" fill="hold">
                                          <p:stCondLst>
                                            <p:cond delay="0"/>
                                          </p:stCondLst>
                                        </p:cTn>
                                        <p:tgtEl>
                                          <p:spTgt spid="324"/>
                                        </p:tgtEl>
                                        <p:attrNameLst>
                                          <p:attrName>style.visibility</p:attrName>
                                        </p:attrNameLst>
                                      </p:cBhvr>
                                      <p:to>
                                        <p:strVal val="visible"/>
                                      </p:to>
                                    </p:set>
                                    <p:animEffect transition="in" filter="wheel(1)">
                                      <p:cBhvr>
                                        <p:cTn id="60" dur="500"/>
                                        <p:tgtEl>
                                          <p:spTgt spid="324"/>
                                        </p:tgtEl>
                                      </p:cBhvr>
                                    </p:animEffect>
                                  </p:childTnLst>
                                </p:cTn>
                              </p:par>
                            </p:childTnLst>
                          </p:cTn>
                        </p:par>
                        <p:par>
                          <p:cTn id="61" fill="hold">
                            <p:stCondLst>
                              <p:cond delay="1000"/>
                            </p:stCondLst>
                            <p:childTnLst>
                              <p:par>
                                <p:cTn id="62" presetID="10" presetClass="entr" presetSubtype="0" fill="hold" nodeType="after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fade">
                                      <p:cBhvr>
                                        <p:cTn id="64" dur="500"/>
                                        <p:tgtEl>
                                          <p:spTgt spid="20"/>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xit" presetSubtype="0" fill="hold" grpId="1" nodeType="clickEffect">
                                  <p:stCondLst>
                                    <p:cond delay="0"/>
                                  </p:stCondLst>
                                  <p:childTnLst>
                                    <p:animEffect transition="out" filter="fade">
                                      <p:cBhvr>
                                        <p:cTn id="68" dur="500"/>
                                        <p:tgtEl>
                                          <p:spTgt spid="172"/>
                                        </p:tgtEl>
                                      </p:cBhvr>
                                    </p:animEffect>
                                    <p:set>
                                      <p:cBhvr>
                                        <p:cTn id="69" dur="1" fill="hold">
                                          <p:stCondLst>
                                            <p:cond delay="499"/>
                                          </p:stCondLst>
                                        </p:cTn>
                                        <p:tgtEl>
                                          <p:spTgt spid="172"/>
                                        </p:tgtEl>
                                        <p:attrNameLst>
                                          <p:attrName>style.visibility</p:attrName>
                                        </p:attrNameLst>
                                      </p:cBhvr>
                                      <p:to>
                                        <p:strVal val="hidden"/>
                                      </p:to>
                                    </p:set>
                                  </p:childTnLst>
                                </p:cTn>
                              </p:par>
                              <p:par>
                                <p:cTn id="70" presetID="7" presetClass="emph" presetSubtype="2" fill="hold" nodeType="withEffect">
                                  <p:stCondLst>
                                    <p:cond delay="0"/>
                                  </p:stCondLst>
                                  <p:childTnLst>
                                    <p:animClr clrSpc="rgb" dir="cw">
                                      <p:cBhvr>
                                        <p:cTn id="71" dur="500" fill="hold"/>
                                        <p:tgtEl>
                                          <p:spTgt spid="22"/>
                                        </p:tgtEl>
                                        <p:attrNameLst>
                                          <p:attrName>stroke.color</p:attrName>
                                        </p:attrNameLst>
                                      </p:cBhvr>
                                      <p:to>
                                        <a:srgbClr val="FF0000"/>
                                      </p:to>
                                    </p:animClr>
                                    <p:set>
                                      <p:cBhvr>
                                        <p:cTn id="72" dur="500" fill="hold"/>
                                        <p:tgtEl>
                                          <p:spTgt spid="22"/>
                                        </p:tgtEl>
                                        <p:attrNameLst>
                                          <p:attrName>stroke.on</p:attrName>
                                        </p:attrNameLst>
                                      </p:cBhvr>
                                      <p:to>
                                        <p:strVal val="true"/>
                                      </p:to>
                                    </p:set>
                                  </p:childTnLst>
                                </p:cTn>
                              </p:par>
                            </p:childTnLst>
                          </p:cTn>
                        </p:par>
                      </p:childTnLst>
                    </p:cTn>
                  </p:par>
                  <p:par>
                    <p:cTn id="73" fill="hold">
                      <p:stCondLst>
                        <p:cond delay="indefinite"/>
                      </p:stCondLst>
                      <p:childTnLst>
                        <p:par>
                          <p:cTn id="74" fill="hold">
                            <p:stCondLst>
                              <p:cond delay="0"/>
                            </p:stCondLst>
                            <p:childTnLst>
                              <p:par>
                                <p:cTn id="75" presetID="10" presetClass="exit" presetSubtype="0" fill="hold" grpId="0" nodeType="clickEffect">
                                  <p:stCondLst>
                                    <p:cond delay="0"/>
                                  </p:stCondLst>
                                  <p:childTnLst>
                                    <p:animEffect transition="out" filter="fade">
                                      <p:cBhvr>
                                        <p:cTn id="76" dur="500"/>
                                        <p:tgtEl>
                                          <p:spTgt spid="171"/>
                                        </p:tgtEl>
                                      </p:cBhvr>
                                    </p:animEffect>
                                    <p:set>
                                      <p:cBhvr>
                                        <p:cTn id="77" dur="1" fill="hold">
                                          <p:stCondLst>
                                            <p:cond delay="499"/>
                                          </p:stCondLst>
                                        </p:cTn>
                                        <p:tgtEl>
                                          <p:spTgt spid="171"/>
                                        </p:tgtEl>
                                        <p:attrNameLst>
                                          <p:attrName>style.visibility</p:attrName>
                                        </p:attrNameLst>
                                      </p:cBhvr>
                                      <p:to>
                                        <p:strVal val="hidden"/>
                                      </p:to>
                                    </p:set>
                                  </p:childTnLst>
                                </p:cTn>
                              </p:par>
                              <p:par>
                                <p:cTn id="78" presetID="10" presetClass="exit" presetSubtype="0" fill="hold" grpId="1" nodeType="withEffect">
                                  <p:stCondLst>
                                    <p:cond delay="0"/>
                                  </p:stCondLst>
                                  <p:childTnLst>
                                    <p:animEffect transition="out" filter="fade">
                                      <p:cBhvr>
                                        <p:cTn id="79" dur="500"/>
                                        <p:tgtEl>
                                          <p:spTgt spid="22"/>
                                        </p:tgtEl>
                                      </p:cBhvr>
                                    </p:animEffect>
                                    <p:set>
                                      <p:cBhvr>
                                        <p:cTn id="80" dur="1" fill="hold">
                                          <p:stCondLst>
                                            <p:cond delay="499"/>
                                          </p:stCondLst>
                                        </p:cTn>
                                        <p:tgtEl>
                                          <p:spTgt spid="22"/>
                                        </p:tgtEl>
                                        <p:attrNameLst>
                                          <p:attrName>style.visibility</p:attrName>
                                        </p:attrNameLst>
                                      </p:cBhvr>
                                      <p:to>
                                        <p:strVal val="hidden"/>
                                      </p:to>
                                    </p:set>
                                  </p:childTnLst>
                                </p:cTn>
                              </p:par>
                              <p:par>
                                <p:cTn id="81" presetID="10" presetClass="exit" presetSubtype="0" fill="hold" grpId="1" nodeType="withEffect">
                                  <p:stCondLst>
                                    <p:cond delay="0"/>
                                  </p:stCondLst>
                                  <p:childTnLst>
                                    <p:animEffect transition="out" filter="fade">
                                      <p:cBhvr>
                                        <p:cTn id="82" dur="500"/>
                                        <p:tgtEl>
                                          <p:spTgt spid="324"/>
                                        </p:tgtEl>
                                      </p:cBhvr>
                                    </p:animEffect>
                                    <p:set>
                                      <p:cBhvr>
                                        <p:cTn id="83" dur="1" fill="hold">
                                          <p:stCondLst>
                                            <p:cond delay="499"/>
                                          </p:stCondLst>
                                        </p:cTn>
                                        <p:tgtEl>
                                          <p:spTgt spid="324"/>
                                        </p:tgtEl>
                                        <p:attrNameLst>
                                          <p:attrName>style.visibility</p:attrName>
                                        </p:attrNameLst>
                                      </p:cBhvr>
                                      <p:to>
                                        <p:strVal val="hidden"/>
                                      </p:to>
                                    </p:set>
                                  </p:childTnLst>
                                </p:cTn>
                              </p:par>
                              <p:par>
                                <p:cTn id="84" presetID="10" presetClass="exit" presetSubtype="0" fill="hold" nodeType="withEffect">
                                  <p:stCondLst>
                                    <p:cond delay="0"/>
                                  </p:stCondLst>
                                  <p:childTnLst>
                                    <p:animEffect transition="out" filter="fade">
                                      <p:cBhvr>
                                        <p:cTn id="85" dur="500"/>
                                        <p:tgtEl>
                                          <p:spTgt spid="21"/>
                                        </p:tgtEl>
                                      </p:cBhvr>
                                    </p:animEffect>
                                    <p:set>
                                      <p:cBhvr>
                                        <p:cTn id="86" dur="1" fill="hold">
                                          <p:stCondLst>
                                            <p:cond delay="499"/>
                                          </p:stCondLst>
                                        </p:cTn>
                                        <p:tgtEl>
                                          <p:spTgt spid="21"/>
                                        </p:tgtEl>
                                        <p:attrNameLst>
                                          <p:attrName>style.visibility</p:attrName>
                                        </p:attrNameLst>
                                      </p:cBhvr>
                                      <p:to>
                                        <p:strVal val="hidden"/>
                                      </p:to>
                                    </p:set>
                                  </p:childTnLst>
                                </p:cTn>
                              </p:par>
                              <p:par>
                                <p:cTn id="87" presetID="10" presetClass="exit" presetSubtype="0" fill="hold" nodeType="withEffect">
                                  <p:stCondLst>
                                    <p:cond delay="0"/>
                                  </p:stCondLst>
                                  <p:childTnLst>
                                    <p:animEffect transition="out" filter="fade">
                                      <p:cBhvr>
                                        <p:cTn id="88" dur="500"/>
                                        <p:tgtEl>
                                          <p:spTgt spid="19"/>
                                        </p:tgtEl>
                                      </p:cBhvr>
                                    </p:animEffect>
                                    <p:set>
                                      <p:cBhvr>
                                        <p:cTn id="89" dur="1" fill="hold">
                                          <p:stCondLst>
                                            <p:cond delay="499"/>
                                          </p:stCondLst>
                                        </p:cTn>
                                        <p:tgtEl>
                                          <p:spTgt spid="19"/>
                                        </p:tgtEl>
                                        <p:attrNameLst>
                                          <p:attrName>style.visibility</p:attrName>
                                        </p:attrNameLst>
                                      </p:cBhvr>
                                      <p:to>
                                        <p:strVal val="hidden"/>
                                      </p:to>
                                    </p:set>
                                  </p:childTnLst>
                                </p:cTn>
                              </p:par>
                              <p:par>
                                <p:cTn id="90" presetID="10" presetClass="exit" presetSubtype="0" fill="hold" nodeType="withEffect">
                                  <p:stCondLst>
                                    <p:cond delay="0"/>
                                  </p:stCondLst>
                                  <p:childTnLst>
                                    <p:animEffect transition="out" filter="fade">
                                      <p:cBhvr>
                                        <p:cTn id="91" dur="500"/>
                                        <p:tgtEl>
                                          <p:spTgt spid="20"/>
                                        </p:tgtEl>
                                      </p:cBhvr>
                                    </p:animEffect>
                                    <p:set>
                                      <p:cBhvr>
                                        <p:cTn id="92" dur="1" fill="hold">
                                          <p:stCondLst>
                                            <p:cond delay="499"/>
                                          </p:stCondLst>
                                        </p:cTn>
                                        <p:tgtEl>
                                          <p:spTgt spid="20"/>
                                        </p:tgtEl>
                                        <p:attrNameLst>
                                          <p:attrName>style.visibility</p:attrName>
                                        </p:attrNameLst>
                                      </p:cBhvr>
                                      <p:to>
                                        <p:strVal val="hidden"/>
                                      </p:to>
                                    </p:set>
                                  </p:childTnLst>
                                </p:cTn>
                              </p:par>
                              <p:par>
                                <p:cTn id="93" presetID="10" presetClass="entr" presetSubtype="0" fill="hold" grpId="0" nodeType="withEffect">
                                  <p:stCondLst>
                                    <p:cond delay="0"/>
                                  </p:stCondLst>
                                  <p:childTnLst>
                                    <p:set>
                                      <p:cBhvr>
                                        <p:cTn id="94" dur="1" fill="hold">
                                          <p:stCondLst>
                                            <p:cond delay="0"/>
                                          </p:stCondLst>
                                        </p:cTn>
                                        <p:tgtEl>
                                          <p:spTgt spid="167"/>
                                        </p:tgtEl>
                                        <p:attrNameLst>
                                          <p:attrName>style.visibility</p:attrName>
                                        </p:attrNameLst>
                                      </p:cBhvr>
                                      <p:to>
                                        <p:strVal val="visible"/>
                                      </p:to>
                                    </p:set>
                                    <p:animEffect transition="in" filter="fade">
                                      <p:cBhvr>
                                        <p:cTn id="95" dur="500"/>
                                        <p:tgtEl>
                                          <p:spTgt spid="167"/>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169"/>
                                        </p:tgtEl>
                                        <p:attrNameLst>
                                          <p:attrName>style.visibility</p:attrName>
                                        </p:attrNameLst>
                                      </p:cBhvr>
                                      <p:to>
                                        <p:strVal val="visible"/>
                                      </p:to>
                                    </p:set>
                                    <p:animEffect transition="in" filter="fade">
                                      <p:cBhvr>
                                        <p:cTn id="98" dur="500"/>
                                        <p:tgtEl>
                                          <p:spTgt spid="169"/>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170"/>
                                        </p:tgtEl>
                                        <p:attrNameLst>
                                          <p:attrName>style.visibility</p:attrName>
                                        </p:attrNameLst>
                                      </p:cBhvr>
                                      <p:to>
                                        <p:strVal val="visible"/>
                                      </p:to>
                                    </p:set>
                                    <p:animEffect transition="in" filter="fade">
                                      <p:cBhvr>
                                        <p:cTn id="101" dur="500"/>
                                        <p:tgtEl>
                                          <p:spTgt spid="170"/>
                                        </p:tgtEl>
                                      </p:cBhvr>
                                    </p:animEffect>
                                  </p:childTnLst>
                                </p:cTn>
                              </p:par>
                            </p:childTnLst>
                          </p:cTn>
                        </p:par>
                        <p:par>
                          <p:cTn id="102" fill="hold">
                            <p:stCondLst>
                              <p:cond delay="500"/>
                            </p:stCondLst>
                            <p:childTnLst>
                              <p:par>
                                <p:cTn id="103" presetID="21" presetClass="entr" presetSubtype="1" fill="hold" grpId="0" nodeType="afterEffect">
                                  <p:stCondLst>
                                    <p:cond delay="0"/>
                                  </p:stCondLst>
                                  <p:childTnLst>
                                    <p:set>
                                      <p:cBhvr>
                                        <p:cTn id="104" dur="1" fill="hold">
                                          <p:stCondLst>
                                            <p:cond delay="0"/>
                                          </p:stCondLst>
                                        </p:cTn>
                                        <p:tgtEl>
                                          <p:spTgt spid="345"/>
                                        </p:tgtEl>
                                        <p:attrNameLst>
                                          <p:attrName>style.visibility</p:attrName>
                                        </p:attrNameLst>
                                      </p:cBhvr>
                                      <p:to>
                                        <p:strVal val="visible"/>
                                      </p:to>
                                    </p:set>
                                    <p:animEffect transition="in" filter="wheel(1)">
                                      <p:cBhvr>
                                        <p:cTn id="105" dur="500"/>
                                        <p:tgtEl>
                                          <p:spTgt spid="345"/>
                                        </p:tgtEl>
                                      </p:cBhvr>
                                    </p:animEffect>
                                  </p:childTnLst>
                                </p:cTn>
                              </p:par>
                            </p:childTnLst>
                          </p:cTn>
                        </p:par>
                        <p:par>
                          <p:cTn id="106" fill="hold">
                            <p:stCondLst>
                              <p:cond delay="1000"/>
                            </p:stCondLst>
                            <p:childTnLst>
                              <p:par>
                                <p:cTn id="107" presetID="10" presetClass="entr" presetSubtype="0" fill="hold" nodeType="afterEffect">
                                  <p:stCondLst>
                                    <p:cond delay="0"/>
                                  </p:stCondLst>
                                  <p:childTnLst>
                                    <p:set>
                                      <p:cBhvr>
                                        <p:cTn id="108" dur="1" fill="hold">
                                          <p:stCondLst>
                                            <p:cond delay="0"/>
                                          </p:stCondLst>
                                        </p:cTn>
                                        <p:tgtEl>
                                          <p:spTgt spid="325"/>
                                        </p:tgtEl>
                                        <p:attrNameLst>
                                          <p:attrName>style.visibility</p:attrName>
                                        </p:attrNameLst>
                                      </p:cBhvr>
                                      <p:to>
                                        <p:strVal val="visible"/>
                                      </p:to>
                                    </p:set>
                                    <p:animEffect transition="in" filter="fade">
                                      <p:cBhvr>
                                        <p:cTn id="109" dur="500"/>
                                        <p:tgtEl>
                                          <p:spTgt spid="325"/>
                                        </p:tgtEl>
                                      </p:cBhvr>
                                    </p:animEffect>
                                  </p:childTnLst>
                                </p:cTn>
                              </p:par>
                              <p:par>
                                <p:cTn id="110" presetID="10" presetClass="entr" presetSubtype="0" fill="hold" nodeType="withEffect">
                                  <p:stCondLst>
                                    <p:cond delay="0"/>
                                  </p:stCondLst>
                                  <p:childTnLst>
                                    <p:set>
                                      <p:cBhvr>
                                        <p:cTn id="111" dur="1" fill="hold">
                                          <p:stCondLst>
                                            <p:cond delay="0"/>
                                          </p:stCondLst>
                                        </p:cTn>
                                        <p:tgtEl>
                                          <p:spTgt spid="339"/>
                                        </p:tgtEl>
                                        <p:attrNameLst>
                                          <p:attrName>style.visibility</p:attrName>
                                        </p:attrNameLst>
                                      </p:cBhvr>
                                      <p:to>
                                        <p:strVal val="visible"/>
                                      </p:to>
                                    </p:set>
                                    <p:animEffect transition="in" filter="fade">
                                      <p:cBhvr>
                                        <p:cTn id="112" dur="500"/>
                                        <p:tgtEl>
                                          <p:spTgt spid="339"/>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xit" presetSubtype="0" fill="hold" grpId="1" nodeType="clickEffect">
                                  <p:stCondLst>
                                    <p:cond delay="0"/>
                                  </p:stCondLst>
                                  <p:childTnLst>
                                    <p:animEffect transition="out" filter="fade">
                                      <p:cBhvr>
                                        <p:cTn id="116" dur="500"/>
                                        <p:tgtEl>
                                          <p:spTgt spid="170"/>
                                        </p:tgtEl>
                                      </p:cBhvr>
                                    </p:animEffect>
                                    <p:set>
                                      <p:cBhvr>
                                        <p:cTn id="117" dur="1" fill="hold">
                                          <p:stCondLst>
                                            <p:cond delay="499"/>
                                          </p:stCondLst>
                                        </p:cTn>
                                        <p:tgtEl>
                                          <p:spTgt spid="170"/>
                                        </p:tgtEl>
                                        <p:attrNameLst>
                                          <p:attrName>style.visibility</p:attrName>
                                        </p:attrNameLst>
                                      </p:cBhvr>
                                      <p:to>
                                        <p:strVal val="hidden"/>
                                      </p:to>
                                    </p:set>
                                  </p:childTnLst>
                                </p:cTn>
                              </p:par>
                              <p:par>
                                <p:cTn id="118" presetID="10" presetClass="exit" presetSubtype="0" fill="hold" grpId="1" nodeType="withEffect">
                                  <p:stCondLst>
                                    <p:cond delay="0"/>
                                  </p:stCondLst>
                                  <p:childTnLst>
                                    <p:animEffect transition="out" filter="fade">
                                      <p:cBhvr>
                                        <p:cTn id="119" dur="500"/>
                                        <p:tgtEl>
                                          <p:spTgt spid="169"/>
                                        </p:tgtEl>
                                      </p:cBhvr>
                                    </p:animEffect>
                                    <p:set>
                                      <p:cBhvr>
                                        <p:cTn id="120" dur="1" fill="hold">
                                          <p:stCondLst>
                                            <p:cond delay="499"/>
                                          </p:stCondLst>
                                        </p:cTn>
                                        <p:tgtEl>
                                          <p:spTgt spid="169"/>
                                        </p:tgtEl>
                                        <p:attrNameLst>
                                          <p:attrName>style.visibility</p:attrName>
                                        </p:attrNameLst>
                                      </p:cBhvr>
                                      <p:to>
                                        <p:strVal val="hidden"/>
                                      </p:to>
                                    </p:set>
                                  </p:childTnLst>
                                </p:cTn>
                              </p:par>
                              <p:par>
                                <p:cTn id="121" presetID="10" presetClass="exit" presetSubtype="0" fill="hold" grpId="1" nodeType="withEffect">
                                  <p:stCondLst>
                                    <p:cond delay="0"/>
                                  </p:stCondLst>
                                  <p:childTnLst>
                                    <p:animEffect transition="out" filter="fade">
                                      <p:cBhvr>
                                        <p:cTn id="122" dur="500"/>
                                        <p:tgtEl>
                                          <p:spTgt spid="167"/>
                                        </p:tgtEl>
                                      </p:cBhvr>
                                    </p:animEffect>
                                    <p:set>
                                      <p:cBhvr>
                                        <p:cTn id="123" dur="1" fill="hold">
                                          <p:stCondLst>
                                            <p:cond delay="499"/>
                                          </p:stCondLst>
                                        </p:cTn>
                                        <p:tgtEl>
                                          <p:spTgt spid="167"/>
                                        </p:tgtEl>
                                        <p:attrNameLst>
                                          <p:attrName>style.visibility</p:attrName>
                                        </p:attrNameLst>
                                      </p:cBhvr>
                                      <p:to>
                                        <p:strVal val="hidden"/>
                                      </p:to>
                                    </p:set>
                                  </p:childTnLst>
                                </p:cTn>
                              </p:par>
                              <p:par>
                                <p:cTn id="124" presetID="10" presetClass="exit" presetSubtype="0" fill="hold" grpId="0" nodeType="withEffect">
                                  <p:stCondLst>
                                    <p:cond delay="0"/>
                                  </p:stCondLst>
                                  <p:childTnLst>
                                    <p:animEffect transition="out" filter="fade">
                                      <p:cBhvr>
                                        <p:cTn id="125" dur="500"/>
                                        <p:tgtEl>
                                          <p:spTgt spid="168"/>
                                        </p:tgtEl>
                                      </p:cBhvr>
                                    </p:animEffect>
                                    <p:set>
                                      <p:cBhvr>
                                        <p:cTn id="126" dur="1" fill="hold">
                                          <p:stCondLst>
                                            <p:cond delay="499"/>
                                          </p:stCondLst>
                                        </p:cTn>
                                        <p:tgtEl>
                                          <p:spTgt spid="168"/>
                                        </p:tgtEl>
                                        <p:attrNameLst>
                                          <p:attrName>style.visibility</p:attrName>
                                        </p:attrNameLst>
                                      </p:cBhvr>
                                      <p:to>
                                        <p:strVal val="hidden"/>
                                      </p:to>
                                    </p:set>
                                  </p:childTnLst>
                                </p:cTn>
                              </p:par>
                              <p:par>
                                <p:cTn id="127" presetID="7" presetClass="emph" presetSubtype="2" fill="hold" nodeType="withEffect">
                                  <p:stCondLst>
                                    <p:cond delay="0"/>
                                  </p:stCondLst>
                                  <p:childTnLst>
                                    <p:animClr clrSpc="rgb" dir="cw">
                                      <p:cBhvr>
                                        <p:cTn id="128" dur="500" fill="hold"/>
                                        <p:tgtEl>
                                          <p:spTgt spid="345"/>
                                        </p:tgtEl>
                                        <p:attrNameLst>
                                          <p:attrName>stroke.color</p:attrName>
                                        </p:attrNameLst>
                                      </p:cBhvr>
                                      <p:to>
                                        <a:srgbClr val="A5A5A5"/>
                                      </p:to>
                                    </p:animClr>
                                    <p:set>
                                      <p:cBhvr>
                                        <p:cTn id="129" dur="500" fill="hold"/>
                                        <p:tgtEl>
                                          <p:spTgt spid="345"/>
                                        </p:tgtEl>
                                        <p:attrNameLst>
                                          <p:attrName>stroke.on</p:attrName>
                                        </p:attrNameLst>
                                      </p:cBhvr>
                                      <p:to>
                                        <p:strVal val="true"/>
                                      </p:to>
                                    </p:set>
                                  </p:childTnLst>
                                </p:cTn>
                              </p:par>
                              <p:par>
                                <p:cTn id="130" presetID="10" presetClass="entr" presetSubtype="0" fill="hold" grpId="0" nodeType="withEffect">
                                  <p:stCondLst>
                                    <p:cond delay="0"/>
                                  </p:stCondLst>
                                  <p:childTnLst>
                                    <p:set>
                                      <p:cBhvr>
                                        <p:cTn id="131" dur="1" fill="hold">
                                          <p:stCondLst>
                                            <p:cond delay="0"/>
                                          </p:stCondLst>
                                        </p:cTn>
                                        <p:tgtEl>
                                          <p:spTgt spid="175"/>
                                        </p:tgtEl>
                                        <p:attrNameLst>
                                          <p:attrName>style.visibility</p:attrName>
                                        </p:attrNameLst>
                                      </p:cBhvr>
                                      <p:to>
                                        <p:strVal val="visible"/>
                                      </p:to>
                                    </p:set>
                                    <p:animEffect transition="in" filter="fade">
                                      <p:cBhvr>
                                        <p:cTn id="132" dur="500"/>
                                        <p:tgtEl>
                                          <p:spTgt spid="175"/>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176"/>
                                        </p:tgtEl>
                                        <p:attrNameLst>
                                          <p:attrName>style.visibility</p:attrName>
                                        </p:attrNameLst>
                                      </p:cBhvr>
                                      <p:to>
                                        <p:strVal val="visible"/>
                                      </p:to>
                                    </p:set>
                                    <p:animEffect transition="in" filter="fade">
                                      <p:cBhvr>
                                        <p:cTn id="135" dur="500"/>
                                        <p:tgtEl>
                                          <p:spTgt spid="176"/>
                                        </p:tgtEl>
                                      </p:cBhvr>
                                    </p:animEffect>
                                  </p:childTnLst>
                                </p:cTn>
                              </p:par>
                            </p:childTnLst>
                          </p:cTn>
                        </p:par>
                      </p:childTnLst>
                    </p:cTn>
                  </p:par>
                  <p:par>
                    <p:cTn id="136" fill="hold">
                      <p:stCondLst>
                        <p:cond delay="indefinite"/>
                      </p:stCondLst>
                      <p:childTnLst>
                        <p:par>
                          <p:cTn id="137" fill="hold">
                            <p:stCondLst>
                              <p:cond delay="0"/>
                            </p:stCondLst>
                            <p:childTnLst>
                              <p:par>
                                <p:cTn id="138" presetID="21" presetClass="entr" presetSubtype="1" fill="hold" grpId="0" nodeType="clickEffect">
                                  <p:stCondLst>
                                    <p:cond delay="0"/>
                                  </p:stCondLst>
                                  <p:childTnLst>
                                    <p:set>
                                      <p:cBhvr>
                                        <p:cTn id="139" dur="1" fill="hold">
                                          <p:stCondLst>
                                            <p:cond delay="0"/>
                                          </p:stCondLst>
                                        </p:cTn>
                                        <p:tgtEl>
                                          <p:spTgt spid="346"/>
                                        </p:tgtEl>
                                        <p:attrNameLst>
                                          <p:attrName>style.visibility</p:attrName>
                                        </p:attrNameLst>
                                      </p:cBhvr>
                                      <p:to>
                                        <p:strVal val="visible"/>
                                      </p:to>
                                    </p:set>
                                    <p:animEffect transition="in" filter="wheel(1)">
                                      <p:cBhvr>
                                        <p:cTn id="140" dur="500"/>
                                        <p:tgtEl>
                                          <p:spTgt spid="346"/>
                                        </p:tgtEl>
                                      </p:cBhvr>
                                    </p:animEffect>
                                  </p:childTnLst>
                                </p:cTn>
                              </p:par>
                            </p:childTnLst>
                          </p:cTn>
                        </p:par>
                        <p:par>
                          <p:cTn id="141" fill="hold">
                            <p:stCondLst>
                              <p:cond delay="500"/>
                            </p:stCondLst>
                            <p:childTnLst>
                              <p:par>
                                <p:cTn id="142" presetID="10" presetClass="entr" presetSubtype="0" fill="hold" nodeType="afterEffect">
                                  <p:stCondLst>
                                    <p:cond delay="0"/>
                                  </p:stCondLst>
                                  <p:childTnLst>
                                    <p:set>
                                      <p:cBhvr>
                                        <p:cTn id="143" dur="1" fill="hold">
                                          <p:stCondLst>
                                            <p:cond delay="0"/>
                                          </p:stCondLst>
                                        </p:cTn>
                                        <p:tgtEl>
                                          <p:spTgt spid="333"/>
                                        </p:tgtEl>
                                        <p:attrNameLst>
                                          <p:attrName>style.visibility</p:attrName>
                                        </p:attrNameLst>
                                      </p:cBhvr>
                                      <p:to>
                                        <p:strVal val="visible"/>
                                      </p:to>
                                    </p:set>
                                    <p:animEffect transition="in" filter="fade">
                                      <p:cBhvr>
                                        <p:cTn id="144" dur="500"/>
                                        <p:tgtEl>
                                          <p:spTgt spid="333"/>
                                        </p:tgtEl>
                                      </p:cBhvr>
                                    </p:animEffect>
                                  </p:childTnLst>
                                </p:cTn>
                              </p:par>
                            </p:childTnLst>
                          </p:cTn>
                        </p:par>
                      </p:childTnLst>
                    </p:cTn>
                  </p:par>
                  <p:par>
                    <p:cTn id="145" fill="hold">
                      <p:stCondLst>
                        <p:cond delay="indefinite"/>
                      </p:stCondLst>
                      <p:childTnLst>
                        <p:par>
                          <p:cTn id="146" fill="hold">
                            <p:stCondLst>
                              <p:cond delay="0"/>
                            </p:stCondLst>
                            <p:childTnLst>
                              <p:par>
                                <p:cTn id="147" presetID="10" presetClass="exit" presetSubtype="0" fill="hold" grpId="1" nodeType="clickEffect">
                                  <p:stCondLst>
                                    <p:cond delay="0"/>
                                  </p:stCondLst>
                                  <p:childTnLst>
                                    <p:animEffect transition="out" filter="fade">
                                      <p:cBhvr>
                                        <p:cTn id="148" dur="500"/>
                                        <p:tgtEl>
                                          <p:spTgt spid="175"/>
                                        </p:tgtEl>
                                      </p:cBhvr>
                                    </p:animEffect>
                                    <p:set>
                                      <p:cBhvr>
                                        <p:cTn id="149" dur="1" fill="hold">
                                          <p:stCondLst>
                                            <p:cond delay="499"/>
                                          </p:stCondLst>
                                        </p:cTn>
                                        <p:tgtEl>
                                          <p:spTgt spid="175"/>
                                        </p:tgtEl>
                                        <p:attrNameLst>
                                          <p:attrName>style.visibility</p:attrName>
                                        </p:attrNameLst>
                                      </p:cBhvr>
                                      <p:to>
                                        <p:strVal val="hidden"/>
                                      </p:to>
                                    </p:set>
                                  </p:childTnLst>
                                </p:cTn>
                              </p:par>
                              <p:par>
                                <p:cTn id="150" presetID="10" presetClass="exit" presetSubtype="0" fill="hold" grpId="1" nodeType="withEffect">
                                  <p:stCondLst>
                                    <p:cond delay="0"/>
                                  </p:stCondLst>
                                  <p:childTnLst>
                                    <p:animEffect transition="out" filter="fade">
                                      <p:cBhvr>
                                        <p:cTn id="151" dur="500"/>
                                        <p:tgtEl>
                                          <p:spTgt spid="176"/>
                                        </p:tgtEl>
                                      </p:cBhvr>
                                    </p:animEffect>
                                    <p:set>
                                      <p:cBhvr>
                                        <p:cTn id="152" dur="1" fill="hold">
                                          <p:stCondLst>
                                            <p:cond delay="499"/>
                                          </p:stCondLst>
                                        </p:cTn>
                                        <p:tgtEl>
                                          <p:spTgt spid="176"/>
                                        </p:tgtEl>
                                        <p:attrNameLst>
                                          <p:attrName>style.visibility</p:attrName>
                                        </p:attrNameLst>
                                      </p:cBhvr>
                                      <p:to>
                                        <p:strVal val="hidden"/>
                                      </p:to>
                                    </p:set>
                                  </p:childTnLst>
                                </p:cTn>
                              </p:par>
                              <p:par>
                                <p:cTn id="153" presetID="7" presetClass="emph" presetSubtype="2" fill="hold" nodeType="withEffect">
                                  <p:stCondLst>
                                    <p:cond delay="0"/>
                                  </p:stCondLst>
                                  <p:childTnLst>
                                    <p:animClr clrSpc="rgb" dir="cw">
                                      <p:cBhvr>
                                        <p:cTn id="154" dur="500" fill="hold"/>
                                        <p:tgtEl>
                                          <p:spTgt spid="345"/>
                                        </p:tgtEl>
                                        <p:attrNameLst>
                                          <p:attrName>stroke.color</p:attrName>
                                        </p:attrNameLst>
                                      </p:cBhvr>
                                      <p:to>
                                        <a:srgbClr val="FF0000"/>
                                      </p:to>
                                    </p:animClr>
                                    <p:set>
                                      <p:cBhvr>
                                        <p:cTn id="155" dur="500" fill="hold"/>
                                        <p:tgtEl>
                                          <p:spTgt spid="345"/>
                                        </p:tgtEl>
                                        <p:attrNameLst>
                                          <p:attrName>stroke.on</p:attrName>
                                        </p:attrNameLst>
                                      </p:cBhvr>
                                      <p:to>
                                        <p:strVal val="true"/>
                                      </p:to>
                                    </p:set>
                                  </p:childTnLst>
                                </p:cTn>
                              </p:par>
                            </p:childTnLst>
                          </p:cTn>
                        </p:par>
                      </p:childTnLst>
                    </p:cTn>
                  </p:par>
                  <p:par>
                    <p:cTn id="156" fill="hold">
                      <p:stCondLst>
                        <p:cond delay="indefinite"/>
                      </p:stCondLst>
                      <p:childTnLst>
                        <p:par>
                          <p:cTn id="157" fill="hold">
                            <p:stCondLst>
                              <p:cond delay="0"/>
                            </p:stCondLst>
                            <p:childTnLst>
                              <p:par>
                                <p:cTn id="158" presetID="10" presetClass="exit" presetSubtype="0" fill="hold" grpId="1" nodeType="clickEffect">
                                  <p:stCondLst>
                                    <p:cond delay="0"/>
                                  </p:stCondLst>
                                  <p:childTnLst>
                                    <p:animEffect transition="out" filter="fade">
                                      <p:cBhvr>
                                        <p:cTn id="159" dur="500"/>
                                        <p:tgtEl>
                                          <p:spTgt spid="168"/>
                                        </p:tgtEl>
                                      </p:cBhvr>
                                    </p:animEffect>
                                    <p:set>
                                      <p:cBhvr>
                                        <p:cTn id="160" dur="1" fill="hold">
                                          <p:stCondLst>
                                            <p:cond delay="499"/>
                                          </p:stCondLst>
                                        </p:cTn>
                                        <p:tgtEl>
                                          <p:spTgt spid="168"/>
                                        </p:tgtEl>
                                        <p:attrNameLst>
                                          <p:attrName>style.visibility</p:attrName>
                                        </p:attrNameLst>
                                      </p:cBhvr>
                                      <p:to>
                                        <p:strVal val="hidden"/>
                                      </p:to>
                                    </p:set>
                                  </p:childTnLst>
                                </p:cTn>
                              </p:par>
                              <p:par>
                                <p:cTn id="161" presetID="10" presetClass="exit" presetSubtype="0" fill="hold" grpId="1" nodeType="withEffect">
                                  <p:stCondLst>
                                    <p:cond delay="0"/>
                                  </p:stCondLst>
                                  <p:childTnLst>
                                    <p:animEffect transition="out" filter="fade">
                                      <p:cBhvr>
                                        <p:cTn id="162" dur="500"/>
                                        <p:tgtEl>
                                          <p:spTgt spid="171"/>
                                        </p:tgtEl>
                                      </p:cBhvr>
                                    </p:animEffect>
                                    <p:set>
                                      <p:cBhvr>
                                        <p:cTn id="163" dur="1" fill="hold">
                                          <p:stCondLst>
                                            <p:cond delay="499"/>
                                          </p:stCondLst>
                                        </p:cTn>
                                        <p:tgtEl>
                                          <p:spTgt spid="171"/>
                                        </p:tgtEl>
                                        <p:attrNameLst>
                                          <p:attrName>style.visibility</p:attrName>
                                        </p:attrNameLst>
                                      </p:cBhvr>
                                      <p:to>
                                        <p:strVal val="hidden"/>
                                      </p:to>
                                    </p:set>
                                  </p:childTnLst>
                                </p:cTn>
                              </p:par>
                              <p:par>
                                <p:cTn id="164" presetID="10" presetClass="exit" presetSubtype="0" fill="hold" grpId="0" nodeType="withEffect">
                                  <p:stCondLst>
                                    <p:cond delay="0"/>
                                  </p:stCondLst>
                                  <p:childTnLst>
                                    <p:animEffect transition="out" filter="fade">
                                      <p:cBhvr>
                                        <p:cTn id="165" dur="500"/>
                                        <p:tgtEl>
                                          <p:spTgt spid="174"/>
                                        </p:tgtEl>
                                      </p:cBhvr>
                                    </p:animEffect>
                                    <p:set>
                                      <p:cBhvr>
                                        <p:cTn id="166" dur="1" fill="hold">
                                          <p:stCondLst>
                                            <p:cond delay="499"/>
                                          </p:stCondLst>
                                        </p:cTn>
                                        <p:tgtEl>
                                          <p:spTgt spid="174"/>
                                        </p:tgtEl>
                                        <p:attrNameLst>
                                          <p:attrName>style.visibility</p:attrName>
                                        </p:attrNameLst>
                                      </p:cBhvr>
                                      <p:to>
                                        <p:strVal val="hidden"/>
                                      </p:to>
                                    </p:set>
                                  </p:childTnLst>
                                </p:cTn>
                              </p:par>
                              <p:par>
                                <p:cTn id="167" presetID="10" presetClass="exit" presetSubtype="0" fill="hold" grpId="1" nodeType="withEffect">
                                  <p:stCondLst>
                                    <p:cond delay="0"/>
                                  </p:stCondLst>
                                  <p:childTnLst>
                                    <p:animEffect transition="out" filter="fade">
                                      <p:cBhvr>
                                        <p:cTn id="168" dur="500"/>
                                        <p:tgtEl>
                                          <p:spTgt spid="345"/>
                                        </p:tgtEl>
                                      </p:cBhvr>
                                    </p:animEffect>
                                    <p:set>
                                      <p:cBhvr>
                                        <p:cTn id="169" dur="1" fill="hold">
                                          <p:stCondLst>
                                            <p:cond delay="499"/>
                                          </p:stCondLst>
                                        </p:cTn>
                                        <p:tgtEl>
                                          <p:spTgt spid="345"/>
                                        </p:tgtEl>
                                        <p:attrNameLst>
                                          <p:attrName>style.visibility</p:attrName>
                                        </p:attrNameLst>
                                      </p:cBhvr>
                                      <p:to>
                                        <p:strVal val="hidden"/>
                                      </p:to>
                                    </p:set>
                                  </p:childTnLst>
                                </p:cTn>
                              </p:par>
                              <p:par>
                                <p:cTn id="170" presetID="10" presetClass="exit" presetSubtype="0" fill="hold" grpId="1" nodeType="withEffect">
                                  <p:stCondLst>
                                    <p:cond delay="0"/>
                                  </p:stCondLst>
                                  <p:childTnLst>
                                    <p:animEffect transition="out" filter="fade">
                                      <p:cBhvr>
                                        <p:cTn id="171" dur="500"/>
                                        <p:tgtEl>
                                          <p:spTgt spid="346"/>
                                        </p:tgtEl>
                                      </p:cBhvr>
                                    </p:animEffect>
                                    <p:set>
                                      <p:cBhvr>
                                        <p:cTn id="172" dur="1" fill="hold">
                                          <p:stCondLst>
                                            <p:cond delay="499"/>
                                          </p:stCondLst>
                                        </p:cTn>
                                        <p:tgtEl>
                                          <p:spTgt spid="34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 grpId="0" animBg="1"/>
      <p:bldP spid="167" grpId="1" animBg="1"/>
      <p:bldP spid="168" grpId="0" animBg="1"/>
      <p:bldP spid="168" grpId="1" animBg="1"/>
      <p:bldP spid="169" grpId="0" animBg="1"/>
      <p:bldP spid="169" grpId="1" animBg="1"/>
      <p:bldP spid="170" grpId="0" animBg="1"/>
      <p:bldP spid="170" grpId="1" animBg="1"/>
      <p:bldP spid="171" grpId="0" animBg="1"/>
      <p:bldP spid="171" grpId="1" animBg="1"/>
      <p:bldP spid="172" grpId="0" animBg="1"/>
      <p:bldP spid="172" grpId="1" animBg="1"/>
      <p:bldP spid="173" grpId="0" animBg="1"/>
      <p:bldP spid="174" grpId="0" animBg="1"/>
      <p:bldP spid="175" grpId="0" animBg="1"/>
      <p:bldP spid="175" grpId="1" animBg="1"/>
      <p:bldP spid="176" grpId="0" animBg="1"/>
      <p:bldP spid="176" grpId="1" animBg="1"/>
      <p:bldP spid="22" grpId="0" animBg="1"/>
      <p:bldP spid="22" grpId="1" animBg="1"/>
      <p:bldP spid="324" grpId="0" animBg="1"/>
      <p:bldP spid="324" grpId="1" animBg="1"/>
      <p:bldP spid="345" grpId="0" animBg="1"/>
      <p:bldP spid="345" grpId="1" animBg="1"/>
      <p:bldP spid="346" grpId="0" animBg="1"/>
      <p:bldP spid="346" grpId="1"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19545" y="2889075"/>
            <a:ext cx="6336543" cy="923330"/>
          </a:xfrm>
          <a:prstGeom prst="rect">
            <a:avLst/>
          </a:prstGeom>
          <a:noFill/>
        </p:spPr>
        <p:txBody>
          <a:bodyPr wrap="none" rtlCol="0">
            <a:spAutoFit/>
          </a:bodyPr>
          <a:lstStyle/>
          <a:p>
            <a:pPr marL="285750" indent="-285750">
              <a:buFont typeface="Arial" panose="020B0604020202020204" pitchFamily="34" charset="0"/>
              <a:buChar char="•"/>
            </a:pPr>
            <a:r>
              <a:rPr lang="en-US" dirty="0" smtClean="0"/>
              <a:t>Lack of randomization skewed workload toward certain DNs</a:t>
            </a:r>
          </a:p>
          <a:p>
            <a:pPr marL="285750" indent="-285750">
              <a:buFont typeface="Arial" panose="020B0604020202020204" pitchFamily="34" charset="0"/>
              <a:buChar char="•"/>
            </a:pPr>
            <a:endParaRPr lang="en-US" dirty="0" smtClean="0"/>
          </a:p>
          <a:p>
            <a:pPr marL="285750" indent="-285750">
              <a:buFont typeface="Arial" panose="020B0604020202020204" pitchFamily="34" charset="0"/>
              <a:buChar char="•"/>
            </a:pPr>
            <a:r>
              <a:rPr lang="en-US" dirty="0" smtClean="0"/>
              <a:t>                              Independently discovered. Fixed in HDFS 2.5</a:t>
            </a:r>
            <a:endParaRPr lang="en-US" dirty="0"/>
          </a:p>
        </p:txBody>
      </p:sp>
      <p:grpSp>
        <p:nvGrpSpPr>
          <p:cNvPr id="10" name="Group 9"/>
          <p:cNvGrpSpPr/>
          <p:nvPr/>
        </p:nvGrpSpPr>
        <p:grpSpPr>
          <a:xfrm rot="389786">
            <a:off x="6948385" y="2023517"/>
            <a:ext cx="1885950" cy="2352675"/>
            <a:chOff x="6962775" y="2352675"/>
            <a:chExt cx="2181225" cy="2352675"/>
          </a:xfrm>
        </p:grpSpPr>
        <p:sp>
          <p:nvSpPr>
            <p:cNvPr id="6" name="Rounded Rectangle 5"/>
            <p:cNvSpPr/>
            <p:nvPr/>
          </p:nvSpPr>
          <p:spPr>
            <a:xfrm>
              <a:off x="6962775" y="2352675"/>
              <a:ext cx="2181225" cy="2352675"/>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nSpc>
                  <a:spcPct val="75000"/>
                </a:lnSpc>
              </a:pPr>
              <a:endParaRPr lang="en-US" sz="1600" dirty="0" smtClean="0">
                <a:solidFill>
                  <a:schemeClr val="tx1"/>
                </a:solidFill>
                <a:latin typeface="+mj-lt"/>
              </a:endParaRPr>
            </a:p>
            <a:p>
              <a:pPr>
                <a:lnSpc>
                  <a:spcPct val="75000"/>
                </a:lnSpc>
              </a:pPr>
              <a:endParaRPr lang="en-US" sz="1600" dirty="0">
                <a:solidFill>
                  <a:schemeClr val="tx1"/>
                </a:solidFill>
                <a:latin typeface="+mj-lt"/>
              </a:endParaRPr>
            </a:p>
            <a:p>
              <a:pPr>
                <a:lnSpc>
                  <a:spcPct val="75000"/>
                </a:lnSpc>
              </a:pPr>
              <a:endParaRPr lang="en-US" sz="1600" dirty="0" smtClean="0">
                <a:solidFill>
                  <a:schemeClr val="tx1"/>
                </a:solidFill>
                <a:latin typeface="+mj-lt"/>
              </a:endParaRPr>
            </a:p>
            <a:p>
              <a:pPr>
                <a:lnSpc>
                  <a:spcPct val="75000"/>
                </a:lnSpc>
              </a:pPr>
              <a:r>
                <a:rPr lang="en-US" sz="1600" dirty="0" smtClean="0">
                  <a:solidFill>
                    <a:schemeClr val="tx1"/>
                  </a:solidFill>
                  <a:latin typeface="+mj-lt"/>
                </a:rPr>
                <a:t>Same machine?</a:t>
              </a:r>
            </a:p>
            <a:p>
              <a:pPr>
                <a:lnSpc>
                  <a:spcPct val="75000"/>
                </a:lnSpc>
              </a:pPr>
              <a:r>
                <a:rPr lang="en-US" sz="1600" dirty="0">
                  <a:solidFill>
                    <a:schemeClr val="tx1"/>
                  </a:solidFill>
                  <a:latin typeface="+mj-lt"/>
                </a:rPr>
                <a:t> </a:t>
              </a:r>
              <a:r>
                <a:rPr lang="en-US" sz="1600" dirty="0" smtClean="0">
                  <a:solidFill>
                    <a:schemeClr val="tx1"/>
                  </a:solidFill>
                  <a:latin typeface="+mj-lt"/>
                </a:rPr>
                <a:t> -&gt; read local</a:t>
              </a:r>
            </a:p>
            <a:p>
              <a:pPr>
                <a:lnSpc>
                  <a:spcPct val="75000"/>
                </a:lnSpc>
              </a:pPr>
              <a:endParaRPr lang="en-US" sz="1600" dirty="0" smtClean="0">
                <a:solidFill>
                  <a:schemeClr val="tx1"/>
                </a:solidFill>
                <a:latin typeface="+mj-lt"/>
              </a:endParaRPr>
            </a:p>
            <a:p>
              <a:pPr>
                <a:lnSpc>
                  <a:spcPct val="75000"/>
                </a:lnSpc>
              </a:pPr>
              <a:r>
                <a:rPr lang="en-US" sz="1600" dirty="0" smtClean="0">
                  <a:solidFill>
                    <a:schemeClr val="tx1"/>
                  </a:solidFill>
                  <a:latin typeface="+mj-lt"/>
                </a:rPr>
                <a:t>Same rack?</a:t>
              </a:r>
            </a:p>
            <a:p>
              <a:pPr>
                <a:lnSpc>
                  <a:spcPct val="75000"/>
                </a:lnSpc>
              </a:pPr>
              <a:r>
                <a:rPr lang="en-US" sz="1600" dirty="0">
                  <a:solidFill>
                    <a:schemeClr val="tx1"/>
                  </a:solidFill>
                  <a:latin typeface="+mj-lt"/>
                </a:rPr>
                <a:t> </a:t>
              </a:r>
              <a:r>
                <a:rPr lang="en-US" sz="1600" dirty="0" smtClean="0">
                  <a:solidFill>
                    <a:schemeClr val="tx1"/>
                  </a:solidFill>
                  <a:latin typeface="+mj-lt"/>
                </a:rPr>
                <a:t> -&gt; read rack-local</a:t>
              </a:r>
            </a:p>
            <a:p>
              <a:pPr>
                <a:lnSpc>
                  <a:spcPct val="75000"/>
                </a:lnSpc>
              </a:pPr>
              <a:endParaRPr lang="en-US" sz="1600" dirty="0" smtClean="0">
                <a:solidFill>
                  <a:schemeClr val="tx1"/>
                </a:solidFill>
                <a:latin typeface="+mj-lt"/>
              </a:endParaRPr>
            </a:p>
            <a:p>
              <a:pPr>
                <a:lnSpc>
                  <a:spcPct val="75000"/>
                </a:lnSpc>
              </a:pPr>
              <a:r>
                <a:rPr lang="en-US" sz="1600" dirty="0" smtClean="0">
                  <a:solidFill>
                    <a:schemeClr val="tx1"/>
                  </a:solidFill>
                  <a:latin typeface="+mj-lt"/>
                </a:rPr>
                <a:t>Otherwise</a:t>
              </a:r>
            </a:p>
            <a:p>
              <a:pPr>
                <a:lnSpc>
                  <a:spcPct val="75000"/>
                </a:lnSpc>
              </a:pPr>
              <a:r>
                <a:rPr lang="en-US" sz="1600" dirty="0">
                  <a:solidFill>
                    <a:schemeClr val="tx1"/>
                  </a:solidFill>
                  <a:latin typeface="+mj-lt"/>
                </a:rPr>
                <a:t> </a:t>
              </a:r>
              <a:r>
                <a:rPr lang="en-US" sz="1600" dirty="0" smtClean="0">
                  <a:solidFill>
                    <a:schemeClr val="tx1"/>
                  </a:solidFill>
                  <a:latin typeface="+mj-lt"/>
                </a:rPr>
                <a:t>-&gt; select randomly</a:t>
              </a:r>
              <a:endParaRPr lang="en-US" sz="1600" dirty="0">
                <a:solidFill>
                  <a:schemeClr val="tx1"/>
                </a:solidFill>
                <a:latin typeface="+mj-lt"/>
              </a:endParaRPr>
            </a:p>
          </p:txBody>
        </p:sp>
        <p:sp>
          <p:nvSpPr>
            <p:cNvPr id="7" name="TextBox 6"/>
            <p:cNvSpPr txBox="1"/>
            <p:nvPr/>
          </p:nvSpPr>
          <p:spPr>
            <a:xfrm>
              <a:off x="7232393" y="2352675"/>
              <a:ext cx="1641988" cy="541046"/>
            </a:xfrm>
            <a:prstGeom prst="rect">
              <a:avLst/>
            </a:prstGeom>
            <a:noFill/>
          </p:spPr>
          <p:txBody>
            <a:bodyPr wrap="none" rtlCol="0">
              <a:spAutoFit/>
            </a:bodyPr>
            <a:lstStyle/>
            <a:p>
              <a:pPr algn="ctr">
                <a:lnSpc>
                  <a:spcPct val="80000"/>
                </a:lnSpc>
              </a:pPr>
              <a:r>
                <a:rPr lang="en-US" dirty="0" smtClean="0"/>
                <a:t>HDFS Replica </a:t>
              </a:r>
            </a:p>
            <a:p>
              <a:pPr algn="ctr">
                <a:lnSpc>
                  <a:spcPct val="80000"/>
                </a:lnSpc>
              </a:pPr>
              <a:r>
                <a:rPr lang="en-US" dirty="0" smtClean="0"/>
                <a:t>Selection Policy</a:t>
              </a:r>
              <a:endParaRPr lang="en-US" dirty="0"/>
            </a:p>
          </p:txBody>
        </p:sp>
        <p:cxnSp>
          <p:nvCxnSpPr>
            <p:cNvPr id="9" name="Straight Connector 8"/>
            <p:cNvCxnSpPr/>
            <p:nvPr/>
          </p:nvCxnSpPr>
          <p:spPr>
            <a:xfrm>
              <a:off x="6962775" y="2894231"/>
              <a:ext cx="21812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6908186" y="168893"/>
            <a:ext cx="1721018" cy="1569660"/>
            <a:chOff x="2042417" y="2020656"/>
            <a:chExt cx="1721018" cy="1569660"/>
          </a:xfrm>
        </p:grpSpPr>
        <p:grpSp>
          <p:nvGrpSpPr>
            <p:cNvPr id="47" name="Group 46"/>
            <p:cNvGrpSpPr/>
            <p:nvPr/>
          </p:nvGrpSpPr>
          <p:grpSpPr>
            <a:xfrm>
              <a:off x="2042417" y="2276342"/>
              <a:ext cx="1721018" cy="1237104"/>
              <a:chOff x="4941133" y="3455754"/>
              <a:chExt cx="3764717" cy="2706157"/>
            </a:xfrm>
          </p:grpSpPr>
          <p:pic>
            <p:nvPicPr>
              <p:cNvPr id="49" name="Picture 4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41133" y="3455754"/>
                <a:ext cx="3764717" cy="2706157"/>
              </a:xfrm>
              <a:prstGeom prst="rect">
                <a:avLst/>
              </a:prstGeom>
            </p:spPr>
          </p:pic>
          <p:sp>
            <p:nvSpPr>
              <p:cNvPr id="50" name="Rectangle 49"/>
              <p:cNvSpPr/>
              <p:nvPr/>
            </p:nvSpPr>
            <p:spPr>
              <a:xfrm>
                <a:off x="5668297" y="3455754"/>
                <a:ext cx="2847053" cy="5211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8" name="TextBox 47"/>
            <p:cNvSpPr txBox="1"/>
            <p:nvPr/>
          </p:nvSpPr>
          <p:spPr>
            <a:xfrm>
              <a:off x="2675636" y="2020656"/>
              <a:ext cx="755335" cy="1569660"/>
            </a:xfrm>
            <a:prstGeom prst="rect">
              <a:avLst/>
            </a:prstGeom>
            <a:noFill/>
          </p:spPr>
          <p:txBody>
            <a:bodyPr wrap="none" rtlCol="0">
              <a:spAutoFit/>
            </a:bodyPr>
            <a:lstStyle/>
            <a:p>
              <a:r>
                <a:rPr lang="en-US" sz="9600" dirty="0" smtClean="0">
                  <a:ln w="28575">
                    <a:solidFill>
                      <a:schemeClr val="tx1"/>
                    </a:solidFill>
                  </a:ln>
                  <a:solidFill>
                    <a:schemeClr val="bg1"/>
                  </a:solidFill>
                </a:rPr>
                <a:t>?</a:t>
              </a:r>
              <a:endParaRPr lang="en-US" sz="9600" dirty="0">
                <a:ln w="28575">
                  <a:solidFill>
                    <a:schemeClr val="tx1"/>
                  </a:solidFill>
                </a:ln>
                <a:solidFill>
                  <a:schemeClr val="bg1"/>
                </a:solidFill>
              </a:endParaRPr>
            </a:p>
          </p:txBody>
        </p:sp>
      </p:grpSp>
      <p:grpSp>
        <p:nvGrpSpPr>
          <p:cNvPr id="57" name="Group 56"/>
          <p:cNvGrpSpPr/>
          <p:nvPr/>
        </p:nvGrpSpPr>
        <p:grpSpPr>
          <a:xfrm>
            <a:off x="7006618" y="2825847"/>
            <a:ext cx="1474287" cy="162270"/>
            <a:chOff x="7006618" y="2825847"/>
            <a:chExt cx="1474287" cy="162270"/>
          </a:xfrm>
        </p:grpSpPr>
        <p:cxnSp>
          <p:nvCxnSpPr>
            <p:cNvPr id="54" name="Straight Connector 53"/>
            <p:cNvCxnSpPr/>
            <p:nvPr/>
          </p:nvCxnSpPr>
          <p:spPr>
            <a:xfrm rot="360000">
              <a:off x="7017865" y="2825847"/>
              <a:ext cx="146304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rot="360000">
              <a:off x="7006618" y="2988117"/>
              <a:ext cx="146304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2" name="New Graph"/>
          <p:cNvGrpSpPr/>
          <p:nvPr/>
        </p:nvGrpSpPr>
        <p:grpSpPr>
          <a:xfrm>
            <a:off x="3539266" y="280997"/>
            <a:ext cx="2523895" cy="2384831"/>
            <a:chOff x="1055200" y="4196891"/>
            <a:chExt cx="2523895" cy="2384831"/>
          </a:xfrm>
        </p:grpSpPr>
        <p:pic>
          <p:nvPicPr>
            <p:cNvPr id="253" name="Picture 252"/>
            <p:cNvPicPr>
              <a:picLocks noChangeAspect="1"/>
            </p:cNvPicPr>
            <p:nvPr/>
          </p:nvPicPr>
          <p:blipFill rotWithShape="1">
            <a:blip r:embed="rId4">
              <a:extLst>
                <a:ext uri="{28A0092B-C50C-407E-A947-70E740481C1C}">
                  <a14:useLocalDpi xmlns:a14="http://schemas.microsoft.com/office/drawing/2010/main" val="0"/>
                </a:ext>
              </a:extLst>
            </a:blip>
            <a:srcRect l="79989" t="22730" r="204" b="-816"/>
            <a:stretch/>
          </p:blipFill>
          <p:spPr>
            <a:xfrm>
              <a:off x="1504950" y="4591049"/>
              <a:ext cx="2074145" cy="1990673"/>
            </a:xfrm>
            <a:prstGeom prst="rect">
              <a:avLst/>
            </a:prstGeom>
          </p:spPr>
        </p:pic>
        <p:grpSp>
          <p:nvGrpSpPr>
            <p:cNvPr id="254" name="Group 253"/>
            <p:cNvGrpSpPr/>
            <p:nvPr/>
          </p:nvGrpSpPr>
          <p:grpSpPr>
            <a:xfrm>
              <a:off x="1406649" y="4196891"/>
              <a:ext cx="2093133" cy="388558"/>
              <a:chOff x="2373813" y="3544457"/>
              <a:chExt cx="2579474" cy="478839"/>
            </a:xfrm>
          </p:grpSpPr>
          <p:grpSp>
            <p:nvGrpSpPr>
              <p:cNvPr id="280" name="Group 279"/>
              <p:cNvGrpSpPr/>
              <p:nvPr/>
            </p:nvGrpSpPr>
            <p:grpSpPr>
              <a:xfrm>
                <a:off x="3009019" y="3544457"/>
                <a:ext cx="376946" cy="478839"/>
                <a:chOff x="-548806" y="2595022"/>
                <a:chExt cx="599133" cy="761087"/>
              </a:xfrm>
            </p:grpSpPr>
            <p:sp>
              <p:nvSpPr>
                <p:cNvPr id="302" name="TextBox 301"/>
                <p:cNvSpPr txBox="1"/>
                <p:nvPr/>
              </p:nvSpPr>
              <p:spPr>
                <a:xfrm>
                  <a:off x="-339018" y="2595022"/>
                  <a:ext cx="389345" cy="602857"/>
                </a:xfrm>
                <a:prstGeom prst="rect">
                  <a:avLst/>
                </a:prstGeom>
                <a:noFill/>
              </p:spPr>
              <p:txBody>
                <a:bodyPr wrap="none" lIns="0" tIns="0" rIns="0" bIns="0" rtlCol="0">
                  <a:spAutoFit/>
                </a:bodyPr>
                <a:lstStyle/>
                <a:p>
                  <a:r>
                    <a:rPr lang="en-US" sz="2000" dirty="0" smtClean="0">
                      <a:ln w="6350">
                        <a:solidFill>
                          <a:schemeClr val="tx1"/>
                        </a:solidFill>
                      </a:ln>
                      <a:solidFill>
                        <a:schemeClr val="accent4">
                          <a:lumMod val="60000"/>
                          <a:lumOff val="40000"/>
                        </a:schemeClr>
                      </a:solidFill>
                      <a:latin typeface="Arial Black" panose="020B0A04020102020204" pitchFamily="34" charset="0"/>
                    </a:rPr>
                    <a:t>C</a:t>
                  </a:r>
                  <a:endParaRPr lang="en-US" sz="2400" dirty="0">
                    <a:ln w="6350">
                      <a:solidFill>
                        <a:schemeClr val="tx1"/>
                      </a:solidFill>
                    </a:ln>
                    <a:solidFill>
                      <a:schemeClr val="accent4">
                        <a:lumMod val="60000"/>
                        <a:lumOff val="40000"/>
                      </a:schemeClr>
                    </a:solidFill>
                    <a:latin typeface="Arial Black" panose="020B0A04020102020204" pitchFamily="34" charset="0"/>
                  </a:endParaRPr>
                </a:p>
              </p:txBody>
            </p:sp>
            <p:pic>
              <p:nvPicPr>
                <p:cNvPr id="303" name="Picture 2" descr="https://cloud.google.com/hadoop/images/hadoop-elephant.png"/>
                <p:cNvPicPr>
                  <a:picLocks noChangeAspect="1" noChangeArrowheads="1"/>
                </p:cNvPicPr>
                <p:nvPr/>
              </p:nvPicPr>
              <p:blipFill>
                <a:blip r:embed="rId5"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48806" y="3043945"/>
                  <a:ext cx="436678" cy="312164"/>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nvGrpSpPr>
              <p:cNvPr id="281" name="Group 280"/>
              <p:cNvGrpSpPr/>
              <p:nvPr/>
            </p:nvGrpSpPr>
            <p:grpSpPr>
              <a:xfrm>
                <a:off x="3942591" y="3544457"/>
                <a:ext cx="343363" cy="478839"/>
                <a:chOff x="-548806" y="2595022"/>
                <a:chExt cx="545754" cy="761087"/>
              </a:xfrm>
            </p:grpSpPr>
            <p:sp>
              <p:nvSpPr>
                <p:cNvPr id="300" name="TextBox 299"/>
                <p:cNvSpPr txBox="1"/>
                <p:nvPr/>
              </p:nvSpPr>
              <p:spPr>
                <a:xfrm>
                  <a:off x="-339019" y="2595022"/>
                  <a:ext cx="335967" cy="602857"/>
                </a:xfrm>
                <a:prstGeom prst="rect">
                  <a:avLst/>
                </a:prstGeom>
                <a:noFill/>
              </p:spPr>
              <p:txBody>
                <a:bodyPr wrap="none" lIns="0" tIns="0" rIns="0" bIns="0" rtlCol="0">
                  <a:spAutoFit/>
                </a:bodyPr>
                <a:lstStyle/>
                <a:p>
                  <a:r>
                    <a:rPr lang="en-US" sz="2000" dirty="0" smtClean="0">
                      <a:ln w="6350">
                        <a:solidFill>
                          <a:schemeClr val="tx1"/>
                        </a:solidFill>
                      </a:ln>
                      <a:solidFill>
                        <a:schemeClr val="accent5">
                          <a:lumMod val="75000"/>
                        </a:schemeClr>
                      </a:solidFill>
                      <a:latin typeface="Arial Black" panose="020B0A04020102020204" pitchFamily="34" charset="0"/>
                    </a:rPr>
                    <a:t>F</a:t>
                  </a:r>
                  <a:endParaRPr lang="en-US" sz="2400" dirty="0">
                    <a:ln w="6350">
                      <a:solidFill>
                        <a:schemeClr val="tx1"/>
                      </a:solidFill>
                    </a:ln>
                    <a:solidFill>
                      <a:schemeClr val="accent5">
                        <a:lumMod val="75000"/>
                      </a:schemeClr>
                    </a:solidFill>
                    <a:latin typeface="Arial Black" panose="020B0A04020102020204" pitchFamily="34" charset="0"/>
                  </a:endParaRPr>
                </a:p>
              </p:txBody>
            </p:sp>
            <p:pic>
              <p:nvPicPr>
                <p:cNvPr id="301" name="Picture 2" descr="https://cloud.google.com/hadoop/images/hadoop-elephant.png"/>
                <p:cNvPicPr>
                  <a:picLocks noChangeAspect="1" noChangeArrowheads="1"/>
                </p:cNvPicPr>
                <p:nvPr/>
              </p:nvPicPr>
              <p:blipFill>
                <a:blip r:embed="rId5"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48806" y="3043945"/>
                  <a:ext cx="436678" cy="312164"/>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nvGrpSpPr>
              <p:cNvPr id="282" name="Group 281"/>
              <p:cNvGrpSpPr/>
              <p:nvPr/>
            </p:nvGrpSpPr>
            <p:grpSpPr>
              <a:xfrm>
                <a:off x="2373813" y="3544457"/>
                <a:ext cx="376946" cy="478839"/>
                <a:chOff x="-548806" y="2595022"/>
                <a:chExt cx="599133" cy="761087"/>
              </a:xfrm>
            </p:grpSpPr>
            <p:sp>
              <p:nvSpPr>
                <p:cNvPr id="298" name="TextBox 297"/>
                <p:cNvSpPr txBox="1"/>
                <p:nvPr/>
              </p:nvSpPr>
              <p:spPr>
                <a:xfrm>
                  <a:off x="-339018" y="2595022"/>
                  <a:ext cx="389345" cy="602857"/>
                </a:xfrm>
                <a:prstGeom prst="rect">
                  <a:avLst/>
                </a:prstGeom>
                <a:noFill/>
              </p:spPr>
              <p:txBody>
                <a:bodyPr wrap="none" lIns="0" tIns="0" rIns="0" bIns="0" rtlCol="0">
                  <a:spAutoFit/>
                </a:bodyPr>
                <a:lstStyle/>
                <a:p>
                  <a:r>
                    <a:rPr lang="en-US" sz="2000" dirty="0" smtClean="0">
                      <a:ln w="6350">
                        <a:solidFill>
                          <a:schemeClr val="tx1"/>
                        </a:solidFill>
                      </a:ln>
                      <a:solidFill>
                        <a:srgbClr val="000000"/>
                      </a:solidFill>
                      <a:latin typeface="Arial Black" panose="020B0A04020102020204" pitchFamily="34" charset="0"/>
                    </a:rPr>
                    <a:t>A</a:t>
                  </a:r>
                  <a:endParaRPr lang="en-US" sz="2400" dirty="0">
                    <a:ln w="6350">
                      <a:solidFill>
                        <a:schemeClr val="tx1"/>
                      </a:solidFill>
                    </a:ln>
                    <a:solidFill>
                      <a:srgbClr val="000000"/>
                    </a:solidFill>
                    <a:latin typeface="Arial Black" panose="020B0A04020102020204" pitchFamily="34" charset="0"/>
                  </a:endParaRPr>
                </a:p>
              </p:txBody>
            </p:sp>
            <p:pic>
              <p:nvPicPr>
                <p:cNvPr id="299" name="Picture 2" descr="https://cloud.google.com/hadoop/images/hadoop-elephant.png"/>
                <p:cNvPicPr>
                  <a:picLocks noChangeAspect="1" noChangeArrowheads="1"/>
                </p:cNvPicPr>
                <p:nvPr/>
              </p:nvPicPr>
              <p:blipFill>
                <a:blip r:embed="rId5"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48806" y="3043945"/>
                  <a:ext cx="436678" cy="312164"/>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nvGrpSpPr>
              <p:cNvPr id="283" name="Group 282"/>
              <p:cNvGrpSpPr/>
              <p:nvPr/>
            </p:nvGrpSpPr>
            <p:grpSpPr>
              <a:xfrm>
                <a:off x="3326622" y="3544457"/>
                <a:ext cx="376946" cy="478839"/>
                <a:chOff x="-548806" y="2595022"/>
                <a:chExt cx="599133" cy="761087"/>
              </a:xfrm>
            </p:grpSpPr>
            <p:sp>
              <p:nvSpPr>
                <p:cNvPr id="296" name="TextBox 295"/>
                <p:cNvSpPr txBox="1"/>
                <p:nvPr/>
              </p:nvSpPr>
              <p:spPr>
                <a:xfrm>
                  <a:off x="-339018" y="2595022"/>
                  <a:ext cx="389345" cy="602857"/>
                </a:xfrm>
                <a:prstGeom prst="rect">
                  <a:avLst/>
                </a:prstGeom>
                <a:noFill/>
              </p:spPr>
              <p:txBody>
                <a:bodyPr wrap="none" lIns="0" tIns="0" rIns="0" bIns="0" rtlCol="0">
                  <a:spAutoFit/>
                </a:bodyPr>
                <a:lstStyle/>
                <a:p>
                  <a:r>
                    <a:rPr lang="en-US" sz="2000" dirty="0" smtClean="0">
                      <a:ln w="6350">
                        <a:solidFill>
                          <a:schemeClr val="tx1"/>
                        </a:solidFill>
                      </a:ln>
                      <a:solidFill>
                        <a:srgbClr val="4472C4"/>
                      </a:solidFill>
                      <a:latin typeface="Arial Black" panose="020B0A04020102020204" pitchFamily="34" charset="0"/>
                    </a:rPr>
                    <a:t>D</a:t>
                  </a:r>
                  <a:endParaRPr lang="en-US" sz="2400" dirty="0">
                    <a:ln w="6350">
                      <a:solidFill>
                        <a:schemeClr val="tx1"/>
                      </a:solidFill>
                    </a:ln>
                    <a:solidFill>
                      <a:srgbClr val="4472C4"/>
                    </a:solidFill>
                    <a:latin typeface="Arial Black" panose="020B0A04020102020204" pitchFamily="34" charset="0"/>
                  </a:endParaRPr>
                </a:p>
              </p:txBody>
            </p:sp>
            <p:pic>
              <p:nvPicPr>
                <p:cNvPr id="297" name="Picture 2" descr="https://cloud.google.com/hadoop/images/hadoop-elephant.png"/>
                <p:cNvPicPr>
                  <a:picLocks noChangeAspect="1" noChangeArrowheads="1"/>
                </p:cNvPicPr>
                <p:nvPr/>
              </p:nvPicPr>
              <p:blipFill>
                <a:blip r:embed="rId5"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48806" y="3043945"/>
                  <a:ext cx="436678" cy="312164"/>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nvGrpSpPr>
              <p:cNvPr id="284" name="Group 283"/>
              <p:cNvGrpSpPr/>
              <p:nvPr/>
            </p:nvGrpSpPr>
            <p:grpSpPr>
              <a:xfrm>
                <a:off x="3644225" y="3544457"/>
                <a:ext cx="361141" cy="478839"/>
                <a:chOff x="-548806" y="2595022"/>
                <a:chExt cx="574012" cy="761087"/>
              </a:xfrm>
            </p:grpSpPr>
            <p:sp>
              <p:nvSpPr>
                <p:cNvPr id="294" name="TextBox 293"/>
                <p:cNvSpPr txBox="1"/>
                <p:nvPr/>
              </p:nvSpPr>
              <p:spPr>
                <a:xfrm>
                  <a:off x="-339020" y="2595022"/>
                  <a:ext cx="364226" cy="602857"/>
                </a:xfrm>
                <a:prstGeom prst="rect">
                  <a:avLst/>
                </a:prstGeom>
                <a:noFill/>
              </p:spPr>
              <p:txBody>
                <a:bodyPr wrap="none" lIns="0" tIns="0" rIns="0" bIns="0" rtlCol="0">
                  <a:spAutoFit/>
                </a:bodyPr>
                <a:lstStyle/>
                <a:p>
                  <a:r>
                    <a:rPr lang="en-US" sz="2000" dirty="0" smtClean="0">
                      <a:ln w="6350">
                        <a:solidFill>
                          <a:schemeClr val="tx1"/>
                        </a:solidFill>
                      </a:ln>
                      <a:solidFill>
                        <a:srgbClr val="F09354"/>
                      </a:solidFill>
                      <a:latin typeface="Arial Black" panose="020B0A04020102020204" pitchFamily="34" charset="0"/>
                    </a:rPr>
                    <a:t>E</a:t>
                  </a:r>
                  <a:endParaRPr lang="en-US" sz="2400" dirty="0">
                    <a:ln w="6350">
                      <a:solidFill>
                        <a:schemeClr val="tx1"/>
                      </a:solidFill>
                    </a:ln>
                    <a:solidFill>
                      <a:srgbClr val="F09354"/>
                    </a:solidFill>
                    <a:latin typeface="Arial Black" panose="020B0A04020102020204" pitchFamily="34" charset="0"/>
                  </a:endParaRPr>
                </a:p>
              </p:txBody>
            </p:sp>
            <p:pic>
              <p:nvPicPr>
                <p:cNvPr id="295" name="Picture 2" descr="https://cloud.google.com/hadoop/images/hadoop-elephant.png"/>
                <p:cNvPicPr>
                  <a:picLocks noChangeAspect="1" noChangeArrowheads="1"/>
                </p:cNvPicPr>
                <p:nvPr/>
              </p:nvPicPr>
              <p:blipFill>
                <a:blip r:embed="rId5"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48806" y="3043945"/>
                  <a:ext cx="436678" cy="312164"/>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nvGrpSpPr>
              <p:cNvPr id="285" name="Group 284"/>
              <p:cNvGrpSpPr/>
              <p:nvPr/>
            </p:nvGrpSpPr>
            <p:grpSpPr>
              <a:xfrm>
                <a:off x="4558562" y="3544457"/>
                <a:ext cx="394725" cy="478839"/>
                <a:chOff x="-503389" y="2595022"/>
                <a:chExt cx="627393" cy="761087"/>
              </a:xfrm>
            </p:grpSpPr>
            <p:sp>
              <p:nvSpPr>
                <p:cNvPr id="292" name="TextBox 291"/>
                <p:cNvSpPr txBox="1"/>
                <p:nvPr/>
              </p:nvSpPr>
              <p:spPr>
                <a:xfrm>
                  <a:off x="-293601" y="2595022"/>
                  <a:ext cx="417605" cy="602857"/>
                </a:xfrm>
                <a:prstGeom prst="rect">
                  <a:avLst/>
                </a:prstGeom>
                <a:noFill/>
              </p:spPr>
              <p:txBody>
                <a:bodyPr wrap="none" lIns="0" tIns="0" rIns="0" bIns="0" rtlCol="0">
                  <a:spAutoFit/>
                </a:bodyPr>
                <a:lstStyle/>
                <a:p>
                  <a:r>
                    <a:rPr lang="en-US" sz="2000" dirty="0" smtClean="0">
                      <a:ln w="6350">
                        <a:solidFill>
                          <a:schemeClr val="tx1"/>
                        </a:solidFill>
                      </a:ln>
                      <a:solidFill>
                        <a:srgbClr val="95C673"/>
                      </a:solidFill>
                      <a:latin typeface="Arial Black" panose="020B0A04020102020204" pitchFamily="34" charset="0"/>
                    </a:rPr>
                    <a:t>H</a:t>
                  </a:r>
                  <a:endParaRPr lang="en-US" sz="2400" dirty="0">
                    <a:ln w="6350">
                      <a:solidFill>
                        <a:schemeClr val="tx1"/>
                      </a:solidFill>
                    </a:ln>
                    <a:solidFill>
                      <a:srgbClr val="95C673"/>
                    </a:solidFill>
                    <a:latin typeface="Arial Black" panose="020B0A04020102020204" pitchFamily="34" charset="0"/>
                  </a:endParaRPr>
                </a:p>
              </p:txBody>
            </p:sp>
            <p:pic>
              <p:nvPicPr>
                <p:cNvPr id="293" name="Picture 2" descr="https://cloud.google.com/hadoop/images/hadoop-elephant.png"/>
                <p:cNvPicPr>
                  <a:picLocks noChangeAspect="1" noChangeArrowheads="1"/>
                </p:cNvPicPr>
                <p:nvPr/>
              </p:nvPicPr>
              <p:blipFill>
                <a:blip r:embed="rId5"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03389" y="3043946"/>
                  <a:ext cx="436679" cy="312163"/>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nvGrpSpPr>
              <p:cNvPr id="286" name="Group 285"/>
              <p:cNvGrpSpPr/>
              <p:nvPr/>
            </p:nvGrpSpPr>
            <p:grpSpPr>
              <a:xfrm>
                <a:off x="4220119" y="3544457"/>
                <a:ext cx="394726" cy="478839"/>
                <a:chOff x="-548806" y="2595022"/>
                <a:chExt cx="627393" cy="761087"/>
              </a:xfrm>
            </p:grpSpPr>
            <p:sp>
              <p:nvSpPr>
                <p:cNvPr id="290" name="TextBox 289"/>
                <p:cNvSpPr txBox="1"/>
                <p:nvPr/>
              </p:nvSpPr>
              <p:spPr>
                <a:xfrm>
                  <a:off x="-339018" y="2595022"/>
                  <a:ext cx="417605" cy="602857"/>
                </a:xfrm>
                <a:prstGeom prst="rect">
                  <a:avLst/>
                </a:prstGeom>
                <a:noFill/>
              </p:spPr>
              <p:txBody>
                <a:bodyPr wrap="none" lIns="0" tIns="0" rIns="0" bIns="0" rtlCol="0">
                  <a:spAutoFit/>
                </a:bodyPr>
                <a:lstStyle/>
                <a:p>
                  <a:r>
                    <a:rPr lang="en-US" sz="2000" dirty="0" smtClean="0">
                      <a:ln w="6350">
                        <a:solidFill>
                          <a:schemeClr val="tx1"/>
                        </a:solidFill>
                      </a:ln>
                      <a:solidFill>
                        <a:srgbClr val="000000"/>
                      </a:solidFill>
                      <a:latin typeface="Arial Black" panose="020B0A04020102020204" pitchFamily="34" charset="0"/>
                    </a:rPr>
                    <a:t>G</a:t>
                  </a:r>
                  <a:endParaRPr lang="en-US" sz="2400" dirty="0">
                    <a:ln w="6350">
                      <a:solidFill>
                        <a:schemeClr val="tx1"/>
                      </a:solidFill>
                    </a:ln>
                    <a:solidFill>
                      <a:srgbClr val="000000"/>
                    </a:solidFill>
                    <a:latin typeface="Arial Black" panose="020B0A04020102020204" pitchFamily="34" charset="0"/>
                  </a:endParaRPr>
                </a:p>
              </p:txBody>
            </p:sp>
            <p:pic>
              <p:nvPicPr>
                <p:cNvPr id="291" name="Picture 2" descr="https://cloud.google.com/hadoop/images/hadoop-elephant.png"/>
                <p:cNvPicPr>
                  <a:picLocks noChangeAspect="1" noChangeArrowheads="1"/>
                </p:cNvPicPr>
                <p:nvPr/>
              </p:nvPicPr>
              <p:blipFill>
                <a:blip r:embed="rId5"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48806" y="3043945"/>
                  <a:ext cx="436678" cy="312164"/>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nvGrpSpPr>
              <p:cNvPr id="287" name="Group 286"/>
              <p:cNvGrpSpPr/>
              <p:nvPr/>
            </p:nvGrpSpPr>
            <p:grpSpPr>
              <a:xfrm>
                <a:off x="2691416" y="3544457"/>
                <a:ext cx="376946" cy="478839"/>
                <a:chOff x="-548806" y="2595022"/>
                <a:chExt cx="599133" cy="761087"/>
              </a:xfrm>
            </p:grpSpPr>
            <p:sp>
              <p:nvSpPr>
                <p:cNvPr id="288" name="TextBox 287"/>
                <p:cNvSpPr txBox="1"/>
                <p:nvPr/>
              </p:nvSpPr>
              <p:spPr>
                <a:xfrm>
                  <a:off x="-339018" y="2595022"/>
                  <a:ext cx="389345" cy="602857"/>
                </a:xfrm>
                <a:prstGeom prst="rect">
                  <a:avLst/>
                </a:prstGeom>
                <a:noFill/>
              </p:spPr>
              <p:txBody>
                <a:bodyPr wrap="none" lIns="0" tIns="0" rIns="0" bIns="0" rtlCol="0">
                  <a:spAutoFit/>
                </a:bodyPr>
                <a:lstStyle/>
                <a:p>
                  <a:r>
                    <a:rPr lang="en-US" sz="2000" dirty="0" smtClean="0">
                      <a:ln w="6350">
                        <a:solidFill>
                          <a:schemeClr val="tx1"/>
                        </a:solidFill>
                      </a:ln>
                      <a:solidFill>
                        <a:srgbClr val="EAEAEA"/>
                      </a:solidFill>
                      <a:latin typeface="Arial Black" panose="020B0A04020102020204" pitchFamily="34" charset="0"/>
                    </a:rPr>
                    <a:t>B</a:t>
                  </a:r>
                  <a:endParaRPr lang="en-US" sz="2400" dirty="0">
                    <a:ln w="6350">
                      <a:solidFill>
                        <a:schemeClr val="tx1"/>
                      </a:solidFill>
                    </a:ln>
                    <a:solidFill>
                      <a:srgbClr val="EAEAEA"/>
                    </a:solidFill>
                    <a:latin typeface="Arial Black" panose="020B0A04020102020204" pitchFamily="34" charset="0"/>
                  </a:endParaRPr>
                </a:p>
              </p:txBody>
            </p:sp>
            <p:pic>
              <p:nvPicPr>
                <p:cNvPr id="289" name="Picture 2" descr="https://cloud.google.com/hadoop/images/hadoop-elephant.png"/>
                <p:cNvPicPr>
                  <a:picLocks noChangeAspect="1" noChangeArrowheads="1"/>
                </p:cNvPicPr>
                <p:nvPr/>
              </p:nvPicPr>
              <p:blipFill>
                <a:blip r:embed="rId5"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48806" y="3043945"/>
                  <a:ext cx="436678" cy="312164"/>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grpSp>
          <p:nvGrpSpPr>
            <p:cNvPr id="255" name="Group 254"/>
            <p:cNvGrpSpPr/>
            <p:nvPr/>
          </p:nvGrpSpPr>
          <p:grpSpPr>
            <a:xfrm>
              <a:off x="1055200" y="4603930"/>
              <a:ext cx="310365" cy="1923534"/>
              <a:chOff x="1231419" y="4613456"/>
              <a:chExt cx="310365" cy="1923534"/>
            </a:xfrm>
          </p:grpSpPr>
          <p:grpSp>
            <p:nvGrpSpPr>
              <p:cNvPr id="256" name="Group 255"/>
              <p:cNvGrpSpPr/>
              <p:nvPr/>
            </p:nvGrpSpPr>
            <p:grpSpPr>
              <a:xfrm>
                <a:off x="1238849" y="5075100"/>
                <a:ext cx="295936" cy="307777"/>
                <a:chOff x="-548806" y="2595022"/>
                <a:chExt cx="638959" cy="664531"/>
              </a:xfrm>
            </p:grpSpPr>
            <p:sp>
              <p:nvSpPr>
                <p:cNvPr id="278" name="TextBox 277"/>
                <p:cNvSpPr txBox="1"/>
                <p:nvPr/>
              </p:nvSpPr>
              <p:spPr>
                <a:xfrm>
                  <a:off x="-339018" y="2595022"/>
                  <a:ext cx="429171" cy="664531"/>
                </a:xfrm>
                <a:prstGeom prst="rect">
                  <a:avLst/>
                </a:prstGeom>
                <a:noFill/>
              </p:spPr>
              <p:txBody>
                <a:bodyPr wrap="none" lIns="0" tIns="0" rIns="0" bIns="0" rtlCol="0">
                  <a:spAutoFit/>
                </a:bodyPr>
                <a:lstStyle/>
                <a:p>
                  <a:r>
                    <a:rPr lang="en-US" sz="2000" dirty="0" smtClean="0">
                      <a:ln w="6350">
                        <a:solidFill>
                          <a:schemeClr val="tx1"/>
                        </a:solidFill>
                      </a:ln>
                      <a:solidFill>
                        <a:schemeClr val="accent4">
                          <a:lumMod val="60000"/>
                          <a:lumOff val="40000"/>
                        </a:schemeClr>
                      </a:solidFill>
                      <a:latin typeface="Arial Black" panose="020B0A04020102020204" pitchFamily="34" charset="0"/>
                    </a:rPr>
                    <a:t>C</a:t>
                  </a:r>
                  <a:endParaRPr lang="en-US" sz="2400" dirty="0">
                    <a:ln w="6350">
                      <a:solidFill>
                        <a:schemeClr val="tx1"/>
                      </a:solidFill>
                    </a:ln>
                    <a:solidFill>
                      <a:schemeClr val="accent4">
                        <a:lumMod val="60000"/>
                        <a:lumOff val="40000"/>
                      </a:schemeClr>
                    </a:solidFill>
                    <a:latin typeface="Arial Black" panose="020B0A04020102020204" pitchFamily="34" charset="0"/>
                  </a:endParaRPr>
                </a:p>
              </p:txBody>
            </p:sp>
            <p:pic>
              <p:nvPicPr>
                <p:cNvPr id="279" name="Picture 2" descr="https://cloud.google.com/hadoop/images/hadoop-elephant.png"/>
                <p:cNvPicPr>
                  <a:picLocks noChangeAspect="1" noChangeArrowheads="1"/>
                </p:cNvPicPr>
                <p:nvPr/>
              </p:nvPicPr>
              <p:blipFill>
                <a:blip r:embed="rId6"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48806" y="2858833"/>
                  <a:ext cx="436678" cy="312167"/>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nvGrpSpPr>
              <p:cNvPr id="257" name="Group 256"/>
              <p:cNvGrpSpPr/>
              <p:nvPr/>
            </p:nvGrpSpPr>
            <p:grpSpPr>
              <a:xfrm>
                <a:off x="1252881" y="5767566"/>
                <a:ext cx="268687" cy="307777"/>
                <a:chOff x="-548806" y="2595022"/>
                <a:chExt cx="580125" cy="664531"/>
              </a:xfrm>
            </p:grpSpPr>
            <p:sp>
              <p:nvSpPr>
                <p:cNvPr id="276" name="TextBox 275"/>
                <p:cNvSpPr txBox="1"/>
                <p:nvPr/>
              </p:nvSpPr>
              <p:spPr>
                <a:xfrm>
                  <a:off x="-339016" y="2595022"/>
                  <a:ext cx="370335" cy="664531"/>
                </a:xfrm>
                <a:prstGeom prst="rect">
                  <a:avLst/>
                </a:prstGeom>
                <a:noFill/>
              </p:spPr>
              <p:txBody>
                <a:bodyPr wrap="none" lIns="0" tIns="0" rIns="0" bIns="0" rtlCol="0">
                  <a:spAutoFit/>
                </a:bodyPr>
                <a:lstStyle/>
                <a:p>
                  <a:r>
                    <a:rPr lang="en-US" sz="2000" dirty="0" smtClean="0">
                      <a:ln w="6350">
                        <a:solidFill>
                          <a:schemeClr val="tx1"/>
                        </a:solidFill>
                      </a:ln>
                      <a:solidFill>
                        <a:schemeClr val="accent5">
                          <a:lumMod val="75000"/>
                        </a:schemeClr>
                      </a:solidFill>
                      <a:latin typeface="Arial Black" panose="020B0A04020102020204" pitchFamily="34" charset="0"/>
                    </a:rPr>
                    <a:t>F</a:t>
                  </a:r>
                  <a:endParaRPr lang="en-US" sz="2400" dirty="0">
                    <a:ln w="6350">
                      <a:solidFill>
                        <a:schemeClr val="tx1"/>
                      </a:solidFill>
                    </a:ln>
                    <a:solidFill>
                      <a:schemeClr val="accent5">
                        <a:lumMod val="75000"/>
                      </a:schemeClr>
                    </a:solidFill>
                    <a:latin typeface="Arial Black" panose="020B0A04020102020204" pitchFamily="34" charset="0"/>
                  </a:endParaRPr>
                </a:p>
              </p:txBody>
            </p:sp>
            <p:pic>
              <p:nvPicPr>
                <p:cNvPr id="277" name="Picture 2" descr="https://cloud.google.com/hadoop/images/hadoop-elephant.png"/>
                <p:cNvPicPr>
                  <a:picLocks noChangeAspect="1" noChangeArrowheads="1"/>
                </p:cNvPicPr>
                <p:nvPr/>
              </p:nvPicPr>
              <p:blipFill>
                <a:blip r:embed="rId6"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48806" y="2858833"/>
                  <a:ext cx="436677" cy="312167"/>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nvGrpSpPr>
              <p:cNvPr id="258" name="Group 257"/>
              <p:cNvGrpSpPr/>
              <p:nvPr/>
            </p:nvGrpSpPr>
            <p:grpSpPr>
              <a:xfrm>
                <a:off x="1238850" y="4613456"/>
                <a:ext cx="295936" cy="307777"/>
                <a:chOff x="-548806" y="2595022"/>
                <a:chExt cx="638962" cy="664531"/>
              </a:xfrm>
            </p:grpSpPr>
            <p:sp>
              <p:nvSpPr>
                <p:cNvPr id="274" name="TextBox 273"/>
                <p:cNvSpPr txBox="1"/>
                <p:nvPr/>
              </p:nvSpPr>
              <p:spPr>
                <a:xfrm>
                  <a:off x="-339017" y="2595022"/>
                  <a:ext cx="429173" cy="664531"/>
                </a:xfrm>
                <a:prstGeom prst="rect">
                  <a:avLst/>
                </a:prstGeom>
                <a:noFill/>
              </p:spPr>
              <p:txBody>
                <a:bodyPr wrap="none" lIns="0" tIns="0" rIns="0" bIns="0" rtlCol="0">
                  <a:spAutoFit/>
                </a:bodyPr>
                <a:lstStyle/>
                <a:p>
                  <a:r>
                    <a:rPr lang="en-US" sz="2000" dirty="0" smtClean="0">
                      <a:ln w="6350">
                        <a:solidFill>
                          <a:schemeClr val="tx1"/>
                        </a:solidFill>
                      </a:ln>
                      <a:solidFill>
                        <a:srgbClr val="000000"/>
                      </a:solidFill>
                      <a:latin typeface="Arial Black" panose="020B0A04020102020204" pitchFamily="34" charset="0"/>
                    </a:rPr>
                    <a:t>A</a:t>
                  </a:r>
                  <a:endParaRPr lang="en-US" sz="2400" dirty="0">
                    <a:ln w="6350">
                      <a:solidFill>
                        <a:schemeClr val="tx1"/>
                      </a:solidFill>
                    </a:ln>
                    <a:solidFill>
                      <a:srgbClr val="000000"/>
                    </a:solidFill>
                    <a:latin typeface="Arial Black" panose="020B0A04020102020204" pitchFamily="34" charset="0"/>
                  </a:endParaRPr>
                </a:p>
              </p:txBody>
            </p:sp>
            <p:pic>
              <p:nvPicPr>
                <p:cNvPr id="275" name="Picture 2" descr="https://cloud.google.com/hadoop/images/hadoop-elephant.png"/>
                <p:cNvPicPr>
                  <a:picLocks noChangeAspect="1" noChangeArrowheads="1"/>
                </p:cNvPicPr>
                <p:nvPr/>
              </p:nvPicPr>
              <p:blipFill>
                <a:blip r:embed="rId6"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48806" y="2858833"/>
                  <a:ext cx="436678" cy="312167"/>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nvGrpSpPr>
              <p:cNvPr id="259" name="Group 258"/>
              <p:cNvGrpSpPr/>
              <p:nvPr/>
            </p:nvGrpSpPr>
            <p:grpSpPr>
              <a:xfrm>
                <a:off x="1238849" y="5305922"/>
                <a:ext cx="295936" cy="307777"/>
                <a:chOff x="-548806" y="2595022"/>
                <a:chExt cx="638959" cy="664531"/>
              </a:xfrm>
            </p:grpSpPr>
            <p:sp>
              <p:nvSpPr>
                <p:cNvPr id="272" name="TextBox 271"/>
                <p:cNvSpPr txBox="1"/>
                <p:nvPr/>
              </p:nvSpPr>
              <p:spPr>
                <a:xfrm>
                  <a:off x="-339018" y="2595022"/>
                  <a:ext cx="429171" cy="664531"/>
                </a:xfrm>
                <a:prstGeom prst="rect">
                  <a:avLst/>
                </a:prstGeom>
                <a:noFill/>
              </p:spPr>
              <p:txBody>
                <a:bodyPr wrap="none" lIns="0" tIns="0" rIns="0" bIns="0" rtlCol="0">
                  <a:spAutoFit/>
                </a:bodyPr>
                <a:lstStyle/>
                <a:p>
                  <a:r>
                    <a:rPr lang="en-US" sz="2000" dirty="0" smtClean="0">
                      <a:ln w="6350">
                        <a:solidFill>
                          <a:schemeClr val="tx1"/>
                        </a:solidFill>
                      </a:ln>
                      <a:solidFill>
                        <a:srgbClr val="4472C4"/>
                      </a:solidFill>
                      <a:latin typeface="Arial Black" panose="020B0A04020102020204" pitchFamily="34" charset="0"/>
                    </a:rPr>
                    <a:t>D</a:t>
                  </a:r>
                  <a:endParaRPr lang="en-US" sz="2400" dirty="0">
                    <a:ln w="6350">
                      <a:solidFill>
                        <a:schemeClr val="tx1"/>
                      </a:solidFill>
                    </a:ln>
                    <a:solidFill>
                      <a:srgbClr val="4472C4"/>
                    </a:solidFill>
                    <a:latin typeface="Arial Black" panose="020B0A04020102020204" pitchFamily="34" charset="0"/>
                  </a:endParaRPr>
                </a:p>
              </p:txBody>
            </p:sp>
            <p:pic>
              <p:nvPicPr>
                <p:cNvPr id="273" name="Picture 2" descr="https://cloud.google.com/hadoop/images/hadoop-elephant.png"/>
                <p:cNvPicPr>
                  <a:picLocks noChangeAspect="1" noChangeArrowheads="1"/>
                </p:cNvPicPr>
                <p:nvPr/>
              </p:nvPicPr>
              <p:blipFill>
                <a:blip r:embed="rId6"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48806" y="2858833"/>
                  <a:ext cx="436678" cy="312167"/>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nvGrpSpPr>
              <p:cNvPr id="260" name="Group 259"/>
              <p:cNvGrpSpPr/>
              <p:nvPr/>
            </p:nvGrpSpPr>
            <p:grpSpPr>
              <a:xfrm>
                <a:off x="1245454" y="5536744"/>
                <a:ext cx="283112" cy="307777"/>
                <a:chOff x="-548806" y="2595022"/>
                <a:chExt cx="611271" cy="664531"/>
              </a:xfrm>
            </p:grpSpPr>
            <p:sp>
              <p:nvSpPr>
                <p:cNvPr id="270" name="TextBox 269"/>
                <p:cNvSpPr txBox="1"/>
                <p:nvPr/>
              </p:nvSpPr>
              <p:spPr>
                <a:xfrm>
                  <a:off x="-339018" y="2595022"/>
                  <a:ext cx="401483" cy="664531"/>
                </a:xfrm>
                <a:prstGeom prst="rect">
                  <a:avLst/>
                </a:prstGeom>
                <a:noFill/>
              </p:spPr>
              <p:txBody>
                <a:bodyPr wrap="none" lIns="0" tIns="0" rIns="0" bIns="0" rtlCol="0">
                  <a:spAutoFit/>
                </a:bodyPr>
                <a:lstStyle/>
                <a:p>
                  <a:r>
                    <a:rPr lang="en-US" sz="2000" dirty="0" smtClean="0">
                      <a:ln w="6350">
                        <a:solidFill>
                          <a:schemeClr val="tx1"/>
                        </a:solidFill>
                      </a:ln>
                      <a:solidFill>
                        <a:srgbClr val="F09354"/>
                      </a:solidFill>
                      <a:latin typeface="Arial Black" panose="020B0A04020102020204" pitchFamily="34" charset="0"/>
                    </a:rPr>
                    <a:t>E</a:t>
                  </a:r>
                  <a:endParaRPr lang="en-US" sz="2400" dirty="0">
                    <a:ln w="6350">
                      <a:solidFill>
                        <a:schemeClr val="tx1"/>
                      </a:solidFill>
                    </a:ln>
                    <a:solidFill>
                      <a:srgbClr val="F09354"/>
                    </a:solidFill>
                    <a:latin typeface="Arial Black" panose="020B0A04020102020204" pitchFamily="34" charset="0"/>
                  </a:endParaRPr>
                </a:p>
              </p:txBody>
            </p:sp>
            <p:pic>
              <p:nvPicPr>
                <p:cNvPr id="271" name="Picture 2" descr="https://cloud.google.com/hadoop/images/hadoop-elephant.png"/>
                <p:cNvPicPr>
                  <a:picLocks noChangeAspect="1" noChangeArrowheads="1"/>
                </p:cNvPicPr>
                <p:nvPr/>
              </p:nvPicPr>
              <p:blipFill>
                <a:blip r:embed="rId6"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48806" y="2858833"/>
                  <a:ext cx="436678" cy="312167"/>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nvGrpSpPr>
              <p:cNvPr id="261" name="Group 260"/>
              <p:cNvGrpSpPr/>
              <p:nvPr/>
            </p:nvGrpSpPr>
            <p:grpSpPr>
              <a:xfrm>
                <a:off x="1231420" y="6229213"/>
                <a:ext cx="310364" cy="307777"/>
                <a:chOff x="-503389" y="2595022"/>
                <a:chExt cx="670113" cy="664531"/>
              </a:xfrm>
            </p:grpSpPr>
            <p:sp>
              <p:nvSpPr>
                <p:cNvPr id="268" name="TextBox 267"/>
                <p:cNvSpPr txBox="1"/>
                <p:nvPr/>
              </p:nvSpPr>
              <p:spPr>
                <a:xfrm>
                  <a:off x="-293600" y="2595022"/>
                  <a:ext cx="460324" cy="664531"/>
                </a:xfrm>
                <a:prstGeom prst="rect">
                  <a:avLst/>
                </a:prstGeom>
                <a:noFill/>
              </p:spPr>
              <p:txBody>
                <a:bodyPr wrap="none" lIns="0" tIns="0" rIns="0" bIns="0" rtlCol="0">
                  <a:spAutoFit/>
                </a:bodyPr>
                <a:lstStyle/>
                <a:p>
                  <a:r>
                    <a:rPr lang="en-US" sz="2000" dirty="0" smtClean="0">
                      <a:ln w="6350">
                        <a:solidFill>
                          <a:schemeClr val="tx1"/>
                        </a:solidFill>
                      </a:ln>
                      <a:solidFill>
                        <a:srgbClr val="95C673"/>
                      </a:solidFill>
                      <a:latin typeface="Arial Black" panose="020B0A04020102020204" pitchFamily="34" charset="0"/>
                    </a:rPr>
                    <a:t>H</a:t>
                  </a:r>
                  <a:endParaRPr lang="en-US" sz="2400" dirty="0">
                    <a:ln w="6350">
                      <a:solidFill>
                        <a:schemeClr val="tx1"/>
                      </a:solidFill>
                    </a:ln>
                    <a:solidFill>
                      <a:srgbClr val="95C673"/>
                    </a:solidFill>
                    <a:latin typeface="Arial Black" panose="020B0A04020102020204" pitchFamily="34" charset="0"/>
                  </a:endParaRPr>
                </a:p>
              </p:txBody>
            </p:sp>
            <p:pic>
              <p:nvPicPr>
                <p:cNvPr id="269" name="Picture 2" descr="https://cloud.google.com/hadoop/images/hadoop-elephant.png"/>
                <p:cNvPicPr>
                  <a:picLocks noChangeAspect="1" noChangeArrowheads="1"/>
                </p:cNvPicPr>
                <p:nvPr/>
              </p:nvPicPr>
              <p:blipFill>
                <a:blip r:embed="rId6"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03389" y="2858833"/>
                  <a:ext cx="436680" cy="312167"/>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nvGrpSpPr>
              <p:cNvPr id="262" name="Group 261"/>
              <p:cNvGrpSpPr/>
              <p:nvPr/>
            </p:nvGrpSpPr>
            <p:grpSpPr>
              <a:xfrm>
                <a:off x="1231419" y="5998388"/>
                <a:ext cx="310364" cy="307777"/>
                <a:chOff x="-548806" y="2595022"/>
                <a:chExt cx="670108" cy="664531"/>
              </a:xfrm>
            </p:grpSpPr>
            <p:sp>
              <p:nvSpPr>
                <p:cNvPr id="266" name="TextBox 265"/>
                <p:cNvSpPr txBox="1"/>
                <p:nvPr/>
              </p:nvSpPr>
              <p:spPr>
                <a:xfrm>
                  <a:off x="-339019" y="2595022"/>
                  <a:ext cx="460321" cy="664531"/>
                </a:xfrm>
                <a:prstGeom prst="rect">
                  <a:avLst/>
                </a:prstGeom>
                <a:noFill/>
              </p:spPr>
              <p:txBody>
                <a:bodyPr wrap="none" lIns="0" tIns="0" rIns="0" bIns="0" rtlCol="0">
                  <a:spAutoFit/>
                </a:bodyPr>
                <a:lstStyle/>
                <a:p>
                  <a:r>
                    <a:rPr lang="en-US" sz="2000" dirty="0" smtClean="0">
                      <a:ln w="6350">
                        <a:solidFill>
                          <a:schemeClr val="tx1"/>
                        </a:solidFill>
                      </a:ln>
                      <a:solidFill>
                        <a:srgbClr val="000000"/>
                      </a:solidFill>
                      <a:latin typeface="Arial Black" panose="020B0A04020102020204" pitchFamily="34" charset="0"/>
                    </a:rPr>
                    <a:t>G</a:t>
                  </a:r>
                  <a:endParaRPr lang="en-US" sz="2400" dirty="0">
                    <a:ln w="6350">
                      <a:solidFill>
                        <a:schemeClr val="tx1"/>
                      </a:solidFill>
                    </a:ln>
                    <a:solidFill>
                      <a:srgbClr val="000000"/>
                    </a:solidFill>
                    <a:latin typeface="Arial Black" panose="020B0A04020102020204" pitchFamily="34" charset="0"/>
                  </a:endParaRPr>
                </a:p>
              </p:txBody>
            </p:sp>
            <p:pic>
              <p:nvPicPr>
                <p:cNvPr id="267" name="Picture 2" descr="https://cloud.google.com/hadoop/images/hadoop-elephant.png"/>
                <p:cNvPicPr>
                  <a:picLocks noChangeAspect="1" noChangeArrowheads="1"/>
                </p:cNvPicPr>
                <p:nvPr/>
              </p:nvPicPr>
              <p:blipFill>
                <a:blip r:embed="rId6"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48806" y="2858833"/>
                  <a:ext cx="436679" cy="312167"/>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nvGrpSpPr>
              <p:cNvPr id="263" name="Group 262"/>
              <p:cNvGrpSpPr/>
              <p:nvPr/>
            </p:nvGrpSpPr>
            <p:grpSpPr>
              <a:xfrm>
                <a:off x="1238849" y="4844278"/>
                <a:ext cx="295936" cy="307777"/>
                <a:chOff x="-548806" y="2595022"/>
                <a:chExt cx="638959" cy="664531"/>
              </a:xfrm>
            </p:grpSpPr>
            <p:sp>
              <p:nvSpPr>
                <p:cNvPr id="264" name="TextBox 263"/>
                <p:cNvSpPr txBox="1"/>
                <p:nvPr/>
              </p:nvSpPr>
              <p:spPr>
                <a:xfrm>
                  <a:off x="-339018" y="2595022"/>
                  <a:ext cx="429171" cy="664531"/>
                </a:xfrm>
                <a:prstGeom prst="rect">
                  <a:avLst/>
                </a:prstGeom>
                <a:noFill/>
              </p:spPr>
              <p:txBody>
                <a:bodyPr wrap="none" lIns="0" tIns="0" rIns="0" bIns="0" rtlCol="0">
                  <a:spAutoFit/>
                </a:bodyPr>
                <a:lstStyle/>
                <a:p>
                  <a:r>
                    <a:rPr lang="en-US" sz="2000" dirty="0" smtClean="0">
                      <a:ln w="6350">
                        <a:solidFill>
                          <a:schemeClr val="tx1"/>
                        </a:solidFill>
                      </a:ln>
                      <a:solidFill>
                        <a:srgbClr val="EAEAEA"/>
                      </a:solidFill>
                      <a:latin typeface="Arial Black" panose="020B0A04020102020204" pitchFamily="34" charset="0"/>
                    </a:rPr>
                    <a:t>B</a:t>
                  </a:r>
                  <a:endParaRPr lang="en-US" sz="2400" dirty="0">
                    <a:ln w="6350">
                      <a:solidFill>
                        <a:schemeClr val="tx1"/>
                      </a:solidFill>
                    </a:ln>
                    <a:solidFill>
                      <a:srgbClr val="EAEAEA"/>
                    </a:solidFill>
                    <a:latin typeface="Arial Black" panose="020B0A04020102020204" pitchFamily="34" charset="0"/>
                  </a:endParaRPr>
                </a:p>
              </p:txBody>
            </p:sp>
            <p:pic>
              <p:nvPicPr>
                <p:cNvPr id="265" name="Picture 2" descr="https://cloud.google.com/hadoop/images/hadoop-elephant.png"/>
                <p:cNvPicPr>
                  <a:picLocks noChangeAspect="1" noChangeArrowheads="1"/>
                </p:cNvPicPr>
                <p:nvPr/>
              </p:nvPicPr>
              <p:blipFill>
                <a:blip r:embed="rId6"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548806" y="2858833"/>
                  <a:ext cx="436678" cy="312167"/>
                </a:xfrm>
                <a:prstGeom prst="rect">
                  <a:avLst/>
                </a:prstGeom>
                <a:noFill/>
                <a:ln w="28575">
                  <a:noFill/>
                </a:ln>
                <a:extLst>
                  <a:ext uri="{909E8E84-426E-40DD-AFC4-6F175D3DCCD1}">
                    <a14:hiddenFill xmlns:a14="http://schemas.microsoft.com/office/drawing/2010/main">
                      <a:solidFill>
                        <a:srgbClr val="FFFFFF"/>
                      </a:solidFill>
                    </a14:hiddenFill>
                  </a:ext>
                </a:extLst>
              </p:spPr>
            </p:pic>
          </p:grpSp>
        </p:grpSp>
      </p:grpSp>
      <p:grpSp>
        <p:nvGrpSpPr>
          <p:cNvPr id="148" name="Grid"/>
          <p:cNvGrpSpPr/>
          <p:nvPr/>
        </p:nvGrpSpPr>
        <p:grpSpPr>
          <a:xfrm>
            <a:off x="3961813" y="697576"/>
            <a:ext cx="2032911" cy="1858714"/>
            <a:chOff x="3920214" y="865662"/>
            <a:chExt cx="2032911" cy="1858714"/>
          </a:xfrm>
        </p:grpSpPr>
        <p:cxnSp>
          <p:nvCxnSpPr>
            <p:cNvPr id="149" name="Straight Connector 148"/>
            <p:cNvCxnSpPr/>
            <p:nvPr/>
          </p:nvCxnSpPr>
          <p:spPr>
            <a:xfrm>
              <a:off x="3920214" y="865662"/>
              <a:ext cx="203291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0" name="Straight Connector 149"/>
            <p:cNvCxnSpPr/>
            <p:nvPr/>
          </p:nvCxnSpPr>
          <p:spPr>
            <a:xfrm>
              <a:off x="3920214" y="1093833"/>
              <a:ext cx="203291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1" name="Straight Connector 150"/>
            <p:cNvCxnSpPr/>
            <p:nvPr/>
          </p:nvCxnSpPr>
          <p:spPr>
            <a:xfrm>
              <a:off x="3920214" y="1326767"/>
              <a:ext cx="203291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p:cNvCxnSpPr/>
            <p:nvPr/>
          </p:nvCxnSpPr>
          <p:spPr>
            <a:xfrm>
              <a:off x="3920214" y="1559701"/>
              <a:ext cx="203291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p:cNvCxnSpPr/>
            <p:nvPr/>
          </p:nvCxnSpPr>
          <p:spPr>
            <a:xfrm>
              <a:off x="3920214" y="1792635"/>
              <a:ext cx="203291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p:cNvCxnSpPr/>
            <p:nvPr/>
          </p:nvCxnSpPr>
          <p:spPr>
            <a:xfrm>
              <a:off x="3920214" y="2025569"/>
              <a:ext cx="203291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p:cNvCxnSpPr/>
            <p:nvPr/>
          </p:nvCxnSpPr>
          <p:spPr>
            <a:xfrm>
              <a:off x="3920214" y="2258503"/>
              <a:ext cx="203291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6" name="Straight Connector 155"/>
            <p:cNvCxnSpPr/>
            <p:nvPr/>
          </p:nvCxnSpPr>
          <p:spPr>
            <a:xfrm>
              <a:off x="3920214" y="2491437"/>
              <a:ext cx="203291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7" name="Straight Connector 156"/>
            <p:cNvCxnSpPr/>
            <p:nvPr/>
          </p:nvCxnSpPr>
          <p:spPr>
            <a:xfrm>
              <a:off x="3920214" y="2724374"/>
              <a:ext cx="203291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p:cNvCxnSpPr/>
            <p:nvPr/>
          </p:nvCxnSpPr>
          <p:spPr>
            <a:xfrm rot="5400000">
              <a:off x="5026149" y="1797400"/>
              <a:ext cx="1853952"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9" name="Straight Connector 158"/>
            <p:cNvCxnSpPr/>
            <p:nvPr/>
          </p:nvCxnSpPr>
          <p:spPr>
            <a:xfrm rot="5400000">
              <a:off x="4772034" y="1797400"/>
              <a:ext cx="1853952"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60" name="Straight Connector 159"/>
            <p:cNvCxnSpPr/>
            <p:nvPr/>
          </p:nvCxnSpPr>
          <p:spPr>
            <a:xfrm rot="5400000">
              <a:off x="4517920" y="1797400"/>
              <a:ext cx="1853952"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61" name="Straight Connector 160"/>
            <p:cNvCxnSpPr/>
            <p:nvPr/>
          </p:nvCxnSpPr>
          <p:spPr>
            <a:xfrm rot="5400000">
              <a:off x="4263805" y="1797400"/>
              <a:ext cx="1853952"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62" name="Straight Connector 161"/>
            <p:cNvCxnSpPr/>
            <p:nvPr/>
          </p:nvCxnSpPr>
          <p:spPr>
            <a:xfrm rot="5400000">
              <a:off x="4009691" y="1797400"/>
              <a:ext cx="1853952"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63" name="Straight Connector 162"/>
            <p:cNvCxnSpPr/>
            <p:nvPr/>
          </p:nvCxnSpPr>
          <p:spPr>
            <a:xfrm rot="5400000">
              <a:off x="3755577" y="1797400"/>
              <a:ext cx="1853952"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p:cNvCxnSpPr/>
            <p:nvPr/>
          </p:nvCxnSpPr>
          <p:spPr>
            <a:xfrm rot="5400000">
              <a:off x="3501464" y="1797400"/>
              <a:ext cx="1853952"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a:xfrm rot="5400000">
              <a:off x="3247351" y="1797400"/>
              <a:ext cx="1853952"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a:xfrm rot="5400000">
              <a:off x="2993238" y="1797400"/>
              <a:ext cx="1853952"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grpSp>
      <p:cxnSp>
        <p:nvCxnSpPr>
          <p:cNvPr id="90" name="Straight Connector 89"/>
          <p:cNvCxnSpPr/>
          <p:nvPr/>
        </p:nvCxnSpPr>
        <p:spPr>
          <a:xfrm>
            <a:off x="3967889" y="714056"/>
            <a:ext cx="2029968" cy="1856232"/>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304" name="HDFS-6268"/>
          <p:cNvSpPr/>
          <p:nvPr/>
        </p:nvSpPr>
        <p:spPr>
          <a:xfrm rot="21428140">
            <a:off x="880239" y="3486449"/>
            <a:ext cx="1159318" cy="338554"/>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lgn="ctr"/>
            <a:r>
              <a:rPr lang="en-US" sz="1600" b="1" dirty="0" smtClean="0"/>
              <a:t>HDFS-6268</a:t>
            </a:r>
            <a:endParaRPr lang="en-US" sz="1600" dirty="0"/>
          </a:p>
        </p:txBody>
      </p:sp>
      <p:sp>
        <p:nvSpPr>
          <p:cNvPr id="2" name="Oval 1"/>
          <p:cNvSpPr/>
          <p:nvPr/>
        </p:nvSpPr>
        <p:spPr>
          <a:xfrm rot="386498">
            <a:off x="6753784" y="3101249"/>
            <a:ext cx="1991201" cy="745418"/>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TextBox 219"/>
          <p:cNvSpPr txBox="1"/>
          <p:nvPr/>
        </p:nvSpPr>
        <p:spPr>
          <a:xfrm>
            <a:off x="338106" y="4468941"/>
            <a:ext cx="6005234" cy="923330"/>
          </a:xfrm>
          <a:prstGeom prst="rect">
            <a:avLst/>
          </a:prstGeom>
          <a:noFill/>
        </p:spPr>
        <p:txBody>
          <a:bodyPr wrap="none" rtlCol="0">
            <a:spAutoFit/>
          </a:bodyPr>
          <a:lstStyle/>
          <a:p>
            <a:pPr marL="285750" indent="-285750">
              <a:buFont typeface="Arial" panose="020B0604020202020204" pitchFamily="34" charset="0"/>
              <a:buChar char="•"/>
            </a:pPr>
            <a:r>
              <a:rPr lang="en-US" dirty="0" smtClean="0"/>
              <a:t>Seamlessly add correlations between multiple components</a:t>
            </a:r>
          </a:p>
          <a:p>
            <a:pPr marL="285750" indent="-285750">
              <a:buFont typeface="Arial" panose="020B0604020202020204" pitchFamily="34" charset="0"/>
              <a:buChar char="•"/>
            </a:pPr>
            <a:r>
              <a:rPr lang="en-US" dirty="0" smtClean="0"/>
              <a:t>Very specific, one-off metrics</a:t>
            </a:r>
          </a:p>
          <a:p>
            <a:pPr marL="285750" indent="-285750">
              <a:buFont typeface="Arial" panose="020B0604020202020204" pitchFamily="34" charset="0"/>
              <a:buChar char="•"/>
            </a:pPr>
            <a:r>
              <a:rPr lang="en-US" dirty="0" smtClean="0"/>
              <a:t>This experiment: 1.5% application-level overhead</a:t>
            </a:r>
            <a:endParaRPr lang="en-US" dirty="0"/>
          </a:p>
        </p:txBody>
      </p:sp>
      <p:sp>
        <p:nvSpPr>
          <p:cNvPr id="4" name="Slide Number Placeholder 3"/>
          <p:cNvSpPr>
            <a:spLocks noGrp="1"/>
          </p:cNvSpPr>
          <p:nvPr>
            <p:ph type="sldNum" sz="quarter" idx="12"/>
          </p:nvPr>
        </p:nvSpPr>
        <p:spPr/>
        <p:txBody>
          <a:bodyPr/>
          <a:lstStyle/>
          <a:p>
            <a:fld id="{D431E30F-8439-471B-9257-EDD8E85CDBC8}" type="slidenum">
              <a:rPr lang="en-US" smtClean="0"/>
              <a:t>44</a:t>
            </a:fld>
            <a:endParaRPr lang="en-US"/>
          </a:p>
        </p:txBody>
      </p:sp>
    </p:spTree>
    <p:extLst>
      <p:ext uri="{BB962C8B-B14F-4D97-AF65-F5344CB8AC3E}">
        <p14:creationId xmlns:p14="http://schemas.microsoft.com/office/powerpoint/2010/main" val="3606728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500"/>
                                        <p:tgtEl>
                                          <p:spTgt spid="304"/>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20">
                                            <p:txEl>
                                              <p:pRg st="0" end="0"/>
                                            </p:txEl>
                                          </p:spTgt>
                                        </p:tgtEl>
                                        <p:attrNameLst>
                                          <p:attrName>style.visibility</p:attrName>
                                        </p:attrNameLst>
                                      </p:cBhvr>
                                      <p:to>
                                        <p:strVal val="visible"/>
                                      </p:to>
                                    </p:set>
                                    <p:animEffect transition="in" filter="fade">
                                      <p:cBhvr>
                                        <p:cTn id="23" dur="500"/>
                                        <p:tgtEl>
                                          <p:spTgt spid="220">
                                            <p:txEl>
                                              <p:pRg st="0" end="0"/>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220">
                                            <p:txEl>
                                              <p:pRg st="1" end="1"/>
                                            </p:txEl>
                                          </p:spTgt>
                                        </p:tgtEl>
                                        <p:attrNameLst>
                                          <p:attrName>style.visibility</p:attrName>
                                        </p:attrNameLst>
                                      </p:cBhvr>
                                      <p:to>
                                        <p:strVal val="visible"/>
                                      </p:to>
                                    </p:set>
                                    <p:animEffect transition="in" filter="fade">
                                      <p:cBhvr>
                                        <p:cTn id="26" dur="500"/>
                                        <p:tgtEl>
                                          <p:spTgt spid="220">
                                            <p:txEl>
                                              <p:pRg st="1" end="1"/>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220">
                                            <p:txEl>
                                              <p:pRg st="2" end="2"/>
                                            </p:txEl>
                                          </p:spTgt>
                                        </p:tgtEl>
                                        <p:attrNameLst>
                                          <p:attrName>style.visibility</p:attrName>
                                        </p:attrNameLst>
                                      </p:cBhvr>
                                      <p:to>
                                        <p:strVal val="visible"/>
                                      </p:to>
                                    </p:set>
                                    <p:animEffect transition="in" filter="fade">
                                      <p:cBhvr>
                                        <p:cTn id="29" dur="500"/>
                                        <p:tgtEl>
                                          <p:spTgt spid="22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4" grpId="0" animBg="1"/>
      <p:bldP spid="2"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47286"/>
            <a:ext cx="7886700" cy="1325563"/>
          </a:xfrm>
        </p:spPr>
        <p:txBody>
          <a:bodyPr>
            <a:normAutofit/>
          </a:bodyPr>
          <a:lstStyle/>
          <a:p>
            <a:pPr algn="ctr"/>
            <a:r>
              <a:rPr lang="en-US" sz="6000" dirty="0" smtClean="0"/>
              <a:t>Pivot Tracing</a:t>
            </a:r>
            <a:endParaRPr lang="en-US" sz="6000" dirty="0"/>
          </a:p>
        </p:txBody>
      </p:sp>
      <p:sp>
        <p:nvSpPr>
          <p:cNvPr id="3" name="Content Placeholder 2"/>
          <p:cNvSpPr>
            <a:spLocks noGrp="1"/>
          </p:cNvSpPr>
          <p:nvPr>
            <p:ph idx="1"/>
          </p:nvPr>
        </p:nvSpPr>
        <p:spPr>
          <a:xfrm>
            <a:off x="640645" y="4297393"/>
            <a:ext cx="7862711" cy="433176"/>
          </a:xfrm>
        </p:spPr>
        <p:txBody>
          <a:bodyPr anchor="t">
            <a:normAutofit/>
          </a:bodyPr>
          <a:lstStyle/>
          <a:p>
            <a:pPr marL="0" indent="0" algn="ctr">
              <a:buNone/>
            </a:pPr>
            <a:r>
              <a:rPr lang="en-US" sz="2400" dirty="0" smtClean="0"/>
              <a:t>Acceptable overheads for production (we think)</a:t>
            </a:r>
          </a:p>
        </p:txBody>
      </p:sp>
      <p:grpSp>
        <p:nvGrpSpPr>
          <p:cNvPr id="17" name="Group 16"/>
          <p:cNvGrpSpPr/>
          <p:nvPr/>
        </p:nvGrpSpPr>
        <p:grpSpPr>
          <a:xfrm>
            <a:off x="1657303" y="3115367"/>
            <a:ext cx="5829395" cy="400110"/>
            <a:chOff x="147860" y="2916616"/>
            <a:chExt cx="5829395" cy="400110"/>
          </a:xfrm>
        </p:grpSpPr>
        <p:grpSp>
          <p:nvGrpSpPr>
            <p:cNvPr id="15" name="Group 14"/>
            <p:cNvGrpSpPr/>
            <p:nvPr/>
          </p:nvGrpSpPr>
          <p:grpSpPr>
            <a:xfrm>
              <a:off x="147860" y="2916616"/>
              <a:ext cx="3377846" cy="400110"/>
              <a:chOff x="147860" y="2923892"/>
              <a:chExt cx="3377846" cy="400110"/>
            </a:xfrm>
          </p:grpSpPr>
          <p:grpSp>
            <p:nvGrpSpPr>
              <p:cNvPr id="6" name="Group 5"/>
              <p:cNvGrpSpPr/>
              <p:nvPr/>
            </p:nvGrpSpPr>
            <p:grpSpPr>
              <a:xfrm>
                <a:off x="147860" y="2952795"/>
                <a:ext cx="560219" cy="342305"/>
                <a:chOff x="415365" y="3272655"/>
                <a:chExt cx="1046285" cy="639303"/>
              </a:xfrm>
            </p:grpSpPr>
            <p:sp>
              <p:nvSpPr>
                <p:cNvPr id="7" name="Freeform 6"/>
                <p:cNvSpPr/>
                <p:nvPr/>
              </p:nvSpPr>
              <p:spPr>
                <a:xfrm>
                  <a:off x="415365" y="3376988"/>
                  <a:ext cx="493032" cy="534970"/>
                </a:xfrm>
                <a:custGeom>
                  <a:avLst/>
                  <a:gdLst>
                    <a:gd name="connsiteX0" fmla="*/ 250470 w 278551"/>
                    <a:gd name="connsiteY0" fmla="*/ 185740 h 302245"/>
                    <a:gd name="connsiteX1" fmla="*/ 278551 w 278551"/>
                    <a:gd name="connsiteY1" fmla="*/ 212135 h 302245"/>
                    <a:gd name="connsiteX2" fmla="*/ 261752 w 278551"/>
                    <a:gd name="connsiteY2" fmla="*/ 241233 h 302245"/>
                    <a:gd name="connsiteX3" fmla="*/ 225317 w 278551"/>
                    <a:gd name="connsiteY3" fmla="*/ 230252 h 302245"/>
                    <a:gd name="connsiteX4" fmla="*/ 247440 w 278551"/>
                    <a:gd name="connsiteY4" fmla="*/ 199863 h 302245"/>
                    <a:gd name="connsiteX5" fmla="*/ 139274 w 278551"/>
                    <a:gd name="connsiteY5" fmla="*/ 84295 h 302245"/>
                    <a:gd name="connsiteX6" fmla="*/ 196885 w 278551"/>
                    <a:gd name="connsiteY6" fmla="*/ 113100 h 302245"/>
                    <a:gd name="connsiteX7" fmla="*/ 196884 w 278551"/>
                    <a:gd name="connsiteY7" fmla="*/ 114931 h 302245"/>
                    <a:gd name="connsiteX8" fmla="*/ 141702 w 278551"/>
                    <a:gd name="connsiteY8" fmla="*/ 86497 h 302245"/>
                    <a:gd name="connsiteX9" fmla="*/ 91232 w 278551"/>
                    <a:gd name="connsiteY9" fmla="*/ 110971 h 302245"/>
                    <a:gd name="connsiteX10" fmla="*/ 90180 w 278551"/>
                    <a:gd name="connsiteY10" fmla="*/ 108843 h 302245"/>
                    <a:gd name="connsiteX11" fmla="*/ 93907 w 278551"/>
                    <a:gd name="connsiteY11" fmla="*/ 56612 h 302245"/>
                    <a:gd name="connsiteX12" fmla="*/ 77529 w 278551"/>
                    <a:gd name="connsiteY12" fmla="*/ 83250 h 302245"/>
                    <a:gd name="connsiteX13" fmla="*/ 90180 w 278551"/>
                    <a:gd name="connsiteY13" fmla="*/ 108843 h 302245"/>
                    <a:gd name="connsiteX14" fmla="*/ 81665 w 278551"/>
                    <a:gd name="connsiteY14" fmla="*/ 113100 h 302245"/>
                    <a:gd name="connsiteX15" fmla="*/ 81665 w 278551"/>
                    <a:gd name="connsiteY15" fmla="*/ 189144 h 302245"/>
                    <a:gd name="connsiteX16" fmla="*/ 139274 w 278551"/>
                    <a:gd name="connsiteY16" fmla="*/ 217949 h 302245"/>
                    <a:gd name="connsiteX17" fmla="*/ 196884 w 278551"/>
                    <a:gd name="connsiteY17" fmla="*/ 189144 h 302245"/>
                    <a:gd name="connsiteX18" fmla="*/ 196884 w 278551"/>
                    <a:gd name="connsiteY18" fmla="*/ 114931 h 302245"/>
                    <a:gd name="connsiteX19" fmla="*/ 198958 w 278551"/>
                    <a:gd name="connsiteY19" fmla="*/ 115999 h 302245"/>
                    <a:gd name="connsiteX20" fmla="*/ 198034 w 278551"/>
                    <a:gd name="connsiteY20" fmla="*/ 192038 h 302245"/>
                    <a:gd name="connsiteX21" fmla="*/ 144208 w 278551"/>
                    <a:gd name="connsiteY21" fmla="*/ 218139 h 302245"/>
                    <a:gd name="connsiteX22" fmla="*/ 155568 w 278551"/>
                    <a:gd name="connsiteY22" fmla="*/ 241121 h 302245"/>
                    <a:gd name="connsiteX23" fmla="*/ 182697 w 278551"/>
                    <a:gd name="connsiteY23" fmla="*/ 246757 h 302245"/>
                    <a:gd name="connsiteX24" fmla="*/ 166987 w 278551"/>
                    <a:gd name="connsiteY24" fmla="*/ 255827 h 302245"/>
                    <a:gd name="connsiteX25" fmla="*/ 156075 w 278551"/>
                    <a:gd name="connsiteY25" fmla="*/ 302245 h 302245"/>
                    <a:gd name="connsiteX26" fmla="*/ 122476 w 278551"/>
                    <a:gd name="connsiteY26" fmla="*/ 302245 h 302245"/>
                    <a:gd name="connsiteX27" fmla="*/ 111565 w 278551"/>
                    <a:gd name="connsiteY27" fmla="*/ 255827 h 302245"/>
                    <a:gd name="connsiteX28" fmla="*/ 62455 w 278551"/>
                    <a:gd name="connsiteY28" fmla="*/ 227473 h 302245"/>
                    <a:gd name="connsiteX29" fmla="*/ 16799 w 278551"/>
                    <a:gd name="connsiteY29" fmla="*/ 241233 h 302245"/>
                    <a:gd name="connsiteX30" fmla="*/ 0 w 278551"/>
                    <a:gd name="connsiteY30" fmla="*/ 212135 h 302245"/>
                    <a:gd name="connsiteX31" fmla="*/ 34743 w 278551"/>
                    <a:gd name="connsiteY31" fmla="*/ 179476 h 302245"/>
                    <a:gd name="connsiteX32" fmla="*/ 34743 w 278551"/>
                    <a:gd name="connsiteY32" fmla="*/ 122768 h 302245"/>
                    <a:gd name="connsiteX33" fmla="*/ 0 w 278551"/>
                    <a:gd name="connsiteY33" fmla="*/ 90110 h 302245"/>
                    <a:gd name="connsiteX34" fmla="*/ 16799 w 278551"/>
                    <a:gd name="connsiteY34" fmla="*/ 61012 h 302245"/>
                    <a:gd name="connsiteX35" fmla="*/ 62454 w 278551"/>
                    <a:gd name="connsiteY35" fmla="*/ 74772 h 302245"/>
                    <a:gd name="connsiteX36" fmla="*/ 122476 w 278551"/>
                    <a:gd name="connsiteY36" fmla="*/ 0 h 302245"/>
                    <a:gd name="connsiteX37" fmla="*/ 156075 w 278551"/>
                    <a:gd name="connsiteY37" fmla="*/ 0 h 302245"/>
                    <a:gd name="connsiteX38" fmla="*/ 165987 w 278551"/>
                    <a:gd name="connsiteY38" fmla="*/ 42169 h 302245"/>
                    <a:gd name="connsiteX39" fmla="*/ 142303 w 278551"/>
                    <a:gd name="connsiteY39" fmla="*/ 37087 h 302245"/>
                    <a:gd name="connsiteX40" fmla="*/ 112428 w 278551"/>
                    <a:gd name="connsiteY40" fmla="*/ 42742 h 30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78551" h="302245">
                      <a:moveTo>
                        <a:pt x="250470" y="185740"/>
                      </a:moveTo>
                      <a:lnTo>
                        <a:pt x="278551" y="212135"/>
                      </a:lnTo>
                      <a:lnTo>
                        <a:pt x="261752" y="241233"/>
                      </a:lnTo>
                      <a:lnTo>
                        <a:pt x="225317" y="230252"/>
                      </a:lnTo>
                      <a:lnTo>
                        <a:pt x="247440" y="199863"/>
                      </a:lnTo>
                      <a:close/>
                      <a:moveTo>
                        <a:pt x="139274" y="84295"/>
                      </a:moveTo>
                      <a:lnTo>
                        <a:pt x="196885" y="113100"/>
                      </a:lnTo>
                      <a:lnTo>
                        <a:pt x="196884" y="114931"/>
                      </a:lnTo>
                      <a:lnTo>
                        <a:pt x="141702" y="86497"/>
                      </a:lnTo>
                      <a:lnTo>
                        <a:pt x="91232" y="110971"/>
                      </a:lnTo>
                      <a:lnTo>
                        <a:pt x="90180" y="108843"/>
                      </a:lnTo>
                      <a:close/>
                      <a:moveTo>
                        <a:pt x="93907" y="56612"/>
                      </a:moveTo>
                      <a:lnTo>
                        <a:pt x="77529" y="83250"/>
                      </a:lnTo>
                      <a:lnTo>
                        <a:pt x="90180" y="108843"/>
                      </a:lnTo>
                      <a:lnTo>
                        <a:pt x="81665" y="113100"/>
                      </a:lnTo>
                      <a:lnTo>
                        <a:pt x="81665" y="189144"/>
                      </a:lnTo>
                      <a:lnTo>
                        <a:pt x="139274" y="217949"/>
                      </a:lnTo>
                      <a:lnTo>
                        <a:pt x="196884" y="189144"/>
                      </a:lnTo>
                      <a:lnTo>
                        <a:pt x="196884" y="114931"/>
                      </a:lnTo>
                      <a:lnTo>
                        <a:pt x="198958" y="115999"/>
                      </a:lnTo>
                      <a:lnTo>
                        <a:pt x="198034" y="192038"/>
                      </a:lnTo>
                      <a:lnTo>
                        <a:pt x="144208" y="218139"/>
                      </a:lnTo>
                      <a:lnTo>
                        <a:pt x="155568" y="241121"/>
                      </a:lnTo>
                      <a:lnTo>
                        <a:pt x="182697" y="246757"/>
                      </a:lnTo>
                      <a:lnTo>
                        <a:pt x="166987" y="255827"/>
                      </a:lnTo>
                      <a:lnTo>
                        <a:pt x="156075" y="302245"/>
                      </a:lnTo>
                      <a:lnTo>
                        <a:pt x="122476" y="302245"/>
                      </a:lnTo>
                      <a:lnTo>
                        <a:pt x="111565" y="255827"/>
                      </a:lnTo>
                      <a:cubicBezTo>
                        <a:pt x="92967" y="250905"/>
                        <a:pt x="76016" y="241118"/>
                        <a:pt x="62455" y="227473"/>
                      </a:cubicBezTo>
                      <a:lnTo>
                        <a:pt x="16799" y="241233"/>
                      </a:lnTo>
                      <a:lnTo>
                        <a:pt x="0" y="212135"/>
                      </a:lnTo>
                      <a:lnTo>
                        <a:pt x="34743" y="179476"/>
                      </a:lnTo>
                      <a:cubicBezTo>
                        <a:pt x="29707" y="160909"/>
                        <a:pt x="29707" y="141335"/>
                        <a:pt x="34743" y="122768"/>
                      </a:cubicBezTo>
                      <a:lnTo>
                        <a:pt x="0" y="90110"/>
                      </a:lnTo>
                      <a:lnTo>
                        <a:pt x="16799" y="61012"/>
                      </a:lnTo>
                      <a:lnTo>
                        <a:pt x="62454" y="74772"/>
                      </a:lnTo>
                      <a:close/>
                      <a:moveTo>
                        <a:pt x="122476" y="0"/>
                      </a:moveTo>
                      <a:lnTo>
                        <a:pt x="156075" y="0"/>
                      </a:lnTo>
                      <a:lnTo>
                        <a:pt x="165987" y="42169"/>
                      </a:lnTo>
                      <a:lnTo>
                        <a:pt x="142303" y="37087"/>
                      </a:lnTo>
                      <a:lnTo>
                        <a:pt x="112428" y="42742"/>
                      </a:lnTo>
                      <a:close/>
                    </a:path>
                  </a:pathLst>
                </a:custGeom>
                <a:solidFill>
                  <a:schemeClr val="accent4"/>
                </a:solidFill>
                <a:ln w="2857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8" name="Freeform 7"/>
                <p:cNvSpPr/>
                <p:nvPr/>
              </p:nvSpPr>
              <p:spPr>
                <a:xfrm rot="20021754">
                  <a:off x="580509" y="3272655"/>
                  <a:ext cx="881141" cy="399985"/>
                </a:xfrm>
                <a:custGeom>
                  <a:avLst/>
                  <a:gdLst>
                    <a:gd name="connsiteX0" fmla="*/ 816859 w 881141"/>
                    <a:gd name="connsiteY0" fmla="*/ 93843 h 399985"/>
                    <a:gd name="connsiteX1" fmla="*/ 881141 w 881141"/>
                    <a:gd name="connsiteY1" fmla="*/ 190824 h 399985"/>
                    <a:gd name="connsiteX2" fmla="*/ 775889 w 881141"/>
                    <a:gd name="connsiteY2" fmla="*/ 296076 h 399985"/>
                    <a:gd name="connsiteX3" fmla="*/ 227922 w 881141"/>
                    <a:gd name="connsiteY3" fmla="*/ 296076 h 399985"/>
                    <a:gd name="connsiteX4" fmla="*/ 178135 w 881141"/>
                    <a:gd name="connsiteY4" fmla="*/ 358860 h 399985"/>
                    <a:gd name="connsiteX5" fmla="*/ 99698 w 881141"/>
                    <a:gd name="connsiteY5" fmla="*/ 399937 h 399985"/>
                    <a:gd name="connsiteX6" fmla="*/ 98734 w 881141"/>
                    <a:gd name="connsiteY6" fmla="*/ 399985 h 399985"/>
                    <a:gd name="connsiteX7" fmla="*/ 41671 w 881141"/>
                    <a:gd name="connsiteY7" fmla="*/ 384868 h 399985"/>
                    <a:gd name="connsiteX8" fmla="*/ 0 w 881141"/>
                    <a:gd name="connsiteY8" fmla="*/ 352264 h 399985"/>
                    <a:gd name="connsiteX9" fmla="*/ 0 w 881141"/>
                    <a:gd name="connsiteY9" fmla="*/ 306889 h 399985"/>
                    <a:gd name="connsiteX10" fmla="*/ 105879 w 881141"/>
                    <a:gd name="connsiteY10" fmla="*/ 307693 h 399985"/>
                    <a:gd name="connsiteX11" fmla="*/ 166986 w 881141"/>
                    <a:gd name="connsiteY11" fmla="*/ 187765 h 399985"/>
                    <a:gd name="connsiteX12" fmla="*/ 165060 w 881141"/>
                    <a:gd name="connsiteY12" fmla="*/ 185156 h 399985"/>
                    <a:gd name="connsiteX13" fmla="*/ 167580 w 881141"/>
                    <a:gd name="connsiteY13" fmla="*/ 180056 h 399985"/>
                    <a:gd name="connsiteX14" fmla="*/ 96285 w 881141"/>
                    <a:gd name="connsiteY14" fmla="*/ 85892 h 399985"/>
                    <a:gd name="connsiteX15" fmla="*/ 0 w 881141"/>
                    <a:gd name="connsiteY15" fmla="*/ 86330 h 399985"/>
                    <a:gd name="connsiteX16" fmla="*/ 0 w 881141"/>
                    <a:gd name="connsiteY16" fmla="*/ 40559 h 399985"/>
                    <a:gd name="connsiteX17" fmla="*/ 61500 w 881141"/>
                    <a:gd name="connsiteY17" fmla="*/ 1965 h 399985"/>
                    <a:gd name="connsiteX18" fmla="*/ 74035 w 881141"/>
                    <a:gd name="connsiteY18" fmla="*/ 0 h 399985"/>
                    <a:gd name="connsiteX19" fmla="*/ 138985 w 881141"/>
                    <a:gd name="connsiteY19" fmla="*/ 18118 h 399985"/>
                    <a:gd name="connsiteX20" fmla="*/ 203002 w 881141"/>
                    <a:gd name="connsiteY20" fmla="*/ 68881 h 399985"/>
                    <a:gd name="connsiteX21" fmla="*/ 212257 w 881141"/>
                    <a:gd name="connsiteY21" fmla="*/ 85572 h 399985"/>
                    <a:gd name="connsiteX22" fmla="*/ 775889 w 881141"/>
                    <a:gd name="connsiteY22" fmla="*/ 85572 h 399985"/>
                    <a:gd name="connsiteX23" fmla="*/ 816859 w 881141"/>
                    <a:gd name="connsiteY23" fmla="*/ 93843 h 399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81141" h="399985">
                      <a:moveTo>
                        <a:pt x="816859" y="93843"/>
                      </a:moveTo>
                      <a:cubicBezTo>
                        <a:pt x="854635" y="109821"/>
                        <a:pt x="881141" y="147227"/>
                        <a:pt x="881141" y="190824"/>
                      </a:cubicBezTo>
                      <a:cubicBezTo>
                        <a:pt x="881141" y="248954"/>
                        <a:pt x="834019" y="296076"/>
                        <a:pt x="775889" y="296076"/>
                      </a:cubicBezTo>
                      <a:lnTo>
                        <a:pt x="227922" y="296076"/>
                      </a:lnTo>
                      <a:lnTo>
                        <a:pt x="178135" y="358860"/>
                      </a:lnTo>
                      <a:cubicBezTo>
                        <a:pt x="155127" y="378216"/>
                        <a:pt x="128278" y="392137"/>
                        <a:pt x="99698" y="399937"/>
                      </a:cubicBezTo>
                      <a:lnTo>
                        <a:pt x="98734" y="399985"/>
                      </a:lnTo>
                      <a:lnTo>
                        <a:pt x="41671" y="384868"/>
                      </a:lnTo>
                      <a:lnTo>
                        <a:pt x="0" y="352264"/>
                      </a:lnTo>
                      <a:lnTo>
                        <a:pt x="0" y="306889"/>
                      </a:lnTo>
                      <a:lnTo>
                        <a:pt x="105879" y="307693"/>
                      </a:lnTo>
                      <a:lnTo>
                        <a:pt x="166986" y="187765"/>
                      </a:lnTo>
                      <a:lnTo>
                        <a:pt x="165060" y="185156"/>
                      </a:lnTo>
                      <a:lnTo>
                        <a:pt x="167580" y="180056"/>
                      </a:lnTo>
                      <a:lnTo>
                        <a:pt x="96285" y="85892"/>
                      </a:lnTo>
                      <a:lnTo>
                        <a:pt x="0" y="86330"/>
                      </a:lnTo>
                      <a:lnTo>
                        <a:pt x="0" y="40559"/>
                      </a:lnTo>
                      <a:lnTo>
                        <a:pt x="61500" y="1965"/>
                      </a:lnTo>
                      <a:lnTo>
                        <a:pt x="74035" y="0"/>
                      </a:lnTo>
                      <a:lnTo>
                        <a:pt x="138985" y="18118"/>
                      </a:lnTo>
                      <a:cubicBezTo>
                        <a:pt x="164296" y="31014"/>
                        <a:pt x="185796" y="48429"/>
                        <a:pt x="203002" y="68881"/>
                      </a:cubicBezTo>
                      <a:lnTo>
                        <a:pt x="212257" y="85572"/>
                      </a:lnTo>
                      <a:lnTo>
                        <a:pt x="775889" y="85572"/>
                      </a:lnTo>
                      <a:cubicBezTo>
                        <a:pt x="790422" y="85572"/>
                        <a:pt x="804265" y="88517"/>
                        <a:pt x="816859" y="93843"/>
                      </a:cubicBezTo>
                      <a:close/>
                    </a:path>
                  </a:pathLst>
                </a:custGeom>
                <a:solidFill>
                  <a:srgbClr val="D0CECE"/>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 name="Hexagon 8"/>
                <p:cNvSpPr/>
                <p:nvPr/>
              </p:nvSpPr>
              <p:spPr>
                <a:xfrm rot="16200000">
                  <a:off x="542215" y="3538831"/>
                  <a:ext cx="244092" cy="211283"/>
                </a:xfrm>
                <a:prstGeom prst="hexagon">
                  <a:avLst/>
                </a:prstGeom>
                <a:solidFill>
                  <a:schemeClr val="accent4">
                    <a:lumMod val="7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sp>
            <p:nvSpPr>
              <p:cNvPr id="35" name="Rectangle 34"/>
              <p:cNvSpPr/>
              <p:nvPr/>
            </p:nvSpPr>
            <p:spPr>
              <a:xfrm>
                <a:off x="628310" y="2923892"/>
                <a:ext cx="2897396" cy="400110"/>
              </a:xfrm>
              <a:prstGeom prst="rect">
                <a:avLst/>
              </a:prstGeom>
            </p:spPr>
            <p:txBody>
              <a:bodyPr wrap="none">
                <a:spAutoFit/>
              </a:bodyPr>
              <a:lstStyle/>
              <a:p>
                <a:r>
                  <a:rPr lang="en-US" sz="2000" dirty="0"/>
                  <a:t>Dynamic Instrumentation </a:t>
                </a:r>
              </a:p>
            </p:txBody>
          </p:sp>
        </p:grpSp>
        <p:grpSp>
          <p:nvGrpSpPr>
            <p:cNvPr id="53" name="Group 52"/>
            <p:cNvGrpSpPr/>
            <p:nvPr/>
          </p:nvGrpSpPr>
          <p:grpSpPr>
            <a:xfrm>
              <a:off x="3834951" y="2916616"/>
              <a:ext cx="2142304" cy="400110"/>
              <a:chOff x="4856238" y="1667501"/>
              <a:chExt cx="2142304" cy="400110"/>
            </a:xfrm>
          </p:grpSpPr>
          <p:sp>
            <p:nvSpPr>
              <p:cNvPr id="41" name="Rectangle 40"/>
              <p:cNvSpPr/>
              <p:nvPr/>
            </p:nvSpPr>
            <p:spPr>
              <a:xfrm>
                <a:off x="5337831" y="1667501"/>
                <a:ext cx="1660711" cy="400110"/>
              </a:xfrm>
              <a:prstGeom prst="rect">
                <a:avLst/>
              </a:prstGeom>
            </p:spPr>
            <p:txBody>
              <a:bodyPr wrap="none">
                <a:spAutoFit/>
              </a:bodyPr>
              <a:lstStyle/>
              <a:p>
                <a:r>
                  <a:rPr lang="en-US" sz="2000" dirty="0" smtClean="0"/>
                  <a:t>Causal Tracing</a:t>
                </a:r>
                <a:endParaRPr lang="en-US" sz="2000" dirty="0"/>
              </a:p>
            </p:txBody>
          </p:sp>
          <p:sp>
            <p:nvSpPr>
              <p:cNvPr id="43" name="Freeform 42"/>
              <p:cNvSpPr/>
              <p:nvPr/>
            </p:nvSpPr>
            <p:spPr>
              <a:xfrm flipH="1">
                <a:off x="4856238" y="1687881"/>
                <a:ext cx="438796" cy="359350"/>
              </a:xfrm>
              <a:custGeom>
                <a:avLst/>
                <a:gdLst>
                  <a:gd name="connsiteX0" fmla="*/ 205184 w 1161142"/>
                  <a:gd name="connsiteY0" fmla="*/ 225311 h 1009083"/>
                  <a:gd name="connsiteX1" fmla="*/ 130631 w 1161142"/>
                  <a:gd name="connsiteY1" fmla="*/ 225311 h 1009083"/>
                  <a:gd name="connsiteX2" fmla="*/ 0 w 1161142"/>
                  <a:gd name="connsiteY2" fmla="*/ 355942 h 1009083"/>
                  <a:gd name="connsiteX3" fmla="*/ 0 w 1161142"/>
                  <a:gd name="connsiteY3" fmla="*/ 878452 h 1009083"/>
                  <a:gd name="connsiteX4" fmla="*/ 130631 w 1161142"/>
                  <a:gd name="connsiteY4" fmla="*/ 1009083 h 1009083"/>
                  <a:gd name="connsiteX5" fmla="*/ 205184 w 1161142"/>
                  <a:gd name="connsiteY5" fmla="*/ 1009083 h 1009083"/>
                  <a:gd name="connsiteX6" fmla="*/ 1030511 w 1161142"/>
                  <a:gd name="connsiteY6" fmla="*/ 225311 h 1009083"/>
                  <a:gd name="connsiteX7" fmla="*/ 955958 w 1161142"/>
                  <a:gd name="connsiteY7" fmla="*/ 225311 h 1009083"/>
                  <a:gd name="connsiteX8" fmla="*/ 955958 w 1161142"/>
                  <a:gd name="connsiteY8" fmla="*/ 1009083 h 1009083"/>
                  <a:gd name="connsiteX9" fmla="*/ 1030511 w 1161142"/>
                  <a:gd name="connsiteY9" fmla="*/ 1009083 h 1009083"/>
                  <a:gd name="connsiteX10" fmla="*/ 1161142 w 1161142"/>
                  <a:gd name="connsiteY10" fmla="*/ 878452 h 1009083"/>
                  <a:gd name="connsiteX11" fmla="*/ 1161142 w 1161142"/>
                  <a:gd name="connsiteY11" fmla="*/ 355942 h 1009083"/>
                  <a:gd name="connsiteX12" fmla="*/ 1030511 w 1161142"/>
                  <a:gd name="connsiteY12" fmla="*/ 225311 h 1009083"/>
                  <a:gd name="connsiteX13" fmla="*/ 580571 w 1161142"/>
                  <a:gd name="connsiteY13" fmla="*/ 76200 h 1009083"/>
                  <a:gd name="connsiteX14" fmla="*/ 729682 w 1161142"/>
                  <a:gd name="connsiteY14" fmla="*/ 225311 h 1009083"/>
                  <a:gd name="connsiteX15" fmla="*/ 431460 w 1161142"/>
                  <a:gd name="connsiteY15" fmla="*/ 225311 h 1009083"/>
                  <a:gd name="connsiteX16" fmla="*/ 580571 w 1161142"/>
                  <a:gd name="connsiteY16" fmla="*/ 76200 h 1009083"/>
                  <a:gd name="connsiteX17" fmla="*/ 580571 w 1161142"/>
                  <a:gd name="connsiteY17" fmla="*/ 0 h 1009083"/>
                  <a:gd name="connsiteX18" fmla="*/ 355260 w 1161142"/>
                  <a:gd name="connsiteY18" fmla="*/ 225311 h 1009083"/>
                  <a:gd name="connsiteX19" fmla="*/ 290704 w 1161142"/>
                  <a:gd name="connsiteY19" fmla="*/ 225311 h 1009083"/>
                  <a:gd name="connsiteX20" fmla="*/ 290704 w 1161142"/>
                  <a:gd name="connsiteY20" fmla="*/ 1009083 h 1009083"/>
                  <a:gd name="connsiteX21" fmla="*/ 870438 w 1161142"/>
                  <a:gd name="connsiteY21" fmla="*/ 1009083 h 1009083"/>
                  <a:gd name="connsiteX22" fmla="*/ 870438 w 1161142"/>
                  <a:gd name="connsiteY22" fmla="*/ 225311 h 1009083"/>
                  <a:gd name="connsiteX23" fmla="*/ 805882 w 1161142"/>
                  <a:gd name="connsiteY23" fmla="*/ 225311 h 1009083"/>
                  <a:gd name="connsiteX24" fmla="*/ 580571 w 1161142"/>
                  <a:gd name="connsiteY24" fmla="*/ 0 h 100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61142" h="1009083">
                    <a:moveTo>
                      <a:pt x="205184" y="225311"/>
                    </a:moveTo>
                    <a:lnTo>
                      <a:pt x="130631" y="225311"/>
                    </a:lnTo>
                    <a:cubicBezTo>
                      <a:pt x="58485" y="225311"/>
                      <a:pt x="0" y="283796"/>
                      <a:pt x="0" y="355942"/>
                    </a:cubicBezTo>
                    <a:lnTo>
                      <a:pt x="0" y="878452"/>
                    </a:lnTo>
                    <a:cubicBezTo>
                      <a:pt x="0" y="950598"/>
                      <a:pt x="58485" y="1009083"/>
                      <a:pt x="130631" y="1009083"/>
                    </a:cubicBezTo>
                    <a:lnTo>
                      <a:pt x="205184" y="1009083"/>
                    </a:lnTo>
                    <a:close/>
                    <a:moveTo>
                      <a:pt x="1030511" y="225311"/>
                    </a:moveTo>
                    <a:lnTo>
                      <a:pt x="955958" y="225311"/>
                    </a:lnTo>
                    <a:lnTo>
                      <a:pt x="955958" y="1009083"/>
                    </a:lnTo>
                    <a:lnTo>
                      <a:pt x="1030511" y="1009083"/>
                    </a:lnTo>
                    <a:cubicBezTo>
                      <a:pt x="1102657" y="1009083"/>
                      <a:pt x="1161142" y="950598"/>
                      <a:pt x="1161142" y="878452"/>
                    </a:cubicBezTo>
                    <a:lnTo>
                      <a:pt x="1161142" y="355942"/>
                    </a:lnTo>
                    <a:cubicBezTo>
                      <a:pt x="1161142" y="283796"/>
                      <a:pt x="1102657" y="225311"/>
                      <a:pt x="1030511" y="225311"/>
                    </a:cubicBezTo>
                    <a:close/>
                    <a:moveTo>
                      <a:pt x="580571" y="76200"/>
                    </a:moveTo>
                    <a:cubicBezTo>
                      <a:pt x="662923" y="76200"/>
                      <a:pt x="729682" y="142959"/>
                      <a:pt x="729682" y="225311"/>
                    </a:cubicBezTo>
                    <a:lnTo>
                      <a:pt x="431460" y="225311"/>
                    </a:lnTo>
                    <a:cubicBezTo>
                      <a:pt x="431460" y="142959"/>
                      <a:pt x="498219" y="76200"/>
                      <a:pt x="580571" y="76200"/>
                    </a:cubicBezTo>
                    <a:close/>
                    <a:moveTo>
                      <a:pt x="580571" y="0"/>
                    </a:moveTo>
                    <a:cubicBezTo>
                      <a:pt x="456135" y="0"/>
                      <a:pt x="355260" y="100875"/>
                      <a:pt x="355260" y="225311"/>
                    </a:cubicBezTo>
                    <a:lnTo>
                      <a:pt x="290704" y="225311"/>
                    </a:lnTo>
                    <a:lnTo>
                      <a:pt x="290704" y="1009083"/>
                    </a:lnTo>
                    <a:lnTo>
                      <a:pt x="870438" y="1009083"/>
                    </a:lnTo>
                    <a:lnTo>
                      <a:pt x="870438" y="225311"/>
                    </a:lnTo>
                    <a:lnTo>
                      <a:pt x="805882" y="225311"/>
                    </a:lnTo>
                    <a:cubicBezTo>
                      <a:pt x="805882" y="100875"/>
                      <a:pt x="705007" y="0"/>
                      <a:pt x="580571"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grpSp>
      </p:grpSp>
      <p:grpSp>
        <p:nvGrpSpPr>
          <p:cNvPr id="22" name="Group 21"/>
          <p:cNvGrpSpPr/>
          <p:nvPr/>
        </p:nvGrpSpPr>
        <p:grpSpPr>
          <a:xfrm>
            <a:off x="3296972" y="1858690"/>
            <a:ext cx="2550057" cy="785848"/>
            <a:chOff x="1859048" y="1485313"/>
            <a:chExt cx="2550057" cy="785848"/>
          </a:xfrm>
        </p:grpSpPr>
        <p:grpSp>
          <p:nvGrpSpPr>
            <p:cNvPr id="36" name="Group 35"/>
            <p:cNvGrpSpPr/>
            <p:nvPr/>
          </p:nvGrpSpPr>
          <p:grpSpPr>
            <a:xfrm>
              <a:off x="2900197" y="1485313"/>
              <a:ext cx="467759" cy="416707"/>
              <a:chOff x="5858178" y="5079528"/>
              <a:chExt cx="467759" cy="416707"/>
            </a:xfrm>
          </p:grpSpPr>
          <p:sp>
            <p:nvSpPr>
              <p:cNvPr id="37" name="Freeform 36"/>
              <p:cNvSpPr/>
              <p:nvPr/>
            </p:nvSpPr>
            <p:spPr>
              <a:xfrm rot="5400000">
                <a:off x="5921805" y="5092102"/>
                <a:ext cx="340506" cy="467759"/>
              </a:xfrm>
              <a:custGeom>
                <a:avLst/>
                <a:gdLst>
                  <a:gd name="connsiteX0" fmla="*/ 1 w 284694"/>
                  <a:gd name="connsiteY0" fmla="*/ 0 h 391089"/>
                  <a:gd name="connsiteX1" fmla="*/ 284694 w 284694"/>
                  <a:gd name="connsiteY1" fmla="*/ 0 h 391089"/>
                  <a:gd name="connsiteX2" fmla="*/ 142348 w 284694"/>
                  <a:gd name="connsiteY2" fmla="*/ 195544 h 391089"/>
                  <a:gd name="connsiteX3" fmla="*/ 0 w 284694"/>
                  <a:gd name="connsiteY3" fmla="*/ 391089 h 391089"/>
                  <a:gd name="connsiteX4" fmla="*/ 142347 w 284694"/>
                  <a:gd name="connsiteY4" fmla="*/ 195545 h 391089"/>
                  <a:gd name="connsiteX5" fmla="*/ 284693 w 284694"/>
                  <a:gd name="connsiteY5" fmla="*/ 391089 h 391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4694" h="391089">
                    <a:moveTo>
                      <a:pt x="1" y="0"/>
                    </a:moveTo>
                    <a:lnTo>
                      <a:pt x="284694" y="0"/>
                    </a:lnTo>
                    <a:lnTo>
                      <a:pt x="142348" y="195544"/>
                    </a:lnTo>
                    <a:close/>
                    <a:moveTo>
                      <a:pt x="0" y="391089"/>
                    </a:moveTo>
                    <a:lnTo>
                      <a:pt x="142347" y="195545"/>
                    </a:lnTo>
                    <a:lnTo>
                      <a:pt x="284693" y="391089"/>
                    </a:lnTo>
                    <a:close/>
                  </a:path>
                </a:pathLst>
              </a:cu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cxnSp>
            <p:nvCxnSpPr>
              <p:cNvPr id="38" name="Straight Arrow Connector 37"/>
              <p:cNvCxnSpPr/>
              <p:nvPr/>
            </p:nvCxnSpPr>
            <p:spPr>
              <a:xfrm>
                <a:off x="5897748" y="5079528"/>
                <a:ext cx="388620" cy="0"/>
              </a:xfrm>
              <a:prstGeom prst="straightConnector1">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47" name="Rectangle 46"/>
            <p:cNvSpPr/>
            <p:nvPr/>
          </p:nvSpPr>
          <p:spPr>
            <a:xfrm>
              <a:off x="1859048" y="1871051"/>
              <a:ext cx="2550057" cy="400110"/>
            </a:xfrm>
            <a:prstGeom prst="rect">
              <a:avLst/>
            </a:prstGeom>
          </p:spPr>
          <p:txBody>
            <a:bodyPr wrap="none">
              <a:spAutoFit/>
            </a:bodyPr>
            <a:lstStyle/>
            <a:p>
              <a:r>
                <a:rPr lang="en-US" sz="2000" b="1" dirty="0" smtClean="0"/>
                <a:t>Happened-Before Join</a:t>
              </a:r>
              <a:endParaRPr lang="en-US" sz="2000" b="1" dirty="0"/>
            </a:p>
          </p:txBody>
        </p:sp>
      </p:grpSp>
      <p:grpSp>
        <p:nvGrpSpPr>
          <p:cNvPr id="51" name="Group 50"/>
          <p:cNvGrpSpPr/>
          <p:nvPr/>
        </p:nvGrpSpPr>
        <p:grpSpPr>
          <a:xfrm>
            <a:off x="1889561" y="4623342"/>
            <a:ext cx="5364879" cy="369332"/>
            <a:chOff x="-1479054" y="3087472"/>
            <a:chExt cx="5364879" cy="369332"/>
          </a:xfrm>
        </p:grpSpPr>
        <p:sp>
          <p:nvSpPr>
            <p:cNvPr id="48" name="Rectangle 47"/>
            <p:cNvSpPr/>
            <p:nvPr/>
          </p:nvSpPr>
          <p:spPr>
            <a:xfrm>
              <a:off x="-1479054" y="3087472"/>
              <a:ext cx="2803029" cy="369332"/>
            </a:xfrm>
            <a:prstGeom prst="rect">
              <a:avLst/>
            </a:prstGeom>
          </p:spPr>
          <p:txBody>
            <a:bodyPr wrap="square" numCol="1">
              <a:spAutoFit/>
            </a:bodyPr>
            <a:lstStyle/>
            <a:p>
              <a:pPr algn="ctr"/>
              <a:r>
                <a:rPr lang="en-US" dirty="0"/>
                <a:t>Standing basic </a:t>
              </a:r>
              <a:r>
                <a:rPr lang="en-US" dirty="0" smtClean="0"/>
                <a:t>queries</a:t>
              </a:r>
            </a:p>
          </p:txBody>
        </p:sp>
        <p:sp>
          <p:nvSpPr>
            <p:cNvPr id="50" name="Rectangle 49"/>
            <p:cNvSpPr/>
            <p:nvPr/>
          </p:nvSpPr>
          <p:spPr>
            <a:xfrm>
              <a:off x="1473241" y="3087472"/>
              <a:ext cx="2412584" cy="369332"/>
            </a:xfrm>
            <a:prstGeom prst="rect">
              <a:avLst/>
            </a:prstGeom>
          </p:spPr>
          <p:txBody>
            <a:bodyPr wrap="none">
              <a:spAutoFit/>
            </a:bodyPr>
            <a:lstStyle/>
            <a:p>
              <a:r>
                <a:rPr lang="en-US" dirty="0"/>
                <a:t>Potential to dig deeper</a:t>
              </a:r>
            </a:p>
          </p:txBody>
        </p:sp>
      </p:grpSp>
      <p:sp>
        <p:nvSpPr>
          <p:cNvPr id="55" name="Rectangle 54"/>
          <p:cNvSpPr/>
          <p:nvPr/>
        </p:nvSpPr>
        <p:spPr>
          <a:xfrm>
            <a:off x="533998" y="886310"/>
            <a:ext cx="8076004" cy="461665"/>
          </a:xfrm>
          <a:prstGeom prst="rect">
            <a:avLst/>
          </a:prstGeom>
        </p:spPr>
        <p:txBody>
          <a:bodyPr wrap="square">
            <a:spAutoFit/>
          </a:bodyPr>
          <a:lstStyle/>
          <a:p>
            <a:pPr algn="ctr"/>
            <a:r>
              <a:rPr lang="en-US" sz="2400" dirty="0"/>
              <a:t>Dynamic Causal Monitoring for Distributed Systems</a:t>
            </a:r>
          </a:p>
        </p:txBody>
      </p:sp>
      <p:grpSp>
        <p:nvGrpSpPr>
          <p:cNvPr id="31" name="Group 30" hidden="1"/>
          <p:cNvGrpSpPr/>
          <p:nvPr/>
        </p:nvGrpSpPr>
        <p:grpSpPr>
          <a:xfrm>
            <a:off x="982652" y="5503010"/>
            <a:ext cx="7923223" cy="1397772"/>
            <a:chOff x="982652" y="5503010"/>
            <a:chExt cx="7923223" cy="1397772"/>
          </a:xfrm>
        </p:grpSpPr>
        <p:grpSp>
          <p:nvGrpSpPr>
            <p:cNvPr id="27" name="Group 26"/>
            <p:cNvGrpSpPr/>
            <p:nvPr/>
          </p:nvGrpSpPr>
          <p:grpSpPr>
            <a:xfrm>
              <a:off x="982652" y="5503010"/>
              <a:ext cx="1481175" cy="1397772"/>
              <a:chOff x="1336654" y="5503010"/>
              <a:chExt cx="1481175" cy="1397772"/>
            </a:xfrm>
          </p:grpSpPr>
          <p:pic>
            <p:nvPicPr>
              <p:cNvPr id="19" name="Picture 2" descr="http://cs.brown.edu/~jcmace/me_small.jpg"/>
              <p:cNvPicPr>
                <a:picLocks noChangeAspect="1" noChangeArrowheads="1"/>
              </p:cNvPicPr>
              <p:nvPr/>
            </p:nvPicPr>
            <p:blipFill rotWithShape="1">
              <a:blip r:embed="rId3">
                <a:extLst>
                  <a:ext uri="{28A0092B-C50C-407E-A947-70E740481C1C}">
                    <a14:useLocalDpi xmlns:a14="http://schemas.microsoft.com/office/drawing/2010/main" val="0"/>
                  </a:ext>
                </a:extLst>
              </a:blip>
              <a:srcRect l="5635" r="6973" b="3467"/>
              <a:stretch/>
            </p:blipFill>
            <p:spPr bwMode="auto">
              <a:xfrm>
                <a:off x="1557660" y="5503010"/>
                <a:ext cx="1039163" cy="1121995"/>
              </a:xfrm>
              <a:prstGeom prst="rect">
                <a:avLst/>
              </a:prstGeom>
              <a:noFill/>
              <a:extLst>
                <a:ext uri="{909E8E84-426E-40dd-AFC4-6F175D3DCCD1}">
                  <a14:hiddenFill xmlns="" xmlns:a14="http://schemas.microsoft.com/office/drawing/2010/main">
                    <a:solidFill>
                      <a:srgbClr val="FFFFFF"/>
                    </a:solidFill>
                  </a14:hiddenFill>
                </a:ext>
              </a:extLst>
            </p:spPr>
          </p:pic>
          <p:sp>
            <p:nvSpPr>
              <p:cNvPr id="29" name="Rectangle 28"/>
              <p:cNvSpPr/>
              <p:nvPr/>
            </p:nvSpPr>
            <p:spPr>
              <a:xfrm>
                <a:off x="1336654" y="6562228"/>
                <a:ext cx="1481175" cy="338554"/>
              </a:xfrm>
              <a:prstGeom prst="rect">
                <a:avLst/>
              </a:prstGeom>
            </p:spPr>
            <p:txBody>
              <a:bodyPr wrap="none">
                <a:spAutoFit/>
              </a:bodyPr>
              <a:lstStyle/>
              <a:p>
                <a:r>
                  <a:rPr lang="en-US" sz="1600" b="1" dirty="0"/>
                  <a:t>Jonathan Mace</a:t>
                </a:r>
                <a:endParaRPr lang="en-US" sz="1600" dirty="0"/>
              </a:p>
            </p:txBody>
          </p:sp>
        </p:grpSp>
        <p:grpSp>
          <p:nvGrpSpPr>
            <p:cNvPr id="26" name="Group 25"/>
            <p:cNvGrpSpPr/>
            <p:nvPr/>
          </p:nvGrpSpPr>
          <p:grpSpPr>
            <a:xfrm>
              <a:off x="3055161" y="5510160"/>
              <a:ext cx="1190134" cy="1383473"/>
              <a:chOff x="3403932" y="5517309"/>
              <a:chExt cx="1190134" cy="1383473"/>
            </a:xfrm>
          </p:grpSpPr>
          <p:pic>
            <p:nvPicPr>
              <p:cNvPr id="20" name="Picture 19"/>
              <p:cNvPicPr>
                <a:picLocks noChangeAspect="1"/>
              </p:cNvPicPr>
              <p:nvPr/>
            </p:nvPicPr>
            <p:blipFill>
              <a:blip r:embed="rId4"/>
              <a:stretch>
                <a:fillRect/>
              </a:stretch>
            </p:blipFill>
            <p:spPr>
              <a:xfrm>
                <a:off x="3580936" y="5517309"/>
                <a:ext cx="836126" cy="1093396"/>
              </a:xfrm>
              <a:prstGeom prst="rect">
                <a:avLst/>
              </a:prstGeom>
            </p:spPr>
          </p:pic>
          <p:sp>
            <p:nvSpPr>
              <p:cNvPr id="30" name="Rectangle 29"/>
              <p:cNvSpPr/>
              <p:nvPr/>
            </p:nvSpPr>
            <p:spPr>
              <a:xfrm>
                <a:off x="3403932" y="6562228"/>
                <a:ext cx="1190134" cy="338554"/>
              </a:xfrm>
              <a:prstGeom prst="rect">
                <a:avLst/>
              </a:prstGeom>
            </p:spPr>
            <p:txBody>
              <a:bodyPr wrap="none">
                <a:spAutoFit/>
              </a:bodyPr>
              <a:lstStyle/>
              <a:p>
                <a:r>
                  <a:rPr lang="en-US" sz="1600" dirty="0"/>
                  <a:t>Ryan </a:t>
                </a:r>
                <a:r>
                  <a:rPr lang="en-US" sz="1600" dirty="0" err="1"/>
                  <a:t>Roelke</a:t>
                </a:r>
                <a:endParaRPr lang="en-US" sz="1600" dirty="0"/>
              </a:p>
            </p:txBody>
          </p:sp>
        </p:grpSp>
        <p:pic>
          <p:nvPicPr>
            <p:cNvPr id="1026" name="Picture 2" descr="http://sstore.cs.brown.edu/img/Brown-logo.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941437" y="5646380"/>
              <a:ext cx="964438" cy="1111032"/>
            </a:xfrm>
            <a:prstGeom prst="rect">
              <a:avLst/>
            </a:prstGeom>
            <a:noFill/>
            <a:extLst>
              <a:ext uri="{909E8E84-426E-40DD-AFC4-6F175D3DCCD1}">
                <a14:hiddenFill xmlns:a14="http://schemas.microsoft.com/office/drawing/2010/main">
                  <a:solidFill>
                    <a:srgbClr val="FFFFFF"/>
                  </a:solidFill>
                </a14:hiddenFill>
              </a:ext>
            </a:extLst>
          </p:spPr>
        </p:pic>
        <p:grpSp>
          <p:nvGrpSpPr>
            <p:cNvPr id="25" name="Group 24"/>
            <p:cNvGrpSpPr/>
            <p:nvPr/>
          </p:nvGrpSpPr>
          <p:grpSpPr>
            <a:xfrm>
              <a:off x="4836629" y="5503369"/>
              <a:ext cx="1551450" cy="1397055"/>
              <a:chOff x="5157303" y="5503727"/>
              <a:chExt cx="1551450" cy="1397055"/>
            </a:xfrm>
          </p:grpSpPr>
          <p:pic>
            <p:nvPicPr>
              <p:cNvPr id="21" name="Picture 20" descr="http://cs.brown.edu/~rfonseca/img/rodrigo_sm.jpg"/>
              <p:cNvPicPr>
                <a:picLocks noChangeAspect="1" noChangeArrowheads="1"/>
              </p:cNvPicPr>
              <p:nvPr/>
            </p:nvPicPr>
            <p:blipFill rotWithShape="1">
              <a:blip r:embed="rId6">
                <a:extLst>
                  <a:ext uri="{28A0092B-C50C-407E-A947-70E740481C1C}">
                    <a14:useLocalDpi xmlns:a14="http://schemas.microsoft.com/office/drawing/2010/main" val="0"/>
                  </a:ext>
                </a:extLst>
              </a:blip>
              <a:srcRect l="1492" r="5772"/>
              <a:stretch/>
            </p:blipFill>
            <p:spPr bwMode="auto">
              <a:xfrm>
                <a:off x="5413447" y="5503727"/>
                <a:ext cx="1039163" cy="1120561"/>
              </a:xfrm>
              <a:prstGeom prst="rect">
                <a:avLst/>
              </a:prstGeom>
              <a:noFill/>
              <a:extLst>
                <a:ext uri="{909E8E84-426E-40dd-AFC4-6F175D3DCCD1}">
                  <a14:hiddenFill xmlns:a14="http://schemas.microsoft.com/office/drawing/2010/main" xmlns="">
                    <a:solidFill>
                      <a:srgbClr val="FFFFFF"/>
                    </a:solidFill>
                  </a14:hiddenFill>
                </a:ext>
              </a:extLst>
            </p:spPr>
          </p:pic>
          <p:sp>
            <p:nvSpPr>
              <p:cNvPr id="45" name="Rectangle 44"/>
              <p:cNvSpPr/>
              <p:nvPr/>
            </p:nvSpPr>
            <p:spPr>
              <a:xfrm>
                <a:off x="5157303" y="6562228"/>
                <a:ext cx="1551450" cy="338554"/>
              </a:xfrm>
              <a:prstGeom prst="rect">
                <a:avLst/>
              </a:prstGeom>
            </p:spPr>
            <p:txBody>
              <a:bodyPr wrap="none">
                <a:spAutoFit/>
              </a:bodyPr>
              <a:lstStyle/>
              <a:p>
                <a:r>
                  <a:rPr lang="en-US" sz="1600" dirty="0" smtClean="0"/>
                  <a:t>Rodrigo Fonseca</a:t>
                </a:r>
              </a:p>
            </p:txBody>
          </p:sp>
        </p:grpSp>
      </p:grpSp>
      <p:grpSp>
        <p:nvGrpSpPr>
          <p:cNvPr id="92" name="Group 91" hidden="1"/>
          <p:cNvGrpSpPr/>
          <p:nvPr/>
        </p:nvGrpSpPr>
        <p:grpSpPr>
          <a:xfrm>
            <a:off x="6286500" y="1578779"/>
            <a:ext cx="2844887" cy="3438518"/>
            <a:chOff x="6286500" y="1578779"/>
            <a:chExt cx="2844887" cy="3438518"/>
          </a:xfrm>
        </p:grpSpPr>
        <p:grpSp>
          <p:nvGrpSpPr>
            <p:cNvPr id="91" name="Group 90"/>
            <p:cNvGrpSpPr/>
            <p:nvPr/>
          </p:nvGrpSpPr>
          <p:grpSpPr>
            <a:xfrm>
              <a:off x="6539331" y="1578780"/>
              <a:ext cx="2592056" cy="3438517"/>
              <a:chOff x="6539331" y="1578780"/>
              <a:chExt cx="2592056" cy="3438517"/>
            </a:xfrm>
          </p:grpSpPr>
          <p:sp>
            <p:nvSpPr>
              <p:cNvPr id="39" name="Rounded Rectangle 38"/>
              <p:cNvSpPr/>
              <p:nvPr/>
            </p:nvSpPr>
            <p:spPr>
              <a:xfrm>
                <a:off x="7178302" y="1578780"/>
                <a:ext cx="1317528" cy="467312"/>
              </a:xfrm>
              <a:prstGeom prst="roundRect">
                <a:avLst>
                  <a:gd name="adj" fmla="val 18490"/>
                </a:avLst>
              </a:prstGeom>
              <a:solidFill>
                <a:srgbClr val="FFE1E1"/>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nSpc>
                    <a:spcPct val="80000"/>
                  </a:lnSpc>
                </a:pPr>
                <a:r>
                  <a:rPr lang="en-US" sz="1200" b="1" dirty="0" err="1" smtClean="0">
                    <a:solidFill>
                      <a:schemeClr val="tx1"/>
                    </a:solidFill>
                  </a:rPr>
                  <a:t>Tracepoint</a:t>
                </a:r>
                <a:r>
                  <a:rPr lang="en-US" sz="1200" b="1" dirty="0" smtClean="0">
                    <a:solidFill>
                      <a:schemeClr val="tx1"/>
                    </a:solidFill>
                  </a:rPr>
                  <a:t> A</a:t>
                </a:r>
              </a:p>
              <a:p>
                <a:pPr>
                  <a:lnSpc>
                    <a:spcPct val="80000"/>
                  </a:lnSpc>
                </a:pPr>
                <a:r>
                  <a:rPr lang="en-US" sz="1200" b="1" dirty="0" smtClean="0">
                    <a:solidFill>
                      <a:schemeClr val="tx1"/>
                    </a:solidFill>
                  </a:rPr>
                  <a:t>  Class: </a:t>
                </a:r>
                <a:r>
                  <a:rPr lang="en-US" sz="1200" dirty="0" smtClean="0">
                    <a:solidFill>
                      <a:schemeClr val="tx1"/>
                    </a:solidFill>
                  </a:rPr>
                  <a:t>A</a:t>
                </a:r>
              </a:p>
              <a:p>
                <a:pPr>
                  <a:lnSpc>
                    <a:spcPct val="80000"/>
                  </a:lnSpc>
                </a:pPr>
                <a:r>
                  <a:rPr lang="en-US" sz="1200" dirty="0">
                    <a:solidFill>
                      <a:schemeClr val="tx1"/>
                    </a:solidFill>
                    <a:latin typeface="Consolas" panose="020B0609020204030204" pitchFamily="49" charset="0"/>
                    <a:cs typeface="Consolas" panose="020B0609020204030204" pitchFamily="49" charset="0"/>
                  </a:rPr>
                  <a:t> </a:t>
                </a:r>
                <a:r>
                  <a:rPr lang="en-US" sz="1200" b="1" dirty="0" smtClean="0">
                    <a:solidFill>
                      <a:schemeClr val="tx1"/>
                    </a:solidFill>
                    <a:cs typeface="Consolas" panose="020B0609020204030204" pitchFamily="49" charset="0"/>
                  </a:rPr>
                  <a:t>Method</a:t>
                </a:r>
                <a:r>
                  <a:rPr lang="en-US" sz="1200" dirty="0" smtClean="0">
                    <a:solidFill>
                      <a:schemeClr val="tx1"/>
                    </a:solidFill>
                    <a:latin typeface="Consolas" panose="020B0609020204030204" pitchFamily="49" charset="0"/>
                    <a:cs typeface="Consolas" panose="020B0609020204030204" pitchFamily="49" charset="0"/>
                  </a:rPr>
                  <a:t>: A1()</a:t>
                </a:r>
              </a:p>
            </p:txBody>
          </p:sp>
          <p:sp>
            <p:nvSpPr>
              <p:cNvPr id="40" name="Rounded Rectangle 39"/>
              <p:cNvSpPr/>
              <p:nvPr/>
            </p:nvSpPr>
            <p:spPr>
              <a:xfrm>
                <a:off x="6939581" y="2046092"/>
                <a:ext cx="1791557" cy="594656"/>
              </a:xfrm>
              <a:prstGeom prst="roundRect">
                <a:avLst>
                  <a:gd name="adj" fmla="val 18490"/>
                </a:avLst>
              </a:prstGeom>
              <a:solidFill>
                <a:srgbClr val="FFE1E1"/>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nSpc>
                    <a:spcPct val="75000"/>
                  </a:lnSpc>
                </a:pPr>
                <a:r>
                  <a:rPr lang="en-US" sz="1200" b="1" dirty="0" err="1" smtClean="0">
                    <a:solidFill>
                      <a:schemeClr val="tx1"/>
                    </a:solidFill>
                  </a:rPr>
                  <a:t>Tracepoint</a:t>
                </a:r>
                <a:r>
                  <a:rPr lang="en-US" sz="1200" b="1" dirty="0" smtClean="0">
                    <a:solidFill>
                      <a:schemeClr val="tx1"/>
                    </a:solidFill>
                  </a:rPr>
                  <a:t> B</a:t>
                </a:r>
              </a:p>
              <a:p>
                <a:pPr>
                  <a:lnSpc>
                    <a:spcPct val="75000"/>
                  </a:lnSpc>
                </a:pPr>
                <a:r>
                  <a:rPr lang="en-US" sz="1200" b="1" dirty="0" smtClean="0">
                    <a:solidFill>
                      <a:schemeClr val="tx1"/>
                    </a:solidFill>
                  </a:rPr>
                  <a:t>  Class: </a:t>
                </a:r>
                <a:r>
                  <a:rPr lang="en-US" sz="1200" dirty="0" smtClean="0">
                    <a:solidFill>
                      <a:schemeClr val="tx1"/>
                    </a:solidFill>
                  </a:rPr>
                  <a:t>B</a:t>
                </a:r>
              </a:p>
              <a:p>
                <a:pPr>
                  <a:lnSpc>
                    <a:spcPct val="75000"/>
                  </a:lnSpc>
                </a:pPr>
                <a:r>
                  <a:rPr lang="en-US" sz="1200" dirty="0">
                    <a:solidFill>
                      <a:schemeClr val="tx1"/>
                    </a:solidFill>
                  </a:rPr>
                  <a:t> </a:t>
                </a:r>
                <a:r>
                  <a:rPr lang="en-US" sz="1200" dirty="0" smtClean="0">
                    <a:solidFill>
                      <a:schemeClr val="tx1"/>
                    </a:solidFill>
                  </a:rPr>
                  <a:t> </a:t>
                </a:r>
                <a:r>
                  <a:rPr lang="en-US" sz="1200" b="1" dirty="0" smtClean="0">
                    <a:solidFill>
                      <a:schemeClr val="tx1"/>
                    </a:solidFill>
                  </a:rPr>
                  <a:t>Method</a:t>
                </a:r>
                <a:r>
                  <a:rPr lang="en-US" sz="1200" dirty="0" smtClean="0">
                    <a:solidFill>
                      <a:schemeClr val="tx1"/>
                    </a:solidFill>
                  </a:rPr>
                  <a:t>: </a:t>
                </a:r>
                <a:r>
                  <a:rPr lang="en-US" sz="1200" dirty="0" smtClean="0">
                    <a:solidFill>
                      <a:schemeClr val="tx1"/>
                    </a:solidFill>
                    <a:latin typeface="Consolas" panose="020B0609020204030204" pitchFamily="49" charset="0"/>
                    <a:cs typeface="Consolas" panose="020B0609020204030204" pitchFamily="49" charset="0"/>
                  </a:rPr>
                  <a:t>B1()</a:t>
                </a:r>
              </a:p>
              <a:p>
                <a:pPr>
                  <a:lnSpc>
                    <a:spcPct val="75000"/>
                  </a:lnSpc>
                </a:pPr>
                <a:r>
                  <a:rPr lang="en-US" sz="1200" b="1" dirty="0">
                    <a:solidFill>
                      <a:schemeClr val="tx1"/>
                    </a:solidFill>
                  </a:rPr>
                  <a:t> </a:t>
                </a:r>
                <a:r>
                  <a:rPr lang="en-US" sz="1200" b="1" dirty="0" smtClean="0">
                    <a:solidFill>
                      <a:schemeClr val="tx1"/>
                    </a:solidFill>
                  </a:rPr>
                  <a:t> Exports: </a:t>
                </a:r>
                <a:r>
                  <a:rPr lang="en-US" sz="1200" dirty="0" smtClean="0">
                    <a:solidFill>
                      <a:schemeClr val="tx1"/>
                    </a:solidFill>
                    <a:latin typeface="+mj-lt"/>
                    <a:cs typeface="Consolas" panose="020B0609020204030204" pitchFamily="49" charset="0"/>
                  </a:rPr>
                  <a:t>“delta”=</a:t>
                </a:r>
                <a:r>
                  <a:rPr lang="en-US" sz="1200" dirty="0" smtClean="0">
                    <a:solidFill>
                      <a:schemeClr val="tx1"/>
                    </a:solidFill>
                    <a:latin typeface="Consolas" panose="020B0609020204030204" pitchFamily="49" charset="0"/>
                    <a:cs typeface="Consolas" panose="020B0609020204030204" pitchFamily="49" charset="0"/>
                  </a:rPr>
                  <a:t>delta</a:t>
                </a:r>
              </a:p>
            </p:txBody>
          </p:sp>
          <p:sp>
            <p:nvSpPr>
              <p:cNvPr id="71" name="Query"/>
              <p:cNvSpPr txBox="1"/>
              <p:nvPr/>
            </p:nvSpPr>
            <p:spPr>
              <a:xfrm>
                <a:off x="6539331" y="2835287"/>
                <a:ext cx="2592056" cy="664797"/>
              </a:xfrm>
              <a:prstGeom prst="rect">
                <a:avLst/>
              </a:prstGeom>
              <a:noFill/>
            </p:spPr>
            <p:txBody>
              <a:bodyPr wrap="none" lIns="0" tIns="0" rIns="0" bIns="0" rtlCol="0" anchor="t" anchorCtr="0">
                <a:spAutoFit/>
              </a:bodyPr>
              <a:lstStyle/>
              <a:p>
                <a:pPr>
                  <a:lnSpc>
                    <a:spcPct val="90000"/>
                  </a:lnSpc>
                </a:pPr>
                <a:r>
                  <a:rPr lang="en-US" sz="1200" b="1" spc="-50" dirty="0" smtClean="0">
                    <a:latin typeface="Consolas" panose="020B0609020204030204" pitchFamily="49" charset="0"/>
                    <a:cs typeface="Consolas" panose="020B0609020204030204" pitchFamily="49" charset="0"/>
                  </a:rPr>
                  <a:t>From</a:t>
                </a:r>
                <a:r>
                  <a:rPr lang="en-US" sz="1200" spc="-50" dirty="0" smtClean="0">
                    <a:latin typeface="Consolas" panose="020B0609020204030204" pitchFamily="49" charset="0"/>
                    <a:cs typeface="Consolas" panose="020B0609020204030204" pitchFamily="49" charset="0"/>
                  </a:rPr>
                  <a:t> </a:t>
                </a:r>
                <a:r>
                  <a:rPr lang="en-US" sz="1200" spc="-50" dirty="0" smtClean="0">
                    <a:solidFill>
                      <a:srgbClr val="2F2364"/>
                    </a:solidFill>
                    <a:latin typeface="Consolas" panose="020B0609020204030204" pitchFamily="49" charset="0"/>
                    <a:cs typeface="Consolas" panose="020B0609020204030204" pitchFamily="49" charset="0"/>
                  </a:rPr>
                  <a:t>a</a:t>
                </a:r>
                <a:r>
                  <a:rPr lang="en-US" sz="1200" spc="-50" dirty="0" smtClean="0">
                    <a:latin typeface="Consolas" panose="020B0609020204030204" pitchFamily="49" charset="0"/>
                    <a:cs typeface="Consolas" panose="020B0609020204030204" pitchFamily="49" charset="0"/>
                  </a:rPr>
                  <a:t> </a:t>
                </a:r>
                <a:r>
                  <a:rPr lang="en-US" sz="1200" b="1" spc="-50" dirty="0" smtClean="0">
                    <a:latin typeface="Consolas" panose="020B0609020204030204" pitchFamily="49" charset="0"/>
                    <a:cs typeface="Consolas" panose="020B0609020204030204" pitchFamily="49" charset="0"/>
                  </a:rPr>
                  <a:t>In</a:t>
                </a:r>
                <a:r>
                  <a:rPr lang="en-US" sz="1200" spc="-50" dirty="0" smtClean="0">
                    <a:latin typeface="Consolas" panose="020B0609020204030204" pitchFamily="49" charset="0"/>
                    <a:cs typeface="Consolas" panose="020B0609020204030204" pitchFamily="49" charset="0"/>
                  </a:rPr>
                  <a:t> </a:t>
                </a:r>
                <a:r>
                  <a:rPr lang="en-US" sz="1200" spc="-50" dirty="0" smtClean="0">
                    <a:solidFill>
                      <a:srgbClr val="2F2364"/>
                    </a:solidFill>
                    <a:latin typeface="Consolas" panose="020B0609020204030204" pitchFamily="49" charset="0"/>
                    <a:cs typeface="Consolas" panose="020B0609020204030204" pitchFamily="49" charset="0"/>
                  </a:rPr>
                  <a:t>A</a:t>
                </a:r>
              </a:p>
              <a:p>
                <a:pPr>
                  <a:lnSpc>
                    <a:spcPct val="90000"/>
                  </a:lnSpc>
                </a:pPr>
                <a:r>
                  <a:rPr lang="en-US" sz="1200" spc="-50" dirty="0">
                    <a:latin typeface="Consolas" panose="020B0609020204030204" pitchFamily="49" charset="0"/>
                    <a:cs typeface="Consolas" panose="020B0609020204030204" pitchFamily="49" charset="0"/>
                  </a:rPr>
                  <a:t> </a:t>
                </a:r>
                <a:r>
                  <a:rPr lang="en-US" sz="1200" spc="-50" dirty="0" smtClean="0">
                    <a:latin typeface="Consolas" panose="020B0609020204030204" pitchFamily="49" charset="0"/>
                    <a:cs typeface="Consolas" panose="020B0609020204030204" pitchFamily="49" charset="0"/>
                  </a:rPr>
                  <a:t> </a:t>
                </a:r>
                <a:r>
                  <a:rPr lang="en-US" sz="1200" b="1" spc="-50" dirty="0" smtClean="0">
                    <a:latin typeface="Consolas" panose="020B0609020204030204" pitchFamily="49" charset="0"/>
                    <a:cs typeface="Consolas" panose="020B0609020204030204" pitchFamily="49" charset="0"/>
                  </a:rPr>
                  <a:t>Join</a:t>
                </a:r>
                <a:r>
                  <a:rPr lang="en-US" sz="1200" spc="-50" dirty="0" smtClean="0">
                    <a:latin typeface="Consolas" panose="020B0609020204030204" pitchFamily="49" charset="0"/>
                    <a:cs typeface="Consolas" panose="020B0609020204030204" pitchFamily="49" charset="0"/>
                  </a:rPr>
                  <a:t> </a:t>
                </a:r>
                <a:r>
                  <a:rPr lang="en-US" sz="1200" spc="-50" dirty="0" smtClean="0">
                    <a:solidFill>
                      <a:srgbClr val="23642F"/>
                    </a:solidFill>
                    <a:latin typeface="Consolas" panose="020B0609020204030204" pitchFamily="49" charset="0"/>
                    <a:cs typeface="Consolas" panose="020B0609020204030204" pitchFamily="49" charset="0"/>
                  </a:rPr>
                  <a:t>b</a:t>
                </a:r>
                <a:r>
                  <a:rPr lang="en-US" sz="1200" spc="-50" dirty="0" smtClean="0">
                    <a:latin typeface="Consolas" panose="020B0609020204030204" pitchFamily="49" charset="0"/>
                    <a:cs typeface="Consolas" panose="020B0609020204030204" pitchFamily="49" charset="0"/>
                  </a:rPr>
                  <a:t> </a:t>
                </a:r>
                <a:r>
                  <a:rPr lang="en-US" sz="1200" b="1" spc="-50" dirty="0" smtClean="0">
                    <a:latin typeface="Consolas" panose="020B0609020204030204" pitchFamily="49" charset="0"/>
                    <a:cs typeface="Consolas" panose="020B0609020204030204" pitchFamily="49" charset="0"/>
                  </a:rPr>
                  <a:t>In</a:t>
                </a:r>
                <a:r>
                  <a:rPr lang="en-US" sz="1200" spc="-50" dirty="0" smtClean="0">
                    <a:latin typeface="Consolas" panose="020B0609020204030204" pitchFamily="49" charset="0"/>
                    <a:cs typeface="Consolas" panose="020B0609020204030204" pitchFamily="49" charset="0"/>
                  </a:rPr>
                  <a:t> </a:t>
                </a:r>
                <a:r>
                  <a:rPr lang="en-US" sz="1200" spc="-50" dirty="0" smtClean="0">
                    <a:solidFill>
                      <a:srgbClr val="23642F"/>
                    </a:solidFill>
                    <a:latin typeface="Consolas" panose="020B0609020204030204" pitchFamily="49" charset="0"/>
                    <a:cs typeface="Consolas" panose="020B0609020204030204" pitchFamily="49" charset="0"/>
                  </a:rPr>
                  <a:t>B</a:t>
                </a:r>
                <a:r>
                  <a:rPr lang="en-US" sz="1200" spc="-50" dirty="0" smtClean="0">
                    <a:latin typeface="Consolas" panose="020B0609020204030204" pitchFamily="49" charset="0"/>
                    <a:cs typeface="Consolas" panose="020B0609020204030204" pitchFamily="49" charset="0"/>
                  </a:rPr>
                  <a:t> </a:t>
                </a:r>
                <a:r>
                  <a:rPr lang="en-US" sz="1200" b="1" spc="-50" dirty="0" smtClean="0">
                    <a:latin typeface="Consolas" panose="020B0609020204030204" pitchFamily="49" charset="0"/>
                    <a:cs typeface="Consolas" panose="020B0609020204030204" pitchFamily="49" charset="0"/>
                  </a:rPr>
                  <a:t>On</a:t>
                </a:r>
                <a:r>
                  <a:rPr lang="en-US" sz="1200" spc="-50" dirty="0" smtClean="0">
                    <a:latin typeface="Consolas" panose="020B0609020204030204" pitchFamily="49" charset="0"/>
                    <a:cs typeface="Consolas" panose="020B0609020204030204" pitchFamily="49" charset="0"/>
                  </a:rPr>
                  <a:t> </a:t>
                </a:r>
                <a:r>
                  <a:rPr lang="en-US" sz="1200" spc="-50" dirty="0" smtClean="0">
                    <a:solidFill>
                      <a:srgbClr val="2F2364"/>
                    </a:solidFill>
                    <a:latin typeface="Consolas" panose="020B0609020204030204" pitchFamily="49" charset="0"/>
                    <a:cs typeface="Consolas" panose="020B0609020204030204" pitchFamily="49" charset="0"/>
                  </a:rPr>
                  <a:t>a</a:t>
                </a:r>
                <a:r>
                  <a:rPr lang="en-US" sz="1200" spc="-50" dirty="0" smtClean="0">
                    <a:latin typeface="Consolas" panose="020B0609020204030204" pitchFamily="49" charset="0"/>
                    <a:cs typeface="Consolas" panose="020B0609020204030204" pitchFamily="49" charset="0"/>
                  </a:rPr>
                  <a:t> </a:t>
                </a:r>
                <a:r>
                  <a:rPr lang="en-US" sz="1200" b="1" spc="-50" dirty="0" smtClean="0">
                    <a:latin typeface="Consolas" panose="020B0609020204030204" pitchFamily="49" charset="0"/>
                    <a:cs typeface="Consolas" panose="020B0609020204030204" pitchFamily="49" charset="0"/>
                  </a:rPr>
                  <a:t>-&gt;</a:t>
                </a:r>
                <a:r>
                  <a:rPr lang="en-US" sz="1200" spc="-50" dirty="0" smtClean="0">
                    <a:latin typeface="Consolas" panose="020B0609020204030204" pitchFamily="49" charset="0"/>
                    <a:cs typeface="Consolas" panose="020B0609020204030204" pitchFamily="49" charset="0"/>
                  </a:rPr>
                  <a:t> </a:t>
                </a:r>
                <a:r>
                  <a:rPr lang="en-US" sz="1200" spc="-50" dirty="0" smtClean="0">
                    <a:solidFill>
                      <a:srgbClr val="23642F"/>
                    </a:solidFill>
                    <a:latin typeface="Consolas" panose="020B0609020204030204" pitchFamily="49" charset="0"/>
                    <a:cs typeface="Consolas" panose="020B0609020204030204" pitchFamily="49" charset="0"/>
                  </a:rPr>
                  <a:t>b</a:t>
                </a:r>
              </a:p>
              <a:p>
                <a:pPr>
                  <a:lnSpc>
                    <a:spcPct val="90000"/>
                  </a:lnSpc>
                </a:pPr>
                <a:r>
                  <a:rPr lang="en-US" sz="1200" spc="-50" dirty="0" smtClean="0">
                    <a:latin typeface="Consolas" panose="020B0609020204030204" pitchFamily="49" charset="0"/>
                    <a:cs typeface="Consolas" panose="020B0609020204030204" pitchFamily="49" charset="0"/>
                  </a:rPr>
                  <a:t>  </a:t>
                </a:r>
                <a:r>
                  <a:rPr lang="en-US" sz="1200" b="1" spc="-50" dirty="0" err="1" smtClean="0">
                    <a:latin typeface="Consolas" panose="020B0609020204030204" pitchFamily="49" charset="0"/>
                    <a:cs typeface="Consolas" panose="020B0609020204030204" pitchFamily="49" charset="0"/>
                  </a:rPr>
                  <a:t>GroupBy</a:t>
                </a:r>
                <a:r>
                  <a:rPr lang="en-US" sz="1200" spc="-50" dirty="0" smtClean="0">
                    <a:latin typeface="Consolas" panose="020B0609020204030204" pitchFamily="49" charset="0"/>
                    <a:cs typeface="Consolas" panose="020B0609020204030204" pitchFamily="49" charset="0"/>
                  </a:rPr>
                  <a:t> </a:t>
                </a:r>
                <a:r>
                  <a:rPr lang="en-US" sz="1200" spc="-50" dirty="0" err="1" smtClean="0">
                    <a:solidFill>
                      <a:srgbClr val="2F2364"/>
                    </a:solidFill>
                    <a:latin typeface="Consolas" panose="020B0609020204030204" pitchFamily="49" charset="0"/>
                    <a:cs typeface="Consolas" panose="020B0609020204030204" pitchFamily="49" charset="0"/>
                  </a:rPr>
                  <a:t>a.procName</a:t>
                </a:r>
                <a:endParaRPr lang="en-US" sz="1200" spc="-50" dirty="0" smtClean="0">
                  <a:solidFill>
                    <a:srgbClr val="2F2364"/>
                  </a:solidFill>
                  <a:latin typeface="Consolas" panose="020B0609020204030204" pitchFamily="49" charset="0"/>
                  <a:cs typeface="Consolas" panose="020B0609020204030204" pitchFamily="49" charset="0"/>
                </a:endParaRPr>
              </a:p>
              <a:p>
                <a:pPr>
                  <a:lnSpc>
                    <a:spcPct val="90000"/>
                  </a:lnSpc>
                </a:pPr>
                <a:r>
                  <a:rPr lang="en-US" sz="1200" spc="-50" dirty="0" smtClean="0">
                    <a:solidFill>
                      <a:srgbClr val="23642F"/>
                    </a:solidFill>
                    <a:latin typeface="Consolas" panose="020B0609020204030204" pitchFamily="49" charset="0"/>
                    <a:cs typeface="Consolas" panose="020B0609020204030204" pitchFamily="49" charset="0"/>
                  </a:rPr>
                  <a:t>  </a:t>
                </a:r>
                <a:r>
                  <a:rPr lang="en-US" sz="1200" b="1" spc="-50" dirty="0" smtClean="0">
                    <a:latin typeface="Consolas" panose="020B0609020204030204" pitchFamily="49" charset="0"/>
                    <a:cs typeface="Consolas" panose="020B0609020204030204" pitchFamily="49" charset="0"/>
                  </a:rPr>
                  <a:t>Select</a:t>
                </a:r>
                <a:r>
                  <a:rPr lang="en-US" sz="1200" spc="-50" dirty="0" smtClean="0">
                    <a:latin typeface="Consolas" panose="020B0609020204030204" pitchFamily="49" charset="0"/>
                    <a:cs typeface="Consolas" panose="020B0609020204030204" pitchFamily="49" charset="0"/>
                  </a:rPr>
                  <a:t> </a:t>
                </a:r>
                <a:r>
                  <a:rPr lang="en-US" sz="1200" spc="-50" dirty="0" err="1" smtClean="0">
                    <a:solidFill>
                      <a:srgbClr val="2F2364"/>
                    </a:solidFill>
                    <a:latin typeface="Consolas" panose="020B0609020204030204" pitchFamily="49" charset="0"/>
                    <a:cs typeface="Consolas" panose="020B0609020204030204" pitchFamily="49" charset="0"/>
                  </a:rPr>
                  <a:t>a.procName</a:t>
                </a:r>
                <a:r>
                  <a:rPr lang="en-US" sz="1200" spc="-50" dirty="0" smtClean="0">
                    <a:latin typeface="Consolas" panose="020B0609020204030204" pitchFamily="49" charset="0"/>
                    <a:cs typeface="Consolas" panose="020B0609020204030204" pitchFamily="49" charset="0"/>
                  </a:rPr>
                  <a:t>,</a:t>
                </a:r>
                <a:r>
                  <a:rPr lang="en-US" sz="1200" spc="-50" dirty="0" smtClean="0">
                    <a:solidFill>
                      <a:srgbClr val="23642F"/>
                    </a:solidFill>
                    <a:latin typeface="Consolas" panose="020B0609020204030204" pitchFamily="49" charset="0"/>
                    <a:cs typeface="Consolas" panose="020B0609020204030204" pitchFamily="49" charset="0"/>
                  </a:rPr>
                  <a:t> </a:t>
                </a:r>
                <a:r>
                  <a:rPr lang="en-US" sz="1200" b="1" spc="-50" dirty="0" smtClean="0">
                    <a:latin typeface="Consolas" panose="020B0609020204030204" pitchFamily="49" charset="0"/>
                    <a:cs typeface="Consolas" panose="020B0609020204030204" pitchFamily="49" charset="0"/>
                  </a:rPr>
                  <a:t>SUM(</a:t>
                </a:r>
                <a:r>
                  <a:rPr lang="en-US" sz="1200" spc="-50" dirty="0" err="1" smtClean="0">
                    <a:solidFill>
                      <a:srgbClr val="23642F"/>
                    </a:solidFill>
                    <a:latin typeface="Consolas" panose="020B0609020204030204" pitchFamily="49" charset="0"/>
                    <a:cs typeface="Consolas" panose="020B0609020204030204" pitchFamily="49" charset="0"/>
                  </a:rPr>
                  <a:t>b.delta</a:t>
                </a:r>
                <a:r>
                  <a:rPr lang="en-US" sz="1200" b="1" spc="-50" dirty="0" smtClean="0">
                    <a:latin typeface="Consolas" panose="020B0609020204030204" pitchFamily="49" charset="0"/>
                    <a:cs typeface="Consolas" panose="020B0609020204030204" pitchFamily="49" charset="0"/>
                  </a:rPr>
                  <a:t>)</a:t>
                </a:r>
              </a:p>
            </p:txBody>
          </p:sp>
          <p:grpSp>
            <p:nvGrpSpPr>
              <p:cNvPr id="13" name="Group 12"/>
              <p:cNvGrpSpPr/>
              <p:nvPr/>
            </p:nvGrpSpPr>
            <p:grpSpPr>
              <a:xfrm>
                <a:off x="6875516" y="3691017"/>
                <a:ext cx="1923100" cy="584961"/>
                <a:chOff x="7149216" y="3891042"/>
                <a:chExt cx="1923100" cy="584961"/>
              </a:xfrm>
            </p:grpSpPr>
            <p:sp>
              <p:nvSpPr>
                <p:cNvPr id="66" name="Rounded Rectangle 65"/>
                <p:cNvSpPr/>
                <p:nvPr/>
              </p:nvSpPr>
              <p:spPr>
                <a:xfrm>
                  <a:off x="7149216" y="3904387"/>
                  <a:ext cx="1919688" cy="571616"/>
                </a:xfrm>
                <a:prstGeom prst="roundRect">
                  <a:avLst>
                    <a:gd name="adj" fmla="val 18490"/>
                  </a:avLst>
                </a:prstGeom>
                <a:solidFill>
                  <a:srgbClr val="E1E1FF"/>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r>
                    <a:rPr lang="en-US" sz="1100" b="1" dirty="0" smtClean="0">
                      <a:solidFill>
                        <a:schemeClr val="tx1"/>
                      </a:solidFill>
                      <a:cs typeface="Consolas" panose="020B0609020204030204" pitchFamily="49" charset="0"/>
                    </a:rPr>
                    <a:t>Advice A1</a:t>
                  </a:r>
                </a:p>
                <a:p>
                  <a:r>
                    <a:rPr lang="en-US" sz="1100" b="1" dirty="0" smtClean="0">
                      <a:solidFill>
                        <a:schemeClr val="tx1"/>
                      </a:solidFill>
                      <a:latin typeface="+mj-lt"/>
                      <a:cs typeface="Consolas" panose="020B0609020204030204" pitchFamily="49" charset="0"/>
                    </a:rPr>
                    <a:t>OBSERVE</a:t>
                  </a:r>
                  <a:r>
                    <a:rPr lang="en-US" sz="1100" dirty="0">
                      <a:solidFill>
                        <a:schemeClr val="tx1"/>
                      </a:solidFill>
                      <a:latin typeface="Consolas" panose="020B0609020204030204" pitchFamily="49" charset="0"/>
                      <a:cs typeface="Consolas" panose="020B0609020204030204" pitchFamily="49" charset="0"/>
                    </a:rPr>
                    <a:t>	</a:t>
                  </a:r>
                  <a:r>
                    <a:rPr lang="en-US" sz="1100" dirty="0" err="1" smtClean="0">
                      <a:solidFill>
                        <a:schemeClr val="tx1"/>
                      </a:solidFill>
                      <a:latin typeface="Consolas" panose="020B0609020204030204" pitchFamily="49" charset="0"/>
                      <a:cs typeface="Consolas" panose="020B0609020204030204" pitchFamily="49" charset="0"/>
                    </a:rPr>
                    <a:t>procName</a:t>
                  </a:r>
                  <a:endParaRPr lang="en-US" sz="1100" dirty="0" smtClean="0">
                    <a:solidFill>
                      <a:schemeClr val="tx1"/>
                    </a:solidFill>
                    <a:latin typeface="Consolas" panose="020B0609020204030204" pitchFamily="49" charset="0"/>
                    <a:cs typeface="Consolas" panose="020B0609020204030204" pitchFamily="49" charset="0"/>
                  </a:endParaRPr>
                </a:p>
                <a:p>
                  <a:r>
                    <a:rPr lang="en-US" sz="1100" b="1" dirty="0" smtClean="0">
                      <a:solidFill>
                        <a:schemeClr val="tx1"/>
                      </a:solidFill>
                      <a:latin typeface="+mj-lt"/>
                      <a:cs typeface="Consolas" panose="020B0609020204030204" pitchFamily="49" charset="0"/>
                    </a:rPr>
                    <a:t>PACK</a:t>
                  </a:r>
                  <a:r>
                    <a:rPr lang="en-US" sz="1100" dirty="0" smtClean="0">
                      <a:solidFill>
                        <a:schemeClr val="tx1"/>
                      </a:solidFill>
                      <a:latin typeface="Consolas" panose="020B0609020204030204" pitchFamily="49" charset="0"/>
                      <a:cs typeface="Consolas" panose="020B0609020204030204" pitchFamily="49" charset="0"/>
                    </a:rPr>
                    <a:t>	</a:t>
                  </a:r>
                  <a:r>
                    <a:rPr lang="en-US" sz="1100" dirty="0" err="1" smtClean="0">
                      <a:solidFill>
                        <a:schemeClr val="tx1"/>
                      </a:solidFill>
                      <a:latin typeface="Consolas" panose="020B0609020204030204" pitchFamily="49" charset="0"/>
                      <a:cs typeface="Consolas" panose="020B0609020204030204" pitchFamily="49" charset="0"/>
                    </a:rPr>
                    <a:t>procName</a:t>
                  </a:r>
                  <a:endParaRPr lang="en-US" sz="1100" b="1" dirty="0" smtClean="0">
                    <a:solidFill>
                      <a:schemeClr val="tx1"/>
                    </a:solidFill>
                    <a:latin typeface="+mj-lt"/>
                    <a:cs typeface="Consolas" panose="020B0609020204030204" pitchFamily="49" charset="0"/>
                  </a:endParaRPr>
                </a:p>
              </p:txBody>
            </p:sp>
            <p:sp>
              <p:nvSpPr>
                <p:cNvPr id="68" name="Tracepoint 3"/>
                <p:cNvSpPr/>
                <p:nvPr/>
              </p:nvSpPr>
              <p:spPr>
                <a:xfrm>
                  <a:off x="8767516" y="3891042"/>
                  <a:ext cx="304800" cy="304800"/>
                </a:xfrm>
                <a:prstGeom prst="ellipse">
                  <a:avLst/>
                </a:prstGeom>
                <a:solidFill>
                  <a:srgbClr val="FFE1E1"/>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A</a:t>
                  </a:r>
                  <a:endParaRPr lang="en-US" b="1" dirty="0">
                    <a:solidFill>
                      <a:schemeClr val="tx1"/>
                    </a:solidFill>
                  </a:endParaRPr>
                </a:p>
              </p:txBody>
            </p:sp>
          </p:grpSp>
          <p:grpSp>
            <p:nvGrpSpPr>
              <p:cNvPr id="14" name="Group 13"/>
              <p:cNvGrpSpPr/>
              <p:nvPr/>
            </p:nvGrpSpPr>
            <p:grpSpPr>
              <a:xfrm>
                <a:off x="6621290" y="4254498"/>
                <a:ext cx="2431553" cy="762799"/>
                <a:chOff x="6701541" y="4454523"/>
                <a:chExt cx="2431553" cy="762799"/>
              </a:xfrm>
            </p:grpSpPr>
            <p:sp>
              <p:nvSpPr>
                <p:cNvPr id="67" name="Rounded Rectangle 66"/>
                <p:cNvSpPr/>
                <p:nvPr/>
              </p:nvSpPr>
              <p:spPr>
                <a:xfrm>
                  <a:off x="6701541" y="4463100"/>
                  <a:ext cx="2431553" cy="754222"/>
                </a:xfrm>
                <a:prstGeom prst="roundRect">
                  <a:avLst>
                    <a:gd name="adj" fmla="val 18490"/>
                  </a:avLst>
                </a:prstGeom>
                <a:solidFill>
                  <a:srgbClr val="E1E1FF"/>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r>
                    <a:rPr lang="en-US" sz="1100" b="1" dirty="0" smtClean="0">
                      <a:solidFill>
                        <a:schemeClr val="tx1"/>
                      </a:solidFill>
                      <a:cs typeface="Consolas" panose="020B0609020204030204" pitchFamily="49" charset="0"/>
                    </a:rPr>
                    <a:t>Advice B1</a:t>
                  </a:r>
                </a:p>
                <a:p>
                  <a:r>
                    <a:rPr lang="en-US" sz="1100" b="1" dirty="0" smtClean="0">
                      <a:solidFill>
                        <a:schemeClr val="tx1"/>
                      </a:solidFill>
                      <a:latin typeface="+mj-lt"/>
                      <a:cs typeface="Consolas" panose="020B0609020204030204" pitchFamily="49" charset="0"/>
                    </a:rPr>
                    <a:t>OBSERVE</a:t>
                  </a:r>
                  <a:r>
                    <a:rPr lang="en-US" sz="1100" dirty="0">
                      <a:solidFill>
                        <a:schemeClr val="tx1"/>
                      </a:solidFill>
                      <a:latin typeface="Consolas" panose="020B0609020204030204" pitchFamily="49" charset="0"/>
                      <a:cs typeface="Consolas" panose="020B0609020204030204" pitchFamily="49" charset="0"/>
                    </a:rPr>
                    <a:t>	</a:t>
                  </a:r>
                  <a:r>
                    <a:rPr lang="en-US" sz="1100" dirty="0" smtClean="0">
                      <a:solidFill>
                        <a:schemeClr val="tx1"/>
                      </a:solidFill>
                      <a:latin typeface="Consolas" panose="020B0609020204030204" pitchFamily="49" charset="0"/>
                      <a:cs typeface="Consolas" panose="020B0609020204030204" pitchFamily="49" charset="0"/>
                    </a:rPr>
                    <a:t>delta</a:t>
                  </a:r>
                </a:p>
                <a:p>
                  <a:r>
                    <a:rPr lang="en-US" sz="1100" b="1" dirty="0" smtClean="0">
                      <a:solidFill>
                        <a:schemeClr val="tx1"/>
                      </a:solidFill>
                      <a:latin typeface="+mj-lt"/>
                      <a:cs typeface="Consolas" panose="020B0609020204030204" pitchFamily="49" charset="0"/>
                    </a:rPr>
                    <a:t>UNPACK</a:t>
                  </a:r>
                  <a:r>
                    <a:rPr lang="en-US" sz="1100" dirty="0" smtClean="0">
                      <a:solidFill>
                        <a:schemeClr val="tx1"/>
                      </a:solidFill>
                      <a:latin typeface="Consolas" panose="020B0609020204030204" pitchFamily="49" charset="0"/>
                      <a:cs typeface="Consolas" panose="020B0609020204030204" pitchFamily="49" charset="0"/>
                    </a:rPr>
                    <a:t>	</a:t>
                  </a:r>
                  <a:r>
                    <a:rPr lang="en-US" sz="1100" dirty="0" err="1" smtClean="0">
                      <a:solidFill>
                        <a:schemeClr val="tx1"/>
                      </a:solidFill>
                      <a:latin typeface="Consolas" panose="020B0609020204030204" pitchFamily="49" charset="0"/>
                      <a:cs typeface="Consolas" panose="020B0609020204030204" pitchFamily="49" charset="0"/>
                    </a:rPr>
                    <a:t>procName</a:t>
                  </a:r>
                  <a:endParaRPr lang="en-US" sz="1100" dirty="0" smtClean="0">
                    <a:solidFill>
                      <a:schemeClr val="tx1"/>
                    </a:solidFill>
                    <a:latin typeface="Consolas" panose="020B0609020204030204" pitchFamily="49" charset="0"/>
                    <a:cs typeface="Consolas" panose="020B0609020204030204" pitchFamily="49" charset="0"/>
                  </a:endParaRPr>
                </a:p>
                <a:p>
                  <a:r>
                    <a:rPr lang="en-US" sz="1100" b="1" dirty="0" smtClean="0">
                      <a:solidFill>
                        <a:schemeClr val="tx1"/>
                      </a:solidFill>
                      <a:latin typeface="+mj-lt"/>
                      <a:cs typeface="Consolas" panose="020B0609020204030204" pitchFamily="49" charset="0"/>
                    </a:rPr>
                    <a:t>EMIT</a:t>
                  </a:r>
                  <a:r>
                    <a:rPr lang="en-US" sz="1100" dirty="0" smtClean="0">
                      <a:solidFill>
                        <a:schemeClr val="tx1"/>
                      </a:solidFill>
                      <a:latin typeface="Consolas" panose="020B0609020204030204" pitchFamily="49" charset="0"/>
                      <a:cs typeface="Consolas" panose="020B0609020204030204" pitchFamily="49" charset="0"/>
                    </a:rPr>
                    <a:t> 	</a:t>
                  </a:r>
                  <a:r>
                    <a:rPr lang="en-US" sz="1100" dirty="0" err="1" smtClean="0">
                      <a:solidFill>
                        <a:schemeClr val="tx1"/>
                      </a:solidFill>
                      <a:latin typeface="Consolas" panose="020B0609020204030204" pitchFamily="49" charset="0"/>
                      <a:cs typeface="Consolas" panose="020B0609020204030204" pitchFamily="49" charset="0"/>
                    </a:rPr>
                    <a:t>procName</a:t>
                  </a:r>
                  <a:r>
                    <a:rPr lang="en-US" sz="1100" b="1" dirty="0" smtClean="0">
                      <a:solidFill>
                        <a:schemeClr val="tx1"/>
                      </a:solidFill>
                      <a:latin typeface="+mj-lt"/>
                      <a:cs typeface="Consolas" panose="020B0609020204030204" pitchFamily="49" charset="0"/>
                    </a:rPr>
                    <a:t>, SUM(</a:t>
                  </a:r>
                  <a:r>
                    <a:rPr lang="en-US" sz="1100" dirty="0" smtClean="0">
                      <a:solidFill>
                        <a:schemeClr val="tx1"/>
                      </a:solidFill>
                      <a:latin typeface="Consolas" panose="020B0609020204030204" pitchFamily="49" charset="0"/>
                      <a:cs typeface="Consolas" panose="020B0609020204030204" pitchFamily="49" charset="0"/>
                    </a:rPr>
                    <a:t>delta</a:t>
                  </a:r>
                  <a:r>
                    <a:rPr lang="en-US" sz="1100" b="1" dirty="0" smtClean="0">
                      <a:solidFill>
                        <a:schemeClr val="tx1"/>
                      </a:solidFill>
                      <a:latin typeface="+mj-lt"/>
                      <a:cs typeface="Consolas" panose="020B0609020204030204" pitchFamily="49" charset="0"/>
                    </a:rPr>
                    <a:t>)</a:t>
                  </a:r>
                </a:p>
              </p:txBody>
            </p:sp>
            <p:sp>
              <p:nvSpPr>
                <p:cNvPr id="69" name="Tracepoint 3"/>
                <p:cNvSpPr/>
                <p:nvPr/>
              </p:nvSpPr>
              <p:spPr>
                <a:xfrm>
                  <a:off x="8828294" y="4454523"/>
                  <a:ext cx="304800" cy="304800"/>
                </a:xfrm>
                <a:prstGeom prst="ellipse">
                  <a:avLst/>
                </a:prstGeom>
                <a:solidFill>
                  <a:srgbClr val="FFE1E1"/>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B</a:t>
                  </a:r>
                  <a:endParaRPr lang="en-US" b="1" dirty="0">
                    <a:solidFill>
                      <a:schemeClr val="tx1"/>
                    </a:solidFill>
                  </a:endParaRPr>
                </a:p>
              </p:txBody>
            </p:sp>
          </p:grpSp>
        </p:grpSp>
        <p:cxnSp>
          <p:nvCxnSpPr>
            <p:cNvPr id="12" name="Straight Connector 11"/>
            <p:cNvCxnSpPr/>
            <p:nvPr/>
          </p:nvCxnSpPr>
          <p:spPr>
            <a:xfrm>
              <a:off x="6286500" y="1578779"/>
              <a:ext cx="0" cy="343851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Slide Number Placeholder 3"/>
          <p:cNvSpPr>
            <a:spLocks noGrp="1"/>
          </p:cNvSpPr>
          <p:nvPr>
            <p:ph type="sldNum" sz="quarter" idx="12"/>
          </p:nvPr>
        </p:nvSpPr>
        <p:spPr/>
        <p:txBody>
          <a:bodyPr/>
          <a:lstStyle/>
          <a:p>
            <a:fld id="{D431E30F-8439-471B-9257-EDD8E85CDBC8}" type="slidenum">
              <a:rPr lang="en-US" smtClean="0"/>
              <a:t>45</a:t>
            </a:fld>
            <a:endParaRPr lang="en-US"/>
          </a:p>
        </p:txBody>
      </p:sp>
    </p:spTree>
    <p:extLst>
      <p:ext uri="{BB962C8B-B14F-4D97-AF65-F5344CB8AC3E}">
        <p14:creationId xmlns:p14="http://schemas.microsoft.com/office/powerpoint/2010/main" val="3861058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47286"/>
            <a:ext cx="7886700" cy="1325563"/>
          </a:xfrm>
        </p:spPr>
        <p:txBody>
          <a:bodyPr>
            <a:normAutofit/>
          </a:bodyPr>
          <a:lstStyle/>
          <a:p>
            <a:pPr algn="ctr"/>
            <a:r>
              <a:rPr lang="en-US" sz="6000" dirty="0" smtClean="0"/>
              <a:t>Pivot Tracing</a:t>
            </a:r>
            <a:endParaRPr lang="en-US" sz="6000" dirty="0"/>
          </a:p>
        </p:txBody>
      </p:sp>
      <p:sp>
        <p:nvSpPr>
          <p:cNvPr id="3" name="Content Placeholder 2"/>
          <p:cNvSpPr>
            <a:spLocks noGrp="1"/>
          </p:cNvSpPr>
          <p:nvPr>
            <p:ph idx="1"/>
          </p:nvPr>
        </p:nvSpPr>
        <p:spPr>
          <a:xfrm>
            <a:off x="-876195" y="4212253"/>
            <a:ext cx="7862711" cy="433176"/>
          </a:xfrm>
        </p:spPr>
        <p:txBody>
          <a:bodyPr anchor="t">
            <a:normAutofit/>
          </a:bodyPr>
          <a:lstStyle/>
          <a:p>
            <a:pPr marL="0" indent="0" algn="ctr">
              <a:buNone/>
            </a:pPr>
            <a:r>
              <a:rPr lang="en-US" sz="2400" dirty="0" smtClean="0"/>
              <a:t>Acceptable overheads for production (we think)</a:t>
            </a:r>
          </a:p>
        </p:txBody>
      </p:sp>
      <p:grpSp>
        <p:nvGrpSpPr>
          <p:cNvPr id="17" name="Group 16"/>
          <p:cNvGrpSpPr/>
          <p:nvPr/>
        </p:nvGrpSpPr>
        <p:grpSpPr>
          <a:xfrm>
            <a:off x="140463" y="3030227"/>
            <a:ext cx="5829395" cy="400110"/>
            <a:chOff x="147860" y="2916616"/>
            <a:chExt cx="5829395" cy="400110"/>
          </a:xfrm>
        </p:grpSpPr>
        <p:grpSp>
          <p:nvGrpSpPr>
            <p:cNvPr id="15" name="Group 14"/>
            <p:cNvGrpSpPr/>
            <p:nvPr/>
          </p:nvGrpSpPr>
          <p:grpSpPr>
            <a:xfrm>
              <a:off x="147860" y="2916616"/>
              <a:ext cx="3377846" cy="400110"/>
              <a:chOff x="147860" y="2923892"/>
              <a:chExt cx="3377846" cy="400110"/>
            </a:xfrm>
          </p:grpSpPr>
          <p:grpSp>
            <p:nvGrpSpPr>
              <p:cNvPr id="6" name="Group 5"/>
              <p:cNvGrpSpPr/>
              <p:nvPr/>
            </p:nvGrpSpPr>
            <p:grpSpPr>
              <a:xfrm>
                <a:off x="147860" y="2952795"/>
                <a:ext cx="560219" cy="342305"/>
                <a:chOff x="415365" y="3272655"/>
                <a:chExt cx="1046285" cy="639303"/>
              </a:xfrm>
            </p:grpSpPr>
            <p:sp>
              <p:nvSpPr>
                <p:cNvPr id="7" name="Freeform 6"/>
                <p:cNvSpPr/>
                <p:nvPr/>
              </p:nvSpPr>
              <p:spPr>
                <a:xfrm>
                  <a:off x="415365" y="3376988"/>
                  <a:ext cx="493032" cy="534970"/>
                </a:xfrm>
                <a:custGeom>
                  <a:avLst/>
                  <a:gdLst>
                    <a:gd name="connsiteX0" fmla="*/ 250470 w 278551"/>
                    <a:gd name="connsiteY0" fmla="*/ 185740 h 302245"/>
                    <a:gd name="connsiteX1" fmla="*/ 278551 w 278551"/>
                    <a:gd name="connsiteY1" fmla="*/ 212135 h 302245"/>
                    <a:gd name="connsiteX2" fmla="*/ 261752 w 278551"/>
                    <a:gd name="connsiteY2" fmla="*/ 241233 h 302245"/>
                    <a:gd name="connsiteX3" fmla="*/ 225317 w 278551"/>
                    <a:gd name="connsiteY3" fmla="*/ 230252 h 302245"/>
                    <a:gd name="connsiteX4" fmla="*/ 247440 w 278551"/>
                    <a:gd name="connsiteY4" fmla="*/ 199863 h 302245"/>
                    <a:gd name="connsiteX5" fmla="*/ 139274 w 278551"/>
                    <a:gd name="connsiteY5" fmla="*/ 84295 h 302245"/>
                    <a:gd name="connsiteX6" fmla="*/ 196885 w 278551"/>
                    <a:gd name="connsiteY6" fmla="*/ 113100 h 302245"/>
                    <a:gd name="connsiteX7" fmla="*/ 196884 w 278551"/>
                    <a:gd name="connsiteY7" fmla="*/ 114931 h 302245"/>
                    <a:gd name="connsiteX8" fmla="*/ 141702 w 278551"/>
                    <a:gd name="connsiteY8" fmla="*/ 86497 h 302245"/>
                    <a:gd name="connsiteX9" fmla="*/ 91232 w 278551"/>
                    <a:gd name="connsiteY9" fmla="*/ 110971 h 302245"/>
                    <a:gd name="connsiteX10" fmla="*/ 90180 w 278551"/>
                    <a:gd name="connsiteY10" fmla="*/ 108843 h 302245"/>
                    <a:gd name="connsiteX11" fmla="*/ 93907 w 278551"/>
                    <a:gd name="connsiteY11" fmla="*/ 56612 h 302245"/>
                    <a:gd name="connsiteX12" fmla="*/ 77529 w 278551"/>
                    <a:gd name="connsiteY12" fmla="*/ 83250 h 302245"/>
                    <a:gd name="connsiteX13" fmla="*/ 90180 w 278551"/>
                    <a:gd name="connsiteY13" fmla="*/ 108843 h 302245"/>
                    <a:gd name="connsiteX14" fmla="*/ 81665 w 278551"/>
                    <a:gd name="connsiteY14" fmla="*/ 113100 h 302245"/>
                    <a:gd name="connsiteX15" fmla="*/ 81665 w 278551"/>
                    <a:gd name="connsiteY15" fmla="*/ 189144 h 302245"/>
                    <a:gd name="connsiteX16" fmla="*/ 139274 w 278551"/>
                    <a:gd name="connsiteY16" fmla="*/ 217949 h 302245"/>
                    <a:gd name="connsiteX17" fmla="*/ 196884 w 278551"/>
                    <a:gd name="connsiteY17" fmla="*/ 189144 h 302245"/>
                    <a:gd name="connsiteX18" fmla="*/ 196884 w 278551"/>
                    <a:gd name="connsiteY18" fmla="*/ 114931 h 302245"/>
                    <a:gd name="connsiteX19" fmla="*/ 198958 w 278551"/>
                    <a:gd name="connsiteY19" fmla="*/ 115999 h 302245"/>
                    <a:gd name="connsiteX20" fmla="*/ 198034 w 278551"/>
                    <a:gd name="connsiteY20" fmla="*/ 192038 h 302245"/>
                    <a:gd name="connsiteX21" fmla="*/ 144208 w 278551"/>
                    <a:gd name="connsiteY21" fmla="*/ 218139 h 302245"/>
                    <a:gd name="connsiteX22" fmla="*/ 155568 w 278551"/>
                    <a:gd name="connsiteY22" fmla="*/ 241121 h 302245"/>
                    <a:gd name="connsiteX23" fmla="*/ 182697 w 278551"/>
                    <a:gd name="connsiteY23" fmla="*/ 246757 h 302245"/>
                    <a:gd name="connsiteX24" fmla="*/ 166987 w 278551"/>
                    <a:gd name="connsiteY24" fmla="*/ 255827 h 302245"/>
                    <a:gd name="connsiteX25" fmla="*/ 156075 w 278551"/>
                    <a:gd name="connsiteY25" fmla="*/ 302245 h 302245"/>
                    <a:gd name="connsiteX26" fmla="*/ 122476 w 278551"/>
                    <a:gd name="connsiteY26" fmla="*/ 302245 h 302245"/>
                    <a:gd name="connsiteX27" fmla="*/ 111565 w 278551"/>
                    <a:gd name="connsiteY27" fmla="*/ 255827 h 302245"/>
                    <a:gd name="connsiteX28" fmla="*/ 62455 w 278551"/>
                    <a:gd name="connsiteY28" fmla="*/ 227473 h 302245"/>
                    <a:gd name="connsiteX29" fmla="*/ 16799 w 278551"/>
                    <a:gd name="connsiteY29" fmla="*/ 241233 h 302245"/>
                    <a:gd name="connsiteX30" fmla="*/ 0 w 278551"/>
                    <a:gd name="connsiteY30" fmla="*/ 212135 h 302245"/>
                    <a:gd name="connsiteX31" fmla="*/ 34743 w 278551"/>
                    <a:gd name="connsiteY31" fmla="*/ 179476 h 302245"/>
                    <a:gd name="connsiteX32" fmla="*/ 34743 w 278551"/>
                    <a:gd name="connsiteY32" fmla="*/ 122768 h 302245"/>
                    <a:gd name="connsiteX33" fmla="*/ 0 w 278551"/>
                    <a:gd name="connsiteY33" fmla="*/ 90110 h 302245"/>
                    <a:gd name="connsiteX34" fmla="*/ 16799 w 278551"/>
                    <a:gd name="connsiteY34" fmla="*/ 61012 h 302245"/>
                    <a:gd name="connsiteX35" fmla="*/ 62454 w 278551"/>
                    <a:gd name="connsiteY35" fmla="*/ 74772 h 302245"/>
                    <a:gd name="connsiteX36" fmla="*/ 122476 w 278551"/>
                    <a:gd name="connsiteY36" fmla="*/ 0 h 302245"/>
                    <a:gd name="connsiteX37" fmla="*/ 156075 w 278551"/>
                    <a:gd name="connsiteY37" fmla="*/ 0 h 302245"/>
                    <a:gd name="connsiteX38" fmla="*/ 165987 w 278551"/>
                    <a:gd name="connsiteY38" fmla="*/ 42169 h 302245"/>
                    <a:gd name="connsiteX39" fmla="*/ 142303 w 278551"/>
                    <a:gd name="connsiteY39" fmla="*/ 37087 h 302245"/>
                    <a:gd name="connsiteX40" fmla="*/ 112428 w 278551"/>
                    <a:gd name="connsiteY40" fmla="*/ 42742 h 30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78551" h="302245">
                      <a:moveTo>
                        <a:pt x="250470" y="185740"/>
                      </a:moveTo>
                      <a:lnTo>
                        <a:pt x="278551" y="212135"/>
                      </a:lnTo>
                      <a:lnTo>
                        <a:pt x="261752" y="241233"/>
                      </a:lnTo>
                      <a:lnTo>
                        <a:pt x="225317" y="230252"/>
                      </a:lnTo>
                      <a:lnTo>
                        <a:pt x="247440" y="199863"/>
                      </a:lnTo>
                      <a:close/>
                      <a:moveTo>
                        <a:pt x="139274" y="84295"/>
                      </a:moveTo>
                      <a:lnTo>
                        <a:pt x="196885" y="113100"/>
                      </a:lnTo>
                      <a:lnTo>
                        <a:pt x="196884" y="114931"/>
                      </a:lnTo>
                      <a:lnTo>
                        <a:pt x="141702" y="86497"/>
                      </a:lnTo>
                      <a:lnTo>
                        <a:pt x="91232" y="110971"/>
                      </a:lnTo>
                      <a:lnTo>
                        <a:pt x="90180" y="108843"/>
                      </a:lnTo>
                      <a:close/>
                      <a:moveTo>
                        <a:pt x="93907" y="56612"/>
                      </a:moveTo>
                      <a:lnTo>
                        <a:pt x="77529" y="83250"/>
                      </a:lnTo>
                      <a:lnTo>
                        <a:pt x="90180" y="108843"/>
                      </a:lnTo>
                      <a:lnTo>
                        <a:pt x="81665" y="113100"/>
                      </a:lnTo>
                      <a:lnTo>
                        <a:pt x="81665" y="189144"/>
                      </a:lnTo>
                      <a:lnTo>
                        <a:pt x="139274" y="217949"/>
                      </a:lnTo>
                      <a:lnTo>
                        <a:pt x="196884" y="189144"/>
                      </a:lnTo>
                      <a:lnTo>
                        <a:pt x="196884" y="114931"/>
                      </a:lnTo>
                      <a:lnTo>
                        <a:pt x="198958" y="115999"/>
                      </a:lnTo>
                      <a:lnTo>
                        <a:pt x="198034" y="192038"/>
                      </a:lnTo>
                      <a:lnTo>
                        <a:pt x="144208" y="218139"/>
                      </a:lnTo>
                      <a:lnTo>
                        <a:pt x="155568" y="241121"/>
                      </a:lnTo>
                      <a:lnTo>
                        <a:pt x="182697" y="246757"/>
                      </a:lnTo>
                      <a:lnTo>
                        <a:pt x="166987" y="255827"/>
                      </a:lnTo>
                      <a:lnTo>
                        <a:pt x="156075" y="302245"/>
                      </a:lnTo>
                      <a:lnTo>
                        <a:pt x="122476" y="302245"/>
                      </a:lnTo>
                      <a:lnTo>
                        <a:pt x="111565" y="255827"/>
                      </a:lnTo>
                      <a:cubicBezTo>
                        <a:pt x="92967" y="250905"/>
                        <a:pt x="76016" y="241118"/>
                        <a:pt x="62455" y="227473"/>
                      </a:cubicBezTo>
                      <a:lnTo>
                        <a:pt x="16799" y="241233"/>
                      </a:lnTo>
                      <a:lnTo>
                        <a:pt x="0" y="212135"/>
                      </a:lnTo>
                      <a:lnTo>
                        <a:pt x="34743" y="179476"/>
                      </a:lnTo>
                      <a:cubicBezTo>
                        <a:pt x="29707" y="160909"/>
                        <a:pt x="29707" y="141335"/>
                        <a:pt x="34743" y="122768"/>
                      </a:cubicBezTo>
                      <a:lnTo>
                        <a:pt x="0" y="90110"/>
                      </a:lnTo>
                      <a:lnTo>
                        <a:pt x="16799" y="61012"/>
                      </a:lnTo>
                      <a:lnTo>
                        <a:pt x="62454" y="74772"/>
                      </a:lnTo>
                      <a:close/>
                      <a:moveTo>
                        <a:pt x="122476" y="0"/>
                      </a:moveTo>
                      <a:lnTo>
                        <a:pt x="156075" y="0"/>
                      </a:lnTo>
                      <a:lnTo>
                        <a:pt x="165987" y="42169"/>
                      </a:lnTo>
                      <a:lnTo>
                        <a:pt x="142303" y="37087"/>
                      </a:lnTo>
                      <a:lnTo>
                        <a:pt x="112428" y="42742"/>
                      </a:lnTo>
                      <a:close/>
                    </a:path>
                  </a:pathLst>
                </a:custGeom>
                <a:solidFill>
                  <a:schemeClr val="accent4"/>
                </a:solidFill>
                <a:ln w="2857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8" name="Freeform 7"/>
                <p:cNvSpPr/>
                <p:nvPr/>
              </p:nvSpPr>
              <p:spPr>
                <a:xfrm rot="20021754">
                  <a:off x="580509" y="3272655"/>
                  <a:ext cx="881141" cy="399985"/>
                </a:xfrm>
                <a:custGeom>
                  <a:avLst/>
                  <a:gdLst>
                    <a:gd name="connsiteX0" fmla="*/ 816859 w 881141"/>
                    <a:gd name="connsiteY0" fmla="*/ 93843 h 399985"/>
                    <a:gd name="connsiteX1" fmla="*/ 881141 w 881141"/>
                    <a:gd name="connsiteY1" fmla="*/ 190824 h 399985"/>
                    <a:gd name="connsiteX2" fmla="*/ 775889 w 881141"/>
                    <a:gd name="connsiteY2" fmla="*/ 296076 h 399985"/>
                    <a:gd name="connsiteX3" fmla="*/ 227922 w 881141"/>
                    <a:gd name="connsiteY3" fmla="*/ 296076 h 399985"/>
                    <a:gd name="connsiteX4" fmla="*/ 178135 w 881141"/>
                    <a:gd name="connsiteY4" fmla="*/ 358860 h 399985"/>
                    <a:gd name="connsiteX5" fmla="*/ 99698 w 881141"/>
                    <a:gd name="connsiteY5" fmla="*/ 399937 h 399985"/>
                    <a:gd name="connsiteX6" fmla="*/ 98734 w 881141"/>
                    <a:gd name="connsiteY6" fmla="*/ 399985 h 399985"/>
                    <a:gd name="connsiteX7" fmla="*/ 41671 w 881141"/>
                    <a:gd name="connsiteY7" fmla="*/ 384868 h 399985"/>
                    <a:gd name="connsiteX8" fmla="*/ 0 w 881141"/>
                    <a:gd name="connsiteY8" fmla="*/ 352264 h 399985"/>
                    <a:gd name="connsiteX9" fmla="*/ 0 w 881141"/>
                    <a:gd name="connsiteY9" fmla="*/ 306889 h 399985"/>
                    <a:gd name="connsiteX10" fmla="*/ 105879 w 881141"/>
                    <a:gd name="connsiteY10" fmla="*/ 307693 h 399985"/>
                    <a:gd name="connsiteX11" fmla="*/ 166986 w 881141"/>
                    <a:gd name="connsiteY11" fmla="*/ 187765 h 399985"/>
                    <a:gd name="connsiteX12" fmla="*/ 165060 w 881141"/>
                    <a:gd name="connsiteY12" fmla="*/ 185156 h 399985"/>
                    <a:gd name="connsiteX13" fmla="*/ 167580 w 881141"/>
                    <a:gd name="connsiteY13" fmla="*/ 180056 h 399985"/>
                    <a:gd name="connsiteX14" fmla="*/ 96285 w 881141"/>
                    <a:gd name="connsiteY14" fmla="*/ 85892 h 399985"/>
                    <a:gd name="connsiteX15" fmla="*/ 0 w 881141"/>
                    <a:gd name="connsiteY15" fmla="*/ 86330 h 399985"/>
                    <a:gd name="connsiteX16" fmla="*/ 0 w 881141"/>
                    <a:gd name="connsiteY16" fmla="*/ 40559 h 399985"/>
                    <a:gd name="connsiteX17" fmla="*/ 61500 w 881141"/>
                    <a:gd name="connsiteY17" fmla="*/ 1965 h 399985"/>
                    <a:gd name="connsiteX18" fmla="*/ 74035 w 881141"/>
                    <a:gd name="connsiteY18" fmla="*/ 0 h 399985"/>
                    <a:gd name="connsiteX19" fmla="*/ 138985 w 881141"/>
                    <a:gd name="connsiteY19" fmla="*/ 18118 h 399985"/>
                    <a:gd name="connsiteX20" fmla="*/ 203002 w 881141"/>
                    <a:gd name="connsiteY20" fmla="*/ 68881 h 399985"/>
                    <a:gd name="connsiteX21" fmla="*/ 212257 w 881141"/>
                    <a:gd name="connsiteY21" fmla="*/ 85572 h 399985"/>
                    <a:gd name="connsiteX22" fmla="*/ 775889 w 881141"/>
                    <a:gd name="connsiteY22" fmla="*/ 85572 h 399985"/>
                    <a:gd name="connsiteX23" fmla="*/ 816859 w 881141"/>
                    <a:gd name="connsiteY23" fmla="*/ 93843 h 399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81141" h="399985">
                      <a:moveTo>
                        <a:pt x="816859" y="93843"/>
                      </a:moveTo>
                      <a:cubicBezTo>
                        <a:pt x="854635" y="109821"/>
                        <a:pt x="881141" y="147227"/>
                        <a:pt x="881141" y="190824"/>
                      </a:cubicBezTo>
                      <a:cubicBezTo>
                        <a:pt x="881141" y="248954"/>
                        <a:pt x="834019" y="296076"/>
                        <a:pt x="775889" y="296076"/>
                      </a:cubicBezTo>
                      <a:lnTo>
                        <a:pt x="227922" y="296076"/>
                      </a:lnTo>
                      <a:lnTo>
                        <a:pt x="178135" y="358860"/>
                      </a:lnTo>
                      <a:cubicBezTo>
                        <a:pt x="155127" y="378216"/>
                        <a:pt x="128278" y="392137"/>
                        <a:pt x="99698" y="399937"/>
                      </a:cubicBezTo>
                      <a:lnTo>
                        <a:pt x="98734" y="399985"/>
                      </a:lnTo>
                      <a:lnTo>
                        <a:pt x="41671" y="384868"/>
                      </a:lnTo>
                      <a:lnTo>
                        <a:pt x="0" y="352264"/>
                      </a:lnTo>
                      <a:lnTo>
                        <a:pt x="0" y="306889"/>
                      </a:lnTo>
                      <a:lnTo>
                        <a:pt x="105879" y="307693"/>
                      </a:lnTo>
                      <a:lnTo>
                        <a:pt x="166986" y="187765"/>
                      </a:lnTo>
                      <a:lnTo>
                        <a:pt x="165060" y="185156"/>
                      </a:lnTo>
                      <a:lnTo>
                        <a:pt x="167580" y="180056"/>
                      </a:lnTo>
                      <a:lnTo>
                        <a:pt x="96285" y="85892"/>
                      </a:lnTo>
                      <a:lnTo>
                        <a:pt x="0" y="86330"/>
                      </a:lnTo>
                      <a:lnTo>
                        <a:pt x="0" y="40559"/>
                      </a:lnTo>
                      <a:lnTo>
                        <a:pt x="61500" y="1965"/>
                      </a:lnTo>
                      <a:lnTo>
                        <a:pt x="74035" y="0"/>
                      </a:lnTo>
                      <a:lnTo>
                        <a:pt x="138985" y="18118"/>
                      </a:lnTo>
                      <a:cubicBezTo>
                        <a:pt x="164296" y="31014"/>
                        <a:pt x="185796" y="48429"/>
                        <a:pt x="203002" y="68881"/>
                      </a:cubicBezTo>
                      <a:lnTo>
                        <a:pt x="212257" y="85572"/>
                      </a:lnTo>
                      <a:lnTo>
                        <a:pt x="775889" y="85572"/>
                      </a:lnTo>
                      <a:cubicBezTo>
                        <a:pt x="790422" y="85572"/>
                        <a:pt x="804265" y="88517"/>
                        <a:pt x="816859" y="93843"/>
                      </a:cubicBezTo>
                      <a:close/>
                    </a:path>
                  </a:pathLst>
                </a:custGeom>
                <a:solidFill>
                  <a:srgbClr val="D0CECE"/>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 name="Hexagon 8"/>
                <p:cNvSpPr/>
                <p:nvPr/>
              </p:nvSpPr>
              <p:spPr>
                <a:xfrm rot="16200000">
                  <a:off x="542215" y="3538831"/>
                  <a:ext cx="244092" cy="211283"/>
                </a:xfrm>
                <a:prstGeom prst="hexagon">
                  <a:avLst/>
                </a:prstGeom>
                <a:solidFill>
                  <a:schemeClr val="accent4">
                    <a:lumMod val="7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sp>
            <p:nvSpPr>
              <p:cNvPr id="35" name="Rectangle 34"/>
              <p:cNvSpPr/>
              <p:nvPr/>
            </p:nvSpPr>
            <p:spPr>
              <a:xfrm>
                <a:off x="628310" y="2923892"/>
                <a:ext cx="2897396" cy="400110"/>
              </a:xfrm>
              <a:prstGeom prst="rect">
                <a:avLst/>
              </a:prstGeom>
            </p:spPr>
            <p:txBody>
              <a:bodyPr wrap="none">
                <a:spAutoFit/>
              </a:bodyPr>
              <a:lstStyle/>
              <a:p>
                <a:r>
                  <a:rPr lang="en-US" sz="2000" dirty="0"/>
                  <a:t>Dynamic Instrumentation </a:t>
                </a:r>
              </a:p>
            </p:txBody>
          </p:sp>
        </p:grpSp>
        <p:grpSp>
          <p:nvGrpSpPr>
            <p:cNvPr id="53" name="Group 52"/>
            <p:cNvGrpSpPr/>
            <p:nvPr/>
          </p:nvGrpSpPr>
          <p:grpSpPr>
            <a:xfrm>
              <a:off x="3834951" y="2916616"/>
              <a:ext cx="2142304" cy="400110"/>
              <a:chOff x="4856238" y="1667501"/>
              <a:chExt cx="2142304" cy="400110"/>
            </a:xfrm>
          </p:grpSpPr>
          <p:sp>
            <p:nvSpPr>
              <p:cNvPr id="41" name="Rectangle 40"/>
              <p:cNvSpPr/>
              <p:nvPr/>
            </p:nvSpPr>
            <p:spPr>
              <a:xfrm>
                <a:off x="5337831" y="1667501"/>
                <a:ext cx="1660711" cy="400110"/>
              </a:xfrm>
              <a:prstGeom prst="rect">
                <a:avLst/>
              </a:prstGeom>
            </p:spPr>
            <p:txBody>
              <a:bodyPr wrap="none">
                <a:spAutoFit/>
              </a:bodyPr>
              <a:lstStyle/>
              <a:p>
                <a:r>
                  <a:rPr lang="en-US" sz="2000" dirty="0" smtClean="0"/>
                  <a:t>Causal Tracing</a:t>
                </a:r>
                <a:endParaRPr lang="en-US" sz="2000" dirty="0"/>
              </a:p>
            </p:txBody>
          </p:sp>
          <p:sp>
            <p:nvSpPr>
              <p:cNvPr id="43" name="Freeform 42"/>
              <p:cNvSpPr/>
              <p:nvPr/>
            </p:nvSpPr>
            <p:spPr>
              <a:xfrm flipH="1">
                <a:off x="4856238" y="1687881"/>
                <a:ext cx="438796" cy="359350"/>
              </a:xfrm>
              <a:custGeom>
                <a:avLst/>
                <a:gdLst>
                  <a:gd name="connsiteX0" fmla="*/ 205184 w 1161142"/>
                  <a:gd name="connsiteY0" fmla="*/ 225311 h 1009083"/>
                  <a:gd name="connsiteX1" fmla="*/ 130631 w 1161142"/>
                  <a:gd name="connsiteY1" fmla="*/ 225311 h 1009083"/>
                  <a:gd name="connsiteX2" fmla="*/ 0 w 1161142"/>
                  <a:gd name="connsiteY2" fmla="*/ 355942 h 1009083"/>
                  <a:gd name="connsiteX3" fmla="*/ 0 w 1161142"/>
                  <a:gd name="connsiteY3" fmla="*/ 878452 h 1009083"/>
                  <a:gd name="connsiteX4" fmla="*/ 130631 w 1161142"/>
                  <a:gd name="connsiteY4" fmla="*/ 1009083 h 1009083"/>
                  <a:gd name="connsiteX5" fmla="*/ 205184 w 1161142"/>
                  <a:gd name="connsiteY5" fmla="*/ 1009083 h 1009083"/>
                  <a:gd name="connsiteX6" fmla="*/ 1030511 w 1161142"/>
                  <a:gd name="connsiteY6" fmla="*/ 225311 h 1009083"/>
                  <a:gd name="connsiteX7" fmla="*/ 955958 w 1161142"/>
                  <a:gd name="connsiteY7" fmla="*/ 225311 h 1009083"/>
                  <a:gd name="connsiteX8" fmla="*/ 955958 w 1161142"/>
                  <a:gd name="connsiteY8" fmla="*/ 1009083 h 1009083"/>
                  <a:gd name="connsiteX9" fmla="*/ 1030511 w 1161142"/>
                  <a:gd name="connsiteY9" fmla="*/ 1009083 h 1009083"/>
                  <a:gd name="connsiteX10" fmla="*/ 1161142 w 1161142"/>
                  <a:gd name="connsiteY10" fmla="*/ 878452 h 1009083"/>
                  <a:gd name="connsiteX11" fmla="*/ 1161142 w 1161142"/>
                  <a:gd name="connsiteY11" fmla="*/ 355942 h 1009083"/>
                  <a:gd name="connsiteX12" fmla="*/ 1030511 w 1161142"/>
                  <a:gd name="connsiteY12" fmla="*/ 225311 h 1009083"/>
                  <a:gd name="connsiteX13" fmla="*/ 580571 w 1161142"/>
                  <a:gd name="connsiteY13" fmla="*/ 76200 h 1009083"/>
                  <a:gd name="connsiteX14" fmla="*/ 729682 w 1161142"/>
                  <a:gd name="connsiteY14" fmla="*/ 225311 h 1009083"/>
                  <a:gd name="connsiteX15" fmla="*/ 431460 w 1161142"/>
                  <a:gd name="connsiteY15" fmla="*/ 225311 h 1009083"/>
                  <a:gd name="connsiteX16" fmla="*/ 580571 w 1161142"/>
                  <a:gd name="connsiteY16" fmla="*/ 76200 h 1009083"/>
                  <a:gd name="connsiteX17" fmla="*/ 580571 w 1161142"/>
                  <a:gd name="connsiteY17" fmla="*/ 0 h 1009083"/>
                  <a:gd name="connsiteX18" fmla="*/ 355260 w 1161142"/>
                  <a:gd name="connsiteY18" fmla="*/ 225311 h 1009083"/>
                  <a:gd name="connsiteX19" fmla="*/ 290704 w 1161142"/>
                  <a:gd name="connsiteY19" fmla="*/ 225311 h 1009083"/>
                  <a:gd name="connsiteX20" fmla="*/ 290704 w 1161142"/>
                  <a:gd name="connsiteY20" fmla="*/ 1009083 h 1009083"/>
                  <a:gd name="connsiteX21" fmla="*/ 870438 w 1161142"/>
                  <a:gd name="connsiteY21" fmla="*/ 1009083 h 1009083"/>
                  <a:gd name="connsiteX22" fmla="*/ 870438 w 1161142"/>
                  <a:gd name="connsiteY22" fmla="*/ 225311 h 1009083"/>
                  <a:gd name="connsiteX23" fmla="*/ 805882 w 1161142"/>
                  <a:gd name="connsiteY23" fmla="*/ 225311 h 1009083"/>
                  <a:gd name="connsiteX24" fmla="*/ 580571 w 1161142"/>
                  <a:gd name="connsiteY24" fmla="*/ 0 h 100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61142" h="1009083">
                    <a:moveTo>
                      <a:pt x="205184" y="225311"/>
                    </a:moveTo>
                    <a:lnTo>
                      <a:pt x="130631" y="225311"/>
                    </a:lnTo>
                    <a:cubicBezTo>
                      <a:pt x="58485" y="225311"/>
                      <a:pt x="0" y="283796"/>
                      <a:pt x="0" y="355942"/>
                    </a:cubicBezTo>
                    <a:lnTo>
                      <a:pt x="0" y="878452"/>
                    </a:lnTo>
                    <a:cubicBezTo>
                      <a:pt x="0" y="950598"/>
                      <a:pt x="58485" y="1009083"/>
                      <a:pt x="130631" y="1009083"/>
                    </a:cubicBezTo>
                    <a:lnTo>
                      <a:pt x="205184" y="1009083"/>
                    </a:lnTo>
                    <a:close/>
                    <a:moveTo>
                      <a:pt x="1030511" y="225311"/>
                    </a:moveTo>
                    <a:lnTo>
                      <a:pt x="955958" y="225311"/>
                    </a:lnTo>
                    <a:lnTo>
                      <a:pt x="955958" y="1009083"/>
                    </a:lnTo>
                    <a:lnTo>
                      <a:pt x="1030511" y="1009083"/>
                    </a:lnTo>
                    <a:cubicBezTo>
                      <a:pt x="1102657" y="1009083"/>
                      <a:pt x="1161142" y="950598"/>
                      <a:pt x="1161142" y="878452"/>
                    </a:cubicBezTo>
                    <a:lnTo>
                      <a:pt x="1161142" y="355942"/>
                    </a:lnTo>
                    <a:cubicBezTo>
                      <a:pt x="1161142" y="283796"/>
                      <a:pt x="1102657" y="225311"/>
                      <a:pt x="1030511" y="225311"/>
                    </a:cubicBezTo>
                    <a:close/>
                    <a:moveTo>
                      <a:pt x="580571" y="76200"/>
                    </a:moveTo>
                    <a:cubicBezTo>
                      <a:pt x="662923" y="76200"/>
                      <a:pt x="729682" y="142959"/>
                      <a:pt x="729682" y="225311"/>
                    </a:cubicBezTo>
                    <a:lnTo>
                      <a:pt x="431460" y="225311"/>
                    </a:lnTo>
                    <a:cubicBezTo>
                      <a:pt x="431460" y="142959"/>
                      <a:pt x="498219" y="76200"/>
                      <a:pt x="580571" y="76200"/>
                    </a:cubicBezTo>
                    <a:close/>
                    <a:moveTo>
                      <a:pt x="580571" y="0"/>
                    </a:moveTo>
                    <a:cubicBezTo>
                      <a:pt x="456135" y="0"/>
                      <a:pt x="355260" y="100875"/>
                      <a:pt x="355260" y="225311"/>
                    </a:cubicBezTo>
                    <a:lnTo>
                      <a:pt x="290704" y="225311"/>
                    </a:lnTo>
                    <a:lnTo>
                      <a:pt x="290704" y="1009083"/>
                    </a:lnTo>
                    <a:lnTo>
                      <a:pt x="870438" y="1009083"/>
                    </a:lnTo>
                    <a:lnTo>
                      <a:pt x="870438" y="225311"/>
                    </a:lnTo>
                    <a:lnTo>
                      <a:pt x="805882" y="225311"/>
                    </a:lnTo>
                    <a:cubicBezTo>
                      <a:pt x="805882" y="100875"/>
                      <a:pt x="705007" y="0"/>
                      <a:pt x="580571"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grpSp>
      </p:grpSp>
      <p:grpSp>
        <p:nvGrpSpPr>
          <p:cNvPr id="22" name="Group 21"/>
          <p:cNvGrpSpPr/>
          <p:nvPr/>
        </p:nvGrpSpPr>
        <p:grpSpPr>
          <a:xfrm>
            <a:off x="1780132" y="1773550"/>
            <a:ext cx="2550057" cy="785848"/>
            <a:chOff x="1859048" y="1485313"/>
            <a:chExt cx="2550057" cy="785848"/>
          </a:xfrm>
        </p:grpSpPr>
        <p:grpSp>
          <p:nvGrpSpPr>
            <p:cNvPr id="36" name="Group 35"/>
            <p:cNvGrpSpPr/>
            <p:nvPr/>
          </p:nvGrpSpPr>
          <p:grpSpPr>
            <a:xfrm>
              <a:off x="2900197" y="1485313"/>
              <a:ext cx="467759" cy="416707"/>
              <a:chOff x="5858178" y="5079528"/>
              <a:chExt cx="467759" cy="416707"/>
            </a:xfrm>
          </p:grpSpPr>
          <p:sp>
            <p:nvSpPr>
              <p:cNvPr id="37" name="Freeform 36"/>
              <p:cNvSpPr/>
              <p:nvPr/>
            </p:nvSpPr>
            <p:spPr>
              <a:xfrm rot="5400000">
                <a:off x="5921805" y="5092102"/>
                <a:ext cx="340506" cy="467759"/>
              </a:xfrm>
              <a:custGeom>
                <a:avLst/>
                <a:gdLst>
                  <a:gd name="connsiteX0" fmla="*/ 1 w 284694"/>
                  <a:gd name="connsiteY0" fmla="*/ 0 h 391089"/>
                  <a:gd name="connsiteX1" fmla="*/ 284694 w 284694"/>
                  <a:gd name="connsiteY1" fmla="*/ 0 h 391089"/>
                  <a:gd name="connsiteX2" fmla="*/ 142348 w 284694"/>
                  <a:gd name="connsiteY2" fmla="*/ 195544 h 391089"/>
                  <a:gd name="connsiteX3" fmla="*/ 0 w 284694"/>
                  <a:gd name="connsiteY3" fmla="*/ 391089 h 391089"/>
                  <a:gd name="connsiteX4" fmla="*/ 142347 w 284694"/>
                  <a:gd name="connsiteY4" fmla="*/ 195545 h 391089"/>
                  <a:gd name="connsiteX5" fmla="*/ 284693 w 284694"/>
                  <a:gd name="connsiteY5" fmla="*/ 391089 h 391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4694" h="391089">
                    <a:moveTo>
                      <a:pt x="1" y="0"/>
                    </a:moveTo>
                    <a:lnTo>
                      <a:pt x="284694" y="0"/>
                    </a:lnTo>
                    <a:lnTo>
                      <a:pt x="142348" y="195544"/>
                    </a:lnTo>
                    <a:close/>
                    <a:moveTo>
                      <a:pt x="0" y="391089"/>
                    </a:moveTo>
                    <a:lnTo>
                      <a:pt x="142347" y="195545"/>
                    </a:lnTo>
                    <a:lnTo>
                      <a:pt x="284693" y="391089"/>
                    </a:lnTo>
                    <a:close/>
                  </a:path>
                </a:pathLst>
              </a:cu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cxnSp>
            <p:nvCxnSpPr>
              <p:cNvPr id="38" name="Straight Arrow Connector 37"/>
              <p:cNvCxnSpPr/>
              <p:nvPr/>
            </p:nvCxnSpPr>
            <p:spPr>
              <a:xfrm>
                <a:off x="5897748" y="5079528"/>
                <a:ext cx="388620" cy="0"/>
              </a:xfrm>
              <a:prstGeom prst="straightConnector1">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47" name="Rectangle 46"/>
            <p:cNvSpPr/>
            <p:nvPr/>
          </p:nvSpPr>
          <p:spPr>
            <a:xfrm>
              <a:off x="1859048" y="1871051"/>
              <a:ext cx="2550057" cy="400110"/>
            </a:xfrm>
            <a:prstGeom prst="rect">
              <a:avLst/>
            </a:prstGeom>
          </p:spPr>
          <p:txBody>
            <a:bodyPr wrap="none">
              <a:spAutoFit/>
            </a:bodyPr>
            <a:lstStyle/>
            <a:p>
              <a:r>
                <a:rPr lang="en-US" sz="2000" b="1" dirty="0" smtClean="0"/>
                <a:t>Happened-Before Join</a:t>
              </a:r>
              <a:endParaRPr lang="en-US" sz="2000" b="1" dirty="0"/>
            </a:p>
          </p:txBody>
        </p:sp>
      </p:grpSp>
      <p:grpSp>
        <p:nvGrpSpPr>
          <p:cNvPr id="51" name="Group 50"/>
          <p:cNvGrpSpPr/>
          <p:nvPr/>
        </p:nvGrpSpPr>
        <p:grpSpPr>
          <a:xfrm>
            <a:off x="372721" y="4538202"/>
            <a:ext cx="5364879" cy="369332"/>
            <a:chOff x="-1479054" y="3087472"/>
            <a:chExt cx="5364879" cy="369332"/>
          </a:xfrm>
        </p:grpSpPr>
        <p:sp>
          <p:nvSpPr>
            <p:cNvPr id="48" name="Rectangle 47"/>
            <p:cNvSpPr/>
            <p:nvPr/>
          </p:nvSpPr>
          <p:spPr>
            <a:xfrm>
              <a:off x="-1479054" y="3087472"/>
              <a:ext cx="2803029" cy="369332"/>
            </a:xfrm>
            <a:prstGeom prst="rect">
              <a:avLst/>
            </a:prstGeom>
          </p:spPr>
          <p:txBody>
            <a:bodyPr wrap="square" numCol="1">
              <a:spAutoFit/>
            </a:bodyPr>
            <a:lstStyle/>
            <a:p>
              <a:pPr algn="ctr"/>
              <a:r>
                <a:rPr lang="en-US" dirty="0"/>
                <a:t>Standing basic </a:t>
              </a:r>
              <a:r>
                <a:rPr lang="en-US" dirty="0" smtClean="0"/>
                <a:t>queries</a:t>
              </a:r>
            </a:p>
          </p:txBody>
        </p:sp>
        <p:sp>
          <p:nvSpPr>
            <p:cNvPr id="50" name="Rectangle 49"/>
            <p:cNvSpPr/>
            <p:nvPr/>
          </p:nvSpPr>
          <p:spPr>
            <a:xfrm>
              <a:off x="1473241" y="3087472"/>
              <a:ext cx="2412584" cy="369332"/>
            </a:xfrm>
            <a:prstGeom prst="rect">
              <a:avLst/>
            </a:prstGeom>
          </p:spPr>
          <p:txBody>
            <a:bodyPr wrap="none">
              <a:spAutoFit/>
            </a:bodyPr>
            <a:lstStyle/>
            <a:p>
              <a:r>
                <a:rPr lang="en-US" dirty="0"/>
                <a:t>Potential to dig deeper</a:t>
              </a:r>
            </a:p>
          </p:txBody>
        </p:sp>
      </p:grpSp>
      <p:sp>
        <p:nvSpPr>
          <p:cNvPr id="55" name="Rectangle 54"/>
          <p:cNvSpPr/>
          <p:nvPr/>
        </p:nvSpPr>
        <p:spPr>
          <a:xfrm>
            <a:off x="533998" y="886310"/>
            <a:ext cx="8076004" cy="461665"/>
          </a:xfrm>
          <a:prstGeom prst="rect">
            <a:avLst/>
          </a:prstGeom>
        </p:spPr>
        <p:txBody>
          <a:bodyPr wrap="square">
            <a:spAutoFit/>
          </a:bodyPr>
          <a:lstStyle/>
          <a:p>
            <a:pPr algn="ctr"/>
            <a:r>
              <a:rPr lang="en-US" sz="2400" dirty="0"/>
              <a:t>Dynamic Causal Monitoring for Distributed Systems</a:t>
            </a:r>
          </a:p>
        </p:txBody>
      </p:sp>
      <p:grpSp>
        <p:nvGrpSpPr>
          <p:cNvPr id="31" name="Group 30"/>
          <p:cNvGrpSpPr/>
          <p:nvPr/>
        </p:nvGrpSpPr>
        <p:grpSpPr>
          <a:xfrm>
            <a:off x="982652" y="5503010"/>
            <a:ext cx="7923223" cy="1397772"/>
            <a:chOff x="982652" y="5503010"/>
            <a:chExt cx="7923223" cy="1397772"/>
          </a:xfrm>
        </p:grpSpPr>
        <p:grpSp>
          <p:nvGrpSpPr>
            <p:cNvPr id="27" name="Group 26"/>
            <p:cNvGrpSpPr/>
            <p:nvPr/>
          </p:nvGrpSpPr>
          <p:grpSpPr>
            <a:xfrm>
              <a:off x="982652" y="5503010"/>
              <a:ext cx="1481175" cy="1397772"/>
              <a:chOff x="1336654" y="5503010"/>
              <a:chExt cx="1481175" cy="1397772"/>
            </a:xfrm>
          </p:grpSpPr>
          <p:pic>
            <p:nvPicPr>
              <p:cNvPr id="19" name="Picture 2" descr="http://cs.brown.edu/~jcmace/me_small.jpg"/>
              <p:cNvPicPr>
                <a:picLocks noChangeAspect="1" noChangeArrowheads="1"/>
              </p:cNvPicPr>
              <p:nvPr/>
            </p:nvPicPr>
            <p:blipFill rotWithShape="1">
              <a:blip r:embed="rId3">
                <a:extLst>
                  <a:ext uri="{28A0092B-C50C-407E-A947-70E740481C1C}">
                    <a14:useLocalDpi xmlns:a14="http://schemas.microsoft.com/office/drawing/2010/main" val="0"/>
                  </a:ext>
                </a:extLst>
              </a:blip>
              <a:srcRect l="5635" r="6973" b="3467"/>
              <a:stretch/>
            </p:blipFill>
            <p:spPr bwMode="auto">
              <a:xfrm>
                <a:off x="1557660" y="5503010"/>
                <a:ext cx="1039163" cy="1121995"/>
              </a:xfrm>
              <a:prstGeom prst="rect">
                <a:avLst/>
              </a:prstGeom>
              <a:noFill/>
              <a:extLst>
                <a:ext uri="{909E8E84-426E-40dd-AFC4-6F175D3DCCD1}">
                  <a14:hiddenFill xmlns="" xmlns:a14="http://schemas.microsoft.com/office/drawing/2010/main">
                    <a:solidFill>
                      <a:srgbClr val="FFFFFF"/>
                    </a:solidFill>
                  </a14:hiddenFill>
                </a:ext>
              </a:extLst>
            </p:spPr>
          </p:pic>
          <p:sp>
            <p:nvSpPr>
              <p:cNvPr id="29" name="Rectangle 28"/>
              <p:cNvSpPr/>
              <p:nvPr/>
            </p:nvSpPr>
            <p:spPr>
              <a:xfrm>
                <a:off x="1336654" y="6562228"/>
                <a:ext cx="1481175" cy="338554"/>
              </a:xfrm>
              <a:prstGeom prst="rect">
                <a:avLst/>
              </a:prstGeom>
            </p:spPr>
            <p:txBody>
              <a:bodyPr wrap="none">
                <a:spAutoFit/>
              </a:bodyPr>
              <a:lstStyle/>
              <a:p>
                <a:r>
                  <a:rPr lang="en-US" sz="1600" b="1" dirty="0"/>
                  <a:t>Jonathan Mace</a:t>
                </a:r>
                <a:endParaRPr lang="en-US" sz="1600" dirty="0"/>
              </a:p>
            </p:txBody>
          </p:sp>
        </p:grpSp>
        <p:grpSp>
          <p:nvGrpSpPr>
            <p:cNvPr id="26" name="Group 25"/>
            <p:cNvGrpSpPr/>
            <p:nvPr/>
          </p:nvGrpSpPr>
          <p:grpSpPr>
            <a:xfrm>
              <a:off x="3055161" y="5510160"/>
              <a:ext cx="1190134" cy="1383473"/>
              <a:chOff x="3403932" y="5517309"/>
              <a:chExt cx="1190134" cy="1383473"/>
            </a:xfrm>
          </p:grpSpPr>
          <p:pic>
            <p:nvPicPr>
              <p:cNvPr id="20" name="Picture 19"/>
              <p:cNvPicPr>
                <a:picLocks noChangeAspect="1"/>
              </p:cNvPicPr>
              <p:nvPr/>
            </p:nvPicPr>
            <p:blipFill>
              <a:blip r:embed="rId4"/>
              <a:stretch>
                <a:fillRect/>
              </a:stretch>
            </p:blipFill>
            <p:spPr>
              <a:xfrm>
                <a:off x="3580936" y="5517309"/>
                <a:ext cx="836126" cy="1093396"/>
              </a:xfrm>
              <a:prstGeom prst="rect">
                <a:avLst/>
              </a:prstGeom>
            </p:spPr>
          </p:pic>
          <p:sp>
            <p:nvSpPr>
              <p:cNvPr id="30" name="Rectangle 29"/>
              <p:cNvSpPr/>
              <p:nvPr/>
            </p:nvSpPr>
            <p:spPr>
              <a:xfrm>
                <a:off x="3403932" y="6562228"/>
                <a:ext cx="1190134" cy="338554"/>
              </a:xfrm>
              <a:prstGeom prst="rect">
                <a:avLst/>
              </a:prstGeom>
            </p:spPr>
            <p:txBody>
              <a:bodyPr wrap="none">
                <a:spAutoFit/>
              </a:bodyPr>
              <a:lstStyle/>
              <a:p>
                <a:r>
                  <a:rPr lang="en-US" sz="1600" dirty="0"/>
                  <a:t>Ryan </a:t>
                </a:r>
                <a:r>
                  <a:rPr lang="en-US" sz="1600" dirty="0" err="1"/>
                  <a:t>Roelke</a:t>
                </a:r>
                <a:endParaRPr lang="en-US" sz="1600" dirty="0"/>
              </a:p>
            </p:txBody>
          </p:sp>
        </p:grpSp>
        <p:pic>
          <p:nvPicPr>
            <p:cNvPr id="1026" name="Picture 2" descr="http://sstore.cs.brown.edu/img/Brown-logo.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941437" y="5646380"/>
              <a:ext cx="964438" cy="1111032"/>
            </a:xfrm>
            <a:prstGeom prst="rect">
              <a:avLst/>
            </a:prstGeom>
            <a:noFill/>
            <a:extLst>
              <a:ext uri="{909E8E84-426E-40DD-AFC4-6F175D3DCCD1}">
                <a14:hiddenFill xmlns:a14="http://schemas.microsoft.com/office/drawing/2010/main">
                  <a:solidFill>
                    <a:srgbClr val="FFFFFF"/>
                  </a:solidFill>
                </a14:hiddenFill>
              </a:ext>
            </a:extLst>
          </p:spPr>
        </p:pic>
        <p:grpSp>
          <p:nvGrpSpPr>
            <p:cNvPr id="25" name="Group 24"/>
            <p:cNvGrpSpPr/>
            <p:nvPr/>
          </p:nvGrpSpPr>
          <p:grpSpPr>
            <a:xfrm>
              <a:off x="4836629" y="5503369"/>
              <a:ext cx="1551450" cy="1397055"/>
              <a:chOff x="5157303" y="5503727"/>
              <a:chExt cx="1551450" cy="1397055"/>
            </a:xfrm>
          </p:grpSpPr>
          <p:pic>
            <p:nvPicPr>
              <p:cNvPr id="21" name="Picture 20" descr="http://cs.brown.edu/~rfonseca/img/rodrigo_sm.jpg"/>
              <p:cNvPicPr>
                <a:picLocks noChangeAspect="1" noChangeArrowheads="1"/>
              </p:cNvPicPr>
              <p:nvPr/>
            </p:nvPicPr>
            <p:blipFill rotWithShape="1">
              <a:blip r:embed="rId6">
                <a:extLst>
                  <a:ext uri="{28A0092B-C50C-407E-A947-70E740481C1C}">
                    <a14:useLocalDpi xmlns:a14="http://schemas.microsoft.com/office/drawing/2010/main" val="0"/>
                  </a:ext>
                </a:extLst>
              </a:blip>
              <a:srcRect l="1492" r="5772"/>
              <a:stretch/>
            </p:blipFill>
            <p:spPr bwMode="auto">
              <a:xfrm>
                <a:off x="5413447" y="5503727"/>
                <a:ext cx="1039163" cy="1120561"/>
              </a:xfrm>
              <a:prstGeom prst="rect">
                <a:avLst/>
              </a:prstGeom>
              <a:noFill/>
              <a:extLst>
                <a:ext uri="{909E8E84-426E-40dd-AFC4-6F175D3DCCD1}">
                  <a14:hiddenFill xmlns:a14="http://schemas.microsoft.com/office/drawing/2010/main" xmlns="">
                    <a:solidFill>
                      <a:srgbClr val="FFFFFF"/>
                    </a:solidFill>
                  </a14:hiddenFill>
                </a:ext>
              </a:extLst>
            </p:spPr>
          </p:pic>
          <p:sp>
            <p:nvSpPr>
              <p:cNvPr id="45" name="Rectangle 44"/>
              <p:cNvSpPr/>
              <p:nvPr/>
            </p:nvSpPr>
            <p:spPr>
              <a:xfrm>
                <a:off x="5157303" y="6562228"/>
                <a:ext cx="1551450" cy="338554"/>
              </a:xfrm>
              <a:prstGeom prst="rect">
                <a:avLst/>
              </a:prstGeom>
            </p:spPr>
            <p:txBody>
              <a:bodyPr wrap="none">
                <a:spAutoFit/>
              </a:bodyPr>
              <a:lstStyle/>
              <a:p>
                <a:r>
                  <a:rPr lang="en-US" sz="1600" dirty="0" smtClean="0"/>
                  <a:t>Rodrigo Fonseca</a:t>
                </a:r>
              </a:p>
            </p:txBody>
          </p:sp>
        </p:grpSp>
      </p:grpSp>
      <p:grpSp>
        <p:nvGrpSpPr>
          <p:cNvPr id="92" name="Group 91"/>
          <p:cNvGrpSpPr/>
          <p:nvPr/>
        </p:nvGrpSpPr>
        <p:grpSpPr>
          <a:xfrm>
            <a:off x="6286500" y="1578779"/>
            <a:ext cx="2844887" cy="3438518"/>
            <a:chOff x="6286500" y="1578779"/>
            <a:chExt cx="2844887" cy="3438518"/>
          </a:xfrm>
        </p:grpSpPr>
        <p:grpSp>
          <p:nvGrpSpPr>
            <p:cNvPr id="91" name="Group 90"/>
            <p:cNvGrpSpPr/>
            <p:nvPr/>
          </p:nvGrpSpPr>
          <p:grpSpPr>
            <a:xfrm>
              <a:off x="6539331" y="1578780"/>
              <a:ext cx="2592056" cy="3438517"/>
              <a:chOff x="6539331" y="1578780"/>
              <a:chExt cx="2592056" cy="3438517"/>
            </a:xfrm>
          </p:grpSpPr>
          <p:sp>
            <p:nvSpPr>
              <p:cNvPr id="39" name="Rounded Rectangle 38"/>
              <p:cNvSpPr/>
              <p:nvPr/>
            </p:nvSpPr>
            <p:spPr>
              <a:xfrm>
                <a:off x="7178302" y="1578780"/>
                <a:ext cx="1317528" cy="467312"/>
              </a:xfrm>
              <a:prstGeom prst="roundRect">
                <a:avLst>
                  <a:gd name="adj" fmla="val 18490"/>
                </a:avLst>
              </a:prstGeom>
              <a:solidFill>
                <a:srgbClr val="FFE1E1"/>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nSpc>
                    <a:spcPct val="80000"/>
                  </a:lnSpc>
                </a:pPr>
                <a:r>
                  <a:rPr lang="en-US" sz="1200" b="1" dirty="0" err="1" smtClean="0">
                    <a:solidFill>
                      <a:schemeClr val="tx1"/>
                    </a:solidFill>
                  </a:rPr>
                  <a:t>Tracepoint</a:t>
                </a:r>
                <a:r>
                  <a:rPr lang="en-US" sz="1200" b="1" dirty="0" smtClean="0">
                    <a:solidFill>
                      <a:schemeClr val="tx1"/>
                    </a:solidFill>
                  </a:rPr>
                  <a:t> A</a:t>
                </a:r>
              </a:p>
              <a:p>
                <a:pPr>
                  <a:lnSpc>
                    <a:spcPct val="80000"/>
                  </a:lnSpc>
                </a:pPr>
                <a:r>
                  <a:rPr lang="en-US" sz="1200" b="1" dirty="0" smtClean="0">
                    <a:solidFill>
                      <a:schemeClr val="tx1"/>
                    </a:solidFill>
                  </a:rPr>
                  <a:t>  Class: </a:t>
                </a:r>
                <a:r>
                  <a:rPr lang="en-US" sz="1200" dirty="0" smtClean="0">
                    <a:solidFill>
                      <a:schemeClr val="tx1"/>
                    </a:solidFill>
                  </a:rPr>
                  <a:t>A</a:t>
                </a:r>
              </a:p>
              <a:p>
                <a:pPr>
                  <a:lnSpc>
                    <a:spcPct val="80000"/>
                  </a:lnSpc>
                </a:pPr>
                <a:r>
                  <a:rPr lang="en-US" sz="1200" dirty="0">
                    <a:solidFill>
                      <a:schemeClr val="tx1"/>
                    </a:solidFill>
                    <a:latin typeface="Consolas" panose="020B0609020204030204" pitchFamily="49" charset="0"/>
                    <a:cs typeface="Consolas" panose="020B0609020204030204" pitchFamily="49" charset="0"/>
                  </a:rPr>
                  <a:t> </a:t>
                </a:r>
                <a:r>
                  <a:rPr lang="en-US" sz="1200" b="1" dirty="0" smtClean="0">
                    <a:solidFill>
                      <a:schemeClr val="tx1"/>
                    </a:solidFill>
                    <a:cs typeface="Consolas" panose="020B0609020204030204" pitchFamily="49" charset="0"/>
                  </a:rPr>
                  <a:t>Method</a:t>
                </a:r>
                <a:r>
                  <a:rPr lang="en-US" sz="1200" dirty="0" smtClean="0">
                    <a:solidFill>
                      <a:schemeClr val="tx1"/>
                    </a:solidFill>
                    <a:latin typeface="Consolas" panose="020B0609020204030204" pitchFamily="49" charset="0"/>
                    <a:cs typeface="Consolas" panose="020B0609020204030204" pitchFamily="49" charset="0"/>
                  </a:rPr>
                  <a:t>: A1()</a:t>
                </a:r>
              </a:p>
            </p:txBody>
          </p:sp>
          <p:sp>
            <p:nvSpPr>
              <p:cNvPr id="40" name="Rounded Rectangle 39"/>
              <p:cNvSpPr/>
              <p:nvPr/>
            </p:nvSpPr>
            <p:spPr>
              <a:xfrm>
                <a:off x="6939581" y="2046092"/>
                <a:ext cx="1791557" cy="594656"/>
              </a:xfrm>
              <a:prstGeom prst="roundRect">
                <a:avLst>
                  <a:gd name="adj" fmla="val 18490"/>
                </a:avLst>
              </a:prstGeom>
              <a:solidFill>
                <a:srgbClr val="FFE1E1"/>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nSpc>
                    <a:spcPct val="75000"/>
                  </a:lnSpc>
                </a:pPr>
                <a:r>
                  <a:rPr lang="en-US" sz="1200" b="1" dirty="0" err="1" smtClean="0">
                    <a:solidFill>
                      <a:schemeClr val="tx1"/>
                    </a:solidFill>
                  </a:rPr>
                  <a:t>Tracepoint</a:t>
                </a:r>
                <a:r>
                  <a:rPr lang="en-US" sz="1200" b="1" dirty="0" smtClean="0">
                    <a:solidFill>
                      <a:schemeClr val="tx1"/>
                    </a:solidFill>
                  </a:rPr>
                  <a:t> B</a:t>
                </a:r>
              </a:p>
              <a:p>
                <a:pPr>
                  <a:lnSpc>
                    <a:spcPct val="75000"/>
                  </a:lnSpc>
                </a:pPr>
                <a:r>
                  <a:rPr lang="en-US" sz="1200" b="1" dirty="0" smtClean="0">
                    <a:solidFill>
                      <a:schemeClr val="tx1"/>
                    </a:solidFill>
                  </a:rPr>
                  <a:t>  Class: </a:t>
                </a:r>
                <a:r>
                  <a:rPr lang="en-US" sz="1200" dirty="0" smtClean="0">
                    <a:solidFill>
                      <a:schemeClr val="tx1"/>
                    </a:solidFill>
                  </a:rPr>
                  <a:t>B</a:t>
                </a:r>
              </a:p>
              <a:p>
                <a:pPr>
                  <a:lnSpc>
                    <a:spcPct val="75000"/>
                  </a:lnSpc>
                </a:pPr>
                <a:r>
                  <a:rPr lang="en-US" sz="1200" dirty="0">
                    <a:solidFill>
                      <a:schemeClr val="tx1"/>
                    </a:solidFill>
                  </a:rPr>
                  <a:t> </a:t>
                </a:r>
                <a:r>
                  <a:rPr lang="en-US" sz="1200" dirty="0" smtClean="0">
                    <a:solidFill>
                      <a:schemeClr val="tx1"/>
                    </a:solidFill>
                  </a:rPr>
                  <a:t> </a:t>
                </a:r>
                <a:r>
                  <a:rPr lang="en-US" sz="1200" b="1" dirty="0" smtClean="0">
                    <a:solidFill>
                      <a:schemeClr val="tx1"/>
                    </a:solidFill>
                  </a:rPr>
                  <a:t>Method</a:t>
                </a:r>
                <a:r>
                  <a:rPr lang="en-US" sz="1200" dirty="0" smtClean="0">
                    <a:solidFill>
                      <a:schemeClr val="tx1"/>
                    </a:solidFill>
                  </a:rPr>
                  <a:t>: </a:t>
                </a:r>
                <a:r>
                  <a:rPr lang="en-US" sz="1200" dirty="0" smtClean="0">
                    <a:solidFill>
                      <a:schemeClr val="tx1"/>
                    </a:solidFill>
                    <a:latin typeface="Consolas" panose="020B0609020204030204" pitchFamily="49" charset="0"/>
                    <a:cs typeface="Consolas" panose="020B0609020204030204" pitchFamily="49" charset="0"/>
                  </a:rPr>
                  <a:t>B1()</a:t>
                </a:r>
              </a:p>
              <a:p>
                <a:pPr>
                  <a:lnSpc>
                    <a:spcPct val="75000"/>
                  </a:lnSpc>
                </a:pPr>
                <a:r>
                  <a:rPr lang="en-US" sz="1200" b="1" dirty="0">
                    <a:solidFill>
                      <a:schemeClr val="tx1"/>
                    </a:solidFill>
                  </a:rPr>
                  <a:t> </a:t>
                </a:r>
                <a:r>
                  <a:rPr lang="en-US" sz="1200" b="1" dirty="0" smtClean="0">
                    <a:solidFill>
                      <a:schemeClr val="tx1"/>
                    </a:solidFill>
                  </a:rPr>
                  <a:t> Exports: </a:t>
                </a:r>
                <a:r>
                  <a:rPr lang="en-US" sz="1200" dirty="0" smtClean="0">
                    <a:solidFill>
                      <a:schemeClr val="tx1"/>
                    </a:solidFill>
                    <a:latin typeface="+mj-lt"/>
                    <a:cs typeface="Consolas" panose="020B0609020204030204" pitchFamily="49" charset="0"/>
                  </a:rPr>
                  <a:t>“delta”=</a:t>
                </a:r>
                <a:r>
                  <a:rPr lang="en-US" sz="1200" dirty="0" smtClean="0">
                    <a:solidFill>
                      <a:schemeClr val="tx1"/>
                    </a:solidFill>
                    <a:latin typeface="Consolas" panose="020B0609020204030204" pitchFamily="49" charset="0"/>
                    <a:cs typeface="Consolas" panose="020B0609020204030204" pitchFamily="49" charset="0"/>
                  </a:rPr>
                  <a:t>delta</a:t>
                </a:r>
              </a:p>
            </p:txBody>
          </p:sp>
          <p:sp>
            <p:nvSpPr>
              <p:cNvPr id="71" name="Query"/>
              <p:cNvSpPr txBox="1"/>
              <p:nvPr/>
            </p:nvSpPr>
            <p:spPr>
              <a:xfrm>
                <a:off x="6539331" y="2835287"/>
                <a:ext cx="2592056" cy="664797"/>
              </a:xfrm>
              <a:prstGeom prst="rect">
                <a:avLst/>
              </a:prstGeom>
              <a:noFill/>
            </p:spPr>
            <p:txBody>
              <a:bodyPr wrap="none" lIns="0" tIns="0" rIns="0" bIns="0" rtlCol="0" anchor="t" anchorCtr="0">
                <a:spAutoFit/>
              </a:bodyPr>
              <a:lstStyle/>
              <a:p>
                <a:pPr>
                  <a:lnSpc>
                    <a:spcPct val="90000"/>
                  </a:lnSpc>
                </a:pPr>
                <a:r>
                  <a:rPr lang="en-US" sz="1200" b="1" spc="-50" dirty="0" smtClean="0">
                    <a:latin typeface="Consolas" panose="020B0609020204030204" pitchFamily="49" charset="0"/>
                    <a:cs typeface="Consolas" panose="020B0609020204030204" pitchFamily="49" charset="0"/>
                  </a:rPr>
                  <a:t>From</a:t>
                </a:r>
                <a:r>
                  <a:rPr lang="en-US" sz="1200" spc="-50" dirty="0" smtClean="0">
                    <a:latin typeface="Consolas" panose="020B0609020204030204" pitchFamily="49" charset="0"/>
                    <a:cs typeface="Consolas" panose="020B0609020204030204" pitchFamily="49" charset="0"/>
                  </a:rPr>
                  <a:t> </a:t>
                </a:r>
                <a:r>
                  <a:rPr lang="en-US" sz="1200" spc="-50" dirty="0" smtClean="0">
                    <a:solidFill>
                      <a:srgbClr val="2F2364"/>
                    </a:solidFill>
                    <a:latin typeface="Consolas" panose="020B0609020204030204" pitchFamily="49" charset="0"/>
                    <a:cs typeface="Consolas" panose="020B0609020204030204" pitchFamily="49" charset="0"/>
                  </a:rPr>
                  <a:t>a</a:t>
                </a:r>
                <a:r>
                  <a:rPr lang="en-US" sz="1200" spc="-50" dirty="0" smtClean="0">
                    <a:latin typeface="Consolas" panose="020B0609020204030204" pitchFamily="49" charset="0"/>
                    <a:cs typeface="Consolas" panose="020B0609020204030204" pitchFamily="49" charset="0"/>
                  </a:rPr>
                  <a:t> </a:t>
                </a:r>
                <a:r>
                  <a:rPr lang="en-US" sz="1200" b="1" spc="-50" dirty="0" smtClean="0">
                    <a:latin typeface="Consolas" panose="020B0609020204030204" pitchFamily="49" charset="0"/>
                    <a:cs typeface="Consolas" panose="020B0609020204030204" pitchFamily="49" charset="0"/>
                  </a:rPr>
                  <a:t>In</a:t>
                </a:r>
                <a:r>
                  <a:rPr lang="en-US" sz="1200" spc="-50" dirty="0" smtClean="0">
                    <a:latin typeface="Consolas" panose="020B0609020204030204" pitchFamily="49" charset="0"/>
                    <a:cs typeface="Consolas" panose="020B0609020204030204" pitchFamily="49" charset="0"/>
                  </a:rPr>
                  <a:t> </a:t>
                </a:r>
                <a:r>
                  <a:rPr lang="en-US" sz="1200" spc="-50" dirty="0" smtClean="0">
                    <a:solidFill>
                      <a:srgbClr val="2F2364"/>
                    </a:solidFill>
                    <a:latin typeface="Consolas" panose="020B0609020204030204" pitchFamily="49" charset="0"/>
                    <a:cs typeface="Consolas" panose="020B0609020204030204" pitchFamily="49" charset="0"/>
                  </a:rPr>
                  <a:t>A</a:t>
                </a:r>
              </a:p>
              <a:p>
                <a:pPr>
                  <a:lnSpc>
                    <a:spcPct val="90000"/>
                  </a:lnSpc>
                </a:pPr>
                <a:r>
                  <a:rPr lang="en-US" sz="1200" spc="-50" dirty="0">
                    <a:latin typeface="Consolas" panose="020B0609020204030204" pitchFamily="49" charset="0"/>
                    <a:cs typeface="Consolas" panose="020B0609020204030204" pitchFamily="49" charset="0"/>
                  </a:rPr>
                  <a:t> </a:t>
                </a:r>
                <a:r>
                  <a:rPr lang="en-US" sz="1200" spc="-50" dirty="0" smtClean="0">
                    <a:latin typeface="Consolas" panose="020B0609020204030204" pitchFamily="49" charset="0"/>
                    <a:cs typeface="Consolas" panose="020B0609020204030204" pitchFamily="49" charset="0"/>
                  </a:rPr>
                  <a:t> </a:t>
                </a:r>
                <a:r>
                  <a:rPr lang="en-US" sz="1200" b="1" spc="-50" dirty="0" smtClean="0">
                    <a:latin typeface="Consolas" panose="020B0609020204030204" pitchFamily="49" charset="0"/>
                    <a:cs typeface="Consolas" panose="020B0609020204030204" pitchFamily="49" charset="0"/>
                  </a:rPr>
                  <a:t>Join</a:t>
                </a:r>
                <a:r>
                  <a:rPr lang="en-US" sz="1200" spc="-50" dirty="0" smtClean="0">
                    <a:latin typeface="Consolas" panose="020B0609020204030204" pitchFamily="49" charset="0"/>
                    <a:cs typeface="Consolas" panose="020B0609020204030204" pitchFamily="49" charset="0"/>
                  </a:rPr>
                  <a:t> </a:t>
                </a:r>
                <a:r>
                  <a:rPr lang="en-US" sz="1200" spc="-50" dirty="0" smtClean="0">
                    <a:solidFill>
                      <a:srgbClr val="23642F"/>
                    </a:solidFill>
                    <a:latin typeface="Consolas" panose="020B0609020204030204" pitchFamily="49" charset="0"/>
                    <a:cs typeface="Consolas" panose="020B0609020204030204" pitchFamily="49" charset="0"/>
                  </a:rPr>
                  <a:t>b</a:t>
                </a:r>
                <a:r>
                  <a:rPr lang="en-US" sz="1200" spc="-50" dirty="0" smtClean="0">
                    <a:latin typeface="Consolas" panose="020B0609020204030204" pitchFamily="49" charset="0"/>
                    <a:cs typeface="Consolas" panose="020B0609020204030204" pitchFamily="49" charset="0"/>
                  </a:rPr>
                  <a:t> </a:t>
                </a:r>
                <a:r>
                  <a:rPr lang="en-US" sz="1200" b="1" spc="-50" dirty="0" smtClean="0">
                    <a:latin typeface="Consolas" panose="020B0609020204030204" pitchFamily="49" charset="0"/>
                    <a:cs typeface="Consolas" panose="020B0609020204030204" pitchFamily="49" charset="0"/>
                  </a:rPr>
                  <a:t>In</a:t>
                </a:r>
                <a:r>
                  <a:rPr lang="en-US" sz="1200" spc="-50" dirty="0" smtClean="0">
                    <a:latin typeface="Consolas" panose="020B0609020204030204" pitchFamily="49" charset="0"/>
                    <a:cs typeface="Consolas" panose="020B0609020204030204" pitchFamily="49" charset="0"/>
                  </a:rPr>
                  <a:t> </a:t>
                </a:r>
                <a:r>
                  <a:rPr lang="en-US" sz="1200" spc="-50" dirty="0" smtClean="0">
                    <a:solidFill>
                      <a:srgbClr val="23642F"/>
                    </a:solidFill>
                    <a:latin typeface="Consolas" panose="020B0609020204030204" pitchFamily="49" charset="0"/>
                    <a:cs typeface="Consolas" panose="020B0609020204030204" pitchFamily="49" charset="0"/>
                  </a:rPr>
                  <a:t>B</a:t>
                </a:r>
                <a:r>
                  <a:rPr lang="en-US" sz="1200" spc="-50" dirty="0" smtClean="0">
                    <a:latin typeface="Consolas" panose="020B0609020204030204" pitchFamily="49" charset="0"/>
                    <a:cs typeface="Consolas" panose="020B0609020204030204" pitchFamily="49" charset="0"/>
                  </a:rPr>
                  <a:t> </a:t>
                </a:r>
                <a:r>
                  <a:rPr lang="en-US" sz="1200" b="1" spc="-50" dirty="0" smtClean="0">
                    <a:latin typeface="Consolas" panose="020B0609020204030204" pitchFamily="49" charset="0"/>
                    <a:cs typeface="Consolas" panose="020B0609020204030204" pitchFamily="49" charset="0"/>
                  </a:rPr>
                  <a:t>On</a:t>
                </a:r>
                <a:r>
                  <a:rPr lang="en-US" sz="1200" spc="-50" dirty="0" smtClean="0">
                    <a:latin typeface="Consolas" panose="020B0609020204030204" pitchFamily="49" charset="0"/>
                    <a:cs typeface="Consolas" panose="020B0609020204030204" pitchFamily="49" charset="0"/>
                  </a:rPr>
                  <a:t> </a:t>
                </a:r>
                <a:r>
                  <a:rPr lang="en-US" sz="1200" spc="-50" dirty="0" smtClean="0">
                    <a:solidFill>
                      <a:srgbClr val="2F2364"/>
                    </a:solidFill>
                    <a:latin typeface="Consolas" panose="020B0609020204030204" pitchFamily="49" charset="0"/>
                    <a:cs typeface="Consolas" panose="020B0609020204030204" pitchFamily="49" charset="0"/>
                  </a:rPr>
                  <a:t>a</a:t>
                </a:r>
                <a:r>
                  <a:rPr lang="en-US" sz="1200" spc="-50" dirty="0" smtClean="0">
                    <a:latin typeface="Consolas" panose="020B0609020204030204" pitchFamily="49" charset="0"/>
                    <a:cs typeface="Consolas" panose="020B0609020204030204" pitchFamily="49" charset="0"/>
                  </a:rPr>
                  <a:t> </a:t>
                </a:r>
                <a:r>
                  <a:rPr lang="en-US" sz="1200" b="1" spc="-50" dirty="0" smtClean="0">
                    <a:latin typeface="Consolas" panose="020B0609020204030204" pitchFamily="49" charset="0"/>
                    <a:cs typeface="Consolas" panose="020B0609020204030204" pitchFamily="49" charset="0"/>
                  </a:rPr>
                  <a:t>-&gt;</a:t>
                </a:r>
                <a:r>
                  <a:rPr lang="en-US" sz="1200" spc="-50" dirty="0" smtClean="0">
                    <a:latin typeface="Consolas" panose="020B0609020204030204" pitchFamily="49" charset="0"/>
                    <a:cs typeface="Consolas" panose="020B0609020204030204" pitchFamily="49" charset="0"/>
                  </a:rPr>
                  <a:t> </a:t>
                </a:r>
                <a:r>
                  <a:rPr lang="en-US" sz="1200" spc="-50" dirty="0" smtClean="0">
                    <a:solidFill>
                      <a:srgbClr val="23642F"/>
                    </a:solidFill>
                    <a:latin typeface="Consolas" panose="020B0609020204030204" pitchFamily="49" charset="0"/>
                    <a:cs typeface="Consolas" panose="020B0609020204030204" pitchFamily="49" charset="0"/>
                  </a:rPr>
                  <a:t>b</a:t>
                </a:r>
              </a:p>
              <a:p>
                <a:pPr>
                  <a:lnSpc>
                    <a:spcPct val="90000"/>
                  </a:lnSpc>
                </a:pPr>
                <a:r>
                  <a:rPr lang="en-US" sz="1200" spc="-50" dirty="0" smtClean="0">
                    <a:latin typeface="Consolas" panose="020B0609020204030204" pitchFamily="49" charset="0"/>
                    <a:cs typeface="Consolas" panose="020B0609020204030204" pitchFamily="49" charset="0"/>
                  </a:rPr>
                  <a:t>  </a:t>
                </a:r>
                <a:r>
                  <a:rPr lang="en-US" sz="1200" b="1" spc="-50" dirty="0" err="1" smtClean="0">
                    <a:latin typeface="Consolas" panose="020B0609020204030204" pitchFamily="49" charset="0"/>
                    <a:cs typeface="Consolas" panose="020B0609020204030204" pitchFamily="49" charset="0"/>
                  </a:rPr>
                  <a:t>GroupBy</a:t>
                </a:r>
                <a:r>
                  <a:rPr lang="en-US" sz="1200" spc="-50" dirty="0" smtClean="0">
                    <a:latin typeface="Consolas" panose="020B0609020204030204" pitchFamily="49" charset="0"/>
                    <a:cs typeface="Consolas" panose="020B0609020204030204" pitchFamily="49" charset="0"/>
                  </a:rPr>
                  <a:t> </a:t>
                </a:r>
                <a:r>
                  <a:rPr lang="en-US" sz="1200" spc="-50" dirty="0" err="1" smtClean="0">
                    <a:solidFill>
                      <a:srgbClr val="2F2364"/>
                    </a:solidFill>
                    <a:latin typeface="Consolas" panose="020B0609020204030204" pitchFamily="49" charset="0"/>
                    <a:cs typeface="Consolas" panose="020B0609020204030204" pitchFamily="49" charset="0"/>
                  </a:rPr>
                  <a:t>a.procName</a:t>
                </a:r>
                <a:endParaRPr lang="en-US" sz="1200" spc="-50" dirty="0" smtClean="0">
                  <a:solidFill>
                    <a:srgbClr val="2F2364"/>
                  </a:solidFill>
                  <a:latin typeface="Consolas" panose="020B0609020204030204" pitchFamily="49" charset="0"/>
                  <a:cs typeface="Consolas" panose="020B0609020204030204" pitchFamily="49" charset="0"/>
                </a:endParaRPr>
              </a:p>
              <a:p>
                <a:pPr>
                  <a:lnSpc>
                    <a:spcPct val="90000"/>
                  </a:lnSpc>
                </a:pPr>
                <a:r>
                  <a:rPr lang="en-US" sz="1200" spc="-50" dirty="0" smtClean="0">
                    <a:solidFill>
                      <a:srgbClr val="23642F"/>
                    </a:solidFill>
                    <a:latin typeface="Consolas" panose="020B0609020204030204" pitchFamily="49" charset="0"/>
                    <a:cs typeface="Consolas" panose="020B0609020204030204" pitchFamily="49" charset="0"/>
                  </a:rPr>
                  <a:t>  </a:t>
                </a:r>
                <a:r>
                  <a:rPr lang="en-US" sz="1200" b="1" spc="-50" dirty="0" smtClean="0">
                    <a:latin typeface="Consolas" panose="020B0609020204030204" pitchFamily="49" charset="0"/>
                    <a:cs typeface="Consolas" panose="020B0609020204030204" pitchFamily="49" charset="0"/>
                  </a:rPr>
                  <a:t>Select</a:t>
                </a:r>
                <a:r>
                  <a:rPr lang="en-US" sz="1200" spc="-50" dirty="0" smtClean="0">
                    <a:latin typeface="Consolas" panose="020B0609020204030204" pitchFamily="49" charset="0"/>
                    <a:cs typeface="Consolas" panose="020B0609020204030204" pitchFamily="49" charset="0"/>
                  </a:rPr>
                  <a:t> </a:t>
                </a:r>
                <a:r>
                  <a:rPr lang="en-US" sz="1200" spc="-50" dirty="0" err="1" smtClean="0">
                    <a:solidFill>
                      <a:srgbClr val="2F2364"/>
                    </a:solidFill>
                    <a:latin typeface="Consolas" panose="020B0609020204030204" pitchFamily="49" charset="0"/>
                    <a:cs typeface="Consolas" panose="020B0609020204030204" pitchFamily="49" charset="0"/>
                  </a:rPr>
                  <a:t>a.procName</a:t>
                </a:r>
                <a:r>
                  <a:rPr lang="en-US" sz="1200" spc="-50" dirty="0" smtClean="0">
                    <a:latin typeface="Consolas" panose="020B0609020204030204" pitchFamily="49" charset="0"/>
                    <a:cs typeface="Consolas" panose="020B0609020204030204" pitchFamily="49" charset="0"/>
                  </a:rPr>
                  <a:t>,</a:t>
                </a:r>
                <a:r>
                  <a:rPr lang="en-US" sz="1200" spc="-50" dirty="0" smtClean="0">
                    <a:solidFill>
                      <a:srgbClr val="23642F"/>
                    </a:solidFill>
                    <a:latin typeface="Consolas" panose="020B0609020204030204" pitchFamily="49" charset="0"/>
                    <a:cs typeface="Consolas" panose="020B0609020204030204" pitchFamily="49" charset="0"/>
                  </a:rPr>
                  <a:t> </a:t>
                </a:r>
                <a:r>
                  <a:rPr lang="en-US" sz="1200" b="1" spc="-50" dirty="0" smtClean="0">
                    <a:latin typeface="Consolas" panose="020B0609020204030204" pitchFamily="49" charset="0"/>
                    <a:cs typeface="Consolas" panose="020B0609020204030204" pitchFamily="49" charset="0"/>
                  </a:rPr>
                  <a:t>SUM(</a:t>
                </a:r>
                <a:r>
                  <a:rPr lang="en-US" sz="1200" spc="-50" dirty="0" err="1" smtClean="0">
                    <a:solidFill>
                      <a:srgbClr val="23642F"/>
                    </a:solidFill>
                    <a:latin typeface="Consolas" panose="020B0609020204030204" pitchFamily="49" charset="0"/>
                    <a:cs typeface="Consolas" panose="020B0609020204030204" pitchFamily="49" charset="0"/>
                  </a:rPr>
                  <a:t>b.delta</a:t>
                </a:r>
                <a:r>
                  <a:rPr lang="en-US" sz="1200" b="1" spc="-50" dirty="0" smtClean="0">
                    <a:latin typeface="Consolas" panose="020B0609020204030204" pitchFamily="49" charset="0"/>
                    <a:cs typeface="Consolas" panose="020B0609020204030204" pitchFamily="49" charset="0"/>
                  </a:rPr>
                  <a:t>)</a:t>
                </a:r>
              </a:p>
            </p:txBody>
          </p:sp>
          <p:grpSp>
            <p:nvGrpSpPr>
              <p:cNvPr id="13" name="Group 12"/>
              <p:cNvGrpSpPr/>
              <p:nvPr/>
            </p:nvGrpSpPr>
            <p:grpSpPr>
              <a:xfrm>
                <a:off x="6875516" y="3691017"/>
                <a:ext cx="1923100" cy="584961"/>
                <a:chOff x="7149216" y="3891042"/>
                <a:chExt cx="1923100" cy="584961"/>
              </a:xfrm>
            </p:grpSpPr>
            <p:sp>
              <p:nvSpPr>
                <p:cNvPr id="66" name="Rounded Rectangle 65"/>
                <p:cNvSpPr/>
                <p:nvPr/>
              </p:nvSpPr>
              <p:spPr>
                <a:xfrm>
                  <a:off x="7149216" y="3904387"/>
                  <a:ext cx="1919688" cy="571616"/>
                </a:xfrm>
                <a:prstGeom prst="roundRect">
                  <a:avLst>
                    <a:gd name="adj" fmla="val 18490"/>
                  </a:avLst>
                </a:prstGeom>
                <a:solidFill>
                  <a:srgbClr val="E1E1FF"/>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r>
                    <a:rPr lang="en-US" sz="1100" b="1" dirty="0" smtClean="0">
                      <a:solidFill>
                        <a:schemeClr val="tx1"/>
                      </a:solidFill>
                      <a:cs typeface="Consolas" panose="020B0609020204030204" pitchFamily="49" charset="0"/>
                    </a:rPr>
                    <a:t>Advice A1</a:t>
                  </a:r>
                </a:p>
                <a:p>
                  <a:r>
                    <a:rPr lang="en-US" sz="1100" b="1" dirty="0" smtClean="0">
                      <a:solidFill>
                        <a:schemeClr val="tx1"/>
                      </a:solidFill>
                      <a:latin typeface="+mj-lt"/>
                      <a:cs typeface="Consolas" panose="020B0609020204030204" pitchFamily="49" charset="0"/>
                    </a:rPr>
                    <a:t>OBSERVE</a:t>
                  </a:r>
                  <a:r>
                    <a:rPr lang="en-US" sz="1100" dirty="0">
                      <a:solidFill>
                        <a:schemeClr val="tx1"/>
                      </a:solidFill>
                      <a:latin typeface="Consolas" panose="020B0609020204030204" pitchFamily="49" charset="0"/>
                      <a:cs typeface="Consolas" panose="020B0609020204030204" pitchFamily="49" charset="0"/>
                    </a:rPr>
                    <a:t>	</a:t>
                  </a:r>
                  <a:r>
                    <a:rPr lang="en-US" sz="1100" dirty="0" err="1" smtClean="0">
                      <a:solidFill>
                        <a:schemeClr val="tx1"/>
                      </a:solidFill>
                      <a:latin typeface="Consolas" panose="020B0609020204030204" pitchFamily="49" charset="0"/>
                      <a:cs typeface="Consolas" panose="020B0609020204030204" pitchFamily="49" charset="0"/>
                    </a:rPr>
                    <a:t>procName</a:t>
                  </a:r>
                  <a:endParaRPr lang="en-US" sz="1100" dirty="0" smtClean="0">
                    <a:solidFill>
                      <a:schemeClr val="tx1"/>
                    </a:solidFill>
                    <a:latin typeface="Consolas" panose="020B0609020204030204" pitchFamily="49" charset="0"/>
                    <a:cs typeface="Consolas" panose="020B0609020204030204" pitchFamily="49" charset="0"/>
                  </a:endParaRPr>
                </a:p>
                <a:p>
                  <a:r>
                    <a:rPr lang="en-US" sz="1100" b="1" dirty="0" smtClean="0">
                      <a:solidFill>
                        <a:schemeClr val="tx1"/>
                      </a:solidFill>
                      <a:latin typeface="+mj-lt"/>
                      <a:cs typeface="Consolas" panose="020B0609020204030204" pitchFamily="49" charset="0"/>
                    </a:rPr>
                    <a:t>PACK</a:t>
                  </a:r>
                  <a:r>
                    <a:rPr lang="en-US" sz="1100" dirty="0" smtClean="0">
                      <a:solidFill>
                        <a:schemeClr val="tx1"/>
                      </a:solidFill>
                      <a:latin typeface="Consolas" panose="020B0609020204030204" pitchFamily="49" charset="0"/>
                      <a:cs typeface="Consolas" panose="020B0609020204030204" pitchFamily="49" charset="0"/>
                    </a:rPr>
                    <a:t>	</a:t>
                  </a:r>
                  <a:r>
                    <a:rPr lang="en-US" sz="1100" dirty="0" err="1" smtClean="0">
                      <a:solidFill>
                        <a:schemeClr val="tx1"/>
                      </a:solidFill>
                      <a:latin typeface="Consolas" panose="020B0609020204030204" pitchFamily="49" charset="0"/>
                      <a:cs typeface="Consolas" panose="020B0609020204030204" pitchFamily="49" charset="0"/>
                    </a:rPr>
                    <a:t>procName</a:t>
                  </a:r>
                  <a:endParaRPr lang="en-US" sz="1100" b="1" dirty="0" smtClean="0">
                    <a:solidFill>
                      <a:schemeClr val="tx1"/>
                    </a:solidFill>
                    <a:latin typeface="+mj-lt"/>
                    <a:cs typeface="Consolas" panose="020B0609020204030204" pitchFamily="49" charset="0"/>
                  </a:endParaRPr>
                </a:p>
              </p:txBody>
            </p:sp>
            <p:sp>
              <p:nvSpPr>
                <p:cNvPr id="68" name="Tracepoint 3"/>
                <p:cNvSpPr/>
                <p:nvPr/>
              </p:nvSpPr>
              <p:spPr>
                <a:xfrm>
                  <a:off x="8767516" y="3891042"/>
                  <a:ext cx="304800" cy="304800"/>
                </a:xfrm>
                <a:prstGeom prst="ellipse">
                  <a:avLst/>
                </a:prstGeom>
                <a:solidFill>
                  <a:srgbClr val="FFE1E1"/>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A</a:t>
                  </a:r>
                  <a:endParaRPr lang="en-US" b="1" dirty="0">
                    <a:solidFill>
                      <a:schemeClr val="tx1"/>
                    </a:solidFill>
                  </a:endParaRPr>
                </a:p>
              </p:txBody>
            </p:sp>
          </p:grpSp>
          <p:grpSp>
            <p:nvGrpSpPr>
              <p:cNvPr id="14" name="Group 13"/>
              <p:cNvGrpSpPr/>
              <p:nvPr/>
            </p:nvGrpSpPr>
            <p:grpSpPr>
              <a:xfrm>
                <a:off x="6621290" y="4254498"/>
                <a:ext cx="2431553" cy="762799"/>
                <a:chOff x="6701541" y="4454523"/>
                <a:chExt cx="2431553" cy="762799"/>
              </a:xfrm>
            </p:grpSpPr>
            <p:sp>
              <p:nvSpPr>
                <p:cNvPr id="67" name="Rounded Rectangle 66"/>
                <p:cNvSpPr/>
                <p:nvPr/>
              </p:nvSpPr>
              <p:spPr>
                <a:xfrm>
                  <a:off x="6701541" y="4463100"/>
                  <a:ext cx="2431553" cy="754222"/>
                </a:xfrm>
                <a:prstGeom prst="roundRect">
                  <a:avLst>
                    <a:gd name="adj" fmla="val 18490"/>
                  </a:avLst>
                </a:prstGeom>
                <a:solidFill>
                  <a:srgbClr val="E1E1FF"/>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r>
                    <a:rPr lang="en-US" sz="1100" b="1" dirty="0" smtClean="0">
                      <a:solidFill>
                        <a:schemeClr val="tx1"/>
                      </a:solidFill>
                      <a:cs typeface="Consolas" panose="020B0609020204030204" pitchFamily="49" charset="0"/>
                    </a:rPr>
                    <a:t>Advice B1</a:t>
                  </a:r>
                </a:p>
                <a:p>
                  <a:r>
                    <a:rPr lang="en-US" sz="1100" b="1" dirty="0" smtClean="0">
                      <a:solidFill>
                        <a:schemeClr val="tx1"/>
                      </a:solidFill>
                      <a:latin typeface="+mj-lt"/>
                      <a:cs typeface="Consolas" panose="020B0609020204030204" pitchFamily="49" charset="0"/>
                    </a:rPr>
                    <a:t>OBSERVE</a:t>
                  </a:r>
                  <a:r>
                    <a:rPr lang="en-US" sz="1100" dirty="0">
                      <a:solidFill>
                        <a:schemeClr val="tx1"/>
                      </a:solidFill>
                      <a:latin typeface="Consolas" panose="020B0609020204030204" pitchFamily="49" charset="0"/>
                      <a:cs typeface="Consolas" panose="020B0609020204030204" pitchFamily="49" charset="0"/>
                    </a:rPr>
                    <a:t>	</a:t>
                  </a:r>
                  <a:r>
                    <a:rPr lang="en-US" sz="1100" dirty="0" smtClean="0">
                      <a:solidFill>
                        <a:schemeClr val="tx1"/>
                      </a:solidFill>
                      <a:latin typeface="Consolas" panose="020B0609020204030204" pitchFamily="49" charset="0"/>
                      <a:cs typeface="Consolas" panose="020B0609020204030204" pitchFamily="49" charset="0"/>
                    </a:rPr>
                    <a:t>delta</a:t>
                  </a:r>
                </a:p>
                <a:p>
                  <a:r>
                    <a:rPr lang="en-US" sz="1100" b="1" dirty="0" smtClean="0">
                      <a:solidFill>
                        <a:schemeClr val="tx1"/>
                      </a:solidFill>
                      <a:latin typeface="+mj-lt"/>
                      <a:cs typeface="Consolas" panose="020B0609020204030204" pitchFamily="49" charset="0"/>
                    </a:rPr>
                    <a:t>UNPACK</a:t>
                  </a:r>
                  <a:r>
                    <a:rPr lang="en-US" sz="1100" dirty="0" smtClean="0">
                      <a:solidFill>
                        <a:schemeClr val="tx1"/>
                      </a:solidFill>
                      <a:latin typeface="Consolas" panose="020B0609020204030204" pitchFamily="49" charset="0"/>
                      <a:cs typeface="Consolas" panose="020B0609020204030204" pitchFamily="49" charset="0"/>
                    </a:rPr>
                    <a:t>	</a:t>
                  </a:r>
                  <a:r>
                    <a:rPr lang="en-US" sz="1100" dirty="0" err="1" smtClean="0">
                      <a:solidFill>
                        <a:schemeClr val="tx1"/>
                      </a:solidFill>
                      <a:latin typeface="Consolas" panose="020B0609020204030204" pitchFamily="49" charset="0"/>
                      <a:cs typeface="Consolas" panose="020B0609020204030204" pitchFamily="49" charset="0"/>
                    </a:rPr>
                    <a:t>procName</a:t>
                  </a:r>
                  <a:endParaRPr lang="en-US" sz="1100" dirty="0" smtClean="0">
                    <a:solidFill>
                      <a:schemeClr val="tx1"/>
                    </a:solidFill>
                    <a:latin typeface="Consolas" panose="020B0609020204030204" pitchFamily="49" charset="0"/>
                    <a:cs typeface="Consolas" panose="020B0609020204030204" pitchFamily="49" charset="0"/>
                  </a:endParaRPr>
                </a:p>
                <a:p>
                  <a:r>
                    <a:rPr lang="en-US" sz="1100" b="1" dirty="0" smtClean="0">
                      <a:solidFill>
                        <a:schemeClr val="tx1"/>
                      </a:solidFill>
                      <a:latin typeface="+mj-lt"/>
                      <a:cs typeface="Consolas" panose="020B0609020204030204" pitchFamily="49" charset="0"/>
                    </a:rPr>
                    <a:t>EMIT</a:t>
                  </a:r>
                  <a:r>
                    <a:rPr lang="en-US" sz="1100" dirty="0" smtClean="0">
                      <a:solidFill>
                        <a:schemeClr val="tx1"/>
                      </a:solidFill>
                      <a:latin typeface="Consolas" panose="020B0609020204030204" pitchFamily="49" charset="0"/>
                      <a:cs typeface="Consolas" panose="020B0609020204030204" pitchFamily="49" charset="0"/>
                    </a:rPr>
                    <a:t> 	</a:t>
                  </a:r>
                  <a:r>
                    <a:rPr lang="en-US" sz="1100" dirty="0" err="1" smtClean="0">
                      <a:solidFill>
                        <a:schemeClr val="tx1"/>
                      </a:solidFill>
                      <a:latin typeface="Consolas" panose="020B0609020204030204" pitchFamily="49" charset="0"/>
                      <a:cs typeface="Consolas" panose="020B0609020204030204" pitchFamily="49" charset="0"/>
                    </a:rPr>
                    <a:t>procName</a:t>
                  </a:r>
                  <a:r>
                    <a:rPr lang="en-US" sz="1100" b="1" dirty="0" smtClean="0">
                      <a:solidFill>
                        <a:schemeClr val="tx1"/>
                      </a:solidFill>
                      <a:latin typeface="+mj-lt"/>
                      <a:cs typeface="Consolas" panose="020B0609020204030204" pitchFamily="49" charset="0"/>
                    </a:rPr>
                    <a:t>, SUM(</a:t>
                  </a:r>
                  <a:r>
                    <a:rPr lang="en-US" sz="1100" dirty="0" smtClean="0">
                      <a:solidFill>
                        <a:schemeClr val="tx1"/>
                      </a:solidFill>
                      <a:latin typeface="Consolas" panose="020B0609020204030204" pitchFamily="49" charset="0"/>
                      <a:cs typeface="Consolas" panose="020B0609020204030204" pitchFamily="49" charset="0"/>
                    </a:rPr>
                    <a:t>delta</a:t>
                  </a:r>
                  <a:r>
                    <a:rPr lang="en-US" sz="1100" b="1" dirty="0" smtClean="0">
                      <a:solidFill>
                        <a:schemeClr val="tx1"/>
                      </a:solidFill>
                      <a:latin typeface="+mj-lt"/>
                      <a:cs typeface="Consolas" panose="020B0609020204030204" pitchFamily="49" charset="0"/>
                    </a:rPr>
                    <a:t>)</a:t>
                  </a:r>
                </a:p>
              </p:txBody>
            </p:sp>
            <p:sp>
              <p:nvSpPr>
                <p:cNvPr id="69" name="Tracepoint 3"/>
                <p:cNvSpPr/>
                <p:nvPr/>
              </p:nvSpPr>
              <p:spPr>
                <a:xfrm>
                  <a:off x="8828294" y="4454523"/>
                  <a:ext cx="304800" cy="304800"/>
                </a:xfrm>
                <a:prstGeom prst="ellipse">
                  <a:avLst/>
                </a:prstGeom>
                <a:solidFill>
                  <a:srgbClr val="FFE1E1"/>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B</a:t>
                  </a:r>
                  <a:endParaRPr lang="en-US" b="1" dirty="0">
                    <a:solidFill>
                      <a:schemeClr val="tx1"/>
                    </a:solidFill>
                  </a:endParaRPr>
                </a:p>
              </p:txBody>
            </p:sp>
          </p:grpSp>
        </p:grpSp>
        <p:cxnSp>
          <p:nvCxnSpPr>
            <p:cNvPr id="12" name="Straight Connector 11"/>
            <p:cNvCxnSpPr/>
            <p:nvPr/>
          </p:nvCxnSpPr>
          <p:spPr>
            <a:xfrm>
              <a:off x="6286500" y="1578779"/>
              <a:ext cx="0" cy="343851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Slide Number Placeholder 3"/>
          <p:cNvSpPr>
            <a:spLocks noGrp="1"/>
          </p:cNvSpPr>
          <p:nvPr>
            <p:ph type="sldNum" sz="quarter" idx="12"/>
          </p:nvPr>
        </p:nvSpPr>
        <p:spPr/>
        <p:txBody>
          <a:bodyPr/>
          <a:lstStyle/>
          <a:p>
            <a:fld id="{D431E30F-8439-471B-9257-EDD8E85CDBC8}" type="slidenum">
              <a:rPr lang="en-US" smtClean="0"/>
              <a:t>46</a:t>
            </a:fld>
            <a:endParaRPr lang="en-US"/>
          </a:p>
        </p:txBody>
      </p:sp>
    </p:spTree>
    <p:extLst>
      <p:ext uri="{BB962C8B-B14F-4D97-AF65-F5344CB8AC3E}">
        <p14:creationId xmlns:p14="http://schemas.microsoft.com/office/powerpoint/2010/main" val="994252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childTnLst>
                                    <p:set>
                                      <p:cBhvr>
                                        <p:cTn id="6" dur="1" fill="hold">
                                          <p:stCondLst>
                                            <p:cond delay="0"/>
                                          </p:stCondLst>
                                        </p:cTn>
                                        <p:tgtEl>
                                          <p:spTgt spid="92"/>
                                        </p:tgtEl>
                                        <p:attrNameLst>
                                          <p:attrName>style.visibility</p:attrName>
                                        </p:attrNameLst>
                                      </p:cBhvr>
                                      <p:to>
                                        <p:strVal val="visible"/>
                                      </p:to>
                                    </p:set>
                                    <p:animEffect transition="in" filter="fade">
                                      <p:cBhvr>
                                        <p:cTn id="7" dur="500"/>
                                        <p:tgtEl>
                                          <p:spTgt spid="92"/>
                                        </p:tgtEl>
                                      </p:cBhvr>
                                    </p:animEffect>
                                  </p:childTnLst>
                                </p:cTn>
                              </p:par>
                              <p:par>
                                <p:cTn id="8" presetID="10" presetClass="entr" presetSubtype="0" fill="hold" nodeType="withEffect">
                                  <p:stCondLst>
                                    <p:cond delay="500"/>
                                  </p:stCondLst>
                                  <p:childTnLst>
                                    <p:set>
                                      <p:cBhvr>
                                        <p:cTn id="9" dur="1" fill="hold">
                                          <p:stCondLst>
                                            <p:cond delay="0"/>
                                          </p:stCondLst>
                                        </p:cTn>
                                        <p:tgtEl>
                                          <p:spTgt spid="31"/>
                                        </p:tgtEl>
                                        <p:attrNameLst>
                                          <p:attrName>style.visibility</p:attrName>
                                        </p:attrNameLst>
                                      </p:cBhvr>
                                      <p:to>
                                        <p:strVal val="visible"/>
                                      </p:to>
                                    </p:set>
                                    <p:animEffect transition="in" filter="fade">
                                      <p:cBhvr>
                                        <p:cTn id="1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12265</TotalTime>
  <Words>6529</Words>
  <Application>Microsoft Macintosh PowerPoint</Application>
  <PresentationFormat>On-screen Show (4:3)</PresentationFormat>
  <Paragraphs>1244</Paragraphs>
  <Slides>46</Slides>
  <Notes>46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46</vt:i4>
      </vt:variant>
    </vt:vector>
  </HeadingPairs>
  <TitlesOfParts>
    <vt:vector size="55" baseType="lpstr">
      <vt:lpstr>Arial Black</vt:lpstr>
      <vt:lpstr>Calibri</vt:lpstr>
      <vt:lpstr>Calibri Light</vt:lpstr>
      <vt:lpstr>Consolas</vt:lpstr>
      <vt:lpstr>French Script MT</vt:lpstr>
      <vt:lpstr>Inconsolata</vt:lpstr>
      <vt:lpstr>Times New Roman</vt:lpstr>
      <vt:lpstr>Arial</vt:lpstr>
      <vt:lpstr>Office Theme</vt:lpstr>
      <vt:lpstr>Pivot Tracing Dynamic Causal Monitoring for Distributed Systems</vt:lpstr>
      <vt:lpstr>Pivot Tracing Dynamic Causal Monitoring for Distributed Systems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Dynamic dependencies</vt:lpstr>
      <vt:lpstr>Pivot Tracing</vt:lpstr>
      <vt:lpstr>Pivot Tracing</vt:lpstr>
      <vt:lpstr>Pivot Tracing Overview</vt:lpstr>
      <vt:lpstr>PowerPoint Presentation</vt:lpstr>
      <vt:lpstr>PowerPoint Presentation</vt:lpstr>
      <vt:lpstr>PowerPoint Presentation</vt:lpstr>
      <vt:lpstr>PowerPoint Presentation</vt:lpstr>
      <vt:lpstr>Design &amp; Implementation Pivot Tracing Pre-requisites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Pivot Tracing Evaluation</vt:lpstr>
      <vt:lpstr>Java-Based Implementation</vt:lpstr>
      <vt:lpstr>PowerPoint Presentation</vt:lpstr>
      <vt:lpstr>Pivot Tracing Overheads</vt:lpstr>
      <vt:lpstr> Experiments</vt:lpstr>
      <vt:lpstr> Experiments</vt:lpstr>
      <vt:lpstr> Experiments</vt:lpstr>
      <vt:lpstr>PowerPoint Presentation</vt:lpstr>
      <vt:lpstr>PowerPoint Presentation</vt:lpstr>
      <vt:lpstr>Same machines, same processes, same workloads</vt:lpstr>
      <vt:lpstr>PowerPoint Presentation</vt:lpstr>
      <vt:lpstr>PowerPoint Presentation</vt:lpstr>
      <vt:lpstr>PowerPoint Presentation</vt:lpstr>
      <vt:lpstr>PowerPoint Presentation</vt:lpstr>
      <vt:lpstr>PowerPoint Presentation</vt:lpstr>
      <vt:lpstr>Pivot Tracing</vt:lpstr>
      <vt:lpstr>Pivot Tracing</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Jon</dc:creator>
  <cp:lastModifiedBy>Mace, Jonathan</cp:lastModifiedBy>
  <cp:revision>512</cp:revision>
  <dcterms:created xsi:type="dcterms:W3CDTF">2015-09-23T22:12:05Z</dcterms:created>
  <dcterms:modified xsi:type="dcterms:W3CDTF">2015-10-14T17:20:00Z</dcterms:modified>
</cp:coreProperties>
</file>